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Nuni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iPiayPMGOtbFaYWzZWRmW6IXlI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Nuni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Nunito-bold.fntdata"/><Relationship Id="rId16" Type="http://schemas.openxmlformats.org/officeDocument/2006/relationships/slide" Target="slides/slide10.xml"/><Relationship Id="rId38" Type="http://schemas.openxmlformats.org/officeDocument/2006/relationships/font" Target="fonts/Nuni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3"/>
          <p:cNvSpPr txBox="1"/>
          <p:nvPr>
            <p:ph type="ctrTitle"/>
          </p:nvPr>
        </p:nvSpPr>
        <p:spPr>
          <a:xfrm>
            <a:off x="3218116" y="1408844"/>
            <a:ext cx="4889205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b="1"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3"/>
          <p:cNvSpPr txBox="1"/>
          <p:nvPr>
            <p:ph idx="1" type="subTitle"/>
          </p:nvPr>
        </p:nvSpPr>
        <p:spPr>
          <a:xfrm>
            <a:off x="3218116" y="3310271"/>
            <a:ext cx="4889205" cy="342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4"/>
          <p:cNvSpPr txBox="1"/>
          <p:nvPr>
            <p:ph type="title"/>
          </p:nvPr>
        </p:nvSpPr>
        <p:spPr>
          <a:xfrm>
            <a:off x="628650" y="273844"/>
            <a:ext cx="726567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 showMasterSp="0">
  <p:cSld name="Las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36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628650" y="273844"/>
            <a:ext cx="73113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4" name="Google Shape;34;p38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6" name="Google Shape;36;p3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9"/>
          <p:cNvSpPr txBox="1"/>
          <p:nvPr>
            <p:ph type="title"/>
          </p:nvPr>
        </p:nvSpPr>
        <p:spPr>
          <a:xfrm>
            <a:off x="628650" y="273844"/>
            <a:ext cx="73113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9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0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0"/>
          <p:cNvSpPr txBox="1"/>
          <p:nvPr>
            <p:ph idx="12" type="sldNum"/>
          </p:nvPr>
        </p:nvSpPr>
        <p:spPr>
          <a:xfrm>
            <a:off x="8740942" y="4767263"/>
            <a:ext cx="403058" cy="3762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9" name="Google Shape;49;p4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0" name="Google Shape;50;p41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4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6" name="Google Shape;56;p42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628650" y="273844"/>
            <a:ext cx="73113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43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1" name="Google Shape;101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6" name="Google Shape;10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" name="Google Shape;109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628650" y="273844"/>
            <a:ext cx="731139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0" type="dt"/>
          </p:nvPr>
        </p:nvSpPr>
        <p:spPr>
          <a:xfrm>
            <a:off x="3543300" y="479940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42034" y="65483"/>
            <a:ext cx="1070877" cy="107751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19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hyperlink" Target="https://doi.org/10.1007/978-3-030-24741-6_2" TargetMode="External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i.org/10.1007/978-3-030-64313-3_25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RLqwWCcF-Jm9X06oVeLWQliYoW_I8phJ/view?usp=sharing" TargetMode="External"/><Relationship Id="rId4" Type="http://schemas.openxmlformats.org/officeDocument/2006/relationships/image" Target="../media/image16.jpg"/><Relationship Id="rId5" Type="http://schemas.openxmlformats.org/officeDocument/2006/relationships/hyperlink" Target="https://drive.google.com/file/d/1bnNIo4kSKfeL8-FrgzLkvzTP-3f2_LVo/view?usp=sharing" TargetMode="External"/><Relationship Id="rId6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hyperlink" Target="https://doi.org/10.1115/1.1531112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i.org/10.1115/DETC2013-13633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48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i.org/10.1007/978-3-030-24741-6_2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jpg"/><Relationship Id="rId4" Type="http://schemas.openxmlformats.org/officeDocument/2006/relationships/image" Target="../media/image41.jpg"/><Relationship Id="rId5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hyperlink" Target="https://www.physiology.org/doi/full/10.1152/jn.2002.87.5.2271?url_ver=Z39.88-2003&amp;rfr_id=ori%3Arid%3Acrossref.org&amp;rfr_dat=cr_pub%3Dpubmed" TargetMode="External"/><Relationship Id="rId5" Type="http://schemas.openxmlformats.org/officeDocument/2006/relationships/hyperlink" Target="https://www.physiology.org/doi/full/10.1152/jn.2002.87.5.2271?url_ver=Z39.88-2003&amp;rfr_id=ori%3Arid%3Acrossref.org&amp;rfr_dat=cr_pub%3Dpubme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Relationship Id="rId4" Type="http://schemas.openxmlformats.org/officeDocument/2006/relationships/image" Target="../media/image2.png"/><Relationship Id="rId5" Type="http://schemas.openxmlformats.org/officeDocument/2006/relationships/hyperlink" Target="https://doi.org/10.1088/1748-3190/aa8290" TargetMode="External"/><Relationship Id="rId6" Type="http://schemas.openxmlformats.org/officeDocument/2006/relationships/hyperlink" Target="https://doi.org/10.3390/biomimetics4010021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rive.google.com/file/d/1lb1xsRtnP7FjUC0tDpouwTvVPv0Z-ej7/view?usp=sharing" TargetMode="External"/><Relationship Id="rId4" Type="http://schemas.openxmlformats.org/officeDocument/2006/relationships/image" Target="../media/image30.png"/><Relationship Id="rId5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png"/><Relationship Id="rId4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47.png"/><Relationship Id="rId5" Type="http://schemas.openxmlformats.org/officeDocument/2006/relationships/image" Target="../media/image55.png"/><Relationship Id="rId6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/>
          <p:nvPr>
            <p:ph type="ctrTitle"/>
          </p:nvPr>
        </p:nvSpPr>
        <p:spPr>
          <a:xfrm>
            <a:off x="3218116" y="1615756"/>
            <a:ext cx="4889205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/>
              <a:t>Movement and Control of Biomimetic Humanoid Robots</a:t>
            </a:r>
            <a:endParaRPr/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1731" y="4021432"/>
            <a:ext cx="3681170" cy="1122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>
            <p:ph type="title"/>
          </p:nvPr>
        </p:nvSpPr>
        <p:spPr>
          <a:xfrm>
            <a:off x="628650" y="273844"/>
            <a:ext cx="726567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2800"/>
              <a:buFont typeface="Nunito"/>
              <a:buNone/>
            </a:pPr>
            <a:r>
              <a:rPr b="0" i="0" lang="en" sz="2800" u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A summary of my talk will help you focus </a:t>
            </a:r>
            <a:br>
              <a:rPr b="0" lang="en" sz="2800"/>
            </a:br>
            <a:r>
              <a:rPr b="0" i="0" lang="en" sz="2800" u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on three key areas:</a:t>
            </a:r>
            <a:endParaRPr sz="2800"/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b="0" i="0" lang="en" sz="1800" u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Robot development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b="0" i="0" lang="en" sz="1800" u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Neural controller development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b="0" i="0" lang="en" sz="1800" u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Future work to integrate both these things</a:t>
            </a:r>
            <a:endParaRPr/>
          </a:p>
        </p:txBody>
      </p:sp>
      <p:sp>
        <p:nvSpPr>
          <p:cNvPr id="125" name="Google Shape;125;p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0" y="159843"/>
            <a:ext cx="79159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1800"/>
              <a:buFont typeface="Nunito"/>
              <a:buNone/>
            </a:pPr>
            <a:r>
              <a:rPr b="0" i="0" lang="en" sz="23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Biomimetic humanoid robots can test and deepen our understanding of how the human body moves.</a:t>
            </a:r>
            <a:b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346826"/>
            <a:ext cx="2405059" cy="286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7765" y="1346823"/>
            <a:ext cx="5098302" cy="2865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520607" y="4325046"/>
            <a:ext cx="6409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Asano, Y., et al. (2016, November). Human mimetic musculoskeletal humanoid Kengoro toward real world physically interactive actions.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1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2016 IEEE-RAS 16th International Conference on Humanoid Robots (Humanoids)</a:t>
            </a:r>
            <a:r>
              <a:rPr b="0" i="0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(pp. 876-883). IEEE.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4475" l="0" r="0" t="2092"/>
          <a:stretch/>
        </p:blipFill>
        <p:spPr>
          <a:xfrm>
            <a:off x="4513226" y="1078665"/>
            <a:ext cx="1528325" cy="3282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40" name="Google Shape;140;p4"/>
          <p:cNvSpPr txBox="1"/>
          <p:nvPr>
            <p:ph type="title"/>
          </p:nvPr>
        </p:nvSpPr>
        <p:spPr>
          <a:xfrm>
            <a:off x="0" y="25018"/>
            <a:ext cx="726567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1800"/>
              <a:buFont typeface="Nunito"/>
              <a:buNone/>
            </a:pPr>
            <a:r>
              <a:rPr b="0" i="0" lang="en" sz="2000" u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In the AARL we are designing and building a bipedal robot with a 3D printed skeleton and </a:t>
            </a:r>
            <a:r>
              <a:rPr lang="en" sz="20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artificial muscles</a:t>
            </a:r>
            <a:r>
              <a:rPr b="0" i="0" lang="en" sz="2000" u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to mimic a human biomechanical model.</a:t>
            </a:r>
            <a:endParaRPr sz="3500"/>
          </a:p>
        </p:txBody>
      </p:sp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628650" y="4361415"/>
            <a:ext cx="7886700" cy="367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Bolen, Ben P., and Alexander J. Hunt. “Determination of Artificial Muscle Placement for Biomimetic Humanoid Robot Legs.” </a:t>
            </a:r>
            <a:r>
              <a:rPr b="0" i="1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Biomimetic and Biohybrid Systems</a:t>
            </a: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</a:pP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edited by Uriel Martinez-Hernandez et al., vol. 11556, Springer International Publishing, 2019, pp. 15–26. </a:t>
            </a:r>
            <a:r>
              <a:rPr b="0" i="1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b="0" i="0" lang="en" sz="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10.1007/978-3-030-24741-6_2</a:t>
            </a:r>
            <a:r>
              <a:rPr b="0" i="0" lang="en" sz="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800"/>
            </a:br>
            <a:endParaRPr sz="800"/>
          </a:p>
        </p:txBody>
      </p:sp>
      <p:sp>
        <p:nvSpPr>
          <p:cNvPr id="142" name="Google Shape;142;p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3" name="Google Shape;143;p4"/>
          <p:cNvCxnSpPr/>
          <p:nvPr/>
        </p:nvCxnSpPr>
        <p:spPr>
          <a:xfrm flipH="1" rot="10800000">
            <a:off x="5506395" y="1953888"/>
            <a:ext cx="753000" cy="330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stealth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44" name="Google Shape;144;p4"/>
          <p:cNvSpPr txBox="1"/>
          <p:nvPr/>
        </p:nvSpPr>
        <p:spPr>
          <a:xfrm>
            <a:off x="6277920" y="1861988"/>
            <a:ext cx="16164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 muscles per side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4"/>
          <p:cNvPicPr preferRelativeResize="0"/>
          <p:nvPr/>
        </p:nvPicPr>
        <p:blipFill rotWithShape="1">
          <a:blip r:embed="rId5">
            <a:alphaModFix/>
          </a:blip>
          <a:srcRect b="0" l="0" r="0" t="11606"/>
          <a:stretch/>
        </p:blipFill>
        <p:spPr>
          <a:xfrm>
            <a:off x="1847029" y="1401065"/>
            <a:ext cx="1698675" cy="282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>
            <p:ph idx="12" type="sldNum"/>
          </p:nvPr>
        </p:nvSpPr>
        <p:spPr>
          <a:xfrm>
            <a:off x="8747760" y="4729163"/>
            <a:ext cx="396300" cy="4143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73850" y="45575"/>
            <a:ext cx="78117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Robot control will be achieved by combining our neuromechanical model with the 3D printed skeleton and pneumatic artificial muscles.</a:t>
            </a:r>
            <a:endParaRPr b="0" i="0" sz="19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27921" r="21853" t="0"/>
          <a:stretch/>
        </p:blipFill>
        <p:spPr>
          <a:xfrm>
            <a:off x="1656350" y="1208800"/>
            <a:ext cx="1400000" cy="31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 b="0" l="26322" r="35586" t="0"/>
          <a:stretch/>
        </p:blipFill>
        <p:spPr>
          <a:xfrm>
            <a:off x="550500" y="1208800"/>
            <a:ext cx="973925" cy="31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42016" t="0"/>
          <a:stretch/>
        </p:blipFill>
        <p:spPr>
          <a:xfrm>
            <a:off x="4211825" y="1384726"/>
            <a:ext cx="4825725" cy="278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55" name="Google Shape;155;p5"/>
          <p:cNvSpPr/>
          <p:nvPr/>
        </p:nvSpPr>
        <p:spPr>
          <a:xfrm>
            <a:off x="3424338" y="2348125"/>
            <a:ext cx="680100" cy="680100"/>
          </a:xfrm>
          <a:prstGeom prst="mathPlus">
            <a:avLst>
              <a:gd fmla="val 23520" name="adj1"/>
            </a:avLst>
          </a:prstGeom>
          <a:solidFill>
            <a:srgbClr val="B7B7B7"/>
          </a:solidFill>
          <a:ln cap="flat" cmpd="sng" w="19050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934746" y="4088275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Morrow, Connor, et al. “Optimization of Artificial Muscle Placements for a Humanoid Bipedal Robot.” </a:t>
            </a:r>
            <a:r>
              <a:rPr b="0" i="1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Biomimetic and Biohybrid Systems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edited by Vasiliki Vouloutsi et al., vol. 12413, Springer International Publishing, 2020, pp. 257–69. </a:t>
            </a:r>
            <a:r>
              <a:rPr b="0" i="1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b="0" i="0" lang="en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10.1007/978-3-030-64313-3_25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4">
            <a:alphaModFix/>
          </a:blip>
          <a:srcRect b="21463" l="0" r="52360" t="0"/>
          <a:stretch/>
        </p:blipFill>
        <p:spPr>
          <a:xfrm>
            <a:off x="2674700" y="1181975"/>
            <a:ext cx="1876823" cy="28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6"/>
          <p:cNvPicPr preferRelativeResize="0"/>
          <p:nvPr/>
        </p:nvPicPr>
        <p:blipFill rotWithShape="1">
          <a:blip r:embed="rId4">
            <a:alphaModFix/>
          </a:blip>
          <a:srcRect b="20094" l="49236" r="0" t="24427"/>
          <a:stretch/>
        </p:blipFill>
        <p:spPr>
          <a:xfrm>
            <a:off x="4333779" y="1337297"/>
            <a:ext cx="2494296" cy="252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 rot="972970">
            <a:off x="3629079" y="1664579"/>
            <a:ext cx="1264404" cy="36836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919800" y="1661550"/>
            <a:ext cx="1964100" cy="22281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016025" y="1414975"/>
            <a:ext cx="555900" cy="787200"/>
          </a:xfrm>
          <a:prstGeom prst="rect">
            <a:avLst/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55002" y="54920"/>
            <a:ext cx="788584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990"/>
              <a:buFont typeface="Nunito"/>
              <a:buNone/>
            </a:pPr>
            <a:r>
              <a:rPr b="0" i="0" lang="en" sz="249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The robot will replicate human features, movements, and have attachment points (</a:t>
            </a:r>
            <a:r>
              <a:rPr b="0" i="0" lang="en" sz="249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red arrows</a:t>
            </a:r>
            <a:r>
              <a:rPr b="0" i="0" lang="en" sz="249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) for the muscle actuators.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52550" y="76850"/>
            <a:ext cx="79515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Artificial muscles have a force-length relationship like real muscles, so we use them like muscles.</a:t>
            </a:r>
            <a:endParaRPr b="0" i="0" sz="30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1299850" y="1246650"/>
            <a:ext cx="35487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In the Agile and Adaptive Robotics Lab (AARL) we use Festo </a:t>
            </a:r>
            <a:r>
              <a:rPr b="0" i="0" lang="en" sz="1300" u="none" cap="none" strike="noStrike">
                <a:solidFill>
                  <a:srgbClr val="233A44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Pneumatic Artificial Muscles</a:t>
            </a:r>
            <a:r>
              <a:rPr b="0" i="0" lang="en" sz="13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 (PAMs) to actuate biomimetic robot joints.</a:t>
            </a:r>
            <a:endParaRPr b="0" i="0" sz="1300" u="none" cap="none" strike="noStrik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8651" l="16324" r="14886" t="0"/>
          <a:stretch/>
        </p:blipFill>
        <p:spPr>
          <a:xfrm>
            <a:off x="4891000" y="1197900"/>
            <a:ext cx="3478400" cy="3464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176" name="Google Shape;1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32">
            <a:off x="1068015" y="1762772"/>
            <a:ext cx="1088543" cy="2884831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77" name="Google Shape;177;p7"/>
          <p:cNvSpPr/>
          <p:nvPr/>
        </p:nvSpPr>
        <p:spPr>
          <a:xfrm rot="-374880">
            <a:off x="5286186" y="3094141"/>
            <a:ext cx="355759" cy="816741"/>
          </a:xfrm>
          <a:prstGeom prst="flowChartTerminator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87075" y="61700"/>
            <a:ext cx="51834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Robotic joints move when artificial muscles are pressurized.</a:t>
            </a:r>
            <a:endParaRPr b="0" i="0" sz="26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4" name="Google Shape;184;p8" title="Puppy muscles move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525" y="219575"/>
            <a:ext cx="2472275" cy="43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 title="20mm old 1/4hose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5325" y="1435550"/>
            <a:ext cx="1736899" cy="3014250"/>
          </a:xfrm>
          <a:prstGeom prst="rect">
            <a:avLst/>
          </a:prstGeom>
          <a:noFill/>
          <a:ln cap="flat" cmpd="sng" w="19050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97880" y="54642"/>
            <a:ext cx="7612334" cy="12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7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13960"/>
              <a:buFont typeface="Nunito"/>
              <a:buNone/>
            </a:pPr>
            <a:r>
              <a:rPr b="0" i="0" lang="en" sz="27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Total musculotendon length is determined by the angles of the joints, as can be seen in this muscle in its </a:t>
            </a:r>
            <a:r>
              <a:rPr b="0" i="0" lang="en" sz="2700" u="none" cap="none" strike="noStrike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SHORTEST</a:t>
            </a:r>
            <a:r>
              <a:rPr b="0" i="0" lang="en" sz="27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b="0" i="0" lang="en" sz="2700" u="none" cap="none" strike="noStrike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LONGEST</a:t>
            </a:r>
            <a:r>
              <a:rPr b="0" i="0" lang="en" sz="27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configurations.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987" y="1504869"/>
            <a:ext cx="3248025" cy="30003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206725" y="214975"/>
            <a:ext cx="7823495" cy="1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08108"/>
              <a:buFont typeface="Nunito"/>
              <a:buNone/>
            </a:pPr>
            <a:r>
              <a:rPr b="0" i="0" lang="en" sz="28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Musculotendon length determines the maximum isometric force a muscle can generate.</a:t>
            </a:r>
            <a:endParaRPr b="0" i="0" sz="2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51644"/>
          <a:stretch/>
        </p:blipFill>
        <p:spPr>
          <a:xfrm>
            <a:off x="1603325" y="1767634"/>
            <a:ext cx="5552225" cy="20831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00" name="Google Shape;200;p10"/>
          <p:cNvSpPr txBox="1"/>
          <p:nvPr/>
        </p:nvSpPr>
        <p:spPr>
          <a:xfrm>
            <a:off x="643350" y="4299475"/>
            <a:ext cx="80265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Thelen, Darryl G. “Adjustment of Muscle Mechanics Model Parameters to Simulate Dynamic Contractions in Older Adults.” 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Journal of Biomechanical Engineering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125, no. 1, Feb. 2003, pp. 70–77. 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10.1115/1.1531112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206725" y="214975"/>
            <a:ext cx="7823495" cy="1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17647"/>
              <a:buFont typeface="Nunito"/>
              <a:buNone/>
            </a:pPr>
            <a:r>
              <a:rPr b="0" i="0" lang="en" sz="28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Similarly, the amount of relative contraction determines the amount of force produced by a BPA.</a:t>
            </a:r>
            <a:endParaRPr b="0" i="0" sz="2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772950" y="3999231"/>
            <a:ext cx="8026500" cy="6004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Bolen, Ben, et al. "Isometric Force Characterization of Braided Pneumatic Actuators." Available at SSRN 6072341.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563" y="1095468"/>
            <a:ext cx="3429909" cy="3127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201" y="1095469"/>
            <a:ext cx="3244020" cy="2850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206725" y="214975"/>
            <a:ext cx="7823495" cy="1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2800"/>
              <a:buFont typeface="Nunito"/>
              <a:buNone/>
            </a:pPr>
            <a:r>
              <a:rPr b="0" i="0" lang="en" sz="28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Maximum force in a BPA is a function of resting length.</a:t>
            </a:r>
            <a:endParaRPr b="0" i="0" sz="2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772950" y="3999231"/>
            <a:ext cx="8026500" cy="6004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Bolen, Ben, et al. "Isometric Force Characterization of Braided Pneumatic Actuators." Available at SSRN 6072341.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0703"/>
            <a:ext cx="3148346" cy="215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0841" y="1439927"/>
            <a:ext cx="2804180" cy="218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5111" y="1425456"/>
            <a:ext cx="3148347" cy="2235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13"/>
          <p:cNvSpPr txBox="1"/>
          <p:nvPr/>
        </p:nvSpPr>
        <p:spPr>
          <a:xfrm>
            <a:off x="37750" y="0"/>
            <a:ext cx="7891500" cy="1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0"/>
              <a:buFont typeface="Arial"/>
              <a:buNone/>
            </a:pPr>
            <a:r>
              <a:rPr b="0" i="0" lang="en" sz="233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Maximum isometric torque is derived by multiplying the maximum isometric force times the shortest distance to that force’s line of action (moment arm).</a:t>
            </a:r>
            <a:endParaRPr b="0" i="0" sz="233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446225" y="4005025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55000" lnSpcReduction="20000"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Sherman, Michael A., et al. “What Is a Moment Arm? Calculating Muscle Effectiveness in Biomechanical Models Using Generalized Coordinates.” 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 7B: 9th International Conference on Multibody Systems, Nonlinear Dynamics, and Control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American Society of Mechanical Engineers, 2013, p. V07BT10A052. 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b="0" i="0" lang="en" sz="1100" u="sng" cap="none" strike="noStrike">
                <a:solidFill>
                  <a:srgbClr val="3D4594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10.1115/DETC2013-13633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225" y="1302000"/>
            <a:ext cx="3457600" cy="2550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28" name="Google Shape;228;p13"/>
          <p:cNvPicPr preferRelativeResize="0"/>
          <p:nvPr/>
        </p:nvPicPr>
        <p:blipFill rotWithShape="1">
          <a:blip r:embed="rId5">
            <a:alphaModFix/>
          </a:blip>
          <a:srcRect b="0" l="0" r="0" t="5643"/>
          <a:stretch/>
        </p:blipFill>
        <p:spPr>
          <a:xfrm>
            <a:off x="4473275" y="1290877"/>
            <a:ext cx="3220776" cy="25506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43650" y="71100"/>
            <a:ext cx="8403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Modifying the attachment point locations by hand is a time consuming process, so we created an algorithm to automate it.</a:t>
            </a:r>
            <a:endParaRPr b="0" i="0" sz="22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5" name="Google Shape;2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1742" y="1094171"/>
            <a:ext cx="1457679" cy="3463403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36" name="Google Shape;23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435" y="2687095"/>
            <a:ext cx="6305097" cy="181882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37" name="Google Shape;237;p14"/>
          <p:cNvPicPr preferRelativeResize="0"/>
          <p:nvPr/>
        </p:nvPicPr>
        <p:blipFill rotWithShape="1">
          <a:blip r:embed="rId5">
            <a:alphaModFix/>
          </a:blip>
          <a:srcRect b="9256" l="0" r="0" t="0"/>
          <a:stretch/>
        </p:blipFill>
        <p:spPr>
          <a:xfrm>
            <a:off x="216435" y="1118013"/>
            <a:ext cx="1923645" cy="128269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 txBox="1"/>
          <p:nvPr/>
        </p:nvSpPr>
        <p:spPr>
          <a:xfrm>
            <a:off x="2177081" y="1537755"/>
            <a:ext cx="281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Connor Morrow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PhD Student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3933441" y="1959125"/>
            <a:ext cx="2889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Morrow, Connor, Benjamin Bolen, and Alexander J. Hunt. "Optimization of artificial muscle placements for a humanoid bipedal robot." </a:t>
            </a:r>
            <a:r>
              <a:rPr b="0" i="1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Conference on Biomimetic and Biohybrid Systems</a:t>
            </a:r>
            <a:r>
              <a:rPr b="0" i="0" lang="en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 Cham: Springer International Publishing, 2020.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36050" y="59125"/>
            <a:ext cx="79305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"/>
              <a:buFont typeface="Arial"/>
              <a:buNone/>
            </a:pPr>
            <a:r>
              <a:rPr b="0" i="0" lang="en" sz="212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Modifying PAM attachment and wrapping locations allows the robot to meet or EXCEED the required torque for a given muscle/joint combination.</a:t>
            </a:r>
            <a:endParaRPr b="0" i="0" sz="212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6" name="Google Shape;246;p15"/>
          <p:cNvPicPr preferRelativeResize="0"/>
          <p:nvPr/>
        </p:nvPicPr>
        <p:blipFill rotWithShape="1">
          <a:blip r:embed="rId3">
            <a:alphaModFix/>
          </a:blip>
          <a:srcRect b="0" l="1858" r="54636" t="38725"/>
          <a:stretch/>
        </p:blipFill>
        <p:spPr>
          <a:xfrm>
            <a:off x="1348575" y="2339700"/>
            <a:ext cx="2788725" cy="23546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47" name="Google Shape;247;p15"/>
          <p:cNvPicPr preferRelativeResize="0"/>
          <p:nvPr/>
        </p:nvPicPr>
        <p:blipFill rotWithShape="1">
          <a:blip r:embed="rId3">
            <a:alphaModFix/>
          </a:blip>
          <a:srcRect b="0" l="53943" r="0" t="38725"/>
          <a:stretch/>
        </p:blipFill>
        <p:spPr>
          <a:xfrm>
            <a:off x="5377250" y="2275200"/>
            <a:ext cx="3033100" cy="2419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48" name="Google Shape;248;p15"/>
          <p:cNvPicPr preferRelativeResize="0"/>
          <p:nvPr/>
        </p:nvPicPr>
        <p:blipFill rotWithShape="1">
          <a:blip r:embed="rId3">
            <a:alphaModFix/>
          </a:blip>
          <a:srcRect b="65438" l="55239" r="34862" t="3761"/>
          <a:stretch/>
        </p:blipFill>
        <p:spPr>
          <a:xfrm>
            <a:off x="4727075" y="1313650"/>
            <a:ext cx="868475" cy="1620076"/>
          </a:xfrm>
          <a:prstGeom prst="rect">
            <a:avLst/>
          </a:prstGeom>
          <a:noFill/>
          <a:ln cap="flat" cmpd="sng" w="9525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9" name="Google Shape;249;p15"/>
          <p:cNvPicPr preferRelativeResize="0"/>
          <p:nvPr/>
        </p:nvPicPr>
        <p:blipFill rotWithShape="1">
          <a:blip r:embed="rId3">
            <a:alphaModFix/>
          </a:blip>
          <a:srcRect b="65288" l="7442" r="81968" t="3471"/>
          <a:stretch/>
        </p:blipFill>
        <p:spPr>
          <a:xfrm>
            <a:off x="596025" y="1313650"/>
            <a:ext cx="953626" cy="1686550"/>
          </a:xfrm>
          <a:prstGeom prst="rect">
            <a:avLst/>
          </a:prstGeom>
          <a:noFill/>
          <a:ln cap="flat" cmpd="sng" w="9525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0" name="Google Shape;250;p15"/>
          <p:cNvSpPr txBox="1"/>
          <p:nvPr/>
        </p:nvSpPr>
        <p:spPr>
          <a:xfrm>
            <a:off x="2223925" y="1503913"/>
            <a:ext cx="1038000" cy="5079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2100" u="none" cap="none" strike="noStrike">
              <a:solidFill>
                <a:srgbClr val="007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6474560" y="1503925"/>
            <a:ext cx="838500" cy="5079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Robot</a:t>
            </a:r>
            <a:endParaRPr b="0" i="0" sz="2100" u="none" cap="none" strike="noStrike">
              <a:solidFill>
                <a:srgbClr val="007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54325" y="62575"/>
            <a:ext cx="79122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"/>
              <a:buFont typeface="Arial"/>
              <a:buNone/>
            </a:pPr>
            <a:r>
              <a:rPr b="0" i="0" lang="en" sz="212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We often have to increase the actuator length because the Festo PAMs cannot contract to the same extent as real muscles.</a:t>
            </a:r>
            <a:endParaRPr b="0" i="0" sz="212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8" name="Google Shape;258;p16"/>
          <p:cNvPicPr preferRelativeResize="0"/>
          <p:nvPr/>
        </p:nvPicPr>
        <p:blipFill rotWithShape="1">
          <a:blip r:embed="rId3">
            <a:alphaModFix/>
          </a:blip>
          <a:srcRect b="32664" l="22534" r="49808" t="30162"/>
          <a:stretch/>
        </p:blipFill>
        <p:spPr>
          <a:xfrm>
            <a:off x="949750" y="2062525"/>
            <a:ext cx="3350176" cy="25328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59" name="Google Shape;259;p16"/>
          <p:cNvPicPr preferRelativeResize="0"/>
          <p:nvPr/>
        </p:nvPicPr>
        <p:blipFill rotWithShape="1">
          <a:blip r:embed="rId3">
            <a:alphaModFix/>
          </a:blip>
          <a:srcRect b="32664" l="51180" r="22205" t="30162"/>
          <a:stretch/>
        </p:blipFill>
        <p:spPr>
          <a:xfrm>
            <a:off x="4844699" y="1965238"/>
            <a:ext cx="3350176" cy="2632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260" name="Google Shape;260;p16"/>
          <p:cNvSpPr txBox="1"/>
          <p:nvPr/>
        </p:nvSpPr>
        <p:spPr>
          <a:xfrm>
            <a:off x="2042775" y="1397075"/>
            <a:ext cx="1038000" cy="5079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2100" u="none" cap="none" strike="noStrike">
              <a:solidFill>
                <a:srgbClr val="007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6099935" y="1347275"/>
            <a:ext cx="839700" cy="5079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Robot</a:t>
            </a:r>
            <a:endParaRPr b="0" i="0" sz="2100" u="none" cap="none" strike="noStrike">
              <a:solidFill>
                <a:srgbClr val="0079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6"/>
          <p:cNvPicPr preferRelativeResize="0"/>
          <p:nvPr/>
        </p:nvPicPr>
        <p:blipFill rotWithShape="1">
          <a:blip r:embed="rId3">
            <a:alphaModFix/>
          </a:blip>
          <a:srcRect b="71413" l="27110" r="63767" t="0"/>
          <a:stretch/>
        </p:blipFill>
        <p:spPr>
          <a:xfrm>
            <a:off x="637100" y="1027075"/>
            <a:ext cx="958550" cy="168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6"/>
          <p:cNvPicPr preferRelativeResize="0"/>
          <p:nvPr/>
        </p:nvPicPr>
        <p:blipFill rotWithShape="1">
          <a:blip r:embed="rId3">
            <a:alphaModFix/>
          </a:blip>
          <a:srcRect b="71930" l="53404" r="39416" t="0"/>
          <a:stretch/>
        </p:blipFill>
        <p:spPr>
          <a:xfrm>
            <a:off x="4654350" y="1027075"/>
            <a:ext cx="776000" cy="170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66950" y="40525"/>
            <a:ext cx="8680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Range of motion (RoM) in our robot hip is less than the human benchmark, but greater than most traditional robot designs.</a:t>
            </a:r>
            <a:endParaRPr b="0" i="0" sz="21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623575" y="4152075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62500" lnSpcReduction="20000"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Bolen, Ben P., and Alexander J. Hunt. “Determination of Artificial Muscle Placement for Biomimetic Humanoid Robot Legs.” 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Biomimetic and Biohybrid Systems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edited by Uriel Martinez-Hernandez et al., vol. 11556, Springer International Publishing, 2019, pp. 15–26. 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b="0" i="0" lang="en" sz="1100" u="sng" cap="none" strike="noStrike">
                <a:solidFill>
                  <a:srgbClr val="3D4594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10.1007/978-3-030-24741-6_2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12" y="1012625"/>
            <a:ext cx="3785776" cy="3143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72" name="Google Shape;2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2299" y="1664450"/>
            <a:ext cx="4157325" cy="18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8" name="Google Shape;2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8691" y="1845106"/>
            <a:ext cx="3716214" cy="276857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14300">
              <a:srgbClr val="000000">
                <a:alpha val="50196"/>
              </a:srgbClr>
            </a:outerShdw>
          </a:effectLst>
        </p:spPr>
      </p:pic>
      <p:sp>
        <p:nvSpPr>
          <p:cNvPr id="279" name="Google Shape;279;p18"/>
          <p:cNvSpPr txBox="1"/>
          <p:nvPr/>
        </p:nvSpPr>
        <p:spPr>
          <a:xfrm>
            <a:off x="212950" y="193475"/>
            <a:ext cx="7635300" cy="10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Research on technology for accurate length (and pressure) measurements will allow us to reliably calculate force.</a:t>
            </a:r>
            <a:endParaRPr b="0" i="0" sz="22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0" name="Google Shape;2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6341" y="1450912"/>
            <a:ext cx="2868516" cy="2180236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38100">
              <a:srgbClr val="000000">
                <a:alpha val="50196"/>
              </a:srgbClr>
            </a:outerShdw>
          </a:effectLst>
        </p:spPr>
      </p:pic>
      <p:pic>
        <p:nvPicPr>
          <p:cNvPr id="281" name="Google Shape;2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609" y="1482056"/>
            <a:ext cx="1932979" cy="16698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8"/>
          <p:cNvSpPr txBox="1"/>
          <p:nvPr/>
        </p:nvSpPr>
        <p:spPr>
          <a:xfrm>
            <a:off x="212960" y="3196028"/>
            <a:ext cx="17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Jake Chung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Master’s Student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212950" y="193475"/>
            <a:ext cx="83895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We are validating our design criteria by testing for maximum isometric force of two muscle-actuators about the knee.</a:t>
            </a:r>
            <a:endParaRPr b="0" i="0" sz="27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9" name="Google Shape;2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650" y="1636125"/>
            <a:ext cx="3525774" cy="298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7350" y="1640575"/>
            <a:ext cx="1959000" cy="30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582775"/>
            <a:ext cx="1699625" cy="2257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/>
          <p:cNvSpPr txBox="1"/>
          <p:nvPr/>
        </p:nvSpPr>
        <p:spPr>
          <a:xfrm>
            <a:off x="152410" y="3839853"/>
            <a:ext cx="17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Lindie Burgess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Master’s Student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206725" y="214975"/>
            <a:ext cx="77100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We hypothesize that we can use biologically inspired neural controllers that send pulse signals to muscle actuators in order to modulate force output and duration. </a:t>
            </a:r>
            <a:endParaRPr b="0" i="0" sz="19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9" name="Google Shape;299;p20"/>
          <p:cNvPicPr preferRelativeResize="0"/>
          <p:nvPr/>
        </p:nvPicPr>
        <p:blipFill rotWithShape="1">
          <a:blip r:embed="rId3">
            <a:alphaModFix/>
          </a:blip>
          <a:srcRect b="0" l="0" r="32587" t="0"/>
          <a:stretch/>
        </p:blipFill>
        <p:spPr>
          <a:xfrm>
            <a:off x="2997471" y="1203900"/>
            <a:ext cx="3353573" cy="316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 txBox="1"/>
          <p:nvPr/>
        </p:nvSpPr>
        <p:spPr>
          <a:xfrm>
            <a:off x="7852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62500" lnSpcReduction="10000"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Stimulation Pattern That Maximizes Force in Paralyzed and Control Whole Thenar Muscles | Journal of Neurophysiology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" sz="1100" u="none" cap="none" strike="noStrike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100" u="sng" cap="none" strike="noStrike">
                <a:solidFill>
                  <a:srgbClr val="3D4594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https://www.physiology.org/doi/full/10.1152/jn.2002.87.5.2271?url_ver=Z39.88-2003&amp;rfr_id=ori%3Arid%3Acrossref.org&amp;rfr_dat=cr_pub%3Dpubmed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Accessed 23 Jan. 2020.</a:t>
            </a:r>
            <a:endParaRPr b="0" i="0" sz="1300" u="none" cap="none" strike="noStrik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6" name="Google Shape;306;p21"/>
          <p:cNvPicPr preferRelativeResize="0"/>
          <p:nvPr/>
        </p:nvPicPr>
        <p:blipFill rotWithShape="1">
          <a:blip r:embed="rId3">
            <a:alphaModFix/>
          </a:blip>
          <a:srcRect b="8557" l="10319" r="11384" t="3229"/>
          <a:stretch/>
        </p:blipFill>
        <p:spPr>
          <a:xfrm>
            <a:off x="249772" y="1446525"/>
            <a:ext cx="3807002" cy="2422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307" name="Google Shape;307;p21"/>
          <p:cNvPicPr preferRelativeResize="0"/>
          <p:nvPr/>
        </p:nvPicPr>
        <p:blipFill rotWithShape="1">
          <a:blip r:embed="rId4">
            <a:alphaModFix/>
          </a:blip>
          <a:srcRect b="0" l="0" r="42016" t="0"/>
          <a:stretch/>
        </p:blipFill>
        <p:spPr>
          <a:xfrm>
            <a:off x="4807650" y="1446525"/>
            <a:ext cx="4166350" cy="2407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308" name="Google Shape;308;p21"/>
          <p:cNvSpPr txBox="1"/>
          <p:nvPr/>
        </p:nvSpPr>
        <p:spPr>
          <a:xfrm>
            <a:off x="206725" y="214975"/>
            <a:ext cx="7840800" cy="14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This 2-layer CPG bipedal neuromechanical model was created when we synthesized two existing designs. </a:t>
            </a:r>
            <a:endParaRPr b="0" i="0" sz="24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4079550" y="2231700"/>
            <a:ext cx="680100" cy="680100"/>
          </a:xfrm>
          <a:prstGeom prst="mathPlus">
            <a:avLst>
              <a:gd fmla="val 23520" name="adj1"/>
            </a:avLst>
          </a:prstGeom>
          <a:solidFill>
            <a:srgbClr val="B7B7B7"/>
          </a:solidFill>
          <a:ln cap="flat" cmpd="sng" w="19050">
            <a:solidFill>
              <a:srgbClr val="233A4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311800" y="4070225"/>
            <a:ext cx="3633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79400" lvl="0" marL="2794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0" i="0" lang="en" sz="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Li, Wei, et al. “A Neural Network with Central Pattern Generators Entrained by Sensory Feedback Controls Walking of a Bipedal Model.” </a:t>
            </a:r>
            <a:r>
              <a:rPr b="0" i="1" lang="en" sz="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Bioinspiration &amp; Biomimetics</a:t>
            </a:r>
            <a:r>
              <a:rPr b="0" i="0" lang="en" sz="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12, no. 6, Oct. 2017, p. 065002. </a:t>
            </a:r>
            <a:r>
              <a:rPr b="0" i="1" lang="en" sz="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Institute of Physics</a:t>
            </a:r>
            <a:r>
              <a:rPr b="0" i="0" lang="en" sz="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b="0" i="0" lang="en" sz="605" u="sng" cap="none" strike="noStrike">
                <a:solidFill>
                  <a:srgbClr val="3D4594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10.1088/1748-3190/aa8290</a:t>
            </a:r>
            <a:r>
              <a:rPr b="0" i="0" lang="en" sz="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6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933175" y="4093150"/>
            <a:ext cx="3460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rPr b="0" i="0" lang="en" sz="6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Deng, Kaiyu, et al. “Neuromechanical Model of Rat Hindlimb Walking with Two-Layer CPGs.” </a:t>
            </a:r>
            <a:r>
              <a:rPr b="0" i="1" lang="en" sz="6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Biomimetics</a:t>
            </a:r>
            <a:r>
              <a:rPr b="0" i="0" lang="en" sz="6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4, no. 1, Mar. 2019, p. 21. </a:t>
            </a:r>
            <a:r>
              <a:rPr b="0" i="1" lang="en" sz="6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DOI.org (Crossref)</a:t>
            </a:r>
            <a:r>
              <a:rPr b="0" i="0" lang="en" sz="6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doi:</a:t>
            </a:r>
            <a:r>
              <a:rPr b="0" i="0" lang="en" sz="623" u="sng" cap="none" strike="noStrike">
                <a:solidFill>
                  <a:srgbClr val="3D4594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10.3390/biomimetics4010021</a:t>
            </a:r>
            <a:r>
              <a:rPr b="0" i="0" lang="en" sz="6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6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167000" y="177425"/>
            <a:ext cx="7618800" cy="8271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25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The synthesis Animatlab model approximates human gait while suspended in the air... </a:t>
            </a:r>
            <a:endParaRPr b="0" i="0" sz="225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8" name="Google Shape;318;p22" title="2021-02-17-20-58-24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000" y="1467575"/>
            <a:ext cx="4005767" cy="3004325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214313" rotWithShape="0" algn="bl" dir="5400000" dist="28575">
              <a:srgbClr val="000000">
                <a:alpha val="83921"/>
              </a:srgbClr>
            </a:outerShdw>
          </a:effectLst>
        </p:spPr>
      </p:pic>
      <p:sp>
        <p:nvSpPr>
          <p:cNvPr id="319" name="Google Shape;319;p22"/>
          <p:cNvSpPr txBox="1"/>
          <p:nvPr/>
        </p:nvSpPr>
        <p:spPr>
          <a:xfrm>
            <a:off x="4425375" y="1596175"/>
            <a:ext cx="4451400" cy="8883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25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but it fails when attempting self-supported bipedal locomotion.  </a:t>
            </a:r>
            <a:endParaRPr b="0" i="0" sz="25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0" name="Google Shape;3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8875" y="2681200"/>
            <a:ext cx="4524375" cy="17907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198400" y="57375"/>
            <a:ext cx="74565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Accuracy will be increased by having a RG for each side, and it will incorporate proprioceptive feedback to the RG and PF layers</a:t>
            </a:r>
            <a:endParaRPr b="0" i="0" sz="22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7" name="Google Shape;3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570" y="1784445"/>
            <a:ext cx="2547125" cy="10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3"/>
          <p:cNvPicPr preferRelativeResize="0"/>
          <p:nvPr/>
        </p:nvPicPr>
        <p:blipFill rotWithShape="1">
          <a:blip r:embed="rId4">
            <a:alphaModFix/>
          </a:blip>
          <a:srcRect b="0" l="1623" r="0" t="0"/>
          <a:stretch/>
        </p:blipFill>
        <p:spPr>
          <a:xfrm>
            <a:off x="3524875" y="1247375"/>
            <a:ext cx="4841825" cy="34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23"/>
          <p:cNvCxnSpPr/>
          <p:nvPr/>
        </p:nvCxnSpPr>
        <p:spPr>
          <a:xfrm>
            <a:off x="1654525" y="2759575"/>
            <a:ext cx="836100" cy="62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23"/>
          <p:cNvCxnSpPr/>
          <p:nvPr/>
        </p:nvCxnSpPr>
        <p:spPr>
          <a:xfrm>
            <a:off x="2490500" y="3390125"/>
            <a:ext cx="850200" cy="7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23"/>
          <p:cNvSpPr txBox="1"/>
          <p:nvPr/>
        </p:nvSpPr>
        <p:spPr>
          <a:xfrm>
            <a:off x="6328875" y="1906650"/>
            <a:ext cx="31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highlight>
                  <a:srgbClr val="F1C232"/>
                </a:highlight>
                <a:latin typeface="Calibri"/>
                <a:ea typeface="Calibri"/>
                <a:cs typeface="Calibri"/>
                <a:sym typeface="Calibri"/>
              </a:rPr>
              <a:t>flx</a:t>
            </a:r>
            <a:endParaRPr b="1" i="0" sz="900" u="none" cap="none" strike="noStrike">
              <a:solidFill>
                <a:srgbClr val="000000"/>
              </a:solidFill>
              <a:highlight>
                <a:srgbClr val="F1C23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109050" y="91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Multiple subsystems will make neural modeling easier to understand and diagnose.</a:t>
            </a:r>
            <a:endParaRPr b="0" i="0" sz="22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8" name="Google Shape;3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850" y="1144600"/>
            <a:ext cx="2206725" cy="16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9875" y="1144600"/>
            <a:ext cx="3846125" cy="35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5" name="Google Shape;345;p25"/>
          <p:cNvPicPr preferRelativeResize="0"/>
          <p:nvPr/>
        </p:nvPicPr>
        <p:blipFill rotWithShape="1">
          <a:blip r:embed="rId3">
            <a:alphaModFix/>
          </a:blip>
          <a:srcRect b="11146" l="16179" r="14918" t="1981"/>
          <a:stretch/>
        </p:blipFill>
        <p:spPr>
          <a:xfrm>
            <a:off x="4826175" y="1089200"/>
            <a:ext cx="3100050" cy="3301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/>
          <p:nvPr/>
        </p:nvSpPr>
        <p:spPr>
          <a:xfrm rot="8096669">
            <a:off x="7041209" y="2571275"/>
            <a:ext cx="875681" cy="3372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5"/>
          <p:cNvSpPr/>
          <p:nvPr/>
        </p:nvSpPr>
        <p:spPr>
          <a:xfrm rot="-8764890">
            <a:off x="7134702" y="4255655"/>
            <a:ext cx="688694" cy="2846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212125" y="-8875"/>
            <a:ext cx="77793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0"/>
              <a:buFont typeface="Arial"/>
              <a:buNone/>
            </a:pPr>
            <a:r>
              <a:rPr b="0" i="0" lang="en" sz="214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The neural controller model will be improved by incorporating </a:t>
            </a:r>
            <a:r>
              <a:rPr b="0" i="0" lang="en" sz="2140" u="none" cap="none" strike="noStrike">
                <a:solidFill>
                  <a:srgbClr val="000000"/>
                </a:solidFill>
                <a:highlight>
                  <a:srgbClr val="EA9999"/>
                </a:highlight>
                <a:latin typeface="Nunito"/>
                <a:ea typeface="Nunito"/>
                <a:cs typeface="Nunito"/>
                <a:sym typeface="Nunito"/>
              </a:rPr>
              <a:t>contact feedback</a:t>
            </a:r>
            <a:r>
              <a:rPr b="0" i="0" lang="en" sz="214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from </a:t>
            </a:r>
            <a:r>
              <a:rPr b="0" i="0" lang="en" sz="2140" u="none" cap="none" strike="noStrike">
                <a:solidFill>
                  <a:srgbClr val="000000"/>
                </a:solidFill>
                <a:highlight>
                  <a:srgbClr val="EA9999"/>
                </a:highlight>
                <a:latin typeface="Nunito"/>
                <a:ea typeface="Nunito"/>
                <a:cs typeface="Nunito"/>
                <a:sym typeface="Nunito"/>
              </a:rPr>
              <a:t>foot mechanoreceptors</a:t>
            </a:r>
            <a:r>
              <a:rPr b="0" i="0" lang="en" sz="214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b="0" i="0" sz="214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9" name="Google Shape;349;p25"/>
          <p:cNvPicPr preferRelativeResize="0"/>
          <p:nvPr/>
        </p:nvPicPr>
        <p:blipFill rotWithShape="1">
          <a:blip r:embed="rId4">
            <a:alphaModFix/>
          </a:blip>
          <a:srcRect b="4893" l="0" r="49764" t="13694"/>
          <a:stretch/>
        </p:blipFill>
        <p:spPr>
          <a:xfrm>
            <a:off x="362425" y="1245125"/>
            <a:ext cx="4143901" cy="335227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5"/>
          <p:cNvSpPr/>
          <p:nvPr/>
        </p:nvSpPr>
        <p:spPr>
          <a:xfrm rot="2696984">
            <a:off x="505922" y="2769906"/>
            <a:ext cx="725280" cy="4560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230975" y="221050"/>
            <a:ext cx="71310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0"/>
              <a:buFont typeface="Arial"/>
              <a:buNone/>
            </a:pPr>
            <a:r>
              <a:rPr b="0" i="0" lang="en" sz="273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I hope that this presentation let you learn more about our:</a:t>
            </a:r>
            <a:endParaRPr b="0" i="0" sz="273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0"/>
              <a:buFont typeface="Arial"/>
              <a:buNone/>
            </a:pPr>
            <a:r>
              <a:t/>
            </a:r>
            <a:endParaRPr b="0" i="0" sz="273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821825" y="149957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●"/>
            </a:pP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Robot development </a:t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●"/>
            </a:pP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Neural controller development</a:t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●"/>
            </a:pP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Future work to integrate both these things</a:t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3" name="Google Shape;3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25" y="3362575"/>
            <a:ext cx="58102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7"/>
          <p:cNvSpPr txBox="1"/>
          <p:nvPr/>
        </p:nvSpPr>
        <p:spPr>
          <a:xfrm>
            <a:off x="109050" y="58950"/>
            <a:ext cx="86874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0"/>
              <a:buFont typeface="Arial"/>
              <a:buNone/>
            </a:pPr>
            <a:r>
              <a:rPr b="0" i="0" lang="en" sz="283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Thank you</a:t>
            </a:r>
            <a:endParaRPr b="0" i="0" sz="283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0"/>
              <a:buFont typeface="Arial"/>
              <a:buNone/>
            </a:pPr>
            <a:r>
              <a:t/>
            </a:r>
            <a:endParaRPr b="0" i="0" sz="283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5" name="Google Shape;3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938" y="666888"/>
            <a:ext cx="614362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0575" y="1362225"/>
            <a:ext cx="4491076" cy="328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7325" y="1851775"/>
            <a:ext cx="792525" cy="12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130525" y="62575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27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Our biomechanical model has good fidelity to real human bodies because it uses 11 total joints and 92 muscle-actuators (46 per side).</a:t>
            </a:r>
            <a:endParaRPr b="0" i="0" sz="27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8" name="Google Shape;378;p29"/>
          <p:cNvPicPr preferRelativeResize="0"/>
          <p:nvPr/>
        </p:nvPicPr>
        <p:blipFill rotWithShape="1">
          <a:blip r:embed="rId3">
            <a:alphaModFix/>
          </a:blip>
          <a:srcRect b="2951" l="4070" r="36246" t="2173"/>
          <a:stretch/>
        </p:blipFill>
        <p:spPr>
          <a:xfrm>
            <a:off x="1749000" y="1445575"/>
            <a:ext cx="3148325" cy="3193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379" name="Google Shape;379;p29"/>
          <p:cNvPicPr preferRelativeResize="0"/>
          <p:nvPr/>
        </p:nvPicPr>
        <p:blipFill rotWithShape="1">
          <a:blip r:embed="rId4">
            <a:alphaModFix/>
          </a:blip>
          <a:srcRect b="0" l="16152" r="23172" t="0"/>
          <a:stretch/>
        </p:blipFill>
        <p:spPr>
          <a:xfrm>
            <a:off x="6640100" y="760725"/>
            <a:ext cx="969475" cy="38779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0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126625" y="133050"/>
            <a:ext cx="78150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The 2-layer neural controller model has one overall </a:t>
            </a:r>
            <a:r>
              <a:rPr b="0" i="0" lang="en" sz="1800" u="none" cap="none" strike="noStrike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Rhythm Generator (RG) layer</a:t>
            </a:r>
            <a:r>
              <a:rPr b="0" i="0" lang="en" sz="18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, one </a:t>
            </a:r>
            <a:r>
              <a:rPr b="0" i="0" lang="en" sz="1800" u="none" cap="none" strike="noStrike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Pattern Formation (PF)</a:t>
            </a:r>
            <a:r>
              <a:rPr b="0" i="0" lang="en" sz="18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layer for each hip, and one </a:t>
            </a:r>
            <a:r>
              <a:rPr b="0" i="0" lang="en" sz="1800" u="none" cap="none" strike="noStrike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PF layer</a:t>
            </a:r>
            <a:r>
              <a:rPr b="0" i="0" lang="en" sz="18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 for the knee and ankle of each side.</a:t>
            </a:r>
            <a:endParaRPr b="0" i="0" sz="1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6" name="Google Shape;38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400" y="1210250"/>
            <a:ext cx="4070799" cy="346847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0"/>
          <p:cNvSpPr txBox="1"/>
          <p:nvPr/>
        </p:nvSpPr>
        <p:spPr>
          <a:xfrm>
            <a:off x="6883275" y="1936125"/>
            <a:ext cx="1304700" cy="702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Sensorimotor Layer</a:t>
            </a:r>
            <a:endParaRPr b="0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2210050" y="2492625"/>
            <a:ext cx="801300" cy="5751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3212875" y="1418625"/>
            <a:ext cx="642300" cy="391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3139675" y="3907300"/>
            <a:ext cx="715500" cy="3912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0"/>
          <p:cNvSpPr/>
          <p:nvPr/>
        </p:nvSpPr>
        <p:spPr>
          <a:xfrm>
            <a:off x="4925025" y="4120850"/>
            <a:ext cx="801300" cy="4422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4955100" y="1172475"/>
            <a:ext cx="801300" cy="4422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 txBox="1"/>
          <p:nvPr/>
        </p:nvSpPr>
        <p:spPr>
          <a:xfrm>
            <a:off x="5415075" y="1809825"/>
            <a:ext cx="1171200" cy="95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30"/>
          <p:cNvCxnSpPr>
            <a:stCxn id="393" idx="3"/>
            <a:endCxn id="387" idx="1"/>
          </p:cNvCxnSpPr>
          <p:nvPr/>
        </p:nvCxnSpPr>
        <p:spPr>
          <a:xfrm>
            <a:off x="6586275" y="2287125"/>
            <a:ext cx="297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idx="12" type="sldNum"/>
          </p:nvPr>
        </p:nvSpPr>
        <p:spPr>
          <a:xfrm>
            <a:off x="8747760" y="4729163"/>
            <a:ext cx="396240" cy="41433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31"/>
          <p:cNvSpPr txBox="1"/>
          <p:nvPr/>
        </p:nvSpPr>
        <p:spPr>
          <a:xfrm>
            <a:off x="204775" y="115550"/>
            <a:ext cx="77244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Robot control will be achieved by combining our neuromechanical model with the previously mentioned skeletal geometry and pneumatic artificial muscles.</a:t>
            </a:r>
            <a:endParaRPr b="0" i="0" sz="22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1" name="Google Shape;4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9881" y="1513600"/>
            <a:ext cx="2787494" cy="31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402" name="Google Shape;40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4750" y="1513600"/>
            <a:ext cx="2556675" cy="31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