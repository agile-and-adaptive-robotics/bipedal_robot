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595959"/>
                </a:solidFill>
                <a:latin typeface="Calibri"/>
              </a:rPr>
              <a:t>φ10 mm at l₀ = 112 mm, 620 kPa:  isometric force (N)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0796B"/>
              </a:solidFill>
            </c:spPr>
          </c:dPt>
          <c:dPt>
            <c:idx val="1"/>
            <c:spPr>
              <a:solidFill>
                <a:srgbClr val="38761D"/>
              </a:solidFill>
            </c:spPr>
          </c:dPt>
          <c:dPt>
            <c:idx val="2"/>
            <c:spPr>
              <a:solidFill>
                <a:srgbClr val="C00000"/>
              </a:solidFill>
            </c:spPr>
          </c:dPt>
          <c:cat>
            <c:strRef>
              <c:f>Sheet1!$A$2:$A$4</c:f>
              <c:strCache>
                <c:ptCount val="3"/>
                <c:pt idx="0">
                  <c:v>Measured</c:v>
                </c:pt>
                <c:pt idx="1">
                  <c:v>Our model</c:v>
                </c:pt>
                <c:pt idx="2">
                  <c:v>Festo tool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350.9</c:v>
                </c:pt>
                <c:pt idx="1">
                  <c:v>335.3</c:v>
                </c:pt>
                <c:pt idx="2">
                  <c:v>498.6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>
                  <a:solidFill>
                    <a:srgbClr val="2222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4CE"/>
            </a:solidFill>
          </a:ln>
        </c:spPr>
        <c:txPr>
          <a:bodyPr/>
          <a:lstStyle/>
          <a:p>
            <a:pPr>
              <a:defRPr sz="130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</c:scaling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595959"/>
                </a:solidFill>
                <a:latin typeface="Calibri"/>
              </a:rPr>
              <a:t>per-test torque RMSE at adopted χ values (N·m)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38761D"/>
              </a:solidFill>
            </c:spPr>
          </c:dPt>
          <c:dPt>
            <c:idx val="1"/>
            <c:spPr>
              <a:solidFill>
                <a:srgbClr val="38761D"/>
              </a:solidFill>
            </c:spPr>
          </c:dPt>
          <c:dPt>
            <c:idx val="2"/>
            <c:spPr>
              <a:solidFill>
                <a:srgbClr val="00796B"/>
              </a:solidFill>
            </c:spPr>
          </c:dPt>
          <c:dPt>
            <c:idx val="3"/>
            <c:spPr>
              <a:solidFill>
                <a:srgbClr val="38761D"/>
              </a:solidFill>
            </c:spPr>
          </c:dPt>
          <c:dPt>
            <c:idx val="4"/>
            <c:spPr>
              <a:solidFill>
                <a:srgbClr val="38761D"/>
              </a:solidFill>
            </c:spPr>
          </c:dPt>
          <c:cat>
            <c:strRef>
              <c:f>Sheet1!$A$2:$A$6</c:f>
              <c:strCache>
                <c:ptCount val="5"/>
                <c:pt idx="0">
                  <c:v>48 cm</c:v>
                </c:pt>
                <c:pt idx="1">
                  <c:v>46 cm</c:v>
                </c:pt>
                <c:pt idx="2">
                  <c:v>47 cm*</c:v>
                </c:pt>
                <c:pt idx="3">
                  <c:v>40 cm-tendon</c:v>
                </c:pt>
                <c:pt idx="4">
                  <c:v>41 cm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1.94</c:v>
                </c:pt>
                <c:pt idx="1">
                  <c:v>1.51</c:v>
                </c:pt>
                <c:pt idx="2">
                  <c:v>2.29</c:v>
                </c:pt>
                <c:pt idx="3">
                  <c:v>1.63</c:v>
                </c:pt>
                <c:pt idx="4">
                  <c:v>1.21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22222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4CE"/>
            </a:solidFill>
          </a:ln>
        </c:spPr>
        <c:txPr>
          <a:bodyPr/>
          <a:lstStyle/>
          <a:p>
            <a:pPr>
              <a:defRPr sz="1300">
                <a:solidFill>
                  <a:srgbClr val="2222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</c:scaling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Committee members, thank you for reading the dissertation. Today: can pneumatic artificial muscles be characterized and arranged so a biomimetic robot reproduces human joint force capability - and how the controller will be built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per aim. Aim 1 published; Aim 2 in manuscript form; Aim 3 is the defined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committee: this dissertation is the actuator-and-joint foundation of the AARL humanoid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biology professor on the committee will recognize this loop: model, perturb,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up gap 1. Force peaks AT resting length - unlike a biological muscle whose optimum is mid-range.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gap maps to one aim. The committee heard these as the research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slide - one breath. The point: wide l0 range, both diameters, 537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discovery slide. Festo's own tool predicts the OPPOSITE trend - force rising as length shrinks.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 committee: arctan form, bounded asymptote, physical offset from end-cap contact in CAD.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design-relevant failure: anyone specifying BPAs under 300 mm gets burned by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 by each muscle's own F620 and eps620 is what makes one surface fit all lengths.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Stress: validation is 20% held out, and max error under ~11% everywhere - at ANY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Sarosi params come from specific lengths - extrapolation is where they fail. Martens is geometry-sensitive.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map = feedforward plant model / lookup table. Valve-airflow dynamics are the Elzein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CoR in femur frame at 0 deg. Co-axial with gravity so measurements stay isometric.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Yellow = hybrid (measured Lm, rk + model force). It tracks measurement: so the force model is fine; Lm and rk predictions were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chi1/chi2 are EFFECTIVE system stiffness (bracket + fixtures + winch), not literal beam stiffness - be ready for that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protocol choices: encoder-corrected 47 cm is NEVER trained on by the flexor fit; extensor locks stiffness to the flexor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C: fit on 48 cm. Panel D: 45.7 cm never used in the fit - different muscle over a different 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47 cm is pure hold-out with the encoder correction (+5.3 deg on experimental angles). FVU &lt; 0.17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chi0 flips sign relative to flexor: -10.1 vs +8.9 mm. Held-out RMSE 0.56-1.88 vs baseline 0.95-3.62: improved in every pool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Advisor requirement satisfied: one (chi1, chi2) across configurations. Note both rows are operating points on ONE flexor Pareto front - the data admit a family; this is the honest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 B is the headline. Be upfront about the 60-100 deg shortfall (78-103 at +/-20%). The femur note usually gets a laugh: at 620 kPa we exceeded the ultimate strength of the test femur, so higher-pressure points were measured at reduced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slide. Improvement is unambiguous; validation is NOT claimed for the bio-extensor. FVU &gt; 1 means the corrected model under-predicts the measured torque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slide to current work: same Xi loaded directly from the results mats by the context builders.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Conversion is COMPLETE and verified: 92 actuators, attachment geometry audited against OpenSim source; joint sign conventions audited dynamically from simulation torques.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controller-actuator-joint interface demonstration - NOT yet SNS control of the full converted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406-neuron network assembled on the converted model. RG verified in ISOLATION: ~0.885 s period, antiphase -0.88. Full-body closed loop not yet running (leg NaNs under investigation).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state of the neural side: rhythm generation is demonstrated; weight-bearing is the critical path, and that is a FEEDBACK tuning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database (Ben led both papers) is what makes the gain choices literature-grounded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Methodological discipline slide: no walking-speed tuning until sign, gain, and phase structure replicate the literature at each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division of labor: Teensy = hard real-time per-joint; Jetson = network evaluation. Static maps of this dissertation = feedforward lookup; Elzein model = pulse-modulated pressure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stage feeds the next. The committee read these numbers; this is the one-slide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committee's sharpest questions by stating them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progress NOW: two-BPA parallel flexor tests + surrogateopt revisit. Then dynamic characterization, closed-loop co-sim, sensorium extensions,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brief; thank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questions route to the appendix: uniqueness of stiffness pair (G), bracket point (H), frame conventions (G), wrap-loss implementation (E).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One-look reference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Tight CIs relative to coefficient magnitudes; fitted with fittype NLLS + LAR robustness, lower bounds [0,0,0].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Sarosi params exist per length; Martens-Boblan is geometry-sensitive - note the negative-force failure at 450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controls professor: this is a one-dimensional nonlinear root-find per configuration, solved by fzero on a bracketed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loss enters only the FORCE-PRODUCING strain; the kinematic (prediction) strain excludes it - worth stating if asked about double-counting.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data rulings Ben made: 47 cm encoder fix, and the excluded extensor tests 3/4/9. Fold study: all folds land on the same score plateau.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math professor: the compliance scalar is invariant because the second rotation is about the symmetry axis of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Rib midpoint (adopted) vs lower bolt hole - essentially identical outcomes, so the choice does not drive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Scalar arm is in the tibial frame about z; compressive values discarded at eps &lt; -0.02.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parallel implementations: AnimatLab (bipedal prototyping) and Simulink/MuJoCo (pipeline). The 7-block library runs in base Simulink.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arl_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132" y="685800"/>
            <a:ext cx="4019830" cy="12252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331720"/>
            <a:ext cx="1090879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AF7B51"/>
                </a:solidFill>
                <a:latin typeface="Calibri"/>
              </a:rPr>
              <a:t>Movement and Control of</a:t>
            </a:r>
          </a:p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AF7B51"/>
                </a:solidFill>
                <a:latin typeface="Calibri"/>
              </a:rPr>
              <a:t>Biomimetic Humanoid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69080"/>
            <a:ext cx="10908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Dissertation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Calibri"/>
              </a:rPr>
              <a:t>Ben P. Bolen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3036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Advisor: M. Anthony Hunt, Ph.D.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Agile &amp; Adaptive Robotics Laboratory  ·  Portland State University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Three questions connect one actuator to a walking, neurally controlled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Ch. 3-6; Bolen et al. 2026, Actuators; Bolen et al., in preparation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F7B5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What force can one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actuator produce?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Isometric characterization of Festo BPAs: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resting length, pressure, contraction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761D"/>
                </a:solidFill>
                <a:latin typeface="Calibri"/>
              </a:rPr>
              <a:t>537 tests  ·  dimensionless force surface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50792" y="3886200"/>
            <a:ext cx="265176" cy="0"/>
          </a:xfrm>
          <a:prstGeom prst="line">
            <a:avLst/>
          </a:prstGeom>
          <a:ln w="2794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82880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F7B5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80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What torque can a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BPA-driven knee produce?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977639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Pinned + biomimetic knees; correction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terms identified by multiobjective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578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761D"/>
                </a:solidFill>
                <a:latin typeface="Calibri"/>
              </a:rPr>
              <a:t>meets / exceeds human torque over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761D"/>
                </a:solidFill>
                <a:latin typeface="Calibri"/>
              </a:rPr>
              <a:t>most of range of motion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91271" y="3886200"/>
            <a:ext cx="265177" cy="0"/>
          </a:xfrm>
          <a:prstGeom prst="line">
            <a:avLst/>
          </a:prstGeom>
          <a:ln w="2794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80" y="182880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F7B5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803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How will the robot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be controlled?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977639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OpenSim to MuJoCo pipeline; two-layer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spinal CPG with full proprioception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2578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rhythm verified  ·  closed loop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A humanoid robot from the trunk down: human-like body plan, synthetic nervous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&amp; Hunt 2019; Morrow et al. 2020; Steele 2018; Scharzenberger et al. 2019</a:t>
            </a:r>
          </a:p>
        </p:txBody>
      </p:sp>
      <p:pic>
        <p:nvPicPr>
          <p:cNvPr id="5" name="Picture 4" descr="mujoco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3108959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989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converted leg model, 92 muscle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783080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GUIDING HYPOTHESIS</a:t>
            </a:r>
          </a:p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human-like muscle numbers, architecture, routing + human-like torque capability, controlled by a biologically grounded neural architecture  →  biomimetic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3264408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BUILT ON</a:t>
            </a:r>
          </a:p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my master's work: Gait2392-matched kinematics, muscle routing tools  ·  Morrow: optimized attachments  ·  Steele: biomimetic 4-bar knee  ·  Scharzenberger: BPA quadruped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4745736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38761D"/>
                </a:solidFill>
                <a:latin typeface="Calibri"/>
              </a:rPr>
              <a:t>THIS DISSERTATION</a:t>
            </a:r>
          </a:p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the quantitative basis: characterize the actuator, correct the joint model against experiment, validate against human torque, define the control path</a:t>
            </a:r>
          </a:p>
        </p:txBody>
      </p:sp>
      <p:pic>
        <p:nvPicPr>
          <p:cNvPr id="10" name="Picture 9" descr="image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4983480"/>
            <a:ext cx="18288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598932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AARL quadruped: BPA actuators + SNS, already on a treadmill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WHY BIOMIMETIC ROBOTS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Robots run neuromechanical experiments that are impossible in living 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Ijspeert 2020; Shin et al. 2018; photo: Asano et al. 2016, Humanoids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Biology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anatomy · architecture · afferents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8056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Robot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222222"/>
                </a:solidFill>
                <a:latin typeface="Calibri"/>
              </a:rPr>
              <a:t>actuators · routing · controller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3108960"/>
            <a:ext cx="0" cy="1280160"/>
          </a:xfrm>
          <a:prstGeom prst="line">
            <a:avLst/>
          </a:prstGeom>
          <a:ln w="31750">
            <a:solidFill>
              <a:srgbClr val="387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54480" y="35204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761D"/>
                </a:solidFill>
                <a:latin typeface="Calibri"/>
              </a:rPr>
              <a:t>design principles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80360" y="3108960"/>
            <a:ext cx="0" cy="1280160"/>
          </a:xfrm>
          <a:prstGeom prst="line">
            <a:avLst/>
          </a:prstGeom>
          <a:ln w="31750">
            <a:solidFill>
              <a:srgbClr val="AF7B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90088" y="35204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F7B51"/>
                </a:solidFill>
                <a:latin typeface="Calibri"/>
              </a:rPr>
              <a:t>test hypotheses</a:t>
            </a:r>
          </a:p>
        </p:txBody>
      </p:sp>
      <p:pic>
        <p:nvPicPr>
          <p:cNvPr id="11" name="Picture 10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06923"/>
            <a:ext cx="3566160" cy="42499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614476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human-mimetic musculoskeletal humanoid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Remove one muscle from the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8716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Block one sensory feedback pathway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05409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Stimulate a named neural pathway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621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Identical copies - no individual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18795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–  Faster, cheaper, ethical vs. human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0749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Loss-of-function and stimulation experiments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are the point of the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THE ACTUATOR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Braided pneumatic actuators: muscle-like strengths, and three modeling headaches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Hunt et al. 2017; Sárosi et al. 2012-2017; Martens &amp; Boblan 2017; Festo DMSP datasheets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62" y="1783080"/>
            <a:ext cx="1587154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0350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Festo DMSP-10/20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761D"/>
                </a:solidFill>
                <a:latin typeface="Calibri"/>
              </a:rPr>
              <a:t>WHY WE USE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402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+  High force-to-weight, low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8620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+  Intrinsic compliance - safe, spring-like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8386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+  Tension-only, like biological muscle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10565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+  Force-length curve qualitatively muscle-like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783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0000"/>
                </a:solidFill>
                <a:latin typeface="Calibri"/>
              </a:rPr>
              <a:t>WHY THEY ARE HARD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402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–  Maximum force occurs AT resting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6207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–  Contraction limited (max ≈ ε₆₂₀)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483864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–  F highly nonlinear in l₀, P,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10565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–  Manufacturer tool mis-predicts short BPAs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892040"/>
            <a:ext cx="8641080" cy="12344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5074920"/>
            <a:ext cx="8138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Calibri"/>
              </a:rPr>
              <a:t>Designing a biomimetic robot around BPAs needs quantitative, predictive models:</a:t>
            </a:r>
          </a:p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F7B51"/>
                </a:solidFill>
                <a:latin typeface="Calibri"/>
              </a:rPr>
              <a:t>actuator force  →  joint torque  →  comparison with human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Three gaps stood between the existing design and a robot that walks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Ch. 1 §1.3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115568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202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761D"/>
                </a:solidFill>
                <a:latin typeface="Calibri"/>
              </a:rPr>
              <a:t>GAP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83664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Actuator force models inadequate for design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Festo tool over-predicts short BPAs; published models fit a single length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27248"/>
            <a:ext cx="1115568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31012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761D"/>
                </a:solidFill>
                <a:latin typeface="Calibri"/>
              </a:rPr>
              <a:t>GAP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7355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Actuator force ≠ joint torque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brackets, artificial tendons, wrap paths: unknown losses; optimized biomimetic routing never validated vs. human torque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17136"/>
            <a:ext cx="1115568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70001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96B"/>
                </a:solidFill>
                <a:latin typeface="Calibri"/>
              </a:rPr>
              <a:t>GAP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66344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22222"/>
                </a:solidFill>
                <a:latin typeface="Calibri"/>
              </a:rPr>
              <a:t>No pipeline from musculoskeletal model to biologically realistic controller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two-level CPG ingredients existed, never assembled for a BPA biped with human-like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F7B51"/>
                </a:solidFill>
                <a:latin typeface="Calibri"/>
              </a:rPr>
              <a:t>Aims 1-3 mirror the gaps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A custom jig measured isometric force across resting length, pressure, and contraction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Bolen, Elzein, Pang, Hunt 2026, Actuators (Ch. 3)</a:t>
            </a:r>
          </a:p>
        </p:txBody>
      </p:sp>
      <p:pic>
        <p:nvPicPr>
          <p:cNvPr id="5" name="Picture 4" descr="testJigs_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02" y="1737360"/>
            <a:ext cx="3722914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192024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DIAMETERS</a:t>
            </a:r>
          </a:p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10 mm and 20 mm Festo DMSP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78892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RESTING LENGTHS</a:t>
            </a:r>
          </a:p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112-518 mm (10 mm)  ·  300-509 mm (20 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65760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PRESSURE</a:t>
            </a:r>
          </a:p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up to P₆₂₀ = 620 kPa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52628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DATA</a:t>
            </a:r>
          </a:p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537 force-pressure-contraction pairs (321 + 216)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394960"/>
            <a:ext cx="6492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INSTRUMENTATION</a:t>
            </a:r>
          </a:p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S-type load cells + HX711 · MPX5700 pressure · Arduino → MATLAB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Maximum isometric force depends on resting length - a previously unreported characteristic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Figs. 2-3</a:t>
            </a:r>
          </a:p>
        </p:txBody>
      </p:sp>
      <p:pic>
        <p:nvPicPr>
          <p:cNvPr id="5" name="Picture 4" descr="MaxForc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35" y="1737360"/>
            <a:ext cx="4452449" cy="3611880"/>
          </a:xfrm>
          <a:prstGeom prst="rect">
            <a:avLst/>
          </a:prstGeom>
        </p:spPr>
      </p:pic>
      <p:pic>
        <p:nvPicPr>
          <p:cNvPr id="6" name="Picture 5" descr="MaxForc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797" y="1737360"/>
            <a:ext cx="4777764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132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φ 10 mm:  F₆₂₀ vs l₀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541324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φ 20 mm:  F₆₂₀ vs l₀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33872"/>
            <a:ext cx="10972800" cy="475488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25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>solid: our arctan fit (data-driven)  ·  dashed: Festo tool - predicts force INCREASING as l₀ shrinks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Two coefficients per diameter capture the resting-length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Eqs. 4-6; fit: nonlinear least squares, least-absolute-residual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94444"/>
            <a:ext cx="5760720" cy="3488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291840"/>
            <a:ext cx="6400800" cy="13716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max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00930"/>
            <a:ext cx="5760720" cy="35341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4800600"/>
            <a:ext cx="6400800" cy="132588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max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93610"/>
            <a:ext cx="5760720" cy="3398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828800"/>
            <a:ext cx="4343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LIMITS BEHAVE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550" b="0" i="0">
                <a:solidFill>
                  <a:srgbClr val="222222"/>
                </a:solidFill>
                <a:latin typeface="Calibri"/>
              </a:rPr>
              <a:t>l₀ → ∞:   470 N (10 mm) vs Festo 490 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within Festo's stated 10% manufacturing tolerance (20 mm: 1460 vs 1570 N)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THE OFFSET IS PHYSICAL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7.5 mm / 13 mm = length at which the end caps contact each other in the CAD model - no contractile stroke remains</a:t>
            </a:r>
          </a:p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AF7B51"/>
                </a:solidFill>
                <a:latin typeface="Calibri"/>
              </a:rPr>
              <a:t>As l₀ → 0, measured force →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At short resting lengths the manufacturer's tool mis-predicts force by 42%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Discussion §1; example: φ10 mm, l₀ = 112 mm, 620 kPa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828800"/>
          <a:ext cx="57607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0807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22222"/>
                </a:solidFill>
                <a:latin typeface="Calibri"/>
              </a:rPr>
              <a:t>error:  4.5% (ours)  vs  42.1% (Festo)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920240"/>
            <a:ext cx="4892040" cy="39319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148840"/>
            <a:ext cx="4343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WHY THE TOOL FAILS SHORT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Ideal cylindrical models ignore end effects; the clamped ends force steep stress gradients.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The end-effect zone has roughly fixed length - so as l₀ shrinks, it dominates.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0" i="0">
                <a:solidFill>
                  <a:srgbClr val="C00000"/>
                </a:solidFill>
                <a:latin typeface="Calibri"/>
              </a:rPr>
              <a:t>Measured force → 0 as l₀ → 0.  The Festo tool instead predicts exponential growth.</a:t>
            </a:r>
          </a:p>
          <a:p>
            <a:pPr algn="l">
              <a:lnSpc>
                <a:spcPct val="110000"/>
              </a:lnSpc>
            </a:pPr>
            <a:r>
              <a:rPr sz="1400" b="1" i="1">
                <a:solidFill>
                  <a:srgbClr val="AF7B51"/>
                </a:solidFill>
                <a:latin typeface="Calibri"/>
              </a:rPr>
              <a:t>“Researchers using BPA resting lengths under 300 mm should take note.”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All 537 measurements collapse onto one dimensionless force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Eqs. 7-9; ε* = ε/ε₆₂₀,  P* = P/620 kPa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38528"/>
            <a:ext cx="10871093" cy="566928"/>
          </a:xfrm>
          <a:prstGeom prst="rect">
            <a:avLst/>
          </a:prstGeom>
        </p:spPr>
      </p:pic>
      <p:pic>
        <p:nvPicPr>
          <p:cNvPr id="7" name="Picture 6" descr="FStar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671" y="2880360"/>
            <a:ext cx="3517457" cy="3246120"/>
          </a:xfrm>
          <a:prstGeom prst="rect">
            <a:avLst/>
          </a:prstGeom>
        </p:spPr>
      </p:pic>
      <p:pic>
        <p:nvPicPr>
          <p:cNvPr id="8" name="Picture 7" descr="FStar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546" y="2880360"/>
            <a:ext cx="3418187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1722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F*(ε*, P*) - φ10 mm, pressure isoclines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61722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F*(ε*, P*) - φ20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Three coefficients per diameter: force predicted out-of-sample to a few percent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Table 2; 80/20 train/validation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87451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>adj. R² (fit)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874519"/>
            <a:ext cx="2468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>adj. R² (validation)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79" y="1874519"/>
            <a:ext cx="2011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>max err (fit)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874519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>max err (val.)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F7B51"/>
                </a:solidFill>
                <a:latin typeface="Calibri"/>
              </a:rPr>
              <a:t>φ 10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514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0.9998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2468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2222"/>
                </a:solidFill>
                <a:latin typeface="Calibri"/>
              </a:rPr>
              <a:t>0.9994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514600"/>
            <a:ext cx="201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10.3%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10.6%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F7B51"/>
                </a:solidFill>
                <a:latin typeface="Calibri"/>
              </a:rPr>
              <a:t>φ 20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0815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0.992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81528"/>
            <a:ext cx="2468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22222"/>
                </a:solidFill>
                <a:latin typeface="Calibri"/>
              </a:rPr>
              <a:t>0.9943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3081528"/>
            <a:ext cx="2011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0815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22222"/>
                </a:solidFill>
                <a:latin typeface="Calibri"/>
              </a:rPr>
              <a:t>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RMSE (normalized):  0.005 (10 mm)  ·  0.023 (20 mm)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8912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whole actuator model a designer needs:</a:t>
            </a:r>
          </a:p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AF7B51"/>
                </a:solidFill>
                <a:latin typeface="Calibri"/>
              </a:rPr>
              <a:t>F*  (3 coefficients, per diameter)   ×   F₆₂₀(l₀)  (2 coefficients, per diameter)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· ACTUATOR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Lowest error of the compared models at every diameter and length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Fig. 5 + Table 3; full table in Appendix C</a:t>
            </a:r>
          </a:p>
        </p:txBody>
      </p:sp>
      <p:pic>
        <p:nvPicPr>
          <p:cNvPr id="5" name="Picture 4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92289"/>
            <a:ext cx="5120640" cy="44164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7F7F7F"/>
                </a:solidFill>
                <a:latin typeface="Calibri"/>
              </a:rPr>
              <a:t>measured vs predicted; y = x is perfect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796B"/>
                </a:solidFill>
                <a:latin typeface="Calibri"/>
              </a:rPr>
              <a:t>RMSE (N) at matched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945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95959"/>
                </a:solidFill>
                <a:latin typeface="Calibri"/>
              </a:rPr>
              <a:t>l₀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595959"/>
                </a:solidFill>
                <a:latin typeface="Calibri"/>
              </a:rPr>
              <a:t>Bolen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21945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595959"/>
                </a:solidFill>
                <a:latin typeface="Calibri"/>
              </a:rPr>
              <a:t>Sárosi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9" y="21945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595959"/>
                </a:solidFill>
                <a:latin typeface="Calibri"/>
              </a:rPr>
              <a:t>M&amp;B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33472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10 mm, 257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06040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761D"/>
                </a:solidFill>
                <a:latin typeface="Calibri"/>
              </a:rPr>
              <a:t>22.9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2606040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143.8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9" y="260604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73.8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163824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10 mm, 233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36392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761D"/>
                </a:solidFill>
                <a:latin typeface="Calibri"/>
              </a:rPr>
              <a:t>16.8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3136392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132.7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9" y="3136392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62.6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694176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20 mm, 300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666744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761D"/>
                </a:solidFill>
                <a:latin typeface="Calibri"/>
              </a:rPr>
              <a:t>35.6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666744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132.1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9" y="3666744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72.8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24528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20 mm, 450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197096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761D"/>
                </a:solidFill>
                <a:latin typeface="Calibri"/>
              </a:rPr>
              <a:t>67.6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4197096"/>
            <a:ext cx="1234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177.7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9" y="4197096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862.1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892040"/>
            <a:ext cx="5669280" cy="123444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047488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Normalization travels: one fit per diameter works across lengths,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while fixed-parameter models fail when moved off their fit length.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1 → AIM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force model is two cheap maps - built to sit inside a real-time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Discussion §4; dynamics complement: Elzein et al.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920240"/>
            <a:ext cx="3749039" cy="13716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084831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MAP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450592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F₆₂₀(l₀)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resting length → max force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3749039" cy="13716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84831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MAP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50592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F*(ε*, P*)</a:t>
            </a:r>
          </a:p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222222"/>
                </a:solidFill>
                <a:latin typeface="Calibri"/>
              </a:rPr>
              <a:t>strain, pressure → fraction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42432" y="2606040"/>
            <a:ext cx="676656" cy="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703320"/>
            <a:ext cx="8138030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920240" y="4709160"/>
            <a:ext cx="8321040" cy="12344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4864608"/>
            <a:ext cx="7863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Closed form or lookup table; evaluated per timestep in the plant model.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Next: multiply by geometry (moment arm) → joint torque.  Does it survive contact with the joint?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JOINT TORQUE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Two test stands: a pinned knee exposes the losses; the biomimetic four-bar validates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al., in preparation 2025 (Ch. 3-4); four-bar knee: Steele 2018</a:t>
            </a:r>
          </a:p>
        </p:txBody>
      </p:sp>
      <p:pic>
        <p:nvPicPr>
          <p:cNvPr id="5" name="Picture 4" descr="testJigs_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8" y="1737360"/>
            <a:ext cx="3762102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7F7F7F"/>
                </a:solidFill>
                <a:latin typeface="Calibri"/>
              </a:rPr>
              <a:t>pinned-joint stand (CAD + test photo)</a:t>
            </a:r>
          </a:p>
        </p:txBody>
      </p:sp>
      <p:pic>
        <p:nvPicPr>
          <p:cNvPr id="7" name="Picture 6" descr="KneeIC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02597"/>
            <a:ext cx="3291840" cy="36586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614476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7F7F7F"/>
                </a:solidFill>
                <a:latin typeface="Calibri"/>
              </a:rPr>
              <a:t>biomimetic knee: migrating ICR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920240"/>
            <a:ext cx="3063240" cy="402336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103120"/>
            <a:ext cx="2651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FOUR-BAR KNEE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Crossed links give a migrating instantaneous center of rotation - posterior and distal with flexion, like the human knee.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Torque depends on the ICR: getting it right matters for both prediction and experiment.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Each joint: one flexor + one extensor BPA, 10 mm (and 20 mm on the biomimetic flexor).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JOINT TORQUE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hybrid method shows the error is kinematic, not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al., in preparation 2025, Fig. 6 A-B (panels: pre-optimized pinned flexor)</a:t>
            </a:r>
          </a:p>
        </p:txBody>
      </p:sp>
      <p:pic>
        <p:nvPicPr>
          <p:cNvPr id="5" name="Picture 4" descr="flxpin_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678" y="1737360"/>
            <a:ext cx="2845043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920240"/>
            <a:ext cx="4114800" cy="361188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121408"/>
            <a:ext cx="3611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HYBRID TORQUE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M = r × F with measured muscle length and angle, model force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38761D"/>
                </a:solidFill>
                <a:latin typeface="Calibri"/>
              </a:rPr>
              <a:t>Hybrid ≈ measured  ✓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250" b="0" i="0">
                <a:solidFill>
                  <a:srgbClr val="595959"/>
                </a:solidFill>
                <a:latin typeface="Calibri"/>
              </a:rPr>
              <a:t>the validated force model is not the problem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Calibri"/>
              </a:rPr>
              <a:t>Rigid prediction ≠ measured  ✗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the kinematics (Lₘ, rₖ) are what the model gets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7150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7F7F7F"/>
                </a:solidFill>
                <a:latin typeface="Calibri"/>
              </a:rPr>
              <a:t>yellow = hybrid · blue = measured · black dashed = original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IMPROVED TORQUE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Three physical effects close the gap: length offset, series compliance, wrap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al., in preparation 2025, Eqs. 10-16; bracket frames: Fig. 3.4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χ₀ · constant length offset</a:t>
            </a:r>
          </a:p>
        </p:txBody>
      </p:sp>
      <p:pic>
        <p:nvPicPr>
          <p:cNvPr id="7" name="Picture 6" descr="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00464"/>
            <a:ext cx="3154680" cy="2660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01752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Measured muscle length is consistently shorter than predicted at every angle - including at ε = 1, F = 0. That is a constant offset.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78308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385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χ₁, χ₂ · bracket compliance</a:t>
            </a:r>
          </a:p>
        </p:txBody>
      </p:sp>
      <p:pic>
        <p:nvPicPr>
          <p:cNvPr id="11" name="Picture 10" descr="k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529016"/>
            <a:ext cx="3154680" cy="2089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7992" y="301752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Hooke law in bracket principal directions; compliance projected on the force direction û; artificial tendon added in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78308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38528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χ₃ · wrapping loss (θₖ ≤ θ_wrap)</a:t>
            </a:r>
          </a:p>
        </p:txBody>
      </p:sp>
      <p:pic>
        <p:nvPicPr>
          <p:cNvPr id="15" name="Picture 14" descr="wr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437071"/>
            <a:ext cx="3154680" cy="392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4464" y="301752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A BPA bent over the joint loses usable arc length: inner side carries less tension. Loss grows with the complement of strain, ζ = 1 − ε*.</a:t>
            </a:r>
          </a:p>
        </p:txBody>
      </p:sp>
      <p:pic>
        <p:nvPicPr>
          <p:cNvPr id="17" name="Picture 16" descr="bktFr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0703" y="4754880"/>
            <a:ext cx="2519393" cy="1417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19963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bracket frames per configuration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548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89204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Solved by nonlinear force balance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F₆₂₀(l₀) · F*(ε*(δ), P*) − kₑₔ δ = 0  →  δ (Newton / bracketed solve), then length, path, moment arm, torque recomputed.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IDENTIFICATION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Terms identified by multiobjective optimization, judged on held-out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gamultiobj / NSGA-II (Deb 2002); sources: minimizeFlxPin10mm_2brk.m, minimizeExt10mmX3.m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5 pinned-flexor tests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(48 / 46 / 47 / 40-tendon / 41 cm)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8288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train on 4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hold out 47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59" y="18288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Pareto front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{RMSE, FVU, max res.}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82880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pick: held-out fit +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cross-configuration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286000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2286000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286000"/>
            <a:ext cx="32004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24612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flexor fit solves (χ₀, χ₁, χ₂) with TWO brackets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(origin + insertion), shared stiffness pair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324612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extensor refit LOCKS (χ₁, χ₂) to the flexor front,</a:t>
            </a:r>
          </a:p>
          <a:p>
            <a:pPr algn="ctr">
              <a:lnSpc>
                <a:spcPct val="95000"/>
              </a:lnSpc>
            </a:pPr>
            <a:r>
              <a:rPr sz="1250" b="0">
                <a:solidFill>
                  <a:srgbClr val="222222"/>
                </a:solidFill>
                <a:latin typeface="Calibri"/>
              </a:rPr>
              <a:t>solves only (χ₀, χ₃); χ₀ allowed negative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80560"/>
            <a:ext cx="11155680" cy="150876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Bounds of record (Appendix C)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flexor:  χ₀ ∈ [0, 20] mm · χ₁ ∈ [3×10⁴, 10⁶] N/m · χ₂ ∈ [5×10³, 2×10⁴] N/m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extensor:  χ₀ ∈ [−20, 0] mm · χ₃ ∈ [0, 1] · (χ₁, χ₂) = flexor front, never searched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PINNED FLEXOR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With corrections, prediction tracks measurement - including the dip at small angles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al., in preparation 2025, Fig. 6 C-D</a:t>
            </a:r>
          </a:p>
        </p:txBody>
      </p:sp>
      <p:pic>
        <p:nvPicPr>
          <p:cNvPr id="5" name="Picture 4" descr="flxpin_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775" y="1737360"/>
            <a:ext cx="284780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920240"/>
            <a:ext cx="3566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THE MISSING DIP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The rigid model completely missed the torque reduction at small flexion angles.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550" b="1" i="0">
                <a:solidFill>
                  <a:srgbClr val="38761D"/>
                </a:solidFill>
                <a:latin typeface="Calibri"/>
              </a:rPr>
              <a:t>The corrected model captures it.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VALIDATION</a:t>
            </a:r>
          </a:p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45.7 cm BPA: different length, different working range, never in the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PINNED FLEXOR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Held-out flexor errors stay near 1-2 N·m across all five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minimizeFlxPin10_results_20260908_2brkt_2trans_noT3.mat, front row 107 of 212 (adopted); FVU at right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2011680"/>
            <a:ext cx="3246120" cy="384048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212848"/>
            <a:ext cx="2834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FVU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0.14 / 0.06 / 0.17 / 0.04 / 0.03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* 47 cm test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encoder read 5.3° low; corrected on experimental angles - and never trained on.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F7B51"/>
                </a:solidFill>
                <a:latin typeface="Calibri"/>
              </a:rPr>
              <a:t>No test is garbage; every test predicts.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PINNED EXTENSOR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extensor wraps the joint - and χ₃ recovers the length it loses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minimizeExt10mmX3_results_20260910_noT3.mat, driver pick 1 (six-test validation pool)</a:t>
            </a:r>
          </a:p>
        </p:txBody>
      </p:sp>
      <p:pic>
        <p:nvPicPr>
          <p:cNvPr id="5" name="Picture 4" descr="ExtPin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61" y="1737360"/>
            <a:ext cx="6024636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828800"/>
            <a:ext cx="4206240" cy="987552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938528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50" b="1" i="0">
                <a:solidFill>
                  <a:srgbClr val="C00000"/>
                </a:solidFill>
                <a:latin typeface="Calibri"/>
              </a:rPr>
              <a:t>χ₀ = −10.1 mm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extensor offset: same magnitude scale, OPPOSITE sign to flexor (+8.9 mm)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926080"/>
            <a:ext cx="4206240" cy="98755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035808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50" b="1" i="0">
                <a:solidFill>
                  <a:srgbClr val="AF7B51"/>
                </a:solidFill>
                <a:latin typeface="Calibri"/>
              </a:rPr>
              <a:t>χ₃ = 0.621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fractional wrap loss acting on arc length × ζ²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023360"/>
            <a:ext cx="4206240" cy="98755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4133088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50" b="1" i="0">
                <a:solidFill>
                  <a:srgbClr val="38761D"/>
                </a:solidFill>
                <a:latin typeface="Calibri"/>
              </a:rPr>
              <a:t>0.56-1.88 N·m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held-out RMSE with corrections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5120640"/>
            <a:ext cx="4206240" cy="98755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5230368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650" b="1" i="0">
                <a:solidFill>
                  <a:srgbClr val="00796B"/>
                </a:solidFill>
                <a:latin typeface="Calibri"/>
              </a:rPr>
              <a:t>vs 0.95-3.62 N·m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uncorrected rigid baseline - improved in every pool test (6/6)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VALUES OF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One stiffness pair of record spans the flexor and extensor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App. C, Table C.2; flexor mat: ...20260908_2brkt_2trans_noT3, extensor mat: ...20260910_noT3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7830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83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761D"/>
                </a:solidFill>
                <a:latin typeface="Calibri"/>
              </a:rPr>
              <a:t>Flexor χ₀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38761D"/>
                </a:solidFill>
                <a:latin typeface="Calibri"/>
              </a:rPr>
              <a:t>+8.9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945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flexor 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945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761D"/>
                </a:solidFill>
                <a:latin typeface="Calibri"/>
              </a:rPr>
              <a:t>Flexor χ₁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38761D"/>
                </a:solidFill>
                <a:latin typeface="Calibri"/>
              </a:rPr>
              <a:t>5.62×10⁴ N/m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517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flexor 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761D"/>
                </a:solidFill>
                <a:latin typeface="Calibri"/>
              </a:rPr>
              <a:t>Flexor χ₂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089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38761D"/>
                </a:solidFill>
                <a:latin typeface="Calibri"/>
              </a:rPr>
              <a:t>1.85×10⁴ N/m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1089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flexor 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089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A88"/>
                </a:solidFill>
                <a:latin typeface="Calibri"/>
              </a:rPr>
              <a:t>Extensor χ₀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661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5A88"/>
                </a:solidFill>
                <a:latin typeface="Calibri"/>
              </a:rPr>
              <a:t>−10.1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5661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extensor 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5661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0233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A88"/>
                </a:solidFill>
                <a:latin typeface="Calibri"/>
              </a:rPr>
              <a:t>Extensor χ₁ (locked)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023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5A88"/>
                </a:solidFill>
                <a:latin typeface="Calibri"/>
              </a:rPr>
              <a:t>4.354×10⁴ N/m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0233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flexor 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233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80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A88"/>
                </a:solidFill>
                <a:latin typeface="Calibri"/>
              </a:rPr>
              <a:t>Extensor χ₂ (locked)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4805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5A88"/>
                </a:solidFill>
                <a:latin typeface="Calibri"/>
              </a:rPr>
              <a:t>1.701×10⁴ N/m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44805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flexor 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4805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937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F7B51"/>
                </a:solidFill>
                <a:latin typeface="Calibri"/>
              </a:rPr>
              <a:t>χ₃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F7B51"/>
                </a:solidFill>
                <a:latin typeface="Calibri"/>
              </a:rPr>
              <a:t>0.621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9377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extensor mat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93776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783080"/>
            <a:ext cx="3566160" cy="3977639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965960"/>
            <a:ext cx="31546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READ THIS TABLE LIKE THIS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Rows 107 and 1 are two operating points on one and the same flexor Pareto front.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The pinned-flexor data admit a family of stiffness pairs of comparable fit; the adopted pair is the one that also performs across configurations.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AF7B51"/>
                </a:solidFill>
                <a:latin typeface="Calibri"/>
              </a:rPr>
              <a:t>The extensor never searches stiffness - it inherits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BIOMIMETIC KNEE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biomimetic knee meets or exceeds human flexor torque over most of the range of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al., in preparation 2025, Fig. 9; human curve: Gait2392 (Delp 2007; Seth 2018)</a:t>
            </a:r>
          </a:p>
        </p:txBody>
      </p:sp>
      <p:pic>
        <p:nvPicPr>
          <p:cNvPr id="5" name="Picture 4" descr="FlxG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75" y="1783080"/>
            <a:ext cx="9451249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95560" y="1828800"/>
            <a:ext cx="1783080" cy="429768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1008" y="1993392"/>
            <a:ext cx="1508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00796B"/>
                </a:solidFill>
                <a:latin typeface="Calibri"/>
              </a:rPr>
              <a:t>SHORTFALL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60-100°
(±20%: 78-103°)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φ20 mm, 41.5 cm
RMSE 1.80
FVU 0.05</a:t>
            </a:r>
          </a:p>
          <a:p>
            <a:pPr algn="l">
              <a:lnSpc>
                <a:spcPct val="108000"/>
              </a:lnSpc>
            </a:pPr>
            <a:r>
              <a:rPr sz="1150" b="0" i="1">
                <a:solidFill>
                  <a:srgbClr val="595959"/>
                </a:solidFill>
                <a:latin typeface="Calibri"/>
              </a:rPr>
              <a:t>At 620 kPa the BPA exceeded the test femur's ultimate strength - remaining points taken at reduced 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· BIOMIMETIC KNEE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Biomimetic extensor: the corrections halve the error, but variance is still under-predicted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l₀ = 51.8 cm test; values of record: RMSE 2.20 / FVU 2.35 / max resid 4.73 (baseline 3.03 / 4.49 / 5.59)</a:t>
            </a:r>
          </a:p>
        </p:txBody>
      </p:sp>
      <p:pic>
        <p:nvPicPr>
          <p:cNvPr id="5" name="Picture 4" descr="Ext10mm_52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3259"/>
            <a:ext cx="6949440" cy="2928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3776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φ10 mm extensor on the four-bar knee, l₀ = 51.8 cm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1325880" cy="21031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2" y="2057400"/>
            <a:ext cx="1188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38761D"/>
                </a:solidFill>
                <a:latin typeface="Calibri"/>
              </a:rPr>
              <a:t>2.20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RMSE (N·m)
vs 3.03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1325880" cy="21031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2057400"/>
            <a:ext cx="1188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Calibri"/>
              </a:rPr>
              <a:t>2.35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FVU
vs 4.49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52760" y="1828800"/>
            <a:ext cx="1325880" cy="21031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25912" y="2057400"/>
            <a:ext cx="1188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38761D"/>
                </a:solidFill>
                <a:latin typeface="Calibri"/>
              </a:rPr>
              <a:t>4.73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max resid (N·m)
vs 5.59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160520"/>
            <a:ext cx="3840480" cy="146304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297680"/>
            <a:ext cx="3429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00796B"/>
                </a:solidFill>
                <a:latin typeface="Calibri"/>
              </a:rPr>
              <a:t>CLAIM CONTROL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FVU &gt; 1: no validated bio-extensor prediction is claimed. Improvement over baseline is unambiguous; closure is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2 → ROBOT REDESIGN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values of record now drive the full leg redesign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Opt_run.m / Opt_run_Ext.m; latest: Vas_Pam_20mm_Result_20260910_0528.mat (feasible)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COST (route redesign)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J = 10⁵·J_worst + 10³·J_torque + aux + regularizers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Targets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human knee torque from Gait2392 - flexor vs biceps femoris short head, extensor vs vastus medialis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Solver</a:t>
            </a:r>
          </a:p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surrogateopt (≈7,000 evals) → patternsearch (≈15,000), parallel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83080"/>
            <a:ext cx="5303520" cy="36576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LATEST RESULT - EXTENSOR REDESIGN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38761D"/>
                </a:solidFill>
                <a:latin typeface="Calibri"/>
              </a:rPr>
              <a:t>FEASIBLE with the χ values of record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thinnest torque margin  +0.063%  at −18.9°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contraction  0.69 · KMAX  (within limit)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max path length  0.832 m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binding constraint −0.000442 (near-active at optimum)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6235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flexor target carries a +1% torque margin above the human curve · extensor target is the raw curve · flexor routes mirrored about the mid-sagittal plane · Xi loaded directly from the results mats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SIMULATION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plant moves into simulation: OpenSim → MuJoCo, verified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MyoConverter (Caggiano 2022); MuJoCo (Todorov 2012); model: modified Gait2392 robotbody</a:t>
            </a:r>
          </a:p>
        </p:txBody>
      </p:sp>
      <p:pic>
        <p:nvPicPr>
          <p:cNvPr id="5" name="Picture 4" descr="mujoco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4500"/>
            <a:ext cx="30175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converted model at reference 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828800"/>
            <a:ext cx="4846320" cy="804672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Modified OpenSim robot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883664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robot routing, 92 muscles, corrected paths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2651760"/>
            <a:ext cx="0" cy="237744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2944368"/>
            <a:ext cx="4846320" cy="804672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MyoConverter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99923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OpenSim → MuJoCo, muscle kinematics + kinetics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3767328"/>
            <a:ext cx="0" cy="237744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23360" y="4059935"/>
            <a:ext cx="4846320" cy="804672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MuJoCo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4114799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92 muscle-tendon actuators · audited geometry · dynamically audited joint signs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4882896"/>
            <a:ext cx="0" cy="237744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23360" y="5175503"/>
            <a:ext cx="4846320" cy="804672"/>
          </a:xfrm>
          <a:prstGeom prst="roundRect">
            <a:avLst>
              <a:gd name="adj" fmla="val 12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SNS-Toolbox coupling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5230367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0.1 ms neural step · proprioceptive + contact channels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6144768"/>
            <a:ext cx="7635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F7B51"/>
                </a:solidFill>
                <a:latin typeface="Calibri"/>
              </a:rPr>
              <a:t>custom BPA force model ported 1:1 to Python - including the χ force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PROOF OF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A synthetic antagonist-BPA knee already closes the loop in MuJoCo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SNS-Toolbox (Nourse 2023); minimal SNS with reciprocal inhibition drives flexor + extensor BPAs</a:t>
            </a:r>
          </a:p>
        </p:txBody>
      </p:sp>
      <p:pic>
        <p:nvPicPr>
          <p:cNvPr id="5" name="Picture 4" descr="mujoco_kn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37360"/>
            <a:ext cx="2926079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synthetic knee at −35°; cyan/gold = named flexor/extensor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920240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222222"/>
                </a:solidFill>
                <a:latin typeface="Calibri"/>
              </a:rPr>
              <a:t>SNS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02996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0.1 ms 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80960" y="2596896"/>
            <a:ext cx="0" cy="18288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2779776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MN voltage → 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889504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sigmoid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3456432"/>
            <a:ext cx="0" cy="18288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3639312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MuJoCo mj_step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749039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tendon forces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0" y="4315968"/>
            <a:ext cx="0" cy="18288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4498848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222222"/>
                </a:solidFill>
                <a:latin typeface="Calibri"/>
              </a:rPr>
              <a:t>force → Ib afferent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608576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feedback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5175504"/>
            <a:ext cx="0" cy="182879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5358383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222222"/>
                </a:solidFill>
                <a:latin typeface="Calibri"/>
              </a:rPr>
              <a:t>back to SNS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54681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closed loop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943600" y="2286000"/>
            <a:ext cx="0" cy="3337560"/>
          </a:xfrm>
          <a:prstGeom prst="line">
            <a:avLst/>
          </a:prstGeom>
          <a:ln w="25400">
            <a:solidFill>
              <a:srgbClr val="0079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560" y="38404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SPINAL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spinal controller: two-level rhythm generation + pattern formation, per leg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Rybak 2006; McCrea &amp; Rybak 2008; left-right coordination: Molkov 2015, Danner 2016</a:t>
            </a:r>
          </a:p>
        </p:txBody>
      </p:sp>
      <p:pic>
        <p:nvPicPr>
          <p:cNvPr id="5" name="Picture 4" descr="walker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2083"/>
            <a:ext cx="6583680" cy="2802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8932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per-side subsystems: RG · hip · knee-ankle pattern 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828800"/>
            <a:ext cx="4160520" cy="41148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011680"/>
            <a:ext cx="3703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BUILT AND VERIFIED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406-neuron spinal network on the converted model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per-leg RG half-centers + 4 phase-shifted PF groups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MN pools for all actuators; Ia / Ib / II afferent populations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38761D"/>
                </a:solidFill>
                <a:latin typeface="Calibri"/>
              </a:rPr>
              <a:t>RG alone oscillates: ≈0.89 s cycle, legs in antiphase (−0.88)</a:t>
            </a:r>
          </a:p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Calibri"/>
              </a:rPr>
              <a:t>Open: full-body closed-loop co-simulation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THE SUSPENDED-WALKER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Feedforward rhythm produces stepping; only tuned feedback can support the 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Li et al. 2017 (biomech. synthesis); Deng et al. 2019 (two-layer CPG); AnimatLab: Cofer 2010</a:t>
            </a:r>
          </a:p>
        </p:txBody>
      </p:sp>
      <p:pic>
        <p:nvPicPr>
          <p:cNvPr id="5" name="Picture 4" descr="walker_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0283"/>
            <a:ext cx="3108960" cy="275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607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9-body planar biped,</a:t>
            </a:r>
          </a:p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antagonist Hill pairs + passive toe</a:t>
            </a:r>
          </a:p>
        </p:txBody>
      </p:sp>
      <p:pic>
        <p:nvPicPr>
          <p:cNvPr id="7" name="Picture 6" descr="animatlab_phase1_joint_ang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015900"/>
            <a:ext cx="4023360" cy="3466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94760" y="57607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phase-1 instrumented run: 10 s,</a:t>
            </a:r>
          </a:p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hip / knee / ankle, both sides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8308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65960"/>
            <a:ext cx="3108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WHAT IT TAUGHT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>
                <a:solidFill>
                  <a:srgbClr val="38761D"/>
                </a:solidFill>
                <a:latin typeface="Calibri"/>
              </a:rPr>
              <a:t>Suspended: alternating stepping in hip, knee, ankle - rhythm does not need sensory feedback (as the run at right shows).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>
                <a:solidFill>
                  <a:srgbClr val="C00000"/>
                </a:solidFill>
                <a:latin typeface="Calibri"/>
              </a:rPr>
              <a:t>On the ground: untuned afferents could not support the pattern.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>
                <a:solidFill>
                  <a:srgbClr val="AF7B51"/>
                </a:solidFill>
                <a:latin typeface="Calibri"/>
              </a:rPr>
              <a:t>→ proprioceptive + contact tuning is the critical path to weight-bearing walking.</a:t>
            </a:r>
          </a:p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595959"/>
                </a:solidFill>
                <a:latin typeface="Calibri"/>
              </a:rPr>
              <a:t>Current: RG latches under tonic drive in the bilateral model - conductance tuning in progress.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CLOSING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Four afferent channels close the loop, organized by the Sensory Afferent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Sensory Afferent Database: Bolen 2023; AI-assisted expansion: Bolen 2024</a:t>
            </a:r>
          </a:p>
        </p:txBody>
      </p:sp>
      <p:pic>
        <p:nvPicPr>
          <p:cNvPr id="5" name="Picture 4" descr="sensorimotor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26" y="1783080"/>
            <a:ext cx="4020826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3504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sensorimotor organization: MN, IN, Ia / Ib pathways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57984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761D"/>
                </a:solidFill>
                <a:latin typeface="Calibri"/>
              </a:rPr>
              <a:t>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029968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muscle length + velocity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stretch reflex; phase-dependent PF modulation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62656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761D"/>
                </a:solidFill>
                <a:latin typeface="Calibri"/>
              </a:rPr>
              <a:t>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072384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muscle force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load-dependent regulation of stance extensor activity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05072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42816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761D"/>
                </a:solidFill>
                <a:latin typeface="Calibri"/>
              </a:rPr>
              <a:t>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114800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muscle length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position sense; interjoint coordination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047488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285231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96B"/>
                </a:solidFill>
                <a:latin typeface="Calibri"/>
              </a:rPr>
              <a:t>heel / toe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157216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contact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discrete stance-swing boundaries; phase transitions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VERIFICATION-FIRST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Verify each circuit against tonic-stimulation physiology before any gait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air-stepping analogue: Selionov 2009; deletion/stimulation: Rybak 2006; Markin 2010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206240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motoneuron pools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4334255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tonic stim → force / activation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29000" y="3950207"/>
            <a:ext cx="0" cy="237745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3035807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pattern-formation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163823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tonic stim → phase-appropriate activation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29000" y="2779775"/>
            <a:ext cx="0" cy="237744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1865375"/>
            <a:ext cx="5852160" cy="621792"/>
          </a:xfrm>
          <a:prstGeom prst="roundRect">
            <a:avLst>
              <a:gd name="adj" fmla="val 12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222222"/>
                </a:solidFill>
                <a:latin typeface="Calibri"/>
              </a:rPr>
              <a:t>rhythm 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tonic stim → locomotor rhythm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722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796B"/>
                </a:solidFill>
                <a:latin typeface="Calibri"/>
              </a:rPr>
              <a:t>stimulate each level; compare with literature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148840"/>
            <a:ext cx="2011680" cy="39319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331720"/>
            <a:ext cx="17830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AF7B51"/>
                </a:solidFill>
                <a:latin typeface="Calibri"/>
              </a:rPr>
              <a:t>VERIFY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sign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gain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phase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then - and only then - tune walking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AIM 3 · PHYSICAL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destination: embedded neural control on a treadmill biped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quadruped precedent: Lutz 2025 (MuJoCo-SNS co-sim → hardware); stack: Teensy + Jetson (SNS-Toolbox backend)</a:t>
            </a:r>
          </a:p>
        </p:txBody>
      </p:sp>
      <p:pic>
        <p:nvPicPr>
          <p:cNvPr id="5" name="Picture 4" descr="image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4937759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7F7F7F"/>
                </a:solidFill>
                <a:latin typeface="Calibri"/>
              </a:rPr>
              <a:t>AARL BPA quadruped: SNS control, treadmill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83080"/>
            <a:ext cx="5669280" cy="84124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874519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Teensy per-joint loops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valve control, pressure + contact sensing (hard real-time)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734056"/>
            <a:ext cx="5669280" cy="84124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82549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Jetson-class companion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SNS network evaluation → activations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685032"/>
            <a:ext cx="5669280" cy="84124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776472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Dissertation maps on board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F(l₀, P, ε) and χ-corrected torque as feedforward / lookup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4636008"/>
            <a:ext cx="5669280" cy="84124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7274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Contraction lever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reverse-pulley block-and-tackle: force for travel where routes run long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5586984"/>
            <a:ext cx="5669280" cy="6858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696712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F7B51"/>
                </a:solidFill>
                <a:latin typeface="Calibri"/>
              </a:rPr>
              <a:t>aspiration: dynamic whole-body maneuvers - a kickflip exercises every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Three contributions, one validated design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Ch. 2-6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761D"/>
                </a:solidFill>
                <a:latin typeface="Calibri"/>
              </a:rPr>
              <a:t>ACTUATOR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F7B51"/>
                </a:solidFill>
                <a:latin typeface="Calibri"/>
              </a:rPr>
              <a:t>F(l₀, P, 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537 tests · dimensionless surface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adj. R² &gt; 0.99 in validation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9544" y="3657600"/>
            <a:ext cx="118872" cy="0"/>
          </a:xfrm>
          <a:prstGeom prst="line">
            <a:avLst/>
          </a:prstGeom>
          <a:ln w="2794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201168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761D"/>
                </a:solidFill>
                <a:latin typeface="Calibri"/>
              </a:rPr>
              <a:t>CORRECTIONS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F7B51"/>
                </a:solidFill>
                <a:latin typeface="Calibri"/>
              </a:rPr>
              <a:t>χ₀ χ₁ χ₂ χ₃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61188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identified on pinned knee,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one stiffness pair across configs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beats baseline in every pool 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44184" y="3657600"/>
            <a:ext cx="118872" cy="0"/>
          </a:xfrm>
          <a:prstGeom prst="line">
            <a:avLst/>
          </a:prstGeom>
          <a:ln w="2794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0" y="201168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945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8761D"/>
                </a:solidFill>
                <a:latin typeface="Calibri"/>
              </a:rPr>
              <a:t>JOINT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F7B51"/>
                </a:solidFill>
                <a:latin typeface="Calibri"/>
              </a:rPr>
              <a:t>meets / exceeds human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1188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biomimetic knee vs Gait2392 torque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over most of range of motion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78824" y="3657600"/>
            <a:ext cx="118872" cy="0"/>
          </a:xfrm>
          <a:prstGeom prst="line">
            <a:avLst/>
          </a:prstGeom>
          <a:ln w="2794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06840" y="201168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1945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796B"/>
                </a:solidFill>
                <a:latin typeface="Calibri"/>
              </a:rPr>
              <a:t>CONTROLLER -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65176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F7B51"/>
                </a:solidFill>
                <a:latin typeface="Calibri"/>
              </a:rPr>
              <a:t>RG + PF spinal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611880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rhythm verified in isolation;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feedback tuning = critical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222222"/>
                </a:solidFill>
                <a:latin typeface="Calibri"/>
              </a:rPr>
              <a:t>Each stage feeds the next: force model → torque model → plant for controller design → validated architecture for the robot.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HONEST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What these results do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Ch. 5 (Discussion)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48640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48256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AF7B51"/>
                </a:solidFill>
                <a:latin typeface="Calibri"/>
              </a:rPr>
              <a:t>Isometric only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no dynamics: hysteresis, airflow, damping; dynamic characterization is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48640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48256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AF7B51"/>
                </a:solidFill>
                <a:latin typeface="Calibri"/>
              </a:rPr>
              <a:t>ε₆₂₀ not predictable a priori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record max contraction per individual muscle; variance across muscles is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37560"/>
            <a:ext cx="548640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65576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AF7B51"/>
                </a:solidFill>
                <a:latin typeface="Calibri"/>
              </a:rPr>
              <a:t>Stiffness pair not unique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the pinned-flexor data admit a family; one consistent pair adopted, ties broken cross-configuration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337560"/>
            <a:ext cx="548640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465576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AF7B51"/>
                </a:solidFill>
                <a:latin typeface="Calibri"/>
              </a:rPr>
              <a:t>Bio-extensor variance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FVU 2.35 &gt; 1: improvement over baseline is real, validated prediction is not claimed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54880"/>
            <a:ext cx="5486400" cy="1261872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82896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AF7B51"/>
                </a:solidFill>
                <a:latin typeface="Calibri"/>
              </a:rPr>
              <a:t>Static map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manufacturing tolerance ±10%; aging and lifecycle behavior unmeasured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From here: two-muscle tests now, treadmill biped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Ch.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121408" cy="22860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286000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761D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788920"/>
            <a:ext cx="17922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2-BPA flexor tests;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surrogateopt revisit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8900" y="3246120"/>
            <a:ext cx="100584" cy="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34056" y="2103120"/>
            <a:ext cx="2121408" cy="22860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286000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788920"/>
            <a:ext cx="17922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isokinetic / isobaric /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isotonic + Elzein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0036" y="3246120"/>
            <a:ext cx="100584" cy="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65192" y="2103120"/>
            <a:ext cx="2121408" cy="22860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3" y="2286000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CLOSED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2788920"/>
            <a:ext cx="17922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RG oscillation tuning →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co-sim → tonic-stim verification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91172" y="3246120"/>
            <a:ext cx="100584" cy="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96327" y="2103120"/>
            <a:ext cx="2121408" cy="22860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2286000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SENSORIUM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788920"/>
            <a:ext cx="17922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vestibular (IMU) · ocular drift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correction · cerebellar gating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2308" y="3246120"/>
            <a:ext cx="100583" cy="0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27463" y="2103120"/>
            <a:ext cx="2121408" cy="22860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92055" y="2286000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2055" y="2788920"/>
            <a:ext cx="17922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treadmill biped: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Teensy + Jetson + SNS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AF7B51"/>
                </a:solidFill>
                <a:latin typeface="Calibri"/>
              </a:rPr>
              <a:t>Long-term: dynamic whole-body maneuvers - the kickflip aspiration.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Calibri"/>
              </a:rPr>
              <a:t>A robot whose nervous system - unlike a living animal's - can be instrumented, stimulated, and lesioned at will.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1" i="0">
                <a:solidFill>
                  <a:srgbClr val="AF7B51"/>
                </a:solidFill>
                <a:latin typeface="Calibri"/>
              </a:rPr>
              <a:t>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10312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ADVISOR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M. Anthony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27248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COMMITTEE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thank you for reading, commenting, and being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51376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COLLABORATORS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M. Elzein · L. Pang · L. Burgess · C. Morrow · J. Scharzenberger · C. Steele · J. Chung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175504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0796B"/>
                </a:solidFill>
                <a:latin typeface="Calibri"/>
              </a:rPr>
              <a:t>LAB &amp; SUPPORT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Agile &amp; Adaptive Robotics Laboratory · Portland State University · NeuroNex community</a:t>
            </a:r>
          </a:p>
        </p:txBody>
      </p:sp>
      <p:pic>
        <p:nvPicPr>
          <p:cNvPr id="7" name="Picture 6" descr="aarl_logo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098" y="5989320"/>
            <a:ext cx="2399898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arl_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132" y="960120"/>
            <a:ext cx="4019830" cy="12252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926080"/>
            <a:ext cx="10908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AF7B51"/>
                </a:solidFill>
                <a:latin typeface="Calibri"/>
              </a:rPr>
              <a:t>Thank you -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95959"/>
                </a:solidFill>
                <a:latin typeface="Calibri"/>
              </a:rPr>
              <a:t>Movement and Control of Biomimetic Humanoid Robots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Ben P. Bolen  ·  bbolen83@gmail.com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7F7F7F"/>
                </a:solidFill>
                <a:latin typeface="Calibri"/>
              </a:rPr>
              <a:t>Appendix: model details, protocol, robustness checks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A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The complete actuator force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Eqs. 3.1-3.5; implementation: Functions/f_festo.m, maxBPAforce.m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1155680" cy="978408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96B"/>
                </a:solidFill>
                <a:latin typeface="Calibri"/>
              </a:rPr>
              <a:t>STRAIN MEASURES</a:t>
            </a:r>
          </a:p>
        </p:txBody>
      </p:sp>
      <p:pic>
        <p:nvPicPr>
          <p:cNvPr id="7" name="Picture 6" descr="s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12848"/>
            <a:ext cx="4140054" cy="4754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990088"/>
            <a:ext cx="11155680" cy="978408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9981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96B"/>
                </a:solidFill>
                <a:latin typeface="Calibri"/>
              </a:rPr>
              <a:t>NORMALIZED SURFACE</a:t>
            </a:r>
          </a:p>
        </p:txBody>
      </p:sp>
      <p:pic>
        <p:nvPicPr>
          <p:cNvPr id="10" name="Picture 9" descr="f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74136"/>
            <a:ext cx="9117690" cy="4754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151376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611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96B"/>
                </a:solidFill>
                <a:latin typeface="Calibri"/>
              </a:rPr>
              <a:t>MAXIMUM FORCE (GENERAL P)</a:t>
            </a:r>
          </a:p>
        </p:txBody>
      </p:sp>
      <p:pic>
        <p:nvPicPr>
          <p:cNvPr id="13" name="Picture 12" descr="fmax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35424"/>
            <a:ext cx="7749702" cy="457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294376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041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96B"/>
                </a:solidFill>
                <a:latin typeface="Calibri"/>
              </a:rPr>
              <a:t>ISOMETRIC FORCE</a:t>
            </a:r>
          </a:p>
        </p:txBody>
      </p:sp>
      <p:pic>
        <p:nvPicPr>
          <p:cNvPr id="16" name="Picture 15" descr="for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678424"/>
            <a:ext cx="6562927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B ·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Coefficient values with 95% confidence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Tables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796B"/>
                </a:solidFill>
                <a:latin typeface="Calibri"/>
              </a:rPr>
              <a:t>F₆₂₀ arctan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325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b₁ 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4028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b₂ (1/m)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402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adj.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960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RMSE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15768"/>
            <a:ext cx="1325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Calibri"/>
              </a:rPr>
              <a:t>φ10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1576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303.5 (300, 308)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15768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19.03 (17.5, 20.6)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715768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0.9854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15768"/>
            <a:ext cx="960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14.7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91256"/>
            <a:ext cx="1325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Calibri"/>
              </a:rPr>
              <a:t>φ20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91256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922.4 (914, 931)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91256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15.37 (14.8, 16.0)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191256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0.9945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91256"/>
            <a:ext cx="960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23.8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66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796B"/>
                </a:solidFill>
                <a:latin typeface="Calibri"/>
              </a:rPr>
              <a:t>F* surface coefficients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1325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977639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c₀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977639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c₁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977639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c₂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77639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R² fit / 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53127"/>
            <a:ext cx="1325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Calibri"/>
              </a:rPr>
              <a:t>φ10 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453127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0.5682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453127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4.254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453127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0.5597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53127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0.9998 / 0.9994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28615"/>
            <a:ext cx="1325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Calibri"/>
              </a:rPr>
              <a:t>φ20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928615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0.2579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928615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6.477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928615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1.321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928615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222"/>
                </a:solidFill>
                <a:latin typeface="Calibri"/>
              </a:rPr>
              <a:t>0.992 / 0.9943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224028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7072" y="2423160"/>
            <a:ext cx="28803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ALSO ON RECORD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F₆₂₀ arctan fits: RMSE vs the FESTO TOOL: 189.9 N (10 mm), 668.4 N (20 mm) - the tool cannot track resting length.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A 40 mm fit exists in code (c₀ 0.1224, c₁ 10.47, c₂ 2.023) but is unused in the dissertation.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C ·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Full goodness-of-fit against published BPA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Bolen et al. 2026, Actuators, Table 3; RMSE / max error in N; FVU = fraction of variance unexplained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95959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96596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Bolen RMSE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6596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FVU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9659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659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Sárosi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FVU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9659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96596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M&amp;B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96596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FVU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9659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10 mm, 257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395728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8761D"/>
                </a:solidFill>
                <a:latin typeface="Calibri"/>
              </a:rPr>
              <a:t>22.9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9572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0.04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395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46.0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3957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143.8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9572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1.39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395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235.8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395728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73.8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39572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0.37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395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122.9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8986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10 mm, 233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2871216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8761D"/>
                </a:solidFill>
                <a:latin typeface="Calibri"/>
              </a:rPr>
              <a:t>16.8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87121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0.02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8712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30.3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87121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132.7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87121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1.17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28712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222.6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87121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62.6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87121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0.26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8712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101.2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37413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20 mm, 300 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3346704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8761D"/>
                </a:solidFill>
                <a:latin typeface="Calibri"/>
              </a:rPr>
              <a:t>35.6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46704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0.01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3467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114.0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3467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132.1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346704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0.20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3467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313.4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3467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72.8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346704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0.06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33467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137.8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84962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20 mm, 450 mm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3822191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8761D"/>
                </a:solidFill>
                <a:latin typeface="Calibri"/>
              </a:rPr>
              <a:t>67.6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3822191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0.03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382219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8761D"/>
                </a:solidFill>
                <a:latin typeface="Calibri"/>
              </a:rPr>
              <a:t>166.6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3822191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177.7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822191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0.18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382219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294.8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3822191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862.1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822191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4.20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382219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1321.1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66344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482803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Takeaway: fixed-parameter models fail when moved off their fit length;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the normalized fit holds across lengths because each muscle carries its own F₆₂₀ and ε₆₂₀.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D · COMPLIANCE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From bracket stiffness matrix to solved deflection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Dissertation App. A §A.3; minimizeFlxPin2brk.m / MonoPam_mult.m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842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796B"/>
                </a:solidFill>
                <a:latin typeface="Calibri"/>
              </a:rPr>
              <a:t>1 · project compliance on the force direction</a:t>
            </a:r>
          </a:p>
        </p:txBody>
      </p:sp>
      <p:pic>
        <p:nvPicPr>
          <p:cNvPr id="7" name="Picture 6" descr="kb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58568"/>
            <a:ext cx="7594408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310896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186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796B"/>
                </a:solidFill>
                <a:latin typeface="Calibri"/>
              </a:rPr>
              <a:t>2 · add artificial tendon in series</a:t>
            </a:r>
          </a:p>
        </p:txBody>
      </p:sp>
      <p:pic>
        <p:nvPicPr>
          <p:cNvPr id="10" name="Picture 9" descr="se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93008"/>
            <a:ext cx="9907524" cy="502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343400"/>
            <a:ext cx="11155680" cy="18288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3 · solve the force balance, then propagate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δ from F₆₂₀·F*(ε*(δ), P*) − kₑₔ·δ = 0 (fzero, bracket [0, lₘ − l₆₂₀]; δ ≡ 0 if uncorrected ε* &gt; 1)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then vector deflection → attachment moves → path length, force direction, moment arm, torque recomputed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two-BPA flexor grouping: coupled balance shares one common force, solved on [0, F₆₂₀]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E · WRAP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Wrapping-loss implementation, per contact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minimizeExtX3.m (Contraction, lines 327-370); MonoPamDataExplicit_balanceX3.m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PINNED EXTENSOR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two physical contact arcs: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R₁ = 12 mm from 27° to −23°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R₂ = 40 mm on the second bracket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arc-length normalizers: 27.75/(ang₁−ang₂), 92.46/(ang₂+120°)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BIOMIMETIC CONFIGURATIONS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Δl = χ₃ · b(θₖ) · (1 − ε*)²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b(θₖ) = routed bend measure (arc length swept by the wrap)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w Rap = 25 mm bend radius in the route builder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3484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9028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1" i="0">
                <a:solidFill>
                  <a:srgbClr val="AF7B51"/>
                </a:solidFill>
                <a:latin typeface="Calibri"/>
              </a:rPr>
              <a:t>Applied to the force-producing strain only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the kinematic strain that predicts muscle length excludes Δl - the loss changes force, not recorded geometry.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F ·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Identification campaign details and data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minimizeFlxPin10mm_2brk.m; Collect_ExtPinX3_sweep.m; Dig_foldLeverage.m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1155680" cy="969264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8424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AF7B51"/>
                </a:solidFill>
                <a:latin typeface="Calibri"/>
              </a:rPr>
              <a:t>Encoder correction</a:t>
            </a:r>
          </a:p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the 47 cm flexor test's encoder read ≈5.3° low; +5.3° applied to experimental angles only (phiD untouched), at build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53511"/>
            <a:ext cx="11155680" cy="969264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AF7B51"/>
                </a:solidFill>
                <a:latin typeface="Calibri"/>
              </a:rPr>
              <a:t>Training / validation</a:t>
            </a:r>
          </a:p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flexor: 4 train, 47 cm pure hold-out · extensor: six-test pool, tests 3/4/9 excluded a priori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32503"/>
            <a:ext cx="11155680" cy="969264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42231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AF7B51"/>
                </a:solidFill>
                <a:latin typeface="Calibri"/>
              </a:rPr>
              <a:t>Fold-structure check</a:t>
            </a:r>
          </a:p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every fold lands on the same score plateau; pooled fronts ≈80% cross-fold duplicates - fold choice does not change conclusions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11495"/>
            <a:ext cx="11155680" cy="969264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21223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AF7B51"/>
                </a:solidFill>
                <a:latin typeface="Calibri"/>
              </a:rPr>
              <a:t>Reproducibility</a:t>
            </a:r>
          </a:p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222222"/>
                </a:solidFill>
                <a:latin typeface="Calibri"/>
              </a:rPr>
              <a:t>re-running the extensor CV with a fresh GA seed reproduced the same 4-member front exactly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G ·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Frame convention is irrelevant for y-symmetric stiffness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proven numerically 2026-09-08: 1-rotation vs 2-rotation frames agree to ~1e-17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6675120" cy="393192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61264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CLAIM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Let K = diag(a, b, a) - equal stiffness about x and z. For any frame whose second rotation is about y, the projected scalar stiffness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700" b="1" i="0">
                <a:solidFill>
                  <a:srgbClr val="AF7B51"/>
                </a:solidFill>
                <a:latin typeface="Calibri"/>
              </a:rPr>
              <a:t>k(û) = (ûᵀ K⁻¹ û)⁻¹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is unchanged: a rotation about y mixes only the two coordinates with equal compliance 1/a, and ûᵀ K⁻¹ û is invariant under orthogonal transforms within that eigenspace.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38761D"/>
                </a:solidFill>
                <a:latin typeface="Calibri"/>
              </a:rPr>
              <a:t>Verified: two-rotation vs one-rotation implementations agree to ≈1×10⁻¹⁷.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920240"/>
            <a:ext cx="4206240" cy="393192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2148840"/>
            <a:ext cx="374903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SCOPE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Holds for y-symmetric arrays only (Kₓ = Kᶣ).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The extensor's arch bracket uses K = diag(χ₂, χ₁, χ₂)-type orderings that are NOT symmetric; those axis assignments are a modeling choice carried on physical grounds (buckling argument), not derived from this proof.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H ·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Extensor identification is robust to the bracket reference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minimizeExtX3.m Pbr variants, 1trans CVs; both fronts captured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rib midpoint (adopted)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796B"/>
                </a:solidFill>
                <a:latin typeface="Calibri"/>
              </a:rPr>
              <a:t>lower bolt 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2374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222"/>
                </a:solidFill>
                <a:latin typeface="Calibri"/>
              </a:rPr>
              <a:t>bracket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52374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8761D"/>
                </a:solidFill>
                <a:latin typeface="Calibri"/>
              </a:rPr>
              <a:t>[-3.84, -46.44, 62.5]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52374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[-6.26, -29.69, 75.06]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35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222"/>
                </a:solidFill>
                <a:latin typeface="Calibri"/>
              </a:rPr>
              <a:t>pick χ₃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35808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8761D"/>
                </a:solidFill>
                <a:latin typeface="Calibri"/>
              </a:rPr>
              <a:t>0.62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035808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0.60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222"/>
                </a:solidFill>
                <a:latin typeface="Calibri"/>
              </a:rPr>
              <a:t>pick χ₀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547872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8761D"/>
                </a:solidFill>
                <a:latin typeface="Calibri"/>
              </a:rPr>
              <a:t>−10.1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547872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−11.6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5993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222"/>
                </a:solidFill>
                <a:latin typeface="Calibri"/>
              </a:rPr>
              <a:t>bio-ext RMSE / FVU / 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059936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8761D"/>
                </a:solidFill>
                <a:latin typeface="Calibri"/>
              </a:rPr>
              <a:t>2.195 / 2.35 / 4.73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59936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2.204 / 2.369 / 4.727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2222"/>
                </a:solidFill>
                <a:latin typeface="Calibri"/>
              </a:rPr>
              <a:t>filter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57200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8761D"/>
                </a:solidFill>
                <a:latin typeface="Calibri"/>
              </a:rPr>
              <a:t>72 /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57200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83 / 90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292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9379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Conclusion: the extensor χ identification does not hinge on where the bracket point is placed.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I · KINEMATICS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Moment arm and torque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Young 2019 (analyzing moment arms); MonoPamDataExplicit.m lines 156-168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r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395728"/>
            <a:ext cx="6671782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611880"/>
            <a:ext cx="11155680" cy="2194560"/>
          </a:xfrm>
          <a:prstGeom prst="roundRect">
            <a:avLst>
              <a:gd name="adj" fmla="val 8000"/>
            </a:avLst>
          </a:prstGeom>
          <a:solidFill>
            <a:srgbClr val="E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607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1" i="0">
                <a:solidFill>
                  <a:srgbClr val="00796B"/>
                </a:solidFill>
                <a:latin typeface="Calibri"/>
              </a:rPr>
              <a:t>CONVENTIONS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r = perpendicular foot of the joint origin onto the line of action; identical result to the cross-product projection of Eq. 3.6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scalar moment arm rₖ = hypot(in-plane components) in the tibial body frame, about the knee z-axis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torque evaluated only in tension (entries discarded for ε &lt; −0.02)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coupled pathpoints stay equality-constrained (not welded) so moment arms keep their full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796B"/>
                </a:solidFill>
                <a:latin typeface="Calibri"/>
              </a:rPr>
              <a:t>APPENDIX J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201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AF7B51"/>
                </a:solidFill>
                <a:latin typeface="Calibri"/>
              </a:rPr>
              <a:t>Synthetic nervous system: library blocks and reflex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F7F7F"/>
                </a:solidFill>
                <a:latin typeface="Calibri"/>
              </a:rPr>
              <a:t>Simulink SNS library + KneeReflexDemo; AnimatLab neuron params: App. B of the dissertation</a:t>
            </a:r>
          </a:p>
        </p:txBody>
      </p:sp>
      <p:pic>
        <p:nvPicPr>
          <p:cNvPr id="5" name="Picture 4" descr="sns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41" y="1783080"/>
            <a:ext cx="445319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seven masked blocks; E/I icons auto-draw from synapse sign</a:t>
            </a:r>
          </a:p>
        </p:txBody>
      </p:sp>
      <p:pic>
        <p:nvPicPr>
          <p:cNvPr id="7" name="Picture 6" descr="sns_refl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857" y="1783080"/>
            <a:ext cx="3914244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84632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7F7F7F"/>
                </a:solidFill>
                <a:latin typeface="Calibri"/>
              </a:rPr>
              <a:t>reduced-order knee reflex: Ia/Ib, antagonist MNs, Renshaw-style recursion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49240"/>
            <a:ext cx="11109960" cy="777240"/>
          </a:xfrm>
          <a:prstGeom prst="roundRect">
            <a:avLst>
              <a:gd name="adj" fmla="val 8000"/>
            </a:avLst>
          </a:prstGeom>
          <a:solidFill>
            <a:srgbClr val="F5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50468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CAD route settled: SolidWorks → URDF → smimport (verified); tendon parts modeled, insertion 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F7F7F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Movement and Control of Biomimetic Humanoid Robots</dc:title>
  <dc:subject/>
  <dc:creator>Ben P. Bolen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