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3600" cy="4076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" y="101600"/>
            <a:ext cx="26162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43343"/>
                </a:solidFill>
                <a:latin typeface="Arial"/>
              </a:rPr>
              <a:t>(A) Electric torque motor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75000" y="101600"/>
            <a:ext cx="26162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43343"/>
                </a:solidFill>
                <a:latin typeface="Arial"/>
              </a:rPr>
              <a:t>(B) Braided pneumatic actuator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2146300"/>
            <a:ext cx="26162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43343"/>
                </a:solidFill>
                <a:latin typeface="Arial"/>
              </a:rPr>
              <a:t>(C) Hydraulic cylinder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5000" y="2146300"/>
            <a:ext cx="26162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43343"/>
                </a:solidFill>
                <a:latin typeface="Arial"/>
              </a:rPr>
              <a:t>(D) Dielectric elastomer</a:t>
            </a:r>
          </a:p>
        </p:txBody>
      </p:sp>
      <p:sp>
        <p:nvSpPr>
          <p:cNvPr id="6" name="Oval 5"/>
          <p:cNvSpPr/>
          <p:nvPr/>
        </p:nvSpPr>
        <p:spPr>
          <a:xfrm>
            <a:off x="698500" y="533400"/>
            <a:ext cx="1054100" cy="1054100"/>
          </a:xfrm>
          <a:prstGeom prst="ellipse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0600" y="825500"/>
            <a:ext cx="469900" cy="469900"/>
          </a:xfrm>
          <a:prstGeom prst="ellipse">
            <a:avLst/>
          </a:prstGeom>
          <a:solidFill>
            <a:srgbClr val="E8D7A2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00200" y="965200"/>
            <a:ext cx="101600" cy="101600"/>
          </a:xfrm>
          <a:prstGeom prst="rect">
            <a:avLst/>
          </a:prstGeom>
          <a:solidFill>
            <a:srgbClr val="0072B2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65250" y="1372145"/>
            <a:ext cx="101600" cy="101600"/>
          </a:xfrm>
          <a:prstGeom prst="rect">
            <a:avLst/>
          </a:prstGeom>
          <a:solidFill>
            <a:srgbClr val="0072B2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5350" y="1372145"/>
            <a:ext cx="101600" cy="101600"/>
          </a:xfrm>
          <a:prstGeom prst="rect">
            <a:avLst/>
          </a:prstGeom>
          <a:solidFill>
            <a:srgbClr val="0072B2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0400" y="965200"/>
            <a:ext cx="101600" cy="101600"/>
          </a:xfrm>
          <a:prstGeom prst="rect">
            <a:avLst/>
          </a:prstGeom>
          <a:solidFill>
            <a:srgbClr val="0072B2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5349" y="558254"/>
            <a:ext cx="101600" cy="101600"/>
          </a:xfrm>
          <a:prstGeom prst="rect">
            <a:avLst/>
          </a:prstGeom>
          <a:solidFill>
            <a:srgbClr val="0072B2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65250" y="558254"/>
            <a:ext cx="101600" cy="101600"/>
          </a:xfrm>
          <a:prstGeom prst="rect">
            <a:avLst/>
          </a:prstGeom>
          <a:solidFill>
            <a:srgbClr val="0072B2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219200" y="1054100"/>
            <a:ext cx="1257300" cy="0"/>
          </a:xfrm>
          <a:prstGeom prst="line">
            <a:avLst/>
          </a:prstGeom>
          <a:ln w="381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62000" y="381000"/>
            <a:ext cx="342900" cy="88900"/>
          </a:xfrm>
          <a:prstGeom prst="line">
            <a:avLst/>
          </a:prstGeom>
          <a:ln w="1270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04900" y="381000"/>
            <a:ext cx="381000" cy="50800"/>
          </a:xfrm>
          <a:prstGeom prst="line">
            <a:avLst/>
          </a:prstGeom>
          <a:ln w="1270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85900" y="431800"/>
            <a:ext cx="254000" cy="190500"/>
          </a:xfrm>
          <a:prstGeom prst="line">
            <a:avLst/>
          </a:prstGeom>
          <a:ln w="127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5900" y="1739900"/>
            <a:ext cx="25781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Electromagnetic shaft rotation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6800" y="787400"/>
            <a:ext cx="1727200" cy="546100"/>
          </a:xfrm>
          <a:prstGeom prst="rect">
            <a:avLst/>
          </a:prstGeom>
          <a:solidFill>
            <a:srgbClr val="E5F1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3644900" y="812800"/>
            <a:ext cx="508000" cy="495300"/>
          </a:xfrm>
          <a:prstGeom prst="line">
            <a:avLst/>
          </a:prstGeom>
          <a:ln w="825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644900" y="812800"/>
            <a:ext cx="508000" cy="495300"/>
          </a:xfrm>
          <a:prstGeom prst="line">
            <a:avLst/>
          </a:prstGeom>
          <a:ln w="8255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10000" y="812800"/>
            <a:ext cx="508000" cy="495300"/>
          </a:xfrm>
          <a:prstGeom prst="line">
            <a:avLst/>
          </a:prstGeom>
          <a:ln w="825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810000" y="812800"/>
            <a:ext cx="508000" cy="495300"/>
          </a:xfrm>
          <a:prstGeom prst="line">
            <a:avLst/>
          </a:prstGeom>
          <a:ln w="8255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975100" y="812800"/>
            <a:ext cx="508000" cy="495300"/>
          </a:xfrm>
          <a:prstGeom prst="line">
            <a:avLst/>
          </a:prstGeom>
          <a:ln w="825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975100" y="812800"/>
            <a:ext cx="508000" cy="495300"/>
          </a:xfrm>
          <a:prstGeom prst="line">
            <a:avLst/>
          </a:prstGeom>
          <a:ln w="8255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140200" y="812800"/>
            <a:ext cx="508000" cy="495300"/>
          </a:xfrm>
          <a:prstGeom prst="line">
            <a:avLst/>
          </a:prstGeom>
          <a:ln w="825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140200" y="812800"/>
            <a:ext cx="508000" cy="495300"/>
          </a:xfrm>
          <a:prstGeom prst="line">
            <a:avLst/>
          </a:prstGeom>
          <a:ln w="8255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305300" y="812800"/>
            <a:ext cx="508000" cy="495300"/>
          </a:xfrm>
          <a:prstGeom prst="line">
            <a:avLst/>
          </a:prstGeom>
          <a:ln w="825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305300" y="812800"/>
            <a:ext cx="508000" cy="495300"/>
          </a:xfrm>
          <a:prstGeom prst="line">
            <a:avLst/>
          </a:prstGeom>
          <a:ln w="8255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470400" y="812800"/>
            <a:ext cx="508000" cy="495300"/>
          </a:xfrm>
          <a:prstGeom prst="line">
            <a:avLst/>
          </a:prstGeom>
          <a:ln w="825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70400" y="812800"/>
            <a:ext cx="508000" cy="495300"/>
          </a:xfrm>
          <a:prstGeom prst="line">
            <a:avLst/>
          </a:prstGeom>
          <a:ln w="8255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635500" y="812800"/>
            <a:ext cx="508000" cy="495300"/>
          </a:xfrm>
          <a:prstGeom prst="line">
            <a:avLst/>
          </a:prstGeom>
          <a:ln w="825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635500" y="812800"/>
            <a:ext cx="508000" cy="495300"/>
          </a:xfrm>
          <a:prstGeom prst="line">
            <a:avLst/>
          </a:prstGeom>
          <a:ln w="8255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800600" y="812800"/>
            <a:ext cx="508000" cy="495300"/>
          </a:xfrm>
          <a:prstGeom prst="line">
            <a:avLst/>
          </a:prstGeom>
          <a:ln w="825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800600" y="812800"/>
            <a:ext cx="508000" cy="495300"/>
          </a:xfrm>
          <a:prstGeom prst="line">
            <a:avLst/>
          </a:prstGeom>
          <a:ln w="8255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517900" y="749300"/>
            <a:ext cx="88900" cy="622300"/>
          </a:xfrm>
          <a:prstGeom prst="rect">
            <a:avLst/>
          </a:prstGeom>
          <a:solidFill>
            <a:srgbClr val="6C7680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34000" y="749300"/>
            <a:ext cx="88900" cy="622300"/>
          </a:xfrm>
          <a:prstGeom prst="rect">
            <a:avLst/>
          </a:prstGeom>
          <a:solidFill>
            <a:srgbClr val="6C7680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3898900" y="622300"/>
            <a:ext cx="0" cy="355600"/>
          </a:xfrm>
          <a:prstGeom prst="line">
            <a:avLst/>
          </a:prstGeom>
          <a:ln w="12700">
            <a:solidFill>
              <a:srgbClr val="009E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98900" y="1155700"/>
            <a:ext cx="0" cy="355600"/>
          </a:xfrm>
          <a:prstGeom prst="line">
            <a:avLst/>
          </a:prstGeom>
          <a:ln w="12700">
            <a:solidFill>
              <a:srgbClr val="009E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445000" y="622300"/>
            <a:ext cx="0" cy="355600"/>
          </a:xfrm>
          <a:prstGeom prst="line">
            <a:avLst/>
          </a:prstGeom>
          <a:ln w="12700">
            <a:solidFill>
              <a:srgbClr val="009E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445000" y="1155700"/>
            <a:ext cx="0" cy="355600"/>
          </a:xfrm>
          <a:prstGeom prst="line">
            <a:avLst/>
          </a:prstGeom>
          <a:ln w="12700">
            <a:solidFill>
              <a:srgbClr val="009E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991100" y="622300"/>
            <a:ext cx="0" cy="355600"/>
          </a:xfrm>
          <a:prstGeom prst="line">
            <a:avLst/>
          </a:prstGeom>
          <a:ln w="12700">
            <a:solidFill>
              <a:srgbClr val="009E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91100" y="1155700"/>
            <a:ext cx="0" cy="355600"/>
          </a:xfrm>
          <a:prstGeom prst="line">
            <a:avLst/>
          </a:prstGeom>
          <a:ln w="12700">
            <a:solidFill>
              <a:srgbClr val="009E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289300" y="1054100"/>
            <a:ext cx="2286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5422900" y="1054100"/>
            <a:ext cx="2413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467100" y="419100"/>
            <a:ext cx="20447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9E73"/>
                </a:solidFill>
                <a:latin typeface="Arial"/>
              </a:rPr>
              <a:t>Internal pressure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51200" y="1739900"/>
            <a:ext cx="25146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Radial expansion; axial contraction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1000" y="2819400"/>
            <a:ext cx="1549400" cy="647700"/>
          </a:xfrm>
          <a:prstGeom prst="rect">
            <a:avLst/>
          </a:prstGeom>
          <a:solidFill>
            <a:srgbClr val="DDF0E9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06500" y="2857500"/>
            <a:ext cx="88900" cy="571500"/>
          </a:xfrm>
          <a:prstGeom prst="rect">
            <a:avLst/>
          </a:prstGeom>
          <a:solidFill>
            <a:srgbClr val="6C7680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1295400" y="3136900"/>
            <a:ext cx="1219200" cy="0"/>
          </a:xfrm>
          <a:prstGeom prst="line">
            <a:avLst/>
          </a:prstGeom>
          <a:ln w="508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73100" y="2971800"/>
            <a:ext cx="431800" cy="0"/>
          </a:xfrm>
          <a:prstGeom prst="line">
            <a:avLst/>
          </a:prstGeom>
          <a:ln w="12700">
            <a:solidFill>
              <a:srgbClr val="009E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993900" y="2895600"/>
            <a:ext cx="533400" cy="0"/>
          </a:xfrm>
          <a:prstGeom prst="line">
            <a:avLst/>
          </a:prstGeom>
          <a:ln w="127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15900" y="3683000"/>
            <a:ext cx="25654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Fluid pressure produces linear force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21100" y="2933700"/>
            <a:ext cx="1600200" cy="482600"/>
          </a:xfrm>
          <a:prstGeom prst="rect">
            <a:avLst/>
          </a:prstGeom>
          <a:solidFill>
            <a:srgbClr val="F1DFED"/>
          </a:solidFill>
          <a:ln w="12700">
            <a:solidFill>
              <a:srgbClr val="6C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3721100" y="2921000"/>
            <a:ext cx="1600200" cy="0"/>
          </a:xfrm>
          <a:prstGeom prst="line">
            <a:avLst/>
          </a:prstGeom>
          <a:ln w="25400">
            <a:solidFill>
              <a:srgbClr val="AA4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721100" y="3429000"/>
            <a:ext cx="1600200" cy="0"/>
          </a:xfrm>
          <a:prstGeom prst="line">
            <a:avLst/>
          </a:prstGeom>
          <a:ln w="25400">
            <a:solidFill>
              <a:srgbClr val="AA4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21200" y="2590800"/>
            <a:ext cx="0" cy="266700"/>
          </a:xfrm>
          <a:prstGeom prst="line">
            <a:avLst/>
          </a:prstGeom>
          <a:ln w="12700">
            <a:solidFill>
              <a:srgbClr val="AA44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521200" y="3492500"/>
            <a:ext cx="0" cy="241300"/>
          </a:xfrm>
          <a:prstGeom prst="line">
            <a:avLst/>
          </a:prstGeom>
          <a:ln w="12700">
            <a:solidFill>
              <a:srgbClr val="AA44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3441700" y="3175000"/>
            <a:ext cx="292100" cy="0"/>
          </a:xfrm>
          <a:prstGeom prst="line">
            <a:avLst/>
          </a:prstGeom>
          <a:ln w="127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321300" y="3175000"/>
            <a:ext cx="292100" cy="0"/>
          </a:xfrm>
          <a:prstGeom prst="line">
            <a:avLst/>
          </a:prstGeom>
          <a:ln w="127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263900" y="3886200"/>
            <a:ext cx="2514600" cy="165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Electric field: thinning and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