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940000" cy="38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" y="54000"/>
            <a:ext cx="3600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1">
                <a:solidFill>
                  <a:srgbClr val="1F1F1F"/>
                </a:solidFill>
                <a:latin typeface="Arial"/>
              </a:rPr>
              <a:t>(A) Longitudinal section with loads and constraints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422000" y="867239"/>
            <a:ext cx="2771999" cy="245520"/>
          </a:xfrm>
          <a:prstGeom prst="roundRect">
            <a:avLst>
              <a:gd name="adj" fmla="val 50000"/>
            </a:avLst>
          </a:prstGeom>
          <a:solidFill>
            <a:srgbClr val="E3E3E3"/>
          </a:solidFill>
          <a:ln w="9525">
            <a:solidFill>
              <a:srgbClr val="8A8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14000" y="648000"/>
            <a:ext cx="2987999" cy="684000"/>
          </a:xfrm>
          <a:prstGeom prst="roundRect">
            <a:avLst>
              <a:gd name="adj" fmla="val 50000"/>
            </a:avLst>
          </a:prstGeom>
          <a:noFill/>
          <a:ln w="222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1422000" y="699300"/>
            <a:ext cx="237000" cy="5814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422000" y="699300"/>
            <a:ext cx="237000" cy="5814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659000" y="699300"/>
            <a:ext cx="237000" cy="5814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659000" y="699300"/>
            <a:ext cx="237000" cy="5814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96000" y="699300"/>
            <a:ext cx="237000" cy="5814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896000" y="699300"/>
            <a:ext cx="237000" cy="5814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133000" y="699300"/>
            <a:ext cx="237000" cy="5814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133000" y="699300"/>
            <a:ext cx="237000" cy="5814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370000" y="699300"/>
            <a:ext cx="237000" cy="5814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370000" y="699300"/>
            <a:ext cx="237000" cy="5814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607000" y="699300"/>
            <a:ext cx="237000" cy="5814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2607000" y="699300"/>
            <a:ext cx="237000" cy="5814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844000" y="699300"/>
            <a:ext cx="237000" cy="5814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844000" y="699300"/>
            <a:ext cx="237000" cy="5814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081000" y="699300"/>
            <a:ext cx="237000" cy="5814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081000" y="699300"/>
            <a:ext cx="237000" cy="5814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318000" y="699300"/>
            <a:ext cx="237000" cy="5814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318000" y="699300"/>
            <a:ext cx="237000" cy="5814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555000" y="699300"/>
            <a:ext cx="237000" cy="5814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3555000" y="699300"/>
            <a:ext cx="237000" cy="5814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792000" y="699300"/>
            <a:ext cx="237000" cy="5814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792000" y="699300"/>
            <a:ext cx="237000" cy="5814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029000" y="699300"/>
            <a:ext cx="237000" cy="5814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029000" y="699300"/>
            <a:ext cx="237000" cy="5814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972000" y="576000"/>
            <a:ext cx="360000" cy="827999"/>
          </a:xfrm>
          <a:prstGeom prst="rect">
            <a:avLst/>
          </a:prstGeom>
          <a:solidFill>
            <a:srgbClr val="C9C9C9"/>
          </a:solidFill>
          <a:ln w="12700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846000" y="503999"/>
            <a:ext cx="126000" cy="1080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46000" y="648000"/>
            <a:ext cx="126000" cy="1080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46000" y="792000"/>
            <a:ext cx="126000" cy="1080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46000" y="936000"/>
            <a:ext cx="126000" cy="1080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46000" y="1080000"/>
            <a:ext cx="126000" cy="1080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46000" y="1224000"/>
            <a:ext cx="126000" cy="1080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46000" y="1368000"/>
            <a:ext cx="126000" cy="1080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4284000" y="576000"/>
            <a:ext cx="360000" cy="827999"/>
          </a:xfrm>
          <a:prstGeom prst="rect">
            <a:avLst/>
          </a:prstGeom>
          <a:solidFill>
            <a:srgbClr val="C9C9C9"/>
          </a:solidFill>
          <a:ln w="12700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4158000" y="503999"/>
            <a:ext cx="126000" cy="1080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158000" y="648000"/>
            <a:ext cx="126000" cy="1080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158000" y="792000"/>
            <a:ext cx="126000" cy="1080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158000" y="936000"/>
            <a:ext cx="126000" cy="1080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158000" y="1080000"/>
            <a:ext cx="126000" cy="1080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158000" y="1224000"/>
            <a:ext cx="126000" cy="1080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158000" y="1368000"/>
            <a:ext cx="126000" cy="1080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655999" y="766800"/>
            <a:ext cx="0" cy="19440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655999" y="1018800"/>
            <a:ext cx="0" cy="19440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039999" y="766800"/>
            <a:ext cx="0" cy="19440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039999" y="1018800"/>
            <a:ext cx="0" cy="19440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423999" y="766800"/>
            <a:ext cx="0" cy="19440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423999" y="1018800"/>
            <a:ext cx="0" cy="19440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808000" y="766800"/>
            <a:ext cx="0" cy="19440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808000" y="1018800"/>
            <a:ext cx="0" cy="19440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192000" y="766800"/>
            <a:ext cx="0" cy="19440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192000" y="1018800"/>
            <a:ext cx="0" cy="19440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576000" y="766800"/>
            <a:ext cx="0" cy="19440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576000" y="1018800"/>
            <a:ext cx="0" cy="19440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960000" y="766800"/>
            <a:ext cx="0" cy="19440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960000" y="1018800"/>
            <a:ext cx="0" cy="19440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590000" y="990000"/>
            <a:ext cx="540000" cy="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662000" y="730800"/>
            <a:ext cx="936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ctr"/>
            <a:r>
              <a:rPr sz="1000" b="0">
                <a:solidFill>
                  <a:srgbClr val="1F1F1F"/>
                </a:solidFill>
                <a:latin typeface="Arial"/>
              </a:rPr>
              <a:t>axial force F</a:t>
            </a:r>
          </a:p>
          <a:p>
            <a:pPr algn="ctr"/>
            <a:r>
              <a:rPr sz="1000" b="0">
                <a:solidFill>
                  <a:srgbClr val="1F1F1F"/>
                </a:solidFill>
                <a:latin typeface="Arial"/>
              </a:rPr>
              <a:t>(ends fixed)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86000" y="990000"/>
            <a:ext cx="540000" cy="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16000" y="730800"/>
            <a:ext cx="756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ctr"/>
            <a:r>
              <a:rPr sz="1000" b="0">
                <a:solidFill>
                  <a:srgbClr val="1F1F1F"/>
                </a:solidFill>
                <a:latin typeface="Arial"/>
              </a:rPr>
              <a:t>reaction R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2592000" y="741239"/>
            <a:ext cx="0" cy="144000"/>
          </a:xfrm>
          <a:prstGeom prst="line">
            <a:avLst/>
          </a:prstGeom>
          <a:ln w="12700">
            <a:solidFill>
              <a:srgbClr val="1F1F1F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204000" y="1094760"/>
            <a:ext cx="0" cy="144000"/>
          </a:xfrm>
          <a:prstGeom prst="line">
            <a:avLst/>
          </a:prstGeom>
          <a:ln w="12700">
            <a:solidFill>
              <a:srgbClr val="1F1F1F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68000" y="990000"/>
            <a:ext cx="4896000" cy="0"/>
          </a:xfrm>
          <a:prstGeom prst="line">
            <a:avLst/>
          </a:prstGeom>
          <a:ln w="12700">
            <a:solidFill>
              <a:srgbClr val="1F1F1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4536000" y="1033200"/>
            <a:ext cx="864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ctr"/>
            <a:r>
              <a:rPr sz="1000" b="0">
                <a:solidFill>
                  <a:srgbClr val="1F1F1F"/>
                </a:solidFill>
                <a:latin typeface="Arial"/>
              </a:rPr>
              <a:t>symmetry axis</a:t>
            </a:r>
          </a:p>
        </p:txBody>
      </p:sp>
      <p:cxnSp>
        <p:nvCxnSpPr>
          <p:cNvPr id="67" name="Connector 66"/>
          <p:cNvCxnSpPr/>
          <p:nvPr/>
        </p:nvCxnSpPr>
        <p:spPr>
          <a:xfrm flipH="1" flipV="1">
            <a:off x="1296000" y="270000"/>
            <a:ext cx="648000" cy="378000"/>
          </a:xfrm>
          <a:prstGeom prst="line">
            <a:avLst/>
          </a:prstGeom>
          <a:ln w="9525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296000" y="133200"/>
            <a:ext cx="1440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r"/>
            <a:r>
              <a:rPr sz="1000" b="0">
                <a:solidFill>
                  <a:srgbClr val="1F1F1F"/>
                </a:solidFill>
                <a:latin typeface="Arial"/>
              </a:rPr>
              <a:t>braided aramid sleeve</a:t>
            </a:r>
          </a:p>
          <a:p>
            <a:pPr algn="r"/>
            <a:r>
              <a:rPr sz="1000" b="0">
                <a:solidFill>
                  <a:srgbClr val="1F1F1F"/>
                </a:solidFill>
                <a:latin typeface="Arial"/>
              </a:rPr>
              <a:t>(two handed weaves)</a:t>
            </a:r>
          </a:p>
        </p:txBody>
      </p:sp>
      <p:cxnSp>
        <p:nvCxnSpPr>
          <p:cNvPr id="69" name="Connector 68"/>
          <p:cNvCxnSpPr/>
          <p:nvPr/>
        </p:nvCxnSpPr>
        <p:spPr>
          <a:xfrm flipV="1">
            <a:off x="3816000" y="270000"/>
            <a:ext cx="288000" cy="819000"/>
          </a:xfrm>
          <a:prstGeom prst="line">
            <a:avLst/>
          </a:prstGeom>
          <a:ln w="9525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664000" y="133200"/>
            <a:ext cx="1440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elastomer bladder</a:t>
            </a:r>
          </a:p>
        </p:txBody>
      </p:sp>
      <p:cxnSp>
        <p:nvCxnSpPr>
          <p:cNvPr id="71" name="Connector 70"/>
          <p:cNvCxnSpPr/>
          <p:nvPr/>
        </p:nvCxnSpPr>
        <p:spPr>
          <a:xfrm flipH="1">
            <a:off x="432000" y="1404000"/>
            <a:ext cx="648000" cy="54000"/>
          </a:xfrm>
          <a:prstGeom prst="line">
            <a:avLst/>
          </a:prstGeom>
          <a:ln w="9525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432000" y="1321200"/>
            <a:ext cx="1440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r"/>
            <a:r>
              <a:rPr sz="1000" b="0">
                <a:solidFill>
                  <a:srgbClr val="1F1F1F"/>
                </a:solidFill>
                <a:latin typeface="Arial"/>
              </a:rPr>
              <a:t>end cap, clamped</a:t>
            </a:r>
          </a:p>
          <a:p>
            <a:pPr algn="r"/>
            <a:r>
              <a:rPr sz="1000" b="0">
                <a:solidFill>
                  <a:srgbClr val="1F1F1F"/>
                </a:solidFill>
                <a:latin typeface="Arial"/>
              </a:rPr>
              <a:t>(Onyx or aluminum)</a:t>
            </a:r>
          </a:p>
        </p:txBody>
      </p:sp>
      <p:cxnSp>
        <p:nvCxnSpPr>
          <p:cNvPr id="73" name="Connector 72"/>
          <p:cNvCxnSpPr/>
          <p:nvPr/>
        </p:nvCxnSpPr>
        <p:spPr>
          <a:xfrm flipH="1">
            <a:off x="1764000" y="723240"/>
            <a:ext cx="828000" cy="734760"/>
          </a:xfrm>
          <a:prstGeom prst="line">
            <a:avLst/>
          </a:prstGeom>
          <a:ln w="9525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1764000" y="1321200"/>
            <a:ext cx="1440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r"/>
            <a:r>
              <a:rPr sz="1000" b="0">
                <a:solidFill>
                  <a:srgbClr val="1F1F1F"/>
                </a:solidFill>
                <a:latin typeface="Arial"/>
              </a:rPr>
              <a:t>layer contact pairs</a:t>
            </a:r>
          </a:p>
          <a:p>
            <a:pPr algn="r"/>
            <a:r>
              <a:rPr sz="1000" b="0">
                <a:solidFill>
                  <a:srgbClr val="1F1F1F"/>
                </a:solidFill>
                <a:latin typeface="Arial"/>
              </a:rPr>
              <a:t>(braid--bladder, braid--cap)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000" y="1800000"/>
            <a:ext cx="5400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ctr"/>
            <a:r>
              <a:rPr sz="1000" b="0">
                <a:solidFill>
                  <a:srgbClr val="1F1F1F"/>
                </a:solidFill>
                <a:latin typeface="Arial"/>
              </a:rPr>
              <a:t>Pressure acts inside-out on the bladder; the braided sleeve carries the tension and converts radial expansion to axial contraction.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2000" y="2070000"/>
            <a:ext cx="3600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1">
                <a:solidFill>
                  <a:srgbClr val="1F1F1F"/>
                </a:solidFill>
                <a:latin typeface="Arial"/>
              </a:rPr>
              <a:t>(B) Exploded view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432000" y="2466000"/>
            <a:ext cx="5076000" cy="0"/>
          </a:xfrm>
          <a:prstGeom prst="line">
            <a:avLst/>
          </a:prstGeom>
          <a:ln w="12700">
            <a:solidFill>
              <a:srgbClr val="1F1F1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792000" y="2088000"/>
            <a:ext cx="360000" cy="756000"/>
          </a:xfrm>
          <a:prstGeom prst="rect">
            <a:avLst/>
          </a:prstGeom>
          <a:solidFill>
            <a:srgbClr val="C9C9C9"/>
          </a:solidFill>
          <a:ln w="12700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404000" y="2033999"/>
            <a:ext cx="1655999" cy="864000"/>
          </a:xfrm>
          <a:prstGeom prst="roundRect">
            <a:avLst>
              <a:gd name="adj" fmla="val 50000"/>
            </a:avLst>
          </a:prstGeom>
          <a:noFill/>
          <a:ln w="222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494000" y="2070000"/>
            <a:ext cx="93600" cy="791999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1494000" y="2070000"/>
            <a:ext cx="93600" cy="791999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681200" y="2070000"/>
            <a:ext cx="93600" cy="791999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681200" y="2070000"/>
            <a:ext cx="93600" cy="791999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868400" y="2070000"/>
            <a:ext cx="93600" cy="791999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1868400" y="2070000"/>
            <a:ext cx="93600" cy="791999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055600" y="2070000"/>
            <a:ext cx="93600" cy="791999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055600" y="2070000"/>
            <a:ext cx="93600" cy="791999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2242800" y="2070000"/>
            <a:ext cx="93600" cy="791999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242800" y="2070000"/>
            <a:ext cx="93600" cy="791999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2430000" y="2070000"/>
            <a:ext cx="93600" cy="791999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430000" y="2070000"/>
            <a:ext cx="93600" cy="791999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617200" y="2070000"/>
            <a:ext cx="93600" cy="791999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617200" y="2070000"/>
            <a:ext cx="93600" cy="791999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804400" y="2070000"/>
            <a:ext cx="93600" cy="791999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804400" y="2070000"/>
            <a:ext cx="93600" cy="791999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2988000" y="2142000"/>
            <a:ext cx="1224000" cy="612000"/>
          </a:xfrm>
          <a:prstGeom prst="roundRect">
            <a:avLst>
              <a:gd name="adj" fmla="val 50000"/>
            </a:avLst>
          </a:prstGeom>
          <a:solidFill>
            <a:srgbClr val="E3E3E3"/>
          </a:solidFill>
          <a:ln w="9525">
            <a:solidFill>
              <a:srgbClr val="8A8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536000" y="2088000"/>
            <a:ext cx="360000" cy="756000"/>
          </a:xfrm>
          <a:prstGeom prst="rect">
            <a:avLst/>
          </a:prstGeom>
          <a:solidFill>
            <a:srgbClr val="C9C9C9"/>
          </a:solidFill>
          <a:ln w="12700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12000" y="2934000"/>
            <a:ext cx="792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ctr"/>
            <a:r>
              <a:rPr sz="1000" b="0">
                <a:solidFill>
                  <a:srgbClr val="1F1F1F"/>
                </a:solidFill>
                <a:latin typeface="Arial"/>
              </a:rPr>
              <a:t>end cap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655999" y="1782000"/>
            <a:ext cx="1152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ctr"/>
            <a:r>
              <a:rPr sz="1000" b="0">
                <a:solidFill>
                  <a:srgbClr val="1F1F1F"/>
                </a:solidFill>
                <a:latin typeface="Arial"/>
              </a:rPr>
              <a:t>braided sleeve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096000" y="1782000"/>
            <a:ext cx="1080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ctr"/>
            <a:r>
              <a:rPr sz="1000" b="0">
                <a:solidFill>
                  <a:srgbClr val="1F1F1F"/>
                </a:solidFill>
                <a:latin typeface="Arial"/>
              </a:rPr>
              <a:t>elastomer bladder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64000" y="2934000"/>
            <a:ext cx="720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ctr"/>
            <a:r>
              <a:rPr sz="1000" b="0">
                <a:solidFill>
                  <a:srgbClr val="1F1F1F"/>
                </a:solidFill>
                <a:latin typeface="Arial"/>
              </a:rPr>
              <a:t>end cap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000" y="3618000"/>
            <a:ext cx="5580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ctr"/>
            <a:r>
              <a:rPr sz="1000" b="0">
                <a:solidFill>
                  <a:srgbClr val="1F1F1F"/>
                </a:solidFill>
                <a:latin typeface="Arial"/>
              </a:rPr>
              <a:t>Assembly axis shown as the dash-dot centerline; components separate along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