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943600" cy="3124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pa_exploded_cutaway_unlabe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635000"/>
            <a:ext cx="4191000" cy="167597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2400" y="63500"/>
            <a:ext cx="38100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43343"/>
                </a:solidFill>
                <a:latin typeface="Arial"/>
              </a:rPr>
              <a:t>(B) Exploded half-cutaway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400" y="342900"/>
            <a:ext cx="1333500" cy="215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Fixed end cap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1500" y="609600"/>
            <a:ext cx="0" cy="800100"/>
          </a:xfrm>
          <a:prstGeom prst="line">
            <a:avLst/>
          </a:prstGeom>
          <a:ln w="1016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3581400" y="596900"/>
            <a:ext cx="787400" cy="304800"/>
          </a:xfrm>
          <a:prstGeom prst="line">
            <a:avLst/>
          </a:prstGeom>
          <a:ln w="1016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3559810" y="880110"/>
            <a:ext cx="43180" cy="43180"/>
          </a:xfrm>
          <a:prstGeom prst="ellipse">
            <a:avLst/>
          </a:prstGeom>
          <a:solidFill>
            <a:srgbClr val="243343"/>
          </a:solidFill>
          <a:ln w="635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70400" y="457200"/>
            <a:ext cx="1371600" cy="355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Fabric outer</a:t>
            </a:r>
          </a:p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covering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3898900" y="1041400"/>
            <a:ext cx="469900" cy="165100"/>
          </a:xfrm>
          <a:prstGeom prst="line">
            <a:avLst/>
          </a:prstGeom>
          <a:ln w="1016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877310" y="1184910"/>
            <a:ext cx="43180" cy="43180"/>
          </a:xfrm>
          <a:prstGeom prst="ellipse">
            <a:avLst/>
          </a:prstGeom>
          <a:solidFill>
            <a:srgbClr val="243343"/>
          </a:solidFill>
          <a:ln w="635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0400" y="952500"/>
            <a:ext cx="1371600" cy="355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Outer rubber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873500" y="1435100"/>
            <a:ext cx="495300" cy="63500"/>
          </a:xfrm>
          <a:prstGeom prst="line">
            <a:avLst/>
          </a:prstGeom>
          <a:ln w="1016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851910" y="1477010"/>
            <a:ext cx="43180" cy="43180"/>
          </a:xfrm>
          <a:prstGeom prst="ellipse">
            <a:avLst/>
          </a:prstGeom>
          <a:solidFill>
            <a:srgbClr val="243343"/>
          </a:solidFill>
          <a:ln w="635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0400" y="1346200"/>
            <a:ext cx="1371600" cy="355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Aramid helix (+θ)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3937000" y="1828800"/>
            <a:ext cx="431800" cy="12700"/>
          </a:xfrm>
          <a:prstGeom prst="line">
            <a:avLst/>
          </a:prstGeom>
          <a:ln w="1016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3915410" y="1819910"/>
            <a:ext cx="43180" cy="43180"/>
          </a:xfrm>
          <a:prstGeom prst="ellipse">
            <a:avLst/>
          </a:prstGeom>
          <a:solidFill>
            <a:srgbClr val="243343"/>
          </a:solidFill>
          <a:ln w="635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70400" y="1739900"/>
            <a:ext cx="1371600" cy="355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Aramid helix (−θ)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949700" y="1943100"/>
            <a:ext cx="419100" cy="330200"/>
          </a:xfrm>
          <a:prstGeom prst="line">
            <a:avLst/>
          </a:prstGeom>
          <a:ln w="1016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928110" y="1921510"/>
            <a:ext cx="43180" cy="43180"/>
          </a:xfrm>
          <a:prstGeom prst="ellipse">
            <a:avLst/>
          </a:prstGeom>
          <a:solidFill>
            <a:srgbClr val="243343"/>
          </a:solidFill>
          <a:ln w="635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0400" y="2184400"/>
            <a:ext cx="1371600" cy="355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Inner rubber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175000" y="2108200"/>
            <a:ext cx="0" cy="457200"/>
          </a:xfrm>
          <a:prstGeom prst="line">
            <a:avLst/>
          </a:prstGeom>
          <a:ln w="1016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3153410" y="2086610"/>
            <a:ext cx="43180" cy="43180"/>
          </a:xfrm>
          <a:prstGeom prst="ellipse">
            <a:avLst/>
          </a:prstGeom>
          <a:solidFill>
            <a:srgbClr val="243343"/>
          </a:solidFill>
          <a:ln w="635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68500" y="2654300"/>
            <a:ext cx="2413000" cy="355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Longitudinal symmetry plane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