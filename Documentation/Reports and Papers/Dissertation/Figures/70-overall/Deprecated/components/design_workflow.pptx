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943600" cy="416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52400" y="165100"/>
            <a:ext cx="1651000" cy="6985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1300" y="258444"/>
            <a:ext cx="14732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Human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1300" y="475615"/>
            <a:ext cx="1473200" cy="324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Torque and range</a:t>
            </a:r>
          </a:p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of motion (Ch.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1485900"/>
            <a:ext cx="1651000" cy="6350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1300" y="1547495"/>
            <a:ext cx="14732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BPA force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" y="1764664"/>
            <a:ext cx="1473200" cy="324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Actuator forces</a:t>
            </a:r>
          </a:p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(Ch. 3)</a:t>
            </a:r>
          </a:p>
        </p:txBody>
      </p:sp>
      <p:sp>
        <p:nvSpPr>
          <p:cNvPr id="8" name="Rectangle 7"/>
          <p:cNvSpPr/>
          <p:nvPr/>
        </p:nvSpPr>
        <p:spPr>
          <a:xfrm>
            <a:off x="2489200" y="165100"/>
            <a:ext cx="1841500" cy="6985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100" y="258444"/>
            <a:ext cx="16637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Select actuators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100" y="475615"/>
            <a:ext cx="1663700" cy="324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Diameter, resting length,</a:t>
            </a:r>
          </a:p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and actuator count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9200" y="1485900"/>
            <a:ext cx="1841500" cy="6985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100" y="1579245"/>
            <a:ext cx="16637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Design routes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100" y="1796414"/>
            <a:ext cx="1663700" cy="324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Corrected torque model</a:t>
            </a:r>
          </a:p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(Ch. 4)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03400" y="508000"/>
            <a:ext cx="6858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409950" y="863600"/>
            <a:ext cx="0" cy="6223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803400" y="1765300"/>
            <a:ext cx="6858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16100" y="228600"/>
            <a:ext cx="635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C7680"/>
                </a:solidFill>
                <a:latin typeface="Arial"/>
              </a:rPr>
              <a:t>targets</a:t>
            </a:r>
          </a:p>
        </p:txBody>
      </p:sp>
      <p:sp>
        <p:nvSpPr>
          <p:cNvPr id="18" name="Diamond 17"/>
          <p:cNvSpPr/>
          <p:nvPr/>
        </p:nvSpPr>
        <p:spPr>
          <a:xfrm>
            <a:off x="2692400" y="2628900"/>
            <a:ext cx="1435100" cy="80010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3700" y="2870200"/>
            <a:ext cx="9525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Meets</a:t>
            </a:r>
          </a:p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targets?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09950" y="2184400"/>
            <a:ext cx="0" cy="4445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68700" y="2273300"/>
            <a:ext cx="2082800" cy="215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Predicted torque and motion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5900" y="2730500"/>
            <a:ext cx="1841500" cy="6350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800" y="2792095"/>
            <a:ext cx="1663700" cy="16065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43343"/>
                </a:solidFill>
                <a:latin typeface="Arial"/>
              </a:rPr>
              <a:t>Refine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4800" y="3009265"/>
            <a:ext cx="1663700" cy="32410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Redesign routes or</a:t>
            </a:r>
          </a:p>
          <a:p>
            <a:pPr algn="ctr">
              <a:lnSpc>
                <a:spcPts val="121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43343"/>
                </a:solidFill>
                <a:latin typeface="Arial"/>
              </a:rPr>
              <a:t>reselect actuators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057400" y="3028950"/>
            <a:ext cx="6350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08200" y="2717800"/>
            <a:ext cx="5080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C7680"/>
                </a:solidFill>
                <a:latin typeface="Arial"/>
              </a:rPr>
              <a:t>no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1136650" y="2349500"/>
            <a:ext cx="0" cy="3810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36650" y="2349500"/>
            <a:ext cx="1123950" cy="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2260600" y="1866900"/>
            <a:ext cx="0" cy="4826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260600" y="508000"/>
            <a:ext cx="0" cy="1155700"/>
          </a:xfrm>
          <a:prstGeom prst="line">
            <a:avLst/>
          </a:prstGeom>
          <a:ln w="12700">
            <a:solidFill>
              <a:srgbClr val="2433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260600" y="508000"/>
            <a:ext cx="2286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508500" y="2717800"/>
            <a:ext cx="1282700" cy="6985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7400" y="2840736"/>
            <a:ext cx="1104900" cy="5969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Closed-loop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verification</a:t>
            </a:r>
          </a:p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(Ch. 6)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127500" y="3028950"/>
            <a:ext cx="381000" cy="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089400" y="2717800"/>
            <a:ext cx="431800" cy="355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C7680"/>
                </a:solidFill>
                <a:latin typeface="Arial"/>
              </a:rP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695700"/>
            <a:ext cx="1447800" cy="355600"/>
          </a:xfrm>
          <a:prstGeom prst="rect">
            <a:avLst/>
          </a:prstGeom>
          <a:solidFill>
            <a:srgbClr val="F1F5F8"/>
          </a:solidFill>
          <a:ln w="12700">
            <a:solidFill>
              <a:srgbClr val="243343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2300" y="3798062"/>
            <a:ext cx="127000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243343"/>
                </a:solidFill>
                <a:latin typeface="Arial"/>
              </a:rPr>
              <a:t>Commit to hardware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143500" y="3416300"/>
            <a:ext cx="0" cy="279400"/>
          </a:xfrm>
          <a:prstGeom prst="line">
            <a:avLst/>
          </a:prstGeom>
          <a:ln w="12700">
            <a:solidFill>
              <a:srgbClr val="24334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