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943600" cy="26797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52400" y="152400"/>
            <a:ext cx="1625600" cy="825500"/>
          </a:xfrm>
          <a:prstGeom prst="rect">
            <a:avLst/>
          </a:prstGeom>
          <a:solidFill>
            <a:srgbClr val="F1F5F8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1300" y="309245"/>
            <a:ext cx="1447800" cy="16065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3343"/>
                </a:solidFill>
                <a:latin typeface="Arial"/>
              </a:rPr>
              <a:t>Graded neuron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1300" y="526415"/>
            <a:ext cx="1447800" cy="3241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Membrane voltage</a:t>
            </a:r>
          </a:p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is the 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2159000" y="152400"/>
            <a:ext cx="1625600" cy="825500"/>
          </a:xfrm>
          <a:prstGeom prst="rect">
            <a:avLst/>
          </a:prstGeom>
          <a:solidFill>
            <a:srgbClr val="F1F5F8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47900" y="309245"/>
            <a:ext cx="1447800" cy="16065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3343"/>
                </a:solidFill>
                <a:latin typeface="Arial"/>
              </a:rPr>
              <a:t>Graded synapse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7900" y="526415"/>
            <a:ext cx="1447800" cy="3241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Conductance coupling;</a:t>
            </a:r>
          </a:p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excitation or inhibition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5600" y="152400"/>
            <a:ext cx="1625600" cy="825500"/>
          </a:xfrm>
          <a:prstGeom prst="rect">
            <a:avLst/>
          </a:prstGeom>
          <a:solidFill>
            <a:srgbClr val="F1F5F8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4500" y="309245"/>
            <a:ext cx="1447800" cy="16065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3343"/>
                </a:solidFill>
                <a:latin typeface="Arial"/>
              </a:rPr>
              <a:t>Spiking neuron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4500" y="526415"/>
            <a:ext cx="1447800" cy="3241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Leaky integrate-</a:t>
            </a:r>
          </a:p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and-fire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2400" y="1231900"/>
            <a:ext cx="1625600" cy="825500"/>
          </a:xfrm>
          <a:prstGeom prst="rect">
            <a:avLst/>
          </a:prstGeom>
          <a:solidFill>
            <a:srgbClr val="F1F5F8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1300" y="1388745"/>
            <a:ext cx="1447800" cy="16065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3343"/>
                </a:solidFill>
                <a:latin typeface="Arial"/>
              </a:rPr>
              <a:t>Ia encoder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300" y="1605914"/>
            <a:ext cx="1447800" cy="3241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Muscle length</a:t>
            </a:r>
          </a:p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and velocity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59000" y="1231900"/>
            <a:ext cx="1625600" cy="825500"/>
          </a:xfrm>
          <a:prstGeom prst="rect">
            <a:avLst/>
          </a:prstGeom>
          <a:solidFill>
            <a:srgbClr val="F1F5F8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7900" y="1465580"/>
            <a:ext cx="1447800" cy="16065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3343"/>
                </a:solidFill>
                <a:latin typeface="Arial"/>
              </a:rPr>
              <a:t>Ib encoder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7900" y="1682750"/>
            <a:ext cx="1447800" cy="16205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Muscle force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5600" y="1231900"/>
            <a:ext cx="1625600" cy="825500"/>
          </a:xfrm>
          <a:prstGeom prst="rect">
            <a:avLst/>
          </a:prstGeom>
          <a:solidFill>
            <a:srgbClr val="F1F5F8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4500" y="1388745"/>
            <a:ext cx="1447800" cy="16065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3343"/>
                </a:solidFill>
                <a:latin typeface="Arial"/>
              </a:rPr>
              <a:t>Activation dynamics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4500" y="1605914"/>
            <a:ext cx="1447800" cy="3241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Continuous muscle</a:t>
            </a:r>
          </a:p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activation filter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52400" y="2260600"/>
            <a:ext cx="5638800" cy="0"/>
          </a:xfrm>
          <a:prstGeom prst="line">
            <a:avLst/>
          </a:prstGeom>
          <a:ln w="12700">
            <a:solidFill>
              <a:srgbClr val="6C7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77800" y="2374900"/>
            <a:ext cx="55880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Also: synapse sum, diameter-specific BPA force blocks, and biological muscle.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