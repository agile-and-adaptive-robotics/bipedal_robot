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43600" cy="38481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000" y="88900"/>
            <a:ext cx="16256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3343"/>
                </a:solidFill>
                <a:latin typeface="Arial"/>
              </a:rPr>
              <a:t>Model conversion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32000" y="8890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3343"/>
                </a:solidFill>
                <a:latin typeface="Arial"/>
              </a:rPr>
              <a:t>Closed-loop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16400" y="88900"/>
            <a:ext cx="16002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3343"/>
                </a:solidFill>
                <a:latin typeface="Arial"/>
              </a:rPr>
              <a:t>Future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16400" y="393700"/>
            <a:ext cx="1600200" cy="2819400"/>
          </a:xfrm>
          <a:prstGeom prst="rect">
            <a:avLst/>
          </a:prstGeom>
          <a:noFill/>
          <a:ln w="12700">
            <a:solidFill>
              <a:srgbClr val="6C76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200" y="508000"/>
            <a:ext cx="1473200" cy="6096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100" y="633730"/>
            <a:ext cx="12954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OpenSim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100" y="850900"/>
            <a:ext cx="1295400" cy="16205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Gait2392 routing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03200" y="1435100"/>
            <a:ext cx="1473200" cy="4318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100" y="1574165"/>
            <a:ext cx="1295400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MyoConverter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3200" y="2209800"/>
            <a:ext cx="1473200" cy="6477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100" y="2277745"/>
            <a:ext cx="12954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MuJoCo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100" y="2494915"/>
            <a:ext cx="1295400" cy="324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MJCF; activation</a:t>
            </a:r>
          </a:p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state actuators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9800" y="1117600"/>
            <a:ext cx="0" cy="31750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39800" y="1866900"/>
            <a:ext cx="0" cy="34290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324100" y="508000"/>
            <a:ext cx="1333500" cy="7366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13000" y="620394"/>
            <a:ext cx="11557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MuJoCo physics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3000" y="837564"/>
            <a:ext cx="1155700" cy="324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BPA force model</a:t>
            </a:r>
          </a:p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(Ch. 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4100" y="2374900"/>
            <a:ext cx="1333500" cy="5334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3000" y="2462530"/>
            <a:ext cx="11557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SNS-Toolbox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3000" y="2679700"/>
            <a:ext cx="1155700" cy="16205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Neural controller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676400" y="2527300"/>
            <a:ext cx="228600" cy="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905000" y="863600"/>
            <a:ext cx="0" cy="16637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905000" y="863600"/>
            <a:ext cx="4191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146300" y="2641600"/>
            <a:ext cx="177800" cy="0"/>
          </a:xfrm>
          <a:prstGeom prst="line">
            <a:avLst/>
          </a:prstGeom>
          <a:ln w="1270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146300" y="1435100"/>
            <a:ext cx="0" cy="1206500"/>
          </a:xfrm>
          <a:prstGeom prst="line">
            <a:avLst/>
          </a:prstGeom>
          <a:ln w="1270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146300" y="1435100"/>
            <a:ext cx="508000" cy="0"/>
          </a:xfrm>
          <a:prstGeom prst="line">
            <a:avLst/>
          </a:prstGeom>
          <a:ln w="1270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654300" y="1244600"/>
            <a:ext cx="0" cy="190500"/>
          </a:xfrm>
          <a:prstGeom prst="line">
            <a:avLst/>
          </a:prstGeom>
          <a:ln w="127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286000" y="1562100"/>
            <a:ext cx="1384300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72B2"/>
                </a:solidFill>
                <a:latin typeface="Arial"/>
              </a:rPr>
              <a:t>Per-muscle</a:t>
            </a:r>
          </a:p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72B2"/>
                </a:solidFill>
                <a:latin typeface="Arial"/>
              </a:rPr>
              <a:t>activation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441700" y="1244600"/>
            <a:ext cx="0" cy="1778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441700" y="1422400"/>
            <a:ext cx="431800" cy="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73500" y="1422400"/>
            <a:ext cx="0" cy="8636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3327400" y="2286000"/>
            <a:ext cx="546100" cy="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27400" y="2286000"/>
            <a:ext cx="0" cy="8890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336800" y="1943100"/>
            <a:ext cx="1397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Ia, Ib, II, and</a:t>
            </a:r>
          </a:p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contact feedback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56100" y="508000"/>
            <a:ext cx="1308100" cy="5715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45000" y="614680"/>
            <a:ext cx="11303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Jetson Orin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45000" y="831850"/>
            <a:ext cx="1130300" cy="16205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SNS evaluation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56100" y="1549400"/>
            <a:ext cx="1308100" cy="6350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45000" y="1610995"/>
            <a:ext cx="11303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Joint controllers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45000" y="1828164"/>
            <a:ext cx="1130300" cy="324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Valves, pressure,</a:t>
            </a:r>
          </a:p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and contact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56100" y="2667000"/>
            <a:ext cx="1308100" cy="3810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45000" y="2780665"/>
            <a:ext cx="11303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Treadmill biped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16500" y="1079500"/>
            <a:ext cx="0" cy="46990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016500" y="2184400"/>
            <a:ext cx="0" cy="48260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356100" y="1143000"/>
            <a:ext cx="533400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SNS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output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8000" y="2260600"/>
            <a:ext cx="584200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Valve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drive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664200" y="2857500"/>
            <a:ext cx="76200" cy="0"/>
          </a:xfrm>
          <a:prstGeom prst="line">
            <a:avLst/>
          </a:prstGeom>
          <a:ln w="12700">
            <a:solidFill>
              <a:srgbClr val="6C7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740400" y="1854200"/>
            <a:ext cx="0" cy="1003300"/>
          </a:xfrm>
          <a:prstGeom prst="line">
            <a:avLst/>
          </a:prstGeom>
          <a:ln w="12700">
            <a:solidFill>
              <a:srgbClr val="6C7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5664200" y="1854200"/>
            <a:ext cx="76200" cy="0"/>
          </a:xfrm>
          <a:prstGeom prst="line">
            <a:avLst/>
          </a:prstGeom>
          <a:ln w="12700">
            <a:solidFill>
              <a:srgbClr val="6C76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4254500" y="1727200"/>
            <a:ext cx="101600" cy="0"/>
          </a:xfrm>
          <a:prstGeom prst="line">
            <a:avLst/>
          </a:prstGeom>
          <a:ln w="12700">
            <a:solidFill>
              <a:srgbClr val="6C76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254500" y="800100"/>
            <a:ext cx="0" cy="927100"/>
          </a:xfrm>
          <a:prstGeom prst="line">
            <a:avLst/>
          </a:prstGeom>
          <a:ln w="12700">
            <a:solidFill>
              <a:srgbClr val="6C76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54500" y="800100"/>
            <a:ext cx="101600" cy="0"/>
          </a:xfrm>
          <a:prstGeom prst="line">
            <a:avLst/>
          </a:prstGeom>
          <a:ln w="12700">
            <a:solidFill>
              <a:srgbClr val="6C768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657600" y="2641600"/>
            <a:ext cx="431800" cy="0"/>
          </a:xfrm>
          <a:prstGeom prst="line">
            <a:avLst/>
          </a:prstGeom>
          <a:ln w="12700">
            <a:solidFill>
              <a:srgbClr val="24334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089400" y="787400"/>
            <a:ext cx="0" cy="1854200"/>
          </a:xfrm>
          <a:prstGeom prst="line">
            <a:avLst/>
          </a:prstGeom>
          <a:ln w="12700">
            <a:solidFill>
              <a:srgbClr val="24334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089400" y="787400"/>
            <a:ext cx="266700" cy="0"/>
          </a:xfrm>
          <a:prstGeom prst="line">
            <a:avLst/>
          </a:prstGeom>
          <a:ln w="12700">
            <a:solidFill>
              <a:srgbClr val="243343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65100" y="3403600"/>
            <a:ext cx="5613400" cy="368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Computer-in-the-loop: test embedded control against the simulated body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before transfer to the physical robot.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