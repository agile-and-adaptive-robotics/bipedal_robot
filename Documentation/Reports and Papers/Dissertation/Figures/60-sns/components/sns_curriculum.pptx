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940000" cy="37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2000" y="108000"/>
            <a:ext cx="1224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5999" y="108000"/>
            <a:ext cx="1655999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Capability added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98000" y="108000"/>
            <a:ext cx="1944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Stage 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8000" y="378000"/>
            <a:ext cx="5724000" cy="486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62000" y="503999"/>
            <a:ext cx="234000" cy="234000"/>
          </a:xfrm>
          <a:prstGeom prst="roundRect">
            <a:avLst/>
          </a:prstGeom>
          <a:solidFill>
            <a:srgbClr val="D9E8F4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F1F1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2000" y="478800"/>
            <a:ext cx="1296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Deafferented</a:t>
            </a:r>
          </a:p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air stepping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5999" y="478800"/>
            <a:ext cx="180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half-center-free oscillation,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legs suspended, feedback 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8000" y="478800"/>
            <a:ext cx="1872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rhythm and swing depth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(rhythm-gated)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" y="961200"/>
            <a:ext cx="5724000" cy="486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2000" y="1087200"/>
            <a:ext cx="234000" cy="234000"/>
          </a:xfrm>
          <a:prstGeom prst="roundRect">
            <a:avLst/>
          </a:prstGeom>
          <a:solidFill>
            <a:srgbClr val="BFD7EA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F1F1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000" y="1062000"/>
            <a:ext cx="1296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Afferented</a:t>
            </a:r>
          </a:p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air stepping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5999" y="1062000"/>
            <a:ext cx="180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heel, toe, and load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feedback active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8000" y="1062000"/>
            <a:ext cx="1872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rhythm and swing depth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(rhythm-gated)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8000" y="1544400"/>
            <a:ext cx="5724000" cy="486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2000" y="1670400"/>
            <a:ext cx="234000" cy="234000"/>
          </a:xfrm>
          <a:prstGeom prst="roundRect">
            <a:avLst/>
          </a:prstGeom>
          <a:solidFill>
            <a:srgbClr val="9BC0DD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F1F1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000" y="1645200"/>
            <a:ext cx="1296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Standing</a:t>
            </a:r>
          </a:p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5999" y="1645200"/>
            <a:ext cx="180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posture held under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push perturbations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8000" y="1645200"/>
            <a:ext cx="1872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posture maintenance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under push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000" y="2127600"/>
            <a:ext cx="5724000" cy="486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62000" y="2253600"/>
            <a:ext cx="234000" cy="234000"/>
          </a:xfrm>
          <a:prstGeom prst="roundRect">
            <a:avLst/>
          </a:prstGeom>
          <a:solidFill>
            <a:srgbClr val="6FA3CE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000" y="2228400"/>
            <a:ext cx="1296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Ground</a:t>
            </a:r>
          </a:p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walking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5999" y="2228400"/>
            <a:ext cx="180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ground contact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and forward gait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8000" y="2228400"/>
            <a:ext cx="1872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kinematic score vs human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reference cycle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000" y="2710800"/>
            <a:ext cx="5724000" cy="486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2000" y="2836800"/>
            <a:ext cx="234000" cy="234000"/>
          </a:xfrm>
          <a:prstGeom prst="roundRect">
            <a:avLst/>
          </a:prstGeom>
          <a:solidFill>
            <a:srgbClr val="4B8ABE"/>
          </a:solidFill>
          <a:ln w="9525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00" y="2811600"/>
            <a:ext cx="1296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Contact-driven</a:t>
            </a:r>
          </a:p>
          <a:p>
            <a:pPr algn="l"/>
            <a:r>
              <a:rPr sz="1000" b="1">
                <a:solidFill>
                  <a:srgbClr val="1F1F1F"/>
                </a:solidFill>
                <a:latin typeface="Arial"/>
              </a:rPr>
              <a:t>ground walking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5999" y="2811600"/>
            <a:ext cx="1800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contact-driven pathway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variant of the walker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98000" y="2811600"/>
            <a:ext cx="1872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kinematic score vs human</a:t>
            </a:r>
          </a:p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reference cycle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79000" y="871200"/>
            <a:ext cx="0" cy="828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79000" y="1454400"/>
            <a:ext cx="0" cy="828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79000" y="2037600"/>
            <a:ext cx="0" cy="828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79000" y="2620800"/>
            <a:ext cx="0" cy="8280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8000" y="3366000"/>
            <a:ext cx="5724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Each stage's winner seeds the next; only the newly activated pathway gains are searched.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000" y="3510000"/>
            <a:ext cx="5724000" cy="270000"/>
          </a:xfrm>
          <a:prstGeom prst="rect">
            <a:avLst/>
          </a:prstGeom>
          <a:noFill/>
        </p:spPr>
        <p:txBody>
          <a:bodyPr wrap="square" lIns="10800" rIns="10800" tIns="3600" bIns="3600">
            <a:spAutoFit/>
          </a:bodyPr>
          <a:lstStyle/>
          <a:p>
            <a:pPr algn="l"/>
            <a:r>
              <a:rPr sz="1000" b="0">
                <a:solidFill>
                  <a:srgbClr val="1F1F1F"/>
                </a:solidFill>
                <a:latin typeface="Arial"/>
              </a:rPr>
              <a:t>Finalists at every stage must pass the perturbation and basin gates. Darker chips indicate less harness support.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