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644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101600"/>
            <a:ext cx="342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1600"/>
            <a:ext cx="1397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5200" y="101600"/>
            <a:ext cx="16256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1600"/>
            <a:ext cx="1651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Score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2400" y="393700"/>
            <a:ext cx="5638800" cy="0"/>
          </a:xfrm>
          <a:prstGeom prst="line">
            <a:avLst/>
          </a:prstGeom>
          <a:ln w="12700">
            <a:solidFill>
              <a:srgbClr val="6C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3200" y="508000"/>
            <a:ext cx="304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8000"/>
            <a:ext cx="14986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Deafferented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air stepping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5200" y="5080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Intrinsic rhythm;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feedback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08000"/>
            <a:ext cx="1676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Rhythm and swing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(rhythm-gated)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2400" y="939800"/>
            <a:ext cx="5638800" cy="0"/>
          </a:xfrm>
          <a:prstGeom prst="line">
            <a:avLst/>
          </a:prstGeom>
          <a:ln w="762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3200" y="1028700"/>
            <a:ext cx="304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28700"/>
            <a:ext cx="14986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Afferented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air stepping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5200" y="10287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Heel, toe, and load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feedback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028700"/>
            <a:ext cx="1676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Rhythm and swing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(rhythm-gated)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2400" y="1460500"/>
            <a:ext cx="5638800" cy="0"/>
          </a:xfrm>
          <a:prstGeom prst="line">
            <a:avLst/>
          </a:prstGeom>
          <a:ln w="762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3200" y="1549400"/>
            <a:ext cx="304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549400"/>
            <a:ext cx="14986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Standing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5200" y="15494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Posture under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push perturbations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549400"/>
            <a:ext cx="1676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Posture maintenance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under push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2400" y="1981200"/>
            <a:ext cx="5638800" cy="0"/>
          </a:xfrm>
          <a:prstGeom prst="line">
            <a:avLst/>
          </a:prstGeom>
          <a:ln w="762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3200" y="2070100"/>
            <a:ext cx="304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070100"/>
            <a:ext cx="14986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Ground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walking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5200" y="20701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Ground contact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forward gait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070100"/>
            <a:ext cx="1676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Kinematics vs. human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reference cycle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2400" y="2501900"/>
            <a:ext cx="5638800" cy="0"/>
          </a:xfrm>
          <a:prstGeom prst="line">
            <a:avLst/>
          </a:prstGeom>
          <a:ln w="762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3200" y="2590800"/>
            <a:ext cx="304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2590800"/>
            <a:ext cx="14986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Contact-driven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ground walking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5200" y="25908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Contact-driven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pathway 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590800"/>
            <a:ext cx="1676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Kinematics vs. human</a:t>
            </a:r>
          </a:p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reference cycle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2400" y="3022600"/>
            <a:ext cx="5638800" cy="0"/>
          </a:xfrm>
          <a:prstGeom prst="line">
            <a:avLst/>
          </a:prstGeom>
          <a:ln w="762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7800" y="3200400"/>
            <a:ext cx="55880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Each winner seeds the next stage. Finalists undergo perturbation and basin checks.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Air stages are suspended; ground evaluations retain the support harness.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