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ec658733984868" /><Relationship Type="http://schemas.openxmlformats.org/officeDocument/2006/relationships/extended-properties" Target="/docProps/app.xml" Id="Rc19b8a6b59324027" /><Relationship Type="http://schemas.openxmlformats.org/officeDocument/2006/relationships/officeDocument" Target="/ppt/presentation.xml" Id="Rd2a4fa652b5d47ed" /></Relationships>
</file>

<file path=ppt/presentation.xml><?xml version="1.0" encoding="utf-8"?>
<p:presentation xmlns:p="http://schemas.openxmlformats.org/presentationml/2006/main">
  <p:sldMasterIdLst>
    <p:sldMasterId xmlns:r="http://schemas.openxmlformats.org/officeDocument/2006/relationships" id="2147483648" r:id="R0b88b64369c347eb"/>
  </p:sldMasterIdLst>
  <p:notesMasterIdLst>
    <p:notesMasterId xmlns:r="http://schemas.openxmlformats.org/officeDocument/2006/relationships" r:id="Rc95ced7666434b26"/>
  </p:notesMasterIdLst>
  <p:sldIdLst>
    <p:sldId xmlns:r="http://schemas.openxmlformats.org/officeDocument/2006/relationships" id="256" r:id="Rd0d46823d9b14954"/>
    <p:sldId xmlns:r="http://schemas.openxmlformats.org/officeDocument/2006/relationships" id="257" r:id="R1beb5475ce6140c8"/>
    <p:sldId xmlns:r="http://schemas.openxmlformats.org/officeDocument/2006/relationships" id="258" r:id="R167ab1c7c554404e"/>
    <p:sldId xmlns:r="http://schemas.openxmlformats.org/officeDocument/2006/relationships" id="259" r:id="R9ac9b73472384a1d"/>
    <p:sldId xmlns:r="http://schemas.openxmlformats.org/officeDocument/2006/relationships" id="260" r:id="R420ad527570f46c5"/>
    <p:sldId xmlns:r="http://schemas.openxmlformats.org/officeDocument/2006/relationships" id="261" r:id="R3937db1cd7ef437f"/>
    <p:sldId xmlns:r="http://schemas.openxmlformats.org/officeDocument/2006/relationships" id="262" r:id="Rcbf32aecde634694"/>
    <p:sldId xmlns:r="http://schemas.openxmlformats.org/officeDocument/2006/relationships" id="263" r:id="R35694e20280644ff"/>
    <p:sldId xmlns:r="http://schemas.openxmlformats.org/officeDocument/2006/relationships" id="264" r:id="R61a4b5122f02499d"/>
    <p:sldId xmlns:r="http://schemas.openxmlformats.org/officeDocument/2006/relationships" id="265" r:id="R9ec94de596ce4415"/>
    <p:sldId xmlns:r="http://schemas.openxmlformats.org/officeDocument/2006/relationships" id="266" r:id="Rd930bcb7502644a5"/>
    <p:sldId xmlns:r="http://schemas.openxmlformats.org/officeDocument/2006/relationships" id="267" r:id="R3a8db87f2e534117"/>
    <p:sldId xmlns:r="http://schemas.openxmlformats.org/officeDocument/2006/relationships" id="268" r:id="R2c100d7789a549e7"/>
    <p:sldId xmlns:r="http://schemas.openxmlformats.org/officeDocument/2006/relationships" id="269" r:id="R673c664f0f104362"/>
    <p:sldId xmlns:r="http://schemas.openxmlformats.org/officeDocument/2006/relationships" id="270" r:id="Rb3212a893c3d4ef4"/>
    <p:sldId xmlns:r="http://schemas.openxmlformats.org/officeDocument/2006/relationships" id="271" r:id="R9eaee51594434058"/>
    <p:sldId xmlns:r="http://schemas.openxmlformats.org/officeDocument/2006/relationships" id="272" r:id="R26d08b43d40f4adc"/>
    <p:sldId xmlns:r="http://schemas.openxmlformats.org/officeDocument/2006/relationships" id="273" r:id="R60416145ad8d402b"/>
    <p:sldId xmlns:r="http://schemas.openxmlformats.org/officeDocument/2006/relationships" id="274" r:id="R49f3b6bb9fbb462a"/>
    <p:sldId xmlns:r="http://schemas.openxmlformats.org/officeDocument/2006/relationships" id="275" r:id="Rb776679dadf74208"/>
    <p:sldId xmlns:r="http://schemas.openxmlformats.org/officeDocument/2006/relationships" id="276" r:id="Rbdb7c80c25cc4736"/>
    <p:sldId xmlns:r="http://schemas.openxmlformats.org/officeDocument/2006/relationships" id="277" r:id="R12c8e7188a0847f5"/>
    <p:sldId xmlns:r="http://schemas.openxmlformats.org/officeDocument/2006/relationships" id="278" r:id="Rf8b8751b19f347bf"/>
    <p:sldId xmlns:r="http://schemas.openxmlformats.org/officeDocument/2006/relationships" id="279" r:id="Rf244182fb6324d25"/>
    <p:sldId xmlns:r="http://schemas.openxmlformats.org/officeDocument/2006/relationships" id="280" r:id="Raa87610a641747d3"/>
    <p:sldId xmlns:r="http://schemas.openxmlformats.org/officeDocument/2006/relationships" id="281" r:id="R410214cdc50e4709"/>
    <p:sldId xmlns:r="http://schemas.openxmlformats.org/officeDocument/2006/relationships" id="282" r:id="R6f3f2603b69e4507"/>
    <p:sldId xmlns:r="http://schemas.openxmlformats.org/officeDocument/2006/relationships" id="283" r:id="Rbb33af3246104754"/>
    <p:sldId xmlns:r="http://schemas.openxmlformats.org/officeDocument/2006/relationships" id="284" r:id="R20784399a0264f70"/>
    <p:sldId xmlns:r="http://schemas.openxmlformats.org/officeDocument/2006/relationships" id="285" r:id="Rfcd138ee9c064b64"/>
    <p:sldId xmlns:r="http://schemas.openxmlformats.org/officeDocument/2006/relationships" id="286" r:id="R4f7f87a7dd9c449b"/>
    <p:sldId xmlns:r="http://schemas.openxmlformats.org/officeDocument/2006/relationships" id="287" r:id="Rdfc3ce2075e9475a"/>
    <p:sldId xmlns:r="http://schemas.openxmlformats.org/officeDocument/2006/relationships" id="288" r:id="R6de731f62f5d4a4a"/>
    <p:sldId xmlns:r="http://schemas.openxmlformats.org/officeDocument/2006/relationships" id="289" r:id="R708d5a0508a54faa"/>
    <p:sldId xmlns:r="http://schemas.openxmlformats.org/officeDocument/2006/relationships" id="290" r:id="R821d57365909472c"/>
    <p:sldId xmlns:r="http://schemas.openxmlformats.org/officeDocument/2006/relationships" id="291" r:id="R8c0863ede0d24c71"/>
    <p:sldId xmlns:r="http://schemas.openxmlformats.org/officeDocument/2006/relationships" id="292" r:id="Rafc2586983ab44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cd05ef095f45db" /><Relationship Type="http://schemas.openxmlformats.org/officeDocument/2006/relationships/slideMaster" Target="/ppt/slideMasters/slideMaster1.xml" Id="R0b88b64369c347eb" /><Relationship Type="http://schemas.openxmlformats.org/officeDocument/2006/relationships/notesMaster" Target="/ppt/notesMasters/notesMaster1.xml" Id="Rc95ced7666434b26" /><Relationship Type="http://schemas.openxmlformats.org/officeDocument/2006/relationships/presProps" Target="/ppt/presProps.xml" Id="Rd14d7c94c9be4d9a" /><Relationship Type="http://schemas.openxmlformats.org/officeDocument/2006/relationships/tableStyles" Target="/ppt/tableStyles.xml" Id="Ra69fbca102ca431c" /><Relationship Type="http://schemas.openxmlformats.org/officeDocument/2006/relationships/slide" Target="/ppt/slides/slide1.xml" Id="Rd0d46823d9b14954" /><Relationship Type="http://schemas.openxmlformats.org/officeDocument/2006/relationships/slide" Target="/ppt/slides/slide2.xml" Id="R1beb5475ce6140c8" /><Relationship Type="http://schemas.openxmlformats.org/officeDocument/2006/relationships/slide" Target="/ppt/slides/slide3.xml" Id="R167ab1c7c554404e" /><Relationship Type="http://schemas.openxmlformats.org/officeDocument/2006/relationships/slide" Target="/ppt/slides/slide4.xml" Id="R9ac9b73472384a1d" /><Relationship Type="http://schemas.openxmlformats.org/officeDocument/2006/relationships/slide" Target="/ppt/slides/slide5.xml" Id="R420ad527570f46c5" /><Relationship Type="http://schemas.openxmlformats.org/officeDocument/2006/relationships/slide" Target="/ppt/slides/slide6.xml" Id="R3937db1cd7ef437f" /><Relationship Type="http://schemas.openxmlformats.org/officeDocument/2006/relationships/slide" Target="/ppt/slides/slide7.xml" Id="Rcbf32aecde634694" /><Relationship Type="http://schemas.openxmlformats.org/officeDocument/2006/relationships/slide" Target="/ppt/slides/slide8.xml" Id="R35694e20280644ff" /><Relationship Type="http://schemas.openxmlformats.org/officeDocument/2006/relationships/slide" Target="/ppt/slides/slide9.xml" Id="R61a4b5122f02499d" /><Relationship Type="http://schemas.openxmlformats.org/officeDocument/2006/relationships/slide" Target="/ppt/slides/slide10.xml" Id="R9ec94de596ce4415" /><Relationship Type="http://schemas.openxmlformats.org/officeDocument/2006/relationships/slide" Target="/ppt/slides/slide11.xml" Id="Rd930bcb7502644a5" /><Relationship Type="http://schemas.openxmlformats.org/officeDocument/2006/relationships/slide" Target="/ppt/slides/slide12.xml" Id="R3a8db87f2e534117" /><Relationship Type="http://schemas.openxmlformats.org/officeDocument/2006/relationships/slide" Target="/ppt/slides/slide13.xml" Id="R2c100d7789a549e7" /><Relationship Type="http://schemas.openxmlformats.org/officeDocument/2006/relationships/slide" Target="/ppt/slides/slide14.xml" Id="R673c664f0f104362" /><Relationship Type="http://schemas.openxmlformats.org/officeDocument/2006/relationships/slide" Target="/ppt/slides/slide15.xml" Id="Rb3212a893c3d4ef4" /><Relationship Type="http://schemas.openxmlformats.org/officeDocument/2006/relationships/slide" Target="/ppt/slides/slide16.xml" Id="R9eaee51594434058" /><Relationship Type="http://schemas.openxmlformats.org/officeDocument/2006/relationships/slide" Target="/ppt/slides/slide17.xml" Id="R26d08b43d40f4adc" /><Relationship Type="http://schemas.openxmlformats.org/officeDocument/2006/relationships/slide" Target="/ppt/slides/slide18.xml" Id="R60416145ad8d402b" /><Relationship Type="http://schemas.openxmlformats.org/officeDocument/2006/relationships/slide" Target="/ppt/slides/slide19.xml" Id="R49f3b6bb9fbb462a" /><Relationship Type="http://schemas.openxmlformats.org/officeDocument/2006/relationships/slide" Target="/ppt/slides/slide20.xml" Id="Rb776679dadf74208" /><Relationship Type="http://schemas.openxmlformats.org/officeDocument/2006/relationships/slide" Target="/ppt/slides/slide21.xml" Id="Rbdb7c80c25cc4736" /><Relationship Type="http://schemas.openxmlformats.org/officeDocument/2006/relationships/slide" Target="/ppt/slides/slide22.xml" Id="R12c8e7188a0847f5" /><Relationship Type="http://schemas.openxmlformats.org/officeDocument/2006/relationships/slide" Target="/ppt/slides/slide23.xml" Id="Rf8b8751b19f347bf" /><Relationship Type="http://schemas.openxmlformats.org/officeDocument/2006/relationships/slide" Target="/ppt/slides/slide24.xml" Id="Rf244182fb6324d25" /><Relationship Type="http://schemas.openxmlformats.org/officeDocument/2006/relationships/slide" Target="/ppt/slides/slide25.xml" Id="Raa87610a641747d3" /><Relationship Type="http://schemas.openxmlformats.org/officeDocument/2006/relationships/slide" Target="/ppt/slides/slide26.xml" Id="R410214cdc50e4709" /><Relationship Type="http://schemas.openxmlformats.org/officeDocument/2006/relationships/slide" Target="/ppt/slides/slide27.xml" Id="R6f3f2603b69e4507" /><Relationship Type="http://schemas.openxmlformats.org/officeDocument/2006/relationships/slide" Target="/ppt/slides/slide28.xml" Id="Rbb33af3246104754" /><Relationship Type="http://schemas.openxmlformats.org/officeDocument/2006/relationships/slide" Target="/ppt/slides/slide29.xml" Id="R20784399a0264f70" /><Relationship Type="http://schemas.openxmlformats.org/officeDocument/2006/relationships/slide" Target="/ppt/slides/slide30.xml" Id="Rfcd138ee9c064b64" /><Relationship Type="http://schemas.openxmlformats.org/officeDocument/2006/relationships/slide" Target="/ppt/slides/slide31.xml" Id="R4f7f87a7dd9c449b" /><Relationship Type="http://schemas.openxmlformats.org/officeDocument/2006/relationships/slide" Target="/ppt/slides/slide32.xml" Id="Rdfc3ce2075e9475a" /><Relationship Type="http://schemas.openxmlformats.org/officeDocument/2006/relationships/slide" Target="/ppt/slides/slide33.xml" Id="R6de731f62f5d4a4a" /><Relationship Type="http://schemas.openxmlformats.org/officeDocument/2006/relationships/slide" Target="/ppt/slides/slide34.xml" Id="R708d5a0508a54faa" /><Relationship Type="http://schemas.openxmlformats.org/officeDocument/2006/relationships/slide" Target="/ppt/slides/slide35.xml" Id="R821d57365909472c" /><Relationship Type="http://schemas.openxmlformats.org/officeDocument/2006/relationships/slide" Target="/ppt/slides/slide36.xml" Id="R8c0863ede0d24c71" /><Relationship Type="http://schemas.openxmlformats.org/officeDocument/2006/relationships/slide" Target="/ppt/slides/slide37.xml" Id="Rafc2586983ab44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ff70c6f3774c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486b9a65c644a6" /><Relationship Type="http://schemas.openxmlformats.org/officeDocument/2006/relationships/notesMaster" Target="/ppt/notesMasters/notesMaster1.xml" Id="R5135e320594c44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fb132c9c1a47f3" /><Relationship Type="http://schemas.openxmlformats.org/officeDocument/2006/relationships/notesMaster" Target="/ppt/notesMasters/notesMaster1.xml" Id="R1b7c51563e354b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3e61bf56ee4920" /><Relationship Type="http://schemas.openxmlformats.org/officeDocument/2006/relationships/notesMaster" Target="/ppt/notesMasters/notesMaster1.xml" Id="Rdcb7a582dd4241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a2005eba374640" /><Relationship Type="http://schemas.openxmlformats.org/officeDocument/2006/relationships/notesMaster" Target="/ppt/notesMasters/notesMaster1.xml" Id="Recbe0bf7c05945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5eb913d6004003" /><Relationship Type="http://schemas.openxmlformats.org/officeDocument/2006/relationships/notesMaster" Target="/ppt/notesMasters/notesMaster1.xml" Id="R616741eb1e98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d5a70de9a74159" /><Relationship Type="http://schemas.openxmlformats.org/officeDocument/2006/relationships/notesMaster" Target="/ppt/notesMasters/notesMaster1.xml" Id="Rb20b0097400a42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6557bbf37f4779" /><Relationship Type="http://schemas.openxmlformats.org/officeDocument/2006/relationships/notesMaster" Target="/ppt/notesMasters/notesMaster1.xml" Id="Rb6a547646e334a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ecd119968a49ac" /><Relationship Type="http://schemas.openxmlformats.org/officeDocument/2006/relationships/notesMaster" Target="/ppt/notesMasters/notesMaster1.xml" Id="Raec1e3c6a9b94b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12ddad8dad47a9" /><Relationship Type="http://schemas.openxmlformats.org/officeDocument/2006/relationships/notesMaster" Target="/ppt/notesMasters/notesMaster1.xml" Id="Rfb28240d23a846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de9250b8ef4482" /><Relationship Type="http://schemas.openxmlformats.org/officeDocument/2006/relationships/notesMaster" Target="/ppt/notesMasters/notesMaster1.xml" Id="Rb5adea648c5b4d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39a440fec74436" /><Relationship Type="http://schemas.openxmlformats.org/officeDocument/2006/relationships/notesMaster" Target="/ppt/notesMasters/notesMaster1.xml" Id="R092f994dba4947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6601d82e3842ee" /><Relationship Type="http://schemas.openxmlformats.org/officeDocument/2006/relationships/notesMaster" Target="/ppt/notesMasters/notesMaster1.xml" Id="Re56ae4c25bbe47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f7afd703164a60" /><Relationship Type="http://schemas.openxmlformats.org/officeDocument/2006/relationships/notesMaster" Target="/ppt/notesMasters/notesMaster1.xml" Id="Rc3098ea8210f43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ba32e0ea544498" /><Relationship Type="http://schemas.openxmlformats.org/officeDocument/2006/relationships/notesMaster" Target="/ppt/notesMasters/notesMaster1.xml" Id="R5679dadecd1b46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804405d3914833" /><Relationship Type="http://schemas.openxmlformats.org/officeDocument/2006/relationships/notesMaster" Target="/ppt/notesMasters/notesMaster1.xml" Id="R3a892b0802e04e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09ad9ab1e994111" /><Relationship Type="http://schemas.openxmlformats.org/officeDocument/2006/relationships/notesMaster" Target="/ppt/notesMasters/notesMaster1.xml" Id="R8f3d7f118454494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fe527b832d4ede" /><Relationship Type="http://schemas.openxmlformats.org/officeDocument/2006/relationships/notesMaster" Target="/ppt/notesMasters/notesMaster1.xml" Id="Rebfa0ef358b140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154b31d2b54791" /><Relationship Type="http://schemas.openxmlformats.org/officeDocument/2006/relationships/notesMaster" Target="/ppt/notesMasters/notesMaster1.xml" Id="R895a527bdd25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eb004460054e61" /><Relationship Type="http://schemas.openxmlformats.org/officeDocument/2006/relationships/notesMaster" Target="/ppt/notesMasters/notesMaster1.xml" Id="R45c75d1d5d1a4c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40785c9c93e4cb5" /><Relationship Type="http://schemas.openxmlformats.org/officeDocument/2006/relationships/notesMaster" Target="/ppt/notesMasters/notesMaster1.xml" Id="Rab20c867fd8c46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39758ef70764eed" /><Relationship Type="http://schemas.openxmlformats.org/officeDocument/2006/relationships/notesMaster" Target="/ppt/notesMasters/notesMaster1.xml" Id="R02b4e3e21d3748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4966e53f6e443b" /><Relationship Type="http://schemas.openxmlformats.org/officeDocument/2006/relationships/notesMaster" Target="/ppt/notesMasters/notesMaster1.xml" Id="R20efc374137240f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49a0eafb8440c4" /><Relationship Type="http://schemas.openxmlformats.org/officeDocument/2006/relationships/notesMaster" Target="/ppt/notesMasters/notesMaster1.xml" Id="R12485d4fec5d476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fe514f4ccd47dd" /><Relationship Type="http://schemas.openxmlformats.org/officeDocument/2006/relationships/notesMaster" Target="/ppt/notesMasters/notesMaster1.xml" Id="R1de1a99260a440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3069898057a4d0b" /><Relationship Type="http://schemas.openxmlformats.org/officeDocument/2006/relationships/notesMaster" Target="/ppt/notesMasters/notesMaster1.xml" Id="R9ec41cd2fe7243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3a05b7ca7894a96" /><Relationship Type="http://schemas.openxmlformats.org/officeDocument/2006/relationships/notesMaster" Target="/ppt/notesMasters/notesMaster1.xml" Id="R14e1595c4f2a486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bf9a709e8a466c" /><Relationship Type="http://schemas.openxmlformats.org/officeDocument/2006/relationships/notesMaster" Target="/ppt/notesMasters/notesMaster1.xml" Id="R63686f5030e142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dba1a4e9ce47e7" /><Relationship Type="http://schemas.openxmlformats.org/officeDocument/2006/relationships/notesMaster" Target="/ppt/notesMasters/notesMaster1.xml" Id="Rcbc69b45dd5545e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521b26ada8411d" /><Relationship Type="http://schemas.openxmlformats.org/officeDocument/2006/relationships/notesMaster" Target="/ppt/notesMasters/notesMaster1.xml" Id="Rd0d6bf5301bd4c5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df7437940ed4e83" /><Relationship Type="http://schemas.openxmlformats.org/officeDocument/2006/relationships/notesMaster" Target="/ppt/notesMasters/notesMaster1.xml" Id="Raaaadbca17e44c2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73d2f5679e4e36" /><Relationship Type="http://schemas.openxmlformats.org/officeDocument/2006/relationships/notesMaster" Target="/ppt/notesMasters/notesMaster1.xml" Id="R1527a7e26ea444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5260715ac8e45f5" /><Relationship Type="http://schemas.openxmlformats.org/officeDocument/2006/relationships/notesMaster" Target="/ppt/notesMasters/notesMaster1.xml" Id="R1854a6c84e794e4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a0e3f46454b49e6" /><Relationship Type="http://schemas.openxmlformats.org/officeDocument/2006/relationships/notesMaster" Target="/ppt/notesMasters/notesMaster1.xml" Id="R453ac88c4fdd49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6438969e8114b61" /><Relationship Type="http://schemas.openxmlformats.org/officeDocument/2006/relationships/notesMaster" Target="/ppt/notesMasters/notesMaster1.xml" Id="R77356eacfba942d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dfa2a295c64930" /><Relationship Type="http://schemas.openxmlformats.org/officeDocument/2006/relationships/notesMaster" Target="/ppt/notesMasters/notesMaster1.xml" Id="R6d5787cfdfd544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83438e2175494c" /><Relationship Type="http://schemas.openxmlformats.org/officeDocument/2006/relationships/notesMaster" Target="/ppt/notesMasters/notesMaster1.xml" Id="Rcea4b1e97cfc4e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9e712e7fec54c71" /><Relationship Type="http://schemas.openxmlformats.org/officeDocument/2006/relationships/notesMaster" Target="/ppt/notesMasters/notesMaster1.xml" Id="Rbabb9e5459234a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Fig. ExtensorRoute_redesigned and cam-extensor hardware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paper · Fig. Flx20mm; MATLAB generator gen_Flx20mm_3panel_20261023.m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These phase-1 angle traces are historical, suspended evidence.</a:t>
            </a:r>
          </a:p>
          <a:p xmlns:a="http://schemas.openxmlformats.org/drawingml/2006/main">
            <a:r>
              <a:t/>
            </a:r>
          </a:p>
          <a:p xmlns:a="http://schemas.openxmlformats.org/drawingml/2006/main">
            <a:r>
              <a:t>Sources: Revision C · Ch. 6, The AnimatLab Bipedal Walker; Li (2017), Deng (2019), Bolen (2021)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b29690ef3048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a2833128f242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32b5209e4b45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71dfabe0d646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77a4e9bed34e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656820d4bc41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441320-2B3A-473D-9854-7D7859929C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313947-BDA6-4203-BF55-5046432664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0344D1-216D-4D04-AF17-ECA7B39CEA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017AA5-9065-47CF-A209-B3028D54E5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701D69-6ED6-47BA-87B4-3AE40E930E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F544DF-C5F8-41AA-B548-53FCFFD86F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903EB2-407F-4FD6-B2A2-B841CE36B5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16AF1A-3937-4B57-9493-D3521730B4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75DA1-49A4-4356-9A08-A475DC2D9F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1C58A7-570F-428E-A3D5-F2A1F8AB39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cbbd112fdc439b" /><Relationship Type="http://schemas.openxmlformats.org/officeDocument/2006/relationships/slideLayout" Target="/ppt/slideLayouts/slideLayout1.xml" Id="Rc83d55656e9a47c8" /><Relationship Type="http://schemas.openxmlformats.org/officeDocument/2006/relationships/slideLayout" Target="/ppt/slideLayouts/slideLayout2.xml" Id="R17e000325a0c44da" /><Relationship Type="http://schemas.openxmlformats.org/officeDocument/2006/relationships/slideLayout" Target="/ppt/slideLayouts/slideLayout3.xml" Id="Rd06ed3287a054fa3" /><Relationship Type="http://schemas.openxmlformats.org/officeDocument/2006/relationships/slideLayout" Target="/ppt/slideLayouts/slideLayout4.xml" Id="R778612bd813f48c7" /><Relationship Type="http://schemas.openxmlformats.org/officeDocument/2006/relationships/slideLayout" Target="/ppt/slideLayouts/slideLayout5.xml" Id="R07204b38a64c45de" /><Relationship Type="http://schemas.openxmlformats.org/officeDocument/2006/relationships/slideLayout" Target="/ppt/slideLayouts/slideLayout6.xml" Id="R0bedf756e9a64c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3d55656e9a47c8"/>
    <p:sldLayoutId xmlns:r="http://schemas.openxmlformats.org/officeDocument/2006/relationships" id="2147483650" r:id="R17e000325a0c44da"/>
    <p:sldLayoutId xmlns:r="http://schemas.openxmlformats.org/officeDocument/2006/relationships" id="2147483651" r:id="Rd06ed3287a054fa3"/>
    <p:sldLayoutId xmlns:r="http://schemas.openxmlformats.org/officeDocument/2006/relationships" id="2147483652" r:id="R778612bd813f48c7"/>
    <p:sldLayoutId xmlns:r="http://schemas.openxmlformats.org/officeDocument/2006/relationships" id="2147483653" r:id="R07204b38a64c45de"/>
    <p:sldLayoutId xmlns:r="http://schemas.openxmlformats.org/officeDocument/2006/relationships" id="2147483654" r:id="R0bedf756e9a64c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33fa4e8a654e34" /><Relationship Type="http://schemas.openxmlformats.org/officeDocument/2006/relationships/image" Target="/ppt/media/image.png" Id="Rb898dc4eb20b4847" /><Relationship Type="http://schemas.openxmlformats.org/officeDocument/2006/relationships/notesSlide" Target="/ppt/notesSlides/notesSlide1.xml" Id="Ref83fc81bb934c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2d695efc09472e" /><Relationship Type="http://schemas.openxmlformats.org/officeDocument/2006/relationships/notesSlide" Target="/ppt/notesSlides/notesSlide2.xml" Id="R678dee69ad1545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f42bf200e24dd0" /><Relationship Type="http://schemas.openxmlformats.org/officeDocument/2006/relationships/image" Target="/ppt/media/image2.png" Id="R683669a096c84ba6" /><Relationship Type="http://schemas.openxmlformats.org/officeDocument/2006/relationships/image" Target="/ppt/media/image3.png" Id="Rb9772ddf226c4c45" /><Relationship Type="http://schemas.openxmlformats.org/officeDocument/2006/relationships/notesSlide" Target="/ppt/notesSlides/notesSlide3.xml" Id="R5da2167473204f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bf2f8a96854a25" /><Relationship Type="http://schemas.openxmlformats.org/officeDocument/2006/relationships/image" Target="/ppt/media/image4.png" Id="R697613ef98484291" /><Relationship Type="http://schemas.openxmlformats.org/officeDocument/2006/relationships/notesSlide" Target="/ppt/notesSlides/notesSlide4.xml" Id="R714a1e7a5f9642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8a1b012b3549a6" /><Relationship Type="http://schemas.openxmlformats.org/officeDocument/2006/relationships/image" Target="/ppt/media/image5.png" Id="R112bac4b46854a8f" /><Relationship Type="http://schemas.openxmlformats.org/officeDocument/2006/relationships/image" Target="/ppt/media/image6.png" Id="R2a611b0ac6384790" /><Relationship Type="http://schemas.openxmlformats.org/officeDocument/2006/relationships/notesSlide" Target="/ppt/notesSlides/notesSlide5.xml" Id="Rb2c926195aff4c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c384a768e14e1e" /><Relationship Type="http://schemas.openxmlformats.org/officeDocument/2006/relationships/chart" Target="/ppt/slides/charts/chart1.xml" Id="R75f32c0ff4154ea4" /><Relationship Type="http://schemas.openxmlformats.org/officeDocument/2006/relationships/notesSlide" Target="/ppt/notesSlides/notesSlide6.xml" Id="Re36ab9449c924c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e3d9cd70354ab7" /><Relationship Type="http://schemas.openxmlformats.org/officeDocument/2006/relationships/image" Target="/ppt/media/image7.png" Id="R8b785b0038b0494a" /><Relationship Type="http://schemas.openxmlformats.org/officeDocument/2006/relationships/image" Target="/ppt/media/image8.png" Id="Rb71ba9e49e2144e7" /><Relationship Type="http://schemas.openxmlformats.org/officeDocument/2006/relationships/notesSlide" Target="/ppt/notesSlides/notesSlide7.xml" Id="Raa84fdf338584a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a98c84994146e9" /><Relationship Type="http://schemas.openxmlformats.org/officeDocument/2006/relationships/image" Target="/ppt/media/image9.png" Id="R5624bfe3f09045c2" /><Relationship Type="http://schemas.openxmlformats.org/officeDocument/2006/relationships/notesSlide" Target="/ppt/notesSlides/notesSlide8.xml" Id="Rc24d045879514a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e7efa9713b486b" /><Relationship Type="http://schemas.openxmlformats.org/officeDocument/2006/relationships/image" Target="/ppt/media/image10.png" Id="Ra3ce960ae8b44c8b" /><Relationship Type="http://schemas.openxmlformats.org/officeDocument/2006/relationships/notesSlide" Target="/ppt/notesSlides/notesSlide9.xml" Id="Raad4c7a9ed9f42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7cc7a019d6453c" /><Relationship Type="http://schemas.openxmlformats.org/officeDocument/2006/relationships/image" Target="/ppt/media/image11.png" Id="R41aa888f133f4b3c" /><Relationship Type="http://schemas.openxmlformats.org/officeDocument/2006/relationships/notesSlide" Target="/ppt/notesSlides/notesSlide10.xml" Id="R650654f4e44b4e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3bfd5798dc401c" /><Relationship Type="http://schemas.openxmlformats.org/officeDocument/2006/relationships/image" Target="/ppt/media/image12.png" Id="R877cc5dd63e44fba" /><Relationship Type="http://schemas.openxmlformats.org/officeDocument/2006/relationships/notesSlide" Target="/ppt/notesSlides/notesSlide11.xml" Id="Ra5fb55a6f7a34d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f86fecbebd4837" /><Relationship Type="http://schemas.openxmlformats.org/officeDocument/2006/relationships/notesSlide" Target="/ppt/notesSlides/notesSlide12.xml" Id="R5191c8cce14547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dd7e96ae1d4767" /><Relationship Type="http://schemas.openxmlformats.org/officeDocument/2006/relationships/image" Target="/ppt/media/image13.png" Id="Rbc1f16f994434783" /><Relationship Type="http://schemas.openxmlformats.org/officeDocument/2006/relationships/notesSlide" Target="/ppt/notesSlides/notesSlide13.xml" Id="R85f6748c87004a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11527d059b4a80" /><Relationship Type="http://schemas.openxmlformats.org/officeDocument/2006/relationships/notesSlide" Target="/ppt/notesSlides/notesSlide14.xml" Id="Reb8a2464702d4b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421cf8d8ffd4827" /><Relationship Type="http://schemas.openxmlformats.org/officeDocument/2006/relationships/image" Target="/ppt/media/image14.png" Id="Raf2faec554bb40cc" /><Relationship Type="http://schemas.openxmlformats.org/officeDocument/2006/relationships/notesSlide" Target="/ppt/notesSlides/notesSlide15.xml" Id="Rb1f9ddbc23474d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029215affb34383" /><Relationship Type="http://schemas.openxmlformats.org/officeDocument/2006/relationships/image" Target="/ppt/media/image15.png" Id="Rd0fe5fd50e24440a" /><Relationship Type="http://schemas.openxmlformats.org/officeDocument/2006/relationships/image" Target="/ppt/media/image16.png" Id="Rf8b11d8442ba4ff4" /><Relationship Type="http://schemas.openxmlformats.org/officeDocument/2006/relationships/notesSlide" Target="/ppt/notesSlides/notesSlide16.xml" Id="R21c3514d77b548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b3e9f8c0f24f91" /><Relationship Type="http://schemas.openxmlformats.org/officeDocument/2006/relationships/image" Target="/ppt/media/image17.png" Id="R4c98fc0a97504528" /><Relationship Type="http://schemas.openxmlformats.org/officeDocument/2006/relationships/notesSlide" Target="/ppt/notesSlides/notesSlide17.xml" Id="R5c883dd6d7f14a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657c3a0d5a4525" /><Relationship Type="http://schemas.openxmlformats.org/officeDocument/2006/relationships/image" Target="/ppt/media/image18.png" Id="R9ac72e01eced4c87" /><Relationship Type="http://schemas.openxmlformats.org/officeDocument/2006/relationships/notesSlide" Target="/ppt/notesSlides/notesSlide18.xml" Id="Rd0dd69e57f0c4d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5c39dc1df5046c7" /><Relationship Type="http://schemas.openxmlformats.org/officeDocument/2006/relationships/image" Target="/ppt/media/image19.png" Id="R546b94da12404058" /><Relationship Type="http://schemas.openxmlformats.org/officeDocument/2006/relationships/notesSlide" Target="/ppt/notesSlides/notesSlide19.xml" Id="R2d2ecf852a0143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40177f55aa40cb" /><Relationship Type="http://schemas.openxmlformats.org/officeDocument/2006/relationships/image" Target="/ppt/media/image20.png" Id="R1aca3733ee1747cf" /><Relationship Type="http://schemas.openxmlformats.org/officeDocument/2006/relationships/notesSlide" Target="/ppt/notesSlides/notesSlide20.xml" Id="R41d46b0a777245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e17c1f483044566" /><Relationship Type="http://schemas.openxmlformats.org/officeDocument/2006/relationships/image" Target="/ppt/media/image21.png" Id="R9a31f8cdfca54624" /><Relationship Type="http://schemas.openxmlformats.org/officeDocument/2006/relationships/notesSlide" Target="/ppt/notesSlides/notesSlide21.xml" Id="Rb11de229524c44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c8897fde4c946b7" /><Relationship Type="http://schemas.openxmlformats.org/officeDocument/2006/relationships/image" Target="/ppt/media/image22.png" Id="Rd82ce5a3e57843d0" /><Relationship Type="http://schemas.openxmlformats.org/officeDocument/2006/relationships/notesSlide" Target="/ppt/notesSlides/notesSlide22.xml" Id="R171b0c6ea069401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4682d3d72c24ce6" /><Relationship Type="http://schemas.openxmlformats.org/officeDocument/2006/relationships/image" Target="/ppt/media/image23.png" Id="R4b274ac05e6846dc" /><Relationship Type="http://schemas.openxmlformats.org/officeDocument/2006/relationships/image" Target="/ppt/media/image24.png" Id="R5f603da4c9c542e4" /><Relationship Type="http://schemas.openxmlformats.org/officeDocument/2006/relationships/notesSlide" Target="/ppt/notesSlides/notesSlide23.xml" Id="R4ccf4351b0e047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11a4dbd5763420b" /><Relationship Type="http://schemas.openxmlformats.org/officeDocument/2006/relationships/notesSlide" Target="/ppt/notesSlides/notesSlide24.xml" Id="R65aad4b308824a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1f548e25be94c0d" /><Relationship Type="http://schemas.openxmlformats.org/officeDocument/2006/relationships/image" Target="/ppt/media/image25.png" Id="R8130a9424e6740a7" /><Relationship Type="http://schemas.openxmlformats.org/officeDocument/2006/relationships/image" Target="/ppt/media/image26.png" Id="Rc92d9b2763d140f2" /><Relationship Type="http://schemas.openxmlformats.org/officeDocument/2006/relationships/notesSlide" Target="/ppt/notesSlides/notesSlide25.xml" Id="Rbbd7b9e89e1340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f08e3f28a1046f8" /><Relationship Type="http://schemas.openxmlformats.org/officeDocument/2006/relationships/image" Target="/ppt/media/image27.png" Id="R9263b89124594300" /><Relationship Type="http://schemas.openxmlformats.org/officeDocument/2006/relationships/notesSlide" Target="/ppt/notesSlides/notesSlide26.xml" Id="Rdeae9290336a41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552aa319eba429d" /><Relationship Type="http://schemas.openxmlformats.org/officeDocument/2006/relationships/image" Target="/ppt/media/image28.png" Id="Ra79107ed1e3f49dc" /><Relationship Type="http://schemas.openxmlformats.org/officeDocument/2006/relationships/notesSlide" Target="/ppt/notesSlides/notesSlide27.xml" Id="R9a13f64be7f049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827604238954125" /><Relationship Type="http://schemas.openxmlformats.org/officeDocument/2006/relationships/notesSlide" Target="/ppt/notesSlides/notesSlide28.xml" Id="R71725de1e218427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963c73da9604170" /><Relationship Type="http://schemas.openxmlformats.org/officeDocument/2006/relationships/notesSlide" Target="/ppt/notesSlides/notesSlide29.xml" Id="Rcbdef74bb7304ee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25267512c064938" /><Relationship Type="http://schemas.openxmlformats.org/officeDocument/2006/relationships/image" Target="/ppt/media/image29.png" Id="Ra597d0ed98f04c84" /><Relationship Type="http://schemas.openxmlformats.org/officeDocument/2006/relationships/notesSlide" Target="/ppt/notesSlides/notesSlide30.xml" Id="Rb8acebea1af44a4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30a71d78545416c" /><Relationship Type="http://schemas.openxmlformats.org/officeDocument/2006/relationships/notesSlide" Target="/ppt/notesSlides/notesSlide31.xml" Id="Rd08268cb4b264c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4ddb78a2ae54d50" /><Relationship Type="http://schemas.openxmlformats.org/officeDocument/2006/relationships/image" Target="/ppt/media/image30.png" Id="Rf2f8a1990b7a4249" /><Relationship Type="http://schemas.openxmlformats.org/officeDocument/2006/relationships/notesSlide" Target="/ppt/notesSlides/notesSlide32.xml" Id="R20ba24d918904a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16eeb4039f04d90" /><Relationship Type="http://schemas.openxmlformats.org/officeDocument/2006/relationships/image" Target="/ppt/media/image31.png" Id="R769ba44107f949f4" /><Relationship Type="http://schemas.openxmlformats.org/officeDocument/2006/relationships/notesSlide" Target="/ppt/notesSlides/notesSlide33.xml" Id="R30b69a7a7ac649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a44cbeefd4049d3" /><Relationship Type="http://schemas.openxmlformats.org/officeDocument/2006/relationships/image" Target="/ppt/media/image32.png" Id="R149dbefed9364499" /><Relationship Type="http://schemas.openxmlformats.org/officeDocument/2006/relationships/notesSlide" Target="/ppt/notesSlides/notesSlide34.xml" Id="R5500bfc466fa4b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c4024a7d1c84e43" /><Relationship Type="http://schemas.openxmlformats.org/officeDocument/2006/relationships/image" Target="/ppt/media/image33.png" Id="R3c305a2c4bf241c6" /><Relationship Type="http://schemas.openxmlformats.org/officeDocument/2006/relationships/notesSlide" Target="/ppt/notesSlides/notesSlide35.xml" Id="R71583ece291f4f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0977c0beb384dc2" /><Relationship Type="http://schemas.openxmlformats.org/officeDocument/2006/relationships/image" Target="/ppt/media/image34.png" Id="R8cbc7805ec9a4491" /><Relationship Type="http://schemas.openxmlformats.org/officeDocument/2006/relationships/notesSlide" Target="/ppt/notesSlides/notesSlide36.xml" Id="Rc74ee9dddc8447f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cdc4a422e524628" /><Relationship Type="http://schemas.openxmlformats.org/officeDocument/2006/relationships/image" Target="/ppt/media/image35.png" Id="Rd5b13f5c534e4b49" /><Relationship Type="http://schemas.openxmlformats.org/officeDocument/2006/relationships/notesSlide" Target="/ppt/notesSlides/notesSlide37.xml" Id="R3987d37542d945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DCE7AE-9FDE-4DFA-ABAE-D32B71DF1C0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DISSERTATION DEFENSE</a:t>
            </a:r>
          </a:p>
        </p:txBody>
      </p:sp>
      <p:sp>
        <p:nvSpPr>
          <p:cNvPr id="2" name="">
            <a:extLst xmlns:a="http://schemas.openxmlformats.org/drawingml/2006/main">
              <a:ext uri="{FF2B5EF4-FFF2-40B4-BE49-F238E27FC236}">
                <a16:creationId xmlns:a16="http://schemas.microsoft.com/office/drawing/2014/main" id="{F94843DF-72DE-418F-B83C-97043D9817A6}"/>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Movement and Control of</a:t>
            </a:r>
          </a:p>
          <a:p xmlns:a="http://schemas.openxmlformats.org/drawingml/2006/main">
            <a:pPr>
              <a:defRPr sz="3225" b="1">
                <a:solidFill>
                  <a:srgbClr val="AF7B51"/>
                </a:solidFill>
              </a:defRPr>
            </a:pPr>
            <a:r>
              <a:rPr sz="3225" b="1">
                <a:solidFill>
                  <a:srgbClr val="AF7B51"/>
                </a:solidFill>
              </a:rPr>
              <a:t>Biomimetic Humanoid Robots</a:t>
            </a:r>
          </a:p>
        </p:txBody>
      </p:sp>
      <p:sp>
        <p:nvSpPr>
          <p:cNvPr id="3" name="">
            <a:extLst xmlns:a="http://schemas.openxmlformats.org/drawingml/2006/main">
              <a:ext uri="{FF2B5EF4-FFF2-40B4-BE49-F238E27FC236}">
                <a16:creationId xmlns:a16="http://schemas.microsoft.com/office/drawing/2014/main" id="{1F068B7E-5F1A-448F-BDFB-822CD26A53B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BB673725-6ADD-407F-983D-81D8CC522F1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01</a:t>
            </a:r>
          </a:p>
        </p:txBody>
      </p:sp>
      <p:sp>
        <p:nvSpPr>
          <p:cNvPr id="5" name="">
            <a:extLst xmlns:a="http://schemas.openxmlformats.org/drawingml/2006/main">
              <a:ext uri="{FF2B5EF4-FFF2-40B4-BE49-F238E27FC236}">
                <a16:creationId xmlns:a16="http://schemas.microsoft.com/office/drawing/2014/main" id="{AD11A0D0-617D-42F2-81C8-FCDE9AEA3C43}"/>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defRPr>
            </a:defPPr>
            <a:lvl1pPr>
              <a:defRPr sz="2850" b="1">
                <a:solidFill>
                  <a:srgbClr val="222222"/>
                </a:solidFill>
              </a:defRPr>
            </a:lvl1pPr>
            <a:lvl2pPr>
              <a:defRPr sz="2850" b="1">
                <a:solidFill>
                  <a:srgbClr val="222222"/>
                </a:solidFill>
              </a:defRPr>
            </a:lvl2pPr>
            <a:lvl3pPr>
              <a:defRPr sz="2850" b="1">
                <a:solidFill>
                  <a:srgbClr val="222222"/>
                </a:solidFill>
              </a:defRPr>
            </a:lvl3pPr>
            <a:lvl4pPr>
              <a:defRPr sz="2850" b="1">
                <a:solidFill>
                  <a:srgbClr val="222222"/>
                </a:solidFill>
              </a:defRPr>
            </a:lvl4pPr>
            <a:lvl5pPr>
              <a:defRPr sz="2850" b="1">
                <a:solidFill>
                  <a:srgbClr val="222222"/>
                </a:solidFill>
              </a:defRPr>
            </a:lvl5pPr>
            <a:lvl6pPr>
              <a:defRPr sz="2850" b="1">
                <a:solidFill>
                  <a:srgbClr val="222222"/>
                </a:solidFill>
              </a:defRPr>
            </a:lvl6pPr>
            <a:lvl7pPr>
              <a:defRPr sz="2850" b="1">
                <a:solidFill>
                  <a:srgbClr val="222222"/>
                </a:solidFill>
              </a:defRPr>
            </a:lvl7pPr>
            <a:lvl8pPr>
              <a:defRPr sz="2850" b="1">
                <a:solidFill>
                  <a:srgbClr val="222222"/>
                </a:solidFill>
              </a:defRPr>
            </a:lvl8pPr>
            <a:lvl9pPr>
              <a:defRPr sz="2850" b="1">
                <a:solidFill>
                  <a:srgbClr val="222222"/>
                </a:solidFill>
              </a:defRPr>
            </a:lvl9pPr>
          </a:lstStyle>
          <a:p xmlns:a="http://schemas.openxmlformats.org/drawingml/2006/main">
            <a:pPr>
              <a:defRPr sz="2850" b="1">
                <a:solidFill>
                  <a:srgbClr val="222222"/>
                </a:solidFill>
              </a:defRPr>
            </a:pPr>
            <a:r>
              <a:rPr sz="2850" b="1">
                <a:solidFill>
                  <a:srgbClr val="222222"/>
                </a:solidFill>
              </a:rPr>
              <a:t>Ben P. Bolen</a:t>
            </a:r>
          </a:p>
        </p:txBody>
      </p:sp>
      <p:sp>
        <p:nvSpPr>
          <p:cNvPr id="6" name="">
            <a:extLst xmlns:a="http://schemas.openxmlformats.org/drawingml/2006/main">
              <a:ext uri="{FF2B5EF4-FFF2-40B4-BE49-F238E27FC236}">
                <a16:creationId xmlns:a16="http://schemas.microsoft.com/office/drawing/2014/main" id="{C8653534-828D-4F06-AE6D-EA46828564D7}"/>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defRPr>
            </a:defPPr>
            <a:lvl1pPr>
              <a:defRPr sz="2175" b="0">
                <a:solidFill>
                  <a:srgbClr val="222222"/>
                </a:solidFill>
              </a:defRPr>
            </a:lvl1pPr>
            <a:lvl2pPr>
              <a:defRPr sz="2175" b="0">
                <a:solidFill>
                  <a:srgbClr val="222222"/>
                </a:solidFill>
              </a:defRPr>
            </a:lvl2pPr>
            <a:lvl3pPr>
              <a:defRPr sz="2175" b="0">
                <a:solidFill>
                  <a:srgbClr val="222222"/>
                </a:solidFill>
              </a:defRPr>
            </a:lvl3pPr>
            <a:lvl4pPr>
              <a:defRPr sz="2175" b="0">
                <a:solidFill>
                  <a:srgbClr val="222222"/>
                </a:solidFill>
              </a:defRPr>
            </a:lvl4pPr>
            <a:lvl5pPr>
              <a:defRPr sz="2175" b="0">
                <a:solidFill>
                  <a:srgbClr val="222222"/>
                </a:solidFill>
              </a:defRPr>
            </a:lvl5pPr>
            <a:lvl6pPr>
              <a:defRPr sz="2175" b="0">
                <a:solidFill>
                  <a:srgbClr val="222222"/>
                </a:solidFill>
              </a:defRPr>
            </a:lvl6pPr>
            <a:lvl7pPr>
              <a:defRPr sz="2175" b="0">
                <a:solidFill>
                  <a:srgbClr val="222222"/>
                </a:solidFill>
              </a:defRPr>
            </a:lvl7pPr>
            <a:lvl8pPr>
              <a:defRPr sz="2175" b="0">
                <a:solidFill>
                  <a:srgbClr val="222222"/>
                </a:solidFill>
              </a:defRPr>
            </a:lvl8pPr>
            <a:lvl9pPr>
              <a:defRPr sz="2175" b="0">
                <a:solidFill>
                  <a:srgbClr val="222222"/>
                </a:solidFill>
              </a:defRPr>
            </a:lvl9pPr>
          </a:lstStyle>
          <a:p xmlns:a="http://schemas.openxmlformats.org/drawingml/2006/main">
            <a:pPr>
              <a:defRPr sz="2175" b="0">
                <a:solidFill>
                  <a:srgbClr val="222222"/>
                </a:solidFill>
              </a:defRPr>
            </a:pPr>
            <a:r>
              <a:rPr sz="2175" b="0">
                <a:solidFill>
                  <a:srgbClr val="222222"/>
                </a:solidFill>
              </a:rPr>
              <a:t>Mechanical Engineering PhD defense</a:t>
            </a:r>
          </a:p>
          <a:p xmlns:a="http://schemas.openxmlformats.org/drawingml/2006/main">
            <a:pPr>
              <a:defRPr sz="2175" b="0">
                <a:solidFill>
                  <a:srgbClr val="222222"/>
                </a:solidFill>
              </a:defRPr>
            </a:pPr>
            <a:r>
              <a:rPr sz="2175" b="0">
                <a:solidFill>
                  <a:srgbClr val="222222"/>
                </a:solidFill>
              </a:rPr>
              <a:t>Advisor: M. Anthony Hunt, Ph.D.</a:t>
            </a:r>
          </a:p>
          <a:p xmlns:a="http://schemas.openxmlformats.org/drawingml/2006/main">
            <a:pPr>
              <a:defRPr sz="2175" b="0">
                <a:solidFill>
                  <a:srgbClr val="222222"/>
                </a:solidFill>
              </a:defRPr>
            </a:pPr>
            <a:r>
              <a:rPr sz="2175" b="0">
                <a:solidFill>
                  <a:srgbClr val="222222"/>
                </a:solidFill>
              </a:rPr>
              <a:t>November 6, 2026</a:t>
            </a:r>
          </a:p>
        </p:txBody>
      </p:sp>
      <p:pic>
        <p:nvPicPr>
          <p:cNvPr id="7" name="">
            <a:extLst xmlns:a="http://schemas.openxmlformats.org/drawingml/2006/main">
              <a:ext uri="{FF2B5EF4-FFF2-40B4-BE49-F238E27FC236}">
                <a16:creationId xmlns:a16="http://schemas.microsoft.com/office/drawing/2014/main" id="{5582330A-FF11-46E0-AF93-15C83093E880}"/>
              </a:ext>
            </a:extLst>
          </p:cNvPr>
          <p:cNvPicPr>
            <a:picLocks xmlns:a="http://schemas.openxmlformats.org/drawingml/2006/main" noChangeAspect="1"/>
          </p:cNvPicPr>
          <p:nvPr/>
        </p:nvPicPr>
        <p:blipFill>
          <a:blip xmlns:r="http://schemas.openxmlformats.org/officeDocument/2006/relationships" xmlns:a="http://schemas.openxmlformats.org/drawingml/2006/main" r:embed="Rb898dc4eb20b4847"/>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6716578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0B020E-2B31-441A-BB25-BBCA533BB74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THE ARGUMENT</a:t>
            </a:r>
          </a:p>
        </p:txBody>
      </p:sp>
      <p:sp>
        <p:nvSpPr>
          <p:cNvPr id="2" name="">
            <a:extLst xmlns:a="http://schemas.openxmlformats.org/drawingml/2006/main">
              <a:ext uri="{FF2B5EF4-FFF2-40B4-BE49-F238E27FC236}">
                <a16:creationId xmlns:a16="http://schemas.microsoft.com/office/drawing/2014/main" id="{12FEED8D-3D19-43E2-A2BB-465C8EAC82F0}"/>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2992CB77-B573-491C-B9F8-73C0BC91B55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research gaps and objectives</a:t>
            </a:r>
          </a:p>
        </p:txBody>
      </p:sp>
      <p:sp>
        <p:nvSpPr>
          <p:cNvPr id="4" name="">
            <a:extLst xmlns:a="http://schemas.openxmlformats.org/drawingml/2006/main">
              <a:ext uri="{FF2B5EF4-FFF2-40B4-BE49-F238E27FC236}">
                <a16:creationId xmlns:a16="http://schemas.microsoft.com/office/drawing/2014/main" id="{34D22CAB-06B7-41AC-B63A-4219F252925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02</a:t>
            </a:r>
          </a:p>
        </p:txBody>
      </p:sp>
      <p:graphicFrame>
        <p:nvGraphicFramePr>
          <p:cNvPr id="5" name="">
            <a:extLst xmlns:a="http://schemas.openxmlformats.org/drawingml/2006/main">
              <a:ext uri="{FF2B5EF4-FFF2-40B4-BE49-F238E27FC236}">
                <a16:creationId xmlns:a16="http://schemas.microsoft.com/office/drawing/2014/main" id="{2370FDA1-71CF-4E25-84EC-4194E79D5285}"/>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rPr>
                        <a:t>Knowledge gap</a:t>
                      </a:r>
                    </a:p>
                  </a:txBody>
                  <a:tcPr marL="91440" marR="91440" marT="45720" marB="45720">
                    <a:solidFill>
                      <a:srgbClr val="FFFFFF"/>
                    </a:solidFill>
                  </a:tcPr>
                </a:tc>
                <a:tc>
                  <a:txBody>
                    <a:bodyPr/>
                    <a:lstStyle/>
                    <a:p>
                      <a:r>
                        <a:rPr sz="1875" b="1">
                          <a:solidFill>
                            <a:srgbClr val="00796B"/>
                          </a:solidFill>
                        </a:rPr>
                        <a:t>Contribution tested here</a:t>
                      </a:r>
                    </a:p>
                  </a:txBody>
                  <a:tcPr marL="91440" marR="91440" marT="45720" marB="45720">
                    <a:solidFill>
                      <a:srgbClr val="FFFFFF"/>
                    </a:solidFill>
                  </a:tcPr>
                </a:tc>
              </a:tr>
              <a:tr h="800100">
                <a:tc>
                  <a:txBody>
                    <a:bodyPr/>
                    <a:lstStyle/>
                    <a:p>
                      <a:r>
                        <a:rPr sz="1875" b="0">
                          <a:solidFill>
                            <a:srgbClr val="222222"/>
                          </a:solidFill>
                        </a:rPr>
                        <a:t>Force across actuator lengths</a:t>
                      </a:r>
                    </a:p>
                  </a:txBody>
                  <a:tcPr marL="91440" marR="91440" marT="45720" marB="45720">
                    <a:solidFill>
                      <a:srgbClr val="FFFFFF"/>
                    </a:solidFill>
                  </a:tcPr>
                </a:tc>
                <a:tc>
                  <a:txBody>
                    <a:bodyPr/>
                    <a:lstStyle/>
                    <a:p>
                      <a:r>
                        <a:rPr sz="1875" b="0">
                          <a:solidFill>
                            <a:srgbClr val="222222"/>
                          </a:solidFill>
                        </a:rPr>
                        <a:t>Resting-length-aware force model</a:t>
                      </a:r>
                    </a:p>
                  </a:txBody>
                  <a:tcPr marL="91440" marR="91440" marT="45720" marB="45720">
                    <a:solidFill>
                      <a:srgbClr val="FFFFFF"/>
                    </a:solidFill>
                  </a:tcPr>
                </a:tc>
              </a:tr>
              <a:tr h="800100">
                <a:tc>
                  <a:txBody>
                    <a:bodyPr/>
                    <a:lstStyle/>
                    <a:p>
                      <a:r>
                        <a:rPr sz="1875" b="0">
                          <a:solidFill>
                            <a:srgbClr val="222222"/>
                          </a:solidFill>
                        </a:rPr>
                        <a:t>Torque through compliant routes</a:t>
                      </a:r>
                    </a:p>
                  </a:txBody>
                  <a:tcPr marL="91440" marR="91440" marT="45720" marB="45720">
                    <a:solidFill>
                      <a:srgbClr val="FFFFFF"/>
                    </a:solidFill>
                  </a:tcPr>
                </a:tc>
                <a:tc>
                  <a:txBody>
                    <a:bodyPr/>
                    <a:lstStyle/>
                    <a:p>
                      <a:r>
                        <a:rPr sz="1875" b="0">
                          <a:solidFill>
                            <a:srgbClr val="222222"/>
                          </a:solidFill>
                        </a:rPr>
                        <a:t>Identified corrections and redesigned-route tests</a:t>
                      </a:r>
                    </a:p>
                  </a:txBody>
                  <a:tcPr marL="91440" marR="91440" marT="45720" marB="45720">
                    <a:solidFill>
                      <a:srgbClr val="FFFFFF"/>
                    </a:solidFill>
                  </a:tcPr>
                </a:tc>
              </a:tr>
              <a:tr h="800100">
                <a:tc>
                  <a:txBody>
                    <a:bodyPr/>
                    <a:lstStyle/>
                    <a:p>
                      <a:r>
                        <a:rPr sz="1875" b="0">
                          <a:solidFill>
                            <a:srgbClr val="222222"/>
                          </a:solidFill>
                        </a:rPr>
                        <a:t>Scattered sensory evidence</a:t>
                      </a:r>
                    </a:p>
                  </a:txBody>
                  <a:tcPr marL="91440" marR="91440" marT="45720" marB="45720">
                    <a:solidFill>
                      <a:srgbClr val="FFFFFF"/>
                    </a:solidFill>
                  </a:tcPr>
                </a:tc>
                <a:tc>
                  <a:txBody>
                    <a:bodyPr/>
                    <a:lstStyle/>
                    <a:p>
                      <a:r>
                        <a:rPr sz="1875" b="0">
                          <a:solidFill>
                            <a:srgbClr val="222222"/>
                          </a:solidFill>
                        </a:rPr>
                        <a:t>Linked, searchable SADb resource</a:t>
                      </a:r>
                    </a:p>
                  </a:txBody>
                  <a:tcPr marL="91440" marR="91440" marT="45720" marB="45720">
                    <a:solidFill>
                      <a:srgbClr val="FFFFFF"/>
                    </a:solidFill>
                  </a:tcPr>
                </a:tc>
              </a:tr>
              <a:tr h="800100">
                <a:tc>
                  <a:txBody>
                    <a:bodyPr/>
                    <a:lstStyle/>
                    <a:p>
                      <a:r>
                        <a:rPr sz="1875" b="0">
                          <a:solidFill>
                            <a:srgbClr val="222222"/>
                          </a:solidFill>
                        </a:rPr>
                        <a:t>Untested model connections</a:t>
                      </a:r>
                    </a:p>
                  </a:txBody>
                  <a:tcPr marL="91440" marR="91440" marT="45720" marB="45720">
                    <a:solidFill>
                      <a:srgbClr val="FFFFFF"/>
                    </a:solidFill>
                  </a:tcPr>
                </a:tc>
                <a:tc>
                  <a:txBody>
                    <a:bodyPr/>
                    <a:lstStyle/>
                    <a:p>
                      <a:r>
                        <a:rPr sz="1875" b="0">
                          <a:solidFill>
                            <a:srgbClr val="222222"/>
                          </a:solidFill>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29636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D082FF-BA59-4E66-AEEC-F94DC709528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SCOPE AND ATTRIBUTION</a:t>
            </a:r>
          </a:p>
        </p:txBody>
      </p:sp>
      <p:sp>
        <p:nvSpPr>
          <p:cNvPr id="2" name="">
            <a:extLst xmlns:a="http://schemas.openxmlformats.org/drawingml/2006/main">
              <a:ext uri="{FF2B5EF4-FFF2-40B4-BE49-F238E27FC236}">
                <a16:creationId xmlns:a16="http://schemas.microsoft.com/office/drawing/2014/main" id="{F262FC64-6783-4770-8EE1-8738DE08EB9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67E11F8D-A11C-41AE-B6A3-F153414A24A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01CED56C-EB98-4C0E-B2BE-A422E0CE874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03</a:t>
            </a:r>
          </a:p>
        </p:txBody>
      </p:sp>
      <p:pic>
        <p:nvPicPr>
          <p:cNvPr id="5" name="">
            <a:extLst xmlns:a="http://schemas.openxmlformats.org/drawingml/2006/main">
              <a:ext uri="{FF2B5EF4-FFF2-40B4-BE49-F238E27FC236}">
                <a16:creationId xmlns:a16="http://schemas.microsoft.com/office/drawing/2014/main" id="{9FFE4C15-5C53-41CE-92B3-B81633FFE2DE}"/>
              </a:ext>
            </a:extLst>
          </p:cNvPr>
          <p:cNvPicPr>
            <a:picLocks xmlns:a="http://schemas.openxmlformats.org/drawingml/2006/main" noChangeAspect="1"/>
          </p:cNvPicPr>
          <p:nvPr/>
        </p:nvPicPr>
        <p:blipFill>
          <a:blip xmlns:r="http://schemas.openxmlformats.org/officeDocument/2006/relationships" xmlns:a="http://schemas.openxmlformats.org/drawingml/2006/main" r:embed="R683669a096c84ba6"/>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A92CA71-DCCB-40F9-84BB-B70459E7ADCE}"/>
              </a:ext>
            </a:extLst>
          </p:cNvPr>
          <p:cNvPicPr>
            <a:picLocks xmlns:a="http://schemas.openxmlformats.org/drawingml/2006/main" noChangeAspect="1"/>
          </p:cNvPicPr>
          <p:nvPr/>
        </p:nvPicPr>
        <p:blipFill>
          <a:blip xmlns:r="http://schemas.openxmlformats.org/officeDocument/2006/relationships" xmlns:a="http://schemas.openxmlformats.org/drawingml/2006/main" r:embed="Rb9772ddf226c4c45"/>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BC50D6-B3C8-44E1-8047-CD96E3437ABA}"/>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Existing anatomy and mechanisms</a:t>
            </a:r>
          </a:p>
        </p:txBody>
      </p:sp>
      <p:sp>
        <p:nvSpPr>
          <p:cNvPr id="8" name="">
            <a:extLst xmlns:a="http://schemas.openxmlformats.org/drawingml/2006/main">
              <a:ext uri="{FF2B5EF4-FFF2-40B4-BE49-F238E27FC236}">
                <a16:creationId xmlns:a16="http://schemas.microsoft.com/office/drawing/2014/main" id="{4F38654D-20E8-4B8B-9FF7-31915834E1D0}"/>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New route modeling and tests</a:t>
            </a:r>
          </a:p>
        </p:txBody>
      </p:sp>
    </p:spTree>
    <p:extLst>
      <p:ext uri="{BB962C8B-B14F-4D97-AF65-F5344CB8AC3E}">
        <p14:creationId xmlns:p14="http://schemas.microsoft.com/office/powerpoint/2010/main" val="4856012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F72F83-90AC-4D98-95A7-3BC407A675D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CHARACTERIZATION</a:t>
            </a:r>
          </a:p>
        </p:txBody>
      </p:sp>
      <p:sp>
        <p:nvSpPr>
          <p:cNvPr id="2" name="">
            <a:extLst xmlns:a="http://schemas.openxmlformats.org/drawingml/2006/main">
              <a:ext uri="{FF2B5EF4-FFF2-40B4-BE49-F238E27FC236}">
                <a16:creationId xmlns:a16="http://schemas.microsoft.com/office/drawing/2014/main" id="{25DA3851-08A0-4C86-A04D-F98F4D5FB87F}"/>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F327B564-E59C-4FA3-8814-2C19208DDE1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F3B4B646-DCFD-4370-B00B-1D6AA8054E6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04</a:t>
            </a:r>
          </a:p>
        </p:txBody>
      </p:sp>
      <p:pic>
        <p:nvPicPr>
          <p:cNvPr id="5" name="">
            <a:extLst xmlns:a="http://schemas.openxmlformats.org/drawingml/2006/main">
              <a:ext uri="{FF2B5EF4-FFF2-40B4-BE49-F238E27FC236}">
                <a16:creationId xmlns:a16="http://schemas.microsoft.com/office/drawing/2014/main" id="{BFA2DE90-C7CC-4004-906B-A4F811D3F9C1}"/>
              </a:ext>
            </a:extLst>
          </p:cNvPr>
          <p:cNvPicPr>
            <a:picLocks xmlns:a="http://schemas.openxmlformats.org/drawingml/2006/main" noChangeAspect="1"/>
          </p:cNvPicPr>
          <p:nvPr/>
        </p:nvPicPr>
        <p:blipFill>
          <a:blip xmlns:r="http://schemas.openxmlformats.org/officeDocument/2006/relationships" xmlns:a="http://schemas.openxmlformats.org/drawingml/2006/main" r:embed="R697613ef98484291"/>
          <a:stretch xmlns:a="http://schemas.openxmlformats.org/drawingml/2006/main"/>
        </p:blipFill>
        <p:spPr>
          <a:xfrm xmlns:a="http://schemas.openxmlformats.org/drawingml/2006/main">
            <a:off x="4259036" y="1476375"/>
            <a:ext cx="367392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8A9D10A-4889-4B81-A5AD-70BA16445E33}"/>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 mm and 20 mm actuators; 537 observations</a:t>
            </a:r>
          </a:p>
        </p:txBody>
      </p:sp>
    </p:spTree>
    <p:extLst>
      <p:ext uri="{BB962C8B-B14F-4D97-AF65-F5344CB8AC3E}">
        <p14:creationId xmlns:p14="http://schemas.microsoft.com/office/powerpoint/2010/main" val="10201630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C67C18-5D08-4C03-A267-1A74A769C97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B87545B0-367B-4774-9A15-81D591C692DE}"/>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C7383FFA-2CDD-406F-9CD0-D2AD780B69C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Fmax_fit</a:t>
            </a:r>
          </a:p>
        </p:txBody>
      </p:sp>
      <p:sp>
        <p:nvSpPr>
          <p:cNvPr id="4" name="">
            <a:extLst xmlns:a="http://schemas.openxmlformats.org/drawingml/2006/main">
              <a:ext uri="{FF2B5EF4-FFF2-40B4-BE49-F238E27FC236}">
                <a16:creationId xmlns:a16="http://schemas.microsoft.com/office/drawing/2014/main" id="{F7635C5F-D181-45BC-83F8-C3AE9411DBD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05</a:t>
            </a:r>
          </a:p>
        </p:txBody>
      </p:sp>
      <p:pic>
        <p:nvPicPr>
          <p:cNvPr id="5" name="">
            <a:extLst xmlns:a="http://schemas.openxmlformats.org/drawingml/2006/main">
              <a:ext uri="{FF2B5EF4-FFF2-40B4-BE49-F238E27FC236}">
                <a16:creationId xmlns:a16="http://schemas.microsoft.com/office/drawing/2014/main" id="{6C3A006E-36A0-4BB2-85A3-0136210DD571}"/>
              </a:ext>
            </a:extLst>
          </p:cNvPr>
          <p:cNvPicPr>
            <a:picLocks xmlns:a="http://schemas.openxmlformats.org/drawingml/2006/main" noChangeAspect="1"/>
          </p:cNvPicPr>
          <p:nvPr/>
        </p:nvPicPr>
        <p:blipFill>
          <a:blip xmlns:r="http://schemas.openxmlformats.org/officeDocument/2006/relationships" xmlns:a="http://schemas.openxmlformats.org/drawingml/2006/main" r:embed="R112bac4b46854a8f"/>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9972BA4-C47B-4F98-9924-B78C45A0C10D}"/>
              </a:ext>
            </a:extLst>
          </p:cNvPr>
          <p:cNvPicPr>
            <a:picLocks xmlns:a="http://schemas.openxmlformats.org/drawingml/2006/main" noChangeAspect="1"/>
          </p:cNvPicPr>
          <p:nvPr/>
        </p:nvPicPr>
        <p:blipFill>
          <a:blip xmlns:r="http://schemas.openxmlformats.org/officeDocument/2006/relationships" xmlns:a="http://schemas.openxmlformats.org/drawingml/2006/main" r:embed="R2a611b0ac6384790"/>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5914649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844A6-7FCA-44C8-87CD-05004F56308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0FE1AF2C-CD59-45A3-8E38-F88F62C7FF65}"/>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30750798-A822-4C0B-B3BF-6A1527BDDF4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71336DD1-226D-4523-8C2D-4315260A95E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06</a:t>
            </a:r>
          </a:p>
        </p:txBody>
      </p:sp>
      <p:graphicFrame>
        <p:nvGraphicFramePr>
          <p:cNvPr id="5" name="Chart">
            <a:extLst xmlns:a="http://schemas.openxmlformats.org/drawingml/2006/main">
              <a:ext uri="{FF2B5EF4-FFF2-40B4-BE49-F238E27FC236}">
                <a16:creationId xmlns:a16="http://schemas.microsoft.com/office/drawing/2014/main" id="{EFF3E48D-4D86-413A-914C-A8AC46A8A60E}"/>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75f32c0ff4154ea4"/>
          </a:graphicData>
        </a:graphic>
      </p:graphicFrame>
      <p:sp>
        <p:nvSpPr>
          <p:cNvPr id="6" name="">
            <a:extLst xmlns:a="http://schemas.openxmlformats.org/drawingml/2006/main">
              <a:ext uri="{FF2B5EF4-FFF2-40B4-BE49-F238E27FC236}">
                <a16:creationId xmlns:a16="http://schemas.microsoft.com/office/drawing/2014/main" id="{C5742217-5321-4648-8B53-81471021C0FF}"/>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350.9 N measured</a:t>
            </a:r>
          </a:p>
        </p:txBody>
      </p:sp>
    </p:spTree>
    <p:extLst>
      <p:ext uri="{BB962C8B-B14F-4D97-AF65-F5344CB8AC3E}">
        <p14:creationId xmlns:p14="http://schemas.microsoft.com/office/powerpoint/2010/main" val="9926175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5F4DB5-2B22-4014-AEBA-5B30E96F28E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MODEL</a:t>
            </a:r>
          </a:p>
        </p:txBody>
      </p:sp>
      <p:sp>
        <p:nvSpPr>
          <p:cNvPr id="2" name="">
            <a:extLst xmlns:a="http://schemas.openxmlformats.org/drawingml/2006/main">
              <a:ext uri="{FF2B5EF4-FFF2-40B4-BE49-F238E27FC236}">
                <a16:creationId xmlns:a16="http://schemas.microsoft.com/office/drawing/2014/main" id="{74FE0F1A-C653-4163-A9C0-26EAE186A4F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EC5A378C-2F58-43DF-A7B0-BA6F96BD250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56D6C80C-8255-4A9C-A204-E7336D846F5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07</a:t>
            </a:r>
          </a:p>
        </p:txBody>
      </p:sp>
      <p:pic>
        <p:nvPicPr>
          <p:cNvPr id="5" name="">
            <a:extLst xmlns:a="http://schemas.openxmlformats.org/drawingml/2006/main">
              <a:ext uri="{FF2B5EF4-FFF2-40B4-BE49-F238E27FC236}">
                <a16:creationId xmlns:a16="http://schemas.microsoft.com/office/drawing/2014/main" id="{E9FF2424-1403-4E88-BE5B-EE9063CD8010}"/>
              </a:ext>
            </a:extLst>
          </p:cNvPr>
          <p:cNvPicPr>
            <a:picLocks xmlns:a="http://schemas.openxmlformats.org/drawingml/2006/main" noChangeAspect="1"/>
          </p:cNvPicPr>
          <p:nvPr/>
        </p:nvPicPr>
        <p:blipFill>
          <a:blip xmlns:r="http://schemas.openxmlformats.org/officeDocument/2006/relationships" xmlns:a="http://schemas.openxmlformats.org/drawingml/2006/main" r:embed="R8b785b0038b0494a"/>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CFED310-D3C1-4EDA-B460-422B70FB3673}"/>
              </a:ext>
            </a:extLst>
          </p:cNvPr>
          <p:cNvPicPr>
            <a:picLocks xmlns:a="http://schemas.openxmlformats.org/drawingml/2006/main" noChangeAspect="1"/>
          </p:cNvPicPr>
          <p:nvPr/>
        </p:nvPicPr>
        <p:blipFill>
          <a:blip xmlns:r="http://schemas.openxmlformats.org/officeDocument/2006/relationships" xmlns:a="http://schemas.openxmlformats.org/drawingml/2006/main" r:embed="Rb71ba9e49e2144e7"/>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3704354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19569A-891B-4E5D-8D3A-E59CC69D317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EVIDENCE</a:t>
            </a:r>
          </a:p>
        </p:txBody>
      </p:sp>
      <p:sp>
        <p:nvSpPr>
          <p:cNvPr id="2" name="">
            <a:extLst xmlns:a="http://schemas.openxmlformats.org/drawingml/2006/main">
              <a:ext uri="{FF2B5EF4-FFF2-40B4-BE49-F238E27FC236}">
                <a16:creationId xmlns:a16="http://schemas.microsoft.com/office/drawing/2014/main" id="{5508E052-B3E3-40C7-95A1-1A13E4453C89}"/>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C6BF55CB-6E25-4529-AE34-C4E8E243F48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2FA9B98A-11C0-4D46-A949-241A9C37252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08</a:t>
            </a:r>
          </a:p>
        </p:txBody>
      </p:sp>
      <p:pic>
        <p:nvPicPr>
          <p:cNvPr id="5" name="">
            <a:extLst xmlns:a="http://schemas.openxmlformats.org/drawingml/2006/main">
              <a:ext uri="{FF2B5EF4-FFF2-40B4-BE49-F238E27FC236}">
                <a16:creationId xmlns:a16="http://schemas.microsoft.com/office/drawing/2014/main" id="{EDB637D4-358D-4BF1-BC28-A7B23213DE78}"/>
              </a:ext>
            </a:extLst>
          </p:cNvPr>
          <p:cNvPicPr>
            <a:picLocks xmlns:a="http://schemas.openxmlformats.org/drawingml/2006/main" noChangeAspect="1"/>
          </p:cNvPicPr>
          <p:nvPr/>
        </p:nvPicPr>
        <p:blipFill>
          <a:blip xmlns:r="http://schemas.openxmlformats.org/officeDocument/2006/relationships" xmlns:a="http://schemas.openxmlformats.org/drawingml/2006/main" r:embed="R5624bfe3f09045c2"/>
          <a:stretch xmlns:a="http://schemas.openxmlformats.org/drawingml/2006/main"/>
        </p:blipFill>
        <p:spPr>
          <a:xfrm xmlns:a="http://schemas.openxmlformats.org/drawingml/2006/main">
            <a:off x="3335049" y="1476375"/>
            <a:ext cx="5521903" cy="4762500"/>
          </a:xfrm>
          <a:prstGeom xmlns:a="http://schemas.openxmlformats.org/drawingml/2006/main" prst="rect">
            <a:avLst/>
          </a:prstGeom>
        </p:spPr>
      </p:pic>
    </p:spTree>
    <p:extLst>
      <p:ext uri="{BB962C8B-B14F-4D97-AF65-F5344CB8AC3E}">
        <p14:creationId xmlns:p14="http://schemas.microsoft.com/office/powerpoint/2010/main" val="3642429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54E102-263C-4B86-A1BA-D9C4D97DAFA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EXPERIMENTAL DESIGN</a:t>
            </a:r>
          </a:p>
        </p:txBody>
      </p:sp>
      <p:sp>
        <p:nvSpPr>
          <p:cNvPr id="2" name="">
            <a:extLst xmlns:a="http://schemas.openxmlformats.org/drawingml/2006/main">
              <a:ext uri="{FF2B5EF4-FFF2-40B4-BE49-F238E27FC236}">
                <a16:creationId xmlns:a16="http://schemas.microsoft.com/office/drawing/2014/main" id="{D7D0843E-ACE5-4B9F-91C5-17136DD2D72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2DD743C3-67C3-435C-A7F7-F8E55465E29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873D4D1A-31B3-4B3E-9B7F-8F10A60D16F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09</a:t>
            </a:r>
          </a:p>
        </p:txBody>
      </p:sp>
      <p:pic>
        <p:nvPicPr>
          <p:cNvPr id="5" name="">
            <a:extLst xmlns:a="http://schemas.openxmlformats.org/drawingml/2006/main">
              <a:ext uri="{FF2B5EF4-FFF2-40B4-BE49-F238E27FC236}">
                <a16:creationId xmlns:a16="http://schemas.microsoft.com/office/drawing/2014/main" id="{CF14D196-7D46-48A8-B0ED-861028974AF0}"/>
              </a:ext>
            </a:extLst>
          </p:cNvPr>
          <p:cNvPicPr>
            <a:picLocks xmlns:a="http://schemas.openxmlformats.org/drawingml/2006/main" noChangeAspect="1"/>
          </p:cNvPicPr>
          <p:nvPr/>
        </p:nvPicPr>
        <p:blipFill>
          <a:blip xmlns:r="http://schemas.openxmlformats.org/officeDocument/2006/relationships" xmlns:a="http://schemas.openxmlformats.org/drawingml/2006/main" r:embed="Ra3ce960ae8b44c8b"/>
          <a:stretch xmlns:a="http://schemas.openxmlformats.org/drawingml/2006/main"/>
        </p:blipFill>
        <p:spPr>
          <a:xfrm xmlns:a="http://schemas.openxmlformats.org/drawingml/2006/main">
            <a:off x="4054929" y="1476375"/>
            <a:ext cx="4082143" cy="4762500"/>
          </a:xfrm>
          <a:prstGeom xmlns:a="http://schemas.openxmlformats.org/drawingml/2006/main" prst="rect">
            <a:avLst/>
          </a:prstGeom>
        </p:spPr>
      </p:pic>
    </p:spTree>
    <p:extLst>
      <p:ext uri="{BB962C8B-B14F-4D97-AF65-F5344CB8AC3E}">
        <p14:creationId xmlns:p14="http://schemas.microsoft.com/office/powerpoint/2010/main" val="21077594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A6A131-204D-4D4C-B7DD-8B8742A9E93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DIAGNOSIS</a:t>
            </a:r>
          </a:p>
        </p:txBody>
      </p:sp>
      <p:sp>
        <p:nvSpPr>
          <p:cNvPr id="2" name="">
            <a:extLst xmlns:a="http://schemas.openxmlformats.org/drawingml/2006/main">
              <a:ext uri="{FF2B5EF4-FFF2-40B4-BE49-F238E27FC236}">
                <a16:creationId xmlns:a16="http://schemas.microsoft.com/office/drawing/2014/main" id="{71B445A4-5D41-444C-B3AE-B3195B2D193E}"/>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AD839782-D921-439D-9349-387F4951D95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95FE3915-957D-45DB-83AE-75CB7C8EE2E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10</a:t>
            </a:r>
          </a:p>
        </p:txBody>
      </p:sp>
      <p:pic>
        <p:nvPicPr>
          <p:cNvPr id="5" name="">
            <a:extLst xmlns:a="http://schemas.openxmlformats.org/drawingml/2006/main">
              <a:ext uri="{FF2B5EF4-FFF2-40B4-BE49-F238E27FC236}">
                <a16:creationId xmlns:a16="http://schemas.microsoft.com/office/drawing/2014/main" id="{8FEC6899-D7C0-43BA-9630-BCC4BB6A406D}"/>
              </a:ext>
            </a:extLst>
          </p:cNvPr>
          <p:cNvPicPr>
            <a:picLocks xmlns:a="http://schemas.openxmlformats.org/drawingml/2006/main" noChangeAspect="1"/>
          </p:cNvPicPr>
          <p:nvPr/>
        </p:nvPicPr>
        <p:blipFill>
          <a:blip xmlns:r="http://schemas.openxmlformats.org/officeDocument/2006/relationships" xmlns:a="http://schemas.openxmlformats.org/drawingml/2006/main" r:embed="R41aa888f133f4b3c"/>
          <a:stretch xmlns:a="http://schemas.openxmlformats.org/drawingml/2006/main"/>
        </p:blipFill>
        <p:spPr>
          <a:xfrm xmlns:a="http://schemas.openxmlformats.org/drawingml/2006/main">
            <a:off x="428625" y="1677865"/>
            <a:ext cx="11334750" cy="4359519"/>
          </a:xfrm>
          <a:prstGeom xmlns:a="http://schemas.openxmlformats.org/drawingml/2006/main" prst="rect">
            <a:avLst/>
          </a:prstGeom>
        </p:spPr>
      </p:pic>
    </p:spTree>
    <p:extLst>
      <p:ext uri="{BB962C8B-B14F-4D97-AF65-F5344CB8AC3E}">
        <p14:creationId xmlns:p14="http://schemas.microsoft.com/office/powerpoint/2010/main" val="7725295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5734BE-112A-4F8C-9D93-F8D3D52D9B8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MODEL CONTRIBUTION</a:t>
            </a:r>
          </a:p>
        </p:txBody>
      </p:sp>
      <p:sp>
        <p:nvSpPr>
          <p:cNvPr id="2" name="">
            <a:extLst xmlns:a="http://schemas.openxmlformats.org/drawingml/2006/main">
              <a:ext uri="{FF2B5EF4-FFF2-40B4-BE49-F238E27FC236}">
                <a16:creationId xmlns:a16="http://schemas.microsoft.com/office/drawing/2014/main" id="{EC266565-32DF-4594-AFD4-2225C442D81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A5B3EF6F-335E-4FA2-8488-10D9AA7E57C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Improved Torque Model; Appendix C</a:t>
            </a:r>
          </a:p>
        </p:txBody>
      </p:sp>
      <p:sp>
        <p:nvSpPr>
          <p:cNvPr id="4" name="">
            <a:extLst xmlns:a="http://schemas.openxmlformats.org/drawingml/2006/main">
              <a:ext uri="{FF2B5EF4-FFF2-40B4-BE49-F238E27FC236}">
                <a16:creationId xmlns:a16="http://schemas.microsoft.com/office/drawing/2014/main" id="{44866A14-F1B3-4C0E-B877-C7FCAF2F36B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11</a:t>
            </a:r>
          </a:p>
        </p:txBody>
      </p:sp>
      <p:pic>
        <p:nvPicPr>
          <p:cNvPr id="5" name="">
            <a:extLst xmlns:a="http://schemas.openxmlformats.org/drawingml/2006/main">
              <a:ext uri="{FF2B5EF4-FFF2-40B4-BE49-F238E27FC236}">
                <a16:creationId xmlns:a16="http://schemas.microsoft.com/office/drawing/2014/main" id="{50AB127A-0560-470E-AD93-E36B4B7DCD07}"/>
              </a:ext>
            </a:extLst>
          </p:cNvPr>
          <p:cNvPicPr>
            <a:picLocks xmlns:a="http://schemas.openxmlformats.org/drawingml/2006/main" noChangeAspect="1"/>
          </p:cNvPicPr>
          <p:nvPr/>
        </p:nvPicPr>
        <p:blipFill>
          <a:blip xmlns:r="http://schemas.openxmlformats.org/officeDocument/2006/relationships" xmlns:a="http://schemas.openxmlformats.org/drawingml/2006/main" r:embed="R877cc5dd63e44fba"/>
          <a:stretch xmlns:a="http://schemas.openxmlformats.org/drawingml/2006/main"/>
        </p:blipFill>
        <p:spPr>
          <a:xfrm xmlns:a="http://schemas.openxmlformats.org/drawingml/2006/main">
            <a:off x="428625" y="1791386"/>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561787-5E1C-47B7-A29B-92C0BCAA959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Effective system stiffness includes the fixtures and transmission</a:t>
            </a:r>
          </a:p>
        </p:txBody>
      </p:sp>
    </p:spTree>
    <p:extLst>
      <p:ext uri="{BB962C8B-B14F-4D97-AF65-F5344CB8AC3E}">
        <p14:creationId xmlns:p14="http://schemas.microsoft.com/office/powerpoint/2010/main" val="5612239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0C8074-8881-44B2-BC31-0762E839574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IDENTIFICATION</a:t>
            </a:r>
          </a:p>
        </p:txBody>
      </p:sp>
      <p:sp>
        <p:nvSpPr>
          <p:cNvPr id="2" name="">
            <a:extLst xmlns:a="http://schemas.openxmlformats.org/drawingml/2006/main">
              <a:ext uri="{FF2B5EF4-FFF2-40B4-BE49-F238E27FC236}">
                <a16:creationId xmlns:a16="http://schemas.microsoft.com/office/drawing/2014/main" id="{0F5542DF-AFF6-45EC-A6E3-F045712423B4}"/>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CC4F5C12-23A5-4C56-BCEA-663B8954445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08EAD111-5001-4E6F-ADC2-DE2D00A018C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12</a:t>
            </a:r>
          </a:p>
        </p:txBody>
      </p:sp>
      <p:graphicFrame>
        <p:nvGraphicFramePr>
          <p:cNvPr id="5" name="">
            <a:extLst xmlns:a="http://schemas.openxmlformats.org/drawingml/2006/main">
              <a:ext uri="{FF2B5EF4-FFF2-40B4-BE49-F238E27FC236}">
                <a16:creationId xmlns:a16="http://schemas.microsoft.com/office/drawing/2014/main" id="{202C7389-9A96-48AD-B164-86FBCE219CDB}"/>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rPr>
                        <a:t>Adopted fold</a:t>
                      </a:r>
                    </a:p>
                  </a:txBody>
                  <a:tcPr marL="91440" marR="91440" marT="45720" marB="45720">
                    <a:solidFill>
                      <a:srgbClr val="FFFFFF"/>
                    </a:solidFill>
                  </a:tcPr>
                </a:tc>
                <a:tc>
                  <a:txBody>
                    <a:bodyPr/>
                    <a:lstStyle/>
                    <a:p>
                      <a:r>
                        <a:rPr sz="1875" b="1">
                          <a:solidFill>
                            <a:srgbClr val="00796B"/>
                          </a:solidFill>
                        </a:rPr>
                        <a:t>Training</a:t>
                      </a:r>
                    </a:p>
                  </a:txBody>
                  <a:tcPr marL="91440" marR="91440" marT="45720" marB="45720">
                    <a:solidFill>
                      <a:srgbClr val="FFFFFF"/>
                    </a:solidFill>
                  </a:tcPr>
                </a:tc>
                <a:tc>
                  <a:txBody>
                    <a:bodyPr/>
                    <a:lstStyle/>
                    <a:p>
                      <a:r>
                        <a:rPr sz="1875" b="1">
                          <a:solidFill>
                            <a:srgbClr val="00796B"/>
                          </a:solidFill>
                        </a:rPr>
                        <a:t>Held out</a:t>
                      </a:r>
                    </a:p>
                  </a:txBody>
                  <a:tcPr marL="91440" marR="91440" marT="45720" marB="45720">
                    <a:solidFill>
                      <a:srgbClr val="FFFFFF"/>
                    </a:solidFill>
                  </a:tcPr>
                </a:tc>
                <a:tc>
                  <a:txBody>
                    <a:bodyPr/>
                    <a:lstStyle/>
                    <a:p>
                      <a:r>
                        <a:rPr sz="1875" b="1">
                          <a:solidFill>
                            <a:srgbClr val="00796B"/>
                          </a:solidFill>
                        </a:rPr>
                        <a:t>Not used</a:t>
                      </a:r>
                    </a:p>
                  </a:txBody>
                  <a:tcPr marL="91440" marR="91440" marT="45720" marB="45720">
                    <a:solidFill>
                      <a:srgbClr val="FFFFFF"/>
                    </a:solidFill>
                  </a:tcPr>
                </a:tc>
              </a:tr>
              <a:tr h="857250">
                <a:tc>
                  <a:txBody>
                    <a:bodyPr/>
                    <a:lstStyle/>
                    <a:p>
                      <a:r>
                        <a:rPr sz="1875" b="0">
                          <a:solidFill>
                            <a:srgbClr val="222222"/>
                          </a:solidFill>
                        </a:rPr>
                        <a:t>Pinned flexor</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1 test</a:t>
                      </a:r>
                    </a:p>
                  </a:txBody>
                  <a:tcPr marL="91440" marR="91440" marT="45720" marB="45720">
                    <a:solidFill>
                      <a:srgbClr val="FFFFFF"/>
                    </a:solidFill>
                  </a:tcPr>
                </a:tc>
              </a:tr>
              <a:tr h="857250">
                <a:tc>
                  <a:txBody>
                    <a:bodyPr/>
                    <a:lstStyle/>
                    <a:p>
                      <a:r>
                        <a:rPr sz="1875" b="0">
                          <a:solidFill>
                            <a:srgbClr val="222222"/>
                          </a:solidFill>
                        </a:rPr>
                        <a:t>Pinned extensor</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9EDD678-CEC0-4208-B1CD-42E4D26C60EF}"/>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Identify corrections: gamultiobj</a:t>
            </a:r>
          </a:p>
        </p:txBody>
      </p:sp>
      <p:sp>
        <p:nvSpPr>
          <p:cNvPr id="7" name="">
            <a:extLst xmlns:a="http://schemas.openxmlformats.org/drawingml/2006/main">
              <a:ext uri="{FF2B5EF4-FFF2-40B4-BE49-F238E27FC236}">
                <a16:creationId xmlns:a16="http://schemas.microsoft.com/office/drawing/2014/main" id="{FE40BE70-0836-48A5-865D-3F3449789FCC}"/>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Redesign routes: surrogateopt, then patternsearch</a:t>
            </a:r>
          </a:p>
        </p:txBody>
      </p:sp>
    </p:spTree>
    <p:extLst>
      <p:ext uri="{BB962C8B-B14F-4D97-AF65-F5344CB8AC3E}">
        <p14:creationId xmlns:p14="http://schemas.microsoft.com/office/powerpoint/2010/main" val="9714822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0F9B15-C9BB-43D7-B5FE-ECD8F0B7EE5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REPRESENTATIVE EVIDENCE</a:t>
            </a:r>
          </a:p>
        </p:txBody>
      </p:sp>
      <p:sp>
        <p:nvSpPr>
          <p:cNvPr id="2" name="">
            <a:extLst xmlns:a="http://schemas.openxmlformats.org/drawingml/2006/main">
              <a:ext uri="{FF2B5EF4-FFF2-40B4-BE49-F238E27FC236}">
                <a16:creationId xmlns:a16="http://schemas.microsoft.com/office/drawing/2014/main" id="{19E80103-4F73-4B85-B63D-C93DC886704B}"/>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A6FADF24-26F3-4D42-A1E7-D0E2EB0F1E3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B5B6EB4C-66AE-4C7E-ACB6-36D694936E0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13</a:t>
            </a:r>
          </a:p>
        </p:txBody>
      </p:sp>
      <p:pic>
        <p:nvPicPr>
          <p:cNvPr id="5" name="">
            <a:extLst xmlns:a="http://schemas.openxmlformats.org/drawingml/2006/main">
              <a:ext uri="{FF2B5EF4-FFF2-40B4-BE49-F238E27FC236}">
                <a16:creationId xmlns:a16="http://schemas.microsoft.com/office/drawing/2014/main" id="{60AFFCBF-B929-477C-B73F-4C60A812B9DC}"/>
              </a:ext>
            </a:extLst>
          </p:cNvPr>
          <p:cNvPicPr>
            <a:picLocks xmlns:a="http://schemas.openxmlformats.org/drawingml/2006/main" noChangeAspect="1"/>
          </p:cNvPicPr>
          <p:nvPr/>
        </p:nvPicPr>
        <p:blipFill>
          <a:blip xmlns:r="http://schemas.openxmlformats.org/officeDocument/2006/relationships" xmlns:a="http://schemas.openxmlformats.org/drawingml/2006/main" r:embed="Rbc1f16f994434783"/>
          <a:stretch xmlns:a="http://schemas.openxmlformats.org/drawingml/2006/main"/>
        </p:blipFill>
        <p:spPr>
          <a:xfrm xmlns:a="http://schemas.openxmlformats.org/drawingml/2006/main">
            <a:off x="456197" y="1476375"/>
            <a:ext cx="1127960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98E588-4E64-437F-9876-7400CE6461B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Held-out mean RMSE: 7.588 to 1.490 N·m</a:t>
            </a:r>
          </a:p>
        </p:txBody>
      </p:sp>
    </p:spTree>
    <p:extLst>
      <p:ext uri="{BB962C8B-B14F-4D97-AF65-F5344CB8AC3E}">
        <p14:creationId xmlns:p14="http://schemas.microsoft.com/office/powerpoint/2010/main" val="5329566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83E781-7901-485F-9455-45A45754938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VALIDATION</a:t>
            </a:r>
          </a:p>
        </p:txBody>
      </p:sp>
      <p:sp>
        <p:nvSpPr>
          <p:cNvPr id="2" name="">
            <a:extLst xmlns:a="http://schemas.openxmlformats.org/drawingml/2006/main">
              <a:ext uri="{FF2B5EF4-FFF2-40B4-BE49-F238E27FC236}">
                <a16:creationId xmlns:a16="http://schemas.microsoft.com/office/drawing/2014/main" id="{2D5C9AAB-A787-450F-A363-6EDDA0A5867B}"/>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C4450507-2681-441A-817B-7951A09B97D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a:t>
            </a:r>
          </a:p>
        </p:txBody>
      </p:sp>
      <p:sp>
        <p:nvSpPr>
          <p:cNvPr id="4" name="">
            <a:extLst xmlns:a="http://schemas.openxmlformats.org/drawingml/2006/main">
              <a:ext uri="{FF2B5EF4-FFF2-40B4-BE49-F238E27FC236}">
                <a16:creationId xmlns:a16="http://schemas.microsoft.com/office/drawing/2014/main" id="{BC1FB681-13DA-4189-8697-7DF698C3A8E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14</a:t>
            </a:r>
          </a:p>
        </p:txBody>
      </p:sp>
      <p:graphicFrame>
        <p:nvGraphicFramePr>
          <p:cNvPr id="5" name="">
            <a:extLst xmlns:a="http://schemas.openxmlformats.org/drawingml/2006/main">
              <a:ext uri="{FF2B5EF4-FFF2-40B4-BE49-F238E27FC236}">
                <a16:creationId xmlns:a16="http://schemas.microsoft.com/office/drawing/2014/main" id="{D39B98BB-80A5-478A-8429-6D8DDE10C628}"/>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rPr>
                        <a:t>Held-out mean RMSE (N·m)</a:t>
                      </a:r>
                    </a:p>
                  </a:txBody>
                  <a:tcPr marL="91440" marR="91440" marT="45720" marB="45720">
                    <a:solidFill>
                      <a:srgbClr val="FFFFFF"/>
                    </a:solidFill>
                  </a:tcPr>
                </a:tc>
                <a:tc>
                  <a:txBody>
                    <a:bodyPr/>
                    <a:lstStyle/>
                    <a:p>
                      <a:r>
                        <a:rPr sz="1875" b="1">
                          <a:solidFill>
                            <a:srgbClr val="00796B"/>
                          </a:solidFill>
                        </a:rPr>
                        <a:t>No corrections</a:t>
                      </a:r>
                    </a:p>
                  </a:txBody>
                  <a:tcPr marL="91440" marR="91440" marT="45720" marB="45720">
                    <a:solidFill>
                      <a:srgbClr val="FFFFFF"/>
                    </a:solidFill>
                  </a:tcPr>
                </a:tc>
                <a:tc>
                  <a:txBody>
                    <a:bodyPr/>
                    <a:lstStyle/>
                    <a:p>
                      <a:r>
                        <a:rPr sz="1875" b="1">
                          <a:solidFill>
                            <a:srgbClr val="00796B"/>
                          </a:solidFill>
                        </a:rPr>
                        <a:t>Corrected</a:t>
                      </a:r>
                    </a:p>
                  </a:txBody>
                  <a:tcPr marL="91440" marR="91440" marT="45720" marB="45720">
                    <a:solidFill>
                      <a:srgbClr val="FFFFFF"/>
                    </a:solidFill>
                  </a:tcPr>
                </a:tc>
              </a:tr>
              <a:tr h="825500">
                <a:tc>
                  <a:txBody>
                    <a:bodyPr/>
                    <a:lstStyle/>
                    <a:p>
                      <a:r>
                        <a:rPr sz="1875" b="0">
                          <a:solidFill>
                            <a:srgbClr val="222222"/>
                          </a:solidFill>
                        </a:rPr>
                        <a:t>Flexor, 2 validation tests</a:t>
                      </a:r>
                    </a:p>
                  </a:txBody>
                  <a:tcPr marL="91440" marR="91440" marT="45720" marB="45720">
                    <a:solidFill>
                      <a:srgbClr val="FFFFFF"/>
                    </a:solidFill>
                  </a:tcPr>
                </a:tc>
                <a:tc>
                  <a:txBody>
                    <a:bodyPr/>
                    <a:lstStyle/>
                    <a:p>
                      <a:r>
                        <a:rPr sz="1875" b="0">
                          <a:solidFill>
                            <a:srgbClr val="222222"/>
                          </a:solidFill>
                        </a:rPr>
                        <a:t>7.588</a:t>
                      </a:r>
                    </a:p>
                  </a:txBody>
                  <a:tcPr marL="91440" marR="91440" marT="45720" marB="45720">
                    <a:solidFill>
                      <a:srgbClr val="FFFFFF"/>
                    </a:solidFill>
                  </a:tcPr>
                </a:tc>
                <a:tc>
                  <a:txBody>
                    <a:bodyPr/>
                    <a:lstStyle/>
                    <a:p>
                      <a:r>
                        <a:rPr sz="1875" b="0">
                          <a:solidFill>
                            <a:srgbClr val="222222"/>
                          </a:solidFill>
                        </a:rPr>
                        <a:t>1.490</a:t>
                      </a:r>
                    </a:p>
                  </a:txBody>
                  <a:tcPr marL="91440" marR="91440" marT="45720" marB="45720">
                    <a:solidFill>
                      <a:srgbClr val="FFFFFF"/>
                    </a:solidFill>
                  </a:tcPr>
                </a:tc>
              </a:tr>
              <a:tr h="825500">
                <a:tc>
                  <a:txBody>
                    <a:bodyPr/>
                    <a:lstStyle/>
                    <a:p>
                      <a:r>
                        <a:rPr sz="1875" b="0">
                          <a:solidFill>
                            <a:srgbClr val="222222"/>
                          </a:solidFill>
                        </a:rPr>
                        <a:t>Extensor, 3 validation tests</a:t>
                      </a:r>
                    </a:p>
                  </a:txBody>
                  <a:tcPr marL="91440" marR="91440" marT="45720" marB="45720">
                    <a:solidFill>
                      <a:srgbClr val="FFFFFF"/>
                    </a:solidFill>
                  </a:tcPr>
                </a:tc>
                <a:tc>
                  <a:txBody>
                    <a:bodyPr/>
                    <a:lstStyle/>
                    <a:p>
                      <a:r>
                        <a:rPr sz="1875" b="0">
                          <a:solidFill>
                            <a:srgbClr val="222222"/>
                          </a:solidFill>
                        </a:rPr>
                        <a:t>2.554</a:t>
                      </a:r>
                    </a:p>
                  </a:txBody>
                  <a:tcPr marL="91440" marR="91440" marT="45720" marB="45720">
                    <a:solidFill>
                      <a:srgbClr val="FFFFFF"/>
                    </a:solidFill>
                  </a:tcPr>
                </a:tc>
                <a:tc>
                  <a:txBody>
                    <a:bodyPr/>
                    <a:lstStyle/>
                    <a:p>
                      <a:r>
                        <a:rPr sz="1875" b="0">
                          <a:solidFill>
                            <a:srgbClr val="222222"/>
                          </a:solidFill>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060868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0C52AA-7A05-409E-97B0-AD38E99BB2E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REASON TO REDESIGN</a:t>
            </a:r>
          </a:p>
        </p:txBody>
      </p:sp>
      <p:sp>
        <p:nvSpPr>
          <p:cNvPr id="2" name="">
            <a:extLst xmlns:a="http://schemas.openxmlformats.org/drawingml/2006/main">
              <a:ext uri="{FF2B5EF4-FFF2-40B4-BE49-F238E27FC236}">
                <a16:creationId xmlns:a16="http://schemas.microsoft.com/office/drawing/2014/main" id="{83030E63-E788-4AF5-9FFC-92CC64E4C223}"/>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19486E49-C258-482B-80D8-F551698DFA0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FlxGrp, panel B</a:t>
            </a:r>
          </a:p>
        </p:txBody>
      </p:sp>
      <p:sp>
        <p:nvSpPr>
          <p:cNvPr id="4" name="">
            <a:extLst xmlns:a="http://schemas.openxmlformats.org/drawingml/2006/main">
              <a:ext uri="{FF2B5EF4-FFF2-40B4-BE49-F238E27FC236}">
                <a16:creationId xmlns:a16="http://schemas.microsoft.com/office/drawing/2014/main" id="{AA72BCEE-267D-4F94-BA9C-B0FEBE0DD2E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15</a:t>
            </a:r>
          </a:p>
        </p:txBody>
      </p:sp>
      <p:pic>
        <p:nvPicPr>
          <p:cNvPr id="5" name="">
            <a:extLst xmlns:a="http://schemas.openxmlformats.org/drawingml/2006/main">
              <a:ext uri="{FF2B5EF4-FFF2-40B4-BE49-F238E27FC236}">
                <a16:creationId xmlns:a16="http://schemas.microsoft.com/office/drawing/2014/main" id="{F73877BF-797A-4A65-A981-6614D50713A6}"/>
              </a:ext>
            </a:extLst>
          </p:cNvPr>
          <p:cNvPicPr>
            <a:picLocks xmlns:a="http://schemas.openxmlformats.org/drawingml/2006/main" noChangeAspect="1"/>
          </p:cNvPicPr>
          <p:nvPr/>
        </p:nvPicPr>
        <p:blipFill>
          <a:blip xmlns:r="http://schemas.openxmlformats.org/officeDocument/2006/relationships" xmlns:a="http://schemas.openxmlformats.org/drawingml/2006/main" r:embed="Raf2faec554bb40cc"/>
          <a:stretch xmlns:a="http://schemas.openxmlformats.org/drawingml/2006/main"/>
        </p:blipFill>
        <p:spPr>
          <a:xfrm xmlns:a="http://schemas.openxmlformats.org/drawingml/2006/main">
            <a:off x="1855862" y="1476375"/>
            <a:ext cx="84802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529D21-FCC1-4279-B3AB-5A3917A8F7A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geometry: one 20 mm actuator</a:t>
            </a:r>
          </a:p>
        </p:txBody>
      </p:sp>
    </p:spTree>
    <p:extLst>
      <p:ext uri="{BB962C8B-B14F-4D97-AF65-F5344CB8AC3E}">
        <p14:creationId xmlns:p14="http://schemas.microsoft.com/office/powerpoint/2010/main" val="194554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BFE9A2-6FC3-4B62-8FB9-E1E48F6D677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GEOMETRY AND HARDWARE</a:t>
            </a:r>
          </a:p>
        </p:txBody>
      </p:sp>
      <p:sp>
        <p:nvSpPr>
          <p:cNvPr id="2" name="">
            <a:extLst xmlns:a="http://schemas.openxmlformats.org/drawingml/2006/main">
              <a:ext uri="{FF2B5EF4-FFF2-40B4-BE49-F238E27FC236}">
                <a16:creationId xmlns:a16="http://schemas.microsoft.com/office/drawing/2014/main" id="{BCCEBD42-3C14-4BE0-AFEF-47F76D6FF7A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CE51F230-3E23-4008-890A-62B124F1AC4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ExtensorRoute_redesigned and cam-extensor hardware photograph</a:t>
            </a:r>
          </a:p>
        </p:txBody>
      </p:sp>
      <p:sp>
        <p:nvSpPr>
          <p:cNvPr id="4" name="">
            <a:extLst xmlns:a="http://schemas.openxmlformats.org/drawingml/2006/main">
              <a:ext uri="{FF2B5EF4-FFF2-40B4-BE49-F238E27FC236}">
                <a16:creationId xmlns:a16="http://schemas.microsoft.com/office/drawing/2014/main" id="{53C7FDDB-E55C-4CBE-8066-7FF253DC71A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16</a:t>
            </a:r>
          </a:p>
        </p:txBody>
      </p:sp>
      <p:pic>
        <p:nvPicPr>
          <p:cNvPr id="5" name="">
            <a:extLst xmlns:a="http://schemas.openxmlformats.org/drawingml/2006/main">
              <a:ext uri="{FF2B5EF4-FFF2-40B4-BE49-F238E27FC236}">
                <a16:creationId xmlns:a16="http://schemas.microsoft.com/office/drawing/2014/main" id="{238BB445-5856-4F6C-A180-BB180194D58E}"/>
              </a:ext>
            </a:extLst>
          </p:cNvPr>
          <p:cNvPicPr>
            <a:picLocks xmlns:a="http://schemas.openxmlformats.org/drawingml/2006/main" noChangeAspect="1"/>
          </p:cNvPicPr>
          <p:nvPr/>
        </p:nvPicPr>
        <p:blipFill>
          <a:blip xmlns:r="http://schemas.openxmlformats.org/officeDocument/2006/relationships" xmlns:a="http://schemas.openxmlformats.org/drawingml/2006/main" r:embed="Rd0fe5fd50e24440a"/>
          <a:stretch xmlns:a="http://schemas.openxmlformats.org/drawingml/2006/main"/>
        </p:blipFill>
        <p:spPr>
          <a:xfrm xmlns:a="http://schemas.openxmlformats.org/drawingml/2006/main">
            <a:off x="1250740" y="1666875"/>
            <a:ext cx="38326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EA328FE-3C2D-44CD-AB7B-16BA0C06D7F7}"/>
              </a:ext>
            </a:extLst>
          </p:cNvPr>
          <p:cNvPicPr>
            <a:picLocks xmlns:a="http://schemas.openxmlformats.org/drawingml/2006/main" noChangeAspect="1"/>
          </p:cNvPicPr>
          <p:nvPr/>
        </p:nvPicPr>
        <p:blipFill>
          <a:blip xmlns:r="http://schemas.openxmlformats.org/officeDocument/2006/relationships" xmlns:a="http://schemas.openxmlformats.org/drawingml/2006/main" r:embed="Rf8b11d8442ba4ff4"/>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FDC2B4C-31AB-4BB9-8ED9-C041E8528400}"/>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Predicted route at −120°</a:t>
            </a:r>
          </a:p>
        </p:txBody>
      </p:sp>
      <p:sp>
        <p:nvSpPr>
          <p:cNvPr id="8" name="">
            <a:extLst xmlns:a="http://schemas.openxmlformats.org/drawingml/2006/main">
              <a:ext uri="{FF2B5EF4-FFF2-40B4-BE49-F238E27FC236}">
                <a16:creationId xmlns:a16="http://schemas.microsoft.com/office/drawing/2014/main" id="{06473EB7-C56B-41E2-848F-6CC5D8495904}"/>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Assembled cam-extensor hardware</a:t>
            </a:r>
          </a:p>
        </p:txBody>
      </p:sp>
    </p:spTree>
    <p:extLst>
      <p:ext uri="{BB962C8B-B14F-4D97-AF65-F5344CB8AC3E}">
        <p14:creationId xmlns:p14="http://schemas.microsoft.com/office/powerpoint/2010/main" val="12826034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7DB9AE-4002-4772-921A-286404567A3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MODEL PREDICTION</a:t>
            </a:r>
          </a:p>
        </p:txBody>
      </p:sp>
      <p:sp>
        <p:nvSpPr>
          <p:cNvPr id="2" name="">
            <a:extLst xmlns:a="http://schemas.openxmlformats.org/drawingml/2006/main">
              <a:ext uri="{FF2B5EF4-FFF2-40B4-BE49-F238E27FC236}">
                <a16:creationId xmlns:a16="http://schemas.microsoft.com/office/drawing/2014/main" id="{9E24FAA9-B4E9-4F43-92EC-1D1E3B8D2860}"/>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F66E576E-2C67-4C27-ADFC-5E7E8E6E59F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D0E4D0BA-FB86-4861-A7B1-B73A2D06B4B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17</a:t>
            </a:r>
          </a:p>
        </p:txBody>
      </p:sp>
      <p:pic>
        <p:nvPicPr>
          <p:cNvPr id="5" name="">
            <a:extLst xmlns:a="http://schemas.openxmlformats.org/drawingml/2006/main">
              <a:ext uri="{FF2B5EF4-FFF2-40B4-BE49-F238E27FC236}">
                <a16:creationId xmlns:a16="http://schemas.microsoft.com/office/drawing/2014/main" id="{7CED4CB2-A161-4957-AA03-84B2DBDE642C}"/>
              </a:ext>
            </a:extLst>
          </p:cNvPr>
          <p:cNvPicPr>
            <a:picLocks xmlns:a="http://schemas.openxmlformats.org/drawingml/2006/main" noChangeAspect="1"/>
          </p:cNvPicPr>
          <p:nvPr/>
        </p:nvPicPr>
        <p:blipFill>
          <a:blip xmlns:r="http://schemas.openxmlformats.org/officeDocument/2006/relationships" xmlns:a="http://schemas.openxmlformats.org/drawingml/2006/main" r:embed="R4c98fc0a97504528"/>
          <a:stretch xmlns:a="http://schemas.openxmlformats.org/drawingml/2006/main"/>
        </p:blipFill>
        <p:spPr>
          <a:xfrm xmlns:a="http://schemas.openxmlformats.org/drawingml/2006/main">
            <a:off x="3201999" y="1476375"/>
            <a:ext cx="578800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47E1BD-A0CF-4357-B4BC-EA1593270B09}"/>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Prediction at 620 kPa; required envelope includes 5% overshoot</a:t>
            </a:r>
          </a:p>
        </p:txBody>
      </p:sp>
    </p:spTree>
    <p:extLst>
      <p:ext uri="{BB962C8B-B14F-4D97-AF65-F5344CB8AC3E}">
        <p14:creationId xmlns:p14="http://schemas.microsoft.com/office/powerpoint/2010/main" val="6719167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48444C-20F8-4F04-A1C5-DE1060E56A0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7FF53885-4B69-44D9-9A2B-A87B0BCC0948}"/>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Nine cam-extensor holds test torque across −119° to +5°</a:t>
            </a:r>
          </a:p>
        </p:txBody>
      </p:sp>
      <p:sp>
        <p:nvSpPr>
          <p:cNvPr id="3" name="">
            <a:extLst xmlns:a="http://schemas.openxmlformats.org/drawingml/2006/main">
              <a:ext uri="{FF2B5EF4-FFF2-40B4-BE49-F238E27FC236}">
                <a16:creationId xmlns:a16="http://schemas.microsoft.com/office/drawing/2014/main" id="{AC163259-413C-46AB-8A8B-FD9BF47EB22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D45506F1-B1C3-41FA-8F00-37ED72DC00E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18</a:t>
            </a:r>
          </a:p>
        </p:txBody>
      </p:sp>
      <p:pic>
        <p:nvPicPr>
          <p:cNvPr id="5" name="">
            <a:extLst xmlns:a="http://schemas.openxmlformats.org/drawingml/2006/main">
              <a:ext uri="{FF2B5EF4-FFF2-40B4-BE49-F238E27FC236}">
                <a16:creationId xmlns:a16="http://schemas.microsoft.com/office/drawing/2014/main" id="{80F6B813-359B-4111-8CAC-6351CDDADAE0}"/>
              </a:ext>
            </a:extLst>
          </p:cNvPr>
          <p:cNvPicPr>
            <a:picLocks xmlns:a="http://schemas.openxmlformats.org/drawingml/2006/main" noChangeAspect="1"/>
          </p:cNvPicPr>
          <p:nvPr/>
        </p:nvPicPr>
        <p:blipFill>
          <a:blip xmlns:r="http://schemas.openxmlformats.org/officeDocument/2006/relationships" xmlns:a="http://schemas.openxmlformats.org/drawingml/2006/main" r:embed="R9ac72e01eced4c87"/>
          <a:stretch xmlns:a="http://schemas.openxmlformats.org/drawingml/2006/main"/>
        </p:blipFill>
        <p:spPr>
          <a:xfrm xmlns:a="http://schemas.openxmlformats.org/drawingml/2006/main">
            <a:off x="3478636" y="1476375"/>
            <a:ext cx="5234728"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4E7E21-0FE6-4CE6-9C6D-BCE19F931EC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Pressure varied between holds</a:t>
            </a:r>
          </a:p>
        </p:txBody>
      </p:sp>
    </p:spTree>
    <p:extLst>
      <p:ext uri="{BB962C8B-B14F-4D97-AF65-F5344CB8AC3E}">
        <p14:creationId xmlns:p14="http://schemas.microsoft.com/office/powerpoint/2010/main" val="804786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378027-30BE-4A98-A743-3DB22E88D1E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D9D5A7D1-16ED-4C08-86A9-3CC0FD4D977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238036DD-AEE1-4BBB-A1B9-BC873AB87F9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MATLAB generator gen_Flx20mm_3panel_20261023.m</a:t>
            </a:r>
          </a:p>
        </p:txBody>
      </p:sp>
      <p:sp>
        <p:nvSpPr>
          <p:cNvPr id="4" name="">
            <a:extLst xmlns:a="http://schemas.openxmlformats.org/drawingml/2006/main">
              <a:ext uri="{FF2B5EF4-FFF2-40B4-BE49-F238E27FC236}">
                <a16:creationId xmlns:a16="http://schemas.microsoft.com/office/drawing/2014/main" id="{C83F2AE9-BA84-49C1-A8F1-DF15812864C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19</a:t>
            </a:r>
          </a:p>
        </p:txBody>
      </p:sp>
      <p:pic>
        <p:nvPicPr>
          <p:cNvPr id="5" name="">
            <a:extLst xmlns:a="http://schemas.openxmlformats.org/drawingml/2006/main">
              <a:ext uri="{FF2B5EF4-FFF2-40B4-BE49-F238E27FC236}">
                <a16:creationId xmlns:a16="http://schemas.microsoft.com/office/drawing/2014/main" id="{A56CF532-7413-4BC4-ACB8-70F8BA0B938F}"/>
              </a:ext>
            </a:extLst>
          </p:cNvPr>
          <p:cNvPicPr>
            <a:picLocks xmlns:a="http://schemas.openxmlformats.org/drawingml/2006/main" noChangeAspect="1"/>
          </p:cNvPicPr>
          <p:nvPr/>
        </p:nvPicPr>
        <p:blipFill>
          <a:blip xmlns:r="http://schemas.openxmlformats.org/officeDocument/2006/relationships" xmlns:a="http://schemas.openxmlformats.org/drawingml/2006/main" r:embed="R546b94da12404058"/>
          <a:stretch xmlns:a="http://schemas.openxmlformats.org/drawingml/2006/main"/>
        </p:blipFill>
        <p:spPr>
          <a:xfrm xmlns:a="http://schemas.openxmlformats.org/drawingml/2006/main">
            <a:off x="3089322" y="1476375"/>
            <a:ext cx="60133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C8B5A02-5EE9-47CE-9251-C13025712F2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15 holds at 226.5–638 kPa; margins +0.42 to +17.0 N·m</a:t>
            </a:r>
          </a:p>
        </p:txBody>
      </p:sp>
    </p:spTree>
    <p:extLst>
      <p:ext uri="{BB962C8B-B14F-4D97-AF65-F5344CB8AC3E}">
        <p14:creationId xmlns:p14="http://schemas.microsoft.com/office/powerpoint/2010/main" val="12967471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595A0C-9136-4E0D-B80D-60024EB71D6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REMAINING UNCERTAINTY</a:t>
            </a:r>
          </a:p>
        </p:txBody>
      </p:sp>
      <p:sp>
        <p:nvSpPr>
          <p:cNvPr id="2" name="">
            <a:extLst xmlns:a="http://schemas.openxmlformats.org/drawingml/2006/main">
              <a:ext uri="{FF2B5EF4-FFF2-40B4-BE49-F238E27FC236}">
                <a16:creationId xmlns:a16="http://schemas.microsoft.com/office/drawing/2014/main" id="{4599FF4D-5809-485D-946E-5AFD6A241C7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33657D95-29EC-49A4-8343-D2666079FDB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BF309F22-1D25-4670-8A30-AE39F692B28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20</a:t>
            </a:r>
          </a:p>
        </p:txBody>
      </p:sp>
      <p:pic>
        <p:nvPicPr>
          <p:cNvPr id="5" name="">
            <a:extLst xmlns:a="http://schemas.openxmlformats.org/drawingml/2006/main">
              <a:ext uri="{FF2B5EF4-FFF2-40B4-BE49-F238E27FC236}">
                <a16:creationId xmlns:a16="http://schemas.microsoft.com/office/drawing/2014/main" id="{668220CF-27C7-41C7-A42D-713A5BFB1B7D}"/>
              </a:ext>
            </a:extLst>
          </p:cNvPr>
          <p:cNvPicPr>
            <a:picLocks xmlns:a="http://schemas.openxmlformats.org/drawingml/2006/main" noChangeAspect="1"/>
          </p:cNvPicPr>
          <p:nvPr/>
        </p:nvPicPr>
        <p:blipFill>
          <a:blip xmlns:r="http://schemas.openxmlformats.org/officeDocument/2006/relationships" xmlns:a="http://schemas.openxmlformats.org/drawingml/2006/main" r:embed="R1aca3733ee1747cf"/>
          <a:stretch xmlns:a="http://schemas.openxmlformats.org/drawingml/2006/main"/>
        </p:blipFill>
        <p:spPr>
          <a:xfrm xmlns:a="http://schemas.openxmlformats.org/drawingml/2006/main">
            <a:off x="3089322" y="1476375"/>
            <a:ext cx="60133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52423BA-7CC5-4182-AA60-8DE56FEF78F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Fixed-pressure curves; variable-pressure measurements</a:t>
            </a:r>
          </a:p>
        </p:txBody>
      </p:sp>
    </p:spTree>
    <p:extLst>
      <p:ext uri="{BB962C8B-B14F-4D97-AF65-F5344CB8AC3E}">
        <p14:creationId xmlns:p14="http://schemas.microsoft.com/office/powerpoint/2010/main" val="54000090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681C9A-8ECD-4DE3-AE3B-0987BBC7075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GAP AND CONTRIBUTION</a:t>
            </a:r>
          </a:p>
        </p:txBody>
      </p:sp>
      <p:sp>
        <p:nvSpPr>
          <p:cNvPr id="2" name="">
            <a:extLst xmlns:a="http://schemas.openxmlformats.org/drawingml/2006/main">
              <a:ext uri="{FF2B5EF4-FFF2-40B4-BE49-F238E27FC236}">
                <a16:creationId xmlns:a16="http://schemas.microsoft.com/office/drawing/2014/main" id="{04E8E6C8-6765-4200-A156-53A537B43D3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39F8DAEA-2238-4EA5-93C0-77E35A2D216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AF7EE324-F29C-4547-AF79-9984B396580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21</a:t>
            </a:r>
          </a:p>
        </p:txBody>
      </p:sp>
      <p:pic>
        <p:nvPicPr>
          <p:cNvPr id="5" name="">
            <a:extLst xmlns:a="http://schemas.openxmlformats.org/drawingml/2006/main">
              <a:ext uri="{FF2B5EF4-FFF2-40B4-BE49-F238E27FC236}">
                <a16:creationId xmlns:a16="http://schemas.microsoft.com/office/drawing/2014/main" id="{10C9979F-446D-4D75-A4F4-BC08BBF7B3B0}"/>
              </a:ext>
            </a:extLst>
          </p:cNvPr>
          <p:cNvPicPr>
            <a:picLocks xmlns:a="http://schemas.openxmlformats.org/drawingml/2006/main" noChangeAspect="1"/>
          </p:cNvPicPr>
          <p:nvPr/>
        </p:nvPicPr>
        <p:blipFill>
          <a:blip xmlns:r="http://schemas.openxmlformats.org/officeDocument/2006/relationships" xmlns:a="http://schemas.openxmlformats.org/drawingml/2006/main" r:embed="R9a31f8cdfca54624"/>
          <a:stretch xmlns:a="http://schemas.openxmlformats.org/drawingml/2006/main"/>
        </p:blipFill>
        <p:spPr>
          <a:xfrm xmlns:a="http://schemas.openxmlformats.org/drawingml/2006/main">
            <a:off x="1774472" y="1476375"/>
            <a:ext cx="8643056" cy="4762500"/>
          </a:xfrm>
          <a:prstGeom xmlns:a="http://schemas.openxmlformats.org/drawingml/2006/main" prst="rect">
            <a:avLst/>
          </a:prstGeom>
        </p:spPr>
      </p:pic>
    </p:spTree>
    <p:extLst>
      <p:ext uri="{BB962C8B-B14F-4D97-AF65-F5344CB8AC3E}">
        <p14:creationId xmlns:p14="http://schemas.microsoft.com/office/powerpoint/2010/main" val="196113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D31F56-FA51-4CB8-AFF0-B43DA8FCB50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USE AND LIMITS</a:t>
            </a:r>
          </a:p>
        </p:txBody>
      </p:sp>
      <p:sp>
        <p:nvSpPr>
          <p:cNvPr id="2" name="">
            <a:extLst xmlns:a="http://schemas.openxmlformats.org/drawingml/2006/main">
              <a:ext uri="{FF2B5EF4-FFF2-40B4-BE49-F238E27FC236}">
                <a16:creationId xmlns:a16="http://schemas.microsoft.com/office/drawing/2014/main" id="{5984BDE2-A332-4682-857E-2F2CC6B0DC6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9BEE1E1C-56F8-45F4-BB42-4316BA48639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BF92F9F7-3037-4D3E-A62C-D24A5325D16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22</a:t>
            </a:r>
          </a:p>
        </p:txBody>
      </p:sp>
      <p:pic>
        <p:nvPicPr>
          <p:cNvPr id="5" name="">
            <a:extLst xmlns:a="http://schemas.openxmlformats.org/drawingml/2006/main">
              <a:ext uri="{FF2B5EF4-FFF2-40B4-BE49-F238E27FC236}">
                <a16:creationId xmlns:a16="http://schemas.microsoft.com/office/drawing/2014/main" id="{F4D20532-7D6B-451C-85A9-4B2AAA6C1CFE}"/>
              </a:ext>
            </a:extLst>
          </p:cNvPr>
          <p:cNvPicPr>
            <a:picLocks xmlns:a="http://schemas.openxmlformats.org/drawingml/2006/main" noChangeAspect="1"/>
          </p:cNvPicPr>
          <p:nvPr/>
        </p:nvPicPr>
        <p:blipFill>
          <a:blip xmlns:r="http://schemas.openxmlformats.org/officeDocument/2006/relationships" xmlns:a="http://schemas.openxmlformats.org/drawingml/2006/main" r:embed="Rd82ce5a3e57843d0"/>
          <a:stretch xmlns:a="http://schemas.openxmlformats.org/drawingml/2006/main"/>
        </p:blipFill>
        <p:spPr>
          <a:xfrm xmlns:a="http://schemas.openxmlformats.org/drawingml/2006/main">
            <a:off x="1346372" y="1476375"/>
            <a:ext cx="94992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D3E2CB-057C-4602-BDEB-A1438D9F1CD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Tagged papers retain their experimental context</a:t>
            </a:r>
          </a:p>
        </p:txBody>
      </p:sp>
    </p:spTree>
    <p:extLst>
      <p:ext uri="{BB962C8B-B14F-4D97-AF65-F5344CB8AC3E}">
        <p14:creationId xmlns:p14="http://schemas.microsoft.com/office/powerpoint/2010/main" val="26106812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ED4095-B924-40CB-97BA-DB2D421C9B6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MOTIVATING LIMITATION</a:t>
            </a:r>
          </a:p>
        </p:txBody>
      </p:sp>
      <p:sp>
        <p:nvSpPr>
          <p:cNvPr id="2" name="">
            <a:extLst xmlns:a="http://schemas.openxmlformats.org/drawingml/2006/main">
              <a:ext uri="{FF2B5EF4-FFF2-40B4-BE49-F238E27FC236}">
                <a16:creationId xmlns:a16="http://schemas.microsoft.com/office/drawing/2014/main" id="{B98F248D-02EA-42CF-9C8E-253F709D533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initial one-RG AnimatLab model produced suspended stepping</a:t>
            </a:r>
          </a:p>
        </p:txBody>
      </p:sp>
      <p:sp>
        <p:nvSpPr>
          <p:cNvPr id="3" name="">
            <a:extLst xmlns:a="http://schemas.openxmlformats.org/drawingml/2006/main">
              <a:ext uri="{FF2B5EF4-FFF2-40B4-BE49-F238E27FC236}">
                <a16:creationId xmlns:a16="http://schemas.microsoft.com/office/drawing/2014/main" id="{9E7BB352-8978-4F47-B5EC-5CE5E8CE9AD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CE816C12-9CBB-4E39-91F4-EB069BAC85E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23</a:t>
            </a:r>
          </a:p>
        </p:txBody>
      </p:sp>
      <p:pic>
        <p:nvPicPr>
          <p:cNvPr id="5" name="">
            <a:extLst xmlns:a="http://schemas.openxmlformats.org/drawingml/2006/main">
              <a:ext uri="{FF2B5EF4-FFF2-40B4-BE49-F238E27FC236}">
                <a16:creationId xmlns:a16="http://schemas.microsoft.com/office/drawing/2014/main" id="{2844C620-A120-4C07-A9BB-ADD2D662E020}"/>
              </a:ext>
            </a:extLst>
          </p:cNvPr>
          <p:cNvPicPr>
            <a:picLocks xmlns:a="http://schemas.openxmlformats.org/drawingml/2006/main" noChangeAspect="1"/>
          </p:cNvPicPr>
          <p:nvPr/>
        </p:nvPicPr>
        <p:blipFill>
          <a:blip xmlns:r="http://schemas.openxmlformats.org/officeDocument/2006/relationships" xmlns:a="http://schemas.openxmlformats.org/drawingml/2006/main" r:embed="R4b274ac05e6846dc"/>
          <a:stretch xmlns:a="http://schemas.openxmlformats.org/drawingml/2006/main"/>
        </p:blipFill>
        <p:spPr>
          <a:xfrm xmlns:a="http://schemas.openxmlformats.org/drawingml/2006/main">
            <a:off x="381000" y="2267769"/>
            <a:ext cx="5572125" cy="29892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14F8DE3-FA19-4FD8-98CB-D8279EA02CC6}"/>
              </a:ext>
            </a:extLst>
          </p:cNvPr>
          <p:cNvPicPr>
            <a:picLocks xmlns:a="http://schemas.openxmlformats.org/drawingml/2006/main" noChangeAspect="1"/>
          </p:cNvPicPr>
          <p:nvPr/>
        </p:nvPicPr>
        <p:blipFill>
          <a:blip xmlns:r="http://schemas.openxmlformats.org/officeDocument/2006/relationships" xmlns:a="http://schemas.openxmlformats.org/drawingml/2006/main" r:embed="R5f603da4c9c542e4"/>
          <a:stretch xmlns:a="http://schemas.openxmlformats.org/drawingml/2006/main"/>
        </p:blipFill>
        <p:spPr>
          <a:xfrm xmlns:a="http://schemas.openxmlformats.org/drawingml/2006/main">
            <a:off x="6592661" y="1666875"/>
            <a:ext cx="4864554"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4CE38E1-8249-4A03-B796-E61D98E7C9CA}"/>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Initial mechanics and controller integration</a:t>
            </a:r>
          </a:p>
        </p:txBody>
      </p:sp>
      <p:sp>
        <p:nvSpPr>
          <p:cNvPr id="8" name="">
            <a:extLst xmlns:a="http://schemas.openxmlformats.org/drawingml/2006/main">
              <a:ext uri="{FF2B5EF4-FFF2-40B4-BE49-F238E27FC236}">
                <a16:creationId xmlns:a16="http://schemas.microsoft.com/office/drawing/2014/main" id="{5891992B-F0F0-4300-AEEB-943F47A83B7D}"/>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Suspended joint motion</a:t>
            </a:r>
          </a:p>
        </p:txBody>
      </p:sp>
    </p:spTree>
    <p:extLst>
      <p:ext uri="{BB962C8B-B14F-4D97-AF65-F5344CB8AC3E}">
        <p14:creationId xmlns:p14="http://schemas.microsoft.com/office/powerpoint/2010/main" val="13236271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090B642-A731-4AB2-906B-ED3314C95C9D}"/>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headEnd type="arrow" w="med" len="med"/>
          </a:ln>
        </p:spPr>
      </p:cxnSp>
      <p:cxnSp>
        <p:nvCxnSpPr>
          <p:cNvPr id="10" name="">
            <a:extLst xmlns:a="http://schemas.openxmlformats.org/drawingml/2006/main">
              <a:ext uri="{FF2B5EF4-FFF2-40B4-BE49-F238E27FC236}">
                <a16:creationId xmlns:a16="http://schemas.microsoft.com/office/drawing/2014/main" id="{3D535336-5754-4782-A001-4C636C423B8B}"/>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headEnd type="arrow" w="med" len="med"/>
          </a:ln>
        </p:spPr>
      </p:cxnSp>
      <p:cxnSp>
        <p:nvCxnSpPr>
          <p:cNvPr id="9" name="">
            <a:extLst xmlns:a="http://schemas.openxmlformats.org/drawingml/2006/main">
              <a:ext uri="{FF2B5EF4-FFF2-40B4-BE49-F238E27FC236}">
                <a16:creationId xmlns:a16="http://schemas.microsoft.com/office/drawing/2014/main" id="{6636FF23-02AA-4CB1-A80B-9B74398E5322}"/>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ln>
        </p:spPr>
      </p:cxnSp>
      <p:sp>
        <p:nvSpPr>
          <p:cNvPr id="14" name="">
            <a:extLst xmlns:a="http://schemas.openxmlformats.org/drawingml/2006/main">
              <a:ext uri="{FF2B5EF4-FFF2-40B4-BE49-F238E27FC236}">
                <a16:creationId xmlns:a16="http://schemas.microsoft.com/office/drawing/2014/main" id="{F8C198E3-5C3C-492C-AF2F-3090AB23DA8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DISTINCT CONTRIBUTION</a:t>
            </a:r>
          </a:p>
        </p:txBody>
      </p:sp>
      <p:sp>
        <p:nvSpPr>
          <p:cNvPr id="2" name="">
            <a:extLst xmlns:a="http://schemas.openxmlformats.org/drawingml/2006/main">
              <a:ext uri="{FF2B5EF4-FFF2-40B4-BE49-F238E27FC236}">
                <a16:creationId xmlns:a16="http://schemas.microsoft.com/office/drawing/2014/main" id="{6178D9A2-DB3C-4403-93DB-547D765C35F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 later extended the controller into interconnected left and right RGs</a:t>
            </a:r>
          </a:p>
        </p:txBody>
      </p:sp>
      <p:sp>
        <p:nvSpPr>
          <p:cNvPr id="3" name="">
            <a:extLst xmlns:a="http://schemas.openxmlformats.org/drawingml/2006/main">
              <a:ext uri="{FF2B5EF4-FFF2-40B4-BE49-F238E27FC236}">
                <a16:creationId xmlns:a16="http://schemas.microsoft.com/office/drawing/2014/main" id="{41F7CF9F-B242-48DE-AF9B-033FC9D5CB3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a:t>
            </a:r>
          </a:p>
        </p:txBody>
      </p:sp>
      <p:sp>
        <p:nvSpPr>
          <p:cNvPr id="4" name="">
            <a:extLst xmlns:a="http://schemas.openxmlformats.org/drawingml/2006/main">
              <a:ext uri="{FF2B5EF4-FFF2-40B4-BE49-F238E27FC236}">
                <a16:creationId xmlns:a16="http://schemas.microsoft.com/office/drawing/2014/main" id="{BCD4DA7D-0F63-42E4-A208-20D7285503E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24</a:t>
            </a:r>
          </a:p>
        </p:txBody>
      </p:sp>
      <p:sp>
        <p:nvSpPr>
          <p:cNvPr id="5" name="">
            <a:extLst xmlns:a="http://schemas.openxmlformats.org/drawingml/2006/main">
              <a:ext uri="{FF2B5EF4-FFF2-40B4-BE49-F238E27FC236}">
                <a16:creationId xmlns:a16="http://schemas.microsoft.com/office/drawing/2014/main" id="{3928B25F-C5DF-4623-9697-F26D437C3E22}"/>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rhythm generator</a:t>
            </a:r>
          </a:p>
        </p:txBody>
      </p:sp>
      <p:sp>
        <p:nvSpPr>
          <p:cNvPr id="6" name="">
            <a:extLst xmlns:a="http://schemas.openxmlformats.org/drawingml/2006/main">
              <a:ext uri="{FF2B5EF4-FFF2-40B4-BE49-F238E27FC236}">
                <a16:creationId xmlns:a16="http://schemas.microsoft.com/office/drawing/2014/main" id="{8FF5D228-C830-417D-B253-D2E1AE0A22CD}"/>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rhythm generator</a:t>
            </a:r>
          </a:p>
        </p:txBody>
      </p:sp>
      <p:sp>
        <p:nvSpPr>
          <p:cNvPr id="7" name="">
            <a:extLst xmlns:a="http://schemas.openxmlformats.org/drawingml/2006/main">
              <a:ext uri="{FF2B5EF4-FFF2-40B4-BE49-F238E27FC236}">
                <a16:creationId xmlns:a16="http://schemas.microsoft.com/office/drawing/2014/main" id="{D0B01553-05D4-4922-9B19-F6864D7DA8A8}"/>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pattern formation</a:t>
            </a:r>
          </a:p>
        </p:txBody>
      </p:sp>
      <p:sp>
        <p:nvSpPr>
          <p:cNvPr id="8" name="">
            <a:extLst xmlns:a="http://schemas.openxmlformats.org/drawingml/2006/main">
              <a:ext uri="{FF2B5EF4-FFF2-40B4-BE49-F238E27FC236}">
                <a16:creationId xmlns:a16="http://schemas.microsoft.com/office/drawing/2014/main" id="{CEE89EE9-EB78-459E-9990-EA4B85D17D41}"/>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pattern formation</a:t>
            </a:r>
          </a:p>
        </p:txBody>
      </p:sp>
      <p:sp>
        <p:nvSpPr>
          <p:cNvPr id="12" name="">
            <a:extLst xmlns:a="http://schemas.openxmlformats.org/drawingml/2006/main">
              <a:ext uri="{FF2B5EF4-FFF2-40B4-BE49-F238E27FC236}">
                <a16:creationId xmlns:a16="http://schemas.microsoft.com/office/drawing/2014/main" id="{304FC527-6A96-423E-AE05-028072A59A92}"/>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Commissural pathways</a:t>
            </a:r>
          </a:p>
        </p:txBody>
      </p:sp>
      <p:sp>
        <p:nvSpPr>
          <p:cNvPr id="13" name="">
            <a:extLst xmlns:a="http://schemas.openxmlformats.org/drawingml/2006/main">
              <a:ext uri="{FF2B5EF4-FFF2-40B4-BE49-F238E27FC236}">
                <a16:creationId xmlns:a16="http://schemas.microsoft.com/office/drawing/2014/main" id="{74DE3FE3-6835-4E7E-8365-268B2990B8F2}"/>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Conceptual architecture; walking remains unverified</a:t>
            </a:r>
          </a:p>
        </p:txBody>
      </p:sp>
    </p:spTree>
    <p:extLst>
      <p:ext uri="{BB962C8B-B14F-4D97-AF65-F5344CB8AC3E}">
        <p14:creationId xmlns:p14="http://schemas.microsoft.com/office/powerpoint/2010/main" val="13110477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4E1E6A-2F46-4B24-88DD-7450672A3BA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TOOL CONTRIBUTION</a:t>
            </a:r>
          </a:p>
        </p:txBody>
      </p:sp>
      <p:sp>
        <p:nvSpPr>
          <p:cNvPr id="2" name="">
            <a:extLst xmlns:a="http://schemas.openxmlformats.org/drawingml/2006/main">
              <a:ext uri="{FF2B5EF4-FFF2-40B4-BE49-F238E27FC236}">
                <a16:creationId xmlns:a16="http://schemas.microsoft.com/office/drawing/2014/main" id="{99F3115B-F9FB-441E-B68E-CC89AAE2D6B6}"/>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6DFBB67F-C7CE-4CFD-83E1-E2D8B7B2837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8D10C658-83CB-4997-B1E3-A3EF8D46945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25</a:t>
            </a:r>
          </a:p>
        </p:txBody>
      </p:sp>
      <p:pic>
        <p:nvPicPr>
          <p:cNvPr id="5" name="">
            <a:extLst xmlns:a="http://schemas.openxmlformats.org/drawingml/2006/main">
              <a:ext uri="{FF2B5EF4-FFF2-40B4-BE49-F238E27FC236}">
                <a16:creationId xmlns:a16="http://schemas.microsoft.com/office/drawing/2014/main" id="{9E4F8A67-D132-4459-9EFE-2CE35D2B854C}"/>
              </a:ext>
            </a:extLst>
          </p:cNvPr>
          <p:cNvPicPr>
            <a:picLocks xmlns:a="http://schemas.openxmlformats.org/drawingml/2006/main" noChangeAspect="1"/>
          </p:cNvPicPr>
          <p:nvPr/>
        </p:nvPicPr>
        <p:blipFill>
          <a:blip xmlns:r="http://schemas.openxmlformats.org/officeDocument/2006/relationships" xmlns:a="http://schemas.openxmlformats.org/drawingml/2006/main" r:embed="R8130a9424e6740a7"/>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D8381F2-9FCB-4677-BA9A-21EA127AA88D}"/>
              </a:ext>
            </a:extLst>
          </p:cNvPr>
          <p:cNvPicPr>
            <a:picLocks xmlns:a="http://schemas.openxmlformats.org/drawingml/2006/main" noChangeAspect="1"/>
          </p:cNvPicPr>
          <p:nvPr/>
        </p:nvPicPr>
        <p:blipFill>
          <a:blip xmlns:r="http://schemas.openxmlformats.org/officeDocument/2006/relationships" xmlns:a="http://schemas.openxmlformats.org/drawingml/2006/main" r:embed="Rc92d9b2763d140f2"/>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C2199F1-5044-4FDA-822D-9A9B25ACE788}"/>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Repaired and audited model coupling</a:t>
            </a:r>
          </a:p>
        </p:txBody>
      </p:sp>
      <p:sp>
        <p:nvSpPr>
          <p:cNvPr id="8" name="">
            <a:extLst xmlns:a="http://schemas.openxmlformats.org/drawingml/2006/main">
              <a:ext uri="{FF2B5EF4-FFF2-40B4-BE49-F238E27FC236}">
                <a16:creationId xmlns:a16="http://schemas.microsoft.com/office/drawing/2014/main" id="{5AA66976-96C5-4162-9427-54C192A05917}"/>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Editable implementations of existing equations</a:t>
            </a:r>
          </a:p>
        </p:txBody>
      </p:sp>
    </p:spTree>
    <p:extLst>
      <p:ext uri="{BB962C8B-B14F-4D97-AF65-F5344CB8AC3E}">
        <p14:creationId xmlns:p14="http://schemas.microsoft.com/office/powerpoint/2010/main" val="11204977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E74AE7-5348-462C-9113-A23F5BCD1BE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REPRESENTATIVE CIRCUIT</a:t>
            </a:r>
          </a:p>
        </p:txBody>
      </p:sp>
      <p:sp>
        <p:nvSpPr>
          <p:cNvPr id="2" name="">
            <a:extLst xmlns:a="http://schemas.openxmlformats.org/drawingml/2006/main">
              <a:ext uri="{FF2B5EF4-FFF2-40B4-BE49-F238E27FC236}">
                <a16:creationId xmlns:a16="http://schemas.microsoft.com/office/drawing/2014/main" id="{E52FBDEB-EFD2-4B30-AF54-4004FC96F2F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07B3C1EE-11AC-4DDB-B23A-253CC07FA84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simulink_reflex_topology</a:t>
            </a:r>
          </a:p>
        </p:txBody>
      </p:sp>
      <p:sp>
        <p:nvSpPr>
          <p:cNvPr id="4" name="">
            <a:extLst xmlns:a="http://schemas.openxmlformats.org/drawingml/2006/main">
              <a:ext uri="{FF2B5EF4-FFF2-40B4-BE49-F238E27FC236}">
                <a16:creationId xmlns:a16="http://schemas.microsoft.com/office/drawing/2014/main" id="{36FB4A84-F976-49D0-9B85-C3FC4895DE8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26</a:t>
            </a:r>
          </a:p>
        </p:txBody>
      </p:sp>
      <p:pic>
        <p:nvPicPr>
          <p:cNvPr id="5" name="">
            <a:extLst xmlns:a="http://schemas.openxmlformats.org/drawingml/2006/main">
              <a:ext uri="{FF2B5EF4-FFF2-40B4-BE49-F238E27FC236}">
                <a16:creationId xmlns:a16="http://schemas.microsoft.com/office/drawing/2014/main" id="{8478C988-7EFD-4A03-A6B4-99A19FDC582C}"/>
              </a:ext>
            </a:extLst>
          </p:cNvPr>
          <p:cNvPicPr>
            <a:picLocks xmlns:a="http://schemas.openxmlformats.org/drawingml/2006/main" noChangeAspect="1"/>
          </p:cNvPicPr>
          <p:nvPr/>
        </p:nvPicPr>
        <p:blipFill>
          <a:blip xmlns:r="http://schemas.openxmlformats.org/officeDocument/2006/relationships" xmlns:a="http://schemas.openxmlformats.org/drawingml/2006/main" r:embed="R9263b89124594300"/>
          <a:stretch xmlns:a="http://schemas.openxmlformats.org/drawingml/2006/main"/>
        </p:blipFill>
        <p:spPr>
          <a:xfrm xmlns:a="http://schemas.openxmlformats.org/drawingml/2006/main">
            <a:off x="3183740" y="1476375"/>
            <a:ext cx="582452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F49F0A-23DB-4615-B827-C8AD96CB19F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Reduced-order demonstration; provisional mechanical parameters</a:t>
            </a:r>
          </a:p>
        </p:txBody>
      </p:sp>
    </p:spTree>
    <p:extLst>
      <p:ext uri="{BB962C8B-B14F-4D97-AF65-F5344CB8AC3E}">
        <p14:creationId xmlns:p14="http://schemas.microsoft.com/office/powerpoint/2010/main" val="20811947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D4E960-A7A8-44D3-BA03-8033775771A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MATCHED VERIFICATION</a:t>
            </a:r>
          </a:p>
        </p:txBody>
      </p:sp>
      <p:sp>
        <p:nvSpPr>
          <p:cNvPr id="2" name="">
            <a:extLst xmlns:a="http://schemas.openxmlformats.org/drawingml/2006/main">
              <a:ext uri="{FF2B5EF4-FFF2-40B4-BE49-F238E27FC236}">
                <a16:creationId xmlns:a16="http://schemas.microsoft.com/office/drawing/2014/main" id="{8D01B911-08E8-4B63-A5B0-B777057F6B32}"/>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CC17CEA4-48CC-41B1-9C43-830759298CC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C0A7A1BE-5D9A-4FB2-B249-E89250D8A88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27</a:t>
            </a:r>
          </a:p>
        </p:txBody>
      </p:sp>
      <p:pic>
        <p:nvPicPr>
          <p:cNvPr id="5" name="">
            <a:extLst xmlns:a="http://schemas.openxmlformats.org/drawingml/2006/main">
              <a:ext uri="{FF2B5EF4-FFF2-40B4-BE49-F238E27FC236}">
                <a16:creationId xmlns:a16="http://schemas.microsoft.com/office/drawing/2014/main" id="{B55BE1C8-B677-432C-B0B4-92D43E419B8A}"/>
              </a:ext>
            </a:extLst>
          </p:cNvPr>
          <p:cNvPicPr>
            <a:picLocks xmlns:a="http://schemas.openxmlformats.org/drawingml/2006/main" noChangeAspect="1"/>
          </p:cNvPicPr>
          <p:nvPr/>
        </p:nvPicPr>
        <p:blipFill>
          <a:blip xmlns:r="http://schemas.openxmlformats.org/officeDocument/2006/relationships" xmlns:a="http://schemas.openxmlformats.org/drawingml/2006/main" r:embed="Ra79107ed1e3f49dc"/>
          <a:stretch xmlns:a="http://schemas.openxmlformats.org/drawingml/2006/main"/>
        </p:blipFill>
        <p:spPr>
          <a:xfrm xmlns:a="http://schemas.openxmlformats.org/drawingml/2006/main">
            <a:off x="3340554" y="1476375"/>
            <a:ext cx="5510893"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4A3130A-6502-462E-9B63-8238202F433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1.000 s periods; trace correlation ≥ 0.99996</a:t>
            </a:r>
          </a:p>
        </p:txBody>
      </p:sp>
    </p:spTree>
    <p:extLst>
      <p:ext uri="{BB962C8B-B14F-4D97-AF65-F5344CB8AC3E}">
        <p14:creationId xmlns:p14="http://schemas.microsoft.com/office/powerpoint/2010/main" val="5745820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241A99-9CB4-4FCF-8914-6C523D46F94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VERIFICATION BOUNDARY</a:t>
            </a:r>
          </a:p>
        </p:txBody>
      </p:sp>
      <p:sp>
        <p:nvSpPr>
          <p:cNvPr id="2" name="">
            <a:extLst xmlns:a="http://schemas.openxmlformats.org/drawingml/2006/main">
              <a:ext uri="{FF2B5EF4-FFF2-40B4-BE49-F238E27FC236}">
                <a16:creationId xmlns:a16="http://schemas.microsoft.com/office/drawing/2014/main" id="{A37A39C9-94EA-4B26-8464-195D328A1380}"/>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DDDE142A-FD89-4963-BBE1-D710B793122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1BB668A7-7DEA-43A1-A842-7868A018454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28</a:t>
            </a:r>
          </a:p>
        </p:txBody>
      </p:sp>
      <p:graphicFrame>
        <p:nvGraphicFramePr>
          <p:cNvPr id="5" name="">
            <a:extLst xmlns:a="http://schemas.openxmlformats.org/drawingml/2006/main">
              <a:ext uri="{FF2B5EF4-FFF2-40B4-BE49-F238E27FC236}">
                <a16:creationId xmlns:a16="http://schemas.microsoft.com/office/drawing/2014/main" id="{DEFB39FE-3548-413C-941F-6C525CC773CD}"/>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rPr>
                        <a:t>Verification level</a:t>
                      </a:r>
                    </a:p>
                  </a:txBody>
                  <a:tcPr marL="91440" marR="91440" marT="45720" marB="45720">
                    <a:solidFill>
                      <a:srgbClr val="FFFFFF"/>
                    </a:solidFill>
                  </a:tcPr>
                </a:tc>
                <a:tc>
                  <a:txBody>
                    <a:bodyPr/>
                    <a:lstStyle/>
                    <a:p>
                      <a:r>
                        <a:rPr sz="1875" b="1">
                          <a:solidFill>
                            <a:srgbClr val="00796B"/>
                          </a:solidFill>
                        </a:rPr>
                        <a:t>Observed result</a:t>
                      </a:r>
                    </a:p>
                  </a:txBody>
                  <a:tcPr marL="91440" marR="91440" marT="45720" marB="45720">
                    <a:solidFill>
                      <a:srgbClr val="FFFFFF"/>
                    </a:solidFill>
                  </a:tcPr>
                </a:tc>
              </a:tr>
              <a:tr h="809625">
                <a:tc>
                  <a:txBody>
                    <a:bodyPr/>
                    <a:lstStyle/>
                    <a:p>
                      <a:r>
                        <a:rPr sz="1875" b="0">
                          <a:solidFill>
                            <a:srgbClr val="222222"/>
                          </a:solidFill>
                        </a:rPr>
                        <a:t>Sensor and command exchange</a:t>
                      </a:r>
                    </a:p>
                  </a:txBody>
                  <a:tcPr marL="91440" marR="91440" marT="45720" marB="45720">
                    <a:solidFill>
                      <a:srgbClr val="FFFFFF"/>
                    </a:solidFill>
                  </a:tcPr>
                </a:tc>
                <a:tc>
                  <a:txBody>
                    <a:bodyPr/>
                    <a:lstStyle/>
                    <a:p>
                      <a:r>
                        <a:rPr sz="1875" b="0">
                          <a:solidFill>
                            <a:srgbClr val="222222"/>
                          </a:solidFill>
                        </a:rPr>
                        <a:t>Bit-exact scored readback</a:t>
                      </a:r>
                    </a:p>
                  </a:txBody>
                  <a:tcPr marL="91440" marR="91440" marT="45720" marB="45720">
                    <a:solidFill>
                      <a:srgbClr val="FFFFFF"/>
                    </a:solidFill>
                  </a:tcPr>
                </a:tc>
              </a:tr>
              <a:tr h="809625">
                <a:tc>
                  <a:txBody>
                    <a:bodyPr/>
                    <a:lstStyle/>
                    <a:p>
                      <a:r>
                        <a:rPr sz="1875" b="0">
                          <a:solidFill>
                            <a:srgbClr val="222222"/>
                          </a:solidFill>
                        </a:rPr>
                        <a:t>92-actuator closed-loop run</a:t>
                      </a:r>
                    </a:p>
                  </a:txBody>
                  <a:tcPr marL="91440" marR="91440" marT="45720" marB="45720">
                    <a:solidFill>
                      <a:srgbClr val="FFFFFF"/>
                    </a:solidFill>
                  </a:tcPr>
                </a:tc>
                <a:tc>
                  <a:txBody>
                    <a:bodyPr/>
                    <a:lstStyle/>
                    <a:p>
                      <a:r>
                        <a:rPr sz="1875" b="0">
                          <a:solidFill>
                            <a:srgbClr val="222222"/>
                          </a:solidFill>
                        </a:rPr>
                        <a:t>Signals exchanged for 5 seconds</a:t>
                      </a:r>
                    </a:p>
                  </a:txBody>
                  <a:tcPr marL="91440" marR="91440" marT="45720" marB="45720">
                    <a:solidFill>
                      <a:srgbClr val="FFFFFF"/>
                    </a:solidFill>
                  </a:tcPr>
                </a:tc>
              </a:tr>
              <a:tr h="809625">
                <a:tc>
                  <a:txBody>
                    <a:bodyPr/>
                    <a:lstStyle/>
                    <a:p>
                      <a:r>
                        <a:rPr sz="1875" b="0">
                          <a:solidFill>
                            <a:srgbClr val="222222"/>
                          </a:solidFill>
                        </a:rPr>
                        <a:t>Full network under tonic drive</a:t>
                      </a:r>
                    </a:p>
                  </a:txBody>
                  <a:tcPr marL="91440" marR="91440" marT="45720" marB="45720">
                    <a:solidFill>
                      <a:srgbClr val="FFFFFF"/>
                    </a:solidFill>
                  </a:tcPr>
                </a:tc>
                <a:tc>
                  <a:txBody>
                    <a:bodyPr/>
                    <a:lstStyle/>
                    <a:p>
                      <a:r>
                        <a:rPr sz="1875" b="0">
                          <a:solidFill>
                            <a:srgbClr val="222222"/>
                          </a:solidFill>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C0D98F4-27FD-40DF-9153-42BC22F79866}"/>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Interface correctness and controller equivalence need separate tests</a:t>
            </a:r>
          </a:p>
        </p:txBody>
      </p:sp>
    </p:spTree>
    <p:extLst>
      <p:ext uri="{BB962C8B-B14F-4D97-AF65-F5344CB8AC3E}">
        <p14:creationId xmlns:p14="http://schemas.microsoft.com/office/powerpoint/2010/main" val="15498800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3274E8-17D2-4A1A-9281-23B995A2ADF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CONCLUSIONS</a:t>
            </a:r>
          </a:p>
        </p:txBody>
      </p:sp>
      <p:sp>
        <p:nvSpPr>
          <p:cNvPr id="2" name="">
            <a:extLst xmlns:a="http://schemas.openxmlformats.org/drawingml/2006/main">
              <a:ext uri="{FF2B5EF4-FFF2-40B4-BE49-F238E27FC236}">
                <a16:creationId xmlns:a16="http://schemas.microsoft.com/office/drawing/2014/main" id="{1508C5B8-214E-4CB6-962C-3655F813A08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8660BBD8-10DE-43FB-821B-E452A534EDE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6855EBFD-7CB2-430F-936B-9E678AA93BB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29</a:t>
            </a:r>
          </a:p>
        </p:txBody>
      </p:sp>
      <p:graphicFrame>
        <p:nvGraphicFramePr>
          <p:cNvPr id="5" name="">
            <a:extLst xmlns:a="http://schemas.openxmlformats.org/drawingml/2006/main">
              <a:ext uri="{FF2B5EF4-FFF2-40B4-BE49-F238E27FC236}">
                <a16:creationId xmlns:a16="http://schemas.microsoft.com/office/drawing/2014/main" id="{3602CA8F-849A-401A-9536-C59683B3ED36}"/>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rPr>
                        <a:t>Contribution</a:t>
                      </a:r>
                    </a:p>
                  </a:txBody>
                  <a:tcPr marL="91440" marR="91440" marT="45720" marB="45720">
                    <a:solidFill>
                      <a:srgbClr val="FFFFFF"/>
                    </a:solidFill>
                  </a:tcPr>
                </a:tc>
                <a:tc>
                  <a:txBody>
                    <a:bodyPr/>
                    <a:lstStyle/>
                    <a:p>
                      <a:r>
                        <a:rPr sz="1875" b="1">
                          <a:solidFill>
                            <a:srgbClr val="00796B"/>
                          </a:solidFill>
                        </a:rPr>
                        <a:t>Evidence</a:t>
                      </a:r>
                    </a:p>
                  </a:txBody>
                  <a:tcPr marL="91440" marR="91440" marT="45720" marB="45720">
                    <a:solidFill>
                      <a:srgbClr val="FFFFFF"/>
                    </a:solidFill>
                  </a:tcPr>
                </a:tc>
                <a:tc>
                  <a:txBody>
                    <a:bodyPr/>
                    <a:lstStyle/>
                    <a:p>
                      <a:r>
                        <a:rPr sz="1875" b="1">
                          <a:solidFill>
                            <a:srgbClr val="00796B"/>
                          </a:solidFill>
                        </a:rPr>
                        <a:t>Boundary</a:t>
                      </a:r>
                    </a:p>
                  </a:txBody>
                  <a:tcPr marL="91440" marR="91440" marT="45720" marB="45720">
                    <a:solidFill>
                      <a:srgbClr val="FFFFFF"/>
                    </a:solidFill>
                  </a:tcPr>
                </a:tc>
              </a:tr>
              <a:tr h="781050">
                <a:tc>
                  <a:txBody>
                    <a:bodyPr/>
                    <a:lstStyle/>
                    <a:p>
                      <a:r>
                        <a:rPr sz="1875" b="0">
                          <a:solidFill>
                            <a:srgbClr val="222222"/>
                          </a:solidFill>
                        </a:rPr>
                        <a:t>Actuator force model</a:t>
                      </a:r>
                    </a:p>
                  </a:txBody>
                  <a:tcPr marL="91440" marR="91440" marT="45720" marB="45720">
                    <a:solidFill>
                      <a:srgbClr val="FFFFFF"/>
                    </a:solidFill>
                  </a:tcPr>
                </a:tc>
                <a:tc>
                  <a:txBody>
                    <a:bodyPr/>
                    <a:lstStyle/>
                    <a:p>
                      <a:r>
                        <a:rPr sz="1875" b="0">
                          <a:solidFill>
                            <a:srgbClr val="222222"/>
                          </a:solidFill>
                        </a:rPr>
                        <a:t>Measured force and held-out fits</a:t>
                      </a:r>
                    </a:p>
                  </a:txBody>
                  <a:tcPr marL="91440" marR="91440" marT="45720" marB="45720">
                    <a:solidFill>
                      <a:srgbClr val="FFFFFF"/>
                    </a:solidFill>
                  </a:tcPr>
                </a:tc>
                <a:tc>
                  <a:txBody>
                    <a:bodyPr/>
                    <a:lstStyle/>
                    <a:p>
                      <a:r>
                        <a:rPr sz="1875" b="0">
                          <a:solidFill>
                            <a:srgbClr val="222222"/>
                          </a:solidFill>
                        </a:rPr>
                        <a:t>Static, tested actuator range</a:t>
                      </a:r>
                    </a:p>
                  </a:txBody>
                  <a:tcPr marL="91440" marR="91440" marT="45720" marB="45720">
                    <a:solidFill>
                      <a:srgbClr val="FFFFFF"/>
                    </a:solidFill>
                  </a:tcPr>
                </a:tc>
              </a:tr>
              <a:tr h="781050">
                <a:tc>
                  <a:txBody>
                    <a:bodyPr/>
                    <a:lstStyle/>
                    <a:p>
                      <a:r>
                        <a:rPr sz="1875" b="0">
                          <a:solidFill>
                            <a:srgbClr val="222222"/>
                          </a:solidFill>
                        </a:rPr>
                        <a:t>Joint model and routes</a:t>
                      </a:r>
                    </a:p>
                  </a:txBody>
                  <a:tcPr marL="91440" marR="91440" marT="45720" marB="45720">
                    <a:solidFill>
                      <a:srgbClr val="FFFFFF"/>
                    </a:solidFill>
                  </a:tcPr>
                </a:tc>
                <a:tc>
                  <a:txBody>
                    <a:bodyPr/>
                    <a:lstStyle/>
                    <a:p>
                      <a:r>
                        <a:rPr sz="1875" b="0">
                          <a:solidFill>
                            <a:srgbClr val="222222"/>
                          </a:solidFill>
                        </a:rPr>
                        <a:t>Held-out error and physical holds</a:t>
                      </a:r>
                    </a:p>
                  </a:txBody>
                  <a:tcPr marL="91440" marR="91440" marT="45720" marB="45720">
                    <a:solidFill>
                      <a:srgbClr val="FFFFFF"/>
                    </a:solidFill>
                  </a:tcPr>
                </a:tc>
                <a:tc>
                  <a:txBody>
                    <a:bodyPr/>
                    <a:lstStyle/>
                    <a:p>
                      <a:r>
                        <a:rPr sz="1875" b="0">
                          <a:solidFill>
                            <a:srgbClr val="222222"/>
                          </a:solidFill>
                        </a:rPr>
                        <a:t>Variable pressure; residual mismatch</a:t>
                      </a:r>
                    </a:p>
                  </a:txBody>
                  <a:tcPr marL="91440" marR="91440" marT="45720" marB="45720">
                    <a:solidFill>
                      <a:srgbClr val="FFFFFF"/>
                    </a:solidFill>
                  </a:tcPr>
                </a:tc>
              </a:tr>
              <a:tr h="781050">
                <a:tc>
                  <a:txBody>
                    <a:bodyPr/>
                    <a:lstStyle/>
                    <a:p>
                      <a:r>
                        <a:rPr sz="1875" b="0">
                          <a:solidFill>
                            <a:srgbClr val="222222"/>
                          </a:solidFill>
                        </a:rPr>
                        <a:t>SADb</a:t>
                      </a:r>
                    </a:p>
                  </a:txBody>
                  <a:tcPr marL="91440" marR="91440" marT="45720" marB="45720">
                    <a:solidFill>
                      <a:srgbClr val="FFFFFF"/>
                    </a:solidFill>
                  </a:tcPr>
                </a:tc>
                <a:tc>
                  <a:txBody>
                    <a:bodyPr/>
                    <a:lstStyle/>
                    <a:p>
                      <a:r>
                        <a:rPr sz="1875" b="0">
                          <a:solidFill>
                            <a:srgbClr val="222222"/>
                          </a:solidFill>
                        </a:rPr>
                        <a:t>Inspectable linked records</a:t>
                      </a:r>
                    </a:p>
                  </a:txBody>
                  <a:tcPr marL="91440" marR="91440" marT="45720" marB="45720">
                    <a:solidFill>
                      <a:srgbClr val="FFFFFF"/>
                    </a:solidFill>
                  </a:tcPr>
                </a:tc>
                <a:tc>
                  <a:txBody>
                    <a:bodyPr/>
                    <a:lstStyle/>
                    <a:p>
                      <a:r>
                        <a:rPr sz="1875" b="0">
                          <a:solidFill>
                            <a:srgbClr val="222222"/>
                          </a:solidFill>
                        </a:rPr>
                        <a:t>Uneven source coverage</a:t>
                      </a:r>
                    </a:p>
                  </a:txBody>
                  <a:tcPr marL="91440" marR="91440" marT="45720" marB="45720">
                    <a:solidFill>
                      <a:srgbClr val="FFFFFF"/>
                    </a:solidFill>
                  </a:tcPr>
                </a:tc>
              </a:tr>
              <a:tr h="781050">
                <a:tc>
                  <a:txBody>
                    <a:bodyPr/>
                    <a:lstStyle/>
                    <a:p>
                      <a:r>
                        <a:rPr sz="1875" b="0">
                          <a:solidFill>
                            <a:srgbClr val="222222"/>
                          </a:solidFill>
                        </a:rPr>
                        <a:t>Neural interfaces</a:t>
                      </a:r>
                    </a:p>
                  </a:txBody>
                  <a:tcPr marL="91440" marR="91440" marT="45720" marB="45720">
                    <a:solidFill>
                      <a:srgbClr val="FFFFFF"/>
                    </a:solidFill>
                  </a:tcPr>
                </a:tc>
                <a:tc>
                  <a:txBody>
                    <a:bodyPr/>
                    <a:lstStyle/>
                    <a:p>
                      <a:r>
                        <a:rPr sz="1875" b="0">
                          <a:solidFill>
                            <a:srgbClr val="222222"/>
                          </a:solidFill>
                        </a:rPr>
                        <a:t>Matched tests and signal readback</a:t>
                      </a:r>
                    </a:p>
                  </a:txBody>
                  <a:tcPr marL="91440" marR="91440" marT="45720" marB="45720">
                    <a:solidFill>
                      <a:srgbClr val="FFFFFF"/>
                    </a:solidFill>
                  </a:tcPr>
                </a:tc>
                <a:tc>
                  <a:txBody>
                    <a:bodyPr/>
                    <a:lstStyle/>
                    <a:p>
                      <a:r>
                        <a:rPr sz="1875" b="0">
                          <a:solidFill>
                            <a:srgbClr val="222222"/>
                          </a:solidFill>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0578146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5270C9-2E5D-46E1-813F-5D843CEB8CE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NEXT EXPERIMENTS</a:t>
            </a:r>
          </a:p>
        </p:txBody>
      </p:sp>
      <p:sp>
        <p:nvSpPr>
          <p:cNvPr id="2" name="">
            <a:extLst xmlns:a="http://schemas.openxmlformats.org/drawingml/2006/main">
              <a:ext uri="{FF2B5EF4-FFF2-40B4-BE49-F238E27FC236}">
                <a16:creationId xmlns:a16="http://schemas.microsoft.com/office/drawing/2014/main" id="{1F702C38-64F7-428B-8012-F0E7BF7D0D5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842B4246-9726-4C3C-A27E-B5CCF833754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7; Ch. 6, remaining limits</a:t>
            </a:r>
          </a:p>
        </p:txBody>
      </p:sp>
      <p:sp>
        <p:nvSpPr>
          <p:cNvPr id="4" name="">
            <a:extLst xmlns:a="http://schemas.openxmlformats.org/drawingml/2006/main">
              <a:ext uri="{FF2B5EF4-FFF2-40B4-BE49-F238E27FC236}">
                <a16:creationId xmlns:a16="http://schemas.microsoft.com/office/drawing/2014/main" id="{D2E23240-1E12-4BCD-BE59-0BB9F2F7AFE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30</a:t>
            </a:r>
          </a:p>
        </p:txBody>
      </p:sp>
      <p:pic>
        <p:nvPicPr>
          <p:cNvPr id="5" name="">
            <a:extLst xmlns:a="http://schemas.openxmlformats.org/drawingml/2006/main">
              <a:ext uri="{FF2B5EF4-FFF2-40B4-BE49-F238E27FC236}">
                <a16:creationId xmlns:a16="http://schemas.microsoft.com/office/drawing/2014/main" id="{F6BA69E9-3442-42DF-88FB-2A34B9E9B27F}"/>
              </a:ext>
            </a:extLst>
          </p:cNvPr>
          <p:cNvPicPr>
            <a:picLocks xmlns:a="http://schemas.openxmlformats.org/drawingml/2006/main" noChangeAspect="1"/>
          </p:cNvPicPr>
          <p:nvPr/>
        </p:nvPicPr>
        <p:blipFill>
          <a:blip xmlns:r="http://schemas.openxmlformats.org/officeDocument/2006/relationships" xmlns:a="http://schemas.openxmlformats.org/drawingml/2006/main" r:embed="Ra597d0ed98f04c84"/>
          <a:stretch xmlns:a="http://schemas.openxmlformats.org/drawingml/2006/main"/>
        </p:blipFill>
        <p:spPr>
          <a:xfrm xmlns:a="http://schemas.openxmlformats.org/drawingml/2006/main">
            <a:off x="2788010" y="1476375"/>
            <a:ext cx="661598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BE3D9A-7B4B-4A52-9E50-501AEB8F0BE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Close the measured gaps before transferring control to hardware</a:t>
            </a:r>
          </a:p>
        </p:txBody>
      </p:sp>
    </p:spTree>
    <p:extLst>
      <p:ext uri="{BB962C8B-B14F-4D97-AF65-F5344CB8AC3E}">
        <p14:creationId xmlns:p14="http://schemas.microsoft.com/office/powerpoint/2010/main" val="10502772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6877D1-4ADB-4CE8-83CB-217D00FE37C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ACKNOWLEDGMENTS</a:t>
            </a:r>
          </a:p>
        </p:txBody>
      </p:sp>
      <p:sp>
        <p:nvSpPr>
          <p:cNvPr id="2" name="">
            <a:extLst xmlns:a="http://schemas.openxmlformats.org/drawingml/2006/main">
              <a:ext uri="{FF2B5EF4-FFF2-40B4-BE49-F238E27FC236}">
                <a16:creationId xmlns:a16="http://schemas.microsoft.com/office/drawing/2014/main" id="{6E538940-5628-4774-9493-7D163954BC79}"/>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Questions</a:t>
            </a:r>
          </a:p>
        </p:txBody>
      </p:sp>
      <p:sp>
        <p:nvSpPr>
          <p:cNvPr id="3" name="">
            <a:extLst xmlns:a="http://schemas.openxmlformats.org/drawingml/2006/main">
              <a:ext uri="{FF2B5EF4-FFF2-40B4-BE49-F238E27FC236}">
                <a16:creationId xmlns:a16="http://schemas.microsoft.com/office/drawing/2014/main" id="{57BDD700-26E5-46CE-A9DB-87603C02DBE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BB055777-81C2-4C01-A471-2834CE6A8BB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31</a:t>
            </a:r>
          </a:p>
        </p:txBody>
      </p:sp>
      <p:sp>
        <p:nvSpPr>
          <p:cNvPr id="5" name="">
            <a:extLst xmlns:a="http://schemas.openxmlformats.org/drawingml/2006/main">
              <a:ext uri="{FF2B5EF4-FFF2-40B4-BE49-F238E27FC236}">
                <a16:creationId xmlns:a16="http://schemas.microsoft.com/office/drawing/2014/main" id="{D25F77FE-831D-4830-A287-062835D8B1E6}"/>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defRPr>
            </a:defPPr>
            <a:lvl1pPr>
              <a:defRPr sz="4800" b="1">
                <a:solidFill>
                  <a:srgbClr val="AF7B51"/>
                </a:solidFill>
              </a:defRPr>
            </a:lvl1pPr>
            <a:lvl2pPr>
              <a:defRPr sz="4800" b="1">
                <a:solidFill>
                  <a:srgbClr val="AF7B51"/>
                </a:solidFill>
              </a:defRPr>
            </a:lvl2pPr>
            <a:lvl3pPr>
              <a:defRPr sz="4800" b="1">
                <a:solidFill>
                  <a:srgbClr val="AF7B51"/>
                </a:solidFill>
              </a:defRPr>
            </a:lvl3pPr>
            <a:lvl4pPr>
              <a:defRPr sz="4800" b="1">
                <a:solidFill>
                  <a:srgbClr val="AF7B51"/>
                </a:solidFill>
              </a:defRPr>
            </a:lvl4pPr>
            <a:lvl5pPr>
              <a:defRPr sz="4800" b="1">
                <a:solidFill>
                  <a:srgbClr val="AF7B51"/>
                </a:solidFill>
              </a:defRPr>
            </a:lvl5pPr>
            <a:lvl6pPr>
              <a:defRPr sz="4800" b="1">
                <a:solidFill>
                  <a:srgbClr val="AF7B51"/>
                </a:solidFill>
              </a:defRPr>
            </a:lvl6pPr>
            <a:lvl7pPr>
              <a:defRPr sz="4800" b="1">
                <a:solidFill>
                  <a:srgbClr val="AF7B51"/>
                </a:solidFill>
              </a:defRPr>
            </a:lvl7pPr>
            <a:lvl8pPr>
              <a:defRPr sz="4800" b="1">
                <a:solidFill>
                  <a:srgbClr val="AF7B51"/>
                </a:solidFill>
              </a:defRPr>
            </a:lvl8pPr>
            <a:lvl9pPr>
              <a:defRPr sz="4800" b="1">
                <a:solidFill>
                  <a:srgbClr val="AF7B51"/>
                </a:solidFill>
              </a:defRPr>
            </a:lvl9pPr>
          </a:lstStyle>
          <a:p xmlns:a="http://schemas.openxmlformats.org/drawingml/2006/main">
            <a:pPr>
              <a:defRPr sz="4800" b="1">
                <a:solidFill>
                  <a:srgbClr val="AF7B51"/>
                </a:solidFill>
              </a:defRPr>
            </a:pPr>
            <a:r>
              <a:rPr sz="4800" b="1">
                <a:solidFill>
                  <a:srgbClr val="AF7B51"/>
                </a:solidFill>
              </a:rPr>
              <a:t>Thank you</a:t>
            </a:r>
          </a:p>
        </p:txBody>
      </p:sp>
      <p:sp>
        <p:nvSpPr>
          <p:cNvPr id="6" name="">
            <a:extLst xmlns:a="http://schemas.openxmlformats.org/drawingml/2006/main">
              <a:ext uri="{FF2B5EF4-FFF2-40B4-BE49-F238E27FC236}">
                <a16:creationId xmlns:a16="http://schemas.microsoft.com/office/drawing/2014/main" id="{6A67AC4B-112A-41FC-9E6A-EB38C74F4A5B}"/>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defRPr>
            </a:defPPr>
            <a:lvl1pPr>
              <a:defRPr sz="2250" b="0">
                <a:solidFill>
                  <a:srgbClr val="222222"/>
                </a:solidFill>
              </a:defRPr>
            </a:lvl1pPr>
            <a:lvl2pPr>
              <a:defRPr sz="2250" b="0">
                <a:solidFill>
                  <a:srgbClr val="222222"/>
                </a:solidFill>
              </a:defRPr>
            </a:lvl2pPr>
            <a:lvl3pPr>
              <a:defRPr sz="2250" b="0">
                <a:solidFill>
                  <a:srgbClr val="222222"/>
                </a:solidFill>
              </a:defRPr>
            </a:lvl3pPr>
            <a:lvl4pPr>
              <a:defRPr sz="2250" b="0">
                <a:solidFill>
                  <a:srgbClr val="222222"/>
                </a:solidFill>
              </a:defRPr>
            </a:lvl4pPr>
            <a:lvl5pPr>
              <a:defRPr sz="2250" b="0">
                <a:solidFill>
                  <a:srgbClr val="222222"/>
                </a:solidFill>
              </a:defRPr>
            </a:lvl5pPr>
            <a:lvl6pPr>
              <a:defRPr sz="2250" b="0">
                <a:solidFill>
                  <a:srgbClr val="222222"/>
                </a:solidFill>
              </a:defRPr>
            </a:lvl6pPr>
            <a:lvl7pPr>
              <a:defRPr sz="2250" b="0">
                <a:solidFill>
                  <a:srgbClr val="222222"/>
                </a:solidFill>
              </a:defRPr>
            </a:lvl7pPr>
            <a:lvl8pPr>
              <a:defRPr sz="2250" b="0">
                <a:solidFill>
                  <a:srgbClr val="222222"/>
                </a:solidFill>
              </a:defRPr>
            </a:lvl8pPr>
            <a:lvl9pPr>
              <a:defRPr sz="2250" b="0">
                <a:solidFill>
                  <a:srgbClr val="222222"/>
                </a:solidFill>
              </a:defRPr>
            </a:lvl9pPr>
          </a:lstStyle>
          <a:p xmlns:a="http://schemas.openxmlformats.org/drawingml/2006/main">
            <a:pPr>
              <a:defRPr sz="2250" b="0">
                <a:solidFill>
                  <a:srgbClr val="222222"/>
                </a:solidFill>
              </a:defRPr>
            </a:pPr>
            <a:r>
              <a:rPr sz="2250" b="0">
                <a:solidFill>
                  <a:srgbClr val="222222"/>
                </a:solidFill>
              </a:rPr>
              <a:t>Advisor: M. Anthony Hunt</a:t>
            </a:r>
          </a:p>
          <a:p xmlns:a="http://schemas.openxmlformats.org/drawingml/2006/main">
            <a:pPr>
              <a:defRPr sz="2250" b="0">
                <a:solidFill>
                  <a:srgbClr val="222222"/>
                </a:solidFill>
              </a:defRPr>
            </a:pPr>
            <a:r>
              <a:rPr sz="2250" b="0">
                <a:solidFill>
                  <a:srgbClr val="222222"/>
                </a:solidFill>
              </a:rPr>
              <a:t>Committee, AARL, and research collaborators</a:t>
            </a:r>
          </a:p>
        </p:txBody>
      </p:sp>
    </p:spTree>
    <p:extLst>
      <p:ext uri="{BB962C8B-B14F-4D97-AF65-F5344CB8AC3E}">
        <p14:creationId xmlns:p14="http://schemas.microsoft.com/office/powerpoint/2010/main" val="1651969003"/>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E32455-C035-44A6-A227-E90CDE012B6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ACTUATOR EQUATION</a:t>
            </a:r>
          </a:p>
        </p:txBody>
      </p:sp>
      <p:sp>
        <p:nvSpPr>
          <p:cNvPr id="2" name="">
            <a:extLst xmlns:a="http://schemas.openxmlformats.org/drawingml/2006/main">
              <a:ext uri="{FF2B5EF4-FFF2-40B4-BE49-F238E27FC236}">
                <a16:creationId xmlns:a16="http://schemas.microsoft.com/office/drawing/2014/main" id="{03F3001E-B768-46F4-A518-C559C8E13FB5}"/>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FBA22FC2-26DD-4C94-9A91-55728EB40EB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force equation; Bolen et al. (2026)</a:t>
            </a:r>
          </a:p>
        </p:txBody>
      </p:sp>
      <p:sp>
        <p:nvSpPr>
          <p:cNvPr id="4" name="">
            <a:extLst xmlns:a="http://schemas.openxmlformats.org/drawingml/2006/main">
              <a:ext uri="{FF2B5EF4-FFF2-40B4-BE49-F238E27FC236}">
                <a16:creationId xmlns:a16="http://schemas.microsoft.com/office/drawing/2014/main" id="{B84410FA-07FE-48D7-B53B-C8021206E15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32</a:t>
            </a:r>
          </a:p>
        </p:txBody>
      </p:sp>
      <p:pic>
        <p:nvPicPr>
          <p:cNvPr id="5" name="">
            <a:extLst xmlns:a="http://schemas.openxmlformats.org/drawingml/2006/main">
              <a:ext uri="{FF2B5EF4-FFF2-40B4-BE49-F238E27FC236}">
                <a16:creationId xmlns:a16="http://schemas.microsoft.com/office/drawing/2014/main" id="{ECFBD4A4-63B0-4C26-AC06-A8261390FF09}"/>
              </a:ext>
            </a:extLst>
          </p:cNvPr>
          <p:cNvPicPr>
            <a:picLocks xmlns:a="http://schemas.openxmlformats.org/drawingml/2006/main" noChangeAspect="1"/>
          </p:cNvPicPr>
          <p:nvPr/>
        </p:nvPicPr>
        <p:blipFill>
          <a:blip xmlns:r="http://schemas.openxmlformats.org/officeDocument/2006/relationships" xmlns:a="http://schemas.openxmlformats.org/drawingml/2006/main" r:embed="Rf2f8a1990b7a4249"/>
          <a:stretch xmlns:a="http://schemas.openxmlformats.org/drawingml/2006/main"/>
        </p:blipFill>
        <p:spPr>
          <a:xfrm xmlns:a="http://schemas.openxmlformats.org/drawingml/2006/main">
            <a:off x="428625" y="3224688"/>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CDF5964-5DEE-4DA0-A15D-97ABE29B80D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Separate coefficients apply to each diameter</a:t>
            </a:r>
          </a:p>
        </p:txBody>
      </p:sp>
    </p:spTree>
    <p:extLst>
      <p:ext uri="{BB962C8B-B14F-4D97-AF65-F5344CB8AC3E}">
        <p14:creationId xmlns:p14="http://schemas.microsoft.com/office/powerpoint/2010/main" val="1474179687"/>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EC9AEB-5503-44C4-B62C-46B21AE3A6C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TRANSFER TO BIOMIMETIC KNEE</a:t>
            </a:r>
          </a:p>
        </p:txBody>
      </p:sp>
      <p:sp>
        <p:nvSpPr>
          <p:cNvPr id="2" name="">
            <a:extLst xmlns:a="http://schemas.openxmlformats.org/drawingml/2006/main">
              <a:ext uri="{FF2B5EF4-FFF2-40B4-BE49-F238E27FC236}">
                <a16:creationId xmlns:a16="http://schemas.microsoft.com/office/drawing/2014/main" id="{89728A1F-AB5A-4337-A893-04B3AC617738}"/>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1218C846-921F-4840-9F54-C998A9BAFD0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4F53F606-7885-4F27-AD81-37EE3E59422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33</a:t>
            </a:r>
          </a:p>
        </p:txBody>
      </p:sp>
      <p:pic>
        <p:nvPicPr>
          <p:cNvPr id="5" name="">
            <a:extLst xmlns:a="http://schemas.openxmlformats.org/drawingml/2006/main">
              <a:ext uri="{FF2B5EF4-FFF2-40B4-BE49-F238E27FC236}">
                <a16:creationId xmlns:a16="http://schemas.microsoft.com/office/drawing/2014/main" id="{0A571EC0-89DA-45B7-8D7B-6B2AE4D78B19}"/>
              </a:ext>
            </a:extLst>
          </p:cNvPr>
          <p:cNvPicPr>
            <a:picLocks xmlns:a="http://schemas.openxmlformats.org/drawingml/2006/main" noChangeAspect="1"/>
          </p:cNvPicPr>
          <p:nvPr/>
        </p:nvPicPr>
        <p:blipFill>
          <a:blip xmlns:r="http://schemas.openxmlformats.org/officeDocument/2006/relationships" xmlns:a="http://schemas.openxmlformats.org/drawingml/2006/main" r:embed="R769ba44107f949f4"/>
          <a:stretch xmlns:a="http://schemas.openxmlformats.org/drawingml/2006/main"/>
        </p:blipFill>
        <p:spPr>
          <a:xfrm xmlns:a="http://schemas.openxmlformats.org/drawingml/2006/main">
            <a:off x="1549674" y="1476375"/>
            <a:ext cx="909265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AECE20-C96E-4CD2-A58D-F3404D62AE2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10 mm configuration</a:t>
            </a:r>
          </a:p>
        </p:txBody>
      </p:sp>
    </p:spTree>
    <p:extLst>
      <p:ext uri="{BB962C8B-B14F-4D97-AF65-F5344CB8AC3E}">
        <p14:creationId xmlns:p14="http://schemas.microsoft.com/office/powerpoint/2010/main" val="587278125"/>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2D3425-510C-4919-AE30-3921E47FD53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ROUTE EXTENSION</a:t>
            </a:r>
          </a:p>
        </p:txBody>
      </p:sp>
      <p:sp>
        <p:nvSpPr>
          <p:cNvPr id="2" name="">
            <a:extLst xmlns:a="http://schemas.openxmlformats.org/drawingml/2006/main">
              <a:ext uri="{FF2B5EF4-FFF2-40B4-BE49-F238E27FC236}">
                <a16:creationId xmlns:a16="http://schemas.microsoft.com/office/drawing/2014/main" id="{A2E28CB9-F1F6-4484-8C61-97E70A5B8449}"/>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8C9B4CE1-CD07-4943-A4FC-4751B10FD5A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Mono- and Bi-Pulley Tendon Routing</a:t>
            </a:r>
          </a:p>
        </p:txBody>
      </p:sp>
      <p:sp>
        <p:nvSpPr>
          <p:cNvPr id="4" name="">
            <a:extLst xmlns:a="http://schemas.openxmlformats.org/drawingml/2006/main">
              <a:ext uri="{FF2B5EF4-FFF2-40B4-BE49-F238E27FC236}">
                <a16:creationId xmlns:a16="http://schemas.microsoft.com/office/drawing/2014/main" id="{ED1D7833-2A9D-4737-B6FA-36A8576C66A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34</a:t>
            </a:r>
          </a:p>
        </p:txBody>
      </p:sp>
      <p:pic>
        <p:nvPicPr>
          <p:cNvPr id="5" name="">
            <a:extLst xmlns:a="http://schemas.openxmlformats.org/drawingml/2006/main">
              <a:ext uri="{FF2B5EF4-FFF2-40B4-BE49-F238E27FC236}">
                <a16:creationId xmlns:a16="http://schemas.microsoft.com/office/drawing/2014/main" id="{C6584E15-BFA1-4F37-8009-5EA9F8AB1B37}"/>
              </a:ext>
            </a:extLst>
          </p:cNvPr>
          <p:cNvPicPr>
            <a:picLocks xmlns:a="http://schemas.openxmlformats.org/drawingml/2006/main" noChangeAspect="1"/>
          </p:cNvPicPr>
          <p:nvPr/>
        </p:nvPicPr>
        <p:blipFill>
          <a:blip xmlns:r="http://schemas.openxmlformats.org/officeDocument/2006/relationships" xmlns:a="http://schemas.openxmlformats.org/drawingml/2006/main" r:embed="R149dbefed9364499"/>
          <a:stretch xmlns:a="http://schemas.openxmlformats.org/drawingml/2006/main"/>
        </p:blipFill>
        <p:spPr>
          <a:xfrm xmlns:a="http://schemas.openxmlformats.org/drawingml/2006/main">
            <a:off x="3093263" y="1476375"/>
            <a:ext cx="60054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08DF24-CB35-4FA1-8E23-D9EFA5507353}"/>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Model predictions; adjacent joint fixed in biarticular planes</a:t>
            </a:r>
          </a:p>
        </p:txBody>
      </p:sp>
    </p:spTree>
    <p:extLst>
      <p:ext uri="{BB962C8B-B14F-4D97-AF65-F5344CB8AC3E}">
        <p14:creationId xmlns:p14="http://schemas.microsoft.com/office/powerpoint/2010/main" val="366737345"/>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584660-A461-4C33-8414-149603DEA2F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SIMULATION SCOPE</a:t>
            </a:r>
          </a:p>
        </p:txBody>
      </p:sp>
      <p:sp>
        <p:nvSpPr>
          <p:cNvPr id="2" name="">
            <a:extLst xmlns:a="http://schemas.openxmlformats.org/drawingml/2006/main">
              <a:ext uri="{FF2B5EF4-FFF2-40B4-BE49-F238E27FC236}">
                <a16:creationId xmlns:a16="http://schemas.microsoft.com/office/drawing/2014/main" id="{C81B2FD0-26D9-45C1-A8DC-50B3F39CEEC8}"/>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31962898-7D8A-445F-865C-96AFF520231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DF663589-6796-4F19-9474-136F942B8EB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35</a:t>
            </a:r>
          </a:p>
        </p:txBody>
      </p:sp>
      <p:pic>
        <p:nvPicPr>
          <p:cNvPr id="5" name="">
            <a:extLst xmlns:a="http://schemas.openxmlformats.org/drawingml/2006/main">
              <a:ext uri="{FF2B5EF4-FFF2-40B4-BE49-F238E27FC236}">
                <a16:creationId xmlns:a16="http://schemas.microsoft.com/office/drawing/2014/main" id="{0866D416-AF61-4C58-971F-A1CA0EE84B82}"/>
              </a:ext>
            </a:extLst>
          </p:cNvPr>
          <p:cNvPicPr>
            <a:picLocks xmlns:a="http://schemas.openxmlformats.org/drawingml/2006/main" noChangeAspect="1"/>
          </p:cNvPicPr>
          <p:nvPr/>
        </p:nvPicPr>
        <p:blipFill>
          <a:blip xmlns:r="http://schemas.openxmlformats.org/officeDocument/2006/relationships" xmlns:a="http://schemas.openxmlformats.org/drawingml/2006/main" r:embed="R3c305a2c4bf241c6"/>
          <a:stretch xmlns:a="http://schemas.openxmlformats.org/drawingml/2006/main"/>
        </p:blipFill>
        <p:spPr>
          <a:xfrm xmlns:a="http://schemas.openxmlformats.org/drawingml/2006/main">
            <a:off x="3952875" y="1476375"/>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4537EDF-5F9A-4001-9704-301C932EB88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Mechanical support remains</a:t>
            </a:r>
          </a:p>
        </p:txBody>
      </p:sp>
    </p:spTree>
    <p:extLst>
      <p:ext uri="{BB962C8B-B14F-4D97-AF65-F5344CB8AC3E}">
        <p14:creationId xmlns:p14="http://schemas.microsoft.com/office/powerpoint/2010/main" val="606046245"/>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B108F3-C5D6-4262-A1C3-4DF0EAF298B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NEURAL CODING</a:t>
            </a:r>
          </a:p>
        </p:txBody>
      </p:sp>
      <p:sp>
        <p:nvSpPr>
          <p:cNvPr id="2" name="">
            <a:extLst xmlns:a="http://schemas.openxmlformats.org/drawingml/2006/main">
              <a:ext uri="{FF2B5EF4-FFF2-40B4-BE49-F238E27FC236}">
                <a16:creationId xmlns:a16="http://schemas.microsoft.com/office/drawing/2014/main" id="{A7EF44E3-08EE-4DD3-87B1-09777923082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90DA79AB-A514-4FAD-8ED7-935E65DE81A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36B341F0-2166-48FF-AFC0-7DFD1DD716A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36</a:t>
            </a:r>
          </a:p>
        </p:txBody>
      </p:sp>
      <p:pic>
        <p:nvPicPr>
          <p:cNvPr id="5" name="">
            <a:extLst xmlns:a="http://schemas.openxmlformats.org/drawingml/2006/main">
              <a:ext uri="{FF2B5EF4-FFF2-40B4-BE49-F238E27FC236}">
                <a16:creationId xmlns:a16="http://schemas.microsoft.com/office/drawing/2014/main" id="{737B2725-BD7B-4777-8882-3B5DDB9010DA}"/>
              </a:ext>
            </a:extLst>
          </p:cNvPr>
          <p:cNvPicPr>
            <a:picLocks xmlns:a="http://schemas.openxmlformats.org/drawingml/2006/main" noChangeAspect="1"/>
          </p:cNvPicPr>
          <p:nvPr/>
        </p:nvPicPr>
        <p:blipFill>
          <a:blip xmlns:r="http://schemas.openxmlformats.org/officeDocument/2006/relationships" xmlns:a="http://schemas.openxmlformats.org/drawingml/2006/main" r:embed="R8cbc7805ec9a4491"/>
          <a:stretch xmlns:a="http://schemas.openxmlformats.org/drawingml/2006/main"/>
        </p:blipFill>
        <p:spPr>
          <a:xfrm xmlns:a="http://schemas.openxmlformats.org/drawingml/2006/main">
            <a:off x="3004954" y="1476375"/>
            <a:ext cx="618209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C3EF23-A76A-40CF-965A-FB4E0643B78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A matched interface does not ensure matched dynamics</a:t>
            </a:r>
          </a:p>
        </p:txBody>
      </p:sp>
    </p:spTree>
    <p:extLst>
      <p:ext uri="{BB962C8B-B14F-4D97-AF65-F5344CB8AC3E}">
        <p14:creationId xmlns:p14="http://schemas.microsoft.com/office/powerpoint/2010/main" val="94473832"/>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64C892-E526-492F-91CC-E2DB19AE982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TARGET DEFINITION</a:t>
            </a:r>
          </a:p>
        </p:txBody>
      </p:sp>
      <p:sp>
        <p:nvSpPr>
          <p:cNvPr id="2" name="">
            <a:extLst xmlns:a="http://schemas.openxmlformats.org/drawingml/2006/main">
              <a:ext uri="{FF2B5EF4-FFF2-40B4-BE49-F238E27FC236}">
                <a16:creationId xmlns:a16="http://schemas.microsoft.com/office/drawing/2014/main" id="{315DD0FA-5734-413F-A578-8039ADDF084F}"/>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EF5C5639-66FA-44F7-996A-86E04415077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BE59C347-8773-4C0C-81D3-DC9D46DF346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37</a:t>
            </a:r>
          </a:p>
        </p:txBody>
      </p:sp>
      <p:pic>
        <p:nvPicPr>
          <p:cNvPr id="5" name="">
            <a:extLst xmlns:a="http://schemas.openxmlformats.org/drawingml/2006/main">
              <a:ext uri="{FF2B5EF4-FFF2-40B4-BE49-F238E27FC236}">
                <a16:creationId xmlns:a16="http://schemas.microsoft.com/office/drawing/2014/main" id="{EB2A984F-A4F3-4B37-93B2-A23C9940BDD5}"/>
              </a:ext>
            </a:extLst>
          </p:cNvPr>
          <p:cNvPicPr>
            <a:picLocks xmlns:a="http://schemas.openxmlformats.org/drawingml/2006/main" noChangeAspect="1"/>
          </p:cNvPicPr>
          <p:nvPr/>
        </p:nvPicPr>
        <p:blipFill>
          <a:blip xmlns:r="http://schemas.openxmlformats.org/officeDocument/2006/relationships" xmlns:a="http://schemas.openxmlformats.org/drawingml/2006/main" r:embed="Rd5b13f5c534e4b49"/>
          <a:stretch xmlns:a="http://schemas.openxmlformats.org/drawingml/2006/main"/>
        </p:blipFill>
        <p:spPr>
          <a:xfrm xmlns:a="http://schemas.openxmlformats.org/drawingml/2006/main">
            <a:off x="3104113" y="1476375"/>
            <a:ext cx="59837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BBC7EA-898A-4573-85DA-BE8D3A2F53AD}"/>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Biceps femoris short head; maximum isometric model torque</a:t>
            </a:r>
          </a:p>
        </p:txBody>
      </p:sp>
    </p:spTree>
    <p:extLst>
      <p:ext uri="{BB962C8B-B14F-4D97-AF65-F5344CB8AC3E}">
        <p14:creationId xmlns:p14="http://schemas.microsoft.com/office/powerpoint/2010/main" val="162670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2026-10-23T15:53:43.0130000Z</dcterms:created>
  <dcterms:modified xsi:type="dcterms:W3CDTF">2026-10-23T15:53:43.0130000Z</dcterms:modified>
</coreProperties>
</file>