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3547a6d79dd4db8" /><Relationship Type="http://schemas.openxmlformats.org/officeDocument/2006/relationships/extended-properties" Target="/docProps/app.xml" Id="R0f5843d93e54446e" /><Relationship Type="http://schemas.openxmlformats.org/officeDocument/2006/relationships/officeDocument" Target="/ppt/presentation.xml" Id="Rdbc095aa903648ec" /></Relationships>
</file>

<file path=ppt/presentation.xml><?xml version="1.0" encoding="utf-8"?>
<p:presentation xmlns:p="http://schemas.openxmlformats.org/presentationml/2006/main">
  <p:sldMasterIdLst>
    <p:sldMasterId xmlns:r="http://schemas.openxmlformats.org/officeDocument/2006/relationships" id="2147483648" r:id="R9c6c4cd853434c36"/>
  </p:sldMasterIdLst>
  <p:notesMasterIdLst>
    <p:notesMasterId xmlns:r="http://schemas.openxmlformats.org/officeDocument/2006/relationships" r:id="R344330b8e4f942f9"/>
  </p:notesMasterIdLst>
  <p:sldIdLst>
    <p:sldId xmlns:r="http://schemas.openxmlformats.org/officeDocument/2006/relationships" id="256" r:id="R045f6c43947b4fef"/>
    <p:sldId xmlns:r="http://schemas.openxmlformats.org/officeDocument/2006/relationships" id="257" r:id="Rbc818625d906488c"/>
    <p:sldId xmlns:r="http://schemas.openxmlformats.org/officeDocument/2006/relationships" id="258" r:id="R6f1c9f828c194dcf"/>
    <p:sldId xmlns:r="http://schemas.openxmlformats.org/officeDocument/2006/relationships" id="259" r:id="R0da01ef01d5b4b6d"/>
    <p:sldId xmlns:r="http://schemas.openxmlformats.org/officeDocument/2006/relationships" id="260" r:id="Reda929157677414b"/>
    <p:sldId xmlns:r="http://schemas.openxmlformats.org/officeDocument/2006/relationships" id="261" r:id="R933da4f75e2c412c"/>
    <p:sldId xmlns:r="http://schemas.openxmlformats.org/officeDocument/2006/relationships" id="262" r:id="R2db9d508b989465b"/>
    <p:sldId xmlns:r="http://schemas.openxmlformats.org/officeDocument/2006/relationships" id="263" r:id="R2b7ec00a27b1419a"/>
    <p:sldId xmlns:r="http://schemas.openxmlformats.org/officeDocument/2006/relationships" id="264" r:id="R61f83a11ce9c4fa8"/>
    <p:sldId xmlns:r="http://schemas.openxmlformats.org/officeDocument/2006/relationships" id="265" r:id="Raedafdb4060b4c81"/>
    <p:sldId xmlns:r="http://schemas.openxmlformats.org/officeDocument/2006/relationships" id="266" r:id="R4076b5d4a66e4009"/>
    <p:sldId xmlns:r="http://schemas.openxmlformats.org/officeDocument/2006/relationships" id="267" r:id="R9ca42427b9474bf8"/>
    <p:sldId xmlns:r="http://schemas.openxmlformats.org/officeDocument/2006/relationships" id="268" r:id="R3232fc25391449d4"/>
    <p:sldId xmlns:r="http://schemas.openxmlformats.org/officeDocument/2006/relationships" id="269" r:id="R577be300c8f040a2"/>
    <p:sldId xmlns:r="http://schemas.openxmlformats.org/officeDocument/2006/relationships" id="270" r:id="Rc12e4f4ee9c34d5c"/>
    <p:sldId xmlns:r="http://schemas.openxmlformats.org/officeDocument/2006/relationships" id="271" r:id="R7745754fe32a42fc"/>
    <p:sldId xmlns:r="http://schemas.openxmlformats.org/officeDocument/2006/relationships" id="272" r:id="R59cad82cc2f84e2a"/>
    <p:sldId xmlns:r="http://schemas.openxmlformats.org/officeDocument/2006/relationships" id="273" r:id="R7792a62123f74dfe"/>
    <p:sldId xmlns:r="http://schemas.openxmlformats.org/officeDocument/2006/relationships" id="274" r:id="R6d452ccb593d4c1d"/>
    <p:sldId xmlns:r="http://schemas.openxmlformats.org/officeDocument/2006/relationships" id="275" r:id="R50f2d04c7445468d"/>
    <p:sldId xmlns:r="http://schemas.openxmlformats.org/officeDocument/2006/relationships" id="276" r:id="R88e0ca93ed474ca9"/>
    <p:sldId xmlns:r="http://schemas.openxmlformats.org/officeDocument/2006/relationships" id="277" r:id="R826d2b6095664d19"/>
    <p:sldId xmlns:r="http://schemas.openxmlformats.org/officeDocument/2006/relationships" id="278" r:id="R7068d3304f5742b8"/>
    <p:sldId xmlns:r="http://schemas.openxmlformats.org/officeDocument/2006/relationships" id="279" r:id="R97e77220b59d42d5"/>
    <p:sldId xmlns:r="http://schemas.openxmlformats.org/officeDocument/2006/relationships" id="280" r:id="R3cb3ebfd97944cd2"/>
    <p:sldId xmlns:r="http://schemas.openxmlformats.org/officeDocument/2006/relationships" id="281" r:id="Rbd8ccb6cc1304be7"/>
    <p:sldId xmlns:r="http://schemas.openxmlformats.org/officeDocument/2006/relationships" id="282" r:id="R5395e7f9a0ac465b"/>
    <p:sldId xmlns:r="http://schemas.openxmlformats.org/officeDocument/2006/relationships" id="283" r:id="Rbbdf245928074bdf"/>
    <p:sldId xmlns:r="http://schemas.openxmlformats.org/officeDocument/2006/relationships" id="284" r:id="R6a94746fbae04487"/>
    <p:sldId xmlns:r="http://schemas.openxmlformats.org/officeDocument/2006/relationships" id="285" r:id="R451a6430b13843eb"/>
    <p:sldId xmlns:r="http://schemas.openxmlformats.org/officeDocument/2006/relationships" id="286" r:id="R82b27c778b9a43f4"/>
    <p:sldId xmlns:r="http://schemas.openxmlformats.org/officeDocument/2006/relationships" id="287" r:id="R2f3514f41af74c37"/>
    <p:sldId xmlns:r="http://schemas.openxmlformats.org/officeDocument/2006/relationships" id="288" r:id="Rdd7c80a142b44c4d"/>
    <p:sldId xmlns:r="http://schemas.openxmlformats.org/officeDocument/2006/relationships" id="289" r:id="R43b2f52ce8944879"/>
    <p:sldId xmlns:r="http://schemas.openxmlformats.org/officeDocument/2006/relationships" id="290" r:id="Rf3d681bc25c34df8"/>
    <p:sldId xmlns:r="http://schemas.openxmlformats.org/officeDocument/2006/relationships" id="291" r:id="R3b0553599b5649b7"/>
    <p:sldId xmlns:r="http://schemas.openxmlformats.org/officeDocument/2006/relationships" id="292" r:id="Re78d7fd2b084430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9210dac5da4c2b" /><Relationship Type="http://schemas.openxmlformats.org/officeDocument/2006/relationships/slideMaster" Target="/ppt/slideMasters/slideMaster1.xml" Id="R9c6c4cd853434c36" /><Relationship Type="http://schemas.openxmlformats.org/officeDocument/2006/relationships/notesMaster" Target="/ppt/notesMasters/notesMaster1.xml" Id="R344330b8e4f942f9" /><Relationship Type="http://schemas.openxmlformats.org/officeDocument/2006/relationships/presProps" Target="/ppt/presProps.xml" Id="R2a487d840e17465a" /><Relationship Type="http://schemas.openxmlformats.org/officeDocument/2006/relationships/tableStyles" Target="/ppt/tableStyles.xml" Id="R3311860e05854dbb" /><Relationship Type="http://schemas.openxmlformats.org/officeDocument/2006/relationships/slide" Target="/ppt/slides/slide1.xml" Id="R045f6c43947b4fef" /><Relationship Type="http://schemas.openxmlformats.org/officeDocument/2006/relationships/slide" Target="/ppt/slides/slide2.xml" Id="Rbc818625d906488c" /><Relationship Type="http://schemas.openxmlformats.org/officeDocument/2006/relationships/slide" Target="/ppt/slides/slide3.xml" Id="R6f1c9f828c194dcf" /><Relationship Type="http://schemas.openxmlformats.org/officeDocument/2006/relationships/slide" Target="/ppt/slides/slide4.xml" Id="R0da01ef01d5b4b6d" /><Relationship Type="http://schemas.openxmlformats.org/officeDocument/2006/relationships/slide" Target="/ppt/slides/slide5.xml" Id="Reda929157677414b" /><Relationship Type="http://schemas.openxmlformats.org/officeDocument/2006/relationships/slide" Target="/ppt/slides/slide6.xml" Id="R933da4f75e2c412c" /><Relationship Type="http://schemas.openxmlformats.org/officeDocument/2006/relationships/slide" Target="/ppt/slides/slide7.xml" Id="R2db9d508b989465b" /><Relationship Type="http://schemas.openxmlformats.org/officeDocument/2006/relationships/slide" Target="/ppt/slides/slide8.xml" Id="R2b7ec00a27b1419a" /><Relationship Type="http://schemas.openxmlformats.org/officeDocument/2006/relationships/slide" Target="/ppt/slides/slide9.xml" Id="R61f83a11ce9c4fa8" /><Relationship Type="http://schemas.openxmlformats.org/officeDocument/2006/relationships/slide" Target="/ppt/slides/slide10.xml" Id="Raedafdb4060b4c81" /><Relationship Type="http://schemas.openxmlformats.org/officeDocument/2006/relationships/slide" Target="/ppt/slides/slide11.xml" Id="R4076b5d4a66e4009" /><Relationship Type="http://schemas.openxmlformats.org/officeDocument/2006/relationships/slide" Target="/ppt/slides/slide12.xml" Id="R9ca42427b9474bf8" /><Relationship Type="http://schemas.openxmlformats.org/officeDocument/2006/relationships/slide" Target="/ppt/slides/slide13.xml" Id="R3232fc25391449d4" /><Relationship Type="http://schemas.openxmlformats.org/officeDocument/2006/relationships/slide" Target="/ppt/slides/slide14.xml" Id="R577be300c8f040a2" /><Relationship Type="http://schemas.openxmlformats.org/officeDocument/2006/relationships/slide" Target="/ppt/slides/slide15.xml" Id="Rc12e4f4ee9c34d5c" /><Relationship Type="http://schemas.openxmlformats.org/officeDocument/2006/relationships/slide" Target="/ppt/slides/slide16.xml" Id="R7745754fe32a42fc" /><Relationship Type="http://schemas.openxmlformats.org/officeDocument/2006/relationships/slide" Target="/ppt/slides/slide17.xml" Id="R59cad82cc2f84e2a" /><Relationship Type="http://schemas.openxmlformats.org/officeDocument/2006/relationships/slide" Target="/ppt/slides/slide18.xml" Id="R7792a62123f74dfe" /><Relationship Type="http://schemas.openxmlformats.org/officeDocument/2006/relationships/slide" Target="/ppt/slides/slide19.xml" Id="R6d452ccb593d4c1d" /><Relationship Type="http://schemas.openxmlformats.org/officeDocument/2006/relationships/slide" Target="/ppt/slides/slide20.xml" Id="R50f2d04c7445468d" /><Relationship Type="http://schemas.openxmlformats.org/officeDocument/2006/relationships/slide" Target="/ppt/slides/slide21.xml" Id="R88e0ca93ed474ca9" /><Relationship Type="http://schemas.openxmlformats.org/officeDocument/2006/relationships/slide" Target="/ppt/slides/slide22.xml" Id="R826d2b6095664d19" /><Relationship Type="http://schemas.openxmlformats.org/officeDocument/2006/relationships/slide" Target="/ppt/slides/slide23.xml" Id="R7068d3304f5742b8" /><Relationship Type="http://schemas.openxmlformats.org/officeDocument/2006/relationships/slide" Target="/ppt/slides/slide24.xml" Id="R97e77220b59d42d5" /><Relationship Type="http://schemas.openxmlformats.org/officeDocument/2006/relationships/slide" Target="/ppt/slides/slide25.xml" Id="R3cb3ebfd97944cd2" /><Relationship Type="http://schemas.openxmlformats.org/officeDocument/2006/relationships/slide" Target="/ppt/slides/slide26.xml" Id="Rbd8ccb6cc1304be7" /><Relationship Type="http://schemas.openxmlformats.org/officeDocument/2006/relationships/slide" Target="/ppt/slides/slide27.xml" Id="R5395e7f9a0ac465b" /><Relationship Type="http://schemas.openxmlformats.org/officeDocument/2006/relationships/slide" Target="/ppt/slides/slide28.xml" Id="Rbbdf245928074bdf" /><Relationship Type="http://schemas.openxmlformats.org/officeDocument/2006/relationships/slide" Target="/ppt/slides/slide29.xml" Id="R6a94746fbae04487" /><Relationship Type="http://schemas.openxmlformats.org/officeDocument/2006/relationships/slide" Target="/ppt/slides/slide30.xml" Id="R451a6430b13843eb" /><Relationship Type="http://schemas.openxmlformats.org/officeDocument/2006/relationships/slide" Target="/ppt/slides/slide31.xml" Id="R82b27c778b9a43f4" /><Relationship Type="http://schemas.openxmlformats.org/officeDocument/2006/relationships/slide" Target="/ppt/slides/slide32.xml" Id="R2f3514f41af74c37" /><Relationship Type="http://schemas.openxmlformats.org/officeDocument/2006/relationships/slide" Target="/ppt/slides/slide33.xml" Id="Rdd7c80a142b44c4d" /><Relationship Type="http://schemas.openxmlformats.org/officeDocument/2006/relationships/slide" Target="/ppt/slides/slide34.xml" Id="R43b2f52ce8944879" /><Relationship Type="http://schemas.openxmlformats.org/officeDocument/2006/relationships/slide" Target="/ppt/slides/slide35.xml" Id="Rf3d681bc25c34df8" /><Relationship Type="http://schemas.openxmlformats.org/officeDocument/2006/relationships/slide" Target="/ppt/slides/slide36.xml" Id="R3b0553599b5649b7" /><Relationship Type="http://schemas.openxmlformats.org/officeDocument/2006/relationships/slide" Target="/ppt/slides/slide37.xml" Id="Re78d7fd2b084430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2e8b5cd9ff54dd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3e16d898b8941fb" /><Relationship Type="http://schemas.openxmlformats.org/officeDocument/2006/relationships/notesMaster" Target="/ppt/notesMasters/notesMaster1.xml" Id="Rb8f6a24b8da5461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04b108264dc43d4" /><Relationship Type="http://schemas.openxmlformats.org/officeDocument/2006/relationships/notesMaster" Target="/ppt/notesMasters/notesMaster1.xml" Id="R3a3cc2709c0e4d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bd9b849775684881" /><Relationship Type="http://schemas.openxmlformats.org/officeDocument/2006/relationships/notesMaster" Target="/ppt/notesMasters/notesMaster1.xml" Id="Rbab59da0f7e8441c" /></Relationships>
</file>

<file path=ppt/notesSlides/_rels/notesSlide4.xml.rels>&#65279;<?xml version="1.0" encoding="utf-8"?><Relationships xmlns="http://schemas.openxmlformats.org/package/2006/relationships"><Relationship Type="http://schemas.openxmlformats.org/officeDocument/2006/relationships/slide" Target="/ppt/slides/slide4.xml" Id="R7140faba3a464173" /><Relationship Type="http://schemas.openxmlformats.org/officeDocument/2006/relationships/notesMaster" Target="/ppt/notesMasters/notesMaster1.xml" Id="R39383ff357214e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922e50a7ea45ae" /><Relationship Type="http://schemas.openxmlformats.org/officeDocument/2006/relationships/notesMaster" Target="/ppt/notesMasters/notesMaster1.xml" Id="R5c5c3febfc664668" /></Relationships>
</file>

<file path=ppt/notesSlides/_rels/notesSlide6.xml.rels>&#65279;<?xml version="1.0" encoding="utf-8"?><Relationships xmlns="http://schemas.openxmlformats.org/package/2006/relationships"><Relationship Type="http://schemas.openxmlformats.org/officeDocument/2006/relationships/slide" Target="/ppt/slides/slide6.xml" Id="R426d23722c534fbe" /><Relationship Type="http://schemas.openxmlformats.org/officeDocument/2006/relationships/notesMaster" Target="/ppt/notesMasters/notesMaster1.xml" Id="R188d6c189358444c" /></Relationships>
</file>

<file path=ppt/notesSlides/_rels/notesSlide7.xml.rels>&#65279;<?xml version="1.0" encoding="utf-8"?><Relationships xmlns="http://schemas.openxmlformats.org/package/2006/relationships"><Relationship Type="http://schemas.openxmlformats.org/officeDocument/2006/relationships/slide" Target="/ppt/slides/slide7.xml" Id="R718b69ab0d654e4c" /><Relationship Type="http://schemas.openxmlformats.org/officeDocument/2006/relationships/notesMaster" Target="/ppt/notesMasters/notesMaster1.xml" Id="R575487b1c6cc4bb8" /></Relationships>
</file>

<file path=ppt/notesSlides/_rels/notesSlide8.xml.rels>&#65279;<?xml version="1.0" encoding="utf-8"?><Relationships xmlns="http://schemas.openxmlformats.org/package/2006/relationships"><Relationship Type="http://schemas.openxmlformats.org/officeDocument/2006/relationships/slide" Target="/ppt/slides/slide8.xml" Id="Rdcb6bd6a260746cd" /><Relationship Type="http://schemas.openxmlformats.org/officeDocument/2006/relationships/notesMaster" Target="/ppt/notesMasters/notesMaster1.xml" Id="R456082153baf4b97" /></Relationships>
</file>

<file path=ppt/notesSlides/_rels/notesSlide9.xml.rels>&#65279;<?xml version="1.0" encoding="utf-8"?><Relationships xmlns="http://schemas.openxmlformats.org/package/2006/relationships"><Relationship Type="http://schemas.openxmlformats.org/officeDocument/2006/relationships/slide" Target="/ppt/slides/slide9.xml" Id="R9f0fdbf1fafe433b" /><Relationship Type="http://schemas.openxmlformats.org/officeDocument/2006/relationships/notesMaster" Target="/ppt/notesMasters/notesMaster1.xml" Id="R032973f334bf4f9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a270cea395d4b45" /><Relationship Type="http://schemas.openxmlformats.org/officeDocument/2006/relationships/notesMaster" Target="/ppt/notesMasters/notesMaster1.xml" Id="R75bd79aa1e9e41f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478fcffcef54aa6" /><Relationship Type="http://schemas.openxmlformats.org/officeDocument/2006/relationships/notesMaster" Target="/ppt/notesMasters/notesMaster1.xml" Id="R9b15158c0f174d8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d64482859ca4806" /><Relationship Type="http://schemas.openxmlformats.org/officeDocument/2006/relationships/notesMaster" Target="/ppt/notesMasters/notesMaster1.xml" Id="R61e803eb0720469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78f02b5542f456c" /><Relationship Type="http://schemas.openxmlformats.org/officeDocument/2006/relationships/notesMaster" Target="/ppt/notesMasters/notesMaster1.xml" Id="R29d0004019be4e2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225a640ec4c46c5" /><Relationship Type="http://schemas.openxmlformats.org/officeDocument/2006/relationships/notesMaster" Target="/ppt/notesMasters/notesMaster1.xml" Id="Rd9aafb9f6ca4408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62631a9f47f4ff5" /><Relationship Type="http://schemas.openxmlformats.org/officeDocument/2006/relationships/notesMaster" Target="/ppt/notesMasters/notesMaster1.xml" Id="R296bc2814234476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ae55478651a4d18" /><Relationship Type="http://schemas.openxmlformats.org/officeDocument/2006/relationships/notesMaster" Target="/ppt/notesMasters/notesMaster1.xml" Id="R44cac61e5b714de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ab9a4fa14b0488a" /><Relationship Type="http://schemas.openxmlformats.org/officeDocument/2006/relationships/notesMaster" Target="/ppt/notesMasters/notesMaster1.xml" Id="R6a7aca9e6b724a6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ef9d5e8b7184584" /><Relationship Type="http://schemas.openxmlformats.org/officeDocument/2006/relationships/notesMaster" Target="/ppt/notesMasters/notesMaster1.xml" Id="R19f00ecc28ab40d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e360495fdb34435" /><Relationship Type="http://schemas.openxmlformats.org/officeDocument/2006/relationships/notesMaster" Target="/ppt/notesMasters/notesMaster1.xml" Id="R6b253c0ed768442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fe6bf9db9704bfb" /><Relationship Type="http://schemas.openxmlformats.org/officeDocument/2006/relationships/notesMaster" Target="/ppt/notesMasters/notesMaster1.xml" Id="Rcea85f5c1c5b4af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e2eab2404084388" /><Relationship Type="http://schemas.openxmlformats.org/officeDocument/2006/relationships/notesMaster" Target="/ppt/notesMasters/notesMaster1.xml" Id="Rabf7a056a3284ab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7cf179c7a7141a9" /><Relationship Type="http://schemas.openxmlformats.org/officeDocument/2006/relationships/notesMaster" Target="/ppt/notesMasters/notesMaster1.xml" Id="R946710fdb1784bb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3796f50c5a14fcc" /><Relationship Type="http://schemas.openxmlformats.org/officeDocument/2006/relationships/notesMaster" Target="/ppt/notesMasters/notesMaster1.xml" Id="Re79847ac45a7419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8adce733e0543bf" /><Relationship Type="http://schemas.openxmlformats.org/officeDocument/2006/relationships/notesMaster" Target="/ppt/notesMasters/notesMaster1.xml" Id="Re5e71e3a576248e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db461583b164218" /><Relationship Type="http://schemas.openxmlformats.org/officeDocument/2006/relationships/notesMaster" Target="/ppt/notesMasters/notesMaster1.xml" Id="R6c0ad92cbab94dd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408d1dfb38e4938" /><Relationship Type="http://schemas.openxmlformats.org/officeDocument/2006/relationships/notesMaster" Target="/ppt/notesMasters/notesMaster1.xml" Id="Re14daf4cf5fa4dd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a6285a5c1c64514" /><Relationship Type="http://schemas.openxmlformats.org/officeDocument/2006/relationships/notesMaster" Target="/ppt/notesMasters/notesMaster1.xml" Id="Rcbe1397458b54f4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0d58f3bb80048f2" /><Relationship Type="http://schemas.openxmlformats.org/officeDocument/2006/relationships/notesMaster" Target="/ppt/notesMasters/notesMaster1.xml" Id="R445e5a6eae554b2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90a00f665104c19" /><Relationship Type="http://schemas.openxmlformats.org/officeDocument/2006/relationships/notesMaster" Target="/ppt/notesMasters/notesMaster1.xml" Id="R143cf4c489c043b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1dac9fc6e874e02" /><Relationship Type="http://schemas.openxmlformats.org/officeDocument/2006/relationships/notesMaster" Target="/ppt/notesMasters/notesMaster1.xml" Id="Rcd6c8b67c3c74a2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3491bb520c84844" /><Relationship Type="http://schemas.openxmlformats.org/officeDocument/2006/relationships/notesMaster" Target="/ppt/notesMasters/notesMaster1.xml" Id="Rc651508175c644e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b5edda0312041b6" /><Relationship Type="http://schemas.openxmlformats.org/officeDocument/2006/relationships/notesMaster" Target="/ppt/notesMasters/notesMaster1.xml" Id="R30bfa910ddcc41b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a9d37f5ac254914" /><Relationship Type="http://schemas.openxmlformats.org/officeDocument/2006/relationships/notesMaster" Target="/ppt/notesMasters/notesMaster1.xml" Id="R122049aff5ae404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7d5734b66a44e7c" /><Relationship Type="http://schemas.openxmlformats.org/officeDocument/2006/relationships/notesMaster" Target="/ppt/notesMasters/notesMaster1.xml" Id="R5bd20341718a4e9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4909124e8c14de3" /><Relationship Type="http://schemas.openxmlformats.org/officeDocument/2006/relationships/notesMaster" Target="/ppt/notesMasters/notesMaster1.xml" Id="R761e841d0dfc4e3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b32482c67d5423b" /><Relationship Type="http://schemas.openxmlformats.org/officeDocument/2006/relationships/notesMaster" Target="/ppt/notesMasters/notesMaster1.xml" Id="R1a876bec819b41b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b8dded4a8fc4028" /><Relationship Type="http://schemas.openxmlformats.org/officeDocument/2006/relationships/notesMaster" Target="/ppt/notesMasters/notesMaster1.xml" Id="Rb138b7224450471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30 seconds. This dissertation develops and tests components needed to study a biomimetic robot under neural control. It establishes actuator and joint results and selected simulation capabilities. It does not demonstrate harness-free walking. Advisor: M. Anthony Hunt.</a:t>
            </a:r>
          </a:p>
          <a:p xmlns:a="http://schemas.openxmlformats.org/drawingml/2006/main">
            <a:r>
              <a:t/>
            </a:r>
          </a:p>
          <a:p xmlns:a="http://schemas.openxmlformats.org/drawingml/2006/main">
            <a:r>
              <a:t>Sources: Portland State University · Agile &amp; Adaptive Robotics Laboratory</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Papers\Dissertation\Defense\deck_builder\deck_assets\figs\c_mujoco_converted_robot.png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1 minute. Read the argument in chapter order: predict force across actuator lengths; predict the torque delivered through compliant routes; recover source-grounded sensory evidence; and connect neural circuits to mechanical models with representative verification. These are project-specific gaps, not claims that no related tools exist elsewhere. A research robot is the long-term goal. Each contribution needs its own evidence.</a:t>
            </a:r>
          </a:p>
          <a:p xmlns:a="http://schemas.openxmlformats.org/drawingml/2006/main">
            <a:r>
              <a:t/>
            </a:r>
          </a:p>
          <a:p xmlns:a="http://schemas.openxmlformats.org/drawingml/2006/main">
            <a:r>
              <a:t>Sources: Revision C · Ch. 1, research gaps and objectives</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Credit the AARL body plan, Morrow’s earlier robot and the Li walker mechanics, Steele’s biomimetic knee, and Deng’s published controller. OpenSim supplies human anatomy and targets; MyoConverter supplies initial conversion; MuJoCo supplies physics; SNS-Toolbox supplies neuron and synapse formulations. My contributions include actuator characterization with collaborators, correction identification, route-design and testing work with collaborators, SADb curation and application, model repairs and audits, and graphical circuit/interface implementations. The 92-actuator model is a modeling scope, not a physical robot completed in this dissertation. Ask me to explain the specific change and evidence rather than implying I invented these packages.</a:t>
            </a:r>
          </a:p>
          <a:p xmlns:a="http://schemas.openxmlformats.org/drawingml/2006/main">
            <a:r>
              <a:t/>
            </a:r>
          </a:p>
          <a:p xmlns:a="http://schemas.openxmlformats.org/drawingml/2006/main">
            <a:r>
              <a:t>Sources: Revision C · Ch. 1; Ch. 6, Model Conversion and Actuator Coupling</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Papers\Dissertation\Defense\deck_builder\deck_assets\figs\c_mujoco_converted_robot.png</a:t>
            </a:r>
          </a:p>
          <a:p xmlns:a="http://schemas.openxmlformats.org/drawingml/2006/main">
            <a:r>
              <a:t>D:\Github\Bipedal_Robot\Documentation\Reports and Papers\Dissertation\Notes\advisor_revision_20261022\Revision_C\figs\30-torque\cam_extensor_hardware.jpg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Introduce a braided pneumatic actuator (BPA). Characterization used 10 mm and 20 mm Festo actuators, up to 620 kPa, with 537 force-pressure-contraction observations: 321 for 10 mm and 216 for 20 mm. Resting lengths: 112–518 mm for 10 mm, 300–509 mm for 20 mm. These are isometric measurements. Credit collaborators as coauthors. Valve dynamics and hysteresis are outside this static model.</a:t>
            </a:r>
          </a:p>
          <a:p xmlns:a="http://schemas.openxmlformats.org/drawingml/2006/main">
            <a:r>
              <a:t/>
            </a:r>
          </a:p>
          <a:p xmlns:a="http://schemas.openxmlformats.org/drawingml/2006/main">
            <a:r>
              <a:t>Sources: Bolen, Elzein, Pang, and Hunt (2026), Actuators · Revision C, Ch. 3</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Papers\Dissertation\Defense\deck_builder\deck_assets\figs\testJigs_force.png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These existing MATLAB plots retain the experimental data and model curves. Explain the x-axis as resting length and the y-axis as force at 620 kPa. Filled points are experimental data, the solid line is the new fit, and the dashed manufacturer curve differs most for short actuators. Avoid a universal novelty claim beyond the published scope.</a:t>
            </a:r>
          </a:p>
          <a:p xmlns:a="http://schemas.openxmlformats.org/drawingml/2006/main">
            <a:r>
              <a:t/>
            </a:r>
          </a:p>
          <a:p xmlns:a="http://schemas.openxmlformats.org/drawingml/2006/main">
            <a:r>
              <a:t>Sources: Bolen et al. (2026), Actuators · Revision C, Fig. Fmax_fit</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Papers\Dissertation\Defense\deck_builder\deck_assets\figs\MaxForce10.png</a:t>
            </a:r>
          </a:p>
          <a:p xmlns:a="http://schemas.openxmlformats.org/drawingml/2006/main">
            <a:r>
              <a:t>D:\Github\Bipedal_Robot\Documentation\Reports and Papers\Dissertation\Defense\deck_builder\deck_assets\figs\MaxForce20.png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This is one specific measured case, not an average error or an independent holdout claim. Measured force 350.9 N, new model 335.3 N, manufacturer tool 498.6 N. Errors quoted verbatim from Chapter 3. The chart is a native editable chart reconstructed from the reported numeric values, not digitized from an image.</a:t>
            </a:r>
          </a:p>
          <a:p xmlns:a="http://schemas.openxmlformats.org/drawingml/2006/main">
            <a:r>
              <a:t/>
            </a:r>
          </a:p>
          <a:p xmlns:a="http://schemas.openxmlformats.org/drawingml/2006/main">
            <a:r>
              <a:t>Sources: Revision C · Ch. 3, Effects of Resting Length; 10 mm BPA at 620 kPa</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Define dimensionless force, pressure, and contraction verbally. Each diameter has its own fitted coefficients. The complete 537-point set is not shown in these representative isoclines. The source used an 80/20 training/validation split. A random point split does not establish generalization to every new actuator or dynamic condition. The force model also requires each actuator’s measured maximum contraction.</a:t>
            </a:r>
          </a:p>
          <a:p xmlns:a="http://schemas.openxmlformats.org/drawingml/2006/main">
            <a:r>
              <a:t/>
            </a:r>
          </a:p>
          <a:p xmlns:a="http://schemas.openxmlformats.org/drawingml/2006/main">
            <a:r>
              <a:t>Sources: Bolen et al. (2026), Actuators · Revision C, Fig. GenForceFit</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Papers\Dissertation\Defense\deck_builder\deck_assets\figs\FStar10.png</a:t>
            </a:r>
          </a:p>
          <a:p xmlns:a="http://schemas.openxmlformats.org/drawingml/2006/main">
            <a:r>
              <a:t>D:\Github\Bipedal_Robot\Documentation\Reports and Papers\Dissertation\Defense\deck_builder\deck_assets\figs\FStar20.png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Explain the measured-versus-predicted axes and diagonal. Four matched diameter/length cases compare this model with Sárosi and Martens–Boblan predictions. Scope the assertion to these reported comparisons. Do not imply exhaustive superiority over every BPA model. Complete statistics and coefficients remain in the dissertation. This ends the actuator section: a force prediction still needs a transmission model before it predicts joint torque.</a:t>
            </a:r>
          </a:p>
          <a:p xmlns:a="http://schemas.openxmlformats.org/drawingml/2006/main">
            <a:r>
              <a:t/>
            </a:r>
          </a:p>
          <a:p xmlns:a="http://schemas.openxmlformats.org/drawingml/2006/main">
            <a:r>
              <a:t>Sources: Bolen et al. (2026), Actuators · Revision C, Fig. Comparison and model-comparison table</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Papers\Dissertation\Defense\deck_builder\deck_assets\figs\Comparison.png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 pinned knee supports identifying transmission effects. The biomimetic four-bar knee has a moving instantaneous center, so load-cell forces must be transformed to that center. Separate force characterization, correction identification, route optimization, and physical tests throughout this section. These apparatus views are existing figure components.</a:t>
            </a:r>
          </a:p>
          <a:p xmlns:a="http://schemas.openxmlformats.org/drawingml/2006/main">
            <a:r>
              <a:t/>
            </a:r>
          </a:p>
          <a:p xmlns:a="http://schemas.openxmlformats.org/drawingml/2006/main">
            <a:r>
              <a:t>Sources: Revision C · Ch. 4, test stands; four-bar knee credited to Steele et al.</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Papers\Dissertation\Defense\deck_builder\deck_assets\figs\testJigs_knee.png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 hybrid method substitutes measured actuator length into the characterized force calculation while retaining the joint mechanics. Its closer agreement with measured torque implicates transmission/length assumptions. This is diagnostic evidence, not proof that the force model has zero error. Show where the yellow hybrid points approach the blue measured points while the rigid prediction diverges.</a:t>
            </a:r>
          </a:p>
          <a:p xmlns:a="http://schemas.openxmlformats.org/drawingml/2006/main">
            <a:r>
              <a:t/>
            </a:r>
          </a:p>
          <a:p xmlns:a="http://schemas.openxmlformats.org/drawingml/2006/main">
            <a:r>
              <a:t>Sources: Revision C · Ch. 4, Fig. FlxPin_preopt; hybrid-method description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Papers\Dissertation\Notes\advisor_revision_20261022\Revision_C\figs\30-torque\FlxPin_preopt-eps-converted-to.pdf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Chi0 is a constant length offset. Chi1 and chi2 encode effective system stiffness, lumping brackets, fixtures, and the cable winch; they are not independently measured bracket material properties. Chi3 represents lost active length during wrapping. One stiffness pair serves the adopted flexor and extensor configurations. The flexor identification has a flat stiffness valley, so the fitted pair is not unique. The externally imposed redesign overshoot criterion helped choose the adopted pair.</a:t>
            </a:r>
          </a:p>
          <a:p xmlns:a="http://schemas.openxmlformats.org/drawingml/2006/main">
            <a:r>
              <a:t/>
            </a:r>
          </a:p>
          <a:p xmlns:a="http://schemas.openxmlformats.org/drawingml/2006/main">
            <a:r>
              <a:t>Sources: Revision C · Ch. 4, Improved Torque Model; Appendix C</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Papers\Dissertation\Defense\deck_builder\deck_assets\figs\b_bktframe_pin.png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gamultiobj provides the Pareto fronts for identification. Report adopted-member fold assignments: flexor training 48.5 and 41.0 cm, validation 45.7 and 40.6 cm with tendon. The unused 47.9 cm test is a separate post hoc evaluation with encoder correction. Extensor uses three training and three validation tests; three early tests with bracket shifts are excluded. Row 77 of the flexor front and row 32 of the pair-locked extensor front are the picks of record. Route redesign later uses surrogateopt plus patternsearch, a different optimization task.</a:t>
            </a:r>
          </a:p>
          <a:p xmlns:a="http://schemas.openxmlformats.org/drawingml/2006/main">
            <a:r>
              <a:t/>
            </a:r>
          </a:p>
          <a:p xmlns:a="http://schemas.openxmlformats.org/drawingml/2006/main">
            <a:r>
              <a:t>Sources: Revision C · Ch. 4, Tables FlxPinGof and ExtPinGof; Appendix C</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Both panels are held-out validation tests of the current adopted fold. The adopted full two-bracket model reduces mean RMSE from 8.656 to 1.624 N·m for training and 7.588 to 1.490 N·m for validation. RMSE means root-mean-square error. Figure traces illustrate the pattern; they do not replace per-test statistics. The nominal panel labels 46 cm and 40 cm tendon correspond to actual lengths 45.7 cm and 40.6 cm, as explained by the current caption.</a:t>
            </a:r>
          </a:p>
          <a:p xmlns:a="http://schemas.openxmlformats.org/drawingml/2006/main">
            <a:r>
              <a:t/>
            </a:r>
          </a:p>
          <a:p xmlns:a="http://schemas.openxmlformats.org/drawingml/2006/main">
            <a:r>
              <a:t>Sources: Revision C · Ch. 4, Fig. FlxPin_optimized; Table FlxPinGof</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Papers\Dissertation\Notes\advisor_revision_20261022\Revision_C\figs\30-torque\FlxPin_optimized-eps-converted-to.pdf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Native table uses the exact reported validation means, N·m. Baseline means the characterized BPA model without transmission corrections. This table does not compare the original legacy force model. Flexor n=2 validation tests; extensor n=3. All six used extensor tests improve in RMSE, but the 43.2 cm tendon training test retains fraction of variance unexplained above one. Avoid stating every fit is uniformly good.</a:t>
            </a:r>
          </a:p>
          <a:p xmlns:a="http://schemas.openxmlformats.org/drawingml/2006/main">
            <a:r>
              <a:t/>
            </a:r>
          </a:p>
          <a:p xmlns:a="http://schemas.openxmlformats.org/drawingml/2006/main">
            <a:r>
              <a:t>Sources: Revision C · Ch. 4, Tables FlxPinGof and ExtPinGof</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This is the earlier 41.5 cm single 20 mm actuator configuration, not the later 56.2 cm pair. The maximum-isometric human reference is model-derived, not a person tested on this rig. It falls short at roughly 60–100 degrees of flexion. Lower-pressure points expanded accessible motion because full-pressure loading threatened the printed femur. This motivates route redesign rather than presenting the earlier capacity as the final result.</a:t>
            </a:r>
          </a:p>
          <a:p xmlns:a="http://schemas.openxmlformats.org/drawingml/2006/main">
            <a:r>
              <a:t/>
            </a:r>
          </a:p>
          <a:p xmlns:a="http://schemas.openxmlformats.org/drawingml/2006/main">
            <a:r>
              <a:t>Sources: Revision C · Ch. 4, Fig. FlxGrp, panel B</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Papers\Dissertation\Defense\deck_builder\deck_assets\figs\b_flxgrp_trim.png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Route optimization changes attachment geometry under the adopted correction terms and geometric constraints. Credit Morrow’s collaboration in optimization. The cam extensor design of record uses two 20 mm BPAs. The assembly photograph establishes construction, while subsequent torque measurements establish its tested capacity. The image is a crop of existing panel A at −120 degrees; no geometry is redrawn.</a:t>
            </a:r>
          </a:p>
          <a:p xmlns:a="http://schemas.openxmlformats.org/drawingml/2006/main">
            <a:r>
              <a:t/>
            </a:r>
          </a:p>
          <a:p xmlns:a="http://schemas.openxmlformats.org/drawingml/2006/main">
            <a:r>
              <a:t>Sources: Revision C · Ch. 4, Cam route, panel A; assembled hardware photograph</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Papers\Dissertation\Notes\advisor_revision_20261022\Revision_C\figs\30-torque\extensor_cam_route.pdf</a:t>
            </a:r>
          </a:p>
          <a:p xmlns:a="http://schemas.openxmlformats.org/drawingml/2006/main">
            <a:r>
              <a:t>D:\Github\Bipedal_Robot\Documentation\Reports and Papers\Dissertation\Notes\advisor_revision_20261022\Revision_C\figs\30-torque\cam_extensor_hardware.jpg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 required envelope is the selected vastus-medialis maximum-isometric target plus 5 percent. Minimum predicted margin: +30.83 percent over the required envelope, or +39.77 percent over the plain target. These are model predictions, not measured margins. Pressure needed to meet the required envelope is predicted at 269–507 kPa. This existing MATLAB plot uses the optimized 620 kPa curve. Distinguish it from the variable-pressure holds next.</a:t>
            </a:r>
          </a:p>
          <a:p xmlns:a="http://schemas.openxmlformats.org/drawingml/2006/main">
            <a:r>
              <a:t/>
            </a:r>
          </a:p>
          <a:p xmlns:a="http://schemas.openxmlformats.org/drawingml/2006/main">
            <a:r>
              <a:t>Sources: Revision C · Ch. 4, redesigned-route results; cam result of record, 14 October 2026</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Papers\Dissertation\Notes\advisor_revision_20261022\Revision_C\figs\30-torque\Vas_Pam_20mm_cam_winner_1_r2.png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minutes. Blue measured points, yellow pressure-specific model predictions, pink optimized 620 kPa curve, dotted human target. Marker area indicates pressure. The test set has nine points spanning −119 to +5 degrees. Measurements meet or exceed the human-reference magnitude over most, not all, tested angles. Pressure varies between holds; this does not measure a 620 kPa envelope at every angle. Use the final MATLAB reduction in Revision C, not the earlier paper paragraph that still says the reduction is pending, and never substitute Excel sanity-check cells.</a:t>
            </a:r>
          </a:p>
          <a:p xmlns:a="http://schemas.openxmlformats.org/drawingml/2006/main">
            <a:r>
              <a:t/>
            </a:r>
          </a:p>
          <a:p xmlns:a="http://schemas.openxmlformats.org/drawingml/2006/main">
            <a:r>
              <a:t>Sources: Revision C · Ch. 4, Fig. extensor_physical_final; MATLAB Ext20mm_compare_20261022.png</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Papers\Dissertation\Notes\advisor_revision_20261022\Revision_C\figs\30-torque\extensor_20mm_physical.png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minutes. Final 23 October MATLAB reduction with measured reaction-point geometry. Two 20 mm actuators, resting length 56.2 cm. Fifteen holds from −119 to +5 degrees. Magnitude margins over the model-derived biceps femoris short-head reference range from +0.42 N·m at −105 degrees to +17.0 N·m at −14 degrees. These are discrete isometric points, not a continuous experimentally verified envelope. Recorded pressures span 226.5–638 kPa, including points above the nominal 620 kPa model curve. Model peaks and measured points must not be compared as if pressures were matched. Plot regenerated from the original numeric MATLAB source with unchanged calculation, enlarged labels, and external legend.</a:t>
            </a:r>
          </a:p>
          <a:p xmlns:a="http://schemas.openxmlformats.org/drawingml/2006/main">
            <a:r>
              <a:t/>
            </a:r>
          </a:p>
          <a:p xmlns:a="http://schemas.openxmlformats.org/drawingml/2006/main">
            <a:r>
              <a:t>Sources: Knee-torque study · Fig. Flx20mm; final MATLAB reduction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Papers\Dissertation\Defense\AE_Revision_20261023\build\flexor_defense.m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Rigid prediction peak magnitude 190.3 N·m and corrected prediction 91.9 N·m are at 620 kPa. Measurements use different pressures, so this plot establishes neither a matched-pressure residual nor universal accuracy. The corrections substantially change the design prediction, but remaining mismatch motivates controlled matched-pressure tests and better transmission modeling. Distinguish the demonstrated capacity from validated accuracy of the full predicted curve.</a:t>
            </a:r>
          </a:p>
          <a:p xmlns:a="http://schemas.openxmlformats.org/drawingml/2006/main">
            <a:r>
              <a:t/>
            </a:r>
          </a:p>
          <a:p xmlns:a="http://schemas.openxmlformats.org/drawingml/2006/main">
            <a:r>
              <a:t>Sources: Knee-torque paper · Fig. Flx20mm, panel B; unchanged MATLAB calculation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Papers\Dissertation\Defense\AE_Revision_20261023\build\flexor_defense.m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Gap: controller-design evidence is dispersed across species, preparations, tasks, and papers. I curate linked paper, pathway, model, review, and recorder records and build the read-only browser application. Latest distributed snapshot: 1,393 total records, including 943 papers and 450 other linked records. This is a curated research collection, not a systematic review. Offline embedded data support searching, pivoting, and citation exploration; the separate online-search tab requires connectivity. The existing screenshot illustrates the application, not a benchmark of retrieval accuracy.</a:t>
            </a:r>
          </a:p>
          <a:p xmlns:a="http://schemas.openxmlformats.org/drawingml/2006/main">
            <a:r>
              <a:t/>
            </a:r>
          </a:p>
          <a:p xmlns:a="http://schemas.openxmlformats.org/drawingml/2006/main">
            <a:r>
              <a:t>Sources: Revision C · Ch. 5, The Resource; SADb application snapshot</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Papers\Dissertation\Notes\advisor_revision_20261022\Revision_C\figs\50-database\sadb_clusters_app.png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A pivot cell counts tagged papers, not neurons or independent physiological observations. A paper can appear in more than one cell. Selecting a cell retrieves the underlying records. Afferent classes Ia, Ib, and II denote spindle-primary, tendon-organ, and spindle-secondary channels. Their properties depend on preparation and task. Source conditions, sign, and phase guide interpretation; translating them into robot encoders and gains remains an explicit design and verification step. AI-assisted drafting does not count as scientific curation without source checking. The corpus is uneven and not exhaustively classified.</a:t>
            </a:r>
          </a:p>
          <a:p xmlns:a="http://schemas.openxmlformats.org/drawingml/2006/main">
            <a:r>
              <a:t/>
            </a:r>
          </a:p>
          <a:p xmlns:a="http://schemas.openxmlformats.org/drawingml/2006/main">
            <a:r>
              <a:t>Sources: Revision C · Ch. 5, Fig. sadb_pivot and Use in Neural-Controller Design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Papers\Dissertation\Notes\advisor_revision_20261022\Revision_C\figs\50-database\sadb_pivot_app.png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Morrow and I combined Li’s mechanics with Deng’s two-level controller. The initial controller had ONE rhythm generator controlling both sides and a separate pattern-formation layer. I added a passive toe joint. Suspended alternating activity and stepping-like movement preceded subsequent feedback and bilateral-RG extensions. Hand tuning did not achieve weight-bearing walking. Do not attribute this earlier result to the later two-RG network. The body view and left-joint traces are the historical AnimatLab reference images. The angle units are not explicit in the source capture, so no numeric amplitude is asserted or converted.</a:t>
            </a:r>
          </a:p>
          <a:p xmlns:a="http://schemas.openxmlformats.org/drawingml/2006/main">
            <a:r>
              <a:t/>
            </a:r>
          </a:p>
          <a:p xmlns:a="http://schemas.openxmlformats.org/drawingml/2006/main">
            <a:r>
              <a:t>Sources: Revision C · Ch. 6, The AnimatLab Bipedal Walker; Li (2017), Deng (2019), Bolen (2021)</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Papers\Dissertation\Notes\advisor_revision_20261022\Revision_C\figs\60-sns\AnimatLab_reference\OurWalker.png</a:t>
            </a:r>
          </a:p>
          <a:p xmlns:a="http://schemas.openxmlformats.org/drawingml/2006/main">
            <a:r>
              <a:t>D:\Github\Bipedal_Robot\Documentation\Reports and Papers\Dissertation\Notes\advisor_revision_20261022\Revision_C\figs\60-sns\AnimatLab_reference\jointAngles.PNG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RG means rhythm generator. This editable conceptual schematic summarizes the documented bilateral architecture, not the full connectome. I constructed right-side subsystems from the left organization and connected the two RGs through commissural pathways. No walking result follows from assembly alone. The initial suspended stepping preceded this extension. Published Deng architecture underlies the controller; the bilateral extension is my contribution.</a:t>
            </a:r>
          </a:p>
          <a:p xmlns:a="http://schemas.openxmlformats.org/drawingml/2006/main">
            <a:r>
              <a:t/>
            </a:r>
          </a:p>
          <a:p xmlns:a="http://schemas.openxmlformats.org/drawingml/2006/main">
            <a:r>
              <a:t>Sources: Revision C · Ch. 6, The AnimatLab Bipedal Walker</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OpenSim and MyoConverter supply geometry and initial conversion; MuJoCo supplies physics; SNS-Toolbox supplies conductance-based neural equations. My additions repair and audit custom muscle paths and joint signs, couple the quasi-static BPA-force model, and implement editable Simulink blocks and circuit interfaces. Neural and mechanical models exchange signals every 2 ms. There is no new neuron formulation or demonstrated integrated valve dynamics. Mechanical imports remain distinct from standalone reflex demonstrations. No Hunt/Young library comparison or speed superiority is claimed.</a:t>
            </a:r>
          </a:p>
          <a:p xmlns:a="http://schemas.openxmlformats.org/drawingml/2006/main">
            <a:r>
              <a:t/>
            </a:r>
          </a:p>
          <a:p xmlns:a="http://schemas.openxmlformats.org/drawingml/2006/main">
            <a:r>
              <a:t>Sources: Revision C · Ch. 6, Model Conversion and Graphical Circuit Construction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Papers\Dissertation\Defense\deck_builder\deck_assets\figs\c_mujoco_converted_robot.png</a:t>
            </a:r>
          </a:p>
          <a:p xmlns:a="http://schemas.openxmlformats.org/drawingml/2006/main">
            <a:r>
              <a:t>D:\Github\Bipedal_Robot\Documentation\Reports and Papers\Dissertation\Defense\deck_builder\deck_assets\figs\c_simulink_sns_library_grid.png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Reduced-order antagonist knee model. Ia spindle excitation drives its homonymous motor pool and reciprocal inhibition of the antagonist. Ib tendon-organ input inhibits the homonymous pool in this demonstration. These are chosen circuit rules, not a universal claim about Ib function. Mechanical parameters and generic BPA-block parameters remain provisional. In the separate beverage-arm demonstration, reflex enabled sag was 2.00 degrees versus 7.85 degrees disabled. That reduced model does not establish reflex control of imported full-body mechanisms.</a:t>
            </a:r>
          </a:p>
          <a:p xmlns:a="http://schemas.openxmlformats.org/drawingml/2006/main">
            <a:r>
              <a:t/>
            </a:r>
          </a:p>
          <a:p xmlns:a="http://schemas.openxmlformats.org/drawingml/2006/main">
            <a:r>
              <a:t>Sources: Revision C · Ch. 6, Fig. simulink_reflex_topology</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Papers\Dissertation\Notes\advisor_revision_20261022\Revision_C\figs\60-sns\KneeReflex_circuit.pdf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minutes. The contact-driven W2L rhythm-core test receives matched inputs. Ten expected bursts appear, burst period 1.000 s, full-trace correlation at least 0.99996, with a residual 2 ms lag of one solver step. Removing phasic heel-contact inputs makes both realizations latch. This agreement is scoped to the circuit and protocol. It is neither autonomous oscillation proof nor walking verification. The separate 92-actuator tonic-drive test has a discrepancy and follows next.</a:t>
            </a:r>
          </a:p>
          <a:p xmlns:a="http://schemas.openxmlformats.org/drawingml/2006/main">
            <a:r>
              <a:t/>
            </a:r>
          </a:p>
          <a:p xmlns:a="http://schemas.openxmlformats.org/drawingml/2006/main">
            <a:r>
              <a:t>Sources: Revision C · Ch. 6, Fig. w2l_crossengine; matched NumPy and Simulink protocol</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Papers\Dissertation\Defense\deck_builder\deck_assets\figs\c_sns_w2l_traces.png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 bridge was checked against independent Python integration with single-muscle activation, different control rates, and sensor readback. Readback is bit-exact over the scored window. The exported neural network drove all 92 actuators for 5 seconds. However, tonic drive caused the Simulink realization to settle while the NumPy reference oscillated. Transfer of tuned controller parameters remains unresolved. Do not generalize the rhythm-core agreement to the full network. Hardware deployment and unsupported walking remain future work.</a:t>
            </a:r>
          </a:p>
          <a:p xmlns:a="http://schemas.openxmlformats.org/drawingml/2006/main">
            <a:r>
              <a:t/>
            </a:r>
          </a:p>
          <a:p xmlns:a="http://schemas.openxmlformats.org/drawingml/2006/main">
            <a:r>
              <a:t>Sources: Revision C · Ch. 6, Closed-Loop Model Coupling and capability table</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Return to the four original gaps. Force: supported by characterized lengths and isometric data. Torque: identified corrections improve held-out predictions and redesigned routes have physical tests. Sensory evidence: searchable, linked, partially curated literature resource. Neural tools: matched circuit and interface checks, with explicit full-network discrepancy. Neither static isometric capacity nor supported stepping demonstrates a walking robot. No harness-free walking exists in the program records.</a:t>
            </a:r>
          </a:p>
          <a:p xmlns:a="http://schemas.openxmlformats.org/drawingml/2006/main">
            <a:r>
              <a:t/>
            </a:r>
          </a:p>
          <a:p xmlns:a="http://schemas.openxmlformats.org/drawingml/2006/main">
            <a:r>
              <a:t>Sources: Revision C · Chs. 3–7; final flexor MATLAB reduction, 23 October 2026</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The next experiments address the uncertainty exposed by the results: matched-pressure torque holds over the range, and diagnosing numerical/network differences before transferring tuned control. The dashed hardware path in this existing pipeline is proposed. Do not present a Jetson deployment, completed valve dynamics, or whole-body walking as achieved. Physical pulley tests and simultaneous biarticular verification are future work.</a:t>
            </a:r>
          </a:p>
          <a:p xmlns:a="http://schemas.openxmlformats.org/drawingml/2006/main">
            <a:r>
              <a:t/>
            </a:r>
          </a:p>
          <a:p xmlns:a="http://schemas.openxmlformats.org/drawingml/2006/main">
            <a:r>
              <a:t>Sources: Revision C · Ch. 7; Ch. 6, remaining limits</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Papers\Dissertation\Notes\advisor_revision_20261022\Revision_C\figs\60-sns\pipeline.pdf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the advisor M. Anthony Hunt, the committee, the AARL, and the dissertation collaborators. Recognize M. Elzein, L. Pang, L. Burgess, C. Morrow, J. Scharzenberger, C. Steele, and J. Chung. This slide ends the main presentation. Hidden backup follows.</a:t>
            </a:r>
          </a:p>
          <a:p xmlns:a="http://schemas.openxmlformats.org/drawingml/2006/main">
            <a:r>
              <a:t/>
            </a:r>
          </a:p>
          <a:p xmlns:a="http://schemas.openxmlformats.org/drawingml/2006/main">
            <a:r>
              <a:t>Sources: Ben P. Bolen · Mechanical Engineering · Portland State University</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epsilon as contraction, P as pressure, l0 as resting length. Diameter-specific coefficients enter normalized force and maximum-force scaling. Maximum contraction is measured for each actuator. This model is quasi-static; neither valve dynamics nor hysteresis are included.</a:t>
            </a:r>
          </a:p>
          <a:p xmlns:a="http://schemas.openxmlformats.org/drawingml/2006/main">
            <a:r>
              <a:t/>
            </a:r>
          </a:p>
          <a:p xmlns:a="http://schemas.openxmlformats.org/drawingml/2006/main">
            <a:r>
              <a:t>Sources: Revision C · Ch. 3, force equation; Bolen et al. (2026)</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Papers\Dissertation\Defense\deck_builder\deck_assets\eqs\force.png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earlier 10 mm, 51.8 cm configuration, not the new two-20 mm cam route. Do not mix earlier standalone fits with final shared-pair statistics. Revision C prose retains conflicting earlier 0.8920 RMSE and later adopted-pair 1.17 RMSE descriptions. The latter is explicitly the shared-pair comparison. Resolve the analysis scope before quoting either as a universal final fit.</a:t>
            </a:r>
          </a:p>
          <a:p xmlns:a="http://schemas.openxmlformats.org/drawingml/2006/main">
            <a:r>
              <a:t/>
            </a:r>
          </a:p>
          <a:p xmlns:a="http://schemas.openxmlformats.org/drawingml/2006/main">
            <a:r>
              <a:t>Sources: Revision C · Ch. 4, Fig. Ext10mm_52cm; see adopted shared-pair table for final statistics</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Papers\Dissertation\Defense\deck_builder\deck_assets\figs\b_ext10mm_trim.png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surfaces are optimizer predictions, not physical measurements. Parallel actuator number and tackle line parts alter force/travel tradeoffs. Biarticular evaluation fixes the adjacent joint, so it does not establish simultaneous performance across both joints. Different route objective values are not directly comparable. Ongoing transmission studies are not finished hardware results.</a:t>
            </a:r>
          </a:p>
          <a:p xmlns:a="http://schemas.openxmlformats.org/drawingml/2006/main">
            <a:r>
              <a:t/>
            </a:r>
          </a:p>
          <a:p xmlns:a="http://schemas.openxmlformats.org/drawingml/2006/main">
            <a:r>
              <a:t>Sources: Revision C · Ch. 4, Mono- and Bi-Pulley Tendon Routing</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Papers\Dissertation\Notes\advisor_revision_20261022\Revision_C\figs\30-torque\pulley_margin_resolved.pdf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representative BPA-actuated run, retained-support/air-stepping scope. Neural output drives actuator forces and mechanical signals return to the controller. No harness-free walking. Do not use frozen or NaN runs as walking, and do not infer current tuned performance from a legacy score. Later wean studies reduce tonic drive, not mechanical support.</a:t>
            </a:r>
          </a:p>
          <a:p xmlns:a="http://schemas.openxmlformats.org/drawingml/2006/main">
            <a:r>
              <a:t/>
            </a:r>
          </a:p>
          <a:p xmlns:a="http://schemas.openxmlformats.org/drawingml/2006/main">
            <a:r>
              <a:t>Sources: Revision C · Ch. 6 and Appendix, Simulation Verification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Papers\Dissertation\Defense\deck_builder\deck_assets\figs\c_bpa_nonspiking_joints.png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Representative reduced knee demonstration. Continuous motor activation interface is retained while the neural coding changes. This comparison is specific to selected parameters. It does not establish superiority, biological fidelity, full-network equivalence, or successful parameter transfer. Generic mechanical parameters remain provisional.</a:t>
            </a:r>
          </a:p>
          <a:p xmlns:a="http://schemas.openxmlformats.org/drawingml/2006/main">
            <a:r>
              <a:t/>
            </a:r>
          </a:p>
          <a:p xmlns:a="http://schemas.openxmlformats.org/drawingml/2006/main">
            <a:r>
              <a:t>Sources: Revision C · Appendix, Simulation Verification; knee spiking-twin figure</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Papers\Dissertation\Defense\deck_builder\deck_assets\figs\c_simulink_knee_spiking_twin.png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Maximum-isometric biceps femoris short-head target, negative flexion torque. This is one modeled monoarticular muscle, not total voluntary human knee torque, a patient outcome, or an experimentally measured person. Extensor optimization uses its separately defined selected vastus reference.</a:t>
            </a:r>
          </a:p>
          <a:p xmlns:a="http://schemas.openxmlformats.org/drawingml/2006/main">
            <a:r>
              <a:t/>
            </a:r>
          </a:p>
          <a:p xmlns:a="http://schemas.openxmlformats.org/drawingml/2006/main">
            <a:r>
              <a:t>Sources: Knee-torque paper · Fig. Flx20mm, panel A; OpenSim Gait2392</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Papers\Dissertation\Defense\AE_Revision_20261023\build\flexor_defense.m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cba4d17472543b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913c6c0c60944f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f869a67abad4bc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ad728a86cb748e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9414269c8274d4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48001cb4bdd447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6B8489-A47E-4466-B28C-F76795BD060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F7230B3-97E4-4148-B63D-EFB53F22C44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0AA43A7-9980-4E3B-82A2-F6BF65D47D0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7B9EF4-D2BC-474D-97D8-041B92CCB91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728FC67-3689-4AFC-90A8-4C45ADA47F3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096FFA8-0589-4EB6-A003-D9555F6CDC7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7F37BC5-3F06-4FBE-81E7-F1B85C16282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B0DBA71-0E81-49BA-8C1A-4CC66A1F033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0DD18D-2F77-4CC8-88B6-2E90D3C58B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872032F-DB37-481C-B20B-F8F5B6C0EEB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89dd0fb7ddb4869" /><Relationship Type="http://schemas.openxmlformats.org/officeDocument/2006/relationships/slideLayout" Target="/ppt/slideLayouts/slideLayout1.xml" Id="R6acb22434e55454c" /><Relationship Type="http://schemas.openxmlformats.org/officeDocument/2006/relationships/slideLayout" Target="/ppt/slideLayouts/slideLayout2.xml" Id="Rc273788752fa4955" /><Relationship Type="http://schemas.openxmlformats.org/officeDocument/2006/relationships/slideLayout" Target="/ppt/slideLayouts/slideLayout3.xml" Id="Rd84f882f1a284e81" /><Relationship Type="http://schemas.openxmlformats.org/officeDocument/2006/relationships/slideLayout" Target="/ppt/slideLayouts/slideLayout4.xml" Id="R71195536d24945e8" /><Relationship Type="http://schemas.openxmlformats.org/officeDocument/2006/relationships/slideLayout" Target="/ppt/slideLayouts/slideLayout5.xml" Id="R4778cf8cf5814dc1" /><Relationship Type="http://schemas.openxmlformats.org/officeDocument/2006/relationships/slideLayout" Target="/ppt/slideLayouts/slideLayout6.xml" Id="Rfd9e1537face428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cb22434e55454c"/>
    <p:sldLayoutId xmlns:r="http://schemas.openxmlformats.org/officeDocument/2006/relationships" id="2147483650" r:id="Rc273788752fa4955"/>
    <p:sldLayoutId xmlns:r="http://schemas.openxmlformats.org/officeDocument/2006/relationships" id="2147483651" r:id="Rd84f882f1a284e81"/>
    <p:sldLayoutId xmlns:r="http://schemas.openxmlformats.org/officeDocument/2006/relationships" id="2147483652" r:id="R71195536d24945e8"/>
    <p:sldLayoutId xmlns:r="http://schemas.openxmlformats.org/officeDocument/2006/relationships" id="2147483653" r:id="R4778cf8cf5814dc1"/>
    <p:sldLayoutId xmlns:r="http://schemas.openxmlformats.org/officeDocument/2006/relationships" id="2147483654" r:id="Rfd9e1537face428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3692848715745d0" /><Relationship Type="http://schemas.openxmlformats.org/officeDocument/2006/relationships/image" Target="/ppt/media/image.png" Id="Rb057bc51c26b4009" /><Relationship Type="http://schemas.openxmlformats.org/officeDocument/2006/relationships/notesSlide" Target="/ppt/notesSlides/notesSlide1.xml" Id="R27f39c68bd754b8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ed4efa828f0487d" /><Relationship Type="http://schemas.openxmlformats.org/officeDocument/2006/relationships/notesSlide" Target="/ppt/notesSlides/notesSlide2.xml" Id="R60ea204d2a394b6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a1058904bfa4257" /><Relationship Type="http://schemas.openxmlformats.org/officeDocument/2006/relationships/image" Target="/ppt/media/image2.png" Id="R59b7daaa70204a0a" /><Relationship Type="http://schemas.openxmlformats.org/officeDocument/2006/relationships/image" Target="/ppt/media/image3.png" Id="R94216c79b158462e" /><Relationship Type="http://schemas.openxmlformats.org/officeDocument/2006/relationships/notesSlide" Target="/ppt/notesSlides/notesSlide3.xml" Id="Rac35073f22e944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82d85b6aba347a9" /><Relationship Type="http://schemas.openxmlformats.org/officeDocument/2006/relationships/image" Target="/ppt/media/image4.png" Id="R662057dfaf0c4b03" /><Relationship Type="http://schemas.openxmlformats.org/officeDocument/2006/relationships/notesSlide" Target="/ppt/notesSlides/notesSlide4.xml" Id="R80516d2b82cb431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c4815b089474a79" /><Relationship Type="http://schemas.openxmlformats.org/officeDocument/2006/relationships/image" Target="/ppt/media/image5.png" Id="R4392423db36849c9" /><Relationship Type="http://schemas.openxmlformats.org/officeDocument/2006/relationships/image" Target="/ppt/media/image6.png" Id="Rc11ce2a7113e4e7e" /><Relationship Type="http://schemas.openxmlformats.org/officeDocument/2006/relationships/notesSlide" Target="/ppt/notesSlides/notesSlide5.xml" Id="R10e9f7abff1744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db6db80b36a40a6" /><Relationship Type="http://schemas.openxmlformats.org/officeDocument/2006/relationships/chart" Target="/ppt/slides/charts/chart1.xml" Id="R4edb280defb54151" /><Relationship Type="http://schemas.openxmlformats.org/officeDocument/2006/relationships/notesSlide" Target="/ppt/notesSlides/notesSlide6.xml" Id="R842afff48363498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6492bd559854e88" /><Relationship Type="http://schemas.openxmlformats.org/officeDocument/2006/relationships/image" Target="/ppt/media/image7.png" Id="R865d8dfa7c6c4cf5" /><Relationship Type="http://schemas.openxmlformats.org/officeDocument/2006/relationships/image" Target="/ppt/media/image8.png" Id="R196fb092530c48b8" /><Relationship Type="http://schemas.openxmlformats.org/officeDocument/2006/relationships/notesSlide" Target="/ppt/notesSlides/notesSlide7.xml" Id="R490da58b5b9e47b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1e89770b2e24aa7" /><Relationship Type="http://schemas.openxmlformats.org/officeDocument/2006/relationships/image" Target="/ppt/media/image9.png" Id="Rf55c4317eefd44fc" /><Relationship Type="http://schemas.openxmlformats.org/officeDocument/2006/relationships/notesSlide" Target="/ppt/notesSlides/notesSlide8.xml" Id="Rfd142c47ebc8469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9bdf5388cb94853" /><Relationship Type="http://schemas.openxmlformats.org/officeDocument/2006/relationships/image" Target="/ppt/media/image10.png" Id="R1d252c40aec243c7" /><Relationship Type="http://schemas.openxmlformats.org/officeDocument/2006/relationships/notesSlide" Target="/ppt/notesSlides/notesSlide9.xml" Id="R0e2950bc8d374c2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b10f9315fea45f5" /><Relationship Type="http://schemas.openxmlformats.org/officeDocument/2006/relationships/image" Target="/ppt/media/image11.png" Id="Rb12d05f254024980" /><Relationship Type="http://schemas.openxmlformats.org/officeDocument/2006/relationships/notesSlide" Target="/ppt/notesSlides/notesSlide10.xml" Id="R824f6115f4a54b5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479867caab8411b" /><Relationship Type="http://schemas.openxmlformats.org/officeDocument/2006/relationships/image" Target="/ppt/media/image12.png" Id="R325147c6dc254ef3" /><Relationship Type="http://schemas.openxmlformats.org/officeDocument/2006/relationships/notesSlide" Target="/ppt/notesSlides/notesSlide11.xml" Id="Rc3d39d7edd71417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e35bbc23c374a61" /><Relationship Type="http://schemas.openxmlformats.org/officeDocument/2006/relationships/notesSlide" Target="/ppt/notesSlides/notesSlide12.xml" Id="R44181db51cbf483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f7008ff75824834" /><Relationship Type="http://schemas.openxmlformats.org/officeDocument/2006/relationships/image" Target="/ppt/media/image13.png" Id="Rea04a929c7324c39" /><Relationship Type="http://schemas.openxmlformats.org/officeDocument/2006/relationships/notesSlide" Target="/ppt/notesSlides/notesSlide13.xml" Id="Rf51fd513c9a541e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08f73c9bdbf4716" /><Relationship Type="http://schemas.openxmlformats.org/officeDocument/2006/relationships/notesSlide" Target="/ppt/notesSlides/notesSlide14.xml" Id="Rdfbae5129e7e445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bb769fd8227436a" /><Relationship Type="http://schemas.openxmlformats.org/officeDocument/2006/relationships/image" Target="/ppt/media/image14.png" Id="R7ce13cf0603e4e28" /><Relationship Type="http://schemas.openxmlformats.org/officeDocument/2006/relationships/notesSlide" Target="/ppt/notesSlides/notesSlide15.xml" Id="Rae7fa8310ac444c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7e671a82ea142bf" /><Relationship Type="http://schemas.openxmlformats.org/officeDocument/2006/relationships/image" Target="/ppt/media/image15.png" Id="R513a916e5eea4602" /><Relationship Type="http://schemas.openxmlformats.org/officeDocument/2006/relationships/image" Target="/ppt/media/image16.png" Id="Rcc368cff1bc14acb" /><Relationship Type="http://schemas.openxmlformats.org/officeDocument/2006/relationships/notesSlide" Target="/ppt/notesSlides/notesSlide16.xml" Id="Re370a42755ba4d3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08433e376914f82" /><Relationship Type="http://schemas.openxmlformats.org/officeDocument/2006/relationships/image" Target="/ppt/media/image17.png" Id="R906f62c80ad04af7" /><Relationship Type="http://schemas.openxmlformats.org/officeDocument/2006/relationships/notesSlide" Target="/ppt/notesSlides/notesSlide17.xml" Id="Rf85a440dd18544e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3d095a8f1da4af0" /><Relationship Type="http://schemas.openxmlformats.org/officeDocument/2006/relationships/image" Target="/ppt/media/image18.png" Id="Reb908b42fa1d4e40" /><Relationship Type="http://schemas.openxmlformats.org/officeDocument/2006/relationships/notesSlide" Target="/ppt/notesSlides/notesSlide18.xml" Id="Rb9210595672b426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2c079b53b054883" /><Relationship Type="http://schemas.openxmlformats.org/officeDocument/2006/relationships/image" Target="/ppt/media/image19.png" Id="Rcd59e4b478bc49ce" /><Relationship Type="http://schemas.openxmlformats.org/officeDocument/2006/relationships/notesSlide" Target="/ppt/notesSlides/notesSlide19.xml" Id="Rc6c1b6b80c13462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d85a96c1cf7416f" /><Relationship Type="http://schemas.openxmlformats.org/officeDocument/2006/relationships/image" Target="/ppt/media/image20.png" Id="R1fa3ccad1c4a4731" /><Relationship Type="http://schemas.openxmlformats.org/officeDocument/2006/relationships/notesSlide" Target="/ppt/notesSlides/notesSlide20.xml" Id="R8842ee6de7484a4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0ad4a200dfa44a8" /><Relationship Type="http://schemas.openxmlformats.org/officeDocument/2006/relationships/image" Target="/ppt/media/image21.png" Id="R18b707e30e2545cb" /><Relationship Type="http://schemas.openxmlformats.org/officeDocument/2006/relationships/notesSlide" Target="/ppt/notesSlides/notesSlide21.xml" Id="R7c669dedadaf410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5fadb994edf4b59" /><Relationship Type="http://schemas.openxmlformats.org/officeDocument/2006/relationships/image" Target="/ppt/media/image22.png" Id="R76604de4ca7a4539" /><Relationship Type="http://schemas.openxmlformats.org/officeDocument/2006/relationships/notesSlide" Target="/ppt/notesSlides/notesSlide22.xml" Id="R3664cd43a5084b9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64a1c9f19a14857" /><Relationship Type="http://schemas.openxmlformats.org/officeDocument/2006/relationships/image" Target="/ppt/media/image23.png" Id="R113b3ce6df5b4eb4" /><Relationship Type="http://schemas.openxmlformats.org/officeDocument/2006/relationships/image" Target="/ppt/media/image24.png" Id="Rab7a83d43eb34bb1" /><Relationship Type="http://schemas.openxmlformats.org/officeDocument/2006/relationships/notesSlide" Target="/ppt/notesSlides/notesSlide23.xml" Id="Raf94d3882dc64de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9e0b01d00f7e42b2" /><Relationship Type="http://schemas.openxmlformats.org/officeDocument/2006/relationships/notesSlide" Target="/ppt/notesSlides/notesSlide24.xml" Id="Rabe2a5e0ff50463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4366c8c4b9b74bc0" /><Relationship Type="http://schemas.openxmlformats.org/officeDocument/2006/relationships/image" Target="/ppt/media/image25.png" Id="R2cace7df41a24dc0" /><Relationship Type="http://schemas.openxmlformats.org/officeDocument/2006/relationships/image" Target="/ppt/media/image26.png" Id="R05275646bb7b4105" /><Relationship Type="http://schemas.openxmlformats.org/officeDocument/2006/relationships/notesSlide" Target="/ppt/notesSlides/notesSlide25.xml" Id="R8e2c906f440f49a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6963a2fb824495e" /><Relationship Type="http://schemas.openxmlformats.org/officeDocument/2006/relationships/image" Target="/ppt/media/image27.png" Id="R701fa32775fd4179" /><Relationship Type="http://schemas.openxmlformats.org/officeDocument/2006/relationships/notesSlide" Target="/ppt/notesSlides/notesSlide26.xml" Id="R19cf5c5b6cb746c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bdf9365eec654ad9" /><Relationship Type="http://schemas.openxmlformats.org/officeDocument/2006/relationships/image" Target="/ppt/media/image28.png" Id="Rb5facf837e0444be" /><Relationship Type="http://schemas.openxmlformats.org/officeDocument/2006/relationships/notesSlide" Target="/ppt/notesSlides/notesSlide27.xml" Id="R7842788dd6b2454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9e836a8b1b9f4a67" /><Relationship Type="http://schemas.openxmlformats.org/officeDocument/2006/relationships/notesSlide" Target="/ppt/notesSlides/notesSlide28.xml" Id="R1550d3fc7f394f0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8a8069f307564b00" /><Relationship Type="http://schemas.openxmlformats.org/officeDocument/2006/relationships/notesSlide" Target="/ppt/notesSlides/notesSlide29.xml" Id="R53712997fe8a48b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e5b636c512b74191" /><Relationship Type="http://schemas.openxmlformats.org/officeDocument/2006/relationships/image" Target="/ppt/media/image29.png" Id="R95cc408336624e4e" /><Relationship Type="http://schemas.openxmlformats.org/officeDocument/2006/relationships/notesSlide" Target="/ppt/notesSlides/notesSlide30.xml" Id="Ra892a02deda942b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f64c00180ac74b7f" /><Relationship Type="http://schemas.openxmlformats.org/officeDocument/2006/relationships/notesSlide" Target="/ppt/notesSlides/notesSlide31.xml" Id="R473d0289b19f40d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b47b0dcb815f4a57" /><Relationship Type="http://schemas.openxmlformats.org/officeDocument/2006/relationships/image" Target="/ppt/media/image30.png" Id="R8275ec0175594c2e" /><Relationship Type="http://schemas.openxmlformats.org/officeDocument/2006/relationships/notesSlide" Target="/ppt/notesSlides/notesSlide32.xml" Id="Ra4b9c474ed8645f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7547c18c9b7f40e5" /><Relationship Type="http://schemas.openxmlformats.org/officeDocument/2006/relationships/image" Target="/ppt/media/image31.png" Id="Rb087c9fecbd94ed3" /><Relationship Type="http://schemas.openxmlformats.org/officeDocument/2006/relationships/notesSlide" Target="/ppt/notesSlides/notesSlide33.xml" Id="R05bb99aebd0f43f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df7f7d268ba9470a" /><Relationship Type="http://schemas.openxmlformats.org/officeDocument/2006/relationships/image" Target="/ppt/media/image32.png" Id="Rd1ee3ab571b74d8c" /><Relationship Type="http://schemas.openxmlformats.org/officeDocument/2006/relationships/notesSlide" Target="/ppt/notesSlides/notesSlide34.xml" Id="Rfccd8dc0972f407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fdfa5ec978be4825" /><Relationship Type="http://schemas.openxmlformats.org/officeDocument/2006/relationships/image" Target="/ppt/media/image33.png" Id="R61ce22adfdd74ee0" /><Relationship Type="http://schemas.openxmlformats.org/officeDocument/2006/relationships/notesSlide" Target="/ppt/notesSlides/notesSlide35.xml" Id="Ra266046133034a1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6ba9a6e1fd414529" /><Relationship Type="http://schemas.openxmlformats.org/officeDocument/2006/relationships/image" Target="/ppt/media/image34.png" Id="R0c83b463a6ff4728" /><Relationship Type="http://schemas.openxmlformats.org/officeDocument/2006/relationships/notesSlide" Target="/ppt/notesSlides/notesSlide36.xml" Id="R8f2b376b332548d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d4cff7f4b62942e5" /><Relationship Type="http://schemas.openxmlformats.org/officeDocument/2006/relationships/image" Target="/ppt/media/image35.png" Id="Ra6344807b73442c0" /><Relationship Type="http://schemas.openxmlformats.org/officeDocument/2006/relationships/notesSlide" Target="/ppt/notesSlides/notesSlide37.xml" Id="R639734a636a34e5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Force (N)</c:v>
          </c:tx>
          <c:spPr>
            <a:solidFill xmlns:a="http://schemas.openxmlformats.org/drawingml/2006/main">
              <a:srgbClr val="2E5A88"/>
            </a:solidFill>
          </c:spPr>
          <c:invertIfNegative val="0"/>
          <c:cat>
            <c:strRef>
              <c:f>'Chart Data'!$A$2:$A$4</c:f>
              <c:strCache>
                <c:ptCount val="3"/>
                <c:pt idx="0">
                  <c:v>Measured</c:v>
                </c:pt>
                <c:pt idx="1">
                  <c:v>New model</c:v>
                </c:pt>
                <c:pt idx="2">
                  <c:v>Manufacturer tool</c:v>
                </c:pt>
              </c:strCache>
            </c:strRef>
          </c:cat>
          <c:val>
            <c:numRef>
              <c:f>'Chart Data'!$B$2:$B$4</c:f>
              <c:numCache>
                <c:formatCode>General</c:formatCode>
                <c:ptCount val="3"/>
                <c:pt idx="0">
                  <c:v>350.9</c:v>
                </c:pt>
                <c:pt idx="1">
                  <c:v>335.3</c:v>
                </c:pt>
                <c:pt idx="2">
                  <c:v>498.6</c:v>
                </c:pt>
              </c:numCache>
            </c:numRef>
          </c:val>
        </c:ser>
        <c:dLbls>
          <c:txPr>
            <a:bodyPr xmlns:a="http://schemas.openxmlformats.org/drawingml/2006/main" anchorCtr="1"/>
            <a:lstStyle xmlns:a="http://schemas.openxmlformats.org/drawingml/2006/main"/>
            <a:p xmlns:a="http://schemas.openxmlformats.org/drawingml/2006/main">
              <a:pPr>
                <a:defRPr sz="1875"/>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10 mm diameter, 112 mm resting length, 620 kPa</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t>Force (N)</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4141B99-6057-4B06-ABF2-28998777DF07}"/>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DISSERTATION DEFENSE</a:t>
            </a:r>
          </a:p>
        </p:txBody>
      </p:sp>
      <p:sp>
        <p:nvSpPr>
          <p:cNvPr id="2" name="">
            <a:extLst xmlns:a="http://schemas.openxmlformats.org/drawingml/2006/main">
              <a:ext uri="{FF2B5EF4-FFF2-40B4-BE49-F238E27FC236}">
                <a16:creationId xmlns:a16="http://schemas.microsoft.com/office/drawing/2014/main" id="{6040EFA5-9B8B-4605-9648-36AEDA3B1CD6}"/>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Movement and Control of</a:t>
            </a:r>
          </a:p>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Biomimetic Humanoid Robots</a:t>
            </a:r>
          </a:p>
        </p:txBody>
      </p:sp>
      <p:sp>
        <p:nvSpPr>
          <p:cNvPr id="3" name="">
            <a:extLst xmlns:a="http://schemas.openxmlformats.org/drawingml/2006/main">
              <a:ext uri="{FF2B5EF4-FFF2-40B4-BE49-F238E27FC236}">
                <a16:creationId xmlns:a16="http://schemas.microsoft.com/office/drawing/2014/main" id="{3ACCB264-2DE7-4D04-ADB5-390F22C1A600}"/>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Portland State University · Agile &amp; Adaptive Robotics Laboratory</a:t>
            </a:r>
          </a:p>
        </p:txBody>
      </p:sp>
      <p:sp>
        <p:nvSpPr>
          <p:cNvPr id="4" name="">
            <a:extLst xmlns:a="http://schemas.openxmlformats.org/drawingml/2006/main">
              <a:ext uri="{FF2B5EF4-FFF2-40B4-BE49-F238E27FC236}">
                <a16:creationId xmlns:a16="http://schemas.microsoft.com/office/drawing/2014/main" id="{569C7AC2-99D2-4A43-A3D6-3A33F8760C1A}"/>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CB1A285-5BB0-499F-A1AD-775E577BE1CA}"/>
              </a:ext>
            </a:extLst>
          </p:cNvPr>
          <p:cNvSpPr>
            <a:spLocks xmlns:a="http://schemas.openxmlformats.org/drawingml/2006/main" noGrp="1"/>
          </p:cNvSpPr>
          <p:nvPr/>
        </p:nvSpPr>
        <p:spPr>
          <a:xfrm xmlns:a="http://schemas.openxmlformats.org/drawingml/2006/main">
            <a:off x="619125" y="2476500"/>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222222"/>
                </a:solidFill>
                <a:latin typeface="Calibri"/>
                <a:ea typeface="Calibri"/>
                <a:cs typeface="Calibri"/>
              </a:defRPr>
            </a:defPPr>
            <a:lvl1pPr>
              <a:defRPr sz="2850" b="1">
                <a:solidFill>
                  <a:srgbClr val="222222"/>
                </a:solidFill>
                <a:latin typeface="Calibri"/>
                <a:ea typeface="Calibri"/>
                <a:cs typeface="Calibri"/>
              </a:defRPr>
            </a:lvl1pPr>
            <a:lvl2pPr>
              <a:defRPr sz="2850" b="1">
                <a:solidFill>
                  <a:srgbClr val="222222"/>
                </a:solidFill>
                <a:latin typeface="Calibri"/>
                <a:ea typeface="Calibri"/>
                <a:cs typeface="Calibri"/>
              </a:defRPr>
            </a:lvl2pPr>
            <a:lvl3pPr>
              <a:defRPr sz="2850" b="1">
                <a:solidFill>
                  <a:srgbClr val="222222"/>
                </a:solidFill>
                <a:latin typeface="Calibri"/>
                <a:ea typeface="Calibri"/>
                <a:cs typeface="Calibri"/>
              </a:defRPr>
            </a:lvl3pPr>
            <a:lvl4pPr>
              <a:defRPr sz="2850" b="1">
                <a:solidFill>
                  <a:srgbClr val="222222"/>
                </a:solidFill>
                <a:latin typeface="Calibri"/>
                <a:ea typeface="Calibri"/>
                <a:cs typeface="Calibri"/>
              </a:defRPr>
            </a:lvl4pPr>
            <a:lvl5pPr>
              <a:defRPr sz="2850" b="1">
                <a:solidFill>
                  <a:srgbClr val="222222"/>
                </a:solidFill>
                <a:latin typeface="Calibri"/>
                <a:ea typeface="Calibri"/>
                <a:cs typeface="Calibri"/>
              </a:defRPr>
            </a:lvl5pPr>
            <a:lvl6pPr>
              <a:defRPr sz="2850" b="1">
                <a:solidFill>
                  <a:srgbClr val="222222"/>
                </a:solidFill>
                <a:latin typeface="Calibri"/>
                <a:ea typeface="Calibri"/>
                <a:cs typeface="Calibri"/>
              </a:defRPr>
            </a:lvl6pPr>
            <a:lvl7pPr>
              <a:defRPr sz="2850" b="1">
                <a:solidFill>
                  <a:srgbClr val="222222"/>
                </a:solidFill>
                <a:latin typeface="Calibri"/>
                <a:ea typeface="Calibri"/>
                <a:cs typeface="Calibri"/>
              </a:defRPr>
            </a:lvl7pPr>
            <a:lvl8pPr>
              <a:defRPr sz="2850" b="1">
                <a:solidFill>
                  <a:srgbClr val="222222"/>
                </a:solidFill>
                <a:latin typeface="Calibri"/>
                <a:ea typeface="Calibri"/>
                <a:cs typeface="Calibri"/>
              </a:defRPr>
            </a:lvl8pPr>
            <a:lvl9pPr>
              <a:defRPr sz="2850" b="1">
                <a:solidFill>
                  <a:srgbClr val="222222"/>
                </a:solidFill>
                <a:latin typeface="Calibri"/>
                <a:ea typeface="Calibri"/>
                <a:cs typeface="Calibri"/>
              </a:defRPr>
            </a:lvl9pPr>
          </a:lstStyle>
          <a:p xmlns:a="http://schemas.openxmlformats.org/drawingml/2006/main">
            <a:pPr>
              <a:defRPr sz="2850" b="1">
                <a:solidFill>
                  <a:srgbClr val="222222"/>
                </a:solidFill>
                <a:latin typeface="Calibri"/>
                <a:ea typeface="Calibri"/>
                <a:cs typeface="Calibri"/>
              </a:defRPr>
            </a:pPr>
            <a:r>
              <a:rPr sz="2850" b="1">
                <a:solidFill>
                  <a:srgbClr val="222222"/>
                </a:solidFill>
                <a:latin typeface="Calibri"/>
                <a:ea typeface="Calibri"/>
                <a:cs typeface="Calibri"/>
              </a:rPr>
              <a:t>Ben P. Bolen</a:t>
            </a:r>
          </a:p>
        </p:txBody>
      </p:sp>
      <p:sp>
        <p:nvSpPr>
          <p:cNvPr id="6" name="">
            <a:extLst xmlns:a="http://schemas.openxmlformats.org/drawingml/2006/main">
              <a:ext uri="{FF2B5EF4-FFF2-40B4-BE49-F238E27FC236}">
                <a16:creationId xmlns:a16="http://schemas.microsoft.com/office/drawing/2014/main" id="{4014E496-FC39-4807-92C4-1AC949912780}"/>
              </a:ext>
            </a:extLst>
          </p:cNvPr>
          <p:cNvSpPr>
            <a:spLocks xmlns:a="http://schemas.openxmlformats.org/drawingml/2006/main" noGrp="1"/>
          </p:cNvSpPr>
          <p:nvPr/>
        </p:nvSpPr>
        <p:spPr>
          <a:xfrm xmlns:a="http://schemas.openxmlformats.org/drawingml/2006/main">
            <a:off x="619125" y="3238500"/>
            <a:ext cx="666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22222"/>
                </a:solidFill>
                <a:latin typeface="Calibri"/>
                <a:ea typeface="Calibri"/>
                <a:cs typeface="Calibri"/>
              </a:defRPr>
            </a:defPPr>
            <a:lvl1pPr>
              <a:defRPr sz="2175" b="0">
                <a:solidFill>
                  <a:srgbClr val="222222"/>
                </a:solidFill>
                <a:latin typeface="Calibri"/>
                <a:ea typeface="Calibri"/>
                <a:cs typeface="Calibri"/>
              </a:defRPr>
            </a:lvl1pPr>
            <a:lvl2pPr>
              <a:defRPr sz="2175" b="0">
                <a:solidFill>
                  <a:srgbClr val="222222"/>
                </a:solidFill>
                <a:latin typeface="Calibri"/>
                <a:ea typeface="Calibri"/>
                <a:cs typeface="Calibri"/>
              </a:defRPr>
            </a:lvl2pPr>
            <a:lvl3pPr>
              <a:defRPr sz="2175" b="0">
                <a:solidFill>
                  <a:srgbClr val="222222"/>
                </a:solidFill>
                <a:latin typeface="Calibri"/>
                <a:ea typeface="Calibri"/>
                <a:cs typeface="Calibri"/>
              </a:defRPr>
            </a:lvl3pPr>
            <a:lvl4pPr>
              <a:defRPr sz="2175" b="0">
                <a:solidFill>
                  <a:srgbClr val="222222"/>
                </a:solidFill>
                <a:latin typeface="Calibri"/>
                <a:ea typeface="Calibri"/>
                <a:cs typeface="Calibri"/>
              </a:defRPr>
            </a:lvl4pPr>
            <a:lvl5pPr>
              <a:defRPr sz="2175" b="0">
                <a:solidFill>
                  <a:srgbClr val="222222"/>
                </a:solidFill>
                <a:latin typeface="Calibri"/>
                <a:ea typeface="Calibri"/>
                <a:cs typeface="Calibri"/>
              </a:defRPr>
            </a:lvl5pPr>
            <a:lvl6pPr>
              <a:defRPr sz="2175" b="0">
                <a:solidFill>
                  <a:srgbClr val="222222"/>
                </a:solidFill>
                <a:latin typeface="Calibri"/>
                <a:ea typeface="Calibri"/>
                <a:cs typeface="Calibri"/>
              </a:defRPr>
            </a:lvl6pPr>
            <a:lvl7pPr>
              <a:defRPr sz="2175" b="0">
                <a:solidFill>
                  <a:srgbClr val="222222"/>
                </a:solidFill>
                <a:latin typeface="Calibri"/>
                <a:ea typeface="Calibri"/>
                <a:cs typeface="Calibri"/>
              </a:defRPr>
            </a:lvl7pPr>
            <a:lvl8pPr>
              <a:defRPr sz="2175" b="0">
                <a:solidFill>
                  <a:srgbClr val="222222"/>
                </a:solidFill>
                <a:latin typeface="Calibri"/>
                <a:ea typeface="Calibri"/>
                <a:cs typeface="Calibri"/>
              </a:defRPr>
            </a:lvl8pPr>
            <a:lvl9pPr>
              <a:defRPr sz="2175" b="0">
                <a:solidFill>
                  <a:srgbClr val="222222"/>
                </a:solidFill>
                <a:latin typeface="Calibri"/>
                <a:ea typeface="Calibri"/>
                <a:cs typeface="Calibri"/>
              </a:defRPr>
            </a:lvl9pPr>
          </a:lstStyle>
          <a:p xmlns:a="http://schemas.openxmlformats.org/drawingml/2006/main">
            <a:pPr>
              <a:defRPr sz="2175" b="0">
                <a:solidFill>
                  <a:srgbClr val="222222"/>
                </a:solidFill>
                <a:latin typeface="Calibri"/>
                <a:ea typeface="Calibri"/>
                <a:cs typeface="Calibri"/>
              </a:defRPr>
            </a:pPr>
            <a:r>
              <a:rPr sz="2175" b="0">
                <a:solidFill>
                  <a:srgbClr val="222222"/>
                </a:solidFill>
                <a:latin typeface="Calibri"/>
                <a:ea typeface="Calibri"/>
                <a:cs typeface="Calibri"/>
              </a:rPr>
              <a:t>Mechanical Engineering PhD defense</a:t>
            </a:r>
          </a:p>
          <a:p xmlns:a="http://schemas.openxmlformats.org/drawingml/2006/main">
            <a:pPr>
              <a:defRPr sz="2175" b="0">
                <a:solidFill>
                  <a:srgbClr val="222222"/>
                </a:solidFill>
                <a:latin typeface="Calibri"/>
                <a:ea typeface="Calibri"/>
                <a:cs typeface="Calibri"/>
              </a:defRPr>
            </a:pPr>
            <a:r>
              <a:rPr sz="2175" b="0">
                <a:solidFill>
                  <a:srgbClr val="222222"/>
                </a:solidFill>
                <a:latin typeface="Calibri"/>
                <a:ea typeface="Calibri"/>
                <a:cs typeface="Calibri"/>
              </a:rPr>
              <a:t>Advisor: M. Anthony Hunt, Ph.D.</a:t>
            </a:r>
          </a:p>
          <a:p xmlns:a="http://schemas.openxmlformats.org/drawingml/2006/main">
            <a:pPr>
              <a:defRPr sz="2175" b="0">
                <a:solidFill>
                  <a:srgbClr val="222222"/>
                </a:solidFill>
                <a:latin typeface="Calibri"/>
                <a:ea typeface="Calibri"/>
                <a:cs typeface="Calibri"/>
              </a:defRPr>
            </a:pPr>
            <a:r>
              <a:rPr sz="2175" b="0">
                <a:solidFill>
                  <a:srgbClr val="222222"/>
                </a:solidFill>
                <a:latin typeface="Calibri"/>
                <a:ea typeface="Calibri"/>
                <a:cs typeface="Calibri"/>
              </a:rPr>
              <a:t>November 6, 2026</a:t>
            </a:r>
          </a:p>
        </p:txBody>
      </p:sp>
      <p:pic>
        <p:nvPicPr>
          <p:cNvPr id="7" name="">
            <a:extLst xmlns:a="http://schemas.openxmlformats.org/drawingml/2006/main">
              <a:ext uri="{FF2B5EF4-FFF2-40B4-BE49-F238E27FC236}">
                <a16:creationId xmlns:a16="http://schemas.microsoft.com/office/drawing/2014/main" id="{14095DE5-1401-4CA7-A0E6-BEB110EFF4AD}"/>
              </a:ext>
            </a:extLst>
          </p:cNvPr>
          <p:cNvPicPr>
            <a:picLocks xmlns:a="http://schemas.openxmlformats.org/drawingml/2006/main" noChangeAspect="1"/>
          </p:cNvPicPr>
          <p:nvPr/>
        </p:nvPicPr>
        <p:blipFill>
          <a:blip xmlns:r="http://schemas.openxmlformats.org/officeDocument/2006/relationships" xmlns:a="http://schemas.openxmlformats.org/drawingml/2006/main" r:embed="Rb057bc51c26b4009"/>
          <a:stretch xmlns:a="http://schemas.openxmlformats.org/drawingml/2006/main"/>
        </p:blipFill>
        <p:spPr>
          <a:xfrm xmlns:a="http://schemas.openxmlformats.org/drawingml/2006/main">
            <a:off x="8191500" y="1619250"/>
            <a:ext cx="2952750" cy="4429125"/>
          </a:xfrm>
          <a:prstGeom xmlns:a="http://schemas.openxmlformats.org/drawingml/2006/main" prst="rect">
            <a:avLst/>
          </a:prstGeom>
        </p:spPr>
      </p:pic>
    </p:spTree>
    <p:extLst>
      <p:ext uri="{BB962C8B-B14F-4D97-AF65-F5344CB8AC3E}">
        <p14:creationId xmlns:p14="http://schemas.microsoft.com/office/powerpoint/2010/main" val="161587273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7216640-4F6D-4ECC-B3D9-D292B3564E6E}"/>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THE ARGUMENT</a:t>
            </a:r>
          </a:p>
        </p:txBody>
      </p:sp>
      <p:sp>
        <p:nvSpPr>
          <p:cNvPr id="2" name="">
            <a:extLst xmlns:a="http://schemas.openxmlformats.org/drawingml/2006/main">
              <a:ext uri="{FF2B5EF4-FFF2-40B4-BE49-F238E27FC236}">
                <a16:creationId xmlns:a16="http://schemas.microsoft.com/office/drawing/2014/main" id="{97F91FAF-7AD0-4A47-B4A1-EB57CC33F877}"/>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Four gaps connect actuator mechanics to neural-control experiments</a:t>
            </a:r>
          </a:p>
        </p:txBody>
      </p:sp>
      <p:sp>
        <p:nvSpPr>
          <p:cNvPr id="3" name="">
            <a:extLst xmlns:a="http://schemas.openxmlformats.org/drawingml/2006/main">
              <a:ext uri="{FF2B5EF4-FFF2-40B4-BE49-F238E27FC236}">
                <a16:creationId xmlns:a16="http://schemas.microsoft.com/office/drawing/2014/main" id="{FA2BB40C-01E1-48C4-9CA3-EDA1FC2EB4AF}"/>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1, research gaps and objectives</a:t>
            </a:r>
          </a:p>
        </p:txBody>
      </p:sp>
      <p:sp>
        <p:nvSpPr>
          <p:cNvPr id="4" name="">
            <a:extLst xmlns:a="http://schemas.openxmlformats.org/drawingml/2006/main">
              <a:ext uri="{FF2B5EF4-FFF2-40B4-BE49-F238E27FC236}">
                <a16:creationId xmlns:a16="http://schemas.microsoft.com/office/drawing/2014/main" id="{B9EB1E75-C8E8-44CD-BC4A-41F0168F98D5}"/>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02</a:t>
            </a:r>
          </a:p>
        </p:txBody>
      </p:sp>
      <p:graphicFrame>
        <p:nvGraphicFramePr>
          <p:cNvPr id="5" name="">
            <a:extLst xmlns:a="http://schemas.openxmlformats.org/drawingml/2006/main">
              <a:ext uri="{FF2B5EF4-FFF2-40B4-BE49-F238E27FC236}">
                <a16:creationId xmlns:a16="http://schemas.microsoft.com/office/drawing/2014/main" id="{8C583205-CA7A-42DB-9400-709253012EA2}"/>
              </a:ext>
            </a:extLst>
          </p:cNvPr>
          <p:cNvGraphicFramePr/>
          <p:nvPr/>
        </p:nvGraphicFramePr>
        <p:xfrm>
          <a:off xmlns:a="http://schemas.openxmlformats.org/drawingml/2006/main" x="476250" y="1666875"/>
          <a:ext xmlns:a="http://schemas.openxmlformats.org/drawingml/2006/main" cx="11239500" cy="4000500"/>
        </p:xfrm>
        <a:graphic xmlns:a="http://schemas.openxmlformats.org/drawingml/2006/main">
          <a:graphicData uri="http://schemas.openxmlformats.org/drawingml/2006/table">
            <a:tbl>
              <a:tblPr/>
              <a:tblGrid>
                <a:gridCol w="5619750"/>
                <a:gridCol w="5619750"/>
              </a:tblGrid>
              <a:tr h="800100">
                <a:tc>
                  <a:txBody>
                    <a:bodyPr/>
                    <a:lstStyle/>
                    <a:p>
                      <a:r>
                        <a:rPr sz="1875" b="1">
                          <a:solidFill>
                            <a:srgbClr val="00796B"/>
                          </a:solidFill>
                          <a:latin typeface="Calibri"/>
                          <a:ea typeface="Calibri"/>
                          <a:cs typeface="Calibri"/>
                        </a:rPr>
                        <a:t>Knowledge gap</a:t>
                      </a:r>
                    </a:p>
                  </a:txBody>
                  <a:tcPr marL="91440" marR="91440" marT="45720" marB="45720">
                    <a:solidFill>
                      <a:srgbClr val="FFFFFF"/>
                    </a:solidFill>
                  </a:tcPr>
                </a:tc>
                <a:tc>
                  <a:txBody>
                    <a:bodyPr/>
                    <a:lstStyle/>
                    <a:p>
                      <a:r>
                        <a:rPr sz="1875" b="1">
                          <a:solidFill>
                            <a:srgbClr val="00796B"/>
                          </a:solidFill>
                          <a:latin typeface="Calibri"/>
                          <a:ea typeface="Calibri"/>
                          <a:cs typeface="Calibri"/>
                        </a:rPr>
                        <a:t>Contribution tested here</a:t>
                      </a:r>
                    </a:p>
                  </a:txBody>
                  <a:tcPr marL="91440" marR="91440" marT="45720" marB="45720">
                    <a:solidFill>
                      <a:srgbClr val="FFFFFF"/>
                    </a:solidFill>
                  </a:tcPr>
                </a:tc>
              </a:tr>
              <a:tr h="800100">
                <a:tc>
                  <a:txBody>
                    <a:bodyPr/>
                    <a:lstStyle/>
                    <a:p>
                      <a:r>
                        <a:rPr sz="1875" b="0">
                          <a:solidFill>
                            <a:srgbClr val="222222"/>
                          </a:solidFill>
                          <a:latin typeface="Calibri"/>
                          <a:ea typeface="Calibri"/>
                          <a:cs typeface="Calibri"/>
                        </a:rPr>
                        <a:t>Force across actuator lengths</a:t>
                      </a:r>
                    </a:p>
                  </a:txBody>
                  <a:tcPr marL="91440" marR="91440" marT="45720" marB="45720">
                    <a:solidFill>
                      <a:srgbClr val="FFFFFF"/>
                    </a:solidFill>
                  </a:tcPr>
                </a:tc>
                <a:tc>
                  <a:txBody>
                    <a:bodyPr/>
                    <a:lstStyle/>
                    <a:p>
                      <a:r>
                        <a:rPr sz="1875" b="0">
                          <a:solidFill>
                            <a:srgbClr val="222222"/>
                          </a:solidFill>
                          <a:latin typeface="Calibri"/>
                          <a:ea typeface="Calibri"/>
                          <a:cs typeface="Calibri"/>
                        </a:rPr>
                        <a:t>Resting-length-aware force model</a:t>
                      </a:r>
                    </a:p>
                  </a:txBody>
                  <a:tcPr marL="91440" marR="91440" marT="45720" marB="45720">
                    <a:solidFill>
                      <a:srgbClr val="FFFFFF"/>
                    </a:solidFill>
                  </a:tcPr>
                </a:tc>
              </a:tr>
              <a:tr h="800100">
                <a:tc>
                  <a:txBody>
                    <a:bodyPr/>
                    <a:lstStyle/>
                    <a:p>
                      <a:r>
                        <a:rPr sz="1875" b="0">
                          <a:solidFill>
                            <a:srgbClr val="222222"/>
                          </a:solidFill>
                          <a:latin typeface="Calibri"/>
                          <a:ea typeface="Calibri"/>
                          <a:cs typeface="Calibri"/>
                        </a:rPr>
                        <a:t>Torque through compliant routes</a:t>
                      </a:r>
                    </a:p>
                  </a:txBody>
                  <a:tcPr marL="91440" marR="91440" marT="45720" marB="45720">
                    <a:solidFill>
                      <a:srgbClr val="FFFFFF"/>
                    </a:solidFill>
                  </a:tcPr>
                </a:tc>
                <a:tc>
                  <a:txBody>
                    <a:bodyPr/>
                    <a:lstStyle/>
                    <a:p>
                      <a:r>
                        <a:rPr sz="1875" b="0">
                          <a:solidFill>
                            <a:srgbClr val="222222"/>
                          </a:solidFill>
                          <a:latin typeface="Calibri"/>
                          <a:ea typeface="Calibri"/>
                          <a:cs typeface="Calibri"/>
                        </a:rPr>
                        <a:t>Identified corrections and redesigned-route tests</a:t>
                      </a:r>
                    </a:p>
                  </a:txBody>
                  <a:tcPr marL="91440" marR="91440" marT="45720" marB="45720">
                    <a:solidFill>
                      <a:srgbClr val="FFFFFF"/>
                    </a:solidFill>
                  </a:tcPr>
                </a:tc>
              </a:tr>
              <a:tr h="800100">
                <a:tc>
                  <a:txBody>
                    <a:bodyPr/>
                    <a:lstStyle/>
                    <a:p>
                      <a:r>
                        <a:rPr sz="1875" b="0">
                          <a:solidFill>
                            <a:srgbClr val="222222"/>
                          </a:solidFill>
                          <a:latin typeface="Calibri"/>
                          <a:ea typeface="Calibri"/>
                          <a:cs typeface="Calibri"/>
                        </a:rPr>
                        <a:t>Scattered sensory evidence</a:t>
                      </a:r>
                    </a:p>
                  </a:txBody>
                  <a:tcPr marL="91440" marR="91440" marT="45720" marB="45720">
                    <a:solidFill>
                      <a:srgbClr val="FFFFFF"/>
                    </a:solidFill>
                  </a:tcPr>
                </a:tc>
                <a:tc>
                  <a:txBody>
                    <a:bodyPr/>
                    <a:lstStyle/>
                    <a:p>
                      <a:r>
                        <a:rPr sz="1875" b="0">
                          <a:solidFill>
                            <a:srgbClr val="222222"/>
                          </a:solidFill>
                          <a:latin typeface="Calibri"/>
                          <a:ea typeface="Calibri"/>
                          <a:cs typeface="Calibri"/>
                        </a:rPr>
                        <a:t>Linked, searchable SADb resource</a:t>
                      </a:r>
                    </a:p>
                  </a:txBody>
                  <a:tcPr marL="91440" marR="91440" marT="45720" marB="45720">
                    <a:solidFill>
                      <a:srgbClr val="FFFFFF"/>
                    </a:solidFill>
                  </a:tcPr>
                </a:tc>
              </a:tr>
              <a:tr h="800100">
                <a:tc>
                  <a:txBody>
                    <a:bodyPr/>
                    <a:lstStyle/>
                    <a:p>
                      <a:r>
                        <a:rPr sz="1875" b="0">
                          <a:solidFill>
                            <a:srgbClr val="222222"/>
                          </a:solidFill>
                          <a:latin typeface="Calibri"/>
                          <a:ea typeface="Calibri"/>
                          <a:cs typeface="Calibri"/>
                        </a:rPr>
                        <a:t>Untested model connections</a:t>
                      </a:r>
                    </a:p>
                  </a:txBody>
                  <a:tcPr marL="91440" marR="91440" marT="45720" marB="45720">
                    <a:solidFill>
                      <a:srgbClr val="FFFFFF"/>
                    </a:solidFill>
                  </a:tcPr>
                </a:tc>
                <a:tc>
                  <a:txBody>
                    <a:bodyPr/>
                    <a:lstStyle/>
                    <a:p>
                      <a:r>
                        <a:rPr sz="1875" b="0">
                          <a:solidFill>
                            <a:srgbClr val="222222"/>
                          </a:solidFill>
                          <a:latin typeface="Calibri"/>
                          <a:ea typeface="Calibri"/>
                          <a:cs typeface="Calibri"/>
                        </a:rPr>
                        <a:t>Interfaces with matched circuit checks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63120487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8163F36-5358-42AF-8882-540E4546E2D7}"/>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SCOPE AND ATTRIBUTION</a:t>
            </a:r>
          </a:p>
        </p:txBody>
      </p:sp>
      <p:sp>
        <p:nvSpPr>
          <p:cNvPr id="2" name="">
            <a:extLst xmlns:a="http://schemas.openxmlformats.org/drawingml/2006/main">
              <a:ext uri="{FF2B5EF4-FFF2-40B4-BE49-F238E27FC236}">
                <a16:creationId xmlns:a16="http://schemas.microsoft.com/office/drawing/2014/main" id="{E316BA1F-FBDF-420A-B2BA-722165C241D9}"/>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This dissertation adds models and tests to an existing robot program</a:t>
            </a:r>
          </a:p>
        </p:txBody>
      </p:sp>
      <p:sp>
        <p:nvSpPr>
          <p:cNvPr id="3" name="">
            <a:extLst xmlns:a="http://schemas.openxmlformats.org/drawingml/2006/main">
              <a:ext uri="{FF2B5EF4-FFF2-40B4-BE49-F238E27FC236}">
                <a16:creationId xmlns:a16="http://schemas.microsoft.com/office/drawing/2014/main" id="{C9E48EC0-250B-4726-8A32-1A2D2CC7449E}"/>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1; Ch. 6, Model Conversion and Actuator Coupling</a:t>
            </a:r>
          </a:p>
        </p:txBody>
      </p:sp>
      <p:sp>
        <p:nvSpPr>
          <p:cNvPr id="4" name="">
            <a:extLst xmlns:a="http://schemas.openxmlformats.org/drawingml/2006/main">
              <a:ext uri="{FF2B5EF4-FFF2-40B4-BE49-F238E27FC236}">
                <a16:creationId xmlns:a16="http://schemas.microsoft.com/office/drawing/2014/main" id="{4A228459-63D8-487E-90B6-B708D80AB2C7}"/>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03</a:t>
            </a:r>
          </a:p>
        </p:txBody>
      </p:sp>
      <p:pic>
        <p:nvPicPr>
          <p:cNvPr id="5" name="">
            <a:extLst xmlns:a="http://schemas.openxmlformats.org/drawingml/2006/main">
              <a:ext uri="{FF2B5EF4-FFF2-40B4-BE49-F238E27FC236}">
                <a16:creationId xmlns:a16="http://schemas.microsoft.com/office/drawing/2014/main" id="{F19BC2F5-F12E-405F-8836-A8A4EBE1ADD5}"/>
              </a:ext>
            </a:extLst>
          </p:cNvPr>
          <p:cNvPicPr>
            <a:picLocks xmlns:a="http://schemas.openxmlformats.org/drawingml/2006/main" noChangeAspect="1"/>
          </p:cNvPicPr>
          <p:nvPr/>
        </p:nvPicPr>
        <p:blipFill>
          <a:blip xmlns:r="http://schemas.openxmlformats.org/officeDocument/2006/relationships" xmlns:a="http://schemas.openxmlformats.org/drawingml/2006/main" r:embed="R59b7daaa70204a0a"/>
          <a:stretch xmlns:a="http://schemas.openxmlformats.org/drawingml/2006/main"/>
        </p:blipFill>
        <p:spPr>
          <a:xfrm xmlns:a="http://schemas.openxmlformats.org/drawingml/2006/main">
            <a:off x="1770063" y="1666875"/>
            <a:ext cx="2794000"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9AF2A9BD-E422-4E52-852A-6CFB1740538B}"/>
              </a:ext>
            </a:extLst>
          </p:cNvPr>
          <p:cNvPicPr>
            <a:picLocks xmlns:a="http://schemas.openxmlformats.org/drawingml/2006/main" noChangeAspect="1"/>
          </p:cNvPicPr>
          <p:nvPr/>
        </p:nvPicPr>
        <p:blipFill>
          <a:blip xmlns:r="http://schemas.openxmlformats.org/officeDocument/2006/relationships" xmlns:a="http://schemas.openxmlformats.org/drawingml/2006/main" r:embed="R94216c79b158462e"/>
          <a:stretch xmlns:a="http://schemas.openxmlformats.org/drawingml/2006/main"/>
        </p:blipFill>
        <p:spPr>
          <a:xfrm xmlns:a="http://schemas.openxmlformats.org/drawingml/2006/main">
            <a:off x="7845171" y="1666875"/>
            <a:ext cx="2359533"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D308773-D7AC-46B2-888A-4C19F05D62A0}"/>
              </a:ext>
            </a:extLst>
          </p:cNvPr>
          <p:cNvSpPr>
            <a:spLocks xmlns:a="http://schemas.openxmlformats.org/drawingml/2006/main" noGrp="1"/>
          </p:cNvSpPr>
          <p:nvPr/>
        </p:nvSpPr>
        <p:spPr>
          <a:xfrm xmlns:a="http://schemas.openxmlformats.org/drawingml/2006/main">
            <a:off x="476250"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Existing anatomy and mechanisms</a:t>
            </a:r>
          </a:p>
        </p:txBody>
      </p:sp>
      <p:sp>
        <p:nvSpPr>
          <p:cNvPr id="8" name="">
            <a:extLst xmlns:a="http://schemas.openxmlformats.org/drawingml/2006/main">
              <a:ext uri="{FF2B5EF4-FFF2-40B4-BE49-F238E27FC236}">
                <a16:creationId xmlns:a16="http://schemas.microsoft.com/office/drawing/2014/main" id="{8DCCCEA3-51D2-4736-85AF-725D989821BF}"/>
              </a:ext>
            </a:extLst>
          </p:cNvPr>
          <p:cNvSpPr>
            <a:spLocks xmlns:a="http://schemas.openxmlformats.org/drawingml/2006/main" noGrp="1"/>
          </p:cNvSpPr>
          <p:nvPr/>
        </p:nvSpPr>
        <p:spPr>
          <a:xfrm xmlns:a="http://schemas.openxmlformats.org/drawingml/2006/main">
            <a:off x="6334125"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New route modeling and tests</a:t>
            </a:r>
          </a:p>
        </p:txBody>
      </p:sp>
    </p:spTree>
    <p:extLst>
      <p:ext uri="{BB962C8B-B14F-4D97-AF65-F5344CB8AC3E}">
        <p14:creationId xmlns:p14="http://schemas.microsoft.com/office/powerpoint/2010/main" val="127651522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68F0308-E67C-4381-BB7D-94A50748F910}"/>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ACTUATOR CHARACTERIZATION</a:t>
            </a:r>
          </a:p>
        </p:txBody>
      </p:sp>
      <p:sp>
        <p:nvSpPr>
          <p:cNvPr id="2" name="">
            <a:extLst xmlns:a="http://schemas.openxmlformats.org/drawingml/2006/main">
              <a:ext uri="{FF2B5EF4-FFF2-40B4-BE49-F238E27FC236}">
                <a16:creationId xmlns:a16="http://schemas.microsoft.com/office/drawing/2014/main" id="{DDAECC9D-C63E-4458-BE7C-898A1864A19E}"/>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Isometric tests measured force across length, pressure, and contraction</a:t>
            </a:r>
          </a:p>
        </p:txBody>
      </p:sp>
      <p:sp>
        <p:nvSpPr>
          <p:cNvPr id="3" name="">
            <a:extLst xmlns:a="http://schemas.openxmlformats.org/drawingml/2006/main">
              <a:ext uri="{FF2B5EF4-FFF2-40B4-BE49-F238E27FC236}">
                <a16:creationId xmlns:a16="http://schemas.microsoft.com/office/drawing/2014/main" id="{4ECD77BB-B168-47F0-B773-C25291827FF2}"/>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Bolen, Elzein, Pang, and Hunt (2026), Actuators · Revision C, Ch. 3</a:t>
            </a:r>
          </a:p>
        </p:txBody>
      </p:sp>
      <p:sp>
        <p:nvSpPr>
          <p:cNvPr id="4" name="">
            <a:extLst xmlns:a="http://schemas.openxmlformats.org/drawingml/2006/main">
              <a:ext uri="{FF2B5EF4-FFF2-40B4-BE49-F238E27FC236}">
                <a16:creationId xmlns:a16="http://schemas.microsoft.com/office/drawing/2014/main" id="{C7D36B63-4CAE-4185-B793-2BB7B055AC10}"/>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04</a:t>
            </a:r>
          </a:p>
        </p:txBody>
      </p:sp>
      <p:pic>
        <p:nvPicPr>
          <p:cNvPr id="5" name="">
            <a:extLst xmlns:a="http://schemas.openxmlformats.org/drawingml/2006/main">
              <a:ext uri="{FF2B5EF4-FFF2-40B4-BE49-F238E27FC236}">
                <a16:creationId xmlns:a16="http://schemas.microsoft.com/office/drawing/2014/main" id="{548EE17E-0522-4712-B9BA-1B6EF9A8F9B8}"/>
              </a:ext>
            </a:extLst>
          </p:cNvPr>
          <p:cNvPicPr>
            <a:picLocks xmlns:a="http://schemas.openxmlformats.org/drawingml/2006/main" noChangeAspect="1"/>
          </p:cNvPicPr>
          <p:nvPr/>
        </p:nvPicPr>
        <p:blipFill>
          <a:blip xmlns:r="http://schemas.openxmlformats.org/officeDocument/2006/relationships" xmlns:a="http://schemas.openxmlformats.org/drawingml/2006/main" r:embed="R662057dfaf0c4b03"/>
          <a:stretch xmlns:a="http://schemas.openxmlformats.org/drawingml/2006/main"/>
        </p:blipFill>
        <p:spPr>
          <a:xfrm xmlns:a="http://schemas.openxmlformats.org/drawingml/2006/main">
            <a:off x="4381500" y="1666875"/>
            <a:ext cx="3429000"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A83F916-2966-4B0F-B422-BAE1FE5DBD08}"/>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Braided pneumatic actuators (BPAs): 537 observations</a:t>
            </a:r>
          </a:p>
        </p:txBody>
      </p:sp>
    </p:spTree>
    <p:extLst>
      <p:ext uri="{BB962C8B-B14F-4D97-AF65-F5344CB8AC3E}">
        <p14:creationId xmlns:p14="http://schemas.microsoft.com/office/powerpoint/2010/main" val="61970715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1794F58-EA84-4002-9849-0940FEF48018}"/>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ACTUATOR RESULT</a:t>
            </a:r>
          </a:p>
        </p:txBody>
      </p:sp>
      <p:sp>
        <p:nvSpPr>
          <p:cNvPr id="2" name="">
            <a:extLst xmlns:a="http://schemas.openxmlformats.org/drawingml/2006/main">
              <a:ext uri="{FF2B5EF4-FFF2-40B4-BE49-F238E27FC236}">
                <a16:creationId xmlns:a16="http://schemas.microsoft.com/office/drawing/2014/main" id="{AE7C06B0-94EB-44D4-AE89-8F4D199A790C}"/>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Maximum isometric force decreases as resting length becomes shorter</a:t>
            </a:r>
          </a:p>
        </p:txBody>
      </p:sp>
      <p:sp>
        <p:nvSpPr>
          <p:cNvPr id="3" name="">
            <a:extLst xmlns:a="http://schemas.openxmlformats.org/drawingml/2006/main">
              <a:ext uri="{FF2B5EF4-FFF2-40B4-BE49-F238E27FC236}">
                <a16:creationId xmlns:a16="http://schemas.microsoft.com/office/drawing/2014/main" id="{F0A5D3DE-2F9C-42D3-AA5B-40414690E5B6}"/>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Bolen et al. (2026), Actuators · Revision C, Fig. Fmax_fit</a:t>
            </a:r>
          </a:p>
        </p:txBody>
      </p:sp>
      <p:sp>
        <p:nvSpPr>
          <p:cNvPr id="4" name="">
            <a:extLst xmlns:a="http://schemas.openxmlformats.org/drawingml/2006/main">
              <a:ext uri="{FF2B5EF4-FFF2-40B4-BE49-F238E27FC236}">
                <a16:creationId xmlns:a16="http://schemas.microsoft.com/office/drawing/2014/main" id="{96804CF5-C4BF-427D-AE41-255DDEE91A7F}"/>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05</a:t>
            </a:r>
          </a:p>
        </p:txBody>
      </p:sp>
      <p:pic>
        <p:nvPicPr>
          <p:cNvPr id="5" name="">
            <a:extLst xmlns:a="http://schemas.openxmlformats.org/drawingml/2006/main">
              <a:ext uri="{FF2B5EF4-FFF2-40B4-BE49-F238E27FC236}">
                <a16:creationId xmlns:a16="http://schemas.microsoft.com/office/drawing/2014/main" id="{2EDBA803-2105-47D7-8E79-703AA8600683}"/>
              </a:ext>
            </a:extLst>
          </p:cNvPr>
          <p:cNvPicPr>
            <a:picLocks xmlns:a="http://schemas.openxmlformats.org/drawingml/2006/main" noChangeAspect="1"/>
          </p:cNvPicPr>
          <p:nvPr/>
        </p:nvPicPr>
        <p:blipFill>
          <a:blip xmlns:r="http://schemas.openxmlformats.org/officeDocument/2006/relationships" xmlns:a="http://schemas.openxmlformats.org/drawingml/2006/main" r:embed="R4392423db36849c9"/>
          <a:stretch xmlns:a="http://schemas.openxmlformats.org/drawingml/2006/main"/>
        </p:blipFill>
        <p:spPr>
          <a:xfrm xmlns:a="http://schemas.openxmlformats.org/drawingml/2006/main">
            <a:off x="583890" y="1666875"/>
            <a:ext cx="5166345"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2CF5B780-F4EF-4F04-91EE-A0376D2EF118}"/>
              </a:ext>
            </a:extLst>
          </p:cNvPr>
          <p:cNvPicPr>
            <a:picLocks xmlns:a="http://schemas.openxmlformats.org/drawingml/2006/main" noChangeAspect="1"/>
          </p:cNvPicPr>
          <p:nvPr/>
        </p:nvPicPr>
        <p:blipFill>
          <a:blip xmlns:r="http://schemas.openxmlformats.org/officeDocument/2006/relationships" xmlns:a="http://schemas.openxmlformats.org/drawingml/2006/main" r:embed="Rc11ce2a7113e4e7e"/>
          <a:stretch xmlns:a="http://schemas.openxmlformats.org/drawingml/2006/main"/>
        </p:blipFill>
        <p:spPr>
          <a:xfrm xmlns:a="http://schemas.openxmlformats.org/drawingml/2006/main">
            <a:off x="6253027" y="1666875"/>
            <a:ext cx="5543820" cy="4191000"/>
          </a:xfrm>
          <a:prstGeom xmlns:a="http://schemas.openxmlformats.org/drawingml/2006/main" prst="rect">
            <a:avLst/>
          </a:prstGeom>
        </p:spPr>
      </p:pic>
    </p:spTree>
    <p:extLst>
      <p:ext uri="{BB962C8B-B14F-4D97-AF65-F5344CB8AC3E}">
        <p14:creationId xmlns:p14="http://schemas.microsoft.com/office/powerpoint/2010/main" val="15789883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290F57E-55A3-4F08-A295-440C9A6D3F59}"/>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ACTUATOR RESULT</a:t>
            </a:r>
          </a:p>
        </p:txBody>
      </p:sp>
      <p:sp>
        <p:nvSpPr>
          <p:cNvPr id="2" name="">
            <a:extLst xmlns:a="http://schemas.openxmlformats.org/drawingml/2006/main">
              <a:ext uri="{FF2B5EF4-FFF2-40B4-BE49-F238E27FC236}">
                <a16:creationId xmlns:a16="http://schemas.microsoft.com/office/drawing/2014/main" id="{EA8D519B-CA2A-4D52-9CF6-C7B58917ABBA}"/>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At 112 mm, the new model reduces force error from 42.1% to 4.5%</a:t>
            </a:r>
          </a:p>
        </p:txBody>
      </p:sp>
      <p:sp>
        <p:nvSpPr>
          <p:cNvPr id="3" name="">
            <a:extLst xmlns:a="http://schemas.openxmlformats.org/drawingml/2006/main">
              <a:ext uri="{FF2B5EF4-FFF2-40B4-BE49-F238E27FC236}">
                <a16:creationId xmlns:a16="http://schemas.microsoft.com/office/drawing/2014/main" id="{532749F1-3B13-4C60-B9B7-A22AFD7A7BC0}"/>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3, Effects of Resting Length; 10 mm BPA at 620 kPa</a:t>
            </a:r>
          </a:p>
        </p:txBody>
      </p:sp>
      <p:sp>
        <p:nvSpPr>
          <p:cNvPr id="4" name="">
            <a:extLst xmlns:a="http://schemas.openxmlformats.org/drawingml/2006/main">
              <a:ext uri="{FF2B5EF4-FFF2-40B4-BE49-F238E27FC236}">
                <a16:creationId xmlns:a16="http://schemas.microsoft.com/office/drawing/2014/main" id="{54A70606-D42C-4B4D-8313-FD437702E893}"/>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06</a:t>
            </a:r>
          </a:p>
        </p:txBody>
      </p:sp>
      <p:graphicFrame>
        <p:nvGraphicFramePr>
          <p:cNvPr id="5" name="Chart">
            <a:extLst xmlns:a="http://schemas.openxmlformats.org/drawingml/2006/main">
              <a:ext uri="{FF2B5EF4-FFF2-40B4-BE49-F238E27FC236}">
                <a16:creationId xmlns:a16="http://schemas.microsoft.com/office/drawing/2014/main" id="{05348701-129C-4662-8FBE-56AC68A9A6C0}"/>
              </a:ext>
            </a:extLst>
          </p:cNvPr>
          <p:cNvGraphicFramePr/>
          <p:nvPr/>
        </p:nvGraphicFramePr>
        <p:xfrm>
          <a:off xmlns:a="http://schemas.openxmlformats.org/drawingml/2006/main" x="1143000" y="1762125"/>
          <a:ext xmlns:a="http://schemas.openxmlformats.org/drawingml/2006/main" cx="9810750" cy="4000500"/>
        </p:xfrm>
        <a:graphic xmlns:a="http://schemas.openxmlformats.org/drawingml/2006/main">
          <a:graphicData uri="http://schemas.openxmlformats.org/drawingml/2006/chart">
            <c:chart xmlns:r="http://schemas.openxmlformats.org/officeDocument/2006/relationships" xmlns:c="http://schemas.openxmlformats.org/drawingml/2006/chart" r:id="R4edb280defb54151"/>
          </a:graphicData>
        </a:graphic>
      </p:graphicFrame>
      <p:sp>
        <p:nvSpPr>
          <p:cNvPr id="6" name="">
            <a:extLst xmlns:a="http://schemas.openxmlformats.org/drawingml/2006/main">
              <a:ext uri="{FF2B5EF4-FFF2-40B4-BE49-F238E27FC236}">
                <a16:creationId xmlns:a16="http://schemas.microsoft.com/office/drawing/2014/main" id="{B470DAF8-4333-402C-88C2-05826CD55613}"/>
              </a:ext>
            </a:extLst>
          </p:cNvPr>
          <p:cNvSpPr>
            <a:spLocks xmlns:a="http://schemas.openxmlformats.org/drawingml/2006/main" noGrp="1"/>
          </p:cNvSpPr>
          <p:nvPr/>
        </p:nvSpPr>
        <p:spPr>
          <a:xfrm xmlns:a="http://schemas.openxmlformats.org/drawingml/2006/main">
            <a:off x="619125" y="59055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796B"/>
                </a:solidFill>
                <a:latin typeface="Calibri"/>
                <a:ea typeface="Calibri"/>
                <a:cs typeface="Calibri"/>
              </a:defRPr>
            </a:defPPr>
            <a:lvl1pPr>
              <a:defRPr sz="2025" b="1">
                <a:solidFill>
                  <a:srgbClr val="00796B"/>
                </a:solidFill>
                <a:latin typeface="Calibri"/>
                <a:ea typeface="Calibri"/>
                <a:cs typeface="Calibri"/>
              </a:defRPr>
            </a:lvl1pPr>
            <a:lvl2pPr>
              <a:defRPr sz="2025" b="1">
                <a:solidFill>
                  <a:srgbClr val="00796B"/>
                </a:solidFill>
                <a:latin typeface="Calibri"/>
                <a:ea typeface="Calibri"/>
                <a:cs typeface="Calibri"/>
              </a:defRPr>
            </a:lvl2pPr>
            <a:lvl3pPr>
              <a:defRPr sz="2025" b="1">
                <a:solidFill>
                  <a:srgbClr val="00796B"/>
                </a:solidFill>
                <a:latin typeface="Calibri"/>
                <a:ea typeface="Calibri"/>
                <a:cs typeface="Calibri"/>
              </a:defRPr>
            </a:lvl3pPr>
            <a:lvl4pPr>
              <a:defRPr sz="2025" b="1">
                <a:solidFill>
                  <a:srgbClr val="00796B"/>
                </a:solidFill>
                <a:latin typeface="Calibri"/>
                <a:ea typeface="Calibri"/>
                <a:cs typeface="Calibri"/>
              </a:defRPr>
            </a:lvl4pPr>
            <a:lvl5pPr>
              <a:defRPr sz="2025" b="1">
                <a:solidFill>
                  <a:srgbClr val="00796B"/>
                </a:solidFill>
                <a:latin typeface="Calibri"/>
                <a:ea typeface="Calibri"/>
                <a:cs typeface="Calibri"/>
              </a:defRPr>
            </a:lvl5pPr>
            <a:lvl6pPr>
              <a:defRPr sz="2025" b="1">
                <a:solidFill>
                  <a:srgbClr val="00796B"/>
                </a:solidFill>
                <a:latin typeface="Calibri"/>
                <a:ea typeface="Calibri"/>
                <a:cs typeface="Calibri"/>
              </a:defRPr>
            </a:lvl6pPr>
            <a:lvl7pPr>
              <a:defRPr sz="2025" b="1">
                <a:solidFill>
                  <a:srgbClr val="00796B"/>
                </a:solidFill>
                <a:latin typeface="Calibri"/>
                <a:ea typeface="Calibri"/>
                <a:cs typeface="Calibri"/>
              </a:defRPr>
            </a:lvl7pPr>
            <a:lvl8pPr>
              <a:defRPr sz="2025" b="1">
                <a:solidFill>
                  <a:srgbClr val="00796B"/>
                </a:solidFill>
                <a:latin typeface="Calibri"/>
                <a:ea typeface="Calibri"/>
                <a:cs typeface="Calibri"/>
              </a:defRPr>
            </a:lvl8pPr>
            <a:lvl9pPr>
              <a:defRPr sz="2025" b="1">
                <a:solidFill>
                  <a:srgbClr val="00796B"/>
                </a:solidFill>
                <a:latin typeface="Calibri"/>
                <a:ea typeface="Calibri"/>
                <a:cs typeface="Calibri"/>
              </a:defRPr>
            </a:lvl9pPr>
          </a:lstStyle>
          <a:p xmlns:a="http://schemas.openxmlformats.org/drawingml/2006/main">
            <a:pPr>
              <a:defRPr sz="2025" b="1">
                <a:solidFill>
                  <a:srgbClr val="00796B"/>
                </a:solidFill>
                <a:latin typeface="Calibri"/>
                <a:ea typeface="Calibri"/>
                <a:cs typeface="Calibri"/>
              </a:defRPr>
            </a:pPr>
            <a:r>
              <a:rPr sz="2025" b="1">
                <a:solidFill>
                  <a:srgbClr val="00796B"/>
                </a:solidFill>
                <a:latin typeface="Calibri"/>
                <a:ea typeface="Calibri"/>
                <a:cs typeface="Calibri"/>
              </a:rPr>
              <a:t>350.9 N measured</a:t>
            </a:r>
          </a:p>
        </p:txBody>
      </p:sp>
    </p:spTree>
    <p:extLst>
      <p:ext uri="{BB962C8B-B14F-4D97-AF65-F5344CB8AC3E}">
        <p14:creationId xmlns:p14="http://schemas.microsoft.com/office/powerpoint/2010/main" val="45954477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C80D749-3B0D-41D5-962F-5D7ACA5EF43A}"/>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ACTUATOR MODEL</a:t>
            </a:r>
          </a:p>
        </p:txBody>
      </p:sp>
      <p:sp>
        <p:nvSpPr>
          <p:cNvPr id="2" name="">
            <a:extLst xmlns:a="http://schemas.openxmlformats.org/drawingml/2006/main">
              <a:ext uri="{FF2B5EF4-FFF2-40B4-BE49-F238E27FC236}">
                <a16:creationId xmlns:a16="http://schemas.microsoft.com/office/drawing/2014/main" id="{16EBDA9A-6D21-46D8-8714-BF63CEB96042}"/>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Normalized force curves describe both tested actuator diameters</a:t>
            </a:r>
          </a:p>
        </p:txBody>
      </p:sp>
      <p:sp>
        <p:nvSpPr>
          <p:cNvPr id="3" name="">
            <a:extLst xmlns:a="http://schemas.openxmlformats.org/drawingml/2006/main">
              <a:ext uri="{FF2B5EF4-FFF2-40B4-BE49-F238E27FC236}">
                <a16:creationId xmlns:a16="http://schemas.microsoft.com/office/drawing/2014/main" id="{E6D5B914-ECA8-41E8-9088-AF595F1A7F48}"/>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Bolen et al. (2026), Actuators · Revision C, Fig. GenForceFit</a:t>
            </a:r>
          </a:p>
        </p:txBody>
      </p:sp>
      <p:sp>
        <p:nvSpPr>
          <p:cNvPr id="4" name="">
            <a:extLst xmlns:a="http://schemas.openxmlformats.org/drawingml/2006/main">
              <a:ext uri="{FF2B5EF4-FFF2-40B4-BE49-F238E27FC236}">
                <a16:creationId xmlns:a16="http://schemas.microsoft.com/office/drawing/2014/main" id="{BFE700A1-A7DC-4211-9A1A-2AFC16DC408F}"/>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07</a:t>
            </a:r>
          </a:p>
        </p:txBody>
      </p:sp>
      <p:pic>
        <p:nvPicPr>
          <p:cNvPr id="5" name="">
            <a:extLst xmlns:a="http://schemas.openxmlformats.org/drawingml/2006/main">
              <a:ext uri="{FF2B5EF4-FFF2-40B4-BE49-F238E27FC236}">
                <a16:creationId xmlns:a16="http://schemas.microsoft.com/office/drawing/2014/main" id="{3883DBE1-9BBC-4599-B74C-1E13DEDD5492}"/>
              </a:ext>
            </a:extLst>
          </p:cNvPr>
          <p:cNvPicPr>
            <a:picLocks xmlns:a="http://schemas.openxmlformats.org/drawingml/2006/main" noChangeAspect="1"/>
          </p:cNvPicPr>
          <p:nvPr/>
        </p:nvPicPr>
        <p:blipFill>
          <a:blip xmlns:r="http://schemas.openxmlformats.org/officeDocument/2006/relationships" xmlns:a="http://schemas.openxmlformats.org/drawingml/2006/main" r:embed="R865d8dfa7c6c4cf5"/>
          <a:stretch xmlns:a="http://schemas.openxmlformats.org/drawingml/2006/main"/>
        </p:blipFill>
        <p:spPr>
          <a:xfrm xmlns:a="http://schemas.openxmlformats.org/drawingml/2006/main">
            <a:off x="896403" y="1666875"/>
            <a:ext cx="4541318"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F2E336E0-8C6A-474F-A2C4-E1C544D6E410}"/>
              </a:ext>
            </a:extLst>
          </p:cNvPr>
          <p:cNvPicPr>
            <a:picLocks xmlns:a="http://schemas.openxmlformats.org/drawingml/2006/main" noChangeAspect="1"/>
          </p:cNvPicPr>
          <p:nvPr/>
        </p:nvPicPr>
        <p:blipFill>
          <a:blip xmlns:r="http://schemas.openxmlformats.org/officeDocument/2006/relationships" xmlns:a="http://schemas.openxmlformats.org/drawingml/2006/main" r:embed="R196fb092530c48b8"/>
          <a:stretch xmlns:a="http://schemas.openxmlformats.org/drawingml/2006/main"/>
        </p:blipFill>
        <p:spPr>
          <a:xfrm xmlns:a="http://schemas.openxmlformats.org/drawingml/2006/main">
            <a:off x="6818361" y="1666875"/>
            <a:ext cx="4413153" cy="4191000"/>
          </a:xfrm>
          <a:prstGeom xmlns:a="http://schemas.openxmlformats.org/drawingml/2006/main" prst="rect">
            <a:avLst/>
          </a:prstGeom>
        </p:spPr>
      </p:pic>
    </p:spTree>
    <p:extLst>
      <p:ext uri="{BB962C8B-B14F-4D97-AF65-F5344CB8AC3E}">
        <p14:creationId xmlns:p14="http://schemas.microsoft.com/office/powerpoint/2010/main" val="190163696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7DC184B-D3EB-4FBE-9741-2F06B69A3B35}"/>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ACTUATOR EVIDENCE</a:t>
            </a:r>
          </a:p>
        </p:txBody>
      </p:sp>
      <p:sp>
        <p:nvSpPr>
          <p:cNvPr id="2" name="">
            <a:extLst xmlns:a="http://schemas.openxmlformats.org/drawingml/2006/main">
              <a:ext uri="{FF2B5EF4-FFF2-40B4-BE49-F238E27FC236}">
                <a16:creationId xmlns:a16="http://schemas.microsoft.com/office/drawing/2014/main" id="{00489173-DE0B-45A1-8506-839B82DA7074}"/>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new model has the lowest error in the reported model comparisons</a:t>
            </a:r>
          </a:p>
        </p:txBody>
      </p:sp>
      <p:sp>
        <p:nvSpPr>
          <p:cNvPr id="3" name="">
            <a:extLst xmlns:a="http://schemas.openxmlformats.org/drawingml/2006/main">
              <a:ext uri="{FF2B5EF4-FFF2-40B4-BE49-F238E27FC236}">
                <a16:creationId xmlns:a16="http://schemas.microsoft.com/office/drawing/2014/main" id="{16EF8ED4-DFB5-44B3-83D4-197B4E55E098}"/>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Bolen et al. (2026), Actuators · Revision C, Fig. Comparison and model-comparison table</a:t>
            </a:r>
          </a:p>
        </p:txBody>
      </p:sp>
      <p:sp>
        <p:nvSpPr>
          <p:cNvPr id="4" name="">
            <a:extLst xmlns:a="http://schemas.openxmlformats.org/drawingml/2006/main">
              <a:ext uri="{FF2B5EF4-FFF2-40B4-BE49-F238E27FC236}">
                <a16:creationId xmlns:a16="http://schemas.microsoft.com/office/drawing/2014/main" id="{6DB8B807-C5CC-4A58-B43B-C402091FC7A7}"/>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08</a:t>
            </a:r>
          </a:p>
        </p:txBody>
      </p:sp>
      <p:pic>
        <p:nvPicPr>
          <p:cNvPr id="5" name="">
            <a:extLst xmlns:a="http://schemas.openxmlformats.org/drawingml/2006/main">
              <a:ext uri="{FF2B5EF4-FFF2-40B4-BE49-F238E27FC236}">
                <a16:creationId xmlns:a16="http://schemas.microsoft.com/office/drawing/2014/main" id="{1D9AE5C5-080C-4318-8111-88EDC5A886D9}"/>
              </a:ext>
            </a:extLst>
          </p:cNvPr>
          <p:cNvPicPr>
            <a:picLocks xmlns:a="http://schemas.openxmlformats.org/drawingml/2006/main" noChangeAspect="1"/>
          </p:cNvPicPr>
          <p:nvPr/>
        </p:nvPicPr>
        <p:blipFill>
          <a:blip xmlns:r="http://schemas.openxmlformats.org/officeDocument/2006/relationships" xmlns:a="http://schemas.openxmlformats.org/drawingml/2006/main" r:embed="Rf55c4317eefd44fc"/>
          <a:stretch xmlns:a="http://schemas.openxmlformats.org/drawingml/2006/main"/>
        </p:blipFill>
        <p:spPr>
          <a:xfrm xmlns:a="http://schemas.openxmlformats.org/drawingml/2006/main">
            <a:off x="791829" y="1666875"/>
            <a:ext cx="10608342" cy="4572000"/>
          </a:xfrm>
          <a:prstGeom xmlns:a="http://schemas.openxmlformats.org/drawingml/2006/main" prst="rect">
            <a:avLst/>
          </a:prstGeom>
        </p:spPr>
      </p:pic>
    </p:spTree>
    <p:extLst>
      <p:ext uri="{BB962C8B-B14F-4D97-AF65-F5344CB8AC3E}">
        <p14:creationId xmlns:p14="http://schemas.microsoft.com/office/powerpoint/2010/main" val="27966437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8B5E56A-705B-4449-ACCF-98A338C5306A}"/>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EXPERIMENTAL DESIGN</a:t>
            </a:r>
          </a:p>
        </p:txBody>
      </p:sp>
      <p:sp>
        <p:nvSpPr>
          <p:cNvPr id="2" name="">
            <a:extLst xmlns:a="http://schemas.openxmlformats.org/drawingml/2006/main">
              <a:ext uri="{FF2B5EF4-FFF2-40B4-BE49-F238E27FC236}">
                <a16:creationId xmlns:a16="http://schemas.microsoft.com/office/drawing/2014/main" id="{D9FE6D59-7A2F-41F9-81E6-AA41952C2416}"/>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Pinned and biomimetic knees separate identification from transfer tests</a:t>
            </a:r>
          </a:p>
        </p:txBody>
      </p:sp>
      <p:sp>
        <p:nvSpPr>
          <p:cNvPr id="3" name="">
            <a:extLst xmlns:a="http://schemas.openxmlformats.org/drawingml/2006/main">
              <a:ext uri="{FF2B5EF4-FFF2-40B4-BE49-F238E27FC236}">
                <a16:creationId xmlns:a16="http://schemas.microsoft.com/office/drawing/2014/main" id="{51A9D86C-4878-41C1-9590-86DC63A53E7C}"/>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test stands; four-bar knee credited to Steele et al.</a:t>
            </a:r>
          </a:p>
        </p:txBody>
      </p:sp>
      <p:sp>
        <p:nvSpPr>
          <p:cNvPr id="4" name="">
            <a:extLst xmlns:a="http://schemas.openxmlformats.org/drawingml/2006/main">
              <a:ext uri="{FF2B5EF4-FFF2-40B4-BE49-F238E27FC236}">
                <a16:creationId xmlns:a16="http://schemas.microsoft.com/office/drawing/2014/main" id="{6D89FCDA-F9FE-4EED-AD69-F473A5E65AFA}"/>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09</a:t>
            </a:r>
          </a:p>
        </p:txBody>
      </p:sp>
      <p:pic>
        <p:nvPicPr>
          <p:cNvPr id="5" name="">
            <a:extLst xmlns:a="http://schemas.openxmlformats.org/drawingml/2006/main">
              <a:ext uri="{FF2B5EF4-FFF2-40B4-BE49-F238E27FC236}">
                <a16:creationId xmlns:a16="http://schemas.microsoft.com/office/drawing/2014/main" id="{DCEB1F7F-CCE3-4BD1-831A-15DF6A687E44}"/>
              </a:ext>
            </a:extLst>
          </p:cNvPr>
          <p:cNvPicPr>
            <a:picLocks xmlns:a="http://schemas.openxmlformats.org/drawingml/2006/main" noChangeAspect="1"/>
          </p:cNvPicPr>
          <p:nvPr/>
        </p:nvPicPr>
        <p:blipFill>
          <a:blip xmlns:r="http://schemas.openxmlformats.org/officeDocument/2006/relationships" xmlns:a="http://schemas.openxmlformats.org/drawingml/2006/main" r:embed="R1d252c40aec243c7"/>
          <a:stretch xmlns:a="http://schemas.openxmlformats.org/drawingml/2006/main"/>
        </p:blipFill>
        <p:spPr>
          <a:xfrm xmlns:a="http://schemas.openxmlformats.org/drawingml/2006/main">
            <a:off x="4136571" y="1666875"/>
            <a:ext cx="3918857" cy="4572000"/>
          </a:xfrm>
          <a:prstGeom xmlns:a="http://schemas.openxmlformats.org/drawingml/2006/main" prst="rect">
            <a:avLst/>
          </a:prstGeom>
        </p:spPr>
      </p:pic>
    </p:spTree>
    <p:extLst>
      <p:ext uri="{BB962C8B-B14F-4D97-AF65-F5344CB8AC3E}">
        <p14:creationId xmlns:p14="http://schemas.microsoft.com/office/powerpoint/2010/main" val="98710622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8384C8F-37BF-4C6F-9DF0-BFFB35A71617}"/>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DIAGNOSIS</a:t>
            </a:r>
          </a:p>
        </p:txBody>
      </p:sp>
      <p:sp>
        <p:nvSpPr>
          <p:cNvPr id="2" name="">
            <a:extLst xmlns:a="http://schemas.openxmlformats.org/drawingml/2006/main">
              <a:ext uri="{FF2B5EF4-FFF2-40B4-BE49-F238E27FC236}">
                <a16:creationId xmlns:a16="http://schemas.microsoft.com/office/drawing/2014/main" id="{7783EA93-10EF-4DBF-A902-42BBA04A9449}"/>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Measured actuator length exposes errors in the rigid-route prediction</a:t>
            </a:r>
          </a:p>
        </p:txBody>
      </p:sp>
      <p:sp>
        <p:nvSpPr>
          <p:cNvPr id="3" name="">
            <a:extLst xmlns:a="http://schemas.openxmlformats.org/drawingml/2006/main">
              <a:ext uri="{FF2B5EF4-FFF2-40B4-BE49-F238E27FC236}">
                <a16:creationId xmlns:a16="http://schemas.microsoft.com/office/drawing/2014/main" id="{7679E7CA-5236-41CD-BC7A-6CE16DCA2815}"/>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FlxPin_preopt; hybrid-method description</a:t>
            </a:r>
          </a:p>
        </p:txBody>
      </p:sp>
      <p:sp>
        <p:nvSpPr>
          <p:cNvPr id="4" name="">
            <a:extLst xmlns:a="http://schemas.openxmlformats.org/drawingml/2006/main">
              <a:ext uri="{FF2B5EF4-FFF2-40B4-BE49-F238E27FC236}">
                <a16:creationId xmlns:a16="http://schemas.microsoft.com/office/drawing/2014/main" id="{CEBBF892-B939-4492-AAA9-C8291F253BFA}"/>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10</a:t>
            </a:r>
          </a:p>
        </p:txBody>
      </p:sp>
      <p:pic>
        <p:nvPicPr>
          <p:cNvPr id="5" name="">
            <a:extLst xmlns:a="http://schemas.openxmlformats.org/drawingml/2006/main">
              <a:ext uri="{FF2B5EF4-FFF2-40B4-BE49-F238E27FC236}">
                <a16:creationId xmlns:a16="http://schemas.microsoft.com/office/drawing/2014/main" id="{4A591187-B0C0-4805-A87F-9DF8EEA02099}"/>
              </a:ext>
            </a:extLst>
          </p:cNvPr>
          <p:cNvPicPr>
            <a:picLocks xmlns:a="http://schemas.openxmlformats.org/drawingml/2006/main" noChangeAspect="1"/>
          </p:cNvPicPr>
          <p:nvPr/>
        </p:nvPicPr>
        <p:blipFill>
          <a:blip xmlns:r="http://schemas.openxmlformats.org/officeDocument/2006/relationships" xmlns:a="http://schemas.openxmlformats.org/drawingml/2006/main" r:embed="Rb12d05f254024980"/>
          <a:stretch xmlns:a="http://schemas.openxmlformats.org/drawingml/2006/main"/>
        </p:blipFill>
        <p:spPr>
          <a:xfrm xmlns:a="http://schemas.openxmlformats.org/drawingml/2006/main">
            <a:off x="797185" y="1666875"/>
            <a:ext cx="10597631" cy="4572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52301E4-E723-41BF-B7F8-C41AAD3FDA4D}"/>
              </a:ext>
            </a:extLst>
          </p:cNvPr>
          <p:cNvSpPr>
            <a:spLocks xmlns:a="http://schemas.openxmlformats.org/drawingml/2006/main" noGrp="1"/>
          </p:cNvSpPr>
          <p:nvPr/>
        </p:nvSpPr>
        <p:spPr>
          <a:xfrm xmlns:a="http://schemas.openxmlformats.org/drawingml/2006/main">
            <a:off x="428625" y="16192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222222"/>
                </a:solidFill>
                <a:latin typeface="Calibri"/>
                <a:ea typeface="Calibri"/>
                <a:cs typeface="Calibri"/>
              </a:defRPr>
            </a:defPPr>
            <a:lvl1pPr>
              <a:defRPr sz="1800" b="1">
                <a:solidFill>
                  <a:srgbClr val="222222"/>
                </a:solidFill>
                <a:latin typeface="Calibri"/>
                <a:ea typeface="Calibri"/>
                <a:cs typeface="Calibri"/>
              </a:defRPr>
            </a:lvl1pPr>
            <a:lvl2pPr>
              <a:defRPr sz="1800" b="1">
                <a:solidFill>
                  <a:srgbClr val="222222"/>
                </a:solidFill>
                <a:latin typeface="Calibri"/>
                <a:ea typeface="Calibri"/>
                <a:cs typeface="Calibri"/>
              </a:defRPr>
            </a:lvl2pPr>
            <a:lvl3pPr>
              <a:defRPr sz="1800" b="1">
                <a:solidFill>
                  <a:srgbClr val="222222"/>
                </a:solidFill>
                <a:latin typeface="Calibri"/>
                <a:ea typeface="Calibri"/>
                <a:cs typeface="Calibri"/>
              </a:defRPr>
            </a:lvl3pPr>
            <a:lvl4pPr>
              <a:defRPr sz="1800" b="1">
                <a:solidFill>
                  <a:srgbClr val="222222"/>
                </a:solidFill>
                <a:latin typeface="Calibri"/>
                <a:ea typeface="Calibri"/>
                <a:cs typeface="Calibri"/>
              </a:defRPr>
            </a:lvl4pPr>
            <a:lvl5pPr>
              <a:defRPr sz="1800" b="1">
                <a:solidFill>
                  <a:srgbClr val="222222"/>
                </a:solidFill>
                <a:latin typeface="Calibri"/>
                <a:ea typeface="Calibri"/>
                <a:cs typeface="Calibri"/>
              </a:defRPr>
            </a:lvl5pPr>
            <a:lvl6pPr>
              <a:defRPr sz="1800" b="1">
                <a:solidFill>
                  <a:srgbClr val="222222"/>
                </a:solidFill>
                <a:latin typeface="Calibri"/>
                <a:ea typeface="Calibri"/>
                <a:cs typeface="Calibri"/>
              </a:defRPr>
            </a:lvl6pPr>
            <a:lvl7pPr>
              <a:defRPr sz="1800" b="1">
                <a:solidFill>
                  <a:srgbClr val="222222"/>
                </a:solidFill>
                <a:latin typeface="Calibri"/>
                <a:ea typeface="Calibri"/>
                <a:cs typeface="Calibri"/>
              </a:defRPr>
            </a:lvl7pPr>
            <a:lvl8pPr>
              <a:defRPr sz="1800" b="1">
                <a:solidFill>
                  <a:srgbClr val="222222"/>
                </a:solidFill>
                <a:latin typeface="Calibri"/>
                <a:ea typeface="Calibri"/>
                <a:cs typeface="Calibri"/>
              </a:defRPr>
            </a:lvl8pPr>
            <a:lvl9pPr>
              <a:defRPr sz="1800" b="1">
                <a:solidFill>
                  <a:srgbClr val="222222"/>
                </a:solidFill>
                <a:latin typeface="Calibri"/>
                <a:ea typeface="Calibri"/>
                <a:cs typeface="Calibri"/>
              </a:defRPr>
            </a:lvl9pPr>
          </a:lstStyle>
          <a:p xmlns:a="http://schemas.openxmlformats.org/drawingml/2006/main">
            <a:pPr>
              <a:defRPr sz="1800" b="1">
                <a:solidFill>
                  <a:srgbClr val="222222"/>
                </a:solidFill>
                <a:latin typeface="Calibri"/>
                <a:ea typeface="Calibri"/>
                <a:cs typeface="Calibri"/>
              </a:defRPr>
            </a:pPr>
            <a:r>
              <a:rPr sz="1800" b="1">
                <a:solidFill>
                  <a:srgbClr val="222222"/>
                </a:solidFill>
                <a:latin typeface="Calibri"/>
                <a:ea typeface="Calibri"/>
                <a:cs typeface="Calibri"/>
              </a:rPr>
              <a:t>Torque (N·m)</a:t>
            </a:r>
          </a:p>
        </p:txBody>
      </p:sp>
    </p:spTree>
    <p:extLst>
      <p:ext uri="{BB962C8B-B14F-4D97-AF65-F5344CB8AC3E}">
        <p14:creationId xmlns:p14="http://schemas.microsoft.com/office/powerpoint/2010/main" val="5544430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2E0153B-4595-4E2E-AB0E-9DF67895FA2F}"/>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MODEL CONTRIBUTION</a:t>
            </a:r>
          </a:p>
        </p:txBody>
      </p:sp>
      <p:sp>
        <p:nvSpPr>
          <p:cNvPr id="2" name="">
            <a:extLst xmlns:a="http://schemas.openxmlformats.org/drawingml/2006/main">
              <a:ext uri="{FF2B5EF4-FFF2-40B4-BE49-F238E27FC236}">
                <a16:creationId xmlns:a16="http://schemas.microsoft.com/office/drawing/2014/main" id="{3396B3F0-918C-4C5A-9EB3-D8BD55B07869}"/>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corrected model accounts for length offset, compliance, and wrapping</a:t>
            </a:r>
          </a:p>
        </p:txBody>
      </p:sp>
      <p:sp>
        <p:nvSpPr>
          <p:cNvPr id="3" name="">
            <a:extLst xmlns:a="http://schemas.openxmlformats.org/drawingml/2006/main">
              <a:ext uri="{FF2B5EF4-FFF2-40B4-BE49-F238E27FC236}">
                <a16:creationId xmlns:a16="http://schemas.microsoft.com/office/drawing/2014/main" id="{44767E31-BD68-4D63-9EB7-FA2B4056F2C2}"/>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Improved Torque Model; Appendix C</a:t>
            </a:r>
          </a:p>
        </p:txBody>
      </p:sp>
      <p:sp>
        <p:nvSpPr>
          <p:cNvPr id="4" name="">
            <a:extLst xmlns:a="http://schemas.openxmlformats.org/drawingml/2006/main">
              <a:ext uri="{FF2B5EF4-FFF2-40B4-BE49-F238E27FC236}">
                <a16:creationId xmlns:a16="http://schemas.microsoft.com/office/drawing/2014/main" id="{61EB3FDE-FBAE-40DE-87CB-96F46DD16CBF}"/>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11</a:t>
            </a:r>
          </a:p>
        </p:txBody>
      </p:sp>
      <p:pic>
        <p:nvPicPr>
          <p:cNvPr id="5" name="">
            <a:extLst xmlns:a="http://schemas.openxmlformats.org/drawingml/2006/main">
              <a:ext uri="{FF2B5EF4-FFF2-40B4-BE49-F238E27FC236}">
                <a16:creationId xmlns:a16="http://schemas.microsoft.com/office/drawing/2014/main" id="{31C66A0B-C93E-4020-80FE-9F81D6CCAE7E}"/>
              </a:ext>
            </a:extLst>
          </p:cNvPr>
          <p:cNvPicPr>
            <a:picLocks xmlns:a="http://schemas.openxmlformats.org/drawingml/2006/main" noChangeAspect="1"/>
          </p:cNvPicPr>
          <p:nvPr/>
        </p:nvPicPr>
        <p:blipFill>
          <a:blip xmlns:r="http://schemas.openxmlformats.org/officeDocument/2006/relationships" xmlns:a="http://schemas.openxmlformats.org/drawingml/2006/main" r:embed="R325147c6dc254ef3"/>
          <a:stretch xmlns:a="http://schemas.openxmlformats.org/drawingml/2006/main"/>
        </p:blipFill>
        <p:spPr>
          <a:xfrm xmlns:a="http://schemas.openxmlformats.org/drawingml/2006/main">
            <a:off x="428625" y="1839011"/>
            <a:ext cx="11334750" cy="3656229"/>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5F5A418-8AB0-4F11-AB6A-138AB101D73F}"/>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Effective system stiffness includes the fixtures and transmission</a:t>
            </a:r>
          </a:p>
        </p:txBody>
      </p:sp>
    </p:spTree>
    <p:extLst>
      <p:ext uri="{BB962C8B-B14F-4D97-AF65-F5344CB8AC3E}">
        <p14:creationId xmlns:p14="http://schemas.microsoft.com/office/powerpoint/2010/main" val="210826586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3D90648-2282-4E8A-BBEF-0367CB645035}"/>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IDENTIFICATION</a:t>
            </a:r>
          </a:p>
        </p:txBody>
      </p:sp>
      <p:sp>
        <p:nvSpPr>
          <p:cNvPr id="2" name="">
            <a:extLst xmlns:a="http://schemas.openxmlformats.org/drawingml/2006/main">
              <a:ext uri="{FF2B5EF4-FFF2-40B4-BE49-F238E27FC236}">
                <a16:creationId xmlns:a16="http://schemas.microsoft.com/office/drawing/2014/main" id="{DDDDD632-841C-4B25-AFE2-7D616BB6D8AA}"/>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Identification reserves tests before assessing corrected predictions</a:t>
            </a:r>
          </a:p>
        </p:txBody>
      </p:sp>
      <p:sp>
        <p:nvSpPr>
          <p:cNvPr id="3" name="">
            <a:extLst xmlns:a="http://schemas.openxmlformats.org/drawingml/2006/main">
              <a:ext uri="{FF2B5EF4-FFF2-40B4-BE49-F238E27FC236}">
                <a16:creationId xmlns:a16="http://schemas.microsoft.com/office/drawing/2014/main" id="{F968878F-74C4-499F-B3DB-8F2BB158B0DF}"/>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Tables FlxPinGof and ExtPinGof; Appendix C</a:t>
            </a:r>
          </a:p>
        </p:txBody>
      </p:sp>
      <p:sp>
        <p:nvSpPr>
          <p:cNvPr id="4" name="">
            <a:extLst xmlns:a="http://schemas.openxmlformats.org/drawingml/2006/main">
              <a:ext uri="{FF2B5EF4-FFF2-40B4-BE49-F238E27FC236}">
                <a16:creationId xmlns:a16="http://schemas.microsoft.com/office/drawing/2014/main" id="{00BF1808-1208-4C1E-B7E5-3959069106C9}"/>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12</a:t>
            </a:r>
          </a:p>
        </p:txBody>
      </p:sp>
      <p:graphicFrame>
        <p:nvGraphicFramePr>
          <p:cNvPr id="5" name="">
            <a:extLst xmlns:a="http://schemas.openxmlformats.org/drawingml/2006/main">
              <a:ext uri="{FF2B5EF4-FFF2-40B4-BE49-F238E27FC236}">
                <a16:creationId xmlns:a16="http://schemas.microsoft.com/office/drawing/2014/main" id="{C466D73C-8730-4025-9313-6E3915635466}"/>
              </a:ext>
            </a:extLst>
          </p:cNvPr>
          <p:cNvGraphicFramePr/>
          <p:nvPr/>
        </p:nvGraphicFramePr>
        <p:xfrm>
          <a:off xmlns:a="http://schemas.openxmlformats.org/drawingml/2006/main" x="476250" y="1952625"/>
          <a:ext xmlns:a="http://schemas.openxmlformats.org/drawingml/2006/main" cx="11239500" cy="2571750"/>
        </p:xfrm>
        <a:graphic xmlns:a="http://schemas.openxmlformats.org/drawingml/2006/main">
          <a:graphicData uri="http://schemas.openxmlformats.org/drawingml/2006/table">
            <a:tbl>
              <a:tblPr/>
              <a:tblGrid>
                <a:gridCol w="2809875"/>
                <a:gridCol w="2809875"/>
                <a:gridCol w="2809875"/>
                <a:gridCol w="2809875"/>
              </a:tblGrid>
              <a:tr h="857250">
                <a:tc>
                  <a:txBody>
                    <a:bodyPr/>
                    <a:lstStyle/>
                    <a:p>
                      <a:r>
                        <a:rPr sz="1875" b="1">
                          <a:solidFill>
                            <a:srgbClr val="00796B"/>
                          </a:solidFill>
                          <a:latin typeface="Calibri"/>
                          <a:ea typeface="Calibri"/>
                          <a:cs typeface="Calibri"/>
                        </a:rPr>
                        <a:t>Adopted fold</a:t>
                      </a:r>
                    </a:p>
                  </a:txBody>
                  <a:tcPr marL="91440" marR="91440" marT="45720" marB="45720">
                    <a:solidFill>
                      <a:srgbClr val="FFFFFF"/>
                    </a:solidFill>
                  </a:tcPr>
                </a:tc>
                <a:tc>
                  <a:txBody>
                    <a:bodyPr/>
                    <a:lstStyle/>
                    <a:p>
                      <a:r>
                        <a:rPr sz="1875" b="1">
                          <a:solidFill>
                            <a:srgbClr val="00796B"/>
                          </a:solidFill>
                          <a:latin typeface="Calibri"/>
                          <a:ea typeface="Calibri"/>
                          <a:cs typeface="Calibri"/>
                        </a:rPr>
                        <a:t>Training</a:t>
                      </a:r>
                    </a:p>
                  </a:txBody>
                  <a:tcPr marL="91440" marR="91440" marT="45720" marB="45720">
                    <a:solidFill>
                      <a:srgbClr val="FFFFFF"/>
                    </a:solidFill>
                  </a:tcPr>
                </a:tc>
                <a:tc>
                  <a:txBody>
                    <a:bodyPr/>
                    <a:lstStyle/>
                    <a:p>
                      <a:r>
                        <a:rPr sz="1875" b="1">
                          <a:solidFill>
                            <a:srgbClr val="00796B"/>
                          </a:solidFill>
                          <a:latin typeface="Calibri"/>
                          <a:ea typeface="Calibri"/>
                          <a:cs typeface="Calibri"/>
                        </a:rPr>
                        <a:t>Held out</a:t>
                      </a:r>
                    </a:p>
                  </a:txBody>
                  <a:tcPr marL="91440" marR="91440" marT="45720" marB="45720">
                    <a:solidFill>
                      <a:srgbClr val="FFFFFF"/>
                    </a:solidFill>
                  </a:tcPr>
                </a:tc>
                <a:tc>
                  <a:txBody>
                    <a:bodyPr/>
                    <a:lstStyle/>
                    <a:p>
                      <a:r>
                        <a:rPr sz="1875" b="1">
                          <a:solidFill>
                            <a:srgbClr val="00796B"/>
                          </a:solidFill>
                          <a:latin typeface="Calibri"/>
                          <a:ea typeface="Calibri"/>
                          <a:cs typeface="Calibri"/>
                        </a:rPr>
                        <a:t>Not used</a:t>
                      </a:r>
                    </a:p>
                  </a:txBody>
                  <a:tcPr marL="91440" marR="91440" marT="45720" marB="45720">
                    <a:solidFill>
                      <a:srgbClr val="FFFFFF"/>
                    </a:solidFill>
                  </a:tcPr>
                </a:tc>
              </a:tr>
              <a:tr h="857250">
                <a:tc>
                  <a:txBody>
                    <a:bodyPr/>
                    <a:lstStyle/>
                    <a:p>
                      <a:r>
                        <a:rPr sz="1875" b="0">
                          <a:solidFill>
                            <a:srgbClr val="222222"/>
                          </a:solidFill>
                          <a:latin typeface="Calibri"/>
                          <a:ea typeface="Calibri"/>
                          <a:cs typeface="Calibri"/>
                        </a:rPr>
                        <a:t>Pinned flexor</a:t>
                      </a:r>
                    </a:p>
                  </a:txBody>
                  <a:tcPr marL="91440" marR="91440" marT="45720" marB="45720">
                    <a:solidFill>
                      <a:srgbClr val="FFFFFF"/>
                    </a:solidFill>
                  </a:tcPr>
                </a:tc>
                <a:tc>
                  <a:txBody>
                    <a:bodyPr/>
                    <a:lstStyle/>
                    <a:p>
                      <a:r>
                        <a:rPr sz="1875" b="0">
                          <a:solidFill>
                            <a:srgbClr val="222222"/>
                          </a:solidFill>
                          <a:latin typeface="Calibri"/>
                          <a:ea typeface="Calibri"/>
                          <a:cs typeface="Calibri"/>
                        </a:rPr>
                        <a:t>2 tests</a:t>
                      </a:r>
                    </a:p>
                  </a:txBody>
                  <a:tcPr marL="91440" marR="91440" marT="45720" marB="45720">
                    <a:solidFill>
                      <a:srgbClr val="FFFFFF"/>
                    </a:solidFill>
                  </a:tcPr>
                </a:tc>
                <a:tc>
                  <a:txBody>
                    <a:bodyPr/>
                    <a:lstStyle/>
                    <a:p>
                      <a:r>
                        <a:rPr sz="1875" b="0">
                          <a:solidFill>
                            <a:srgbClr val="222222"/>
                          </a:solidFill>
                          <a:latin typeface="Calibri"/>
                          <a:ea typeface="Calibri"/>
                          <a:cs typeface="Calibri"/>
                        </a:rPr>
                        <a:t>2 tests</a:t>
                      </a:r>
                    </a:p>
                  </a:txBody>
                  <a:tcPr marL="91440" marR="91440" marT="45720" marB="45720">
                    <a:solidFill>
                      <a:srgbClr val="FFFFFF"/>
                    </a:solidFill>
                  </a:tcPr>
                </a:tc>
                <a:tc>
                  <a:txBody>
                    <a:bodyPr/>
                    <a:lstStyle/>
                    <a:p>
                      <a:r>
                        <a:rPr sz="1875" b="0">
                          <a:solidFill>
                            <a:srgbClr val="222222"/>
                          </a:solidFill>
                          <a:latin typeface="Calibri"/>
                          <a:ea typeface="Calibri"/>
                          <a:cs typeface="Calibri"/>
                        </a:rPr>
                        <a:t>1 test</a:t>
                      </a:r>
                    </a:p>
                  </a:txBody>
                  <a:tcPr marL="91440" marR="91440" marT="45720" marB="45720">
                    <a:solidFill>
                      <a:srgbClr val="FFFFFF"/>
                    </a:solidFill>
                  </a:tcPr>
                </a:tc>
              </a:tr>
              <a:tr h="857250">
                <a:tc>
                  <a:txBody>
                    <a:bodyPr/>
                    <a:lstStyle/>
                    <a:p>
                      <a:r>
                        <a:rPr sz="1875" b="0">
                          <a:solidFill>
                            <a:srgbClr val="222222"/>
                          </a:solidFill>
                          <a:latin typeface="Calibri"/>
                          <a:ea typeface="Calibri"/>
                          <a:cs typeface="Calibri"/>
                        </a:rPr>
                        <a:t>Pinned extensor</a:t>
                      </a:r>
                    </a:p>
                  </a:txBody>
                  <a:tcPr marL="91440" marR="91440" marT="45720" marB="45720">
                    <a:solidFill>
                      <a:srgbClr val="FFFFFF"/>
                    </a:solidFill>
                  </a:tcPr>
                </a:tc>
                <a:tc>
                  <a:txBody>
                    <a:bodyPr/>
                    <a:lstStyle/>
                    <a:p>
                      <a:r>
                        <a:rPr sz="1875" b="0">
                          <a:solidFill>
                            <a:srgbClr val="222222"/>
                          </a:solidFill>
                          <a:latin typeface="Calibri"/>
                          <a:ea typeface="Calibri"/>
                          <a:cs typeface="Calibri"/>
                        </a:rPr>
                        <a:t>3 tests</a:t>
                      </a:r>
                    </a:p>
                  </a:txBody>
                  <a:tcPr marL="91440" marR="91440" marT="45720" marB="45720">
                    <a:solidFill>
                      <a:srgbClr val="FFFFFF"/>
                    </a:solidFill>
                  </a:tcPr>
                </a:tc>
                <a:tc>
                  <a:txBody>
                    <a:bodyPr/>
                    <a:lstStyle/>
                    <a:p>
                      <a:r>
                        <a:rPr sz="1875" b="0">
                          <a:solidFill>
                            <a:srgbClr val="222222"/>
                          </a:solidFill>
                          <a:latin typeface="Calibri"/>
                          <a:ea typeface="Calibri"/>
                          <a:cs typeface="Calibri"/>
                        </a:rPr>
                        <a:t>3 tests</a:t>
                      </a:r>
                    </a:p>
                  </a:txBody>
                  <a:tcPr marL="91440" marR="91440" marT="45720" marB="45720">
                    <a:solidFill>
                      <a:srgbClr val="FFFFFF"/>
                    </a:solidFill>
                  </a:tcPr>
                </a:tc>
                <a:tc>
                  <a:txBody>
                    <a:bodyPr/>
                    <a:lstStyle/>
                    <a:p>
                      <a:r>
                        <a:rPr sz="1875" b="0">
                          <a:solidFill>
                            <a:srgbClr val="222222"/>
                          </a:solidFill>
                          <a:latin typeface="Calibri"/>
                          <a:ea typeface="Calibri"/>
                          <a:cs typeface="Calibri"/>
                        </a:rPr>
                        <a:t>3 tests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17F53AB2-5F16-473A-B107-8B81D6FD36B7}"/>
              </a:ext>
            </a:extLst>
          </p:cNvPr>
          <p:cNvSpPr>
            <a:spLocks xmlns:a="http://schemas.openxmlformats.org/drawingml/2006/main" noGrp="1"/>
          </p:cNvSpPr>
          <p:nvPr/>
        </p:nvSpPr>
        <p:spPr>
          <a:xfrm xmlns:a="http://schemas.openxmlformats.org/drawingml/2006/main">
            <a:off x="619125" y="50006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96B"/>
                </a:solidFill>
                <a:latin typeface="Calibri"/>
                <a:ea typeface="Calibri"/>
                <a:cs typeface="Calibri"/>
              </a:defRPr>
            </a:defPPr>
            <a:lvl1pPr>
              <a:defRPr sz="2175" b="1">
                <a:solidFill>
                  <a:srgbClr val="00796B"/>
                </a:solidFill>
                <a:latin typeface="Calibri"/>
                <a:ea typeface="Calibri"/>
                <a:cs typeface="Calibri"/>
              </a:defRPr>
            </a:lvl1pPr>
            <a:lvl2pPr>
              <a:defRPr sz="2175" b="1">
                <a:solidFill>
                  <a:srgbClr val="00796B"/>
                </a:solidFill>
                <a:latin typeface="Calibri"/>
                <a:ea typeface="Calibri"/>
                <a:cs typeface="Calibri"/>
              </a:defRPr>
            </a:lvl2pPr>
            <a:lvl3pPr>
              <a:defRPr sz="2175" b="1">
                <a:solidFill>
                  <a:srgbClr val="00796B"/>
                </a:solidFill>
                <a:latin typeface="Calibri"/>
                <a:ea typeface="Calibri"/>
                <a:cs typeface="Calibri"/>
              </a:defRPr>
            </a:lvl3pPr>
            <a:lvl4pPr>
              <a:defRPr sz="2175" b="1">
                <a:solidFill>
                  <a:srgbClr val="00796B"/>
                </a:solidFill>
                <a:latin typeface="Calibri"/>
                <a:ea typeface="Calibri"/>
                <a:cs typeface="Calibri"/>
              </a:defRPr>
            </a:lvl4pPr>
            <a:lvl5pPr>
              <a:defRPr sz="2175" b="1">
                <a:solidFill>
                  <a:srgbClr val="00796B"/>
                </a:solidFill>
                <a:latin typeface="Calibri"/>
                <a:ea typeface="Calibri"/>
                <a:cs typeface="Calibri"/>
              </a:defRPr>
            </a:lvl5pPr>
            <a:lvl6pPr>
              <a:defRPr sz="2175" b="1">
                <a:solidFill>
                  <a:srgbClr val="00796B"/>
                </a:solidFill>
                <a:latin typeface="Calibri"/>
                <a:ea typeface="Calibri"/>
                <a:cs typeface="Calibri"/>
              </a:defRPr>
            </a:lvl6pPr>
            <a:lvl7pPr>
              <a:defRPr sz="2175" b="1">
                <a:solidFill>
                  <a:srgbClr val="00796B"/>
                </a:solidFill>
                <a:latin typeface="Calibri"/>
                <a:ea typeface="Calibri"/>
                <a:cs typeface="Calibri"/>
              </a:defRPr>
            </a:lvl7pPr>
            <a:lvl8pPr>
              <a:defRPr sz="2175" b="1">
                <a:solidFill>
                  <a:srgbClr val="00796B"/>
                </a:solidFill>
                <a:latin typeface="Calibri"/>
                <a:ea typeface="Calibri"/>
                <a:cs typeface="Calibri"/>
              </a:defRPr>
            </a:lvl8pPr>
            <a:lvl9pPr>
              <a:defRPr sz="2175" b="1">
                <a:solidFill>
                  <a:srgbClr val="00796B"/>
                </a:solidFill>
                <a:latin typeface="Calibri"/>
                <a:ea typeface="Calibri"/>
                <a:cs typeface="Calibri"/>
              </a:defRPr>
            </a:lvl9pPr>
          </a:lstStyle>
          <a:p xmlns:a="http://schemas.openxmlformats.org/drawingml/2006/main">
            <a:pPr>
              <a:defRPr sz="2175" b="1">
                <a:solidFill>
                  <a:srgbClr val="00796B"/>
                </a:solidFill>
                <a:latin typeface="Calibri"/>
                <a:ea typeface="Calibri"/>
                <a:cs typeface="Calibri"/>
              </a:defRPr>
            </a:pPr>
            <a:r>
              <a:rPr sz="2175" b="1">
                <a:solidFill>
                  <a:srgbClr val="00796B"/>
                </a:solidFill>
                <a:latin typeface="Calibri"/>
                <a:ea typeface="Calibri"/>
                <a:cs typeface="Calibri"/>
              </a:rPr>
              <a:t>Identify corrections: gamultiobj</a:t>
            </a:r>
          </a:p>
        </p:txBody>
      </p:sp>
      <p:sp>
        <p:nvSpPr>
          <p:cNvPr id="7" name="">
            <a:extLst xmlns:a="http://schemas.openxmlformats.org/drawingml/2006/main">
              <a:ext uri="{FF2B5EF4-FFF2-40B4-BE49-F238E27FC236}">
                <a16:creationId xmlns:a16="http://schemas.microsoft.com/office/drawing/2014/main" id="{1536A376-6DB6-43F1-8D40-16373F9F79F0}"/>
              </a:ext>
            </a:extLst>
          </p:cNvPr>
          <p:cNvSpPr>
            <a:spLocks xmlns:a="http://schemas.openxmlformats.org/drawingml/2006/main" noGrp="1"/>
          </p:cNvSpPr>
          <p:nvPr/>
        </p:nvSpPr>
        <p:spPr>
          <a:xfrm xmlns:a="http://schemas.openxmlformats.org/drawingml/2006/main">
            <a:off x="619125" y="55245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96B"/>
                </a:solidFill>
                <a:latin typeface="Calibri"/>
                <a:ea typeface="Calibri"/>
                <a:cs typeface="Calibri"/>
              </a:defRPr>
            </a:defPPr>
            <a:lvl1pPr>
              <a:defRPr sz="2175" b="1">
                <a:solidFill>
                  <a:srgbClr val="00796B"/>
                </a:solidFill>
                <a:latin typeface="Calibri"/>
                <a:ea typeface="Calibri"/>
                <a:cs typeface="Calibri"/>
              </a:defRPr>
            </a:lvl1pPr>
            <a:lvl2pPr>
              <a:defRPr sz="2175" b="1">
                <a:solidFill>
                  <a:srgbClr val="00796B"/>
                </a:solidFill>
                <a:latin typeface="Calibri"/>
                <a:ea typeface="Calibri"/>
                <a:cs typeface="Calibri"/>
              </a:defRPr>
            </a:lvl2pPr>
            <a:lvl3pPr>
              <a:defRPr sz="2175" b="1">
                <a:solidFill>
                  <a:srgbClr val="00796B"/>
                </a:solidFill>
                <a:latin typeface="Calibri"/>
                <a:ea typeface="Calibri"/>
                <a:cs typeface="Calibri"/>
              </a:defRPr>
            </a:lvl3pPr>
            <a:lvl4pPr>
              <a:defRPr sz="2175" b="1">
                <a:solidFill>
                  <a:srgbClr val="00796B"/>
                </a:solidFill>
                <a:latin typeface="Calibri"/>
                <a:ea typeface="Calibri"/>
                <a:cs typeface="Calibri"/>
              </a:defRPr>
            </a:lvl4pPr>
            <a:lvl5pPr>
              <a:defRPr sz="2175" b="1">
                <a:solidFill>
                  <a:srgbClr val="00796B"/>
                </a:solidFill>
                <a:latin typeface="Calibri"/>
                <a:ea typeface="Calibri"/>
                <a:cs typeface="Calibri"/>
              </a:defRPr>
            </a:lvl5pPr>
            <a:lvl6pPr>
              <a:defRPr sz="2175" b="1">
                <a:solidFill>
                  <a:srgbClr val="00796B"/>
                </a:solidFill>
                <a:latin typeface="Calibri"/>
                <a:ea typeface="Calibri"/>
                <a:cs typeface="Calibri"/>
              </a:defRPr>
            </a:lvl6pPr>
            <a:lvl7pPr>
              <a:defRPr sz="2175" b="1">
                <a:solidFill>
                  <a:srgbClr val="00796B"/>
                </a:solidFill>
                <a:latin typeface="Calibri"/>
                <a:ea typeface="Calibri"/>
                <a:cs typeface="Calibri"/>
              </a:defRPr>
            </a:lvl7pPr>
            <a:lvl8pPr>
              <a:defRPr sz="2175" b="1">
                <a:solidFill>
                  <a:srgbClr val="00796B"/>
                </a:solidFill>
                <a:latin typeface="Calibri"/>
                <a:ea typeface="Calibri"/>
                <a:cs typeface="Calibri"/>
              </a:defRPr>
            </a:lvl8pPr>
            <a:lvl9pPr>
              <a:defRPr sz="2175" b="1">
                <a:solidFill>
                  <a:srgbClr val="00796B"/>
                </a:solidFill>
                <a:latin typeface="Calibri"/>
                <a:ea typeface="Calibri"/>
                <a:cs typeface="Calibri"/>
              </a:defRPr>
            </a:lvl9pPr>
          </a:lstStyle>
          <a:p xmlns:a="http://schemas.openxmlformats.org/drawingml/2006/main">
            <a:pPr>
              <a:defRPr sz="2175" b="1">
                <a:solidFill>
                  <a:srgbClr val="00796B"/>
                </a:solidFill>
                <a:latin typeface="Calibri"/>
                <a:ea typeface="Calibri"/>
                <a:cs typeface="Calibri"/>
              </a:defRPr>
            </a:pPr>
            <a:r>
              <a:rPr sz="2175" b="1">
                <a:solidFill>
                  <a:srgbClr val="00796B"/>
                </a:solidFill>
                <a:latin typeface="Calibri"/>
                <a:ea typeface="Calibri"/>
                <a:cs typeface="Calibri"/>
              </a:rPr>
              <a:t>Redesign routes: surrogateopt, then patternsearch</a:t>
            </a:r>
          </a:p>
        </p:txBody>
      </p:sp>
    </p:spTree>
    <p:extLst>
      <p:ext uri="{BB962C8B-B14F-4D97-AF65-F5344CB8AC3E}">
        <p14:creationId xmlns:p14="http://schemas.microsoft.com/office/powerpoint/2010/main" val="178855837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9C6832A-F443-4EB1-AA6D-15D37E80210F}"/>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REPRESENTATIVE EVIDENCE</a:t>
            </a:r>
          </a:p>
        </p:txBody>
      </p:sp>
      <p:sp>
        <p:nvSpPr>
          <p:cNvPr id="2" name="">
            <a:extLst xmlns:a="http://schemas.openxmlformats.org/drawingml/2006/main">
              <a:ext uri="{FF2B5EF4-FFF2-40B4-BE49-F238E27FC236}">
                <a16:creationId xmlns:a16="http://schemas.microsoft.com/office/drawing/2014/main" id="{FE0F7436-3179-4844-B2C9-E9E0F949C195}"/>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corrected flexor model reproduces the held-out torque trend</a:t>
            </a:r>
          </a:p>
        </p:txBody>
      </p:sp>
      <p:sp>
        <p:nvSpPr>
          <p:cNvPr id="3" name="">
            <a:extLst xmlns:a="http://schemas.openxmlformats.org/drawingml/2006/main">
              <a:ext uri="{FF2B5EF4-FFF2-40B4-BE49-F238E27FC236}">
                <a16:creationId xmlns:a16="http://schemas.microsoft.com/office/drawing/2014/main" id="{7DD41246-4459-4763-8902-38F4957BF6C7}"/>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FlxPin_optimized; Table FlxPinGof</a:t>
            </a:r>
          </a:p>
        </p:txBody>
      </p:sp>
      <p:sp>
        <p:nvSpPr>
          <p:cNvPr id="4" name="">
            <a:extLst xmlns:a="http://schemas.openxmlformats.org/drawingml/2006/main">
              <a:ext uri="{FF2B5EF4-FFF2-40B4-BE49-F238E27FC236}">
                <a16:creationId xmlns:a16="http://schemas.microsoft.com/office/drawing/2014/main" id="{F994A190-3F68-4572-9EBD-7A37C8786852}"/>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13</a:t>
            </a:r>
          </a:p>
        </p:txBody>
      </p:sp>
      <p:pic>
        <p:nvPicPr>
          <p:cNvPr id="5" name="">
            <a:extLst xmlns:a="http://schemas.openxmlformats.org/drawingml/2006/main">
              <a:ext uri="{FF2B5EF4-FFF2-40B4-BE49-F238E27FC236}">
                <a16:creationId xmlns:a16="http://schemas.microsoft.com/office/drawing/2014/main" id="{CE3B8334-F7E3-4901-9E99-5CEB46A48C1E}"/>
              </a:ext>
            </a:extLst>
          </p:cNvPr>
          <p:cNvPicPr>
            <a:picLocks xmlns:a="http://schemas.openxmlformats.org/drawingml/2006/main" noChangeAspect="1"/>
          </p:cNvPicPr>
          <p:nvPr/>
        </p:nvPicPr>
        <p:blipFill>
          <a:blip xmlns:r="http://schemas.openxmlformats.org/officeDocument/2006/relationships" xmlns:a="http://schemas.openxmlformats.org/drawingml/2006/main" r:embed="Rea04a929c7324c39"/>
          <a:stretch xmlns:a="http://schemas.openxmlformats.org/drawingml/2006/main"/>
        </p:blipFill>
        <p:spPr>
          <a:xfrm xmlns:a="http://schemas.openxmlformats.org/drawingml/2006/main">
            <a:off x="1459537" y="1666875"/>
            <a:ext cx="9272927"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3B05143-122C-47CA-A57B-C416B8123861}"/>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Held-out root-mean-square error: 7.588 to 1.490 N·m</a:t>
            </a:r>
          </a:p>
        </p:txBody>
      </p:sp>
      <p:sp>
        <p:nvSpPr>
          <p:cNvPr id="7" name="">
            <a:extLst xmlns:a="http://schemas.openxmlformats.org/drawingml/2006/main">
              <a:ext uri="{FF2B5EF4-FFF2-40B4-BE49-F238E27FC236}">
                <a16:creationId xmlns:a16="http://schemas.microsoft.com/office/drawing/2014/main" id="{29175F4C-384B-4F2A-8391-6C521D33DA10}"/>
              </a:ext>
            </a:extLst>
          </p:cNvPr>
          <p:cNvSpPr>
            <a:spLocks xmlns:a="http://schemas.openxmlformats.org/drawingml/2006/main" noGrp="1"/>
          </p:cNvSpPr>
          <p:nvPr/>
        </p:nvSpPr>
        <p:spPr>
          <a:xfrm xmlns:a="http://schemas.openxmlformats.org/drawingml/2006/main">
            <a:off x="428625" y="16192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222222"/>
                </a:solidFill>
                <a:latin typeface="Calibri"/>
                <a:ea typeface="Calibri"/>
                <a:cs typeface="Calibri"/>
              </a:defRPr>
            </a:defPPr>
            <a:lvl1pPr>
              <a:defRPr sz="1800" b="1">
                <a:solidFill>
                  <a:srgbClr val="222222"/>
                </a:solidFill>
                <a:latin typeface="Calibri"/>
                <a:ea typeface="Calibri"/>
                <a:cs typeface="Calibri"/>
              </a:defRPr>
            </a:lvl1pPr>
            <a:lvl2pPr>
              <a:defRPr sz="1800" b="1">
                <a:solidFill>
                  <a:srgbClr val="222222"/>
                </a:solidFill>
                <a:latin typeface="Calibri"/>
                <a:ea typeface="Calibri"/>
                <a:cs typeface="Calibri"/>
              </a:defRPr>
            </a:lvl2pPr>
            <a:lvl3pPr>
              <a:defRPr sz="1800" b="1">
                <a:solidFill>
                  <a:srgbClr val="222222"/>
                </a:solidFill>
                <a:latin typeface="Calibri"/>
                <a:ea typeface="Calibri"/>
                <a:cs typeface="Calibri"/>
              </a:defRPr>
            </a:lvl3pPr>
            <a:lvl4pPr>
              <a:defRPr sz="1800" b="1">
                <a:solidFill>
                  <a:srgbClr val="222222"/>
                </a:solidFill>
                <a:latin typeface="Calibri"/>
                <a:ea typeface="Calibri"/>
                <a:cs typeface="Calibri"/>
              </a:defRPr>
            </a:lvl4pPr>
            <a:lvl5pPr>
              <a:defRPr sz="1800" b="1">
                <a:solidFill>
                  <a:srgbClr val="222222"/>
                </a:solidFill>
                <a:latin typeface="Calibri"/>
                <a:ea typeface="Calibri"/>
                <a:cs typeface="Calibri"/>
              </a:defRPr>
            </a:lvl5pPr>
            <a:lvl6pPr>
              <a:defRPr sz="1800" b="1">
                <a:solidFill>
                  <a:srgbClr val="222222"/>
                </a:solidFill>
                <a:latin typeface="Calibri"/>
                <a:ea typeface="Calibri"/>
                <a:cs typeface="Calibri"/>
              </a:defRPr>
            </a:lvl6pPr>
            <a:lvl7pPr>
              <a:defRPr sz="1800" b="1">
                <a:solidFill>
                  <a:srgbClr val="222222"/>
                </a:solidFill>
                <a:latin typeface="Calibri"/>
                <a:ea typeface="Calibri"/>
                <a:cs typeface="Calibri"/>
              </a:defRPr>
            </a:lvl7pPr>
            <a:lvl8pPr>
              <a:defRPr sz="1800" b="1">
                <a:solidFill>
                  <a:srgbClr val="222222"/>
                </a:solidFill>
                <a:latin typeface="Calibri"/>
                <a:ea typeface="Calibri"/>
                <a:cs typeface="Calibri"/>
              </a:defRPr>
            </a:lvl8pPr>
            <a:lvl9pPr>
              <a:defRPr sz="1800" b="1">
                <a:solidFill>
                  <a:srgbClr val="222222"/>
                </a:solidFill>
                <a:latin typeface="Calibri"/>
                <a:ea typeface="Calibri"/>
                <a:cs typeface="Calibri"/>
              </a:defRPr>
            </a:lvl9pPr>
          </a:lstStyle>
          <a:p xmlns:a="http://schemas.openxmlformats.org/drawingml/2006/main">
            <a:pPr>
              <a:defRPr sz="1800" b="1">
                <a:solidFill>
                  <a:srgbClr val="222222"/>
                </a:solidFill>
                <a:latin typeface="Calibri"/>
                <a:ea typeface="Calibri"/>
                <a:cs typeface="Calibri"/>
              </a:defRPr>
            </a:pPr>
            <a:r>
              <a:rPr sz="1800" b="1">
                <a:solidFill>
                  <a:srgbClr val="222222"/>
                </a:solidFill>
                <a:latin typeface="Calibri"/>
                <a:ea typeface="Calibri"/>
                <a:cs typeface="Calibri"/>
              </a:rPr>
              <a:t>Torque (N·m)</a:t>
            </a:r>
          </a:p>
        </p:txBody>
      </p:sp>
    </p:spTree>
    <p:extLst>
      <p:ext uri="{BB962C8B-B14F-4D97-AF65-F5344CB8AC3E}">
        <p14:creationId xmlns:p14="http://schemas.microsoft.com/office/powerpoint/2010/main" val="92063981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1A8C42D-D580-4685-A3DE-50CC586FC541}"/>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VALIDATION</a:t>
            </a:r>
          </a:p>
        </p:txBody>
      </p:sp>
      <p:sp>
        <p:nvSpPr>
          <p:cNvPr id="2" name="">
            <a:extLst xmlns:a="http://schemas.openxmlformats.org/drawingml/2006/main">
              <a:ext uri="{FF2B5EF4-FFF2-40B4-BE49-F238E27FC236}">
                <a16:creationId xmlns:a16="http://schemas.microsoft.com/office/drawing/2014/main" id="{BCA5B8D4-2261-4BD6-AB36-9AF3D4B9C098}"/>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Corrections reduce held-out error in both pinned-knee configurations</a:t>
            </a:r>
          </a:p>
        </p:txBody>
      </p:sp>
      <p:sp>
        <p:nvSpPr>
          <p:cNvPr id="3" name="">
            <a:extLst xmlns:a="http://schemas.openxmlformats.org/drawingml/2006/main">
              <a:ext uri="{FF2B5EF4-FFF2-40B4-BE49-F238E27FC236}">
                <a16:creationId xmlns:a16="http://schemas.microsoft.com/office/drawing/2014/main" id="{CFB5F3E6-7749-4E1A-B990-9AF06EB777DF}"/>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Tables FlxPinGof and ExtPinGof</a:t>
            </a:r>
          </a:p>
        </p:txBody>
      </p:sp>
      <p:sp>
        <p:nvSpPr>
          <p:cNvPr id="4" name="">
            <a:extLst xmlns:a="http://schemas.openxmlformats.org/drawingml/2006/main">
              <a:ext uri="{FF2B5EF4-FFF2-40B4-BE49-F238E27FC236}">
                <a16:creationId xmlns:a16="http://schemas.microsoft.com/office/drawing/2014/main" id="{0D382714-4DC9-4CB5-AC86-968BBF0250F6}"/>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14</a:t>
            </a:r>
          </a:p>
        </p:txBody>
      </p:sp>
      <p:graphicFrame>
        <p:nvGraphicFramePr>
          <p:cNvPr id="5" name="">
            <a:extLst xmlns:a="http://schemas.openxmlformats.org/drawingml/2006/main">
              <a:ext uri="{FF2B5EF4-FFF2-40B4-BE49-F238E27FC236}">
                <a16:creationId xmlns:a16="http://schemas.microsoft.com/office/drawing/2014/main" id="{AD315F15-5235-4391-A712-0308FBA97030}"/>
              </a:ext>
            </a:extLst>
          </p:cNvPr>
          <p:cNvGraphicFramePr/>
          <p:nvPr/>
        </p:nvGraphicFramePr>
        <p:xfrm>
          <a:off xmlns:a="http://schemas.openxmlformats.org/drawingml/2006/main" x="476250" y="2095500"/>
          <a:ext xmlns:a="http://schemas.openxmlformats.org/drawingml/2006/main" cx="11239500" cy="2476500"/>
        </p:xfrm>
        <a:graphic xmlns:a="http://schemas.openxmlformats.org/drawingml/2006/main">
          <a:graphicData uri="http://schemas.openxmlformats.org/drawingml/2006/table">
            <a:tbl>
              <a:tblPr/>
              <a:tblGrid>
                <a:gridCol w="3746500"/>
                <a:gridCol w="3746500"/>
                <a:gridCol w="3746500"/>
              </a:tblGrid>
              <a:tr h="825500">
                <a:tc>
                  <a:txBody>
                    <a:bodyPr/>
                    <a:lstStyle/>
                    <a:p>
                      <a:r>
                        <a:rPr sz="1875" b="1">
                          <a:solidFill>
                            <a:srgbClr val="00796B"/>
                          </a:solidFill>
                          <a:latin typeface="Calibri"/>
                          <a:ea typeface="Calibri"/>
                          <a:cs typeface="Calibri"/>
                        </a:rPr>
                        <a:t>Root-mean-square error (N·m)</a:t>
                      </a:r>
                    </a:p>
                  </a:txBody>
                  <a:tcPr marL="91440" marR="91440" marT="45720" marB="45720">
                    <a:solidFill>
                      <a:srgbClr val="FFFFFF"/>
                    </a:solidFill>
                  </a:tcPr>
                </a:tc>
                <a:tc>
                  <a:txBody>
                    <a:bodyPr/>
                    <a:lstStyle/>
                    <a:p>
                      <a:r>
                        <a:rPr sz="1875" b="1">
                          <a:solidFill>
                            <a:srgbClr val="00796B"/>
                          </a:solidFill>
                          <a:latin typeface="Calibri"/>
                          <a:ea typeface="Calibri"/>
                          <a:cs typeface="Calibri"/>
                        </a:rPr>
                        <a:t>No corrections</a:t>
                      </a:r>
                    </a:p>
                  </a:txBody>
                  <a:tcPr marL="91440" marR="91440" marT="45720" marB="45720">
                    <a:solidFill>
                      <a:srgbClr val="FFFFFF"/>
                    </a:solidFill>
                  </a:tcPr>
                </a:tc>
                <a:tc>
                  <a:txBody>
                    <a:bodyPr/>
                    <a:lstStyle/>
                    <a:p>
                      <a:r>
                        <a:rPr sz="1875" b="1">
                          <a:solidFill>
                            <a:srgbClr val="00796B"/>
                          </a:solidFill>
                          <a:latin typeface="Calibri"/>
                          <a:ea typeface="Calibri"/>
                          <a:cs typeface="Calibri"/>
                        </a:rPr>
                        <a:t>Corrected</a:t>
                      </a:r>
                    </a:p>
                  </a:txBody>
                  <a:tcPr marL="91440" marR="91440" marT="45720" marB="45720">
                    <a:solidFill>
                      <a:srgbClr val="FFFFFF"/>
                    </a:solidFill>
                  </a:tcPr>
                </a:tc>
              </a:tr>
              <a:tr h="825500">
                <a:tc>
                  <a:txBody>
                    <a:bodyPr/>
                    <a:lstStyle/>
                    <a:p>
                      <a:r>
                        <a:rPr sz="1875" b="0">
                          <a:solidFill>
                            <a:srgbClr val="222222"/>
                          </a:solidFill>
                          <a:latin typeface="Calibri"/>
                          <a:ea typeface="Calibri"/>
                          <a:cs typeface="Calibri"/>
                        </a:rPr>
                        <a:t>Flexor, 2 validation tests</a:t>
                      </a:r>
                    </a:p>
                  </a:txBody>
                  <a:tcPr marL="91440" marR="91440" marT="45720" marB="45720">
                    <a:solidFill>
                      <a:srgbClr val="FFFFFF"/>
                    </a:solidFill>
                  </a:tcPr>
                </a:tc>
                <a:tc>
                  <a:txBody>
                    <a:bodyPr/>
                    <a:lstStyle/>
                    <a:p>
                      <a:r>
                        <a:rPr sz="1875" b="0">
                          <a:solidFill>
                            <a:srgbClr val="222222"/>
                          </a:solidFill>
                          <a:latin typeface="Calibri"/>
                          <a:ea typeface="Calibri"/>
                          <a:cs typeface="Calibri"/>
                        </a:rPr>
                        <a:t>7.588</a:t>
                      </a:r>
                    </a:p>
                  </a:txBody>
                  <a:tcPr marL="91440" marR="91440" marT="45720" marB="45720">
                    <a:solidFill>
                      <a:srgbClr val="FFFFFF"/>
                    </a:solidFill>
                  </a:tcPr>
                </a:tc>
                <a:tc>
                  <a:txBody>
                    <a:bodyPr/>
                    <a:lstStyle/>
                    <a:p>
                      <a:r>
                        <a:rPr sz="1875" b="0">
                          <a:solidFill>
                            <a:srgbClr val="222222"/>
                          </a:solidFill>
                          <a:latin typeface="Calibri"/>
                          <a:ea typeface="Calibri"/>
                          <a:cs typeface="Calibri"/>
                        </a:rPr>
                        <a:t>1.490</a:t>
                      </a:r>
                    </a:p>
                  </a:txBody>
                  <a:tcPr marL="91440" marR="91440" marT="45720" marB="45720">
                    <a:solidFill>
                      <a:srgbClr val="FFFFFF"/>
                    </a:solidFill>
                  </a:tcPr>
                </a:tc>
              </a:tr>
              <a:tr h="825500">
                <a:tc>
                  <a:txBody>
                    <a:bodyPr/>
                    <a:lstStyle/>
                    <a:p>
                      <a:r>
                        <a:rPr sz="1875" b="0">
                          <a:solidFill>
                            <a:srgbClr val="222222"/>
                          </a:solidFill>
                          <a:latin typeface="Calibri"/>
                          <a:ea typeface="Calibri"/>
                          <a:cs typeface="Calibri"/>
                        </a:rPr>
                        <a:t>Extensor, 3 validation tests</a:t>
                      </a:r>
                    </a:p>
                  </a:txBody>
                  <a:tcPr marL="91440" marR="91440" marT="45720" marB="45720">
                    <a:solidFill>
                      <a:srgbClr val="FFFFFF"/>
                    </a:solidFill>
                  </a:tcPr>
                </a:tc>
                <a:tc>
                  <a:txBody>
                    <a:bodyPr/>
                    <a:lstStyle/>
                    <a:p>
                      <a:r>
                        <a:rPr sz="1875" b="0">
                          <a:solidFill>
                            <a:srgbClr val="222222"/>
                          </a:solidFill>
                          <a:latin typeface="Calibri"/>
                          <a:ea typeface="Calibri"/>
                          <a:cs typeface="Calibri"/>
                        </a:rPr>
                        <a:t>2.554</a:t>
                      </a:r>
                    </a:p>
                  </a:txBody>
                  <a:tcPr marL="91440" marR="91440" marT="45720" marB="45720">
                    <a:solidFill>
                      <a:srgbClr val="FFFFFF"/>
                    </a:solidFill>
                  </a:tcPr>
                </a:tc>
                <a:tc>
                  <a:txBody>
                    <a:bodyPr/>
                    <a:lstStyle/>
                    <a:p>
                      <a:r>
                        <a:rPr sz="1875" b="0">
                          <a:solidFill>
                            <a:srgbClr val="222222"/>
                          </a:solidFill>
                          <a:latin typeface="Calibri"/>
                          <a:ea typeface="Calibri"/>
                          <a:cs typeface="Calibri"/>
                        </a:rPr>
                        <a:t>1.098</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8940305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3ED422E-301C-4CBB-BEA2-32BCC492DBFC}"/>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REASON TO REDESIGN</a:t>
            </a:r>
          </a:p>
        </p:txBody>
      </p:sp>
      <p:sp>
        <p:nvSpPr>
          <p:cNvPr id="2" name="">
            <a:extLst xmlns:a="http://schemas.openxmlformats.org/drawingml/2006/main">
              <a:ext uri="{FF2B5EF4-FFF2-40B4-BE49-F238E27FC236}">
                <a16:creationId xmlns:a16="http://schemas.microsoft.com/office/drawing/2014/main" id="{DC4F3380-A652-4660-9E1F-6457AB316E78}"/>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earlier single-actuator flexor falls short of its human target</a:t>
            </a:r>
          </a:p>
        </p:txBody>
      </p:sp>
      <p:sp>
        <p:nvSpPr>
          <p:cNvPr id="3" name="">
            <a:extLst xmlns:a="http://schemas.openxmlformats.org/drawingml/2006/main">
              <a:ext uri="{FF2B5EF4-FFF2-40B4-BE49-F238E27FC236}">
                <a16:creationId xmlns:a16="http://schemas.microsoft.com/office/drawing/2014/main" id="{5C5B13EA-3024-4D10-BF99-3252416C9F68}"/>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FlxGrp, panel B</a:t>
            </a:r>
          </a:p>
        </p:txBody>
      </p:sp>
      <p:sp>
        <p:nvSpPr>
          <p:cNvPr id="4" name="">
            <a:extLst xmlns:a="http://schemas.openxmlformats.org/drawingml/2006/main">
              <a:ext uri="{FF2B5EF4-FFF2-40B4-BE49-F238E27FC236}">
                <a16:creationId xmlns:a16="http://schemas.microsoft.com/office/drawing/2014/main" id="{3F585AF0-E777-4293-85A4-37AB998A18A4}"/>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15</a:t>
            </a:r>
          </a:p>
        </p:txBody>
      </p:sp>
      <p:pic>
        <p:nvPicPr>
          <p:cNvPr id="5" name="">
            <a:extLst xmlns:a="http://schemas.openxmlformats.org/drawingml/2006/main">
              <a:ext uri="{FF2B5EF4-FFF2-40B4-BE49-F238E27FC236}">
                <a16:creationId xmlns:a16="http://schemas.microsoft.com/office/drawing/2014/main" id="{45A0A2C4-75C1-4D7D-A19D-DA93EB8DEF32}"/>
              </a:ext>
            </a:extLst>
          </p:cNvPr>
          <p:cNvPicPr>
            <a:picLocks xmlns:a="http://schemas.openxmlformats.org/drawingml/2006/main" noChangeAspect="1"/>
          </p:cNvPicPr>
          <p:nvPr/>
        </p:nvPicPr>
        <p:blipFill>
          <a:blip xmlns:r="http://schemas.openxmlformats.org/officeDocument/2006/relationships" xmlns:a="http://schemas.openxmlformats.org/drawingml/2006/main" r:embed="R7ce13cf0603e4e28"/>
          <a:stretch xmlns:a="http://schemas.openxmlformats.org/drawingml/2006/main"/>
        </p:blipFill>
        <p:spPr>
          <a:xfrm xmlns:a="http://schemas.openxmlformats.org/drawingml/2006/main">
            <a:off x="2138538" y="1666875"/>
            <a:ext cx="7914924"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0544DA4-C43B-428A-B586-8EF76093C702}"/>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Earlier geometry: one 20 mm actuator</a:t>
            </a:r>
          </a:p>
        </p:txBody>
      </p:sp>
    </p:spTree>
    <p:extLst>
      <p:ext uri="{BB962C8B-B14F-4D97-AF65-F5344CB8AC3E}">
        <p14:creationId xmlns:p14="http://schemas.microsoft.com/office/powerpoint/2010/main" val="78202448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2674573-B503-43DC-842A-2766546657A3}"/>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GEOMETRY AND HARDWARE</a:t>
            </a:r>
          </a:p>
        </p:txBody>
      </p:sp>
      <p:sp>
        <p:nvSpPr>
          <p:cNvPr id="2" name="">
            <a:extLst xmlns:a="http://schemas.openxmlformats.org/drawingml/2006/main">
              <a:ext uri="{FF2B5EF4-FFF2-40B4-BE49-F238E27FC236}">
                <a16:creationId xmlns:a16="http://schemas.microsoft.com/office/drawing/2014/main" id="{92355023-D946-43A7-8BB9-71C5595BE60D}"/>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optimized cam route became a two-actuator test assembly</a:t>
            </a:r>
          </a:p>
        </p:txBody>
      </p:sp>
      <p:sp>
        <p:nvSpPr>
          <p:cNvPr id="3" name="">
            <a:extLst xmlns:a="http://schemas.openxmlformats.org/drawingml/2006/main">
              <a:ext uri="{FF2B5EF4-FFF2-40B4-BE49-F238E27FC236}">
                <a16:creationId xmlns:a16="http://schemas.microsoft.com/office/drawing/2014/main" id="{A623E195-1FFD-4DCC-9530-DBA30BF113C2}"/>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Cam route, panel A; assembled hardware photograph</a:t>
            </a:r>
          </a:p>
        </p:txBody>
      </p:sp>
      <p:sp>
        <p:nvSpPr>
          <p:cNvPr id="4" name="">
            <a:extLst xmlns:a="http://schemas.openxmlformats.org/drawingml/2006/main">
              <a:ext uri="{FF2B5EF4-FFF2-40B4-BE49-F238E27FC236}">
                <a16:creationId xmlns:a16="http://schemas.microsoft.com/office/drawing/2014/main" id="{155B944C-5F98-419F-998D-D1D134A008B1}"/>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16</a:t>
            </a:r>
          </a:p>
        </p:txBody>
      </p:sp>
      <p:pic>
        <p:nvPicPr>
          <p:cNvPr id="5" name="">
            <a:extLst xmlns:a="http://schemas.openxmlformats.org/drawingml/2006/main">
              <a:ext uri="{FF2B5EF4-FFF2-40B4-BE49-F238E27FC236}">
                <a16:creationId xmlns:a16="http://schemas.microsoft.com/office/drawing/2014/main" id="{337C218D-B063-4EB4-9BAF-8651DFB0A915}"/>
              </a:ext>
            </a:extLst>
          </p:cNvPr>
          <p:cNvPicPr>
            <a:picLocks xmlns:a="http://schemas.openxmlformats.org/drawingml/2006/main" noChangeAspect="1"/>
          </p:cNvPicPr>
          <p:nvPr/>
        </p:nvPicPr>
        <p:blipFill>
          <a:blip xmlns:r="http://schemas.openxmlformats.org/officeDocument/2006/relationships" xmlns:a="http://schemas.openxmlformats.org/drawingml/2006/main" r:embed="R513a916e5eea4602"/>
          <a:stretch xmlns:a="http://schemas.openxmlformats.org/drawingml/2006/main"/>
        </p:blipFill>
        <p:spPr>
          <a:xfrm xmlns:a="http://schemas.openxmlformats.org/drawingml/2006/main">
            <a:off x="1842458" y="1666875"/>
            <a:ext cx="2649208"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9D362B58-295F-477A-8F6B-68E1CD3B4658}"/>
              </a:ext>
            </a:extLst>
          </p:cNvPr>
          <p:cNvPicPr>
            <a:picLocks xmlns:a="http://schemas.openxmlformats.org/drawingml/2006/main" noChangeAspect="1"/>
          </p:cNvPicPr>
          <p:nvPr/>
        </p:nvPicPr>
        <p:blipFill>
          <a:blip xmlns:r="http://schemas.openxmlformats.org/officeDocument/2006/relationships" xmlns:a="http://schemas.openxmlformats.org/drawingml/2006/main" r:embed="Rcc368cff1bc14acb"/>
          <a:stretch xmlns:a="http://schemas.openxmlformats.org/drawingml/2006/main"/>
        </p:blipFill>
        <p:spPr>
          <a:xfrm xmlns:a="http://schemas.openxmlformats.org/drawingml/2006/main">
            <a:off x="7845171" y="1666875"/>
            <a:ext cx="2359533"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F69B523-9F66-41DA-B972-C36101EEF65B}"/>
              </a:ext>
            </a:extLst>
          </p:cNvPr>
          <p:cNvSpPr>
            <a:spLocks xmlns:a="http://schemas.openxmlformats.org/drawingml/2006/main" noGrp="1"/>
          </p:cNvSpPr>
          <p:nvPr/>
        </p:nvSpPr>
        <p:spPr>
          <a:xfrm xmlns:a="http://schemas.openxmlformats.org/drawingml/2006/main">
            <a:off x="476250"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Route at −120°; coordinates in m</a:t>
            </a:r>
          </a:p>
        </p:txBody>
      </p:sp>
      <p:sp>
        <p:nvSpPr>
          <p:cNvPr id="8" name="">
            <a:extLst xmlns:a="http://schemas.openxmlformats.org/drawingml/2006/main">
              <a:ext uri="{FF2B5EF4-FFF2-40B4-BE49-F238E27FC236}">
                <a16:creationId xmlns:a16="http://schemas.microsoft.com/office/drawing/2014/main" id="{245C2DB1-3572-47EA-84B7-E0E1C0F4B30E}"/>
              </a:ext>
            </a:extLst>
          </p:cNvPr>
          <p:cNvSpPr>
            <a:spLocks xmlns:a="http://schemas.openxmlformats.org/drawingml/2006/main" noGrp="1"/>
          </p:cNvSpPr>
          <p:nvPr/>
        </p:nvSpPr>
        <p:spPr>
          <a:xfrm xmlns:a="http://schemas.openxmlformats.org/drawingml/2006/main">
            <a:off x="6334125"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Assembled cam-extensor hardware</a:t>
            </a:r>
          </a:p>
        </p:txBody>
      </p:sp>
    </p:spTree>
    <p:extLst>
      <p:ext uri="{BB962C8B-B14F-4D97-AF65-F5344CB8AC3E}">
        <p14:creationId xmlns:p14="http://schemas.microsoft.com/office/powerpoint/2010/main" val="13296852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FD11AEF-A6F8-4EB9-A990-FCCD07FDF232}"/>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MODEL PREDICTION</a:t>
            </a:r>
          </a:p>
        </p:txBody>
      </p:sp>
      <p:sp>
        <p:nvSpPr>
          <p:cNvPr id="2" name="">
            <a:extLst xmlns:a="http://schemas.openxmlformats.org/drawingml/2006/main">
              <a:ext uri="{FF2B5EF4-FFF2-40B4-BE49-F238E27FC236}">
                <a16:creationId xmlns:a16="http://schemas.microsoft.com/office/drawing/2014/main" id="{953CF72D-6158-42EB-BB5C-7FC78A43A05B}"/>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cam model predicts at least 30.83% margin over the required envelope</a:t>
            </a:r>
          </a:p>
        </p:txBody>
      </p:sp>
      <p:sp>
        <p:nvSpPr>
          <p:cNvPr id="3" name="">
            <a:extLst xmlns:a="http://schemas.openxmlformats.org/drawingml/2006/main">
              <a:ext uri="{FF2B5EF4-FFF2-40B4-BE49-F238E27FC236}">
                <a16:creationId xmlns:a16="http://schemas.microsoft.com/office/drawing/2014/main" id="{210744EB-BDF2-4919-86C4-594B41DF4DE5}"/>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redesigned-route results; cam result of record, 14 October 2026</a:t>
            </a:r>
          </a:p>
        </p:txBody>
      </p:sp>
      <p:sp>
        <p:nvSpPr>
          <p:cNvPr id="4" name="">
            <a:extLst xmlns:a="http://schemas.openxmlformats.org/drawingml/2006/main">
              <a:ext uri="{FF2B5EF4-FFF2-40B4-BE49-F238E27FC236}">
                <a16:creationId xmlns:a16="http://schemas.microsoft.com/office/drawing/2014/main" id="{37F2687F-982C-4A56-B360-1C0E683DE9FC}"/>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17</a:t>
            </a:r>
          </a:p>
        </p:txBody>
      </p:sp>
      <p:pic>
        <p:nvPicPr>
          <p:cNvPr id="5" name="">
            <a:extLst xmlns:a="http://schemas.openxmlformats.org/drawingml/2006/main">
              <a:ext uri="{FF2B5EF4-FFF2-40B4-BE49-F238E27FC236}">
                <a16:creationId xmlns:a16="http://schemas.microsoft.com/office/drawing/2014/main" id="{1B3D4C88-DB96-458C-9824-D15346D6818F}"/>
              </a:ext>
            </a:extLst>
          </p:cNvPr>
          <p:cNvPicPr>
            <a:picLocks xmlns:a="http://schemas.openxmlformats.org/drawingml/2006/main" noChangeAspect="1"/>
          </p:cNvPicPr>
          <p:nvPr/>
        </p:nvPicPr>
        <p:blipFill>
          <a:blip xmlns:r="http://schemas.openxmlformats.org/officeDocument/2006/relationships" xmlns:a="http://schemas.openxmlformats.org/drawingml/2006/main" r:embed="R906f62c80ad04af7"/>
          <a:stretch xmlns:a="http://schemas.openxmlformats.org/drawingml/2006/main"/>
        </p:blipFill>
        <p:spPr>
          <a:xfrm xmlns:a="http://schemas.openxmlformats.org/drawingml/2006/main">
            <a:off x="3394932" y="1666875"/>
            <a:ext cx="5402135"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B64943E-D799-4CB1-97B9-C0F146C424DE}"/>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Prediction at 620 kPa; required envelope includes 5% overshoot</a:t>
            </a:r>
          </a:p>
        </p:txBody>
      </p:sp>
    </p:spTree>
    <p:extLst>
      <p:ext uri="{BB962C8B-B14F-4D97-AF65-F5344CB8AC3E}">
        <p14:creationId xmlns:p14="http://schemas.microsoft.com/office/powerpoint/2010/main" val="99227214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8E29070-F0B0-44D2-B51D-E10F0EE5246E}"/>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PHYSICAL EVIDENCE</a:t>
            </a:r>
          </a:p>
        </p:txBody>
      </p:sp>
      <p:sp>
        <p:nvSpPr>
          <p:cNvPr id="2" name="">
            <a:extLst xmlns:a="http://schemas.openxmlformats.org/drawingml/2006/main">
              <a:ext uri="{FF2B5EF4-FFF2-40B4-BE49-F238E27FC236}">
                <a16:creationId xmlns:a16="http://schemas.microsoft.com/office/drawing/2014/main" id="{9DEA6E4E-9535-499E-97A0-818656B452D8}"/>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Nine cam-extensor holds test torque across −119° to +5°</a:t>
            </a:r>
          </a:p>
        </p:txBody>
      </p:sp>
      <p:sp>
        <p:nvSpPr>
          <p:cNvPr id="3" name="">
            <a:extLst xmlns:a="http://schemas.openxmlformats.org/drawingml/2006/main">
              <a:ext uri="{FF2B5EF4-FFF2-40B4-BE49-F238E27FC236}">
                <a16:creationId xmlns:a16="http://schemas.microsoft.com/office/drawing/2014/main" id="{F6931AAF-3485-4299-B54D-7653A780D44F}"/>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extensor_physical_final; MATLAB Ext20mm_compare_20261022.png</a:t>
            </a:r>
          </a:p>
        </p:txBody>
      </p:sp>
      <p:sp>
        <p:nvSpPr>
          <p:cNvPr id="4" name="">
            <a:extLst xmlns:a="http://schemas.openxmlformats.org/drawingml/2006/main">
              <a:ext uri="{FF2B5EF4-FFF2-40B4-BE49-F238E27FC236}">
                <a16:creationId xmlns:a16="http://schemas.microsoft.com/office/drawing/2014/main" id="{022C4017-7A31-45D4-AFD9-6A97B7254EAF}"/>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18</a:t>
            </a:r>
          </a:p>
        </p:txBody>
      </p:sp>
      <p:pic>
        <p:nvPicPr>
          <p:cNvPr id="5" name="">
            <a:extLst xmlns:a="http://schemas.openxmlformats.org/drawingml/2006/main">
              <a:ext uri="{FF2B5EF4-FFF2-40B4-BE49-F238E27FC236}">
                <a16:creationId xmlns:a16="http://schemas.microsoft.com/office/drawing/2014/main" id="{FF008B7E-D978-4783-979D-56A669235B25}"/>
              </a:ext>
            </a:extLst>
          </p:cNvPr>
          <p:cNvPicPr>
            <a:picLocks xmlns:a="http://schemas.openxmlformats.org/drawingml/2006/main" noChangeAspect="1"/>
          </p:cNvPicPr>
          <p:nvPr/>
        </p:nvPicPr>
        <p:blipFill>
          <a:blip xmlns:r="http://schemas.openxmlformats.org/officeDocument/2006/relationships" xmlns:a="http://schemas.openxmlformats.org/drawingml/2006/main" r:embed="Reb908b42fa1d4e40"/>
          <a:stretch xmlns:a="http://schemas.openxmlformats.org/drawingml/2006/main"/>
        </p:blipFill>
        <p:spPr>
          <a:xfrm xmlns:a="http://schemas.openxmlformats.org/drawingml/2006/main">
            <a:off x="3653127" y="1666875"/>
            <a:ext cx="4885746"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0FC6C54-8543-4B74-AA8F-011015D6FC81}"/>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Pressure varied between holds</a:t>
            </a:r>
          </a:p>
        </p:txBody>
      </p:sp>
    </p:spTree>
    <p:extLst>
      <p:ext uri="{BB962C8B-B14F-4D97-AF65-F5344CB8AC3E}">
        <p14:creationId xmlns:p14="http://schemas.microsoft.com/office/powerpoint/2010/main" val="129925219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0D73A68-C418-47D9-AE71-A7CF0D55B378}"/>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PHYSICAL EVIDENCE</a:t>
            </a:r>
          </a:p>
        </p:txBody>
      </p:sp>
      <p:sp>
        <p:nvSpPr>
          <p:cNvPr id="2" name="">
            <a:extLst xmlns:a="http://schemas.openxmlformats.org/drawingml/2006/main">
              <a:ext uri="{FF2B5EF4-FFF2-40B4-BE49-F238E27FC236}">
                <a16:creationId xmlns:a16="http://schemas.microsoft.com/office/drawing/2014/main" id="{7FE0D0BB-8C04-4D1D-85D0-ACD895C0E944}"/>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All 15 flexor holds meet or exceed the human muscle target</a:t>
            </a:r>
          </a:p>
        </p:txBody>
      </p:sp>
      <p:sp>
        <p:nvSpPr>
          <p:cNvPr id="3" name="">
            <a:extLst xmlns:a="http://schemas.openxmlformats.org/drawingml/2006/main">
              <a:ext uri="{FF2B5EF4-FFF2-40B4-BE49-F238E27FC236}">
                <a16:creationId xmlns:a16="http://schemas.microsoft.com/office/drawing/2014/main" id="{2B6A6567-A0B0-4AA9-8F69-E115354A28F2}"/>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Knee-torque study · Fig. Flx20mm; final MATLAB reduction</a:t>
            </a:r>
          </a:p>
        </p:txBody>
      </p:sp>
      <p:sp>
        <p:nvSpPr>
          <p:cNvPr id="4" name="">
            <a:extLst xmlns:a="http://schemas.openxmlformats.org/drawingml/2006/main">
              <a:ext uri="{FF2B5EF4-FFF2-40B4-BE49-F238E27FC236}">
                <a16:creationId xmlns:a16="http://schemas.microsoft.com/office/drawing/2014/main" id="{51882CE3-913E-4480-B5A0-06A2FFCB8B7F}"/>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19</a:t>
            </a:r>
          </a:p>
        </p:txBody>
      </p:sp>
      <p:pic>
        <p:nvPicPr>
          <p:cNvPr id="5" name="">
            <a:extLst xmlns:a="http://schemas.openxmlformats.org/drawingml/2006/main">
              <a:ext uri="{FF2B5EF4-FFF2-40B4-BE49-F238E27FC236}">
                <a16:creationId xmlns:a16="http://schemas.microsoft.com/office/drawing/2014/main" id="{6A8886B0-4DB6-4B6C-B643-CAE41B5606A0}"/>
              </a:ext>
            </a:extLst>
          </p:cNvPr>
          <p:cNvPicPr>
            <a:picLocks xmlns:a="http://schemas.openxmlformats.org/drawingml/2006/main" noChangeAspect="1"/>
          </p:cNvPicPr>
          <p:nvPr/>
        </p:nvPicPr>
        <p:blipFill>
          <a:blip xmlns:r="http://schemas.openxmlformats.org/officeDocument/2006/relationships" xmlns:a="http://schemas.openxmlformats.org/drawingml/2006/main" r:embed="Rcd59e4b478bc49ce"/>
          <a:stretch xmlns:a="http://schemas.openxmlformats.org/drawingml/2006/main"/>
        </p:blipFill>
        <p:spPr>
          <a:xfrm xmlns:a="http://schemas.openxmlformats.org/drawingml/2006/main">
            <a:off x="2223662" y="1666875"/>
            <a:ext cx="7744675"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92362FE-8E88-42FF-8861-858E6A5267FA}"/>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15 holds at 226.5–638 kPa; margins +0.42 to +17.0 N·m</a:t>
            </a:r>
          </a:p>
        </p:txBody>
      </p:sp>
    </p:spTree>
    <p:extLst>
      <p:ext uri="{BB962C8B-B14F-4D97-AF65-F5344CB8AC3E}">
        <p14:creationId xmlns:p14="http://schemas.microsoft.com/office/powerpoint/2010/main" val="51836897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0E8AB6A-4C13-4413-BFF5-25046FC5D1B1}"/>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REMAINING UNCERTAINTY</a:t>
            </a:r>
          </a:p>
        </p:txBody>
      </p:sp>
      <p:sp>
        <p:nvSpPr>
          <p:cNvPr id="2" name="">
            <a:extLst xmlns:a="http://schemas.openxmlformats.org/drawingml/2006/main">
              <a:ext uri="{FF2B5EF4-FFF2-40B4-BE49-F238E27FC236}">
                <a16:creationId xmlns:a16="http://schemas.microsoft.com/office/drawing/2014/main" id="{A22C569E-34E1-409A-82E2-6F254361EA75}"/>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corrected 620 kPa prediction still exceeds many measured flexor torques</a:t>
            </a:r>
          </a:p>
        </p:txBody>
      </p:sp>
      <p:sp>
        <p:nvSpPr>
          <p:cNvPr id="3" name="">
            <a:extLst xmlns:a="http://schemas.openxmlformats.org/drawingml/2006/main">
              <a:ext uri="{FF2B5EF4-FFF2-40B4-BE49-F238E27FC236}">
                <a16:creationId xmlns:a16="http://schemas.microsoft.com/office/drawing/2014/main" id="{0171C7AA-ABA1-423B-9AE8-AFD137BFED66}"/>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Knee-torque paper · Fig. Flx20mm, panel B; unchanged MATLAB calculation</a:t>
            </a:r>
          </a:p>
        </p:txBody>
      </p:sp>
      <p:sp>
        <p:nvSpPr>
          <p:cNvPr id="4" name="">
            <a:extLst xmlns:a="http://schemas.openxmlformats.org/drawingml/2006/main">
              <a:ext uri="{FF2B5EF4-FFF2-40B4-BE49-F238E27FC236}">
                <a16:creationId xmlns:a16="http://schemas.microsoft.com/office/drawing/2014/main" id="{1179F8B7-54A3-4610-89C1-AD3B6F796C09}"/>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20</a:t>
            </a:r>
          </a:p>
        </p:txBody>
      </p:sp>
      <p:pic>
        <p:nvPicPr>
          <p:cNvPr id="5" name="">
            <a:extLst xmlns:a="http://schemas.openxmlformats.org/drawingml/2006/main">
              <a:ext uri="{FF2B5EF4-FFF2-40B4-BE49-F238E27FC236}">
                <a16:creationId xmlns:a16="http://schemas.microsoft.com/office/drawing/2014/main" id="{CB019614-04B2-4888-94F6-D140BF2B0F5A}"/>
              </a:ext>
            </a:extLst>
          </p:cNvPr>
          <p:cNvPicPr>
            <a:picLocks xmlns:a="http://schemas.openxmlformats.org/drawingml/2006/main" noChangeAspect="1"/>
          </p:cNvPicPr>
          <p:nvPr/>
        </p:nvPicPr>
        <p:blipFill>
          <a:blip xmlns:r="http://schemas.openxmlformats.org/officeDocument/2006/relationships" xmlns:a="http://schemas.openxmlformats.org/drawingml/2006/main" r:embed="R1fa3ccad1c4a4731"/>
          <a:stretch xmlns:a="http://schemas.openxmlformats.org/drawingml/2006/main"/>
        </p:blipFill>
        <p:spPr>
          <a:xfrm xmlns:a="http://schemas.openxmlformats.org/drawingml/2006/main">
            <a:off x="2223662" y="1666875"/>
            <a:ext cx="7744675"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935F89F-A0F3-40F4-BD5F-FEABDC371867}"/>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Fixed-pressure curves; variable-pressure measurements</a:t>
            </a:r>
          </a:p>
        </p:txBody>
      </p:sp>
    </p:spTree>
    <p:extLst>
      <p:ext uri="{BB962C8B-B14F-4D97-AF65-F5344CB8AC3E}">
        <p14:creationId xmlns:p14="http://schemas.microsoft.com/office/powerpoint/2010/main" val="154233780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E9F7F26-BE58-40E2-A7BC-8B5114B50D46}"/>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SENSORY AFFERENT DATABASE: GAP AND CONTRIBUTION</a:t>
            </a:r>
          </a:p>
        </p:txBody>
      </p:sp>
      <p:sp>
        <p:nvSpPr>
          <p:cNvPr id="2" name="">
            <a:extLst xmlns:a="http://schemas.openxmlformats.org/drawingml/2006/main">
              <a:ext uri="{FF2B5EF4-FFF2-40B4-BE49-F238E27FC236}">
                <a16:creationId xmlns:a16="http://schemas.microsoft.com/office/drawing/2014/main" id="{0B8A65F6-6A6A-47FA-8638-DDF2DA57EF8E}"/>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SADb links sensory-feedback literature to inspectable source records</a:t>
            </a:r>
          </a:p>
        </p:txBody>
      </p:sp>
      <p:sp>
        <p:nvSpPr>
          <p:cNvPr id="3" name="">
            <a:extLst xmlns:a="http://schemas.openxmlformats.org/drawingml/2006/main">
              <a:ext uri="{FF2B5EF4-FFF2-40B4-BE49-F238E27FC236}">
                <a16:creationId xmlns:a16="http://schemas.microsoft.com/office/drawing/2014/main" id="{6F63022A-406D-4762-BD45-C5E256A301D6}"/>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5, The Resource; SADb application snapshot</a:t>
            </a:r>
          </a:p>
        </p:txBody>
      </p:sp>
      <p:sp>
        <p:nvSpPr>
          <p:cNvPr id="4" name="">
            <a:extLst xmlns:a="http://schemas.openxmlformats.org/drawingml/2006/main">
              <a:ext uri="{FF2B5EF4-FFF2-40B4-BE49-F238E27FC236}">
                <a16:creationId xmlns:a16="http://schemas.microsoft.com/office/drawing/2014/main" id="{0B45BB57-818D-47C9-A135-C1EFDBA72CB6}"/>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21</a:t>
            </a:r>
          </a:p>
        </p:txBody>
      </p:sp>
      <p:pic>
        <p:nvPicPr>
          <p:cNvPr id="5" name="">
            <a:extLst xmlns:a="http://schemas.openxmlformats.org/drawingml/2006/main">
              <a:ext uri="{FF2B5EF4-FFF2-40B4-BE49-F238E27FC236}">
                <a16:creationId xmlns:a16="http://schemas.microsoft.com/office/drawing/2014/main" id="{8A9EFB3E-B1FB-4877-9D52-5CDD9C2D5201}"/>
              </a:ext>
            </a:extLst>
          </p:cNvPr>
          <p:cNvPicPr>
            <a:picLocks xmlns:a="http://schemas.openxmlformats.org/drawingml/2006/main" noChangeAspect="1"/>
          </p:cNvPicPr>
          <p:nvPr/>
        </p:nvPicPr>
        <p:blipFill>
          <a:blip xmlns:r="http://schemas.openxmlformats.org/officeDocument/2006/relationships" xmlns:a="http://schemas.openxmlformats.org/drawingml/2006/main" r:embed="R18b707e30e2545cb"/>
          <a:stretch xmlns:a="http://schemas.openxmlformats.org/drawingml/2006/main"/>
        </p:blipFill>
        <p:spPr>
          <a:xfrm xmlns:a="http://schemas.openxmlformats.org/drawingml/2006/main">
            <a:off x="1947333" y="1666875"/>
            <a:ext cx="8297333" cy="4572000"/>
          </a:xfrm>
          <a:prstGeom xmlns:a="http://schemas.openxmlformats.org/drawingml/2006/main" prst="rect">
            <a:avLst/>
          </a:prstGeom>
        </p:spPr>
      </p:pic>
    </p:spTree>
    <p:extLst>
      <p:ext uri="{BB962C8B-B14F-4D97-AF65-F5344CB8AC3E}">
        <p14:creationId xmlns:p14="http://schemas.microsoft.com/office/powerpoint/2010/main" val="53649093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5CC6F00-14A2-4530-BC4C-6B9114C35AB0}"/>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SENSORY AFFERENT DATABASE: USE AND LIMITS</a:t>
            </a:r>
          </a:p>
        </p:txBody>
      </p:sp>
      <p:sp>
        <p:nvSpPr>
          <p:cNvPr id="2" name="">
            <a:extLst xmlns:a="http://schemas.openxmlformats.org/drawingml/2006/main">
              <a:ext uri="{FF2B5EF4-FFF2-40B4-BE49-F238E27FC236}">
                <a16:creationId xmlns:a16="http://schemas.microsoft.com/office/drawing/2014/main" id="{66319EB9-A45A-425B-AA50-7368D69F32E2}"/>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SADb exposes classification coverage without supplying controller gains</a:t>
            </a:r>
          </a:p>
        </p:txBody>
      </p:sp>
      <p:sp>
        <p:nvSpPr>
          <p:cNvPr id="3" name="">
            <a:extLst xmlns:a="http://schemas.openxmlformats.org/drawingml/2006/main">
              <a:ext uri="{FF2B5EF4-FFF2-40B4-BE49-F238E27FC236}">
                <a16:creationId xmlns:a16="http://schemas.microsoft.com/office/drawing/2014/main" id="{E4F671B1-0D25-4B09-8417-2F2CDB4F0FFA}"/>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5, Fig. sadb_pivot and Use in Neural-Controller Design</a:t>
            </a:r>
          </a:p>
        </p:txBody>
      </p:sp>
      <p:sp>
        <p:nvSpPr>
          <p:cNvPr id="4" name="">
            <a:extLst xmlns:a="http://schemas.openxmlformats.org/drawingml/2006/main">
              <a:ext uri="{FF2B5EF4-FFF2-40B4-BE49-F238E27FC236}">
                <a16:creationId xmlns:a16="http://schemas.microsoft.com/office/drawing/2014/main" id="{A4C8DEB0-9456-4648-AA8F-2B94A5EA7E6D}"/>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22</a:t>
            </a:r>
          </a:p>
        </p:txBody>
      </p:sp>
      <p:pic>
        <p:nvPicPr>
          <p:cNvPr id="5" name="">
            <a:extLst xmlns:a="http://schemas.openxmlformats.org/drawingml/2006/main">
              <a:ext uri="{FF2B5EF4-FFF2-40B4-BE49-F238E27FC236}">
                <a16:creationId xmlns:a16="http://schemas.microsoft.com/office/drawing/2014/main" id="{43A6F23A-28E4-462A-BF1D-A0AE39F53CAD}"/>
              </a:ext>
            </a:extLst>
          </p:cNvPr>
          <p:cNvPicPr>
            <a:picLocks xmlns:a="http://schemas.openxmlformats.org/drawingml/2006/main" noChangeAspect="1"/>
          </p:cNvPicPr>
          <p:nvPr/>
        </p:nvPicPr>
        <p:blipFill>
          <a:blip xmlns:r="http://schemas.openxmlformats.org/officeDocument/2006/relationships" xmlns:a="http://schemas.openxmlformats.org/drawingml/2006/main" r:embed="R76604de4ca7a4539"/>
          <a:stretch xmlns:a="http://schemas.openxmlformats.org/drawingml/2006/main"/>
        </p:blipFill>
        <p:spPr>
          <a:xfrm xmlns:a="http://schemas.openxmlformats.org/drawingml/2006/main">
            <a:off x="1663014" y="1666875"/>
            <a:ext cx="8865973"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F936D99-FD02-4FE5-B053-43C7665BDC9B}"/>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Tagged papers retain their experimental context</a:t>
            </a:r>
          </a:p>
        </p:txBody>
      </p:sp>
    </p:spTree>
    <p:extLst>
      <p:ext uri="{BB962C8B-B14F-4D97-AF65-F5344CB8AC3E}">
        <p14:creationId xmlns:p14="http://schemas.microsoft.com/office/powerpoint/2010/main" val="80977610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3549B0F-4556-497E-956E-4611BA2AB6CD}"/>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MOTIVATING LIMITATION</a:t>
            </a:r>
          </a:p>
        </p:txBody>
      </p:sp>
      <p:sp>
        <p:nvSpPr>
          <p:cNvPr id="2" name="">
            <a:extLst xmlns:a="http://schemas.openxmlformats.org/drawingml/2006/main">
              <a:ext uri="{FF2B5EF4-FFF2-40B4-BE49-F238E27FC236}">
                <a16:creationId xmlns:a16="http://schemas.microsoft.com/office/drawing/2014/main" id="{4FA4BD45-F5EF-415F-9972-8F6022565B28}"/>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initial AnimatLab controller used one rhythm generator for suspended stepping</a:t>
            </a:r>
          </a:p>
        </p:txBody>
      </p:sp>
      <p:sp>
        <p:nvSpPr>
          <p:cNvPr id="3" name="">
            <a:extLst xmlns:a="http://schemas.openxmlformats.org/drawingml/2006/main">
              <a:ext uri="{FF2B5EF4-FFF2-40B4-BE49-F238E27FC236}">
                <a16:creationId xmlns:a16="http://schemas.microsoft.com/office/drawing/2014/main" id="{C867B8F8-EEAC-42B7-81ED-BFDDF2345631}"/>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The AnimatLab Bipedal Walker; Li (2017), Deng (2019), Bolen (2021)</a:t>
            </a:r>
          </a:p>
        </p:txBody>
      </p:sp>
      <p:sp>
        <p:nvSpPr>
          <p:cNvPr id="4" name="">
            <a:extLst xmlns:a="http://schemas.openxmlformats.org/drawingml/2006/main">
              <a:ext uri="{FF2B5EF4-FFF2-40B4-BE49-F238E27FC236}">
                <a16:creationId xmlns:a16="http://schemas.microsoft.com/office/drawing/2014/main" id="{3D5F181D-1F17-4F39-9171-9639B99486CA}"/>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23</a:t>
            </a:r>
          </a:p>
        </p:txBody>
      </p:sp>
      <p:pic>
        <p:nvPicPr>
          <p:cNvPr id="5" name="">
            <a:extLst xmlns:a="http://schemas.openxmlformats.org/drawingml/2006/main">
              <a:ext uri="{FF2B5EF4-FFF2-40B4-BE49-F238E27FC236}">
                <a16:creationId xmlns:a16="http://schemas.microsoft.com/office/drawing/2014/main" id="{8545F97E-7A9E-4229-8370-39A42ED7CE14}"/>
              </a:ext>
            </a:extLst>
          </p:cNvPr>
          <p:cNvPicPr>
            <a:picLocks xmlns:a="http://schemas.openxmlformats.org/drawingml/2006/main" noChangeAspect="1"/>
          </p:cNvPicPr>
          <p:nvPr/>
        </p:nvPicPr>
        <p:blipFill>
          <a:blip xmlns:r="http://schemas.openxmlformats.org/officeDocument/2006/relationships" xmlns:a="http://schemas.openxmlformats.org/drawingml/2006/main" r:embed="R113b3ce6df5b4eb4"/>
          <a:stretch xmlns:a="http://schemas.openxmlformats.org/drawingml/2006/main"/>
        </p:blipFill>
        <p:spPr>
          <a:xfrm xmlns:a="http://schemas.openxmlformats.org/drawingml/2006/main">
            <a:off x="804489" y="1666875"/>
            <a:ext cx="4725147"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2DD2A4FA-B5EB-4D6C-9136-8DBB08E094B8}"/>
              </a:ext>
            </a:extLst>
          </p:cNvPr>
          <p:cNvPicPr>
            <a:picLocks xmlns:a="http://schemas.openxmlformats.org/drawingml/2006/main" noChangeAspect="1"/>
          </p:cNvPicPr>
          <p:nvPr/>
        </p:nvPicPr>
        <p:blipFill>
          <a:blip xmlns:r="http://schemas.openxmlformats.org/officeDocument/2006/relationships" xmlns:a="http://schemas.openxmlformats.org/drawingml/2006/main" r:embed="Rab7a83d43eb34bb1"/>
          <a:stretch xmlns:a="http://schemas.openxmlformats.org/drawingml/2006/main"/>
        </p:blipFill>
        <p:spPr>
          <a:xfrm xmlns:a="http://schemas.openxmlformats.org/drawingml/2006/main">
            <a:off x="6581197" y="1666875"/>
            <a:ext cx="4887481"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8618745-11B9-4F2B-8087-7A75AA548256}"/>
              </a:ext>
            </a:extLst>
          </p:cNvPr>
          <p:cNvSpPr>
            <a:spLocks xmlns:a="http://schemas.openxmlformats.org/drawingml/2006/main" noGrp="1"/>
          </p:cNvSpPr>
          <p:nvPr/>
        </p:nvSpPr>
        <p:spPr>
          <a:xfrm xmlns:a="http://schemas.openxmlformats.org/drawingml/2006/main">
            <a:off x="476250"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Historical mechanical model</a:t>
            </a:r>
          </a:p>
        </p:txBody>
      </p:sp>
      <p:sp>
        <p:nvSpPr>
          <p:cNvPr id="8" name="">
            <a:extLst xmlns:a="http://schemas.openxmlformats.org/drawingml/2006/main">
              <a:ext uri="{FF2B5EF4-FFF2-40B4-BE49-F238E27FC236}">
                <a16:creationId xmlns:a16="http://schemas.microsoft.com/office/drawing/2014/main" id="{0B592C7E-0CCE-42BC-8204-72CB93EE5D3E}"/>
              </a:ext>
            </a:extLst>
          </p:cNvPr>
          <p:cNvSpPr>
            <a:spLocks xmlns:a="http://schemas.openxmlformats.org/drawingml/2006/main" noGrp="1"/>
          </p:cNvSpPr>
          <p:nvPr/>
        </p:nvSpPr>
        <p:spPr>
          <a:xfrm xmlns:a="http://schemas.openxmlformats.org/drawingml/2006/main">
            <a:off x="6334125"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Original left-joint traces</a:t>
            </a:r>
          </a:p>
        </p:txBody>
      </p:sp>
    </p:spTree>
    <p:extLst>
      <p:ext uri="{BB962C8B-B14F-4D97-AF65-F5344CB8AC3E}">
        <p14:creationId xmlns:p14="http://schemas.microsoft.com/office/powerpoint/2010/main" val="131932563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56E191A5-6766-4840-801F-81A889B97927}"/>
              </a:ext>
            </a:extLst>
          </p:cNvPr>
          <p:cNvCxnSpPr>
            <a:stCxn xmlns:a="http://schemas.openxmlformats.org/drawingml/2006/main" id="6" idx="2"/>
            <a:endCxn xmlns:a="http://schemas.openxmlformats.org/drawingml/2006/main" id="8" idx="0"/>
          </p:cNvCxnSpPr>
          <p:nvPr/>
        </p:nvCxnSpPr>
        <p:spPr>
          <a:xfrm xmlns:a="http://schemas.openxmlformats.org/drawingml/2006/main">
            <a:off x="9334500" y="2857500"/>
            <a:ext cx="0" cy="1190625"/>
          </a:xfrm>
          <a:prstGeom xmlns:a="http://schemas.openxmlformats.org/drawingml/2006/main" prst="straightConnector1">
            <a:avLst/>
          </a:prstGeom>
          <a:ln xmlns:a="http://schemas.openxmlformats.org/drawingml/2006/main" w="28575">
            <a:solidFill>
              <a:srgbClr val="00796B"/>
            </a:solidFill>
            <a:tailEnd type="arrow" w="med" len="med"/>
          </a:ln>
        </p:spPr>
      </p:cxnSp>
      <p:cxnSp>
        <p:nvCxnSpPr>
          <p:cNvPr id="10" name="">
            <a:extLst xmlns:a="http://schemas.openxmlformats.org/drawingml/2006/main">
              <a:ext uri="{FF2B5EF4-FFF2-40B4-BE49-F238E27FC236}">
                <a16:creationId xmlns:a16="http://schemas.microsoft.com/office/drawing/2014/main" id="{FD11B6E6-9667-43D6-8A90-02D85DE9E7BE}"/>
              </a:ext>
            </a:extLst>
          </p:cNvPr>
          <p:cNvCxnSpPr>
            <a:stCxn xmlns:a="http://schemas.openxmlformats.org/drawingml/2006/main" id="5" idx="2"/>
            <a:endCxn xmlns:a="http://schemas.openxmlformats.org/drawingml/2006/main" id="7" idx="0"/>
          </p:cNvCxnSpPr>
          <p:nvPr/>
        </p:nvCxnSpPr>
        <p:spPr>
          <a:xfrm xmlns:a="http://schemas.openxmlformats.org/drawingml/2006/main">
            <a:off x="2857500" y="2857500"/>
            <a:ext cx="0" cy="1190625"/>
          </a:xfrm>
          <a:prstGeom xmlns:a="http://schemas.openxmlformats.org/drawingml/2006/main" prst="straightConnector1">
            <a:avLst/>
          </a:prstGeom>
          <a:ln xmlns:a="http://schemas.openxmlformats.org/drawingml/2006/main" w="28575">
            <a:solidFill>
              <a:srgbClr val="00796B"/>
            </a:solidFill>
            <a:tailEnd type="arrow" w="med" len="med"/>
          </a:ln>
        </p:spPr>
      </p:cxnSp>
      <p:cxnSp>
        <p:nvCxnSpPr>
          <p:cNvPr id="9" name="">
            <a:extLst xmlns:a="http://schemas.openxmlformats.org/drawingml/2006/main">
              <a:ext uri="{FF2B5EF4-FFF2-40B4-BE49-F238E27FC236}">
                <a16:creationId xmlns:a16="http://schemas.microsoft.com/office/drawing/2014/main" id="{12E253D9-774F-4E76-BB16-6D5FC23D5D15}"/>
              </a:ext>
            </a:extLst>
          </p:cNvPr>
          <p:cNvCxnSpPr>
            <a:stCxn xmlns:a="http://schemas.openxmlformats.org/drawingml/2006/main" id="5" idx="3"/>
            <a:endCxn xmlns:a="http://schemas.openxmlformats.org/drawingml/2006/main" id="6" idx="1"/>
          </p:cNvCxnSpPr>
          <p:nvPr/>
        </p:nvCxnSpPr>
        <p:spPr>
          <a:xfrm xmlns:a="http://schemas.openxmlformats.org/drawingml/2006/main">
            <a:off x="4857750" y="2428875"/>
            <a:ext cx="2476500" cy="0"/>
          </a:xfrm>
          <a:prstGeom xmlns:a="http://schemas.openxmlformats.org/drawingml/2006/main" prst="straightConnector1">
            <a:avLst/>
          </a:prstGeom>
          <a:ln xmlns:a="http://schemas.openxmlformats.org/drawingml/2006/main" w="28575">
            <a:solidFill>
              <a:srgbClr val="00796B"/>
            </a:solidFill>
            <a:headEnd type="arrow" w="med" len="med"/>
            <a:tailEnd type="arrow" w="med" len="med"/>
          </a:ln>
        </p:spPr>
      </p:cxnSp>
      <p:sp>
        <p:nvSpPr>
          <p:cNvPr id="14" name="">
            <a:extLst xmlns:a="http://schemas.openxmlformats.org/drawingml/2006/main">
              <a:ext uri="{FF2B5EF4-FFF2-40B4-BE49-F238E27FC236}">
                <a16:creationId xmlns:a16="http://schemas.microsoft.com/office/drawing/2014/main" id="{BC361F0B-290F-46F2-883D-3A0843EB6ADC}"/>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DISTINCT CONTRIBUTION</a:t>
            </a:r>
          </a:p>
        </p:txBody>
      </p:sp>
      <p:sp>
        <p:nvSpPr>
          <p:cNvPr id="2" name="">
            <a:extLst xmlns:a="http://schemas.openxmlformats.org/drawingml/2006/main">
              <a:ext uri="{FF2B5EF4-FFF2-40B4-BE49-F238E27FC236}">
                <a16:creationId xmlns:a16="http://schemas.microsoft.com/office/drawing/2014/main" id="{E7542BB6-101B-4082-9D3C-BD1A721D3BBC}"/>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I later interconnected separate left and right rhythm generators</a:t>
            </a:r>
          </a:p>
        </p:txBody>
      </p:sp>
      <p:sp>
        <p:nvSpPr>
          <p:cNvPr id="3" name="">
            <a:extLst xmlns:a="http://schemas.openxmlformats.org/drawingml/2006/main">
              <a:ext uri="{FF2B5EF4-FFF2-40B4-BE49-F238E27FC236}">
                <a16:creationId xmlns:a16="http://schemas.microsoft.com/office/drawing/2014/main" id="{FB08F52C-C14D-44AF-8A21-9C9B7A629B98}"/>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The AnimatLab Bipedal Walker</a:t>
            </a:r>
          </a:p>
        </p:txBody>
      </p:sp>
      <p:sp>
        <p:nvSpPr>
          <p:cNvPr id="4" name="">
            <a:extLst xmlns:a="http://schemas.openxmlformats.org/drawingml/2006/main">
              <a:ext uri="{FF2B5EF4-FFF2-40B4-BE49-F238E27FC236}">
                <a16:creationId xmlns:a16="http://schemas.microsoft.com/office/drawing/2014/main" id="{0D3A24C9-D767-4CB0-9674-CF9E11B2FFBF}"/>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24</a:t>
            </a:r>
          </a:p>
        </p:txBody>
      </p:sp>
      <p:sp>
        <p:nvSpPr>
          <p:cNvPr id="5" name="">
            <a:extLst xmlns:a="http://schemas.openxmlformats.org/drawingml/2006/main">
              <a:ext uri="{FF2B5EF4-FFF2-40B4-BE49-F238E27FC236}">
                <a16:creationId xmlns:a16="http://schemas.microsoft.com/office/drawing/2014/main" id="{90A179E2-1ADD-47E6-8714-5BEF15D71E4A}"/>
              </a:ext>
            </a:extLst>
          </p:cNvPr>
          <p:cNvSpPr>
            <a:spLocks xmlns:a="http://schemas.openxmlformats.org/drawingml/2006/main" noGrp="1"/>
          </p:cNvSpPr>
          <p:nvPr/>
        </p:nvSpPr>
        <p:spPr>
          <a:xfrm xmlns:a="http://schemas.openxmlformats.org/drawingml/2006/main">
            <a:off x="857250" y="2000250"/>
            <a:ext cx="4000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B"/>
            </a:solidFill>
          </a:ln>
        </p:spPr>
        <p:txBody>
          <a:bodyPr xmlns:a="http://schemas.openxmlformats.org/drawingml/2006/main"/>
          <a:lstStyle xmlns:a="http://schemas.openxmlformats.org/drawingml/2006/main">
            <a:defPPr algn="ctr">
              <a:defRPr sz="2175" b="1">
                <a:solidFill>
                  <a:srgbClr val="222222"/>
                </a:solidFill>
                <a:latin typeface="Calibri"/>
                <a:ea typeface="Calibri"/>
                <a:cs typeface="Calibri"/>
              </a:defRPr>
            </a:defPPr>
            <a:lvl1pPr algn="ctr">
              <a:defRPr sz="2175" b="1">
                <a:solidFill>
                  <a:srgbClr val="222222"/>
                </a:solidFill>
                <a:latin typeface="Calibri"/>
                <a:ea typeface="Calibri"/>
                <a:cs typeface="Calibri"/>
              </a:defRPr>
            </a:lvl1pPr>
            <a:lvl2pPr algn="ctr">
              <a:defRPr sz="2175" b="1">
                <a:solidFill>
                  <a:srgbClr val="222222"/>
                </a:solidFill>
                <a:latin typeface="Calibri"/>
                <a:ea typeface="Calibri"/>
                <a:cs typeface="Calibri"/>
              </a:defRPr>
            </a:lvl2pPr>
            <a:lvl3pPr algn="ctr">
              <a:defRPr sz="2175" b="1">
                <a:solidFill>
                  <a:srgbClr val="222222"/>
                </a:solidFill>
                <a:latin typeface="Calibri"/>
                <a:ea typeface="Calibri"/>
                <a:cs typeface="Calibri"/>
              </a:defRPr>
            </a:lvl3pPr>
            <a:lvl4pPr algn="ctr">
              <a:defRPr sz="2175" b="1">
                <a:solidFill>
                  <a:srgbClr val="222222"/>
                </a:solidFill>
                <a:latin typeface="Calibri"/>
                <a:ea typeface="Calibri"/>
                <a:cs typeface="Calibri"/>
              </a:defRPr>
            </a:lvl4pPr>
            <a:lvl5pPr algn="ctr">
              <a:defRPr sz="2175" b="1">
                <a:solidFill>
                  <a:srgbClr val="222222"/>
                </a:solidFill>
                <a:latin typeface="Calibri"/>
                <a:ea typeface="Calibri"/>
                <a:cs typeface="Calibri"/>
              </a:defRPr>
            </a:lvl5pPr>
            <a:lvl6pPr algn="ctr">
              <a:defRPr sz="2175" b="1">
                <a:solidFill>
                  <a:srgbClr val="222222"/>
                </a:solidFill>
                <a:latin typeface="Calibri"/>
                <a:ea typeface="Calibri"/>
                <a:cs typeface="Calibri"/>
              </a:defRPr>
            </a:lvl6pPr>
            <a:lvl7pPr algn="ctr">
              <a:defRPr sz="2175" b="1">
                <a:solidFill>
                  <a:srgbClr val="222222"/>
                </a:solidFill>
                <a:latin typeface="Calibri"/>
                <a:ea typeface="Calibri"/>
                <a:cs typeface="Calibri"/>
              </a:defRPr>
            </a:lvl7pPr>
            <a:lvl8pPr algn="ctr">
              <a:defRPr sz="2175" b="1">
                <a:solidFill>
                  <a:srgbClr val="222222"/>
                </a:solidFill>
                <a:latin typeface="Calibri"/>
                <a:ea typeface="Calibri"/>
                <a:cs typeface="Calibri"/>
              </a:defRPr>
            </a:lvl8pPr>
            <a:lvl9pPr algn="ctr">
              <a:defRPr sz="2175" b="1">
                <a:solidFill>
                  <a:srgbClr val="222222"/>
                </a:solidFill>
                <a:latin typeface="Calibri"/>
                <a:ea typeface="Calibri"/>
                <a:cs typeface="Calibri"/>
              </a:defRPr>
            </a:lvl9pPr>
          </a:lstStyle>
          <a:p xmlns:a="http://schemas.openxmlformats.org/drawingml/2006/main">
            <a:pPr algn="ctr">
              <a:defRPr sz="2175" b="1">
                <a:solidFill>
                  <a:srgbClr val="222222"/>
                </a:solidFill>
                <a:latin typeface="Calibri"/>
                <a:ea typeface="Calibri"/>
                <a:cs typeface="Calibri"/>
              </a:defRPr>
            </a:pPr>
            <a:r>
              <a:rPr sz="2175" b="1">
                <a:solidFill>
                  <a:srgbClr val="222222"/>
                </a:solidFill>
                <a:latin typeface="Calibri"/>
                <a:ea typeface="Calibri"/>
                <a:cs typeface="Calibri"/>
              </a:rPr>
              <a:t>Left rhythm generator</a:t>
            </a:r>
          </a:p>
        </p:txBody>
      </p:sp>
      <p:sp>
        <p:nvSpPr>
          <p:cNvPr id="6" name="">
            <a:extLst xmlns:a="http://schemas.openxmlformats.org/drawingml/2006/main">
              <a:ext uri="{FF2B5EF4-FFF2-40B4-BE49-F238E27FC236}">
                <a16:creationId xmlns:a16="http://schemas.microsoft.com/office/drawing/2014/main" id="{F46AA4C4-F451-427E-9180-EBADD3C1C01D}"/>
              </a:ext>
            </a:extLst>
          </p:cNvPr>
          <p:cNvSpPr>
            <a:spLocks xmlns:a="http://schemas.openxmlformats.org/drawingml/2006/main" noGrp="1"/>
          </p:cNvSpPr>
          <p:nvPr/>
        </p:nvSpPr>
        <p:spPr>
          <a:xfrm xmlns:a="http://schemas.openxmlformats.org/drawingml/2006/main">
            <a:off x="7334250" y="2000250"/>
            <a:ext cx="4000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B"/>
            </a:solidFill>
          </a:ln>
        </p:spPr>
        <p:txBody>
          <a:bodyPr xmlns:a="http://schemas.openxmlformats.org/drawingml/2006/main"/>
          <a:lstStyle xmlns:a="http://schemas.openxmlformats.org/drawingml/2006/main">
            <a:defPPr algn="ctr">
              <a:defRPr sz="2175" b="1">
                <a:solidFill>
                  <a:srgbClr val="222222"/>
                </a:solidFill>
                <a:latin typeface="Calibri"/>
                <a:ea typeface="Calibri"/>
                <a:cs typeface="Calibri"/>
              </a:defRPr>
            </a:defPPr>
            <a:lvl1pPr algn="ctr">
              <a:defRPr sz="2175" b="1">
                <a:solidFill>
                  <a:srgbClr val="222222"/>
                </a:solidFill>
                <a:latin typeface="Calibri"/>
                <a:ea typeface="Calibri"/>
                <a:cs typeface="Calibri"/>
              </a:defRPr>
            </a:lvl1pPr>
            <a:lvl2pPr algn="ctr">
              <a:defRPr sz="2175" b="1">
                <a:solidFill>
                  <a:srgbClr val="222222"/>
                </a:solidFill>
                <a:latin typeface="Calibri"/>
                <a:ea typeface="Calibri"/>
                <a:cs typeface="Calibri"/>
              </a:defRPr>
            </a:lvl2pPr>
            <a:lvl3pPr algn="ctr">
              <a:defRPr sz="2175" b="1">
                <a:solidFill>
                  <a:srgbClr val="222222"/>
                </a:solidFill>
                <a:latin typeface="Calibri"/>
                <a:ea typeface="Calibri"/>
                <a:cs typeface="Calibri"/>
              </a:defRPr>
            </a:lvl3pPr>
            <a:lvl4pPr algn="ctr">
              <a:defRPr sz="2175" b="1">
                <a:solidFill>
                  <a:srgbClr val="222222"/>
                </a:solidFill>
                <a:latin typeface="Calibri"/>
                <a:ea typeface="Calibri"/>
                <a:cs typeface="Calibri"/>
              </a:defRPr>
            </a:lvl4pPr>
            <a:lvl5pPr algn="ctr">
              <a:defRPr sz="2175" b="1">
                <a:solidFill>
                  <a:srgbClr val="222222"/>
                </a:solidFill>
                <a:latin typeface="Calibri"/>
                <a:ea typeface="Calibri"/>
                <a:cs typeface="Calibri"/>
              </a:defRPr>
            </a:lvl5pPr>
            <a:lvl6pPr algn="ctr">
              <a:defRPr sz="2175" b="1">
                <a:solidFill>
                  <a:srgbClr val="222222"/>
                </a:solidFill>
                <a:latin typeface="Calibri"/>
                <a:ea typeface="Calibri"/>
                <a:cs typeface="Calibri"/>
              </a:defRPr>
            </a:lvl6pPr>
            <a:lvl7pPr algn="ctr">
              <a:defRPr sz="2175" b="1">
                <a:solidFill>
                  <a:srgbClr val="222222"/>
                </a:solidFill>
                <a:latin typeface="Calibri"/>
                <a:ea typeface="Calibri"/>
                <a:cs typeface="Calibri"/>
              </a:defRPr>
            </a:lvl7pPr>
            <a:lvl8pPr algn="ctr">
              <a:defRPr sz="2175" b="1">
                <a:solidFill>
                  <a:srgbClr val="222222"/>
                </a:solidFill>
                <a:latin typeface="Calibri"/>
                <a:ea typeface="Calibri"/>
                <a:cs typeface="Calibri"/>
              </a:defRPr>
            </a:lvl8pPr>
            <a:lvl9pPr algn="ctr">
              <a:defRPr sz="2175" b="1">
                <a:solidFill>
                  <a:srgbClr val="222222"/>
                </a:solidFill>
                <a:latin typeface="Calibri"/>
                <a:ea typeface="Calibri"/>
                <a:cs typeface="Calibri"/>
              </a:defRPr>
            </a:lvl9pPr>
          </a:lstStyle>
          <a:p xmlns:a="http://schemas.openxmlformats.org/drawingml/2006/main">
            <a:pPr algn="ctr">
              <a:defRPr sz="2175" b="1">
                <a:solidFill>
                  <a:srgbClr val="222222"/>
                </a:solidFill>
                <a:latin typeface="Calibri"/>
                <a:ea typeface="Calibri"/>
                <a:cs typeface="Calibri"/>
              </a:defRPr>
            </a:pPr>
            <a:r>
              <a:rPr sz="2175" b="1">
                <a:solidFill>
                  <a:srgbClr val="222222"/>
                </a:solidFill>
                <a:latin typeface="Calibri"/>
                <a:ea typeface="Calibri"/>
                <a:cs typeface="Calibri"/>
              </a:rPr>
              <a:t>Right rhythm generator</a:t>
            </a:r>
          </a:p>
        </p:txBody>
      </p:sp>
      <p:sp>
        <p:nvSpPr>
          <p:cNvPr id="7" name="">
            <a:extLst xmlns:a="http://schemas.openxmlformats.org/drawingml/2006/main">
              <a:ext uri="{FF2B5EF4-FFF2-40B4-BE49-F238E27FC236}">
                <a16:creationId xmlns:a16="http://schemas.microsoft.com/office/drawing/2014/main" id="{6CD17626-9D09-4700-8E38-BD3399F94A03}"/>
              </a:ext>
            </a:extLst>
          </p:cNvPr>
          <p:cNvSpPr>
            <a:spLocks xmlns:a="http://schemas.openxmlformats.org/drawingml/2006/main" noGrp="1"/>
          </p:cNvSpPr>
          <p:nvPr/>
        </p:nvSpPr>
        <p:spPr>
          <a:xfrm xmlns:a="http://schemas.openxmlformats.org/drawingml/2006/main">
            <a:off x="857250" y="4048125"/>
            <a:ext cx="4000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B"/>
            </a:solidFill>
          </a:ln>
        </p:spPr>
        <p:txBody>
          <a:bodyPr xmlns:a="http://schemas.openxmlformats.org/drawingml/2006/main"/>
          <a:lstStyle xmlns:a="http://schemas.openxmlformats.org/drawingml/2006/main">
            <a:defPPr algn="ctr">
              <a:defRPr sz="2175" b="1">
                <a:solidFill>
                  <a:srgbClr val="222222"/>
                </a:solidFill>
                <a:latin typeface="Calibri"/>
                <a:ea typeface="Calibri"/>
                <a:cs typeface="Calibri"/>
              </a:defRPr>
            </a:defPPr>
            <a:lvl1pPr algn="ctr">
              <a:defRPr sz="2175" b="1">
                <a:solidFill>
                  <a:srgbClr val="222222"/>
                </a:solidFill>
                <a:latin typeface="Calibri"/>
                <a:ea typeface="Calibri"/>
                <a:cs typeface="Calibri"/>
              </a:defRPr>
            </a:lvl1pPr>
            <a:lvl2pPr algn="ctr">
              <a:defRPr sz="2175" b="1">
                <a:solidFill>
                  <a:srgbClr val="222222"/>
                </a:solidFill>
                <a:latin typeface="Calibri"/>
                <a:ea typeface="Calibri"/>
                <a:cs typeface="Calibri"/>
              </a:defRPr>
            </a:lvl2pPr>
            <a:lvl3pPr algn="ctr">
              <a:defRPr sz="2175" b="1">
                <a:solidFill>
                  <a:srgbClr val="222222"/>
                </a:solidFill>
                <a:latin typeface="Calibri"/>
                <a:ea typeface="Calibri"/>
                <a:cs typeface="Calibri"/>
              </a:defRPr>
            </a:lvl3pPr>
            <a:lvl4pPr algn="ctr">
              <a:defRPr sz="2175" b="1">
                <a:solidFill>
                  <a:srgbClr val="222222"/>
                </a:solidFill>
                <a:latin typeface="Calibri"/>
                <a:ea typeface="Calibri"/>
                <a:cs typeface="Calibri"/>
              </a:defRPr>
            </a:lvl4pPr>
            <a:lvl5pPr algn="ctr">
              <a:defRPr sz="2175" b="1">
                <a:solidFill>
                  <a:srgbClr val="222222"/>
                </a:solidFill>
                <a:latin typeface="Calibri"/>
                <a:ea typeface="Calibri"/>
                <a:cs typeface="Calibri"/>
              </a:defRPr>
            </a:lvl5pPr>
            <a:lvl6pPr algn="ctr">
              <a:defRPr sz="2175" b="1">
                <a:solidFill>
                  <a:srgbClr val="222222"/>
                </a:solidFill>
                <a:latin typeface="Calibri"/>
                <a:ea typeface="Calibri"/>
                <a:cs typeface="Calibri"/>
              </a:defRPr>
            </a:lvl6pPr>
            <a:lvl7pPr algn="ctr">
              <a:defRPr sz="2175" b="1">
                <a:solidFill>
                  <a:srgbClr val="222222"/>
                </a:solidFill>
                <a:latin typeface="Calibri"/>
                <a:ea typeface="Calibri"/>
                <a:cs typeface="Calibri"/>
              </a:defRPr>
            </a:lvl7pPr>
            <a:lvl8pPr algn="ctr">
              <a:defRPr sz="2175" b="1">
                <a:solidFill>
                  <a:srgbClr val="222222"/>
                </a:solidFill>
                <a:latin typeface="Calibri"/>
                <a:ea typeface="Calibri"/>
                <a:cs typeface="Calibri"/>
              </a:defRPr>
            </a:lvl8pPr>
            <a:lvl9pPr algn="ctr">
              <a:defRPr sz="2175" b="1">
                <a:solidFill>
                  <a:srgbClr val="222222"/>
                </a:solidFill>
                <a:latin typeface="Calibri"/>
                <a:ea typeface="Calibri"/>
                <a:cs typeface="Calibri"/>
              </a:defRPr>
            </a:lvl9pPr>
          </a:lstStyle>
          <a:p xmlns:a="http://schemas.openxmlformats.org/drawingml/2006/main">
            <a:pPr algn="ctr">
              <a:defRPr sz="2175" b="1">
                <a:solidFill>
                  <a:srgbClr val="222222"/>
                </a:solidFill>
                <a:latin typeface="Calibri"/>
                <a:ea typeface="Calibri"/>
                <a:cs typeface="Calibri"/>
              </a:defRPr>
            </a:pPr>
            <a:r>
              <a:rPr sz="2175" b="1">
                <a:solidFill>
                  <a:srgbClr val="222222"/>
                </a:solidFill>
                <a:latin typeface="Calibri"/>
                <a:ea typeface="Calibri"/>
                <a:cs typeface="Calibri"/>
              </a:rPr>
              <a:t>Left pattern formation</a:t>
            </a:r>
          </a:p>
        </p:txBody>
      </p:sp>
      <p:sp>
        <p:nvSpPr>
          <p:cNvPr id="8" name="">
            <a:extLst xmlns:a="http://schemas.openxmlformats.org/drawingml/2006/main">
              <a:ext uri="{FF2B5EF4-FFF2-40B4-BE49-F238E27FC236}">
                <a16:creationId xmlns:a16="http://schemas.microsoft.com/office/drawing/2014/main" id="{217BE60E-F179-4FD0-BBC8-248E2AFC19F6}"/>
              </a:ext>
            </a:extLst>
          </p:cNvPr>
          <p:cNvSpPr>
            <a:spLocks xmlns:a="http://schemas.openxmlformats.org/drawingml/2006/main" noGrp="1"/>
          </p:cNvSpPr>
          <p:nvPr/>
        </p:nvSpPr>
        <p:spPr>
          <a:xfrm xmlns:a="http://schemas.openxmlformats.org/drawingml/2006/main">
            <a:off x="7334250" y="4048125"/>
            <a:ext cx="4000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B"/>
            </a:solidFill>
          </a:ln>
        </p:spPr>
        <p:txBody>
          <a:bodyPr xmlns:a="http://schemas.openxmlformats.org/drawingml/2006/main"/>
          <a:lstStyle xmlns:a="http://schemas.openxmlformats.org/drawingml/2006/main">
            <a:defPPr algn="ctr">
              <a:defRPr sz="2175" b="1">
                <a:solidFill>
                  <a:srgbClr val="222222"/>
                </a:solidFill>
                <a:latin typeface="Calibri"/>
                <a:ea typeface="Calibri"/>
                <a:cs typeface="Calibri"/>
              </a:defRPr>
            </a:defPPr>
            <a:lvl1pPr algn="ctr">
              <a:defRPr sz="2175" b="1">
                <a:solidFill>
                  <a:srgbClr val="222222"/>
                </a:solidFill>
                <a:latin typeface="Calibri"/>
                <a:ea typeface="Calibri"/>
                <a:cs typeface="Calibri"/>
              </a:defRPr>
            </a:lvl1pPr>
            <a:lvl2pPr algn="ctr">
              <a:defRPr sz="2175" b="1">
                <a:solidFill>
                  <a:srgbClr val="222222"/>
                </a:solidFill>
                <a:latin typeface="Calibri"/>
                <a:ea typeface="Calibri"/>
                <a:cs typeface="Calibri"/>
              </a:defRPr>
            </a:lvl2pPr>
            <a:lvl3pPr algn="ctr">
              <a:defRPr sz="2175" b="1">
                <a:solidFill>
                  <a:srgbClr val="222222"/>
                </a:solidFill>
                <a:latin typeface="Calibri"/>
                <a:ea typeface="Calibri"/>
                <a:cs typeface="Calibri"/>
              </a:defRPr>
            </a:lvl3pPr>
            <a:lvl4pPr algn="ctr">
              <a:defRPr sz="2175" b="1">
                <a:solidFill>
                  <a:srgbClr val="222222"/>
                </a:solidFill>
                <a:latin typeface="Calibri"/>
                <a:ea typeface="Calibri"/>
                <a:cs typeface="Calibri"/>
              </a:defRPr>
            </a:lvl4pPr>
            <a:lvl5pPr algn="ctr">
              <a:defRPr sz="2175" b="1">
                <a:solidFill>
                  <a:srgbClr val="222222"/>
                </a:solidFill>
                <a:latin typeface="Calibri"/>
                <a:ea typeface="Calibri"/>
                <a:cs typeface="Calibri"/>
              </a:defRPr>
            </a:lvl5pPr>
            <a:lvl6pPr algn="ctr">
              <a:defRPr sz="2175" b="1">
                <a:solidFill>
                  <a:srgbClr val="222222"/>
                </a:solidFill>
                <a:latin typeface="Calibri"/>
                <a:ea typeface="Calibri"/>
                <a:cs typeface="Calibri"/>
              </a:defRPr>
            </a:lvl6pPr>
            <a:lvl7pPr algn="ctr">
              <a:defRPr sz="2175" b="1">
                <a:solidFill>
                  <a:srgbClr val="222222"/>
                </a:solidFill>
                <a:latin typeface="Calibri"/>
                <a:ea typeface="Calibri"/>
                <a:cs typeface="Calibri"/>
              </a:defRPr>
            </a:lvl7pPr>
            <a:lvl8pPr algn="ctr">
              <a:defRPr sz="2175" b="1">
                <a:solidFill>
                  <a:srgbClr val="222222"/>
                </a:solidFill>
                <a:latin typeface="Calibri"/>
                <a:ea typeface="Calibri"/>
                <a:cs typeface="Calibri"/>
              </a:defRPr>
            </a:lvl8pPr>
            <a:lvl9pPr algn="ctr">
              <a:defRPr sz="2175" b="1">
                <a:solidFill>
                  <a:srgbClr val="222222"/>
                </a:solidFill>
                <a:latin typeface="Calibri"/>
                <a:ea typeface="Calibri"/>
                <a:cs typeface="Calibri"/>
              </a:defRPr>
            </a:lvl9pPr>
          </a:lstStyle>
          <a:p xmlns:a="http://schemas.openxmlformats.org/drawingml/2006/main">
            <a:pPr algn="ctr">
              <a:defRPr sz="2175" b="1">
                <a:solidFill>
                  <a:srgbClr val="222222"/>
                </a:solidFill>
                <a:latin typeface="Calibri"/>
                <a:ea typeface="Calibri"/>
                <a:cs typeface="Calibri"/>
              </a:defRPr>
            </a:pPr>
            <a:r>
              <a:rPr sz="2175" b="1">
                <a:solidFill>
                  <a:srgbClr val="222222"/>
                </a:solidFill>
                <a:latin typeface="Calibri"/>
                <a:ea typeface="Calibri"/>
                <a:cs typeface="Calibri"/>
              </a:rPr>
              <a:t>Right pattern formation</a:t>
            </a:r>
          </a:p>
        </p:txBody>
      </p:sp>
      <p:sp>
        <p:nvSpPr>
          <p:cNvPr id="12" name="">
            <a:extLst xmlns:a="http://schemas.openxmlformats.org/drawingml/2006/main">
              <a:ext uri="{FF2B5EF4-FFF2-40B4-BE49-F238E27FC236}">
                <a16:creationId xmlns:a16="http://schemas.microsoft.com/office/drawing/2014/main" id="{0C3BEC65-3A14-42DE-962B-D16E248953D4}"/>
              </a:ext>
            </a:extLst>
          </p:cNvPr>
          <p:cNvSpPr>
            <a:spLocks xmlns:a="http://schemas.openxmlformats.org/drawingml/2006/main" noGrp="1"/>
          </p:cNvSpPr>
          <p:nvPr/>
        </p:nvSpPr>
        <p:spPr>
          <a:xfrm xmlns:a="http://schemas.openxmlformats.org/drawingml/2006/main">
            <a:off x="4476750" y="309562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Commissural pathways</a:t>
            </a:r>
          </a:p>
        </p:txBody>
      </p:sp>
      <p:sp>
        <p:nvSpPr>
          <p:cNvPr id="13" name="">
            <a:extLst xmlns:a="http://schemas.openxmlformats.org/drawingml/2006/main">
              <a:ext uri="{FF2B5EF4-FFF2-40B4-BE49-F238E27FC236}">
                <a16:creationId xmlns:a16="http://schemas.microsoft.com/office/drawing/2014/main" id="{E4C12B08-C706-49F8-8AFF-D34115240781}"/>
              </a:ext>
            </a:extLst>
          </p:cNvPr>
          <p:cNvSpPr>
            <a:spLocks xmlns:a="http://schemas.openxmlformats.org/drawingml/2006/main" noGrp="1"/>
          </p:cNvSpPr>
          <p:nvPr/>
        </p:nvSpPr>
        <p:spPr>
          <a:xfrm xmlns:a="http://schemas.openxmlformats.org/drawingml/2006/main">
            <a:off x="762000" y="56197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96B"/>
                </a:solidFill>
                <a:latin typeface="Calibri"/>
                <a:ea typeface="Calibri"/>
                <a:cs typeface="Calibri"/>
              </a:defRPr>
            </a:defPPr>
            <a:lvl1pPr>
              <a:defRPr sz="2175" b="1">
                <a:solidFill>
                  <a:srgbClr val="00796B"/>
                </a:solidFill>
                <a:latin typeface="Calibri"/>
                <a:ea typeface="Calibri"/>
                <a:cs typeface="Calibri"/>
              </a:defRPr>
            </a:lvl1pPr>
            <a:lvl2pPr>
              <a:defRPr sz="2175" b="1">
                <a:solidFill>
                  <a:srgbClr val="00796B"/>
                </a:solidFill>
                <a:latin typeface="Calibri"/>
                <a:ea typeface="Calibri"/>
                <a:cs typeface="Calibri"/>
              </a:defRPr>
            </a:lvl2pPr>
            <a:lvl3pPr>
              <a:defRPr sz="2175" b="1">
                <a:solidFill>
                  <a:srgbClr val="00796B"/>
                </a:solidFill>
                <a:latin typeface="Calibri"/>
                <a:ea typeface="Calibri"/>
                <a:cs typeface="Calibri"/>
              </a:defRPr>
            </a:lvl3pPr>
            <a:lvl4pPr>
              <a:defRPr sz="2175" b="1">
                <a:solidFill>
                  <a:srgbClr val="00796B"/>
                </a:solidFill>
                <a:latin typeface="Calibri"/>
                <a:ea typeface="Calibri"/>
                <a:cs typeface="Calibri"/>
              </a:defRPr>
            </a:lvl4pPr>
            <a:lvl5pPr>
              <a:defRPr sz="2175" b="1">
                <a:solidFill>
                  <a:srgbClr val="00796B"/>
                </a:solidFill>
                <a:latin typeface="Calibri"/>
                <a:ea typeface="Calibri"/>
                <a:cs typeface="Calibri"/>
              </a:defRPr>
            </a:lvl5pPr>
            <a:lvl6pPr>
              <a:defRPr sz="2175" b="1">
                <a:solidFill>
                  <a:srgbClr val="00796B"/>
                </a:solidFill>
                <a:latin typeface="Calibri"/>
                <a:ea typeface="Calibri"/>
                <a:cs typeface="Calibri"/>
              </a:defRPr>
            </a:lvl6pPr>
            <a:lvl7pPr>
              <a:defRPr sz="2175" b="1">
                <a:solidFill>
                  <a:srgbClr val="00796B"/>
                </a:solidFill>
                <a:latin typeface="Calibri"/>
                <a:ea typeface="Calibri"/>
                <a:cs typeface="Calibri"/>
              </a:defRPr>
            </a:lvl7pPr>
            <a:lvl8pPr>
              <a:defRPr sz="2175" b="1">
                <a:solidFill>
                  <a:srgbClr val="00796B"/>
                </a:solidFill>
                <a:latin typeface="Calibri"/>
                <a:ea typeface="Calibri"/>
                <a:cs typeface="Calibri"/>
              </a:defRPr>
            </a:lvl8pPr>
            <a:lvl9pPr>
              <a:defRPr sz="2175" b="1">
                <a:solidFill>
                  <a:srgbClr val="00796B"/>
                </a:solidFill>
                <a:latin typeface="Calibri"/>
                <a:ea typeface="Calibri"/>
                <a:cs typeface="Calibri"/>
              </a:defRPr>
            </a:lvl9pPr>
          </a:lstStyle>
          <a:p xmlns:a="http://schemas.openxmlformats.org/drawingml/2006/main">
            <a:pPr>
              <a:defRPr sz="2175" b="1">
                <a:solidFill>
                  <a:srgbClr val="00796B"/>
                </a:solidFill>
                <a:latin typeface="Calibri"/>
                <a:ea typeface="Calibri"/>
                <a:cs typeface="Calibri"/>
              </a:defRPr>
            </a:pPr>
            <a:r>
              <a:rPr sz="2175" b="1">
                <a:solidFill>
                  <a:srgbClr val="00796B"/>
                </a:solidFill>
                <a:latin typeface="Calibri"/>
                <a:ea typeface="Calibri"/>
                <a:cs typeface="Calibri"/>
              </a:rPr>
              <a:t>Conceptual architecture; walking remains unverified</a:t>
            </a:r>
          </a:p>
        </p:txBody>
      </p:sp>
    </p:spTree>
    <p:extLst>
      <p:ext uri="{BB962C8B-B14F-4D97-AF65-F5344CB8AC3E}">
        <p14:creationId xmlns:p14="http://schemas.microsoft.com/office/powerpoint/2010/main" val="194490959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493EFD9-F851-42AC-B76A-16FA4BA099DF}"/>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TOOL CONTRIBUTION</a:t>
            </a:r>
          </a:p>
        </p:txBody>
      </p:sp>
      <p:sp>
        <p:nvSpPr>
          <p:cNvPr id="2" name="">
            <a:extLst xmlns:a="http://schemas.openxmlformats.org/drawingml/2006/main">
              <a:ext uri="{FF2B5EF4-FFF2-40B4-BE49-F238E27FC236}">
                <a16:creationId xmlns:a16="http://schemas.microsoft.com/office/drawing/2014/main" id="{B7BABDB7-FCC5-45C7-928A-678AAF8665A8}"/>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My interfaces connect existing mechanics and neural formulations</a:t>
            </a:r>
          </a:p>
        </p:txBody>
      </p:sp>
      <p:sp>
        <p:nvSpPr>
          <p:cNvPr id="3" name="">
            <a:extLst xmlns:a="http://schemas.openxmlformats.org/drawingml/2006/main">
              <a:ext uri="{FF2B5EF4-FFF2-40B4-BE49-F238E27FC236}">
                <a16:creationId xmlns:a16="http://schemas.microsoft.com/office/drawing/2014/main" id="{DA9D0BE8-0BFB-44CB-A881-784850909196}"/>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Model Conversion and Graphical Circuit Construction</a:t>
            </a:r>
          </a:p>
        </p:txBody>
      </p:sp>
      <p:sp>
        <p:nvSpPr>
          <p:cNvPr id="4" name="">
            <a:extLst xmlns:a="http://schemas.openxmlformats.org/drawingml/2006/main">
              <a:ext uri="{FF2B5EF4-FFF2-40B4-BE49-F238E27FC236}">
                <a16:creationId xmlns:a16="http://schemas.microsoft.com/office/drawing/2014/main" id="{5C79B175-EF49-4A61-86FC-B4A487BC04B5}"/>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25</a:t>
            </a:r>
          </a:p>
        </p:txBody>
      </p:sp>
      <p:pic>
        <p:nvPicPr>
          <p:cNvPr id="5" name="">
            <a:extLst xmlns:a="http://schemas.openxmlformats.org/drawingml/2006/main">
              <a:ext uri="{FF2B5EF4-FFF2-40B4-BE49-F238E27FC236}">
                <a16:creationId xmlns:a16="http://schemas.microsoft.com/office/drawing/2014/main" id="{8CCC4224-EF62-466D-A7F4-E7EF358FCFCA}"/>
              </a:ext>
            </a:extLst>
          </p:cNvPr>
          <p:cNvPicPr>
            <a:picLocks xmlns:a="http://schemas.openxmlformats.org/drawingml/2006/main" noChangeAspect="1"/>
          </p:cNvPicPr>
          <p:nvPr/>
        </p:nvPicPr>
        <p:blipFill>
          <a:blip xmlns:r="http://schemas.openxmlformats.org/officeDocument/2006/relationships" xmlns:a="http://schemas.openxmlformats.org/drawingml/2006/main" r:embed="R2cace7df41a24dc0"/>
          <a:stretch xmlns:a="http://schemas.openxmlformats.org/drawingml/2006/main"/>
        </p:blipFill>
        <p:spPr>
          <a:xfrm xmlns:a="http://schemas.openxmlformats.org/drawingml/2006/main">
            <a:off x="1770063" y="1666875"/>
            <a:ext cx="2794000"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77AAC741-4832-48A6-80A0-8DC83E349780}"/>
              </a:ext>
            </a:extLst>
          </p:cNvPr>
          <p:cNvPicPr>
            <a:picLocks xmlns:a="http://schemas.openxmlformats.org/drawingml/2006/main" noChangeAspect="1"/>
          </p:cNvPicPr>
          <p:nvPr/>
        </p:nvPicPr>
        <p:blipFill>
          <a:blip xmlns:r="http://schemas.openxmlformats.org/officeDocument/2006/relationships" xmlns:a="http://schemas.openxmlformats.org/drawingml/2006/main" r:embed="R05275646bb7b4105"/>
          <a:stretch xmlns:a="http://schemas.openxmlformats.org/drawingml/2006/main"/>
        </p:blipFill>
        <p:spPr>
          <a:xfrm xmlns:a="http://schemas.openxmlformats.org/drawingml/2006/main">
            <a:off x="6238875" y="1874518"/>
            <a:ext cx="5572125" cy="3775714"/>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BBFE602-BD3F-49E7-8C1F-B3F03E810016}"/>
              </a:ext>
            </a:extLst>
          </p:cNvPr>
          <p:cNvSpPr>
            <a:spLocks xmlns:a="http://schemas.openxmlformats.org/drawingml/2006/main" noGrp="1"/>
          </p:cNvSpPr>
          <p:nvPr/>
        </p:nvSpPr>
        <p:spPr>
          <a:xfrm xmlns:a="http://schemas.openxmlformats.org/drawingml/2006/main">
            <a:off x="476250"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Repaired and audited model coupling</a:t>
            </a:r>
          </a:p>
        </p:txBody>
      </p:sp>
      <p:sp>
        <p:nvSpPr>
          <p:cNvPr id="8" name="">
            <a:extLst xmlns:a="http://schemas.openxmlformats.org/drawingml/2006/main">
              <a:ext uri="{FF2B5EF4-FFF2-40B4-BE49-F238E27FC236}">
                <a16:creationId xmlns:a16="http://schemas.microsoft.com/office/drawing/2014/main" id="{1C00CA3E-3D4C-475B-AA19-117BC24130CA}"/>
              </a:ext>
            </a:extLst>
          </p:cNvPr>
          <p:cNvSpPr>
            <a:spLocks xmlns:a="http://schemas.openxmlformats.org/drawingml/2006/main" noGrp="1"/>
          </p:cNvSpPr>
          <p:nvPr/>
        </p:nvSpPr>
        <p:spPr>
          <a:xfrm xmlns:a="http://schemas.openxmlformats.org/drawingml/2006/main">
            <a:off x="6334125"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Editable implementations of existing equations</a:t>
            </a:r>
          </a:p>
        </p:txBody>
      </p:sp>
    </p:spTree>
    <p:extLst>
      <p:ext uri="{BB962C8B-B14F-4D97-AF65-F5344CB8AC3E}">
        <p14:creationId xmlns:p14="http://schemas.microsoft.com/office/powerpoint/2010/main" val="32960009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9D7610D-D98F-4BD0-AFEA-0E0CEA540606}"/>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REPRESENTATIVE CIRCUIT</a:t>
            </a:r>
          </a:p>
        </p:txBody>
      </p:sp>
      <p:sp>
        <p:nvSpPr>
          <p:cNvPr id="2" name="">
            <a:extLst xmlns:a="http://schemas.openxmlformats.org/drawingml/2006/main">
              <a:ext uri="{FF2B5EF4-FFF2-40B4-BE49-F238E27FC236}">
                <a16:creationId xmlns:a16="http://schemas.microsoft.com/office/drawing/2014/main" id="{C3C0CCFE-A728-4256-B8C1-EDAA2093F479}"/>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graphical library implements defined Ia and Ib reflex pathways</a:t>
            </a:r>
          </a:p>
        </p:txBody>
      </p:sp>
      <p:sp>
        <p:nvSpPr>
          <p:cNvPr id="3" name="">
            <a:extLst xmlns:a="http://schemas.openxmlformats.org/drawingml/2006/main">
              <a:ext uri="{FF2B5EF4-FFF2-40B4-BE49-F238E27FC236}">
                <a16:creationId xmlns:a16="http://schemas.microsoft.com/office/drawing/2014/main" id="{51613085-D4E6-422D-AE0F-6021F9D9FCCE}"/>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Fig. simulink_reflex_topology</a:t>
            </a:r>
          </a:p>
        </p:txBody>
      </p:sp>
      <p:sp>
        <p:nvSpPr>
          <p:cNvPr id="4" name="">
            <a:extLst xmlns:a="http://schemas.openxmlformats.org/drawingml/2006/main">
              <a:ext uri="{FF2B5EF4-FFF2-40B4-BE49-F238E27FC236}">
                <a16:creationId xmlns:a16="http://schemas.microsoft.com/office/drawing/2014/main" id="{7BFD4EB0-FCAA-4D07-809A-B2F06B49B052}"/>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26</a:t>
            </a:r>
          </a:p>
        </p:txBody>
      </p:sp>
      <p:pic>
        <p:nvPicPr>
          <p:cNvPr id="5" name="">
            <a:extLst xmlns:a="http://schemas.openxmlformats.org/drawingml/2006/main">
              <a:ext uri="{FF2B5EF4-FFF2-40B4-BE49-F238E27FC236}">
                <a16:creationId xmlns:a16="http://schemas.microsoft.com/office/drawing/2014/main" id="{4E143BC9-946D-455F-821D-838F4117C46F}"/>
              </a:ext>
            </a:extLst>
          </p:cNvPr>
          <p:cNvPicPr>
            <a:picLocks xmlns:a="http://schemas.openxmlformats.org/drawingml/2006/main" noChangeAspect="1"/>
          </p:cNvPicPr>
          <p:nvPr/>
        </p:nvPicPr>
        <p:blipFill>
          <a:blip xmlns:r="http://schemas.openxmlformats.org/officeDocument/2006/relationships" xmlns:a="http://schemas.openxmlformats.org/drawingml/2006/main" r:embed="R701fa32775fd4179"/>
          <a:stretch xmlns:a="http://schemas.openxmlformats.org/drawingml/2006/main"/>
        </p:blipFill>
        <p:spPr>
          <a:xfrm xmlns:a="http://schemas.openxmlformats.org/drawingml/2006/main">
            <a:off x="3377890" y="1666875"/>
            <a:ext cx="5436220"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780AACF-A173-453E-BEA1-459FB6FBBA18}"/>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Spindle (Ia) and tendon-organ (Ib) inputs in a provisional model</a:t>
            </a:r>
          </a:p>
        </p:txBody>
      </p:sp>
    </p:spTree>
    <p:extLst>
      <p:ext uri="{BB962C8B-B14F-4D97-AF65-F5344CB8AC3E}">
        <p14:creationId xmlns:p14="http://schemas.microsoft.com/office/powerpoint/2010/main" val="155203314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1EA23E3-B17F-4D66-880F-44A28BB1868A}"/>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MATCHED VERIFICATION</a:t>
            </a:r>
          </a:p>
        </p:txBody>
      </p:sp>
      <p:sp>
        <p:nvSpPr>
          <p:cNvPr id="2" name="">
            <a:extLst xmlns:a="http://schemas.openxmlformats.org/drawingml/2006/main">
              <a:ext uri="{FF2B5EF4-FFF2-40B4-BE49-F238E27FC236}">
                <a16:creationId xmlns:a16="http://schemas.microsoft.com/office/drawing/2014/main" id="{B083EB80-AE78-400C-8605-E3E8261264D5}"/>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Matched rhythm-core implementations reproduce the same driven bursts</a:t>
            </a:r>
          </a:p>
        </p:txBody>
      </p:sp>
      <p:sp>
        <p:nvSpPr>
          <p:cNvPr id="3" name="">
            <a:extLst xmlns:a="http://schemas.openxmlformats.org/drawingml/2006/main">
              <a:ext uri="{FF2B5EF4-FFF2-40B4-BE49-F238E27FC236}">
                <a16:creationId xmlns:a16="http://schemas.microsoft.com/office/drawing/2014/main" id="{F632EF91-2A8D-4B69-A436-D51A82CF78C7}"/>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Fig. w2l_crossengine; matched NumPy and Simulink protocol</a:t>
            </a:r>
          </a:p>
        </p:txBody>
      </p:sp>
      <p:sp>
        <p:nvSpPr>
          <p:cNvPr id="4" name="">
            <a:extLst xmlns:a="http://schemas.openxmlformats.org/drawingml/2006/main">
              <a:ext uri="{FF2B5EF4-FFF2-40B4-BE49-F238E27FC236}">
                <a16:creationId xmlns:a16="http://schemas.microsoft.com/office/drawing/2014/main" id="{8A8534AF-2962-4E33-A592-5A45A1FAE6C1}"/>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27</a:t>
            </a:r>
          </a:p>
        </p:txBody>
      </p:sp>
      <p:pic>
        <p:nvPicPr>
          <p:cNvPr id="5" name="">
            <a:extLst xmlns:a="http://schemas.openxmlformats.org/drawingml/2006/main">
              <a:ext uri="{FF2B5EF4-FFF2-40B4-BE49-F238E27FC236}">
                <a16:creationId xmlns:a16="http://schemas.microsoft.com/office/drawing/2014/main" id="{18CD2729-6F0F-44C0-AE1F-8EFF41D33685}"/>
              </a:ext>
            </a:extLst>
          </p:cNvPr>
          <p:cNvPicPr>
            <a:picLocks xmlns:a="http://schemas.openxmlformats.org/drawingml/2006/main" noChangeAspect="1"/>
          </p:cNvPicPr>
          <p:nvPr/>
        </p:nvPicPr>
        <p:blipFill>
          <a:blip xmlns:r="http://schemas.openxmlformats.org/officeDocument/2006/relationships" xmlns:a="http://schemas.openxmlformats.org/drawingml/2006/main" r:embed="Rb5facf837e0444be"/>
          <a:stretch xmlns:a="http://schemas.openxmlformats.org/drawingml/2006/main"/>
        </p:blipFill>
        <p:spPr>
          <a:xfrm xmlns:a="http://schemas.openxmlformats.org/drawingml/2006/main">
            <a:off x="3524250" y="1666875"/>
            <a:ext cx="5143500"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1FC70DA-89D8-4307-870F-833C32D07904}"/>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1.000 s periods; trace correlation ≥ 0.99996</a:t>
            </a:r>
          </a:p>
        </p:txBody>
      </p:sp>
    </p:spTree>
    <p:extLst>
      <p:ext uri="{BB962C8B-B14F-4D97-AF65-F5344CB8AC3E}">
        <p14:creationId xmlns:p14="http://schemas.microsoft.com/office/powerpoint/2010/main" val="107597980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D646CB9-C4CE-4910-B2F0-8648F6B1936E}"/>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VERIFICATION BOUNDARY</a:t>
            </a:r>
          </a:p>
        </p:txBody>
      </p:sp>
      <p:sp>
        <p:nvSpPr>
          <p:cNvPr id="2" name="">
            <a:extLst xmlns:a="http://schemas.openxmlformats.org/drawingml/2006/main">
              <a:ext uri="{FF2B5EF4-FFF2-40B4-BE49-F238E27FC236}">
                <a16:creationId xmlns:a16="http://schemas.microsoft.com/office/drawing/2014/main" id="{B04BCB45-7CF8-44C7-AAED-4D16BAD0E4F8}"/>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bridge exchanges signals while full-network dynamics still disagree</a:t>
            </a:r>
          </a:p>
        </p:txBody>
      </p:sp>
      <p:sp>
        <p:nvSpPr>
          <p:cNvPr id="3" name="">
            <a:extLst xmlns:a="http://schemas.openxmlformats.org/drawingml/2006/main">
              <a:ext uri="{FF2B5EF4-FFF2-40B4-BE49-F238E27FC236}">
                <a16:creationId xmlns:a16="http://schemas.microsoft.com/office/drawing/2014/main" id="{F7DF1022-B7A2-427D-BB92-709BE52678C1}"/>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Closed-Loop Model Coupling and capability table</a:t>
            </a:r>
          </a:p>
        </p:txBody>
      </p:sp>
      <p:sp>
        <p:nvSpPr>
          <p:cNvPr id="4" name="">
            <a:extLst xmlns:a="http://schemas.openxmlformats.org/drawingml/2006/main">
              <a:ext uri="{FF2B5EF4-FFF2-40B4-BE49-F238E27FC236}">
                <a16:creationId xmlns:a16="http://schemas.microsoft.com/office/drawing/2014/main" id="{6E889DD3-0529-4251-942F-107C8828986E}"/>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28</a:t>
            </a:r>
          </a:p>
        </p:txBody>
      </p:sp>
      <p:graphicFrame>
        <p:nvGraphicFramePr>
          <p:cNvPr id="5" name="">
            <a:extLst xmlns:a="http://schemas.openxmlformats.org/drawingml/2006/main">
              <a:ext uri="{FF2B5EF4-FFF2-40B4-BE49-F238E27FC236}">
                <a16:creationId xmlns:a16="http://schemas.microsoft.com/office/drawing/2014/main" id="{0D394BE5-9981-45E6-B5BE-877D637B0364}"/>
              </a:ext>
            </a:extLst>
          </p:cNvPr>
          <p:cNvGraphicFramePr/>
          <p:nvPr/>
        </p:nvGraphicFramePr>
        <p:xfrm>
          <a:off xmlns:a="http://schemas.openxmlformats.org/drawingml/2006/main" x="476250" y="1857375"/>
          <a:ext xmlns:a="http://schemas.openxmlformats.org/drawingml/2006/main" cx="11239500" cy="3238500"/>
        </p:xfrm>
        <a:graphic xmlns:a="http://schemas.openxmlformats.org/drawingml/2006/main">
          <a:graphicData uri="http://schemas.openxmlformats.org/drawingml/2006/table">
            <a:tbl>
              <a:tblPr/>
              <a:tblGrid>
                <a:gridCol w="5619750"/>
                <a:gridCol w="5619750"/>
              </a:tblGrid>
              <a:tr h="809625">
                <a:tc>
                  <a:txBody>
                    <a:bodyPr/>
                    <a:lstStyle/>
                    <a:p>
                      <a:r>
                        <a:rPr sz="1875" b="1">
                          <a:solidFill>
                            <a:srgbClr val="00796B"/>
                          </a:solidFill>
                          <a:latin typeface="Calibri"/>
                          <a:ea typeface="Calibri"/>
                          <a:cs typeface="Calibri"/>
                        </a:rPr>
                        <a:t>Verification level</a:t>
                      </a:r>
                    </a:p>
                  </a:txBody>
                  <a:tcPr marL="91440" marR="91440" marT="45720" marB="45720">
                    <a:solidFill>
                      <a:srgbClr val="FFFFFF"/>
                    </a:solidFill>
                  </a:tcPr>
                </a:tc>
                <a:tc>
                  <a:txBody>
                    <a:bodyPr/>
                    <a:lstStyle/>
                    <a:p>
                      <a:r>
                        <a:rPr sz="1875" b="1">
                          <a:solidFill>
                            <a:srgbClr val="00796B"/>
                          </a:solidFill>
                          <a:latin typeface="Calibri"/>
                          <a:ea typeface="Calibri"/>
                          <a:cs typeface="Calibri"/>
                        </a:rPr>
                        <a:t>Observed result</a:t>
                      </a:r>
                    </a:p>
                  </a:txBody>
                  <a:tcPr marL="91440" marR="91440" marT="45720" marB="45720">
                    <a:solidFill>
                      <a:srgbClr val="FFFFFF"/>
                    </a:solidFill>
                  </a:tcPr>
                </a:tc>
              </a:tr>
              <a:tr h="809625">
                <a:tc>
                  <a:txBody>
                    <a:bodyPr/>
                    <a:lstStyle/>
                    <a:p>
                      <a:r>
                        <a:rPr sz="1875" b="0">
                          <a:solidFill>
                            <a:srgbClr val="222222"/>
                          </a:solidFill>
                          <a:latin typeface="Calibri"/>
                          <a:ea typeface="Calibri"/>
                          <a:cs typeface="Calibri"/>
                        </a:rPr>
                        <a:t>Sensor and command exchange</a:t>
                      </a:r>
                    </a:p>
                  </a:txBody>
                  <a:tcPr marL="91440" marR="91440" marT="45720" marB="45720">
                    <a:solidFill>
                      <a:srgbClr val="FFFFFF"/>
                    </a:solidFill>
                  </a:tcPr>
                </a:tc>
                <a:tc>
                  <a:txBody>
                    <a:bodyPr/>
                    <a:lstStyle/>
                    <a:p>
                      <a:r>
                        <a:rPr sz="1875" b="0">
                          <a:solidFill>
                            <a:srgbClr val="222222"/>
                          </a:solidFill>
                          <a:latin typeface="Calibri"/>
                          <a:ea typeface="Calibri"/>
                          <a:cs typeface="Calibri"/>
                        </a:rPr>
                        <a:t>Bit-exact scored readback</a:t>
                      </a:r>
                    </a:p>
                  </a:txBody>
                  <a:tcPr marL="91440" marR="91440" marT="45720" marB="45720">
                    <a:solidFill>
                      <a:srgbClr val="FFFFFF"/>
                    </a:solidFill>
                  </a:tcPr>
                </a:tc>
              </a:tr>
              <a:tr h="809625">
                <a:tc>
                  <a:txBody>
                    <a:bodyPr/>
                    <a:lstStyle/>
                    <a:p>
                      <a:r>
                        <a:rPr sz="1875" b="0">
                          <a:solidFill>
                            <a:srgbClr val="222222"/>
                          </a:solidFill>
                          <a:latin typeface="Calibri"/>
                          <a:ea typeface="Calibri"/>
                          <a:cs typeface="Calibri"/>
                        </a:rPr>
                        <a:t>92-actuator closed-loop run</a:t>
                      </a:r>
                    </a:p>
                  </a:txBody>
                  <a:tcPr marL="91440" marR="91440" marT="45720" marB="45720">
                    <a:solidFill>
                      <a:srgbClr val="FFFFFF"/>
                    </a:solidFill>
                  </a:tcPr>
                </a:tc>
                <a:tc>
                  <a:txBody>
                    <a:bodyPr/>
                    <a:lstStyle/>
                    <a:p>
                      <a:r>
                        <a:rPr sz="1875" b="0">
                          <a:solidFill>
                            <a:srgbClr val="222222"/>
                          </a:solidFill>
                          <a:latin typeface="Calibri"/>
                          <a:ea typeface="Calibri"/>
                          <a:cs typeface="Calibri"/>
                        </a:rPr>
                        <a:t>Signals exchanged for 5 seconds</a:t>
                      </a:r>
                    </a:p>
                  </a:txBody>
                  <a:tcPr marL="91440" marR="91440" marT="45720" marB="45720">
                    <a:solidFill>
                      <a:srgbClr val="FFFFFF"/>
                    </a:solidFill>
                  </a:tcPr>
                </a:tc>
              </a:tr>
              <a:tr h="809625">
                <a:tc>
                  <a:txBody>
                    <a:bodyPr/>
                    <a:lstStyle/>
                    <a:p>
                      <a:r>
                        <a:rPr sz="1875" b="0">
                          <a:solidFill>
                            <a:srgbClr val="222222"/>
                          </a:solidFill>
                          <a:latin typeface="Calibri"/>
                          <a:ea typeface="Calibri"/>
                          <a:cs typeface="Calibri"/>
                        </a:rPr>
                        <a:t>Full network under tonic drive</a:t>
                      </a:r>
                    </a:p>
                  </a:txBody>
                  <a:tcPr marL="91440" marR="91440" marT="45720" marB="45720">
                    <a:solidFill>
                      <a:srgbClr val="FFFFFF"/>
                    </a:solidFill>
                  </a:tcPr>
                </a:tc>
                <a:tc>
                  <a:txBody>
                    <a:bodyPr/>
                    <a:lstStyle/>
                    <a:p>
                      <a:r>
                        <a:rPr sz="1875" b="0">
                          <a:solidFill>
                            <a:srgbClr val="222222"/>
                          </a:solidFill>
                          <a:latin typeface="Calibri"/>
                          <a:ea typeface="Calibri"/>
                          <a:cs typeface="Calibri"/>
                        </a:rPr>
                        <a:t>Simulink settles; NumPy oscillates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12069F55-6B54-4772-BD33-8BA349A2EB30}"/>
              </a:ext>
            </a:extLst>
          </p:cNvPr>
          <p:cNvSpPr>
            <a:spLocks xmlns:a="http://schemas.openxmlformats.org/drawingml/2006/main" noGrp="1"/>
          </p:cNvSpPr>
          <p:nvPr/>
        </p:nvSpPr>
        <p:spPr>
          <a:xfrm xmlns:a="http://schemas.openxmlformats.org/drawingml/2006/main">
            <a:off x="523875" y="5619750"/>
            <a:ext cx="1114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796B"/>
                </a:solidFill>
                <a:latin typeface="Calibri"/>
                <a:ea typeface="Calibri"/>
                <a:cs typeface="Calibri"/>
              </a:defRPr>
            </a:defPPr>
            <a:lvl1pPr>
              <a:defRPr sz="2025" b="1">
                <a:solidFill>
                  <a:srgbClr val="00796B"/>
                </a:solidFill>
                <a:latin typeface="Calibri"/>
                <a:ea typeface="Calibri"/>
                <a:cs typeface="Calibri"/>
              </a:defRPr>
            </a:lvl1pPr>
            <a:lvl2pPr>
              <a:defRPr sz="2025" b="1">
                <a:solidFill>
                  <a:srgbClr val="00796B"/>
                </a:solidFill>
                <a:latin typeface="Calibri"/>
                <a:ea typeface="Calibri"/>
                <a:cs typeface="Calibri"/>
              </a:defRPr>
            </a:lvl2pPr>
            <a:lvl3pPr>
              <a:defRPr sz="2025" b="1">
                <a:solidFill>
                  <a:srgbClr val="00796B"/>
                </a:solidFill>
                <a:latin typeface="Calibri"/>
                <a:ea typeface="Calibri"/>
                <a:cs typeface="Calibri"/>
              </a:defRPr>
            </a:lvl3pPr>
            <a:lvl4pPr>
              <a:defRPr sz="2025" b="1">
                <a:solidFill>
                  <a:srgbClr val="00796B"/>
                </a:solidFill>
                <a:latin typeface="Calibri"/>
                <a:ea typeface="Calibri"/>
                <a:cs typeface="Calibri"/>
              </a:defRPr>
            </a:lvl4pPr>
            <a:lvl5pPr>
              <a:defRPr sz="2025" b="1">
                <a:solidFill>
                  <a:srgbClr val="00796B"/>
                </a:solidFill>
                <a:latin typeface="Calibri"/>
                <a:ea typeface="Calibri"/>
                <a:cs typeface="Calibri"/>
              </a:defRPr>
            </a:lvl5pPr>
            <a:lvl6pPr>
              <a:defRPr sz="2025" b="1">
                <a:solidFill>
                  <a:srgbClr val="00796B"/>
                </a:solidFill>
                <a:latin typeface="Calibri"/>
                <a:ea typeface="Calibri"/>
                <a:cs typeface="Calibri"/>
              </a:defRPr>
            </a:lvl6pPr>
            <a:lvl7pPr>
              <a:defRPr sz="2025" b="1">
                <a:solidFill>
                  <a:srgbClr val="00796B"/>
                </a:solidFill>
                <a:latin typeface="Calibri"/>
                <a:ea typeface="Calibri"/>
                <a:cs typeface="Calibri"/>
              </a:defRPr>
            </a:lvl7pPr>
            <a:lvl8pPr>
              <a:defRPr sz="2025" b="1">
                <a:solidFill>
                  <a:srgbClr val="00796B"/>
                </a:solidFill>
                <a:latin typeface="Calibri"/>
                <a:ea typeface="Calibri"/>
                <a:cs typeface="Calibri"/>
              </a:defRPr>
            </a:lvl8pPr>
            <a:lvl9pPr>
              <a:defRPr sz="2025" b="1">
                <a:solidFill>
                  <a:srgbClr val="00796B"/>
                </a:solidFill>
                <a:latin typeface="Calibri"/>
                <a:ea typeface="Calibri"/>
                <a:cs typeface="Calibri"/>
              </a:defRPr>
            </a:lvl9pPr>
          </a:lstStyle>
          <a:p xmlns:a="http://schemas.openxmlformats.org/drawingml/2006/main">
            <a:pPr>
              <a:defRPr sz="2025" b="1">
                <a:solidFill>
                  <a:srgbClr val="00796B"/>
                </a:solidFill>
                <a:latin typeface="Calibri"/>
                <a:ea typeface="Calibri"/>
                <a:cs typeface="Calibri"/>
              </a:defRPr>
            </a:pPr>
            <a:r>
              <a:rPr sz="2025" b="1">
                <a:solidFill>
                  <a:srgbClr val="00796B"/>
                </a:solidFill>
                <a:latin typeface="Calibri"/>
                <a:ea typeface="Calibri"/>
                <a:cs typeface="Calibri"/>
              </a:rPr>
              <a:t>Interface correctness and controller equivalence need separate tests</a:t>
            </a:r>
          </a:p>
        </p:txBody>
      </p:sp>
    </p:spTree>
    <p:extLst>
      <p:ext uri="{BB962C8B-B14F-4D97-AF65-F5344CB8AC3E}">
        <p14:creationId xmlns:p14="http://schemas.microsoft.com/office/powerpoint/2010/main" val="128560502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EA127CB-943F-4624-8EEB-7D571A56D7D2}"/>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CONCLUSIONS</a:t>
            </a:r>
          </a:p>
        </p:txBody>
      </p:sp>
      <p:sp>
        <p:nvSpPr>
          <p:cNvPr id="2" name="">
            <a:extLst xmlns:a="http://schemas.openxmlformats.org/drawingml/2006/main">
              <a:ext uri="{FF2B5EF4-FFF2-40B4-BE49-F238E27FC236}">
                <a16:creationId xmlns:a16="http://schemas.microsoft.com/office/drawing/2014/main" id="{F99B65A4-5CE8-4519-9F3A-D691C77E1D29}"/>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evidence supports static torque capacity and specific simulation interfaces</a:t>
            </a:r>
          </a:p>
        </p:txBody>
      </p:sp>
      <p:sp>
        <p:nvSpPr>
          <p:cNvPr id="3" name="">
            <a:extLst xmlns:a="http://schemas.openxmlformats.org/drawingml/2006/main">
              <a:ext uri="{FF2B5EF4-FFF2-40B4-BE49-F238E27FC236}">
                <a16:creationId xmlns:a16="http://schemas.microsoft.com/office/drawing/2014/main" id="{3AF0E095-8543-41B0-A028-89316E5B0A87}"/>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Chs. 3–7; final flexor MATLAB reduction, 23 October 2026</a:t>
            </a:r>
          </a:p>
        </p:txBody>
      </p:sp>
      <p:sp>
        <p:nvSpPr>
          <p:cNvPr id="4" name="">
            <a:extLst xmlns:a="http://schemas.openxmlformats.org/drawingml/2006/main">
              <a:ext uri="{FF2B5EF4-FFF2-40B4-BE49-F238E27FC236}">
                <a16:creationId xmlns:a16="http://schemas.microsoft.com/office/drawing/2014/main" id="{1953FCA2-1B64-46F3-AD8B-4018E4913F6B}"/>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29</a:t>
            </a:r>
          </a:p>
        </p:txBody>
      </p:sp>
      <p:graphicFrame>
        <p:nvGraphicFramePr>
          <p:cNvPr id="5" name="">
            <a:extLst xmlns:a="http://schemas.openxmlformats.org/drawingml/2006/main">
              <a:ext uri="{FF2B5EF4-FFF2-40B4-BE49-F238E27FC236}">
                <a16:creationId xmlns:a16="http://schemas.microsoft.com/office/drawing/2014/main" id="{18090855-9819-4269-803D-91CD4CAACADC}"/>
              </a:ext>
            </a:extLst>
          </p:cNvPr>
          <p:cNvGraphicFramePr/>
          <p:nvPr/>
        </p:nvGraphicFramePr>
        <p:xfrm>
          <a:off xmlns:a="http://schemas.openxmlformats.org/drawingml/2006/main" x="476250" y="1619250"/>
          <a:ext xmlns:a="http://schemas.openxmlformats.org/drawingml/2006/main" cx="11239500" cy="3905250"/>
        </p:xfrm>
        <a:graphic xmlns:a="http://schemas.openxmlformats.org/drawingml/2006/main">
          <a:graphicData uri="http://schemas.openxmlformats.org/drawingml/2006/table">
            <a:tbl>
              <a:tblPr/>
              <a:tblGrid>
                <a:gridCol w="3746500"/>
                <a:gridCol w="3746500"/>
                <a:gridCol w="3746500"/>
              </a:tblGrid>
              <a:tr h="781050">
                <a:tc>
                  <a:txBody>
                    <a:bodyPr/>
                    <a:lstStyle/>
                    <a:p>
                      <a:r>
                        <a:rPr sz="1875" b="1">
                          <a:solidFill>
                            <a:srgbClr val="00796B"/>
                          </a:solidFill>
                          <a:latin typeface="Calibri"/>
                          <a:ea typeface="Calibri"/>
                          <a:cs typeface="Calibri"/>
                        </a:rPr>
                        <a:t>Contribution</a:t>
                      </a:r>
                    </a:p>
                  </a:txBody>
                  <a:tcPr marL="91440" marR="91440" marT="45720" marB="45720">
                    <a:solidFill>
                      <a:srgbClr val="FFFFFF"/>
                    </a:solidFill>
                  </a:tcPr>
                </a:tc>
                <a:tc>
                  <a:txBody>
                    <a:bodyPr/>
                    <a:lstStyle/>
                    <a:p>
                      <a:r>
                        <a:rPr sz="1875" b="1">
                          <a:solidFill>
                            <a:srgbClr val="00796B"/>
                          </a:solidFill>
                          <a:latin typeface="Calibri"/>
                          <a:ea typeface="Calibri"/>
                          <a:cs typeface="Calibri"/>
                        </a:rPr>
                        <a:t>Evidence</a:t>
                      </a:r>
                    </a:p>
                  </a:txBody>
                  <a:tcPr marL="91440" marR="91440" marT="45720" marB="45720">
                    <a:solidFill>
                      <a:srgbClr val="FFFFFF"/>
                    </a:solidFill>
                  </a:tcPr>
                </a:tc>
                <a:tc>
                  <a:txBody>
                    <a:bodyPr/>
                    <a:lstStyle/>
                    <a:p>
                      <a:r>
                        <a:rPr sz="1875" b="1">
                          <a:solidFill>
                            <a:srgbClr val="00796B"/>
                          </a:solidFill>
                          <a:latin typeface="Calibri"/>
                          <a:ea typeface="Calibri"/>
                          <a:cs typeface="Calibri"/>
                        </a:rPr>
                        <a:t>Boundary</a:t>
                      </a:r>
                    </a:p>
                  </a:txBody>
                  <a:tcPr marL="91440" marR="91440" marT="45720" marB="45720">
                    <a:solidFill>
                      <a:srgbClr val="FFFFFF"/>
                    </a:solidFill>
                  </a:tcPr>
                </a:tc>
              </a:tr>
              <a:tr h="781050">
                <a:tc>
                  <a:txBody>
                    <a:bodyPr/>
                    <a:lstStyle/>
                    <a:p>
                      <a:r>
                        <a:rPr sz="1875" b="0">
                          <a:solidFill>
                            <a:srgbClr val="222222"/>
                          </a:solidFill>
                          <a:latin typeface="Calibri"/>
                          <a:ea typeface="Calibri"/>
                          <a:cs typeface="Calibri"/>
                        </a:rPr>
                        <a:t>Actuator force model</a:t>
                      </a:r>
                    </a:p>
                  </a:txBody>
                  <a:tcPr marL="91440" marR="91440" marT="45720" marB="45720">
                    <a:solidFill>
                      <a:srgbClr val="FFFFFF"/>
                    </a:solidFill>
                  </a:tcPr>
                </a:tc>
                <a:tc>
                  <a:txBody>
                    <a:bodyPr/>
                    <a:lstStyle/>
                    <a:p>
                      <a:r>
                        <a:rPr sz="1875" b="0">
                          <a:solidFill>
                            <a:srgbClr val="222222"/>
                          </a:solidFill>
                          <a:latin typeface="Calibri"/>
                          <a:ea typeface="Calibri"/>
                          <a:cs typeface="Calibri"/>
                        </a:rPr>
                        <a:t>Measured force and held-out fits</a:t>
                      </a:r>
                    </a:p>
                  </a:txBody>
                  <a:tcPr marL="91440" marR="91440" marT="45720" marB="45720">
                    <a:solidFill>
                      <a:srgbClr val="FFFFFF"/>
                    </a:solidFill>
                  </a:tcPr>
                </a:tc>
                <a:tc>
                  <a:txBody>
                    <a:bodyPr/>
                    <a:lstStyle/>
                    <a:p>
                      <a:r>
                        <a:rPr sz="1875" b="0">
                          <a:solidFill>
                            <a:srgbClr val="222222"/>
                          </a:solidFill>
                          <a:latin typeface="Calibri"/>
                          <a:ea typeface="Calibri"/>
                          <a:cs typeface="Calibri"/>
                        </a:rPr>
                        <a:t>Static, tested actuator range</a:t>
                      </a:r>
                    </a:p>
                  </a:txBody>
                  <a:tcPr marL="91440" marR="91440" marT="45720" marB="45720">
                    <a:solidFill>
                      <a:srgbClr val="FFFFFF"/>
                    </a:solidFill>
                  </a:tcPr>
                </a:tc>
              </a:tr>
              <a:tr h="781050">
                <a:tc>
                  <a:txBody>
                    <a:bodyPr/>
                    <a:lstStyle/>
                    <a:p>
                      <a:r>
                        <a:rPr sz="1875" b="0">
                          <a:solidFill>
                            <a:srgbClr val="222222"/>
                          </a:solidFill>
                          <a:latin typeface="Calibri"/>
                          <a:ea typeface="Calibri"/>
                          <a:cs typeface="Calibri"/>
                        </a:rPr>
                        <a:t>Joint model and routes</a:t>
                      </a:r>
                    </a:p>
                  </a:txBody>
                  <a:tcPr marL="91440" marR="91440" marT="45720" marB="45720">
                    <a:solidFill>
                      <a:srgbClr val="FFFFFF"/>
                    </a:solidFill>
                  </a:tcPr>
                </a:tc>
                <a:tc>
                  <a:txBody>
                    <a:bodyPr/>
                    <a:lstStyle/>
                    <a:p>
                      <a:r>
                        <a:rPr sz="1875" b="0">
                          <a:solidFill>
                            <a:srgbClr val="222222"/>
                          </a:solidFill>
                          <a:latin typeface="Calibri"/>
                          <a:ea typeface="Calibri"/>
                          <a:cs typeface="Calibri"/>
                        </a:rPr>
                        <a:t>Held-out error and physical holds</a:t>
                      </a:r>
                    </a:p>
                  </a:txBody>
                  <a:tcPr marL="91440" marR="91440" marT="45720" marB="45720">
                    <a:solidFill>
                      <a:srgbClr val="FFFFFF"/>
                    </a:solidFill>
                  </a:tcPr>
                </a:tc>
                <a:tc>
                  <a:txBody>
                    <a:bodyPr/>
                    <a:lstStyle/>
                    <a:p>
                      <a:r>
                        <a:rPr sz="1875" b="0">
                          <a:solidFill>
                            <a:srgbClr val="222222"/>
                          </a:solidFill>
                          <a:latin typeface="Calibri"/>
                          <a:ea typeface="Calibri"/>
                          <a:cs typeface="Calibri"/>
                        </a:rPr>
                        <a:t>Variable pressure; residual mismatch</a:t>
                      </a:r>
                    </a:p>
                  </a:txBody>
                  <a:tcPr marL="91440" marR="91440" marT="45720" marB="45720">
                    <a:solidFill>
                      <a:srgbClr val="FFFFFF"/>
                    </a:solidFill>
                  </a:tcPr>
                </a:tc>
              </a:tr>
              <a:tr h="781050">
                <a:tc>
                  <a:txBody>
                    <a:bodyPr/>
                    <a:lstStyle/>
                    <a:p>
                      <a:r>
                        <a:rPr sz="1875" b="0">
                          <a:solidFill>
                            <a:srgbClr val="222222"/>
                          </a:solidFill>
                          <a:latin typeface="Calibri"/>
                          <a:ea typeface="Calibri"/>
                          <a:cs typeface="Calibri"/>
                        </a:rPr>
                        <a:t>SADb</a:t>
                      </a:r>
                    </a:p>
                  </a:txBody>
                  <a:tcPr marL="91440" marR="91440" marT="45720" marB="45720">
                    <a:solidFill>
                      <a:srgbClr val="FFFFFF"/>
                    </a:solidFill>
                  </a:tcPr>
                </a:tc>
                <a:tc>
                  <a:txBody>
                    <a:bodyPr/>
                    <a:lstStyle/>
                    <a:p>
                      <a:r>
                        <a:rPr sz="1875" b="0">
                          <a:solidFill>
                            <a:srgbClr val="222222"/>
                          </a:solidFill>
                          <a:latin typeface="Calibri"/>
                          <a:ea typeface="Calibri"/>
                          <a:cs typeface="Calibri"/>
                        </a:rPr>
                        <a:t>Inspectable linked records</a:t>
                      </a:r>
                    </a:p>
                  </a:txBody>
                  <a:tcPr marL="91440" marR="91440" marT="45720" marB="45720">
                    <a:solidFill>
                      <a:srgbClr val="FFFFFF"/>
                    </a:solidFill>
                  </a:tcPr>
                </a:tc>
                <a:tc>
                  <a:txBody>
                    <a:bodyPr/>
                    <a:lstStyle/>
                    <a:p>
                      <a:r>
                        <a:rPr sz="1875" b="0">
                          <a:solidFill>
                            <a:srgbClr val="222222"/>
                          </a:solidFill>
                          <a:latin typeface="Calibri"/>
                          <a:ea typeface="Calibri"/>
                          <a:cs typeface="Calibri"/>
                        </a:rPr>
                        <a:t>Uneven source coverage</a:t>
                      </a:r>
                    </a:p>
                  </a:txBody>
                  <a:tcPr marL="91440" marR="91440" marT="45720" marB="45720">
                    <a:solidFill>
                      <a:srgbClr val="FFFFFF"/>
                    </a:solidFill>
                  </a:tcPr>
                </a:tc>
              </a:tr>
              <a:tr h="781050">
                <a:tc>
                  <a:txBody>
                    <a:bodyPr/>
                    <a:lstStyle/>
                    <a:p>
                      <a:r>
                        <a:rPr sz="1875" b="0">
                          <a:solidFill>
                            <a:srgbClr val="222222"/>
                          </a:solidFill>
                          <a:latin typeface="Calibri"/>
                          <a:ea typeface="Calibri"/>
                          <a:cs typeface="Calibri"/>
                        </a:rPr>
                        <a:t>Neural interfaces</a:t>
                      </a:r>
                    </a:p>
                  </a:txBody>
                  <a:tcPr marL="91440" marR="91440" marT="45720" marB="45720">
                    <a:solidFill>
                      <a:srgbClr val="FFFFFF"/>
                    </a:solidFill>
                  </a:tcPr>
                </a:tc>
                <a:tc>
                  <a:txBody>
                    <a:bodyPr/>
                    <a:lstStyle/>
                    <a:p>
                      <a:r>
                        <a:rPr sz="1875" b="0">
                          <a:solidFill>
                            <a:srgbClr val="222222"/>
                          </a:solidFill>
                          <a:latin typeface="Calibri"/>
                          <a:ea typeface="Calibri"/>
                          <a:cs typeface="Calibri"/>
                        </a:rPr>
                        <a:t>Matched tests and signal readback</a:t>
                      </a:r>
                    </a:p>
                  </a:txBody>
                  <a:tcPr marL="91440" marR="91440" marT="45720" marB="45720">
                    <a:solidFill>
                      <a:srgbClr val="FFFFFF"/>
                    </a:solidFill>
                  </a:tcPr>
                </a:tc>
                <a:tc>
                  <a:txBody>
                    <a:bodyPr/>
                    <a:lstStyle/>
                    <a:p>
                      <a:r>
                        <a:rPr sz="1875" b="0">
                          <a:solidFill>
                            <a:srgbClr val="222222"/>
                          </a:solidFill>
                          <a:latin typeface="Calibri"/>
                          <a:ea typeface="Calibri"/>
                          <a:cs typeface="Calibri"/>
                        </a:rPr>
                        <a:t>Full-network discrepancy; no free walking</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0092699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8C29B0D-C6E7-4A74-B4F4-A7CB6B9A3EAB}"/>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NEXT EXPERIMENTS</a:t>
            </a:r>
          </a:p>
        </p:txBody>
      </p:sp>
      <p:sp>
        <p:nvSpPr>
          <p:cNvPr id="2" name="">
            <a:extLst xmlns:a="http://schemas.openxmlformats.org/drawingml/2006/main">
              <a:ext uri="{FF2B5EF4-FFF2-40B4-BE49-F238E27FC236}">
                <a16:creationId xmlns:a16="http://schemas.microsoft.com/office/drawing/2014/main" id="{CE3F950D-B585-47B2-935C-D9DB625E55E5}"/>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Matched-pressure tests and controller reconciliation are the next checks</a:t>
            </a:r>
          </a:p>
        </p:txBody>
      </p:sp>
      <p:sp>
        <p:nvSpPr>
          <p:cNvPr id="3" name="">
            <a:extLst xmlns:a="http://schemas.openxmlformats.org/drawingml/2006/main">
              <a:ext uri="{FF2B5EF4-FFF2-40B4-BE49-F238E27FC236}">
                <a16:creationId xmlns:a16="http://schemas.microsoft.com/office/drawing/2014/main" id="{C97C0A41-9DFA-43FF-B20A-676AE2487E72}"/>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7; Ch. 6, remaining limits</a:t>
            </a:r>
          </a:p>
        </p:txBody>
      </p:sp>
      <p:sp>
        <p:nvSpPr>
          <p:cNvPr id="4" name="">
            <a:extLst xmlns:a="http://schemas.openxmlformats.org/drawingml/2006/main">
              <a:ext uri="{FF2B5EF4-FFF2-40B4-BE49-F238E27FC236}">
                <a16:creationId xmlns:a16="http://schemas.microsoft.com/office/drawing/2014/main" id="{86B075D7-516C-4300-A825-E4265A16B76D}"/>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30</a:t>
            </a:r>
          </a:p>
        </p:txBody>
      </p:sp>
      <p:pic>
        <p:nvPicPr>
          <p:cNvPr id="5" name="">
            <a:extLst xmlns:a="http://schemas.openxmlformats.org/drawingml/2006/main">
              <a:ext uri="{FF2B5EF4-FFF2-40B4-BE49-F238E27FC236}">
                <a16:creationId xmlns:a16="http://schemas.microsoft.com/office/drawing/2014/main" id="{E23EC1B2-BA42-45BB-A9C9-4BF903B59722}"/>
              </a:ext>
            </a:extLst>
          </p:cNvPr>
          <p:cNvPicPr>
            <a:picLocks xmlns:a="http://schemas.openxmlformats.org/drawingml/2006/main" noChangeAspect="1"/>
          </p:cNvPicPr>
          <p:nvPr/>
        </p:nvPicPr>
        <p:blipFill>
          <a:blip xmlns:r="http://schemas.openxmlformats.org/officeDocument/2006/relationships" xmlns:a="http://schemas.openxmlformats.org/drawingml/2006/main" r:embed="R95cc408336624e4e"/>
          <a:stretch xmlns:a="http://schemas.openxmlformats.org/drawingml/2006/main"/>
        </p:blipFill>
        <p:spPr>
          <a:xfrm xmlns:a="http://schemas.openxmlformats.org/drawingml/2006/main">
            <a:off x="3008543" y="1666875"/>
            <a:ext cx="6174914"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38E85FD-16B8-49A7-89D8-F84FF253F2C0}"/>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Close the measured gaps before transferring control to hardware</a:t>
            </a:r>
          </a:p>
        </p:txBody>
      </p:sp>
    </p:spTree>
    <p:extLst>
      <p:ext uri="{BB962C8B-B14F-4D97-AF65-F5344CB8AC3E}">
        <p14:creationId xmlns:p14="http://schemas.microsoft.com/office/powerpoint/2010/main" val="94113584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7BF4A93-E524-42EA-B19C-3E9BDABEA519}"/>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ACKNOWLEDGMENTS</a:t>
            </a:r>
          </a:p>
        </p:txBody>
      </p:sp>
      <p:sp>
        <p:nvSpPr>
          <p:cNvPr id="2" name="">
            <a:extLst xmlns:a="http://schemas.openxmlformats.org/drawingml/2006/main">
              <a:ext uri="{FF2B5EF4-FFF2-40B4-BE49-F238E27FC236}">
                <a16:creationId xmlns:a16="http://schemas.microsoft.com/office/drawing/2014/main" id="{CF6C117C-561A-4524-B161-5CF1EDD8F10E}"/>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Questions</a:t>
            </a:r>
          </a:p>
        </p:txBody>
      </p:sp>
      <p:sp>
        <p:nvSpPr>
          <p:cNvPr id="3" name="">
            <a:extLst xmlns:a="http://schemas.openxmlformats.org/drawingml/2006/main">
              <a:ext uri="{FF2B5EF4-FFF2-40B4-BE49-F238E27FC236}">
                <a16:creationId xmlns:a16="http://schemas.microsoft.com/office/drawing/2014/main" id="{7A0DD325-ADB8-4CE4-BD52-D5405AC6C12E}"/>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Ben P. Bolen · Mechanical Engineering · Portland State University</a:t>
            </a:r>
          </a:p>
        </p:txBody>
      </p:sp>
      <p:sp>
        <p:nvSpPr>
          <p:cNvPr id="4" name="">
            <a:extLst xmlns:a="http://schemas.openxmlformats.org/drawingml/2006/main">
              <a:ext uri="{FF2B5EF4-FFF2-40B4-BE49-F238E27FC236}">
                <a16:creationId xmlns:a16="http://schemas.microsoft.com/office/drawing/2014/main" id="{1157F3F8-DCD2-4A5E-B598-C3B5BFD403DF}"/>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31</a:t>
            </a:r>
          </a:p>
        </p:txBody>
      </p:sp>
      <p:sp>
        <p:nvSpPr>
          <p:cNvPr id="5" name="">
            <a:extLst xmlns:a="http://schemas.openxmlformats.org/drawingml/2006/main">
              <a:ext uri="{FF2B5EF4-FFF2-40B4-BE49-F238E27FC236}">
                <a16:creationId xmlns:a16="http://schemas.microsoft.com/office/drawing/2014/main" id="{61F3A35A-7C91-4268-8A72-E66ED3E73497}"/>
              </a:ext>
            </a:extLst>
          </p:cNvPr>
          <p:cNvSpPr>
            <a:spLocks xmlns:a="http://schemas.openxmlformats.org/drawingml/2006/main" noGrp="1"/>
          </p:cNvSpPr>
          <p:nvPr/>
        </p:nvSpPr>
        <p:spPr>
          <a:xfrm xmlns:a="http://schemas.openxmlformats.org/drawingml/2006/main">
            <a:off x="619125" y="22860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800" b="1">
                <a:solidFill>
                  <a:srgbClr val="AF7B51"/>
                </a:solidFill>
                <a:latin typeface="Calibri"/>
                <a:ea typeface="Calibri"/>
                <a:cs typeface="Calibri"/>
              </a:defRPr>
            </a:defPPr>
            <a:lvl1pPr>
              <a:defRPr sz="4800" b="1">
                <a:solidFill>
                  <a:srgbClr val="AF7B51"/>
                </a:solidFill>
                <a:latin typeface="Calibri"/>
                <a:ea typeface="Calibri"/>
                <a:cs typeface="Calibri"/>
              </a:defRPr>
            </a:lvl1pPr>
            <a:lvl2pPr>
              <a:defRPr sz="4800" b="1">
                <a:solidFill>
                  <a:srgbClr val="AF7B51"/>
                </a:solidFill>
                <a:latin typeface="Calibri"/>
                <a:ea typeface="Calibri"/>
                <a:cs typeface="Calibri"/>
              </a:defRPr>
            </a:lvl2pPr>
            <a:lvl3pPr>
              <a:defRPr sz="4800" b="1">
                <a:solidFill>
                  <a:srgbClr val="AF7B51"/>
                </a:solidFill>
                <a:latin typeface="Calibri"/>
                <a:ea typeface="Calibri"/>
                <a:cs typeface="Calibri"/>
              </a:defRPr>
            </a:lvl3pPr>
            <a:lvl4pPr>
              <a:defRPr sz="4800" b="1">
                <a:solidFill>
                  <a:srgbClr val="AF7B51"/>
                </a:solidFill>
                <a:latin typeface="Calibri"/>
                <a:ea typeface="Calibri"/>
                <a:cs typeface="Calibri"/>
              </a:defRPr>
            </a:lvl4pPr>
            <a:lvl5pPr>
              <a:defRPr sz="4800" b="1">
                <a:solidFill>
                  <a:srgbClr val="AF7B51"/>
                </a:solidFill>
                <a:latin typeface="Calibri"/>
                <a:ea typeface="Calibri"/>
                <a:cs typeface="Calibri"/>
              </a:defRPr>
            </a:lvl5pPr>
            <a:lvl6pPr>
              <a:defRPr sz="4800" b="1">
                <a:solidFill>
                  <a:srgbClr val="AF7B51"/>
                </a:solidFill>
                <a:latin typeface="Calibri"/>
                <a:ea typeface="Calibri"/>
                <a:cs typeface="Calibri"/>
              </a:defRPr>
            </a:lvl6pPr>
            <a:lvl7pPr>
              <a:defRPr sz="4800" b="1">
                <a:solidFill>
                  <a:srgbClr val="AF7B51"/>
                </a:solidFill>
                <a:latin typeface="Calibri"/>
                <a:ea typeface="Calibri"/>
                <a:cs typeface="Calibri"/>
              </a:defRPr>
            </a:lvl7pPr>
            <a:lvl8pPr>
              <a:defRPr sz="4800" b="1">
                <a:solidFill>
                  <a:srgbClr val="AF7B51"/>
                </a:solidFill>
                <a:latin typeface="Calibri"/>
                <a:ea typeface="Calibri"/>
                <a:cs typeface="Calibri"/>
              </a:defRPr>
            </a:lvl8pPr>
            <a:lvl9pPr>
              <a:defRPr sz="4800" b="1">
                <a:solidFill>
                  <a:srgbClr val="AF7B51"/>
                </a:solidFill>
                <a:latin typeface="Calibri"/>
                <a:ea typeface="Calibri"/>
                <a:cs typeface="Calibri"/>
              </a:defRPr>
            </a:lvl9pPr>
          </a:lstStyle>
          <a:p xmlns:a="http://schemas.openxmlformats.org/drawingml/2006/main">
            <a:pPr>
              <a:defRPr sz="4800" b="1">
                <a:solidFill>
                  <a:srgbClr val="AF7B51"/>
                </a:solidFill>
                <a:latin typeface="Calibri"/>
                <a:ea typeface="Calibri"/>
                <a:cs typeface="Calibri"/>
              </a:defRPr>
            </a:pPr>
            <a:r>
              <a:rPr sz="4800" b="1">
                <a:solidFill>
                  <a:srgbClr val="AF7B51"/>
                </a:solidFill>
                <a:latin typeface="Calibri"/>
                <a:ea typeface="Calibri"/>
                <a:cs typeface="Calibri"/>
              </a:rPr>
              <a:t>Thank you</a:t>
            </a:r>
          </a:p>
        </p:txBody>
      </p:sp>
      <p:sp>
        <p:nvSpPr>
          <p:cNvPr id="6" name="">
            <a:extLst xmlns:a="http://schemas.openxmlformats.org/drawingml/2006/main">
              <a:ext uri="{FF2B5EF4-FFF2-40B4-BE49-F238E27FC236}">
                <a16:creationId xmlns:a16="http://schemas.microsoft.com/office/drawing/2014/main" id="{F178AD3D-74D9-40CD-846B-FA29A43FCE55}"/>
              </a:ext>
            </a:extLst>
          </p:cNvPr>
          <p:cNvSpPr>
            <a:spLocks xmlns:a="http://schemas.openxmlformats.org/drawingml/2006/main" noGrp="1"/>
          </p:cNvSpPr>
          <p:nvPr/>
        </p:nvSpPr>
        <p:spPr>
          <a:xfrm xmlns:a="http://schemas.openxmlformats.org/drawingml/2006/main">
            <a:off x="619125" y="352425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22222"/>
                </a:solidFill>
                <a:latin typeface="Calibri"/>
                <a:ea typeface="Calibri"/>
                <a:cs typeface="Calibri"/>
              </a:defRPr>
            </a:defPPr>
            <a:lvl1pPr>
              <a:defRPr sz="2250" b="0">
                <a:solidFill>
                  <a:srgbClr val="222222"/>
                </a:solidFill>
                <a:latin typeface="Calibri"/>
                <a:ea typeface="Calibri"/>
                <a:cs typeface="Calibri"/>
              </a:defRPr>
            </a:lvl1pPr>
            <a:lvl2pPr>
              <a:defRPr sz="2250" b="0">
                <a:solidFill>
                  <a:srgbClr val="222222"/>
                </a:solidFill>
                <a:latin typeface="Calibri"/>
                <a:ea typeface="Calibri"/>
                <a:cs typeface="Calibri"/>
              </a:defRPr>
            </a:lvl2pPr>
            <a:lvl3pPr>
              <a:defRPr sz="2250" b="0">
                <a:solidFill>
                  <a:srgbClr val="222222"/>
                </a:solidFill>
                <a:latin typeface="Calibri"/>
                <a:ea typeface="Calibri"/>
                <a:cs typeface="Calibri"/>
              </a:defRPr>
            </a:lvl3pPr>
            <a:lvl4pPr>
              <a:defRPr sz="2250" b="0">
                <a:solidFill>
                  <a:srgbClr val="222222"/>
                </a:solidFill>
                <a:latin typeface="Calibri"/>
                <a:ea typeface="Calibri"/>
                <a:cs typeface="Calibri"/>
              </a:defRPr>
            </a:lvl4pPr>
            <a:lvl5pPr>
              <a:defRPr sz="2250" b="0">
                <a:solidFill>
                  <a:srgbClr val="222222"/>
                </a:solidFill>
                <a:latin typeface="Calibri"/>
                <a:ea typeface="Calibri"/>
                <a:cs typeface="Calibri"/>
              </a:defRPr>
            </a:lvl5pPr>
            <a:lvl6pPr>
              <a:defRPr sz="2250" b="0">
                <a:solidFill>
                  <a:srgbClr val="222222"/>
                </a:solidFill>
                <a:latin typeface="Calibri"/>
                <a:ea typeface="Calibri"/>
                <a:cs typeface="Calibri"/>
              </a:defRPr>
            </a:lvl6pPr>
            <a:lvl7pPr>
              <a:defRPr sz="2250" b="0">
                <a:solidFill>
                  <a:srgbClr val="222222"/>
                </a:solidFill>
                <a:latin typeface="Calibri"/>
                <a:ea typeface="Calibri"/>
                <a:cs typeface="Calibri"/>
              </a:defRPr>
            </a:lvl7pPr>
            <a:lvl8pPr>
              <a:defRPr sz="2250" b="0">
                <a:solidFill>
                  <a:srgbClr val="222222"/>
                </a:solidFill>
                <a:latin typeface="Calibri"/>
                <a:ea typeface="Calibri"/>
                <a:cs typeface="Calibri"/>
              </a:defRPr>
            </a:lvl8pPr>
            <a:lvl9pPr>
              <a:defRPr sz="2250" b="0">
                <a:solidFill>
                  <a:srgbClr val="222222"/>
                </a:solidFill>
                <a:latin typeface="Calibri"/>
                <a:ea typeface="Calibri"/>
                <a:cs typeface="Calibri"/>
              </a:defRPr>
            </a:lvl9pPr>
          </a:lstStyle>
          <a:p xmlns:a="http://schemas.openxmlformats.org/drawingml/2006/main">
            <a:pPr>
              <a:defRPr sz="2250" b="0">
                <a:solidFill>
                  <a:srgbClr val="222222"/>
                </a:solidFill>
                <a:latin typeface="Calibri"/>
                <a:ea typeface="Calibri"/>
                <a:cs typeface="Calibri"/>
              </a:defRPr>
            </a:pPr>
            <a:r>
              <a:rPr sz="2250" b="0">
                <a:solidFill>
                  <a:srgbClr val="222222"/>
                </a:solidFill>
                <a:latin typeface="Calibri"/>
                <a:ea typeface="Calibri"/>
                <a:cs typeface="Calibri"/>
              </a:rPr>
              <a:t>Advisor: M. Anthony Hunt</a:t>
            </a:r>
          </a:p>
          <a:p xmlns:a="http://schemas.openxmlformats.org/drawingml/2006/main">
            <a:pPr>
              <a:defRPr sz="2250" b="0">
                <a:solidFill>
                  <a:srgbClr val="222222"/>
                </a:solidFill>
                <a:latin typeface="Calibri"/>
                <a:ea typeface="Calibri"/>
                <a:cs typeface="Calibri"/>
              </a:defRPr>
            </a:pPr>
            <a:r>
              <a:rPr sz="2250" b="0">
                <a:solidFill>
                  <a:srgbClr val="222222"/>
                </a:solidFill>
                <a:latin typeface="Calibri"/>
                <a:ea typeface="Calibri"/>
                <a:cs typeface="Calibri"/>
              </a:rPr>
              <a:t>Committee, AARL, and research collaborators</a:t>
            </a:r>
          </a:p>
        </p:txBody>
      </p:sp>
    </p:spTree>
    <p:extLst>
      <p:ext uri="{BB962C8B-B14F-4D97-AF65-F5344CB8AC3E}">
        <p14:creationId xmlns:p14="http://schemas.microsoft.com/office/powerpoint/2010/main" val="1135833850"/>
      </p:ext>
    </p:extLst>
  </p:cSld>
</p:sld>
</file>

<file path=ppt/slides/slide3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BC08663-8E01-4A85-9FB4-49AA82830331}"/>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BACKUP: ACTUATOR EQUATION</a:t>
            </a:r>
          </a:p>
        </p:txBody>
      </p:sp>
      <p:sp>
        <p:nvSpPr>
          <p:cNvPr id="2" name="">
            <a:extLst xmlns:a="http://schemas.openxmlformats.org/drawingml/2006/main">
              <a:ext uri="{FF2B5EF4-FFF2-40B4-BE49-F238E27FC236}">
                <a16:creationId xmlns:a16="http://schemas.microsoft.com/office/drawing/2014/main" id="{CDFF1AFB-55A7-4ABE-AFD0-EEBBF7272D03}"/>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force model combines normalized force with resting-length scaling</a:t>
            </a:r>
          </a:p>
        </p:txBody>
      </p:sp>
      <p:sp>
        <p:nvSpPr>
          <p:cNvPr id="3" name="">
            <a:extLst xmlns:a="http://schemas.openxmlformats.org/drawingml/2006/main">
              <a:ext uri="{FF2B5EF4-FFF2-40B4-BE49-F238E27FC236}">
                <a16:creationId xmlns:a16="http://schemas.microsoft.com/office/drawing/2014/main" id="{77A5DEF5-B8BA-49BB-A670-8DAEC2F6E271}"/>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3, force equation; Bolen et al. (2026)</a:t>
            </a:r>
          </a:p>
        </p:txBody>
      </p:sp>
      <p:sp>
        <p:nvSpPr>
          <p:cNvPr id="4" name="">
            <a:extLst xmlns:a="http://schemas.openxmlformats.org/drawingml/2006/main">
              <a:ext uri="{FF2B5EF4-FFF2-40B4-BE49-F238E27FC236}">
                <a16:creationId xmlns:a16="http://schemas.microsoft.com/office/drawing/2014/main" id="{BB59596E-3076-4603-AA3C-4A58E93B86A8}"/>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32</a:t>
            </a:r>
          </a:p>
        </p:txBody>
      </p:sp>
      <p:pic>
        <p:nvPicPr>
          <p:cNvPr id="5" name="">
            <a:extLst xmlns:a="http://schemas.openxmlformats.org/drawingml/2006/main">
              <a:ext uri="{FF2B5EF4-FFF2-40B4-BE49-F238E27FC236}">
                <a16:creationId xmlns:a16="http://schemas.microsoft.com/office/drawing/2014/main" id="{06C53DFD-9CD9-4B12-9CDA-EC3CEDD96EEE}"/>
              </a:ext>
            </a:extLst>
          </p:cNvPr>
          <p:cNvPicPr>
            <a:picLocks xmlns:a="http://schemas.openxmlformats.org/drawingml/2006/main" noChangeAspect="1"/>
          </p:cNvPicPr>
          <p:nvPr/>
        </p:nvPicPr>
        <p:blipFill>
          <a:blip xmlns:r="http://schemas.openxmlformats.org/officeDocument/2006/relationships" xmlns:a="http://schemas.openxmlformats.org/drawingml/2006/main" r:embed="R8275ec0175594c2e"/>
          <a:stretch xmlns:a="http://schemas.openxmlformats.org/drawingml/2006/main"/>
        </p:blipFill>
        <p:spPr>
          <a:xfrm xmlns:a="http://schemas.openxmlformats.org/drawingml/2006/main">
            <a:off x="428625" y="3272313"/>
            <a:ext cx="11334750" cy="78962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8F9928C-00C6-4DE2-9292-C612A0A1F102}"/>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Separate coefficients apply to each diameter</a:t>
            </a:r>
          </a:p>
        </p:txBody>
      </p:sp>
    </p:spTree>
    <p:extLst>
      <p:ext uri="{BB962C8B-B14F-4D97-AF65-F5344CB8AC3E}">
        <p14:creationId xmlns:p14="http://schemas.microsoft.com/office/powerpoint/2010/main" val="1494101572"/>
      </p:ext>
    </p:extLst>
  </p:cSld>
</p:sld>
</file>

<file path=ppt/slides/slide33.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EC93DEF-9694-4403-AE66-0E9104C8C9A9}"/>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BACKUP: TRANSFER TO BIOMIMETIC KNEE</a:t>
            </a:r>
          </a:p>
        </p:txBody>
      </p:sp>
      <p:sp>
        <p:nvSpPr>
          <p:cNvPr id="2" name="">
            <a:extLst xmlns:a="http://schemas.openxmlformats.org/drawingml/2006/main">
              <a:ext uri="{FF2B5EF4-FFF2-40B4-BE49-F238E27FC236}">
                <a16:creationId xmlns:a16="http://schemas.microsoft.com/office/drawing/2014/main" id="{2CEABCFC-C629-4EDD-9EEF-097DD9C0FB48}"/>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Earlier biomimetic-extensor measurements retain residual prediction error</a:t>
            </a:r>
          </a:p>
        </p:txBody>
      </p:sp>
      <p:sp>
        <p:nvSpPr>
          <p:cNvPr id="3" name="">
            <a:extLst xmlns:a="http://schemas.openxmlformats.org/drawingml/2006/main">
              <a:ext uri="{FF2B5EF4-FFF2-40B4-BE49-F238E27FC236}">
                <a16:creationId xmlns:a16="http://schemas.microsoft.com/office/drawing/2014/main" id="{3323BC65-151B-438C-8D2C-E78538C7E8C9}"/>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Ext10mm_52cm; see adopted shared-pair table for final statistics</a:t>
            </a:r>
          </a:p>
        </p:txBody>
      </p:sp>
      <p:sp>
        <p:nvSpPr>
          <p:cNvPr id="4" name="">
            <a:extLst xmlns:a="http://schemas.openxmlformats.org/drawingml/2006/main">
              <a:ext uri="{FF2B5EF4-FFF2-40B4-BE49-F238E27FC236}">
                <a16:creationId xmlns:a16="http://schemas.microsoft.com/office/drawing/2014/main" id="{BD861382-2D0B-44CD-BEA5-09FBEF345D72}"/>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33</a:t>
            </a:r>
          </a:p>
        </p:txBody>
      </p:sp>
      <p:pic>
        <p:nvPicPr>
          <p:cNvPr id="5" name="">
            <a:extLst xmlns:a="http://schemas.openxmlformats.org/drawingml/2006/main">
              <a:ext uri="{FF2B5EF4-FFF2-40B4-BE49-F238E27FC236}">
                <a16:creationId xmlns:a16="http://schemas.microsoft.com/office/drawing/2014/main" id="{59B5A11A-197C-46C3-83A6-309968F8BF43}"/>
              </a:ext>
            </a:extLst>
          </p:cNvPr>
          <p:cNvPicPr>
            <a:picLocks xmlns:a="http://schemas.openxmlformats.org/drawingml/2006/main" noChangeAspect="1"/>
          </p:cNvPicPr>
          <p:nvPr/>
        </p:nvPicPr>
        <p:blipFill>
          <a:blip xmlns:r="http://schemas.openxmlformats.org/officeDocument/2006/relationships" xmlns:a="http://schemas.openxmlformats.org/drawingml/2006/main" r:embed="Rb087c9fecbd94ed3"/>
          <a:stretch xmlns:a="http://schemas.openxmlformats.org/drawingml/2006/main"/>
        </p:blipFill>
        <p:spPr>
          <a:xfrm xmlns:a="http://schemas.openxmlformats.org/drawingml/2006/main">
            <a:off x="1852763" y="1666875"/>
            <a:ext cx="8486475"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80449D6-B90A-4A66-8BD7-4E42DF949D7D}"/>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Earlier 10 mm configuration</a:t>
            </a:r>
          </a:p>
        </p:txBody>
      </p:sp>
    </p:spTree>
    <p:extLst>
      <p:ext uri="{BB962C8B-B14F-4D97-AF65-F5344CB8AC3E}">
        <p14:creationId xmlns:p14="http://schemas.microsoft.com/office/powerpoint/2010/main" val="284754708"/>
      </p:ext>
    </p:extLst>
  </p:cSld>
</p:sld>
</file>

<file path=ppt/slides/slide34.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4DF9A4D-65DE-416C-B14B-077D65C05DB5}"/>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BACKUP: ROUTE EXTENSION</a:t>
            </a:r>
          </a:p>
        </p:txBody>
      </p:sp>
      <p:sp>
        <p:nvSpPr>
          <p:cNvPr id="2" name="">
            <a:extLst xmlns:a="http://schemas.openxmlformats.org/drawingml/2006/main">
              <a:ext uri="{FF2B5EF4-FFF2-40B4-BE49-F238E27FC236}">
                <a16:creationId xmlns:a16="http://schemas.microsoft.com/office/drawing/2014/main" id="{2A179119-0F55-486F-8294-D9A46C69F2BC}"/>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Pulley transmission predictions still require physical verification</a:t>
            </a:r>
          </a:p>
        </p:txBody>
      </p:sp>
      <p:sp>
        <p:nvSpPr>
          <p:cNvPr id="3" name="">
            <a:extLst xmlns:a="http://schemas.openxmlformats.org/drawingml/2006/main">
              <a:ext uri="{FF2B5EF4-FFF2-40B4-BE49-F238E27FC236}">
                <a16:creationId xmlns:a16="http://schemas.microsoft.com/office/drawing/2014/main" id="{6D05BB77-D82B-4490-B251-ACF2600FE4AE}"/>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Mono- and Bi-Pulley Tendon Routing</a:t>
            </a:r>
          </a:p>
        </p:txBody>
      </p:sp>
      <p:sp>
        <p:nvSpPr>
          <p:cNvPr id="4" name="">
            <a:extLst xmlns:a="http://schemas.openxmlformats.org/drawingml/2006/main">
              <a:ext uri="{FF2B5EF4-FFF2-40B4-BE49-F238E27FC236}">
                <a16:creationId xmlns:a16="http://schemas.microsoft.com/office/drawing/2014/main" id="{812CFA62-8725-445E-A0E2-19704E5C65FE}"/>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34</a:t>
            </a:r>
          </a:p>
        </p:txBody>
      </p:sp>
      <p:pic>
        <p:nvPicPr>
          <p:cNvPr id="5" name="">
            <a:extLst xmlns:a="http://schemas.openxmlformats.org/drawingml/2006/main">
              <a:ext uri="{FF2B5EF4-FFF2-40B4-BE49-F238E27FC236}">
                <a16:creationId xmlns:a16="http://schemas.microsoft.com/office/drawing/2014/main" id="{9C0F3E58-9682-4870-84F1-E167880288D4}"/>
              </a:ext>
            </a:extLst>
          </p:cNvPr>
          <p:cNvPicPr>
            <a:picLocks xmlns:a="http://schemas.openxmlformats.org/drawingml/2006/main" noChangeAspect="1"/>
          </p:cNvPicPr>
          <p:nvPr/>
        </p:nvPicPr>
        <p:blipFill>
          <a:blip xmlns:r="http://schemas.openxmlformats.org/officeDocument/2006/relationships" xmlns:a="http://schemas.openxmlformats.org/drawingml/2006/main" r:embed="Rd1ee3ab571b74d8c"/>
          <a:stretch xmlns:a="http://schemas.openxmlformats.org/drawingml/2006/main"/>
        </p:blipFill>
        <p:spPr>
          <a:xfrm xmlns:a="http://schemas.openxmlformats.org/drawingml/2006/main">
            <a:off x="3293445" y="1666875"/>
            <a:ext cx="5605110"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A505AD8-E6A8-4A10-9E78-D7C2F7F12578}"/>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Model predictions; adjacent joint fixed in biarticular planes</a:t>
            </a:r>
          </a:p>
        </p:txBody>
      </p:sp>
    </p:spTree>
    <p:extLst>
      <p:ext uri="{BB962C8B-B14F-4D97-AF65-F5344CB8AC3E}">
        <p14:creationId xmlns:p14="http://schemas.microsoft.com/office/powerpoint/2010/main" val="1588938285"/>
      </p:ext>
    </p:extLst>
  </p:cSld>
</p:sld>
</file>

<file path=ppt/slides/slide35.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5216D22-E8BA-46CA-B8C7-55614B95E17A}"/>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BACKUP: SIMULATION SCOPE</a:t>
            </a:r>
          </a:p>
        </p:txBody>
      </p:sp>
      <p:sp>
        <p:nvSpPr>
          <p:cNvPr id="2" name="">
            <a:extLst xmlns:a="http://schemas.openxmlformats.org/drawingml/2006/main">
              <a:ext uri="{FF2B5EF4-FFF2-40B4-BE49-F238E27FC236}">
                <a16:creationId xmlns:a16="http://schemas.microsoft.com/office/drawing/2014/main" id="{77658A15-B988-4A3A-96F6-7E394F4115E5}"/>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Supported actuator-driven motion provides a coupling test</a:t>
            </a:r>
          </a:p>
        </p:txBody>
      </p:sp>
      <p:sp>
        <p:nvSpPr>
          <p:cNvPr id="3" name="">
            <a:extLst xmlns:a="http://schemas.openxmlformats.org/drawingml/2006/main">
              <a:ext uri="{FF2B5EF4-FFF2-40B4-BE49-F238E27FC236}">
                <a16:creationId xmlns:a16="http://schemas.microsoft.com/office/drawing/2014/main" id="{4C9F40CA-942F-4305-A30B-5D1352E102A3}"/>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and Appendix, Simulation Verification</a:t>
            </a:r>
          </a:p>
        </p:txBody>
      </p:sp>
      <p:sp>
        <p:nvSpPr>
          <p:cNvPr id="4" name="">
            <a:extLst xmlns:a="http://schemas.openxmlformats.org/drawingml/2006/main">
              <a:ext uri="{FF2B5EF4-FFF2-40B4-BE49-F238E27FC236}">
                <a16:creationId xmlns:a16="http://schemas.microsoft.com/office/drawing/2014/main" id="{E763CF5B-20D8-4B16-A5DE-F408B49DFA8F}"/>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35</a:t>
            </a:r>
          </a:p>
        </p:txBody>
      </p:sp>
      <p:pic>
        <p:nvPicPr>
          <p:cNvPr id="5" name="">
            <a:extLst xmlns:a="http://schemas.openxmlformats.org/drawingml/2006/main">
              <a:ext uri="{FF2B5EF4-FFF2-40B4-BE49-F238E27FC236}">
                <a16:creationId xmlns:a16="http://schemas.microsoft.com/office/drawing/2014/main" id="{F66BE311-4D3A-4E08-A84A-792520EFCDFD}"/>
              </a:ext>
            </a:extLst>
          </p:cNvPr>
          <p:cNvPicPr>
            <a:picLocks xmlns:a="http://schemas.openxmlformats.org/drawingml/2006/main" noChangeAspect="1"/>
          </p:cNvPicPr>
          <p:nvPr/>
        </p:nvPicPr>
        <p:blipFill>
          <a:blip xmlns:r="http://schemas.openxmlformats.org/officeDocument/2006/relationships" xmlns:a="http://schemas.openxmlformats.org/drawingml/2006/main" r:embed="R61ce22adfdd74ee0"/>
          <a:stretch xmlns:a="http://schemas.openxmlformats.org/drawingml/2006/main"/>
        </p:blipFill>
        <p:spPr>
          <a:xfrm xmlns:a="http://schemas.openxmlformats.org/drawingml/2006/main">
            <a:off x="4095750" y="1666875"/>
            <a:ext cx="4000500"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2C962A7-839F-4633-8C6D-9800F725D861}"/>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Mechanical support remains</a:t>
            </a:r>
          </a:p>
        </p:txBody>
      </p:sp>
    </p:spTree>
    <p:extLst>
      <p:ext uri="{BB962C8B-B14F-4D97-AF65-F5344CB8AC3E}">
        <p14:creationId xmlns:p14="http://schemas.microsoft.com/office/powerpoint/2010/main" val="1780782407"/>
      </p:ext>
    </p:extLst>
  </p:cSld>
</p:sld>
</file>

<file path=ppt/slides/slide36.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71E4CA4-A2B4-4B38-B438-F272A96B8311}"/>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BACKUP: NEURAL CODING</a:t>
            </a:r>
          </a:p>
        </p:txBody>
      </p:sp>
      <p:sp>
        <p:nvSpPr>
          <p:cNvPr id="2" name="">
            <a:extLst xmlns:a="http://schemas.openxmlformats.org/drawingml/2006/main">
              <a:ext uri="{FF2B5EF4-FFF2-40B4-BE49-F238E27FC236}">
                <a16:creationId xmlns:a16="http://schemas.microsoft.com/office/drawing/2014/main" id="{7C1726D1-B495-4875-B7F2-83EC677E18DC}"/>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Spiking and non-spiking realizations can produce different timing</a:t>
            </a:r>
          </a:p>
        </p:txBody>
      </p:sp>
      <p:sp>
        <p:nvSpPr>
          <p:cNvPr id="3" name="">
            <a:extLst xmlns:a="http://schemas.openxmlformats.org/drawingml/2006/main">
              <a:ext uri="{FF2B5EF4-FFF2-40B4-BE49-F238E27FC236}">
                <a16:creationId xmlns:a16="http://schemas.microsoft.com/office/drawing/2014/main" id="{60C56127-3F0C-44C7-8002-4EA9058F7E06}"/>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Appendix, Simulation Verification; knee spiking-twin figure</a:t>
            </a:r>
          </a:p>
        </p:txBody>
      </p:sp>
      <p:sp>
        <p:nvSpPr>
          <p:cNvPr id="4" name="">
            <a:extLst xmlns:a="http://schemas.openxmlformats.org/drawingml/2006/main">
              <a:ext uri="{FF2B5EF4-FFF2-40B4-BE49-F238E27FC236}">
                <a16:creationId xmlns:a16="http://schemas.microsoft.com/office/drawing/2014/main" id="{7D03F046-F3A8-4103-BEDF-53ACC4C33976}"/>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36</a:t>
            </a:r>
          </a:p>
        </p:txBody>
      </p:sp>
      <p:pic>
        <p:nvPicPr>
          <p:cNvPr id="5" name="">
            <a:extLst xmlns:a="http://schemas.openxmlformats.org/drawingml/2006/main">
              <a:ext uri="{FF2B5EF4-FFF2-40B4-BE49-F238E27FC236}">
                <a16:creationId xmlns:a16="http://schemas.microsoft.com/office/drawing/2014/main" id="{68E4AB2F-9BFC-4F8E-B1C4-26AD3BCB6103}"/>
              </a:ext>
            </a:extLst>
          </p:cNvPr>
          <p:cNvPicPr>
            <a:picLocks xmlns:a="http://schemas.openxmlformats.org/drawingml/2006/main" noChangeAspect="1"/>
          </p:cNvPicPr>
          <p:nvPr/>
        </p:nvPicPr>
        <p:blipFill>
          <a:blip xmlns:r="http://schemas.openxmlformats.org/officeDocument/2006/relationships" xmlns:a="http://schemas.openxmlformats.org/drawingml/2006/main" r:embed="R0c83b463a6ff4728"/>
          <a:stretch xmlns:a="http://schemas.openxmlformats.org/drawingml/2006/main"/>
        </p:blipFill>
        <p:spPr>
          <a:xfrm xmlns:a="http://schemas.openxmlformats.org/drawingml/2006/main">
            <a:off x="3211024" y="1666875"/>
            <a:ext cx="5769952"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A2386F5-A302-4088-9FDD-069A8FE8A2DC}"/>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A matched interface does not ensure matched dynamics</a:t>
            </a:r>
          </a:p>
        </p:txBody>
      </p:sp>
    </p:spTree>
    <p:extLst>
      <p:ext uri="{BB962C8B-B14F-4D97-AF65-F5344CB8AC3E}">
        <p14:creationId xmlns:p14="http://schemas.microsoft.com/office/powerpoint/2010/main" val="482807376"/>
      </p:ext>
    </p:extLst>
  </p:cSld>
</p:sld>
</file>

<file path=ppt/slides/slide37.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8733F89-8229-4BF6-8969-5961D4F3CF51}"/>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BACKUP: TARGET DEFINITION</a:t>
            </a:r>
          </a:p>
        </p:txBody>
      </p:sp>
      <p:sp>
        <p:nvSpPr>
          <p:cNvPr id="2" name="">
            <a:extLst xmlns:a="http://schemas.openxmlformats.org/drawingml/2006/main">
              <a:ext uri="{FF2B5EF4-FFF2-40B4-BE49-F238E27FC236}">
                <a16:creationId xmlns:a16="http://schemas.microsoft.com/office/drawing/2014/main" id="{72878169-8AEB-4D44-B675-807634536E75}"/>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human comparison uses one selected muscle reference</a:t>
            </a:r>
          </a:p>
        </p:txBody>
      </p:sp>
      <p:sp>
        <p:nvSpPr>
          <p:cNvPr id="3" name="">
            <a:extLst xmlns:a="http://schemas.openxmlformats.org/drawingml/2006/main">
              <a:ext uri="{FF2B5EF4-FFF2-40B4-BE49-F238E27FC236}">
                <a16:creationId xmlns:a16="http://schemas.microsoft.com/office/drawing/2014/main" id="{73CF2D33-0351-4F37-8CE3-3293897320D2}"/>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Knee-torque paper · Fig. Flx20mm, panel A; OpenSim Gait2392</a:t>
            </a:r>
          </a:p>
        </p:txBody>
      </p:sp>
      <p:sp>
        <p:nvSpPr>
          <p:cNvPr id="4" name="">
            <a:extLst xmlns:a="http://schemas.openxmlformats.org/drawingml/2006/main">
              <a:ext uri="{FF2B5EF4-FFF2-40B4-BE49-F238E27FC236}">
                <a16:creationId xmlns:a16="http://schemas.microsoft.com/office/drawing/2014/main" id="{44931813-3E0D-45E3-9757-0ED3C47F5859}"/>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37</a:t>
            </a:r>
          </a:p>
        </p:txBody>
      </p:sp>
      <p:pic>
        <p:nvPicPr>
          <p:cNvPr id="5" name="">
            <a:extLst xmlns:a="http://schemas.openxmlformats.org/drawingml/2006/main">
              <a:ext uri="{FF2B5EF4-FFF2-40B4-BE49-F238E27FC236}">
                <a16:creationId xmlns:a16="http://schemas.microsoft.com/office/drawing/2014/main" id="{BB20E032-87CF-435F-9A5A-E053A7906DD1}"/>
              </a:ext>
            </a:extLst>
          </p:cNvPr>
          <p:cNvPicPr>
            <a:picLocks xmlns:a="http://schemas.openxmlformats.org/drawingml/2006/main" noChangeAspect="1"/>
          </p:cNvPicPr>
          <p:nvPr/>
        </p:nvPicPr>
        <p:blipFill>
          <a:blip xmlns:r="http://schemas.openxmlformats.org/officeDocument/2006/relationships" xmlns:a="http://schemas.openxmlformats.org/drawingml/2006/main" r:embed="Ra6344807b73442c0"/>
          <a:stretch xmlns:a="http://schemas.openxmlformats.org/drawingml/2006/main"/>
        </p:blipFill>
        <p:spPr>
          <a:xfrm xmlns:a="http://schemas.openxmlformats.org/drawingml/2006/main">
            <a:off x="2252202" y="1666875"/>
            <a:ext cx="7687597"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E00332D-EF37-446C-AD51-9AFEB7C0FE2F}"/>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Biceps femoris short head; maximum isometric model torque</a:t>
            </a:r>
          </a:p>
        </p:txBody>
      </p:sp>
    </p:spTree>
    <p:extLst>
      <p:ext uri="{BB962C8B-B14F-4D97-AF65-F5344CB8AC3E}">
        <p14:creationId xmlns:p14="http://schemas.microsoft.com/office/powerpoint/2010/main" val="16944522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2026-10-23T16:03:56.7530000Z</dcterms:created>
  <dcterms:modified xsi:type="dcterms:W3CDTF">2026-10-23T16:03:56.7530000Z</dcterms:modified>
</coreProperties>
</file>