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93" r:id="rId30"/>
    <p:sldId id="284" r:id="rId31"/>
    <p:sldId id="285" r:id="rId32"/>
    <p:sldId id="286" r:id="rId33"/>
    <p:sldId id="287" r:id="rId34"/>
    <p:sldId id="288" r:id="rId35"/>
    <p:sldId id="289" r:id="rId36"/>
    <p:sldId id="290" r:id="rId37"/>
    <p:sldId id="291" r:id="rId38"/>
    <p:sldId id="292"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Force (N)</c:v>
          </c:tx>
          <c:spPr>
            <a:solidFill>
              <a:srgbClr val="2E5A88"/>
            </a:solidFill>
          </c:spPr>
          <c:invertIfNegative val="0"/>
          <c:dLbls>
            <c:spPr>
              <a:noFill/>
              <a:ln>
                <a:noFill/>
              </a:ln>
              <a:effectLst/>
            </c:spPr>
            <c:txPr>
              <a:bodyPr anchorCtr="1"/>
              <a:lstStyle/>
              <a:p>
                <a:pPr>
                  <a:defRPr sz="1875"/>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2E89-4B1F-8339-32B5F356DAE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title>
          <c:tx>
            <c:rich>
              <a:bodyPr/>
              <a:lstStyle/>
              <a:p>
                <a:r>
                  <a:t>10 mm diameter, 112 mm resting length, 620 kPa</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a:endParaRPr/>
          </a:p>
          <a:p>
            <a:r>
              <a:t>Sources: Portland State University · Agile &amp; Adaptive Robotics Laboratory</a:t>
            </a:r>
          </a:p>
          <a:p>
            <a:endParaRPr/>
          </a:p>
          <a:p>
            <a:r>
              <a:t>Figure source paths:</a:t>
            </a:r>
          </a:p>
          <a:p>
            <a:r>
              <a:t>D:\Github\Bipedal_Robot\Documentation\Reports and Papers\Dissertation\Defense\deck_builder\deck_assets\figs\c_mujoco_converted_robot.png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a:endParaRPr/>
          </a:p>
          <a:p>
            <a:r>
              <a:t>Sources: Revision C · Ch. 1, research gaps and objectives</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a:endParaRPr/>
          </a:p>
          <a:p>
            <a:r>
              <a:t>Sources: Revision C · Ch. 1; Ch. 6, Model Conversion and Actuator Coupling</a:t>
            </a:r>
          </a:p>
          <a:p>
            <a:endParaRPr/>
          </a:p>
          <a:p>
            <a:r>
              <a:t>Figure source paths:</a:t>
            </a:r>
          </a:p>
          <a:p>
            <a:r>
              <a:t>D:\Github\Bipedal_Robot\Documentation\Reports and Papers\Dissertation\Defense\deck_builder\deck_assets\figs\c_mujoco_converted_robot.png</a:t>
            </a:r>
          </a:p>
          <a:p>
            <a:r>
              <a:t>D:\Github\Bipedal_Robot\Documentation\Reports and Papers\Dissertation\Notes\advisor_revision_20261022\Revision_C\figs\30-torque\cam_extensor_hardware.jpg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a:endParaRPr/>
          </a:p>
          <a:p>
            <a:r>
              <a:t>Sources: Bolen, Elzein, Pang, and Hunt (2026), Actuators · Revision C, Ch. 3</a:t>
            </a:r>
          </a:p>
          <a:p>
            <a:endParaRPr/>
          </a:p>
          <a:p>
            <a:r>
              <a:t>Figure source paths:</a:t>
            </a:r>
          </a:p>
          <a:p>
            <a:r>
              <a:t>D:\Github\Bipedal_Robot\Documentation\Reports and Papers\Dissertation\Defense\deck_builder\deck_assets\figs\testJigs_force.png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a:endParaRPr/>
          </a:p>
          <a:p>
            <a:r>
              <a:t>Sources: Bolen et al. (2026), Actuators · Revision C, Fig. Fmax_fit</a:t>
            </a:r>
          </a:p>
          <a:p>
            <a:endParaRPr/>
          </a:p>
          <a:p>
            <a:r>
              <a:t>Figure source paths:</a:t>
            </a:r>
          </a:p>
          <a:p>
            <a:r>
              <a:t>D:\Github\Bipedal_Robot\Documentation\Reports and Papers\Dissertation\Defense\deck_builder\deck_assets\figs\MaxForce10.png</a:t>
            </a:r>
          </a:p>
          <a:p>
            <a:r>
              <a:t>D:\Github\Bipedal_Robot\Documentation\Reports and Papers\Dissertation\Defense\deck_builder\deck_assets\figs\MaxForce20.png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a:endParaRPr/>
          </a:p>
          <a:p>
            <a:r>
              <a:t>Sources: Revision C · Ch. 3, Effects of Resting Length; 10 mm BPA at 620 kPa</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a:endParaRPr/>
          </a:p>
          <a:p>
            <a:r>
              <a:t>Sources: Bolen et al. (2026), Actuators · Revision C, Fig. GenForceFit</a:t>
            </a:r>
          </a:p>
          <a:p>
            <a:endParaRPr/>
          </a:p>
          <a:p>
            <a:r>
              <a:t>Figure source paths:</a:t>
            </a:r>
          </a:p>
          <a:p>
            <a:r>
              <a:t>D:\Github\Bipedal_Robot\Documentation\Reports and Papers\Dissertation\Defense\deck_builder\deck_assets\figs\FStar10.png</a:t>
            </a:r>
          </a:p>
          <a:p>
            <a:r>
              <a:t>D:\Github\Bipedal_Robot\Documentation\Reports and Papers\Dissertation\Defense\deck_builder\deck_assets\figs\FStar20.png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a:endParaRPr/>
          </a:p>
          <a:p>
            <a:r>
              <a:t>Sources: Bolen et al. (2026), Actuators · Revision C, Fig. Comparison and model-comparison table</a:t>
            </a:r>
          </a:p>
          <a:p>
            <a:endParaRPr/>
          </a:p>
          <a:p>
            <a:r>
              <a:t>Figure source paths:</a:t>
            </a:r>
          </a:p>
          <a:p>
            <a:r>
              <a:t>D:\Github\Bipedal_Robot\Documentation\Reports and Papers\Dissertation\Defense\deck_builder\deck_assets\figs\Comparison.png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a:endParaRPr/>
          </a:p>
          <a:p>
            <a:r>
              <a:t>Sources: Revision C · Ch. 4, test stands; four-bar knee credited to Steele et al.</a:t>
            </a:r>
          </a:p>
          <a:p>
            <a:endParaRPr/>
          </a:p>
          <a:p>
            <a:r>
              <a:t>Figure source paths:</a:t>
            </a:r>
          </a:p>
          <a:p>
            <a:r>
              <a:t>D:\Github\Bipedal_Robot\Documentation\Reports and Papers\Dissertation\Defense\deck_builder\deck_assets\figs\testJigs_knee.png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a:endParaRPr/>
          </a:p>
          <a:p>
            <a:r>
              <a:t>Sources: Revision C · Ch. 4, Fig. FlxPin_preopt; hybrid-method description</a:t>
            </a:r>
          </a:p>
          <a:p>
            <a:endParaRPr/>
          </a:p>
          <a:p>
            <a:r>
              <a:t>Figure source paths:</a:t>
            </a:r>
          </a:p>
          <a:p>
            <a:r>
              <a:t>D:\Github\Bipedal_Robot\Documentation\Reports and Papers\Dissertation\Notes\advisor_revision_20261022\Revision_C\figs\30-torque\FlxPin_preopt-eps-converted-to.pdf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a:endParaRPr/>
          </a:p>
          <a:p>
            <a:r>
              <a:t>Sources: Revision C · Ch. 4, Improved Torque Model; Appendix C</a:t>
            </a:r>
          </a:p>
          <a:p>
            <a:endParaRPr/>
          </a:p>
          <a:p>
            <a:r>
              <a:t>Figure source paths:</a:t>
            </a:r>
          </a:p>
          <a:p>
            <a:r>
              <a:t>D:\Github\Bipedal_Robot\Documentation\Reports and Papers\Dissertation\Defense\deck_builder\deck_assets\figs\b_bktframe_pin.png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a:endParaRPr/>
          </a:p>
          <a:p>
            <a:r>
              <a:t>Sources: Revision C · Ch. 4, Tables FlxPinGof and ExtPinGof; Appendix C</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Both panels are held-out validation tests of the current adopted fold. The adopted full two-bracket model reduces mean RMSE from 8.656 to 1.624 N·m for training and 7.588 to 1.490 N·m for validation. RMSE means root-mean-square error. Figure traces illustrate the pattern; they do not replace per-test statistics. The nominal panel labels 46 cm and 40 cm tendon correspond to actual lengths 45.7 cm and 40.6 cm, as explained by the current caption.</a:t>
            </a:r>
          </a:p>
          <a:p>
            <a:endParaRPr/>
          </a:p>
          <a:p>
            <a:r>
              <a:t>Sources: Revision C · Ch. 4, Fig. FlxPin_optimized; Table FlxPinGof</a:t>
            </a:r>
          </a:p>
          <a:p>
            <a:endParaRPr/>
          </a:p>
          <a:p>
            <a:r>
              <a:t>Figure source paths:</a:t>
            </a:r>
          </a:p>
          <a:p>
            <a:r>
              <a:t>D:\Github\Bipedal_Robot\Documentation\Reports and Papers\Dissertation\Notes\advisor_revision_20261022\Revision_C\figs\30-torque\FlxPin_optimized-eps-converted-to.pdf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a:endParaRPr/>
          </a:p>
          <a:p>
            <a:r>
              <a:t>Sources: Revision C · Ch. 4, Tables FlxPinGof and ExtPinGof</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a:endParaRPr/>
          </a:p>
          <a:p>
            <a:r>
              <a:t>Sources: Revision C · Ch. 4, Fig. FlxGrp, panel B</a:t>
            </a:r>
          </a:p>
          <a:p>
            <a:endParaRPr/>
          </a:p>
          <a:p>
            <a:r>
              <a:t>Figure source paths:</a:t>
            </a:r>
          </a:p>
          <a:p>
            <a:r>
              <a:t>D:\Github\Bipedal_Robot\Documentation\Reports and Papers\Dissertation\Defense\deck_builder\deck_assets\figs\b_flxgrp_trim.png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a:endParaRPr/>
          </a:p>
          <a:p>
            <a:r>
              <a:t>Sources: Revision C · Ch. 4, Cam route, panel A; assembled hardware photograph</a:t>
            </a:r>
          </a:p>
          <a:p>
            <a:endParaRPr/>
          </a:p>
          <a:p>
            <a:r>
              <a:t>Figure source paths:</a:t>
            </a:r>
          </a:p>
          <a:p>
            <a:r>
              <a:t>D:\Github\Bipedal_Robot\Documentation\Reports and Papers\Dissertation\Notes\advisor_revision_20261022\Revision_C\figs\30-torque\extensor_cam_route.pdf</a:t>
            </a:r>
          </a:p>
          <a:p>
            <a:r>
              <a:t>D:\Github\Bipedal_Robot\Documentation\Reports and Papers\Dissertation\Notes\advisor_revision_20261022\Revision_C\figs\30-torque\cam_extensor_hardware.jpg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a:endParaRPr/>
          </a:p>
          <a:p>
            <a:r>
              <a:t>Sources: Revision C · Ch. 4, redesigned-route results; cam result of record, 14 October 2026</a:t>
            </a:r>
          </a:p>
          <a:p>
            <a:endParaRPr/>
          </a:p>
          <a:p>
            <a:r>
              <a:t>Figure source paths:</a:t>
            </a:r>
          </a:p>
          <a:p>
            <a:r>
              <a:t>D:\Github\Bipedal_Robot\Documentation\Reports and Papers\Dissertation\Notes\advisor_revision_20261022\Revision_C\figs\30-torque\Vas_Pam_20mm_cam_winner_1_r2.png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a:endParaRPr/>
          </a:p>
          <a:p>
            <a:r>
              <a:t>Sources: Revision C · Ch. 4, Fig. extensor_physical_final; MATLAB Ext20mm_compare_20261022.png</a:t>
            </a:r>
          </a:p>
          <a:p>
            <a:endParaRPr/>
          </a:p>
          <a:p>
            <a:r>
              <a:t>Figure source paths:</a:t>
            </a:r>
          </a:p>
          <a:p>
            <a:r>
              <a:t>D:\Github\Bipedal_Robot\Documentation\Reports and Papers\Dissertation\Notes\advisor_revision_20261022\Revision_C\figs\30-torque\extensor_20mm_physical.png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a:endParaRPr/>
          </a:p>
          <a:p>
            <a:r>
              <a:t>Sources: Knee-torque study · Fig. Flx20mm; final MATLAB reduction</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a:endParaRPr/>
          </a:p>
          <a:p>
            <a:r>
              <a:t>Sources: Knee-torque paper · Fig. Flx20mm, panel B; unchanged MATLAB calculation</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a:endParaRPr/>
          </a:p>
          <a:p>
            <a:r>
              <a:t>Sources: Revision C · Ch. 5, The Resource; SADb application snapshot</a:t>
            </a:r>
          </a:p>
          <a:p>
            <a:endParaRPr/>
          </a:p>
          <a:p>
            <a:r>
              <a:t>Figure source paths:</a:t>
            </a:r>
          </a:p>
          <a:p>
            <a:r>
              <a:t>D:\Github\Bipedal_Robot\Documentation\Reports and Papers\Dissertation\Notes\advisor_revision_20261022\Revision_C\figs\50-database\sadb_clusters_app.png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a:endParaRPr/>
          </a:p>
          <a:p>
            <a:r>
              <a:t>Sources: Revision C · Ch. 5, Fig. sadb_pivot and Use in Neural-Controller Design</a:t>
            </a:r>
          </a:p>
          <a:p>
            <a:endParaRPr/>
          </a:p>
          <a:p>
            <a:r>
              <a:t>Figure source paths:</a:t>
            </a:r>
          </a:p>
          <a:p>
            <a:r>
              <a:t>D:\Github\Bipedal_Robot\Documentation\Reports and Papers\Dissertation\Notes\advisor_revision_20261022\Revision_C\figs\50-database\sadb_pivot_app.png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a:endParaRPr/>
          </a:p>
          <a:p>
            <a:r>
              <a:t>Sources: Revision C · Ch. 6, The AnimatLab Bipedal Walker; Li (2017), Deng (2019), Bolen (2021)</a:t>
            </a:r>
          </a:p>
          <a:p>
            <a:endParaRPr/>
          </a:p>
          <a:p>
            <a:r>
              <a:t>Figure source paths:</a:t>
            </a:r>
          </a:p>
          <a:p>
            <a:r>
              <a:t>D:\Github\Bipedal_Robot\Documentation\Reports and Papers\Dissertation\Notes\advisor_revision_20261022\Revision_C\figs\60-sns\AnimatLab_reference\OurWalker.png</a:t>
            </a:r>
          </a:p>
          <a:p>
            <a:r>
              <a:t>D:\Github\Bipedal_Robot\Documentation\Reports and Papers\Dissertation\Notes\advisor_revision_20261022\Revision_C\figs\60-sns\AnimatLab_reference\jointAngles.PNG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a:endParaRPr/>
          </a:p>
          <a:p>
            <a:r>
              <a:t>Sources: Revision C · Ch. 6, The AnimatLab Bipedal Walker</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a:endParaRPr/>
          </a:p>
          <a:p>
            <a:r>
              <a:t>Sources: Revision C · Ch. 6, Model Conversion and Graphical Circuit Construction</a:t>
            </a:r>
          </a:p>
          <a:p>
            <a:endParaRPr/>
          </a:p>
          <a:p>
            <a:r>
              <a:t>Figure source paths:</a:t>
            </a:r>
          </a:p>
          <a:p>
            <a:r>
              <a:t>D:\Github\Bipedal_Robot\Documentation\Reports and Papers\Dissertation\Defense\deck_builder\deck_assets\figs\c_mujoco_converted_robot.png</a:t>
            </a:r>
          </a:p>
          <a:p>
            <a:r>
              <a:t>D:\Github\Bipedal_Robot\Documentation\Reports and Papers\Dissertation\Defense\deck_builder\deck_assets\figs\c_simulink_sns_library_grid.png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a:endParaRPr/>
          </a:p>
          <a:p>
            <a:r>
              <a:t>Sources: Revision C · Ch. 6, Fig. simulink_reflex_topology</a:t>
            </a:r>
          </a:p>
          <a:p>
            <a:endParaRPr/>
          </a:p>
          <a:p>
            <a:r>
              <a:t>Figure source paths:</a:t>
            </a:r>
          </a:p>
          <a:p>
            <a:r>
              <a:t>D:\Github\Bipedal_Robot\Documentation\Reports and Papers\Dissertation\Notes\advisor_revision_20261022\Revision_C\figs\60-sns\KneeReflex_circuit.pdf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a:endParaRPr/>
          </a:p>
          <a:p>
            <a:r>
              <a:t>Sources: Revision C · Ch. 6, Fig. w2l_crossengine; matched NumPy and Simulink protocol</a:t>
            </a:r>
          </a:p>
          <a:p>
            <a:endParaRPr/>
          </a:p>
          <a:p>
            <a:r>
              <a:t>Figure source paths:</a:t>
            </a:r>
          </a:p>
          <a:p>
            <a:r>
              <a:t>D:\Github\Bipedal_Robot\Documentation\Reports and Papers\Dissertation\Defense\deck_builder\deck_assets\figs\c_sns_w2l_traces.png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a:endParaRPr/>
          </a:p>
          <a:p>
            <a:r>
              <a:t>Sources: Revision C · Ch. 6, Closed-Loop Model Coupling and capability table</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physics from D:/GitHub/Bipedal_Robot/Code/MuJoCo_SNS/robot_torso/runs/abd_defense_exact.npz. Model D:/GitHub/Bipedal_Robot/Code/MuJoCo_SNS/robot_torso/ah001_abduction_diagnostic_v2.xml. 75 kg; 54 reference-tension actuators, 262-neuron hybrid SNS/postural controller, 2 ms step. 80% actual vertical support after 15 s, with lateral and angular pelvis assistance. Provisional relative-knee passive stops and opposite-leg CAD contacts are active. Abductor control combines separation feedback and a 6% allocation floor on currently abducting routes; global activation floor is 5%. This is not independent balance, calibrated BPA force validation, or accepted walking. Foot toe-out remains. Detailed comparison is in the source assessment JSONs. Fresh reference and accelerated runs are bit-identical. The animation shows 20–32 s of the 40 s run. Right is blue, left gold, and selected hip-abducting routes are green.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67431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a:endParaRPr/>
          </a:p>
          <a:p>
            <a:r>
              <a:t>Sources: Revision C · Chs. 3–7; final flexor MATLAB reduction, 23 October 2026</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a:endParaRPr/>
          </a:p>
          <a:p>
            <a:r>
              <a:t>Sources: Revision C · Ch. 7; Ch. 6, remaining limits</a:t>
            </a:r>
          </a:p>
          <a:p>
            <a:endParaRPr/>
          </a:p>
          <a:p>
            <a:r>
              <a:t>Figure source paths:</a:t>
            </a:r>
          </a:p>
          <a:p>
            <a:r>
              <a:t>D:\Github\Bipedal_Robot\Documentation\Reports and Papers\Dissertation\Notes\advisor_revision_20261022\Revision_C\figs\60-sns\pipeline.pdf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advisor M. Anthony Hunt, the committee, the AARL, and the dissertation collaborators. Recognize M. Elzein, L. Pang, L. Burgess, C. Morrow, J. Scharzenberger, C. Steele, and J. Chung. This slide ends the main presentation. Hidden backup follows.</a:t>
            </a:r>
          </a:p>
          <a:p>
            <a:endParaRPr/>
          </a:p>
          <a:p>
            <a:r>
              <a:t>Sources: Ben P. Bolen · Mechanical Engineering · Portland State University</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a:endParaRPr/>
          </a:p>
          <a:p>
            <a:r>
              <a:t>Sources: Revision C · Ch. 3, force equation; Bolen et al. (2026)</a:t>
            </a:r>
          </a:p>
          <a:p>
            <a:endParaRPr/>
          </a:p>
          <a:p>
            <a:r>
              <a:t>Figure source paths:</a:t>
            </a:r>
          </a:p>
          <a:p>
            <a:r>
              <a:t>D:\Github\Bipedal_Robot\Documentation\Reports and Papers\Dissertation\Defense\deck_builder\deck_assets\eqs\force.png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a:endParaRPr/>
          </a:p>
          <a:p>
            <a:r>
              <a:t>Sources: Revision C · Ch. 4, Fig. Ext10mm_52cm; see adopted shared-pair table for final statistics</a:t>
            </a:r>
          </a:p>
          <a:p>
            <a:endParaRPr/>
          </a:p>
          <a:p>
            <a:r>
              <a:t>Figure source paths:</a:t>
            </a:r>
          </a:p>
          <a:p>
            <a:r>
              <a:t>D:\Github\Bipedal_Robot\Documentation\Reports and Papers\Dissertation\Defense\deck_builder\deck_assets\figs\b_ext10mm_trim.png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a:endParaRPr/>
          </a:p>
          <a:p>
            <a:r>
              <a:t>Sources: Revision C · Ch. 4, Mono- and Bi-Pulley Tendon Routing</a:t>
            </a:r>
          </a:p>
          <a:p>
            <a:endParaRPr/>
          </a:p>
          <a:p>
            <a:r>
              <a:t>Figure source paths:</a:t>
            </a:r>
          </a:p>
          <a:p>
            <a:r>
              <a:t>D:\Github\Bipedal_Robot\Documentation\Reports and Papers\Dissertation\Notes\advisor_revision_20261022\Revision_C\figs\30-torque\pulley_margin_resolved.pdf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a:endParaRPr/>
          </a:p>
          <a:p>
            <a:r>
              <a:t>Sources: Revision C · Ch. 6 and Appendix, Simulation Verification</a:t>
            </a:r>
          </a:p>
          <a:p>
            <a:endParaRPr/>
          </a:p>
          <a:p>
            <a:r>
              <a:t>Figure source paths:</a:t>
            </a:r>
          </a:p>
          <a:p>
            <a:r>
              <a:t>D:\Github\Bipedal_Robot\Documentation\Reports and Papers\Dissertation\Defense\deck_builder\deck_assets\figs\c_bpa_nonspiking_joints.png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a:endParaRPr/>
          </a:p>
          <a:p>
            <a:r>
              <a:t>Sources: Revision C · Appendix, Simulation Verification; knee spiking-twin figure</a:t>
            </a:r>
          </a:p>
          <a:p>
            <a:endParaRPr/>
          </a:p>
          <a:p>
            <a:r>
              <a:t>Figure source paths:</a:t>
            </a:r>
          </a:p>
          <a:p>
            <a:r>
              <a:t>D:\Github\Bipedal_Robot\Documentation\Reports and Papers\Dissertation\Defense\deck_builder\deck_assets\figs\c_simulink_knee_spiking_twin.png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a:endParaRPr/>
          </a:p>
          <a:p>
            <a:r>
              <a:t>Sources: Knee-torque paper · Fig. Flx20mm, panel A; OpenSim Gait2392</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physics from D:/GitHub/Bipedal_Robot/Code/MuJoCo_SNS/robot_torso/runs/abd_defense_exact.npz. Model D:/GitHub/Bipedal_Robot/Code/MuJoCo_SNS/robot_torso/ah001_abduction_diagnostic_v2.xml. 75 kg; 54 reference-tension actuators, 262-neuron hybrid SNS/postural controller, 2 ms step. 80% actual vertical support after 15 s, with lateral and angular pelvis assistance. Provisional relative-knee passive stops and opposite-leg CAD contacts are active. Abductor control combines separation feedback and a 6% allocation floor on currently abducting routes; global activation floor is 5%. This is not independent balance, calibrated BPA force validation, or accepted walking. Foot toe-out remains. Detailed comparison is in the source assessment JSONs. Fresh reference and accelerated runs are bit-identical. The still is from 24.00 s. The ablation removes the extra separation gain and reduces the abductor floor to the 5% global floor. Other controls, geometry, constraints, support protocol, and initial pose are held fixed. Ankle order alone is not a full collision test; the mesh-contact and loop-closure audit is separate.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64427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286B59-745D-428B-92C4-50021BC93DE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884F214-5C07-4FA3-90F3-4455FD599F9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1C81346-A08B-4046-B403-13DFB7B57A2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D5137B-4B5E-46B5-910B-D8209ACBCFF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968596A-1EA7-42EA-9DB6-13CC7A279F9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E2808B5-FC35-45B6-A58D-A9EABC17C71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43CBF71-29AD-4D9C-BFA7-D4896B0A1DD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BF23D0E-EA9E-4447-8367-82CCA0E10FF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C83750B-8049-4B1B-A995-2FF3170B088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EB1EF26-7620-4669-B4A8-321FD222F2E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52B17D-3990-4355-98F1-03E1DBBC3A18}"/>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Rectangle 1">
            <a:extLst>
              <a:ext uri="{FF2B5EF4-FFF2-40B4-BE49-F238E27FC236}">
                <a16:creationId xmlns:a16="http://schemas.microsoft.com/office/drawing/2014/main" id="{19A1E95C-12A9-4E90-9DC0-4640F354669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Rectangle 2">
            <a:extLst>
              <a:ext uri="{FF2B5EF4-FFF2-40B4-BE49-F238E27FC236}">
                <a16:creationId xmlns:a16="http://schemas.microsoft.com/office/drawing/2014/main" id="{6221A107-B318-4C2B-A69A-9B85105EAA59}"/>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Rectangle 3">
            <a:extLst>
              <a:ext uri="{FF2B5EF4-FFF2-40B4-BE49-F238E27FC236}">
                <a16:creationId xmlns:a16="http://schemas.microsoft.com/office/drawing/2014/main" id="{3FB4855D-23D8-42FA-A474-3A068258C3A2}"/>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DED2E65D-814E-46D3-AF56-53754458BE8C}"/>
              </a:ext>
            </a:extLst>
          </p:cNvPr>
          <p:cNvSpPr>
            <a:spLocks noGrp="1"/>
          </p:cNvSpPr>
          <p:nvPr/>
        </p:nvSpPr>
        <p:spPr>
          <a:xfrm>
            <a:off x="619125" y="2476500"/>
            <a:ext cx="6191250" cy="571500"/>
          </a:xfrm>
          <a:prstGeom prst="rect">
            <a:avLst/>
          </a:prstGeom>
          <a:noFill/>
          <a:ln w="0">
            <a:noFill/>
          </a:ln>
        </p:spPr>
        <p:txBody>
          <a:bodyPr lIns="0" tIns="0" rIns="0" bIns="0"/>
          <a:lstStyle>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Rectangle 5">
            <a:extLst>
              <a:ext uri="{FF2B5EF4-FFF2-40B4-BE49-F238E27FC236}">
                <a16:creationId xmlns:a16="http://schemas.microsoft.com/office/drawing/2014/main" id="{71817B7E-8CA1-4A7A-B8C2-9BB39AD58E89}"/>
              </a:ext>
            </a:extLst>
          </p:cNvPr>
          <p:cNvSpPr>
            <a:spLocks noGrp="1"/>
          </p:cNvSpPr>
          <p:nvPr/>
        </p:nvSpPr>
        <p:spPr>
          <a:xfrm>
            <a:off x="619125" y="3238500"/>
            <a:ext cx="6667500" cy="1524000"/>
          </a:xfrm>
          <a:prstGeom prst="rect">
            <a:avLst/>
          </a:prstGeom>
          <a:noFill/>
          <a:ln w="0">
            <a:noFill/>
          </a:ln>
        </p:spPr>
        <p:txBody>
          <a:bodyPr lIns="0" tIns="0" rIns="0" bIns="0"/>
          <a:lstStyle>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Picture 6">
            <a:extLst>
              <a:ext uri="{FF2B5EF4-FFF2-40B4-BE49-F238E27FC236}">
                <a16:creationId xmlns:a16="http://schemas.microsoft.com/office/drawing/2014/main" id="{84211C9E-C888-40D2-B200-1545FA319598}"/>
              </a:ext>
            </a:extLst>
          </p:cNvPr>
          <p:cNvPicPr>
            <a:picLocks noChangeAspect="1"/>
          </p:cNvPicPr>
          <p:nvPr/>
        </p:nvPicPr>
        <p:blipFill>
          <a:blip r:embed="rId3"/>
          <a:stretch/>
        </p:blipFill>
        <p:spPr>
          <a:xfrm>
            <a:off x="8191500" y="1619250"/>
            <a:ext cx="2952750" cy="4429125"/>
          </a:xfrm>
          <a:prstGeom prst="rect">
            <a:avLst/>
          </a:prstGeom>
        </p:spPr>
      </p:pic>
    </p:spTree>
    <p:extLst>
      <p:ext uri="{BB962C8B-B14F-4D97-AF65-F5344CB8AC3E}">
        <p14:creationId xmlns:p14="http://schemas.microsoft.com/office/powerpoint/2010/main" val="35234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373865-E1C4-4F6C-89B4-E25B74BC6E6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Rectangle 1">
            <a:extLst>
              <a:ext uri="{FF2B5EF4-FFF2-40B4-BE49-F238E27FC236}">
                <a16:creationId xmlns:a16="http://schemas.microsoft.com/office/drawing/2014/main" id="{50276DE8-7F7F-471B-9F00-54BDEA6BD23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Rectangle 2">
            <a:extLst>
              <a:ext uri="{FF2B5EF4-FFF2-40B4-BE49-F238E27FC236}">
                <a16:creationId xmlns:a16="http://schemas.microsoft.com/office/drawing/2014/main" id="{F6D69AB2-DB2B-4F8C-B8D1-3F949AB39E6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Rectangle 3">
            <a:extLst>
              <a:ext uri="{FF2B5EF4-FFF2-40B4-BE49-F238E27FC236}">
                <a16:creationId xmlns:a16="http://schemas.microsoft.com/office/drawing/2014/main" id="{B62E3E27-4392-4318-AF0B-E89C2B20644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D14A1F86-C0CE-4145-B5BE-FFFA4CD477AA}"/>
              </a:ext>
            </a:extLst>
          </p:cNvPr>
          <p:cNvGraphicFramePr/>
          <p:nvPr/>
        </p:nvGraphicFramePr>
        <p:xfrm>
          <a:off x="476250" y="1666875"/>
          <a:ext cx="11239500" cy="4000500"/>
        </p:xfrm>
        <a:graphic>
          <a:graphicData uri="http://schemas.openxmlformats.org/drawingml/2006/table">
            <a:tbl>
              <a:tblPr/>
              <a:tblGrid>
                <a:gridCol w="56197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800100">
                <a:tc>
                  <a:txBody>
                    <a:bodyPr/>
                    <a:lstStyle/>
                    <a:p>
                      <a:r>
                        <a:rPr sz="1875" b="1">
                          <a:solidFill>
                            <a:srgbClr val="00796B"/>
                          </a:solidFill>
                          <a:latin typeface="Calibri"/>
                          <a:ea typeface="Calibri"/>
                          <a:cs typeface="Calibri"/>
                        </a:rPr>
                        <a:t>Knowledge gap</a:t>
                      </a:r>
                    </a:p>
                  </a:txBody>
                  <a:tcPr>
                    <a:solidFill>
                      <a:srgbClr val="FFFFFF"/>
                    </a:solidFill>
                  </a:tcPr>
                </a:tc>
                <a:tc>
                  <a:txBody>
                    <a:bodyPr/>
                    <a:lstStyle/>
                    <a:p>
                      <a:r>
                        <a:rPr sz="1875" b="1">
                          <a:solidFill>
                            <a:srgbClr val="00796B"/>
                          </a:solidFill>
                          <a:latin typeface="Calibri"/>
                          <a:ea typeface="Calibri"/>
                          <a:cs typeface="Calibri"/>
                        </a:rPr>
                        <a:t>Contribution tested here</a:t>
                      </a:r>
                    </a:p>
                  </a:txBody>
                  <a:tcPr>
                    <a:solidFill>
                      <a:srgbClr val="FFFFFF"/>
                    </a:solidFill>
                  </a:tcPr>
                </a:tc>
                <a:extLst>
                  <a:ext uri="{0D108BD9-81ED-4DB2-BD59-A6C34878D82A}">
                    <a16:rowId xmlns:a16="http://schemas.microsoft.com/office/drawing/2014/main" val="10000"/>
                  </a:ext>
                </a:extLst>
              </a:tr>
              <a:tr h="800100">
                <a:tc>
                  <a:txBody>
                    <a:bodyPr/>
                    <a:lstStyle/>
                    <a:p>
                      <a:r>
                        <a:rPr sz="1875" b="0">
                          <a:solidFill>
                            <a:srgbClr val="222222"/>
                          </a:solidFill>
                          <a:latin typeface="Calibri"/>
                          <a:ea typeface="Calibri"/>
                          <a:cs typeface="Calibri"/>
                        </a:rPr>
                        <a:t>Force across actuator lengths</a:t>
                      </a:r>
                    </a:p>
                  </a:txBody>
                  <a:tcPr>
                    <a:solidFill>
                      <a:srgbClr val="FFFFFF"/>
                    </a:solidFill>
                  </a:tcPr>
                </a:tc>
                <a:tc>
                  <a:txBody>
                    <a:bodyPr/>
                    <a:lstStyle/>
                    <a:p>
                      <a:r>
                        <a:rPr sz="1875" b="0">
                          <a:solidFill>
                            <a:srgbClr val="222222"/>
                          </a:solidFill>
                          <a:latin typeface="Calibri"/>
                          <a:ea typeface="Calibri"/>
                          <a:cs typeface="Calibri"/>
                        </a:rPr>
                        <a:t>Resting-length-aware force model</a:t>
                      </a:r>
                    </a:p>
                  </a:txBody>
                  <a:tcPr>
                    <a:solidFill>
                      <a:srgbClr val="FFFFFF"/>
                    </a:solidFill>
                  </a:tcPr>
                </a:tc>
                <a:extLst>
                  <a:ext uri="{0D108BD9-81ED-4DB2-BD59-A6C34878D82A}">
                    <a16:rowId xmlns:a16="http://schemas.microsoft.com/office/drawing/2014/main" val="10001"/>
                  </a:ext>
                </a:extLst>
              </a:tr>
              <a:tr h="800100">
                <a:tc>
                  <a:txBody>
                    <a:bodyPr/>
                    <a:lstStyle/>
                    <a:p>
                      <a:r>
                        <a:rPr sz="1875" b="0">
                          <a:solidFill>
                            <a:srgbClr val="222222"/>
                          </a:solidFill>
                          <a:latin typeface="Calibri"/>
                          <a:ea typeface="Calibri"/>
                          <a:cs typeface="Calibri"/>
                        </a:rPr>
                        <a:t>Torque through compliant routes</a:t>
                      </a:r>
                    </a:p>
                  </a:txBody>
                  <a:tcPr>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a:solidFill>
                      <a:srgbClr val="FFFFFF"/>
                    </a:solidFill>
                  </a:tcPr>
                </a:tc>
                <a:extLst>
                  <a:ext uri="{0D108BD9-81ED-4DB2-BD59-A6C34878D82A}">
                    <a16:rowId xmlns:a16="http://schemas.microsoft.com/office/drawing/2014/main" val="10002"/>
                  </a:ext>
                </a:extLst>
              </a:tr>
              <a:tr h="800100">
                <a:tc>
                  <a:txBody>
                    <a:bodyPr/>
                    <a:lstStyle/>
                    <a:p>
                      <a:r>
                        <a:rPr sz="1875" b="0">
                          <a:solidFill>
                            <a:srgbClr val="222222"/>
                          </a:solidFill>
                          <a:latin typeface="Calibri"/>
                          <a:ea typeface="Calibri"/>
                          <a:cs typeface="Calibri"/>
                        </a:rPr>
                        <a:t>Scattered sensory evidence</a:t>
                      </a:r>
                    </a:p>
                  </a:txBody>
                  <a:tcPr>
                    <a:solidFill>
                      <a:srgbClr val="FFFFFF"/>
                    </a:solidFill>
                  </a:tcPr>
                </a:tc>
                <a:tc>
                  <a:txBody>
                    <a:bodyPr/>
                    <a:lstStyle/>
                    <a:p>
                      <a:r>
                        <a:rPr sz="1875" b="0">
                          <a:solidFill>
                            <a:srgbClr val="222222"/>
                          </a:solidFill>
                          <a:latin typeface="Calibri"/>
                          <a:ea typeface="Calibri"/>
                          <a:cs typeface="Calibri"/>
                        </a:rPr>
                        <a:t>Linked, searchable SADb resource</a:t>
                      </a:r>
                    </a:p>
                  </a:txBody>
                  <a:tcPr>
                    <a:solidFill>
                      <a:srgbClr val="FFFFFF"/>
                    </a:solidFill>
                  </a:tcPr>
                </a:tc>
                <a:extLst>
                  <a:ext uri="{0D108BD9-81ED-4DB2-BD59-A6C34878D82A}">
                    <a16:rowId xmlns:a16="http://schemas.microsoft.com/office/drawing/2014/main" val="10003"/>
                  </a:ext>
                </a:extLst>
              </a:tr>
              <a:tr h="800100">
                <a:tc>
                  <a:txBody>
                    <a:bodyPr/>
                    <a:lstStyle/>
                    <a:p>
                      <a:r>
                        <a:rPr sz="1875" b="0">
                          <a:solidFill>
                            <a:srgbClr val="222222"/>
                          </a:solidFill>
                          <a:latin typeface="Calibri"/>
                          <a:ea typeface="Calibri"/>
                          <a:cs typeface="Calibri"/>
                        </a:rPr>
                        <a:t>Untested model connections</a:t>
                      </a:r>
                    </a:p>
                  </a:txBody>
                  <a:tcPr>
                    <a:solidFill>
                      <a:srgbClr val="FFFFFF"/>
                    </a:solidFill>
                  </a:tcPr>
                </a:tc>
                <a:tc>
                  <a:txBody>
                    <a:bodyPr/>
                    <a:lstStyle/>
                    <a:p>
                      <a:r>
                        <a:rPr sz="1875" b="0">
                          <a:solidFill>
                            <a:srgbClr val="222222"/>
                          </a:solidFill>
                          <a:latin typeface="Calibri"/>
                          <a:ea typeface="Calibri"/>
                          <a:cs typeface="Calibri"/>
                        </a:rPr>
                        <a:t>Interfaces with matched circuit checks</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43817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44034A-CA7D-43C4-BD6E-532F15982C3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Rectangle 1">
            <a:extLst>
              <a:ext uri="{FF2B5EF4-FFF2-40B4-BE49-F238E27FC236}">
                <a16:creationId xmlns:a16="http://schemas.microsoft.com/office/drawing/2014/main" id="{073559D8-6E9E-42D7-B589-E510E51CFAC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Rectangle 2">
            <a:extLst>
              <a:ext uri="{FF2B5EF4-FFF2-40B4-BE49-F238E27FC236}">
                <a16:creationId xmlns:a16="http://schemas.microsoft.com/office/drawing/2014/main" id="{ECF46082-D74B-4C2F-937B-4AF6CCCCC5C2}"/>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Rectangle 3">
            <a:extLst>
              <a:ext uri="{FF2B5EF4-FFF2-40B4-BE49-F238E27FC236}">
                <a16:creationId xmlns:a16="http://schemas.microsoft.com/office/drawing/2014/main" id="{477F29A2-E1D6-4E38-9E36-BFA5C4EE21B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58ED984-A037-4E52-A69A-EF80DC389654}"/>
              </a:ext>
            </a:extLst>
          </p:cNvPr>
          <p:cNvPicPr>
            <a:picLocks noChangeAspect="1"/>
          </p:cNvPicPr>
          <p:nvPr/>
        </p:nvPicPr>
        <p:blipFill>
          <a:blip r:embed="rId3"/>
          <a:stretch/>
        </p:blipFill>
        <p:spPr>
          <a:xfrm>
            <a:off x="1770063" y="1666875"/>
            <a:ext cx="2794000" cy="4191000"/>
          </a:xfrm>
          <a:prstGeom prst="rect">
            <a:avLst/>
          </a:prstGeom>
        </p:spPr>
      </p:pic>
      <p:pic>
        <p:nvPicPr>
          <p:cNvPr id="6" name="Picture 5">
            <a:extLst>
              <a:ext uri="{FF2B5EF4-FFF2-40B4-BE49-F238E27FC236}">
                <a16:creationId xmlns:a16="http://schemas.microsoft.com/office/drawing/2014/main" id="{49D2F3DF-573F-4C46-B653-119DE0D4453E}"/>
              </a:ext>
            </a:extLst>
          </p:cNvPr>
          <p:cNvPicPr>
            <a:picLocks noChangeAspect="1"/>
          </p:cNvPicPr>
          <p:nvPr/>
        </p:nvPicPr>
        <p:blipFill>
          <a:blip r:embed="rId4"/>
          <a:stretch/>
        </p:blipFill>
        <p:spPr>
          <a:xfrm>
            <a:off x="7845171" y="1666875"/>
            <a:ext cx="2359533" cy="4191000"/>
          </a:xfrm>
          <a:prstGeom prst="rect">
            <a:avLst/>
          </a:prstGeom>
        </p:spPr>
      </p:pic>
      <p:sp>
        <p:nvSpPr>
          <p:cNvPr id="7" name="Rectangle 6">
            <a:extLst>
              <a:ext uri="{FF2B5EF4-FFF2-40B4-BE49-F238E27FC236}">
                <a16:creationId xmlns:a16="http://schemas.microsoft.com/office/drawing/2014/main" id="{9393D95C-07C0-4ABC-AEDB-FEA08BD9783D}"/>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Rectangle 7">
            <a:extLst>
              <a:ext uri="{FF2B5EF4-FFF2-40B4-BE49-F238E27FC236}">
                <a16:creationId xmlns:a16="http://schemas.microsoft.com/office/drawing/2014/main" id="{0C4B7342-47E6-465E-B842-B72B17D0C7D8}"/>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13437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71E918E-C4A0-460D-9296-7B655F1C269D}"/>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Rectangle 1">
            <a:extLst>
              <a:ext uri="{FF2B5EF4-FFF2-40B4-BE49-F238E27FC236}">
                <a16:creationId xmlns:a16="http://schemas.microsoft.com/office/drawing/2014/main" id="{038BD84C-F631-47ED-8CA1-60395068D54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Rectangle 2">
            <a:extLst>
              <a:ext uri="{FF2B5EF4-FFF2-40B4-BE49-F238E27FC236}">
                <a16:creationId xmlns:a16="http://schemas.microsoft.com/office/drawing/2014/main" id="{194381E7-8173-4414-9A9D-1F8B74470FCA}"/>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Rectangle 3">
            <a:extLst>
              <a:ext uri="{FF2B5EF4-FFF2-40B4-BE49-F238E27FC236}">
                <a16:creationId xmlns:a16="http://schemas.microsoft.com/office/drawing/2014/main" id="{A5C87FE3-39F3-44BB-A330-65BEC9C561FB}"/>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4</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196984F0-7D0A-447E-820B-29E1E9F569D5}"/>
              </a:ext>
            </a:extLst>
          </p:cNvPr>
          <p:cNvPicPr>
            <a:picLocks noChangeAspect="1"/>
          </p:cNvPicPr>
          <p:nvPr/>
        </p:nvPicPr>
        <p:blipFill>
          <a:blip r:embed="rId3"/>
          <a:stretch/>
        </p:blipFill>
        <p:spPr>
          <a:xfrm>
            <a:off x="4381500" y="1666875"/>
            <a:ext cx="3429000" cy="4000500"/>
          </a:xfrm>
          <a:prstGeom prst="rect">
            <a:avLst/>
          </a:prstGeom>
        </p:spPr>
      </p:pic>
      <p:sp>
        <p:nvSpPr>
          <p:cNvPr id="6" name="Rectangle 5">
            <a:extLst>
              <a:ext uri="{FF2B5EF4-FFF2-40B4-BE49-F238E27FC236}">
                <a16:creationId xmlns:a16="http://schemas.microsoft.com/office/drawing/2014/main" id="{559B144B-6B8C-4465-BAFA-FB0EAFA2FCA6}"/>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1058154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28B9A3-66F7-472F-8B0B-611AED48E69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Rectangle 1">
            <a:extLst>
              <a:ext uri="{FF2B5EF4-FFF2-40B4-BE49-F238E27FC236}">
                <a16:creationId xmlns:a16="http://schemas.microsoft.com/office/drawing/2014/main" id="{78EEF081-7067-402D-9EF2-DFA94560948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Rectangle 2">
            <a:extLst>
              <a:ext uri="{FF2B5EF4-FFF2-40B4-BE49-F238E27FC236}">
                <a16:creationId xmlns:a16="http://schemas.microsoft.com/office/drawing/2014/main" id="{D1D8E6C9-D6E3-463E-BF7E-8D68F2B6061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Rectangle 3">
            <a:extLst>
              <a:ext uri="{FF2B5EF4-FFF2-40B4-BE49-F238E27FC236}">
                <a16:creationId xmlns:a16="http://schemas.microsoft.com/office/drawing/2014/main" id="{9379F400-CD88-4A70-B456-778BF447EF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9EC1008-EA85-4256-9709-8B2F9A7F7E39}"/>
              </a:ext>
            </a:extLst>
          </p:cNvPr>
          <p:cNvPicPr>
            <a:picLocks noChangeAspect="1"/>
          </p:cNvPicPr>
          <p:nvPr/>
        </p:nvPicPr>
        <p:blipFill>
          <a:blip r:embed="rId3"/>
          <a:stretch/>
        </p:blipFill>
        <p:spPr>
          <a:xfrm>
            <a:off x="583890" y="1666875"/>
            <a:ext cx="5166345" cy="4191000"/>
          </a:xfrm>
          <a:prstGeom prst="rect">
            <a:avLst/>
          </a:prstGeom>
        </p:spPr>
      </p:pic>
      <p:pic>
        <p:nvPicPr>
          <p:cNvPr id="6" name="Picture 5">
            <a:extLst>
              <a:ext uri="{FF2B5EF4-FFF2-40B4-BE49-F238E27FC236}">
                <a16:creationId xmlns:a16="http://schemas.microsoft.com/office/drawing/2014/main" id="{9643DD95-5CF4-4BC3-8F35-3E8356DD70D7}"/>
              </a:ext>
            </a:extLst>
          </p:cNvPr>
          <p:cNvPicPr>
            <a:picLocks noChangeAspect="1"/>
          </p:cNvPicPr>
          <p:nvPr/>
        </p:nvPicPr>
        <p:blipFill>
          <a:blip r:embed="rId4"/>
          <a:stretch/>
        </p:blipFill>
        <p:spPr>
          <a:xfrm>
            <a:off x="6253027" y="1666875"/>
            <a:ext cx="5543820" cy="4191000"/>
          </a:xfrm>
          <a:prstGeom prst="rect">
            <a:avLst/>
          </a:prstGeom>
        </p:spPr>
      </p:pic>
    </p:spTree>
    <p:extLst>
      <p:ext uri="{BB962C8B-B14F-4D97-AF65-F5344CB8AC3E}">
        <p14:creationId xmlns:p14="http://schemas.microsoft.com/office/powerpoint/2010/main" val="657846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4F0881-1651-42AF-B358-0084BDA2A52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Rectangle 1">
            <a:extLst>
              <a:ext uri="{FF2B5EF4-FFF2-40B4-BE49-F238E27FC236}">
                <a16:creationId xmlns:a16="http://schemas.microsoft.com/office/drawing/2014/main" id="{B84709B2-E412-4D46-9994-1F8F32317C7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Rectangle 2">
            <a:extLst>
              <a:ext uri="{FF2B5EF4-FFF2-40B4-BE49-F238E27FC236}">
                <a16:creationId xmlns:a16="http://schemas.microsoft.com/office/drawing/2014/main" id="{B1437C30-667A-41D0-BD7D-3633731E12F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Rectangle 3">
            <a:extLst>
              <a:ext uri="{FF2B5EF4-FFF2-40B4-BE49-F238E27FC236}">
                <a16:creationId xmlns:a16="http://schemas.microsoft.com/office/drawing/2014/main" id="{0ADEDCFE-83BB-493A-AD28-120B5EC12A5A}"/>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6</a:t>
            </a:r>
            <a:endParaRPr sz="1200" b="0">
              <a:solidFill>
                <a:srgbClr val="595959"/>
              </a:solidFill>
              <a:latin typeface="Calibri"/>
              <a:ea typeface="Calibri"/>
              <a:cs typeface="Calibri"/>
            </a:endParaRPr>
          </a:p>
        </p:txBody>
      </p:sp>
      <p:graphicFrame>
        <p:nvGraphicFramePr>
          <p:cNvPr id="5" name="Chart">
            <a:extLst>
              <a:ext uri="{FF2B5EF4-FFF2-40B4-BE49-F238E27FC236}">
                <a16:creationId xmlns:a16="http://schemas.microsoft.com/office/drawing/2014/main" id="{108668DB-7A9C-44AF-8DD6-D35AE51A7D9E}"/>
              </a:ext>
            </a:extLst>
          </p:cNvPr>
          <p:cNvGraphicFramePr/>
          <p:nvPr/>
        </p:nvGraphicFramePr>
        <p:xfrm>
          <a:off x="1143000" y="1762125"/>
          <a:ext cx="98107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72BB21B5-95B7-418C-9904-D479117AA513}"/>
              </a:ext>
            </a:extLst>
          </p:cNvPr>
          <p:cNvSpPr>
            <a:spLocks noGrp="1"/>
          </p:cNvSpPr>
          <p:nvPr/>
        </p:nvSpPr>
        <p:spPr>
          <a:xfrm>
            <a:off x="619125" y="5905500"/>
            <a:ext cx="10953750" cy="381000"/>
          </a:xfrm>
          <a:prstGeom prst="rect">
            <a:avLst/>
          </a:prstGeom>
          <a:noFill/>
          <a:ln w="0">
            <a:noFill/>
          </a:ln>
        </p:spPr>
        <p:txBody>
          <a:bodyPr lIns="0" tIns="0" rIns="0" bIns="0"/>
          <a:lstStyle>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446287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3F4626-6C47-485A-A50D-8AD879B5078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Rectangle 1">
            <a:extLst>
              <a:ext uri="{FF2B5EF4-FFF2-40B4-BE49-F238E27FC236}">
                <a16:creationId xmlns:a16="http://schemas.microsoft.com/office/drawing/2014/main" id="{CF62B2D7-35D5-45B9-9346-A9BD4D355A09}"/>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Rectangle 2">
            <a:extLst>
              <a:ext uri="{FF2B5EF4-FFF2-40B4-BE49-F238E27FC236}">
                <a16:creationId xmlns:a16="http://schemas.microsoft.com/office/drawing/2014/main" id="{37FCBA89-4B31-4EF2-9CE4-A5D1ADCCD062}"/>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Rectangle 3">
            <a:extLst>
              <a:ext uri="{FF2B5EF4-FFF2-40B4-BE49-F238E27FC236}">
                <a16:creationId xmlns:a16="http://schemas.microsoft.com/office/drawing/2014/main" id="{6B42495D-315E-4EEF-BE84-35353BF22EF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D7C71E48-E223-48A9-BAE6-2D85D717AB9D}"/>
              </a:ext>
            </a:extLst>
          </p:cNvPr>
          <p:cNvPicPr>
            <a:picLocks noChangeAspect="1"/>
          </p:cNvPicPr>
          <p:nvPr/>
        </p:nvPicPr>
        <p:blipFill>
          <a:blip r:embed="rId3"/>
          <a:stretch/>
        </p:blipFill>
        <p:spPr>
          <a:xfrm>
            <a:off x="896403" y="1666875"/>
            <a:ext cx="4541318" cy="4191000"/>
          </a:xfrm>
          <a:prstGeom prst="rect">
            <a:avLst/>
          </a:prstGeom>
        </p:spPr>
      </p:pic>
      <p:pic>
        <p:nvPicPr>
          <p:cNvPr id="6" name="Picture 5">
            <a:extLst>
              <a:ext uri="{FF2B5EF4-FFF2-40B4-BE49-F238E27FC236}">
                <a16:creationId xmlns:a16="http://schemas.microsoft.com/office/drawing/2014/main" id="{08E2B23F-7937-45D6-939F-2703251CE559}"/>
              </a:ext>
            </a:extLst>
          </p:cNvPr>
          <p:cNvPicPr>
            <a:picLocks noChangeAspect="1"/>
          </p:cNvPicPr>
          <p:nvPr/>
        </p:nvPicPr>
        <p:blipFill>
          <a:blip r:embed="rId4"/>
          <a:stretch/>
        </p:blipFill>
        <p:spPr>
          <a:xfrm>
            <a:off x="6818361" y="1666875"/>
            <a:ext cx="4413153" cy="4191000"/>
          </a:xfrm>
          <a:prstGeom prst="rect">
            <a:avLst/>
          </a:prstGeom>
        </p:spPr>
      </p:pic>
    </p:spTree>
    <p:extLst>
      <p:ext uri="{BB962C8B-B14F-4D97-AF65-F5344CB8AC3E}">
        <p14:creationId xmlns:p14="http://schemas.microsoft.com/office/powerpoint/2010/main" val="481992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A46E684-8B5D-48EF-9250-9BE194CC758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Rectangle 1">
            <a:extLst>
              <a:ext uri="{FF2B5EF4-FFF2-40B4-BE49-F238E27FC236}">
                <a16:creationId xmlns:a16="http://schemas.microsoft.com/office/drawing/2014/main" id="{2002557E-F9E1-40CC-B5B9-89098E36C30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Rectangle 2">
            <a:extLst>
              <a:ext uri="{FF2B5EF4-FFF2-40B4-BE49-F238E27FC236}">
                <a16:creationId xmlns:a16="http://schemas.microsoft.com/office/drawing/2014/main" id="{E43B5BB7-AEFF-4DA0-8C4A-75FAD72F6FED}"/>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Rectangle 3">
            <a:extLst>
              <a:ext uri="{FF2B5EF4-FFF2-40B4-BE49-F238E27FC236}">
                <a16:creationId xmlns:a16="http://schemas.microsoft.com/office/drawing/2014/main" id="{79B5C7B5-1651-4802-9883-091B6D3DF8B4}"/>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A73CC636-6A6D-4FEE-84D5-D8BEA7CE5823}"/>
              </a:ext>
            </a:extLst>
          </p:cNvPr>
          <p:cNvPicPr>
            <a:picLocks noChangeAspect="1"/>
          </p:cNvPicPr>
          <p:nvPr/>
        </p:nvPicPr>
        <p:blipFill>
          <a:blip r:embed="rId3"/>
          <a:stretch/>
        </p:blipFill>
        <p:spPr>
          <a:xfrm>
            <a:off x="791829" y="1666875"/>
            <a:ext cx="10608342" cy="4572000"/>
          </a:xfrm>
          <a:prstGeom prst="rect">
            <a:avLst/>
          </a:prstGeom>
        </p:spPr>
      </p:pic>
    </p:spTree>
    <p:extLst>
      <p:ext uri="{BB962C8B-B14F-4D97-AF65-F5344CB8AC3E}">
        <p14:creationId xmlns:p14="http://schemas.microsoft.com/office/powerpoint/2010/main" val="127106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160C0C6-FB9F-47CA-A55C-F3112E734DE3}"/>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Rectangle 1">
            <a:extLst>
              <a:ext uri="{FF2B5EF4-FFF2-40B4-BE49-F238E27FC236}">
                <a16:creationId xmlns:a16="http://schemas.microsoft.com/office/drawing/2014/main" id="{DD24B23F-0F3B-451D-AD10-43EFC785487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Rectangle 2">
            <a:extLst>
              <a:ext uri="{FF2B5EF4-FFF2-40B4-BE49-F238E27FC236}">
                <a16:creationId xmlns:a16="http://schemas.microsoft.com/office/drawing/2014/main" id="{50668165-580F-42BF-9EAC-FEE8F45E464C}"/>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Rectangle 3">
            <a:extLst>
              <a:ext uri="{FF2B5EF4-FFF2-40B4-BE49-F238E27FC236}">
                <a16:creationId xmlns:a16="http://schemas.microsoft.com/office/drawing/2014/main" id="{C6846614-47B3-4CC6-B74E-37E985A48A32}"/>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9</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57347F5D-2D3D-4986-BBF3-031D053BBE3E}"/>
              </a:ext>
            </a:extLst>
          </p:cNvPr>
          <p:cNvPicPr>
            <a:picLocks noChangeAspect="1"/>
          </p:cNvPicPr>
          <p:nvPr/>
        </p:nvPicPr>
        <p:blipFill>
          <a:blip r:embed="rId3"/>
          <a:stretch/>
        </p:blipFill>
        <p:spPr>
          <a:xfrm>
            <a:off x="4136571" y="1666875"/>
            <a:ext cx="3918857" cy="4572000"/>
          </a:xfrm>
          <a:prstGeom prst="rect">
            <a:avLst/>
          </a:prstGeom>
        </p:spPr>
      </p:pic>
    </p:spTree>
    <p:extLst>
      <p:ext uri="{BB962C8B-B14F-4D97-AF65-F5344CB8AC3E}">
        <p14:creationId xmlns:p14="http://schemas.microsoft.com/office/powerpoint/2010/main" val="1811102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891CC4-DCCF-44A2-B0D2-84ABD509530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Rectangle 1">
            <a:extLst>
              <a:ext uri="{FF2B5EF4-FFF2-40B4-BE49-F238E27FC236}">
                <a16:creationId xmlns:a16="http://schemas.microsoft.com/office/drawing/2014/main" id="{8617A523-3A8F-4677-B30B-B5A76CE06663}"/>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Rectangle 2">
            <a:extLst>
              <a:ext uri="{FF2B5EF4-FFF2-40B4-BE49-F238E27FC236}">
                <a16:creationId xmlns:a16="http://schemas.microsoft.com/office/drawing/2014/main" id="{54AAC9B7-E5A4-4B49-A6A2-293C783FE9FF}"/>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Rectangle 3">
            <a:extLst>
              <a:ext uri="{FF2B5EF4-FFF2-40B4-BE49-F238E27FC236}">
                <a16:creationId xmlns:a16="http://schemas.microsoft.com/office/drawing/2014/main" id="{4E29F3D1-6D70-4289-BA43-D3A23616FEDD}"/>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10</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5D799161-C2FE-473E-A2C0-97DF54101622}"/>
              </a:ext>
            </a:extLst>
          </p:cNvPr>
          <p:cNvPicPr>
            <a:picLocks noChangeAspect="1"/>
          </p:cNvPicPr>
          <p:nvPr/>
        </p:nvPicPr>
        <p:blipFill>
          <a:blip r:embed="rId3"/>
          <a:stretch/>
        </p:blipFill>
        <p:spPr>
          <a:xfrm>
            <a:off x="854485" y="1666875"/>
            <a:ext cx="10483029" cy="4572000"/>
          </a:xfrm>
          <a:prstGeom prst="rect">
            <a:avLst/>
          </a:prstGeom>
        </p:spPr>
      </p:pic>
      <p:sp>
        <p:nvSpPr>
          <p:cNvPr id="6" name="Rectangle 5">
            <a:extLst>
              <a:ext uri="{FF2B5EF4-FFF2-40B4-BE49-F238E27FC236}">
                <a16:creationId xmlns:a16="http://schemas.microsoft.com/office/drawing/2014/main" id="{E861BD5A-4A32-4E34-A0FD-3111F6DE8805}"/>
              </a:ext>
            </a:extLst>
          </p:cNvPr>
          <p:cNvSpPr>
            <a:spLocks noGrp="1"/>
          </p:cNvSpPr>
          <p:nvPr/>
        </p:nvSpPr>
        <p:spPr>
          <a:xfrm>
            <a:off x="428625" y="1619250"/>
            <a:ext cx="2095500" cy="333375"/>
          </a:xfrm>
          <a:prstGeom prst="rect">
            <a:avLst/>
          </a:prstGeom>
          <a:noFill/>
          <a:ln w="0">
            <a:noFill/>
          </a:ln>
        </p:spPr>
        <p:txBody>
          <a:bodyPr lIns="0" tIns="0" rIns="0" bIns="0"/>
          <a:lstStyle>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22675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1FEB8E-A4C9-493A-9466-28DC732C4872}"/>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Rectangle 1">
            <a:extLst>
              <a:ext uri="{FF2B5EF4-FFF2-40B4-BE49-F238E27FC236}">
                <a16:creationId xmlns:a16="http://schemas.microsoft.com/office/drawing/2014/main" id="{065DD033-C9F3-41B2-9BFA-C85BDB8DDE4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Rectangle 2">
            <a:extLst>
              <a:ext uri="{FF2B5EF4-FFF2-40B4-BE49-F238E27FC236}">
                <a16:creationId xmlns:a16="http://schemas.microsoft.com/office/drawing/2014/main" id="{97374848-EFB8-4D25-8C4B-DDD0DE869CC6}"/>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Rectangle 3">
            <a:extLst>
              <a:ext uri="{FF2B5EF4-FFF2-40B4-BE49-F238E27FC236}">
                <a16:creationId xmlns:a16="http://schemas.microsoft.com/office/drawing/2014/main" id="{24A0F7CC-1412-4005-B0C4-8CEA611486F7}"/>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9191304-A553-480F-92D2-C0E734155213}"/>
              </a:ext>
            </a:extLst>
          </p:cNvPr>
          <p:cNvPicPr>
            <a:picLocks noChangeAspect="1"/>
          </p:cNvPicPr>
          <p:nvPr/>
        </p:nvPicPr>
        <p:blipFill>
          <a:blip r:embed="rId3"/>
          <a:stretch/>
        </p:blipFill>
        <p:spPr>
          <a:xfrm>
            <a:off x="428625" y="1839011"/>
            <a:ext cx="11334750" cy="3656229"/>
          </a:xfrm>
          <a:prstGeom prst="rect">
            <a:avLst/>
          </a:prstGeom>
        </p:spPr>
      </p:pic>
      <p:sp>
        <p:nvSpPr>
          <p:cNvPr id="6" name="Rectangle 5">
            <a:extLst>
              <a:ext uri="{FF2B5EF4-FFF2-40B4-BE49-F238E27FC236}">
                <a16:creationId xmlns:a16="http://schemas.microsoft.com/office/drawing/2014/main" id="{3B03C20C-438F-489D-B6DC-D1CB588E9E64}"/>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19888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2C4DF5-C2A0-498E-BFE8-26B7779302C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Rectangle 1">
            <a:extLst>
              <a:ext uri="{FF2B5EF4-FFF2-40B4-BE49-F238E27FC236}">
                <a16:creationId xmlns:a16="http://schemas.microsoft.com/office/drawing/2014/main" id="{C4004293-F479-4AD1-948D-876DAF248C4A}"/>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Rectangle 2">
            <a:extLst>
              <a:ext uri="{FF2B5EF4-FFF2-40B4-BE49-F238E27FC236}">
                <a16:creationId xmlns:a16="http://schemas.microsoft.com/office/drawing/2014/main" id="{CD98A0E4-5291-49C5-A48F-9E1B95B798A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Rectangle 3">
            <a:extLst>
              <a:ext uri="{FF2B5EF4-FFF2-40B4-BE49-F238E27FC236}">
                <a16:creationId xmlns:a16="http://schemas.microsoft.com/office/drawing/2014/main" id="{BAC1C300-6DE2-4A7F-B245-B865AAF16F6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12</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837ABD8E-4EA7-4177-B3EF-7F35B266E8CB}"/>
              </a:ext>
            </a:extLst>
          </p:cNvPr>
          <p:cNvGraphicFramePr/>
          <p:nvPr/>
        </p:nvGraphicFramePr>
        <p:xfrm>
          <a:off x="476250" y="1952625"/>
          <a:ext cx="11239500" cy="2571750"/>
        </p:xfrm>
        <a:graphic>
          <a:graphicData uri="http://schemas.openxmlformats.org/drawingml/2006/table">
            <a:tbl>
              <a:tblPr/>
              <a:tblGrid>
                <a:gridCol w="2809875">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857250">
                <a:tc>
                  <a:txBody>
                    <a:bodyPr/>
                    <a:lstStyle/>
                    <a:p>
                      <a:r>
                        <a:rPr sz="1875" b="1">
                          <a:solidFill>
                            <a:srgbClr val="00796B"/>
                          </a:solidFill>
                          <a:latin typeface="Calibri"/>
                          <a:ea typeface="Calibri"/>
                          <a:cs typeface="Calibri"/>
                        </a:rPr>
                        <a:t>Adopted fold</a:t>
                      </a:r>
                    </a:p>
                  </a:txBody>
                  <a:tcPr>
                    <a:solidFill>
                      <a:srgbClr val="FFFFFF"/>
                    </a:solidFill>
                  </a:tcPr>
                </a:tc>
                <a:tc>
                  <a:txBody>
                    <a:bodyPr/>
                    <a:lstStyle/>
                    <a:p>
                      <a:r>
                        <a:rPr sz="1875" b="1">
                          <a:solidFill>
                            <a:srgbClr val="00796B"/>
                          </a:solidFill>
                          <a:latin typeface="Calibri"/>
                          <a:ea typeface="Calibri"/>
                          <a:cs typeface="Calibri"/>
                        </a:rPr>
                        <a:t>Training</a:t>
                      </a:r>
                    </a:p>
                  </a:txBody>
                  <a:tcPr>
                    <a:solidFill>
                      <a:srgbClr val="FFFFFF"/>
                    </a:solidFill>
                  </a:tcPr>
                </a:tc>
                <a:tc>
                  <a:txBody>
                    <a:bodyPr/>
                    <a:lstStyle/>
                    <a:p>
                      <a:r>
                        <a:rPr sz="1875" b="1">
                          <a:solidFill>
                            <a:srgbClr val="00796B"/>
                          </a:solidFill>
                          <a:latin typeface="Calibri"/>
                          <a:ea typeface="Calibri"/>
                          <a:cs typeface="Calibri"/>
                        </a:rPr>
                        <a:t>Held out</a:t>
                      </a:r>
                    </a:p>
                  </a:txBody>
                  <a:tcPr>
                    <a:solidFill>
                      <a:srgbClr val="FFFFFF"/>
                    </a:solidFill>
                  </a:tcPr>
                </a:tc>
                <a:tc>
                  <a:txBody>
                    <a:bodyPr/>
                    <a:lstStyle/>
                    <a:p>
                      <a:r>
                        <a:rPr sz="1875" b="1">
                          <a:solidFill>
                            <a:srgbClr val="00796B"/>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857250">
                <a:tc>
                  <a:txBody>
                    <a:bodyPr/>
                    <a:lstStyle/>
                    <a:p>
                      <a:r>
                        <a:rPr sz="1875" b="0">
                          <a:solidFill>
                            <a:srgbClr val="222222"/>
                          </a:solidFill>
                          <a:latin typeface="Calibri"/>
                          <a:ea typeface="Calibri"/>
                          <a:cs typeface="Calibri"/>
                        </a:rPr>
                        <a:t>Pinned flexor</a:t>
                      </a:r>
                    </a:p>
                  </a:txBody>
                  <a:tcPr>
                    <a:solidFill>
                      <a:srgbClr val="FFFFFF"/>
                    </a:solidFill>
                  </a:tcPr>
                </a:tc>
                <a:tc>
                  <a:txBody>
                    <a:bodyPr/>
                    <a:lstStyle/>
                    <a:p>
                      <a:r>
                        <a:rPr sz="1875" b="0">
                          <a:solidFill>
                            <a:srgbClr val="222222"/>
                          </a:solidFill>
                          <a:latin typeface="Calibri"/>
                          <a:ea typeface="Calibri"/>
                          <a:cs typeface="Calibri"/>
                        </a:rPr>
                        <a:t>2 tests</a:t>
                      </a:r>
                    </a:p>
                  </a:txBody>
                  <a:tcPr>
                    <a:solidFill>
                      <a:srgbClr val="FFFFFF"/>
                    </a:solidFill>
                  </a:tcPr>
                </a:tc>
                <a:tc>
                  <a:txBody>
                    <a:bodyPr/>
                    <a:lstStyle/>
                    <a:p>
                      <a:r>
                        <a:rPr sz="1875" b="0">
                          <a:solidFill>
                            <a:srgbClr val="222222"/>
                          </a:solidFill>
                          <a:latin typeface="Calibri"/>
                          <a:ea typeface="Calibri"/>
                          <a:cs typeface="Calibri"/>
                        </a:rPr>
                        <a:t>2 tests</a:t>
                      </a:r>
                    </a:p>
                  </a:txBody>
                  <a:tcPr>
                    <a:solidFill>
                      <a:srgbClr val="FFFFFF"/>
                    </a:solidFill>
                  </a:tcPr>
                </a:tc>
                <a:tc>
                  <a:txBody>
                    <a:bodyPr/>
                    <a:lstStyle/>
                    <a:p>
                      <a:r>
                        <a:rPr sz="1875" b="0">
                          <a:solidFill>
                            <a:srgbClr val="222222"/>
                          </a:solidFill>
                          <a:latin typeface="Calibri"/>
                          <a:ea typeface="Calibri"/>
                          <a:cs typeface="Calibri"/>
                        </a:rPr>
                        <a:t>1 test</a:t>
                      </a:r>
                    </a:p>
                  </a:txBody>
                  <a:tcPr>
                    <a:solidFill>
                      <a:srgbClr val="FFFFFF"/>
                    </a:solidFill>
                  </a:tcPr>
                </a:tc>
                <a:extLst>
                  <a:ext uri="{0D108BD9-81ED-4DB2-BD59-A6C34878D82A}">
                    <a16:rowId xmlns:a16="http://schemas.microsoft.com/office/drawing/2014/main" val="10001"/>
                  </a:ext>
                </a:extLst>
              </a:tr>
              <a:tr h="857250">
                <a:tc>
                  <a:txBody>
                    <a:bodyPr/>
                    <a:lstStyle/>
                    <a:p>
                      <a:r>
                        <a:rPr sz="1875" b="0">
                          <a:solidFill>
                            <a:srgbClr val="222222"/>
                          </a:solidFill>
                          <a:latin typeface="Calibri"/>
                          <a:ea typeface="Calibri"/>
                          <a:cs typeface="Calibri"/>
                        </a:rPr>
                        <a:t>Pinned extensor</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D14A2DB7-75CF-449A-9062-77DA9EA64908}"/>
              </a:ext>
            </a:extLst>
          </p:cNvPr>
          <p:cNvSpPr>
            <a:spLocks noGrp="1"/>
          </p:cNvSpPr>
          <p:nvPr/>
        </p:nvSpPr>
        <p:spPr>
          <a:xfrm>
            <a:off x="619125" y="5000625"/>
            <a:ext cx="10668000" cy="381000"/>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Rectangle 6">
            <a:extLst>
              <a:ext uri="{FF2B5EF4-FFF2-40B4-BE49-F238E27FC236}">
                <a16:creationId xmlns:a16="http://schemas.microsoft.com/office/drawing/2014/main" id="{CDEB48D4-A9A4-4854-9418-B39125673B6B}"/>
              </a:ext>
            </a:extLst>
          </p:cNvPr>
          <p:cNvSpPr>
            <a:spLocks noGrp="1"/>
          </p:cNvSpPr>
          <p:nvPr/>
        </p:nvSpPr>
        <p:spPr>
          <a:xfrm>
            <a:off x="619125" y="5524500"/>
            <a:ext cx="10668000" cy="428625"/>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685477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5FD0B2-2B1D-408B-82C6-53122BD6B3C7}"/>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Rectangle 1">
            <a:extLst>
              <a:ext uri="{FF2B5EF4-FFF2-40B4-BE49-F238E27FC236}">
                <a16:creationId xmlns:a16="http://schemas.microsoft.com/office/drawing/2014/main" id="{BEF61B60-24EB-4005-AE76-EAAB948FE5A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Rectangle 2">
            <a:extLst>
              <a:ext uri="{FF2B5EF4-FFF2-40B4-BE49-F238E27FC236}">
                <a16:creationId xmlns:a16="http://schemas.microsoft.com/office/drawing/2014/main" id="{B4AC1B9F-9518-4AD0-A075-45A96F8EBF6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Rectangle 3">
            <a:extLst>
              <a:ext uri="{FF2B5EF4-FFF2-40B4-BE49-F238E27FC236}">
                <a16:creationId xmlns:a16="http://schemas.microsoft.com/office/drawing/2014/main" id="{BBE947CA-8737-41E4-AE97-27ECB47F3CAF}"/>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810440B9-F692-4A49-A1C7-FA98D73BD899}"/>
              </a:ext>
            </a:extLst>
          </p:cNvPr>
          <p:cNvPicPr>
            <a:picLocks noChangeAspect="1"/>
          </p:cNvPicPr>
          <p:nvPr/>
        </p:nvPicPr>
        <p:blipFill>
          <a:blip r:embed="rId3"/>
          <a:stretch/>
        </p:blipFill>
        <p:spPr>
          <a:xfrm>
            <a:off x="1509675" y="1666875"/>
            <a:ext cx="9172650" cy="4000500"/>
          </a:xfrm>
          <a:prstGeom prst="rect">
            <a:avLst/>
          </a:prstGeom>
        </p:spPr>
      </p:pic>
      <p:sp>
        <p:nvSpPr>
          <p:cNvPr id="6" name="Rectangle 5">
            <a:extLst>
              <a:ext uri="{FF2B5EF4-FFF2-40B4-BE49-F238E27FC236}">
                <a16:creationId xmlns:a16="http://schemas.microsoft.com/office/drawing/2014/main" id="{7FDA4C96-FC1D-472D-81EF-C40C749C081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
        <p:nvSpPr>
          <p:cNvPr id="7" name="Rectangle 6">
            <a:extLst>
              <a:ext uri="{FF2B5EF4-FFF2-40B4-BE49-F238E27FC236}">
                <a16:creationId xmlns:a16="http://schemas.microsoft.com/office/drawing/2014/main" id="{8782471A-A789-4806-9B11-EAC6841CC522}"/>
              </a:ext>
            </a:extLst>
          </p:cNvPr>
          <p:cNvSpPr>
            <a:spLocks noGrp="1"/>
          </p:cNvSpPr>
          <p:nvPr/>
        </p:nvSpPr>
        <p:spPr>
          <a:xfrm>
            <a:off x="428625" y="1619250"/>
            <a:ext cx="2095500" cy="333375"/>
          </a:xfrm>
          <a:prstGeom prst="rect">
            <a:avLst/>
          </a:prstGeom>
          <a:noFill/>
          <a:ln w="0">
            <a:noFill/>
          </a:ln>
        </p:spPr>
        <p:txBody>
          <a:bodyPr lIns="0" tIns="0" rIns="0" bIns="0"/>
          <a:lstStyle>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1905205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700631-5C7B-4D4D-B479-7AC5AA9CFCC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Rectangle 1">
            <a:extLst>
              <a:ext uri="{FF2B5EF4-FFF2-40B4-BE49-F238E27FC236}">
                <a16:creationId xmlns:a16="http://schemas.microsoft.com/office/drawing/2014/main" id="{573445CE-E7B6-468C-BB6F-EA1522122FC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Rectangle 2">
            <a:extLst>
              <a:ext uri="{FF2B5EF4-FFF2-40B4-BE49-F238E27FC236}">
                <a16:creationId xmlns:a16="http://schemas.microsoft.com/office/drawing/2014/main" id="{08D87883-0AB6-406C-AC7A-18971BB0B13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Rectangle 3">
            <a:extLst>
              <a:ext uri="{FF2B5EF4-FFF2-40B4-BE49-F238E27FC236}">
                <a16:creationId xmlns:a16="http://schemas.microsoft.com/office/drawing/2014/main" id="{EB6A4493-A82C-4FC7-87E2-29437BD07DB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14</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D388B440-7BD8-4F2B-B0E5-C1F10FBE4FBD}"/>
              </a:ext>
            </a:extLst>
          </p:cNvPr>
          <p:cNvGraphicFramePr/>
          <p:nvPr/>
        </p:nvGraphicFramePr>
        <p:xfrm>
          <a:off x="476250" y="2095500"/>
          <a:ext cx="11239500" cy="2476500"/>
        </p:xfrm>
        <a:graphic>
          <a:graphicData uri="http://schemas.openxmlformats.org/drawingml/2006/table">
            <a:tbl>
              <a:tblPr/>
              <a:tblGrid>
                <a:gridCol w="3746500">
                  <a:extLst>
                    <a:ext uri="{9D8B030D-6E8A-4147-A177-3AD203B41FA5}">
                      <a16:colId xmlns:a16="http://schemas.microsoft.com/office/drawing/2014/main" val="20000"/>
                    </a:ext>
                  </a:extLst>
                </a:gridCol>
                <a:gridCol w="3746500">
                  <a:extLst>
                    <a:ext uri="{9D8B030D-6E8A-4147-A177-3AD203B41FA5}">
                      <a16:colId xmlns:a16="http://schemas.microsoft.com/office/drawing/2014/main" val="20001"/>
                    </a:ext>
                  </a:extLst>
                </a:gridCol>
                <a:gridCol w="3746500">
                  <a:extLst>
                    <a:ext uri="{9D8B030D-6E8A-4147-A177-3AD203B41FA5}">
                      <a16:colId xmlns:a16="http://schemas.microsoft.com/office/drawing/2014/main" val="20002"/>
                    </a:ext>
                  </a:extLst>
                </a:gridCol>
              </a:tblGrid>
              <a:tr h="825500">
                <a:tc>
                  <a:txBody>
                    <a:bodyPr/>
                    <a:lstStyle/>
                    <a:p>
                      <a:r>
                        <a:rPr sz="1875" b="1">
                          <a:solidFill>
                            <a:srgbClr val="00796B"/>
                          </a:solidFill>
                          <a:latin typeface="Calibri"/>
                          <a:ea typeface="Calibri"/>
                          <a:cs typeface="Calibri"/>
                        </a:rPr>
                        <a:t>Root-mean-square error (N·m)</a:t>
                      </a:r>
                    </a:p>
                  </a:txBody>
                  <a:tcPr>
                    <a:solidFill>
                      <a:srgbClr val="FFFFFF"/>
                    </a:solidFill>
                  </a:tcPr>
                </a:tc>
                <a:tc>
                  <a:txBody>
                    <a:bodyPr/>
                    <a:lstStyle/>
                    <a:p>
                      <a:r>
                        <a:rPr sz="1875" b="1">
                          <a:solidFill>
                            <a:srgbClr val="00796B"/>
                          </a:solidFill>
                          <a:latin typeface="Calibri"/>
                          <a:ea typeface="Calibri"/>
                          <a:cs typeface="Calibri"/>
                        </a:rPr>
                        <a:t>No corrections</a:t>
                      </a:r>
                    </a:p>
                  </a:txBody>
                  <a:tcPr>
                    <a:solidFill>
                      <a:srgbClr val="FFFFFF"/>
                    </a:solidFill>
                  </a:tcPr>
                </a:tc>
                <a:tc>
                  <a:txBody>
                    <a:bodyPr/>
                    <a:lstStyle/>
                    <a:p>
                      <a:r>
                        <a:rPr sz="1875" b="1">
                          <a:solidFill>
                            <a:srgbClr val="00796B"/>
                          </a:solidFill>
                          <a:latin typeface="Calibri"/>
                          <a:ea typeface="Calibri"/>
                          <a:cs typeface="Calibri"/>
                        </a:rPr>
                        <a:t>Corrected</a:t>
                      </a:r>
                    </a:p>
                  </a:txBody>
                  <a:tcPr>
                    <a:solidFill>
                      <a:srgbClr val="FFFFFF"/>
                    </a:solidFill>
                  </a:tcPr>
                </a:tc>
                <a:extLst>
                  <a:ext uri="{0D108BD9-81ED-4DB2-BD59-A6C34878D82A}">
                    <a16:rowId xmlns:a16="http://schemas.microsoft.com/office/drawing/2014/main" val="10000"/>
                  </a:ext>
                </a:extLst>
              </a:tr>
              <a:tr h="825500">
                <a:tc>
                  <a:txBody>
                    <a:bodyPr/>
                    <a:lstStyle/>
                    <a:p>
                      <a:r>
                        <a:rPr sz="1875" b="0">
                          <a:solidFill>
                            <a:srgbClr val="222222"/>
                          </a:solidFill>
                          <a:latin typeface="Calibri"/>
                          <a:ea typeface="Calibri"/>
                          <a:cs typeface="Calibri"/>
                        </a:rPr>
                        <a:t>Flexor, 2 validation tests</a:t>
                      </a:r>
                    </a:p>
                  </a:txBody>
                  <a:tcPr>
                    <a:solidFill>
                      <a:srgbClr val="FFFFFF"/>
                    </a:solidFill>
                  </a:tcPr>
                </a:tc>
                <a:tc>
                  <a:txBody>
                    <a:bodyPr/>
                    <a:lstStyle/>
                    <a:p>
                      <a:r>
                        <a:rPr sz="1875" b="0">
                          <a:solidFill>
                            <a:srgbClr val="222222"/>
                          </a:solidFill>
                          <a:latin typeface="Calibri"/>
                          <a:ea typeface="Calibri"/>
                          <a:cs typeface="Calibri"/>
                        </a:rPr>
                        <a:t>7.588</a:t>
                      </a:r>
                    </a:p>
                  </a:txBody>
                  <a:tcPr>
                    <a:solidFill>
                      <a:srgbClr val="FFFFFF"/>
                    </a:solidFill>
                  </a:tcPr>
                </a:tc>
                <a:tc>
                  <a:txBody>
                    <a:bodyPr/>
                    <a:lstStyle/>
                    <a:p>
                      <a:r>
                        <a:rPr sz="1875" b="0">
                          <a:solidFill>
                            <a:srgbClr val="222222"/>
                          </a:solidFill>
                          <a:latin typeface="Calibri"/>
                          <a:ea typeface="Calibri"/>
                          <a:cs typeface="Calibri"/>
                        </a:rPr>
                        <a:t>1.490</a:t>
                      </a:r>
                    </a:p>
                  </a:txBody>
                  <a:tcPr>
                    <a:solidFill>
                      <a:srgbClr val="FFFFFF"/>
                    </a:solidFill>
                  </a:tcPr>
                </a:tc>
                <a:extLst>
                  <a:ext uri="{0D108BD9-81ED-4DB2-BD59-A6C34878D82A}">
                    <a16:rowId xmlns:a16="http://schemas.microsoft.com/office/drawing/2014/main" val="10001"/>
                  </a:ext>
                </a:extLst>
              </a:tr>
              <a:tr h="825500">
                <a:tc>
                  <a:txBody>
                    <a:bodyPr/>
                    <a:lstStyle/>
                    <a:p>
                      <a:r>
                        <a:rPr sz="1875" b="0">
                          <a:solidFill>
                            <a:srgbClr val="222222"/>
                          </a:solidFill>
                          <a:latin typeface="Calibri"/>
                          <a:ea typeface="Calibri"/>
                          <a:cs typeface="Calibri"/>
                        </a:rPr>
                        <a:t>Extensor, 3 validation tests</a:t>
                      </a:r>
                    </a:p>
                  </a:txBody>
                  <a:tcPr>
                    <a:solidFill>
                      <a:srgbClr val="FFFFFF"/>
                    </a:solidFill>
                  </a:tcPr>
                </a:tc>
                <a:tc>
                  <a:txBody>
                    <a:bodyPr/>
                    <a:lstStyle/>
                    <a:p>
                      <a:r>
                        <a:rPr sz="1875" b="0">
                          <a:solidFill>
                            <a:srgbClr val="222222"/>
                          </a:solidFill>
                          <a:latin typeface="Calibri"/>
                          <a:ea typeface="Calibri"/>
                          <a:cs typeface="Calibri"/>
                        </a:rPr>
                        <a:t>2.554</a:t>
                      </a:r>
                    </a:p>
                  </a:txBody>
                  <a:tcPr>
                    <a:solidFill>
                      <a:srgbClr val="FFFFFF"/>
                    </a:solidFill>
                  </a:tcPr>
                </a:tc>
                <a:tc>
                  <a:txBody>
                    <a:bodyPr/>
                    <a:lstStyle/>
                    <a:p>
                      <a:r>
                        <a:rPr sz="1875" b="0">
                          <a:solidFill>
                            <a:srgbClr val="222222"/>
                          </a:solidFill>
                          <a:latin typeface="Calibri"/>
                          <a:ea typeface="Calibri"/>
                          <a:cs typeface="Calibri"/>
                        </a:rPr>
                        <a:t>1.098</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4246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B38EDC-0F68-457B-9E99-568FA1DCCC5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Rectangle 1">
            <a:extLst>
              <a:ext uri="{FF2B5EF4-FFF2-40B4-BE49-F238E27FC236}">
                <a16:creationId xmlns:a16="http://schemas.microsoft.com/office/drawing/2014/main" id="{020E760B-3601-45A0-838A-1AF0AD3BF32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Rectangle 2">
            <a:extLst>
              <a:ext uri="{FF2B5EF4-FFF2-40B4-BE49-F238E27FC236}">
                <a16:creationId xmlns:a16="http://schemas.microsoft.com/office/drawing/2014/main" id="{B873A338-1F33-41DD-BCBD-DA0AFF0FFFA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Rectangle 3">
            <a:extLst>
              <a:ext uri="{FF2B5EF4-FFF2-40B4-BE49-F238E27FC236}">
                <a16:creationId xmlns:a16="http://schemas.microsoft.com/office/drawing/2014/main" id="{EB8C5B31-E696-46C3-9084-C6883BC609B5}"/>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83FF28D-4591-4AD3-8654-E4A834231B16}"/>
              </a:ext>
            </a:extLst>
          </p:cNvPr>
          <p:cNvPicPr>
            <a:picLocks noChangeAspect="1"/>
          </p:cNvPicPr>
          <p:nvPr/>
        </p:nvPicPr>
        <p:blipFill>
          <a:blip r:embed="rId3"/>
          <a:stretch/>
        </p:blipFill>
        <p:spPr>
          <a:xfrm>
            <a:off x="2138538" y="1666875"/>
            <a:ext cx="7914924" cy="4000500"/>
          </a:xfrm>
          <a:prstGeom prst="rect">
            <a:avLst/>
          </a:prstGeom>
        </p:spPr>
      </p:pic>
      <p:sp>
        <p:nvSpPr>
          <p:cNvPr id="6" name="Rectangle 5">
            <a:extLst>
              <a:ext uri="{FF2B5EF4-FFF2-40B4-BE49-F238E27FC236}">
                <a16:creationId xmlns:a16="http://schemas.microsoft.com/office/drawing/2014/main" id="{3E0EA6BD-9584-40F1-81C8-495C6CD65E6C}"/>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034586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547DAB-E520-48B2-8991-DA14D61FA7A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Rectangle 1">
            <a:extLst>
              <a:ext uri="{FF2B5EF4-FFF2-40B4-BE49-F238E27FC236}">
                <a16:creationId xmlns:a16="http://schemas.microsoft.com/office/drawing/2014/main" id="{F4858DBD-7C31-4DB0-8D8F-19B883950EE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Rectangle 2">
            <a:extLst>
              <a:ext uri="{FF2B5EF4-FFF2-40B4-BE49-F238E27FC236}">
                <a16:creationId xmlns:a16="http://schemas.microsoft.com/office/drawing/2014/main" id="{ED66B7F0-90DD-44FF-A1D9-3C9441ED04E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Rectangle 3">
            <a:extLst>
              <a:ext uri="{FF2B5EF4-FFF2-40B4-BE49-F238E27FC236}">
                <a16:creationId xmlns:a16="http://schemas.microsoft.com/office/drawing/2014/main" id="{F9FC8E81-8732-40D8-9BC9-4B6D9388AD5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BFF016C-D784-4E44-8497-AD98A1BE9998}"/>
              </a:ext>
            </a:extLst>
          </p:cNvPr>
          <p:cNvPicPr>
            <a:picLocks noChangeAspect="1"/>
          </p:cNvPicPr>
          <p:nvPr/>
        </p:nvPicPr>
        <p:blipFill>
          <a:blip r:embed="rId3"/>
          <a:stretch/>
        </p:blipFill>
        <p:spPr>
          <a:xfrm>
            <a:off x="1842458" y="1666875"/>
            <a:ext cx="2649208" cy="4191000"/>
          </a:xfrm>
          <a:prstGeom prst="rect">
            <a:avLst/>
          </a:prstGeom>
        </p:spPr>
      </p:pic>
      <p:pic>
        <p:nvPicPr>
          <p:cNvPr id="6" name="Picture 5">
            <a:extLst>
              <a:ext uri="{FF2B5EF4-FFF2-40B4-BE49-F238E27FC236}">
                <a16:creationId xmlns:a16="http://schemas.microsoft.com/office/drawing/2014/main" id="{A0642EA3-254C-431B-8CC9-F0DD4856D556}"/>
              </a:ext>
            </a:extLst>
          </p:cNvPr>
          <p:cNvPicPr>
            <a:picLocks noChangeAspect="1"/>
          </p:cNvPicPr>
          <p:nvPr/>
        </p:nvPicPr>
        <p:blipFill>
          <a:blip r:embed="rId4"/>
          <a:stretch/>
        </p:blipFill>
        <p:spPr>
          <a:xfrm>
            <a:off x="7845171" y="1666875"/>
            <a:ext cx="2359533" cy="4191000"/>
          </a:xfrm>
          <a:prstGeom prst="rect">
            <a:avLst/>
          </a:prstGeom>
        </p:spPr>
      </p:pic>
      <p:sp>
        <p:nvSpPr>
          <p:cNvPr id="7" name="Rectangle 6">
            <a:extLst>
              <a:ext uri="{FF2B5EF4-FFF2-40B4-BE49-F238E27FC236}">
                <a16:creationId xmlns:a16="http://schemas.microsoft.com/office/drawing/2014/main" id="{AE063FE7-98A3-463A-9CDE-E2F03EEFDD67}"/>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Rectangle 7">
            <a:extLst>
              <a:ext uri="{FF2B5EF4-FFF2-40B4-BE49-F238E27FC236}">
                <a16:creationId xmlns:a16="http://schemas.microsoft.com/office/drawing/2014/main" id="{F265790F-29CE-4626-896A-45AFA71D3AE3}"/>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14830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B438D30-0005-4D1A-9739-EA196C0603CD}"/>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Rectangle 1">
            <a:extLst>
              <a:ext uri="{FF2B5EF4-FFF2-40B4-BE49-F238E27FC236}">
                <a16:creationId xmlns:a16="http://schemas.microsoft.com/office/drawing/2014/main" id="{F08E4583-46F2-44C0-A529-ED27B256241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Rectangle 2">
            <a:extLst>
              <a:ext uri="{FF2B5EF4-FFF2-40B4-BE49-F238E27FC236}">
                <a16:creationId xmlns:a16="http://schemas.microsoft.com/office/drawing/2014/main" id="{8EAF1B92-3E43-4C20-9D63-E7A610F52F0D}"/>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Rectangle 3">
            <a:extLst>
              <a:ext uri="{FF2B5EF4-FFF2-40B4-BE49-F238E27FC236}">
                <a16:creationId xmlns:a16="http://schemas.microsoft.com/office/drawing/2014/main" id="{0CC5E3A2-7527-400F-83CB-957507C6EFB5}"/>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98918095-34F3-405A-A785-D8530B8E73B0}"/>
              </a:ext>
            </a:extLst>
          </p:cNvPr>
          <p:cNvPicPr>
            <a:picLocks noChangeAspect="1"/>
          </p:cNvPicPr>
          <p:nvPr/>
        </p:nvPicPr>
        <p:blipFill>
          <a:blip r:embed="rId3"/>
          <a:stretch/>
        </p:blipFill>
        <p:spPr>
          <a:xfrm>
            <a:off x="3394932" y="1666875"/>
            <a:ext cx="5402135" cy="4000500"/>
          </a:xfrm>
          <a:prstGeom prst="rect">
            <a:avLst/>
          </a:prstGeom>
        </p:spPr>
      </p:pic>
      <p:sp>
        <p:nvSpPr>
          <p:cNvPr id="6" name="Rectangle 5">
            <a:extLst>
              <a:ext uri="{FF2B5EF4-FFF2-40B4-BE49-F238E27FC236}">
                <a16:creationId xmlns:a16="http://schemas.microsoft.com/office/drawing/2014/main" id="{786EBE3E-A118-4FFB-BE2F-51D1B7211F1D}"/>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1053333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F2D24D-3F3A-4D29-B5A0-F0B1C51D4F0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Rectangle 1">
            <a:extLst>
              <a:ext uri="{FF2B5EF4-FFF2-40B4-BE49-F238E27FC236}">
                <a16:creationId xmlns:a16="http://schemas.microsoft.com/office/drawing/2014/main" id="{6A7EBCC7-EDCF-4571-BA2B-B49A3581D68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Rectangle 2">
            <a:extLst>
              <a:ext uri="{FF2B5EF4-FFF2-40B4-BE49-F238E27FC236}">
                <a16:creationId xmlns:a16="http://schemas.microsoft.com/office/drawing/2014/main" id="{232779E8-2EFC-4488-9423-D8689E897FE7}"/>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Rectangle 3">
            <a:extLst>
              <a:ext uri="{FF2B5EF4-FFF2-40B4-BE49-F238E27FC236}">
                <a16:creationId xmlns:a16="http://schemas.microsoft.com/office/drawing/2014/main" id="{7DE1FA2A-165D-4497-A818-7DD8B69C112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E0545E9-F82B-4CB5-B732-5F81EB225C84}"/>
              </a:ext>
            </a:extLst>
          </p:cNvPr>
          <p:cNvPicPr>
            <a:picLocks noChangeAspect="1"/>
          </p:cNvPicPr>
          <p:nvPr/>
        </p:nvPicPr>
        <p:blipFill>
          <a:blip r:embed="rId3"/>
          <a:stretch/>
        </p:blipFill>
        <p:spPr>
          <a:xfrm>
            <a:off x="3653127" y="1666875"/>
            <a:ext cx="4885746" cy="4000500"/>
          </a:xfrm>
          <a:prstGeom prst="rect">
            <a:avLst/>
          </a:prstGeom>
        </p:spPr>
      </p:pic>
      <p:sp>
        <p:nvSpPr>
          <p:cNvPr id="6" name="Rectangle 5">
            <a:extLst>
              <a:ext uri="{FF2B5EF4-FFF2-40B4-BE49-F238E27FC236}">
                <a16:creationId xmlns:a16="http://schemas.microsoft.com/office/drawing/2014/main" id="{5180DD96-6FA8-4C6A-87F1-7A4903B8B358}"/>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752923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5DAAD2-27A7-4376-9A7F-4A177022A393}"/>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Rectangle 1">
            <a:extLst>
              <a:ext uri="{FF2B5EF4-FFF2-40B4-BE49-F238E27FC236}">
                <a16:creationId xmlns:a16="http://schemas.microsoft.com/office/drawing/2014/main" id="{43531670-B10D-4B2A-AA18-FEB0DE65C1B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Rectangle 2">
            <a:extLst>
              <a:ext uri="{FF2B5EF4-FFF2-40B4-BE49-F238E27FC236}">
                <a16:creationId xmlns:a16="http://schemas.microsoft.com/office/drawing/2014/main" id="{7FD21C90-9789-432B-ACEC-42D45C4AC5F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Rectangle 3">
            <a:extLst>
              <a:ext uri="{FF2B5EF4-FFF2-40B4-BE49-F238E27FC236}">
                <a16:creationId xmlns:a16="http://schemas.microsoft.com/office/drawing/2014/main" id="{DA12724B-8D92-4AD8-917C-F35777B1F65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19</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AE254A4-98CD-4A67-91ED-DA0B46EA7E71}"/>
              </a:ext>
            </a:extLst>
          </p:cNvPr>
          <p:cNvPicPr>
            <a:picLocks noChangeAspect="1"/>
          </p:cNvPicPr>
          <p:nvPr/>
        </p:nvPicPr>
        <p:blipFill>
          <a:blip r:embed="rId3"/>
          <a:stretch/>
        </p:blipFill>
        <p:spPr>
          <a:xfrm>
            <a:off x="2223662" y="1666875"/>
            <a:ext cx="7744675" cy="4000500"/>
          </a:xfrm>
          <a:prstGeom prst="rect">
            <a:avLst/>
          </a:prstGeom>
        </p:spPr>
      </p:pic>
      <p:sp>
        <p:nvSpPr>
          <p:cNvPr id="6" name="Rectangle 5">
            <a:extLst>
              <a:ext uri="{FF2B5EF4-FFF2-40B4-BE49-F238E27FC236}">
                <a16:creationId xmlns:a16="http://schemas.microsoft.com/office/drawing/2014/main" id="{7866C249-6927-4059-BC1D-416137CE209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173857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DA5E73-0094-4279-9481-E0480116593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Rectangle 1">
            <a:extLst>
              <a:ext uri="{FF2B5EF4-FFF2-40B4-BE49-F238E27FC236}">
                <a16:creationId xmlns:a16="http://schemas.microsoft.com/office/drawing/2014/main" id="{46BFADBD-667B-4814-814A-4888893ABAA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Rectangle 2">
            <a:extLst>
              <a:ext uri="{FF2B5EF4-FFF2-40B4-BE49-F238E27FC236}">
                <a16:creationId xmlns:a16="http://schemas.microsoft.com/office/drawing/2014/main" id="{9A398876-598D-4F61-9785-D714BB5F87B7}"/>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Rectangle 3">
            <a:extLst>
              <a:ext uri="{FF2B5EF4-FFF2-40B4-BE49-F238E27FC236}">
                <a16:creationId xmlns:a16="http://schemas.microsoft.com/office/drawing/2014/main" id="{F0F66898-E44C-4185-8A50-9DFFBADD0BF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20</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82A9F2F-5B6B-4633-A082-9504C25AEFB6}"/>
              </a:ext>
            </a:extLst>
          </p:cNvPr>
          <p:cNvPicPr>
            <a:picLocks noChangeAspect="1"/>
          </p:cNvPicPr>
          <p:nvPr/>
        </p:nvPicPr>
        <p:blipFill>
          <a:blip r:embed="rId3"/>
          <a:stretch/>
        </p:blipFill>
        <p:spPr>
          <a:xfrm>
            <a:off x="2223662" y="1666875"/>
            <a:ext cx="7744675" cy="4000500"/>
          </a:xfrm>
          <a:prstGeom prst="rect">
            <a:avLst/>
          </a:prstGeom>
        </p:spPr>
      </p:pic>
      <p:sp>
        <p:nvSpPr>
          <p:cNvPr id="6" name="Rectangle 5">
            <a:extLst>
              <a:ext uri="{FF2B5EF4-FFF2-40B4-BE49-F238E27FC236}">
                <a16:creationId xmlns:a16="http://schemas.microsoft.com/office/drawing/2014/main" id="{476207C2-6DAE-4E8A-B737-76BC8FD64E86}"/>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815076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DDB5D3C-99E2-4E53-911A-3028F92E9A9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Rectangle 1">
            <a:extLst>
              <a:ext uri="{FF2B5EF4-FFF2-40B4-BE49-F238E27FC236}">
                <a16:creationId xmlns:a16="http://schemas.microsoft.com/office/drawing/2014/main" id="{C05C5140-916E-4920-88B0-179CE853A25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Rectangle 2">
            <a:extLst>
              <a:ext uri="{FF2B5EF4-FFF2-40B4-BE49-F238E27FC236}">
                <a16:creationId xmlns:a16="http://schemas.microsoft.com/office/drawing/2014/main" id="{AE0B2A82-A5C9-4A27-B623-3F8D9B3CEFD6}"/>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Rectangle 3">
            <a:extLst>
              <a:ext uri="{FF2B5EF4-FFF2-40B4-BE49-F238E27FC236}">
                <a16:creationId xmlns:a16="http://schemas.microsoft.com/office/drawing/2014/main" id="{9918F7B3-B2CB-4454-879D-F439A177685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954416F1-8A86-43B3-801D-CE967E8FED3C}"/>
              </a:ext>
            </a:extLst>
          </p:cNvPr>
          <p:cNvPicPr>
            <a:picLocks noChangeAspect="1"/>
          </p:cNvPicPr>
          <p:nvPr/>
        </p:nvPicPr>
        <p:blipFill>
          <a:blip r:embed="rId3"/>
          <a:stretch/>
        </p:blipFill>
        <p:spPr>
          <a:xfrm>
            <a:off x="1947333" y="1666875"/>
            <a:ext cx="8297333" cy="4572000"/>
          </a:xfrm>
          <a:prstGeom prst="rect">
            <a:avLst/>
          </a:prstGeom>
        </p:spPr>
      </p:pic>
    </p:spTree>
    <p:extLst>
      <p:ext uri="{BB962C8B-B14F-4D97-AF65-F5344CB8AC3E}">
        <p14:creationId xmlns:p14="http://schemas.microsoft.com/office/powerpoint/2010/main" val="1668276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F3E1C2-1D6F-44E6-9289-FCD21B4602E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Rectangle 1">
            <a:extLst>
              <a:ext uri="{FF2B5EF4-FFF2-40B4-BE49-F238E27FC236}">
                <a16:creationId xmlns:a16="http://schemas.microsoft.com/office/drawing/2014/main" id="{1720D7C9-E0D2-4ED6-B511-76F3D8CA8CA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Rectangle 2">
            <a:extLst>
              <a:ext uri="{FF2B5EF4-FFF2-40B4-BE49-F238E27FC236}">
                <a16:creationId xmlns:a16="http://schemas.microsoft.com/office/drawing/2014/main" id="{73266E5C-8C4C-443D-817A-BC804D0B9AF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Rectangle 3">
            <a:extLst>
              <a:ext uri="{FF2B5EF4-FFF2-40B4-BE49-F238E27FC236}">
                <a16:creationId xmlns:a16="http://schemas.microsoft.com/office/drawing/2014/main" id="{8B6ACBC2-56CD-4FC2-885B-73CD4F53D964}"/>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22</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3AB39D93-F3A3-430C-A589-9741CF643F2A}"/>
              </a:ext>
            </a:extLst>
          </p:cNvPr>
          <p:cNvPicPr>
            <a:picLocks noChangeAspect="1"/>
          </p:cNvPicPr>
          <p:nvPr/>
        </p:nvPicPr>
        <p:blipFill>
          <a:blip r:embed="rId3"/>
          <a:stretch/>
        </p:blipFill>
        <p:spPr>
          <a:xfrm>
            <a:off x="1663014" y="1666875"/>
            <a:ext cx="8865973" cy="4000500"/>
          </a:xfrm>
          <a:prstGeom prst="rect">
            <a:avLst/>
          </a:prstGeom>
        </p:spPr>
      </p:pic>
      <p:sp>
        <p:nvSpPr>
          <p:cNvPr id="6" name="Rectangle 5">
            <a:extLst>
              <a:ext uri="{FF2B5EF4-FFF2-40B4-BE49-F238E27FC236}">
                <a16:creationId xmlns:a16="http://schemas.microsoft.com/office/drawing/2014/main" id="{5B7B8576-215A-4F83-85E2-1AD281EDD23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153977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5D35E2-8434-4E2F-A76C-46C984F25FB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Rectangle 1">
            <a:extLst>
              <a:ext uri="{FF2B5EF4-FFF2-40B4-BE49-F238E27FC236}">
                <a16:creationId xmlns:a16="http://schemas.microsoft.com/office/drawing/2014/main" id="{02418DB3-735D-4050-A83E-6CAB5C3CCA2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Rectangle 2">
            <a:extLst>
              <a:ext uri="{FF2B5EF4-FFF2-40B4-BE49-F238E27FC236}">
                <a16:creationId xmlns:a16="http://schemas.microsoft.com/office/drawing/2014/main" id="{9AFD3663-D0DD-4A91-AF18-B8410FD317F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Rectangle 3">
            <a:extLst>
              <a:ext uri="{FF2B5EF4-FFF2-40B4-BE49-F238E27FC236}">
                <a16:creationId xmlns:a16="http://schemas.microsoft.com/office/drawing/2014/main" id="{F6BD995F-9E6B-4D49-9C22-CE83CFAE0B2B}"/>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0F1A2EDF-B368-4CAD-9EB7-B65CD09FBCE3}"/>
              </a:ext>
            </a:extLst>
          </p:cNvPr>
          <p:cNvPicPr>
            <a:picLocks noChangeAspect="1"/>
          </p:cNvPicPr>
          <p:nvPr/>
        </p:nvPicPr>
        <p:blipFill>
          <a:blip r:embed="rId3"/>
          <a:stretch/>
        </p:blipFill>
        <p:spPr>
          <a:xfrm>
            <a:off x="804489" y="1666875"/>
            <a:ext cx="4725147" cy="4191000"/>
          </a:xfrm>
          <a:prstGeom prst="rect">
            <a:avLst/>
          </a:prstGeom>
        </p:spPr>
      </p:pic>
      <p:pic>
        <p:nvPicPr>
          <p:cNvPr id="6" name="Picture 5">
            <a:extLst>
              <a:ext uri="{FF2B5EF4-FFF2-40B4-BE49-F238E27FC236}">
                <a16:creationId xmlns:a16="http://schemas.microsoft.com/office/drawing/2014/main" id="{74F16CAB-3714-46B7-BA28-0369443E46CF}"/>
              </a:ext>
            </a:extLst>
          </p:cNvPr>
          <p:cNvPicPr>
            <a:picLocks noChangeAspect="1"/>
          </p:cNvPicPr>
          <p:nvPr/>
        </p:nvPicPr>
        <p:blipFill>
          <a:blip r:embed="rId4"/>
          <a:stretch/>
        </p:blipFill>
        <p:spPr>
          <a:xfrm>
            <a:off x="6581197" y="1666875"/>
            <a:ext cx="4887481" cy="4191000"/>
          </a:xfrm>
          <a:prstGeom prst="rect">
            <a:avLst/>
          </a:prstGeom>
        </p:spPr>
      </p:pic>
      <p:sp>
        <p:nvSpPr>
          <p:cNvPr id="7" name="Rectangle 6">
            <a:extLst>
              <a:ext uri="{FF2B5EF4-FFF2-40B4-BE49-F238E27FC236}">
                <a16:creationId xmlns:a16="http://schemas.microsoft.com/office/drawing/2014/main" id="{35741B3F-2539-49D6-808C-A96753577B0C}"/>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Rectangle 7">
            <a:extLst>
              <a:ext uri="{FF2B5EF4-FFF2-40B4-BE49-F238E27FC236}">
                <a16:creationId xmlns:a16="http://schemas.microsoft.com/office/drawing/2014/main" id="{82CD12A3-3282-4519-B782-2229454940B6}"/>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79379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D3A99CF-15D5-43E6-8795-622972CDF5A4}"/>
              </a:ext>
            </a:extLst>
          </p:cNvPr>
          <p:cNvCxnSpPr>
            <a:stCxn id="6" idx="2"/>
            <a:endCxn id="8" idx="0"/>
          </p:cNvCxnSpPr>
          <p:nvPr/>
        </p:nvCxnSpPr>
        <p:spPr>
          <a:xfrm>
            <a:off x="9334500" y="2857500"/>
            <a:ext cx="0" cy="1190625"/>
          </a:xfrm>
          <a:prstGeom prst="straightConnector1">
            <a:avLst/>
          </a:prstGeom>
          <a:ln w="28575">
            <a:solidFill>
              <a:srgbClr val="00796B"/>
            </a:solidFill>
            <a:tailEnd type="arrow" w="med" len="med"/>
          </a:ln>
        </p:spPr>
      </p:cxnSp>
      <p:cxnSp>
        <p:nvCxnSpPr>
          <p:cNvPr id="10" name="Straight Arrow Connector 9">
            <a:extLst>
              <a:ext uri="{FF2B5EF4-FFF2-40B4-BE49-F238E27FC236}">
                <a16:creationId xmlns:a16="http://schemas.microsoft.com/office/drawing/2014/main" id="{F485FAFF-DCE6-477E-910F-D50260DC5338}"/>
              </a:ext>
            </a:extLst>
          </p:cNvPr>
          <p:cNvCxnSpPr>
            <a:stCxn id="5" idx="2"/>
            <a:endCxn id="7" idx="0"/>
          </p:cNvCxnSpPr>
          <p:nvPr/>
        </p:nvCxnSpPr>
        <p:spPr>
          <a:xfrm>
            <a:off x="2857500" y="2857500"/>
            <a:ext cx="0" cy="1190625"/>
          </a:xfrm>
          <a:prstGeom prst="straightConnector1">
            <a:avLst/>
          </a:prstGeom>
          <a:ln w="28575">
            <a:solidFill>
              <a:srgbClr val="00796B"/>
            </a:solidFill>
            <a:tailEnd type="arrow" w="med" len="med"/>
          </a:ln>
        </p:spPr>
      </p:cxnSp>
      <p:cxnSp>
        <p:nvCxnSpPr>
          <p:cNvPr id="9" name="Straight Arrow Connector 8">
            <a:extLst>
              <a:ext uri="{FF2B5EF4-FFF2-40B4-BE49-F238E27FC236}">
                <a16:creationId xmlns:a16="http://schemas.microsoft.com/office/drawing/2014/main" id="{31F9C4F9-1D61-412F-8524-3EAAC1005784}"/>
              </a:ext>
            </a:extLst>
          </p:cNvPr>
          <p:cNvCxnSpPr>
            <a:stCxn id="5" idx="3"/>
            <a:endCxn id="6" idx="1"/>
          </p:cNvCxnSpPr>
          <p:nvPr/>
        </p:nvCxnSpPr>
        <p:spPr>
          <a:xfrm>
            <a:off x="4857750" y="2428875"/>
            <a:ext cx="2476500" cy="0"/>
          </a:xfrm>
          <a:prstGeom prst="straightConnector1">
            <a:avLst/>
          </a:prstGeom>
          <a:ln w="28575">
            <a:solidFill>
              <a:srgbClr val="00796B"/>
            </a:solidFill>
            <a:headEnd type="arrow" w="med" len="med"/>
            <a:tailEnd type="arrow" w="med" len="med"/>
          </a:ln>
        </p:spPr>
      </p:cxnSp>
      <p:sp>
        <p:nvSpPr>
          <p:cNvPr id="14" name="Rectangle 13">
            <a:extLst>
              <a:ext uri="{FF2B5EF4-FFF2-40B4-BE49-F238E27FC236}">
                <a16:creationId xmlns:a16="http://schemas.microsoft.com/office/drawing/2014/main" id="{C4D334E7-685E-46B4-999A-B93DDA79F45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Rectangle 1">
            <a:extLst>
              <a:ext uri="{FF2B5EF4-FFF2-40B4-BE49-F238E27FC236}">
                <a16:creationId xmlns:a16="http://schemas.microsoft.com/office/drawing/2014/main" id="{7719C092-DE10-43C0-9A3D-8527F922937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Rectangle 2">
            <a:extLst>
              <a:ext uri="{FF2B5EF4-FFF2-40B4-BE49-F238E27FC236}">
                <a16:creationId xmlns:a16="http://schemas.microsoft.com/office/drawing/2014/main" id="{8EC543D5-DDCC-4078-8AD6-42E14DB170C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Rectangle 3">
            <a:extLst>
              <a:ext uri="{FF2B5EF4-FFF2-40B4-BE49-F238E27FC236}">
                <a16:creationId xmlns:a16="http://schemas.microsoft.com/office/drawing/2014/main" id="{FD70F5A1-4BE3-46FA-9CB4-C260EEC8886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24</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6FC23392-4A7D-415F-82BF-D53ED71D95E8}"/>
              </a:ext>
            </a:extLst>
          </p:cNvPr>
          <p:cNvSpPr>
            <a:spLocks noGrp="1"/>
          </p:cNvSpPr>
          <p:nvPr/>
        </p:nvSpPr>
        <p:spPr>
          <a:xfrm>
            <a:off x="857250" y="2000250"/>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Rectangle 5">
            <a:extLst>
              <a:ext uri="{FF2B5EF4-FFF2-40B4-BE49-F238E27FC236}">
                <a16:creationId xmlns:a16="http://schemas.microsoft.com/office/drawing/2014/main" id="{D6098F79-D0E1-4023-A15F-4BAA65AF40F1}"/>
              </a:ext>
            </a:extLst>
          </p:cNvPr>
          <p:cNvSpPr>
            <a:spLocks noGrp="1"/>
          </p:cNvSpPr>
          <p:nvPr/>
        </p:nvSpPr>
        <p:spPr>
          <a:xfrm>
            <a:off x="7334250" y="2000250"/>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Rectangle 6">
            <a:extLst>
              <a:ext uri="{FF2B5EF4-FFF2-40B4-BE49-F238E27FC236}">
                <a16:creationId xmlns:a16="http://schemas.microsoft.com/office/drawing/2014/main" id="{0D95E0FA-8DF7-44FC-9440-4715BEB0D0B3}"/>
              </a:ext>
            </a:extLst>
          </p:cNvPr>
          <p:cNvSpPr>
            <a:spLocks noGrp="1"/>
          </p:cNvSpPr>
          <p:nvPr/>
        </p:nvSpPr>
        <p:spPr>
          <a:xfrm>
            <a:off x="857250" y="4048125"/>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Rectangle 7">
            <a:extLst>
              <a:ext uri="{FF2B5EF4-FFF2-40B4-BE49-F238E27FC236}">
                <a16:creationId xmlns:a16="http://schemas.microsoft.com/office/drawing/2014/main" id="{0ACDE071-9CDF-4AA2-8E0A-03261FEFA7F6}"/>
              </a:ext>
            </a:extLst>
          </p:cNvPr>
          <p:cNvSpPr>
            <a:spLocks noGrp="1"/>
          </p:cNvSpPr>
          <p:nvPr/>
        </p:nvSpPr>
        <p:spPr>
          <a:xfrm>
            <a:off x="7334250" y="4048125"/>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Rectangle 11">
            <a:extLst>
              <a:ext uri="{FF2B5EF4-FFF2-40B4-BE49-F238E27FC236}">
                <a16:creationId xmlns:a16="http://schemas.microsoft.com/office/drawing/2014/main" id="{841123E6-8AC6-45D1-BE7F-9B1AB7011FD4}"/>
              </a:ext>
            </a:extLst>
          </p:cNvPr>
          <p:cNvSpPr>
            <a:spLocks noGrp="1"/>
          </p:cNvSpPr>
          <p:nvPr/>
        </p:nvSpPr>
        <p:spPr>
          <a:xfrm>
            <a:off x="4476750" y="3095625"/>
            <a:ext cx="3333750" cy="42862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Rectangle 12">
            <a:extLst>
              <a:ext uri="{FF2B5EF4-FFF2-40B4-BE49-F238E27FC236}">
                <a16:creationId xmlns:a16="http://schemas.microsoft.com/office/drawing/2014/main" id="{AFC7A67D-71DD-4761-A5D6-41E83118ADB3}"/>
              </a:ext>
            </a:extLst>
          </p:cNvPr>
          <p:cNvSpPr>
            <a:spLocks noGrp="1"/>
          </p:cNvSpPr>
          <p:nvPr/>
        </p:nvSpPr>
        <p:spPr>
          <a:xfrm>
            <a:off x="762000" y="5619750"/>
            <a:ext cx="10668000" cy="476250"/>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678806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138A57-A1A1-4E90-9167-8CC358DCB00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Rectangle 1">
            <a:extLst>
              <a:ext uri="{FF2B5EF4-FFF2-40B4-BE49-F238E27FC236}">
                <a16:creationId xmlns:a16="http://schemas.microsoft.com/office/drawing/2014/main" id="{661F6588-7DD7-47F9-85E9-AB59F6984EF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Rectangle 2">
            <a:extLst>
              <a:ext uri="{FF2B5EF4-FFF2-40B4-BE49-F238E27FC236}">
                <a16:creationId xmlns:a16="http://schemas.microsoft.com/office/drawing/2014/main" id="{6CC8769B-BD93-4E72-A44C-62BC25BB51A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Rectangle 3">
            <a:extLst>
              <a:ext uri="{FF2B5EF4-FFF2-40B4-BE49-F238E27FC236}">
                <a16:creationId xmlns:a16="http://schemas.microsoft.com/office/drawing/2014/main" id="{32398D4F-C236-48E0-9BB2-45C1FFD827D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3EA5044C-E30D-4E1F-81C6-56EC91693C0E}"/>
              </a:ext>
            </a:extLst>
          </p:cNvPr>
          <p:cNvPicPr>
            <a:picLocks noChangeAspect="1"/>
          </p:cNvPicPr>
          <p:nvPr/>
        </p:nvPicPr>
        <p:blipFill>
          <a:blip r:embed="rId3"/>
          <a:stretch/>
        </p:blipFill>
        <p:spPr>
          <a:xfrm>
            <a:off x="1770063" y="1666875"/>
            <a:ext cx="2794000" cy="4191000"/>
          </a:xfrm>
          <a:prstGeom prst="rect">
            <a:avLst/>
          </a:prstGeom>
        </p:spPr>
      </p:pic>
      <p:pic>
        <p:nvPicPr>
          <p:cNvPr id="6" name="Picture 5">
            <a:extLst>
              <a:ext uri="{FF2B5EF4-FFF2-40B4-BE49-F238E27FC236}">
                <a16:creationId xmlns:a16="http://schemas.microsoft.com/office/drawing/2014/main" id="{94C4590B-BB18-47F5-AF94-1462451310D3}"/>
              </a:ext>
            </a:extLst>
          </p:cNvPr>
          <p:cNvPicPr>
            <a:picLocks noChangeAspect="1"/>
          </p:cNvPicPr>
          <p:nvPr/>
        </p:nvPicPr>
        <p:blipFill>
          <a:blip r:embed="rId4"/>
          <a:stretch/>
        </p:blipFill>
        <p:spPr>
          <a:xfrm>
            <a:off x="6238875" y="1874518"/>
            <a:ext cx="5572125" cy="3775714"/>
          </a:xfrm>
          <a:prstGeom prst="rect">
            <a:avLst/>
          </a:prstGeom>
        </p:spPr>
      </p:pic>
      <p:sp>
        <p:nvSpPr>
          <p:cNvPr id="7" name="Rectangle 6">
            <a:extLst>
              <a:ext uri="{FF2B5EF4-FFF2-40B4-BE49-F238E27FC236}">
                <a16:creationId xmlns:a16="http://schemas.microsoft.com/office/drawing/2014/main" id="{5EC6FCB0-138E-410D-AD84-104160D26F51}"/>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Rectangle 7">
            <a:extLst>
              <a:ext uri="{FF2B5EF4-FFF2-40B4-BE49-F238E27FC236}">
                <a16:creationId xmlns:a16="http://schemas.microsoft.com/office/drawing/2014/main" id="{1323682A-C2D6-4152-AF4C-0EF8083DA547}"/>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657149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22EBDF-5B8C-49B0-8D92-79722F8174A2}"/>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Rectangle 1">
            <a:extLst>
              <a:ext uri="{FF2B5EF4-FFF2-40B4-BE49-F238E27FC236}">
                <a16:creationId xmlns:a16="http://schemas.microsoft.com/office/drawing/2014/main" id="{D3413E06-23FE-421D-8267-0094C8D8D28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Rectangle 2">
            <a:extLst>
              <a:ext uri="{FF2B5EF4-FFF2-40B4-BE49-F238E27FC236}">
                <a16:creationId xmlns:a16="http://schemas.microsoft.com/office/drawing/2014/main" id="{B9703B38-4452-4F46-BF4B-5727374878B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Rectangle 3">
            <a:extLst>
              <a:ext uri="{FF2B5EF4-FFF2-40B4-BE49-F238E27FC236}">
                <a16:creationId xmlns:a16="http://schemas.microsoft.com/office/drawing/2014/main" id="{FEA3B3BD-0590-4114-B0D5-CE33CC088F7C}"/>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76A7B61-6475-4ABB-B96C-E3B0E47D4D7B}"/>
              </a:ext>
            </a:extLst>
          </p:cNvPr>
          <p:cNvPicPr>
            <a:picLocks noChangeAspect="1"/>
          </p:cNvPicPr>
          <p:nvPr/>
        </p:nvPicPr>
        <p:blipFill>
          <a:blip r:embed="rId3"/>
          <a:stretch/>
        </p:blipFill>
        <p:spPr>
          <a:xfrm>
            <a:off x="3377890" y="1666875"/>
            <a:ext cx="5436220" cy="4000500"/>
          </a:xfrm>
          <a:prstGeom prst="rect">
            <a:avLst/>
          </a:prstGeom>
        </p:spPr>
      </p:pic>
      <p:sp>
        <p:nvSpPr>
          <p:cNvPr id="6" name="Rectangle 5">
            <a:extLst>
              <a:ext uri="{FF2B5EF4-FFF2-40B4-BE49-F238E27FC236}">
                <a16:creationId xmlns:a16="http://schemas.microsoft.com/office/drawing/2014/main" id="{1BEB8C10-680A-4992-A523-4ADAA31CF80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1462082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67872BC-3B85-4F32-88D5-89F510B4C07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Rectangle 1">
            <a:extLst>
              <a:ext uri="{FF2B5EF4-FFF2-40B4-BE49-F238E27FC236}">
                <a16:creationId xmlns:a16="http://schemas.microsoft.com/office/drawing/2014/main" id="{216DA6F6-4655-4C15-AC32-1BFCC171200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Rectangle 2">
            <a:extLst>
              <a:ext uri="{FF2B5EF4-FFF2-40B4-BE49-F238E27FC236}">
                <a16:creationId xmlns:a16="http://schemas.microsoft.com/office/drawing/2014/main" id="{172CE28C-EB7F-420F-A0F7-3C983C8F059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Rectangle 3">
            <a:extLst>
              <a:ext uri="{FF2B5EF4-FFF2-40B4-BE49-F238E27FC236}">
                <a16:creationId xmlns:a16="http://schemas.microsoft.com/office/drawing/2014/main" id="{C1A76A9C-F2B5-4B6C-8893-FCE3AA7F8C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CC2E358A-D5DC-4880-85AD-CBEE5B29567F}"/>
              </a:ext>
            </a:extLst>
          </p:cNvPr>
          <p:cNvPicPr>
            <a:picLocks noChangeAspect="1"/>
          </p:cNvPicPr>
          <p:nvPr/>
        </p:nvPicPr>
        <p:blipFill>
          <a:blip r:embed="rId3"/>
          <a:stretch/>
        </p:blipFill>
        <p:spPr>
          <a:xfrm>
            <a:off x="3524250" y="1666875"/>
            <a:ext cx="5143500" cy="4000500"/>
          </a:xfrm>
          <a:prstGeom prst="rect">
            <a:avLst/>
          </a:prstGeom>
        </p:spPr>
      </p:pic>
      <p:sp>
        <p:nvSpPr>
          <p:cNvPr id="6" name="Rectangle 5">
            <a:extLst>
              <a:ext uri="{FF2B5EF4-FFF2-40B4-BE49-F238E27FC236}">
                <a16:creationId xmlns:a16="http://schemas.microsoft.com/office/drawing/2014/main" id="{0D8F9935-4681-40A7-BE55-A04529DB228F}"/>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756157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299860-88A7-4C2E-B004-E1573EBDF7A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Rectangle 1">
            <a:extLst>
              <a:ext uri="{FF2B5EF4-FFF2-40B4-BE49-F238E27FC236}">
                <a16:creationId xmlns:a16="http://schemas.microsoft.com/office/drawing/2014/main" id="{3E818C01-E43D-46A5-9E7D-56275115997D}"/>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Rectangle 2">
            <a:extLst>
              <a:ext uri="{FF2B5EF4-FFF2-40B4-BE49-F238E27FC236}">
                <a16:creationId xmlns:a16="http://schemas.microsoft.com/office/drawing/2014/main" id="{78368B28-204F-4F1F-BD9B-96269482E13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Rectangle 3">
            <a:extLst>
              <a:ext uri="{FF2B5EF4-FFF2-40B4-BE49-F238E27FC236}">
                <a16:creationId xmlns:a16="http://schemas.microsoft.com/office/drawing/2014/main" id="{CB36474E-A680-4A08-8FA7-F110381D10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28</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5F62E58F-66AF-4423-B054-C41125BBD2AE}"/>
              </a:ext>
            </a:extLst>
          </p:cNvPr>
          <p:cNvGraphicFramePr/>
          <p:nvPr/>
        </p:nvGraphicFramePr>
        <p:xfrm>
          <a:off x="476250" y="1857375"/>
          <a:ext cx="11239500" cy="3238500"/>
        </p:xfrm>
        <a:graphic>
          <a:graphicData uri="http://schemas.openxmlformats.org/drawingml/2006/table">
            <a:tbl>
              <a:tblPr/>
              <a:tblGrid>
                <a:gridCol w="56197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809625">
                <a:tc>
                  <a:txBody>
                    <a:bodyPr/>
                    <a:lstStyle/>
                    <a:p>
                      <a:r>
                        <a:rPr sz="1875" b="1">
                          <a:solidFill>
                            <a:srgbClr val="00796B"/>
                          </a:solidFill>
                          <a:latin typeface="Calibri"/>
                          <a:ea typeface="Calibri"/>
                          <a:cs typeface="Calibri"/>
                        </a:rPr>
                        <a:t>Verification level</a:t>
                      </a:r>
                    </a:p>
                  </a:txBody>
                  <a:tcPr>
                    <a:solidFill>
                      <a:srgbClr val="FFFFFF"/>
                    </a:solidFill>
                  </a:tcPr>
                </a:tc>
                <a:tc>
                  <a:txBody>
                    <a:bodyPr/>
                    <a:lstStyle/>
                    <a:p>
                      <a:r>
                        <a:rPr sz="1875" b="1">
                          <a:solidFill>
                            <a:srgbClr val="00796B"/>
                          </a:solidFill>
                          <a:latin typeface="Calibri"/>
                          <a:ea typeface="Calibri"/>
                          <a:cs typeface="Calibri"/>
                        </a:rPr>
                        <a:t>Observed result</a:t>
                      </a:r>
                    </a:p>
                  </a:txBody>
                  <a:tcPr>
                    <a:solidFill>
                      <a:srgbClr val="FFFFFF"/>
                    </a:solidFill>
                  </a:tcPr>
                </a:tc>
                <a:extLst>
                  <a:ext uri="{0D108BD9-81ED-4DB2-BD59-A6C34878D82A}">
                    <a16:rowId xmlns:a16="http://schemas.microsoft.com/office/drawing/2014/main" val="10000"/>
                  </a:ext>
                </a:extLst>
              </a:tr>
              <a:tr h="809625">
                <a:tc>
                  <a:txBody>
                    <a:bodyPr/>
                    <a:lstStyle/>
                    <a:p>
                      <a:r>
                        <a:rPr sz="1875" b="0">
                          <a:solidFill>
                            <a:srgbClr val="222222"/>
                          </a:solidFill>
                          <a:latin typeface="Calibri"/>
                          <a:ea typeface="Calibri"/>
                          <a:cs typeface="Calibri"/>
                        </a:rPr>
                        <a:t>Sensor and command exchange</a:t>
                      </a:r>
                    </a:p>
                  </a:txBody>
                  <a:tcPr>
                    <a:solidFill>
                      <a:srgbClr val="FFFFFF"/>
                    </a:solidFill>
                  </a:tcPr>
                </a:tc>
                <a:tc>
                  <a:txBody>
                    <a:bodyPr/>
                    <a:lstStyle/>
                    <a:p>
                      <a:r>
                        <a:rPr sz="1875" b="0">
                          <a:solidFill>
                            <a:srgbClr val="222222"/>
                          </a:solidFill>
                          <a:latin typeface="Calibri"/>
                          <a:ea typeface="Calibri"/>
                          <a:cs typeface="Calibri"/>
                        </a:rPr>
                        <a:t>Bit-exact scored readback</a:t>
                      </a:r>
                    </a:p>
                  </a:txBody>
                  <a:tcPr>
                    <a:solidFill>
                      <a:srgbClr val="FFFFFF"/>
                    </a:solidFill>
                  </a:tcPr>
                </a:tc>
                <a:extLst>
                  <a:ext uri="{0D108BD9-81ED-4DB2-BD59-A6C34878D82A}">
                    <a16:rowId xmlns:a16="http://schemas.microsoft.com/office/drawing/2014/main" val="10001"/>
                  </a:ext>
                </a:extLst>
              </a:tr>
              <a:tr h="809625">
                <a:tc>
                  <a:txBody>
                    <a:bodyPr/>
                    <a:lstStyle/>
                    <a:p>
                      <a:r>
                        <a:rPr sz="1875" b="0">
                          <a:solidFill>
                            <a:srgbClr val="222222"/>
                          </a:solidFill>
                          <a:latin typeface="Calibri"/>
                          <a:ea typeface="Calibri"/>
                          <a:cs typeface="Calibri"/>
                        </a:rPr>
                        <a:t>92-actuator closed-loop run</a:t>
                      </a:r>
                    </a:p>
                  </a:txBody>
                  <a:tcPr>
                    <a:solidFill>
                      <a:srgbClr val="FFFFFF"/>
                    </a:solidFill>
                  </a:tcPr>
                </a:tc>
                <a:tc>
                  <a:txBody>
                    <a:bodyPr/>
                    <a:lstStyle/>
                    <a:p>
                      <a:r>
                        <a:rPr sz="1875" b="0">
                          <a:solidFill>
                            <a:srgbClr val="222222"/>
                          </a:solidFill>
                          <a:latin typeface="Calibri"/>
                          <a:ea typeface="Calibri"/>
                          <a:cs typeface="Calibri"/>
                        </a:rPr>
                        <a:t>Signals exchanged for 5 seconds</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22222"/>
                          </a:solidFill>
                          <a:latin typeface="Calibri"/>
                          <a:ea typeface="Calibri"/>
                          <a:cs typeface="Calibri"/>
                        </a:rPr>
                        <a:t>Full network under tonic drive</a:t>
                      </a:r>
                    </a:p>
                  </a:txBody>
                  <a:tcPr>
                    <a:solidFill>
                      <a:srgbClr val="FFFFFF"/>
                    </a:solidFill>
                  </a:tcPr>
                </a:tc>
                <a:tc>
                  <a:txBody>
                    <a:bodyPr/>
                    <a:lstStyle/>
                    <a:p>
                      <a:r>
                        <a:rPr sz="1875" b="0">
                          <a:solidFill>
                            <a:srgbClr val="222222"/>
                          </a:solidFill>
                          <a:latin typeface="Calibri"/>
                          <a:ea typeface="Calibri"/>
                          <a:cs typeface="Calibri"/>
                        </a:rPr>
                        <a:t>Simulink settles; NumPy oscillates</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3A0CCB8-6667-432A-A51D-CE6067573610}"/>
              </a:ext>
            </a:extLst>
          </p:cNvPr>
          <p:cNvSpPr>
            <a:spLocks noGrp="1"/>
          </p:cNvSpPr>
          <p:nvPr/>
        </p:nvSpPr>
        <p:spPr>
          <a:xfrm>
            <a:off x="523875" y="5619750"/>
            <a:ext cx="11144250" cy="523875"/>
          </a:xfrm>
          <a:prstGeom prst="rect">
            <a:avLst/>
          </a:prstGeom>
          <a:noFill/>
          <a:ln w="0">
            <a:noFill/>
          </a:ln>
        </p:spPr>
        <p:txBody>
          <a:bodyPr lIns="0" tIns="0" rIns="0" bIns="0"/>
          <a:lstStyle>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636192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8F9294-A813-4FA8-A676-9FB506BBE7E3}"/>
              </a:ext>
            </a:extLst>
          </p:cNvPr>
          <p:cNvSpPr>
            <a:spLocks noGrp="1"/>
          </p:cNvSpPr>
          <p:nvPr/>
        </p:nvSpPr>
        <p:spPr>
          <a:xfrm>
            <a:off x="304800" y="190500"/>
            <a:ext cx="11582400" cy="266700"/>
          </a:xfrm>
          <a:prstGeom prst="rect">
            <a:avLst/>
          </a:prstGeom>
          <a:noFill/>
          <a:ln w="0">
            <a:noFill/>
          </a:ln>
        </p:spPr>
        <p:txBody>
          <a:bodyPr/>
          <a:lstStyle>
            <a:defPPr>
              <a:defRPr sz="1350" b="1">
                <a:solidFill>
                  <a:srgbClr val="008579"/>
                </a:solidFill>
                <a:latin typeface="Calibri"/>
                <a:ea typeface="Calibri"/>
                <a:cs typeface="Calibri"/>
              </a:defRPr>
            </a:defPPr>
            <a:lvl1pPr>
              <a:defRPr sz="1350" b="1">
                <a:solidFill>
                  <a:srgbClr val="008579"/>
                </a:solidFill>
                <a:latin typeface="Calibri"/>
                <a:ea typeface="Calibri"/>
                <a:cs typeface="Calibri"/>
              </a:defRPr>
            </a:lvl1pPr>
            <a:lvl2pPr>
              <a:defRPr sz="1350" b="1">
                <a:solidFill>
                  <a:srgbClr val="008579"/>
                </a:solidFill>
                <a:latin typeface="Calibri"/>
                <a:ea typeface="Calibri"/>
                <a:cs typeface="Calibri"/>
              </a:defRPr>
            </a:lvl2pPr>
            <a:lvl3pPr>
              <a:defRPr sz="1350" b="1">
                <a:solidFill>
                  <a:srgbClr val="008579"/>
                </a:solidFill>
                <a:latin typeface="Calibri"/>
                <a:ea typeface="Calibri"/>
                <a:cs typeface="Calibri"/>
              </a:defRPr>
            </a:lvl3pPr>
            <a:lvl4pPr>
              <a:defRPr sz="1350" b="1">
                <a:solidFill>
                  <a:srgbClr val="008579"/>
                </a:solidFill>
                <a:latin typeface="Calibri"/>
                <a:ea typeface="Calibri"/>
                <a:cs typeface="Calibri"/>
              </a:defRPr>
            </a:lvl4pPr>
            <a:lvl5pPr>
              <a:defRPr sz="1350" b="1">
                <a:solidFill>
                  <a:srgbClr val="008579"/>
                </a:solidFill>
                <a:latin typeface="Calibri"/>
                <a:ea typeface="Calibri"/>
                <a:cs typeface="Calibri"/>
              </a:defRPr>
            </a:lvl5pPr>
            <a:lvl6pPr>
              <a:defRPr sz="1350" b="1">
                <a:solidFill>
                  <a:srgbClr val="008579"/>
                </a:solidFill>
                <a:latin typeface="Calibri"/>
                <a:ea typeface="Calibri"/>
                <a:cs typeface="Calibri"/>
              </a:defRPr>
            </a:lvl6pPr>
            <a:lvl7pPr>
              <a:defRPr sz="1350" b="1">
                <a:solidFill>
                  <a:srgbClr val="008579"/>
                </a:solidFill>
                <a:latin typeface="Calibri"/>
                <a:ea typeface="Calibri"/>
                <a:cs typeface="Calibri"/>
              </a:defRPr>
            </a:lvl7pPr>
            <a:lvl8pPr>
              <a:defRPr sz="1350" b="1">
                <a:solidFill>
                  <a:srgbClr val="008579"/>
                </a:solidFill>
                <a:latin typeface="Calibri"/>
                <a:ea typeface="Calibri"/>
                <a:cs typeface="Calibri"/>
              </a:defRPr>
            </a:lvl8pPr>
            <a:lvl9pPr>
              <a:defRPr sz="1350" b="1">
                <a:solidFill>
                  <a:srgbClr val="008579"/>
                </a:solidFill>
                <a:latin typeface="Calibri"/>
                <a:ea typeface="Calibri"/>
                <a:cs typeface="Calibri"/>
              </a:defRPr>
            </a:lvl9pPr>
          </a:lstStyle>
          <a:p>
            <a:pPr>
              <a:defRPr sz="1350" b="1">
                <a:solidFill>
                  <a:srgbClr val="008579"/>
                </a:solidFill>
                <a:latin typeface="Calibri"/>
                <a:ea typeface="Calibri"/>
                <a:cs typeface="Calibri"/>
              </a:defRPr>
            </a:pPr>
            <a:r>
              <a:rPr sz="1350" b="1">
                <a:solidFill>
                  <a:srgbClr val="008579"/>
                </a:solidFill>
                <a:latin typeface="Calibri"/>
                <a:ea typeface="Calibri"/>
                <a:cs typeface="Calibri"/>
              </a:rPr>
              <a:t>CAD-DERIVED MODEL: SUPPORTED CONTROL</a:t>
            </a:r>
          </a:p>
        </p:txBody>
      </p:sp>
      <p:sp>
        <p:nvSpPr>
          <p:cNvPr id="2" name="Rectangle 1">
            <a:extLst>
              <a:ext uri="{FF2B5EF4-FFF2-40B4-BE49-F238E27FC236}">
                <a16:creationId xmlns:a16="http://schemas.microsoft.com/office/drawing/2014/main" id="{BDE67C15-2558-423D-812B-C7A20867845A}"/>
              </a:ext>
            </a:extLst>
          </p:cNvPr>
          <p:cNvSpPr>
            <a:spLocks noGrp="1"/>
          </p:cNvSpPr>
          <p:nvPr/>
        </p:nvSpPr>
        <p:spPr>
          <a:xfrm>
            <a:off x="304800" y="552450"/>
            <a:ext cx="11582400" cy="914400"/>
          </a:xfrm>
          <a:prstGeom prst="rect">
            <a:avLst/>
          </a:prstGeom>
          <a:noFill/>
          <a:ln w="0">
            <a:noFill/>
          </a:ln>
        </p:spPr>
        <p:txBody>
          <a:bodyPr/>
          <a:lstStyle>
            <a:defPPr>
              <a:defRPr sz="3150" b="1">
                <a:solidFill>
                  <a:srgbClr val="B47C50"/>
                </a:solidFill>
                <a:latin typeface="Calibri"/>
                <a:ea typeface="Calibri"/>
                <a:cs typeface="Calibri"/>
              </a:defRPr>
            </a:defPPr>
            <a:lvl1pPr>
              <a:defRPr sz="3150" b="1">
                <a:solidFill>
                  <a:srgbClr val="B47C50"/>
                </a:solidFill>
                <a:latin typeface="Calibri"/>
                <a:ea typeface="Calibri"/>
                <a:cs typeface="Calibri"/>
              </a:defRPr>
            </a:lvl1pPr>
            <a:lvl2pPr>
              <a:defRPr sz="3150" b="1">
                <a:solidFill>
                  <a:srgbClr val="B47C50"/>
                </a:solidFill>
                <a:latin typeface="Calibri"/>
                <a:ea typeface="Calibri"/>
                <a:cs typeface="Calibri"/>
              </a:defRPr>
            </a:lvl2pPr>
            <a:lvl3pPr>
              <a:defRPr sz="3150" b="1">
                <a:solidFill>
                  <a:srgbClr val="B47C50"/>
                </a:solidFill>
                <a:latin typeface="Calibri"/>
                <a:ea typeface="Calibri"/>
                <a:cs typeface="Calibri"/>
              </a:defRPr>
            </a:lvl3pPr>
            <a:lvl4pPr>
              <a:defRPr sz="3150" b="1">
                <a:solidFill>
                  <a:srgbClr val="B47C50"/>
                </a:solidFill>
                <a:latin typeface="Calibri"/>
                <a:ea typeface="Calibri"/>
                <a:cs typeface="Calibri"/>
              </a:defRPr>
            </a:lvl4pPr>
            <a:lvl5pPr>
              <a:defRPr sz="3150" b="1">
                <a:solidFill>
                  <a:srgbClr val="B47C50"/>
                </a:solidFill>
                <a:latin typeface="Calibri"/>
                <a:ea typeface="Calibri"/>
                <a:cs typeface="Calibri"/>
              </a:defRPr>
            </a:lvl5pPr>
            <a:lvl6pPr>
              <a:defRPr sz="3150" b="1">
                <a:solidFill>
                  <a:srgbClr val="B47C50"/>
                </a:solidFill>
                <a:latin typeface="Calibri"/>
                <a:ea typeface="Calibri"/>
                <a:cs typeface="Calibri"/>
              </a:defRPr>
            </a:lvl6pPr>
            <a:lvl7pPr>
              <a:defRPr sz="3150" b="1">
                <a:solidFill>
                  <a:srgbClr val="B47C50"/>
                </a:solidFill>
                <a:latin typeface="Calibri"/>
                <a:ea typeface="Calibri"/>
                <a:cs typeface="Calibri"/>
              </a:defRPr>
            </a:lvl7pPr>
            <a:lvl8pPr>
              <a:defRPr sz="3150" b="1">
                <a:solidFill>
                  <a:srgbClr val="B47C50"/>
                </a:solidFill>
                <a:latin typeface="Calibri"/>
                <a:ea typeface="Calibri"/>
                <a:cs typeface="Calibri"/>
              </a:defRPr>
            </a:lvl8pPr>
            <a:lvl9pPr>
              <a:defRPr sz="3150" b="1">
                <a:solidFill>
                  <a:srgbClr val="B47C50"/>
                </a:solidFill>
                <a:latin typeface="Calibri"/>
                <a:ea typeface="Calibri"/>
                <a:cs typeface="Calibri"/>
              </a:defRPr>
            </a:lvl9pPr>
          </a:lstStyle>
          <a:p>
            <a:pPr>
              <a:defRPr sz="3150" b="1">
                <a:solidFill>
                  <a:srgbClr val="B47C50"/>
                </a:solidFill>
                <a:latin typeface="Calibri"/>
                <a:ea typeface="Calibri"/>
                <a:cs typeface="Calibri"/>
              </a:defRPr>
            </a:pPr>
            <a:r>
              <a:rPr sz="3150" b="1">
                <a:solidFill>
                  <a:srgbClr val="B47C50"/>
                </a:solidFill>
                <a:latin typeface="Calibri"/>
                <a:ea typeface="Calibri"/>
                <a:cs typeface="Calibri"/>
              </a:rPr>
              <a:t>Abductor-enhanced control keeps the supported legs separated</a:t>
            </a:r>
          </a:p>
        </p:txBody>
      </p:sp>
      <p:sp>
        <p:nvSpPr>
          <p:cNvPr id="3" name="Rectangle 2">
            <a:extLst>
              <a:ext uri="{FF2B5EF4-FFF2-40B4-BE49-F238E27FC236}">
                <a16:creationId xmlns:a16="http://schemas.microsoft.com/office/drawing/2014/main" id="{BE13A861-D397-4D50-8C11-2E6742043B35}"/>
              </a:ext>
            </a:extLst>
          </p:cNvPr>
          <p:cNvSpPr>
            <a:spLocks noGrp="1"/>
          </p:cNvSpPr>
          <p:nvPr/>
        </p:nvSpPr>
        <p:spPr>
          <a:xfrm>
            <a:off x="11696700" y="6543675"/>
            <a:ext cx="266700" cy="228600"/>
          </a:xfrm>
          <a:prstGeom prst="rect">
            <a:avLst/>
          </a:prstGeom>
          <a:noFill/>
          <a:ln w="0">
            <a:noFill/>
          </a:ln>
        </p:spPr>
        <p:txBody>
          <a:bodyPr/>
          <a:lstStyle>
            <a:defPPr>
              <a:defRPr sz="1350" b="0">
                <a:solidFill>
                  <a:srgbClr val="666666"/>
                </a:solidFill>
                <a:latin typeface="Calibri"/>
                <a:ea typeface="Calibri"/>
                <a:cs typeface="Calibri"/>
              </a:defRPr>
            </a:defPPr>
            <a:lvl1pPr>
              <a:defRPr sz="1350" b="0">
                <a:solidFill>
                  <a:srgbClr val="666666"/>
                </a:solidFill>
                <a:latin typeface="Calibri"/>
                <a:ea typeface="Calibri"/>
                <a:cs typeface="Calibri"/>
              </a:defRPr>
            </a:lvl1pPr>
            <a:lvl2pPr>
              <a:defRPr sz="1350" b="0">
                <a:solidFill>
                  <a:srgbClr val="666666"/>
                </a:solidFill>
                <a:latin typeface="Calibri"/>
                <a:ea typeface="Calibri"/>
                <a:cs typeface="Calibri"/>
              </a:defRPr>
            </a:lvl2pPr>
            <a:lvl3pPr>
              <a:defRPr sz="1350" b="0">
                <a:solidFill>
                  <a:srgbClr val="666666"/>
                </a:solidFill>
                <a:latin typeface="Calibri"/>
                <a:ea typeface="Calibri"/>
                <a:cs typeface="Calibri"/>
              </a:defRPr>
            </a:lvl3pPr>
            <a:lvl4pPr>
              <a:defRPr sz="1350" b="0">
                <a:solidFill>
                  <a:srgbClr val="666666"/>
                </a:solidFill>
                <a:latin typeface="Calibri"/>
                <a:ea typeface="Calibri"/>
                <a:cs typeface="Calibri"/>
              </a:defRPr>
            </a:lvl4pPr>
            <a:lvl5pPr>
              <a:defRPr sz="1350" b="0">
                <a:solidFill>
                  <a:srgbClr val="666666"/>
                </a:solidFill>
                <a:latin typeface="Calibri"/>
                <a:ea typeface="Calibri"/>
                <a:cs typeface="Calibri"/>
              </a:defRPr>
            </a:lvl5pPr>
            <a:lvl6pPr>
              <a:defRPr sz="1350" b="0">
                <a:solidFill>
                  <a:srgbClr val="666666"/>
                </a:solidFill>
                <a:latin typeface="Calibri"/>
                <a:ea typeface="Calibri"/>
                <a:cs typeface="Calibri"/>
              </a:defRPr>
            </a:lvl6pPr>
            <a:lvl7pPr>
              <a:defRPr sz="1350" b="0">
                <a:solidFill>
                  <a:srgbClr val="666666"/>
                </a:solidFill>
                <a:latin typeface="Calibri"/>
                <a:ea typeface="Calibri"/>
                <a:cs typeface="Calibri"/>
              </a:defRPr>
            </a:lvl7pPr>
            <a:lvl8pPr>
              <a:defRPr sz="1350" b="0">
                <a:solidFill>
                  <a:srgbClr val="666666"/>
                </a:solidFill>
                <a:latin typeface="Calibri"/>
                <a:ea typeface="Calibri"/>
                <a:cs typeface="Calibri"/>
              </a:defRPr>
            </a:lvl8pPr>
            <a:lvl9pPr>
              <a:defRPr sz="1350" b="0">
                <a:solidFill>
                  <a:srgbClr val="666666"/>
                </a:solidFill>
                <a:latin typeface="Calibri"/>
                <a:ea typeface="Calibri"/>
                <a:cs typeface="Calibri"/>
              </a:defRPr>
            </a:lvl9pPr>
          </a:lstStyle>
          <a:p>
            <a:pPr>
              <a:defRPr sz="1350" b="0">
                <a:solidFill>
                  <a:srgbClr val="666666"/>
                </a:solidFill>
                <a:latin typeface="Calibri"/>
                <a:ea typeface="Calibri"/>
                <a:cs typeface="Calibri"/>
              </a:defRPr>
            </a:pPr>
            <a:r>
              <a:rPr lang="en-US" sz="1350" b="0">
                <a:solidFill>
                  <a:srgbClr val="666666"/>
                </a:solidFill>
                <a:latin typeface="Calibri"/>
                <a:ea typeface="Calibri"/>
                <a:cs typeface="Calibri"/>
              </a:rPr>
              <a:t>29</a:t>
            </a:r>
            <a:endParaRPr sz="1350" b="0">
              <a:solidFill>
                <a:srgbClr val="666666"/>
              </a:solidFill>
              <a:latin typeface="Calibri"/>
              <a:ea typeface="Calibri"/>
              <a:cs typeface="Calibri"/>
            </a:endParaRPr>
          </a:p>
        </p:txBody>
      </p:sp>
      <p:pic>
        <p:nvPicPr>
          <p:cNvPr id="4" name="Picture 3">
            <a:extLst>
              <a:ext uri="{FF2B5EF4-FFF2-40B4-BE49-F238E27FC236}">
                <a16:creationId xmlns:a16="http://schemas.microsoft.com/office/drawing/2014/main" id="{BC38BF32-0C5E-42D8-9C2B-D3C719D5C31A}"/>
              </a:ext>
            </a:extLst>
          </p:cNvPr>
          <p:cNvPicPr>
            <a:picLocks noChangeAspect="1"/>
          </p:cNvPicPr>
          <p:nvPr/>
        </p:nvPicPr>
        <p:blipFill>
          <a:blip r:embed="rId3"/>
          <a:srcRect t="6250" b="6250"/>
          <a:stretch/>
        </p:blipFill>
        <p:spPr>
          <a:xfrm>
            <a:off x="1981200" y="1562100"/>
            <a:ext cx="8229600" cy="4800600"/>
          </a:xfrm>
          <a:prstGeom prst="rect">
            <a:avLst/>
          </a:prstGeom>
        </p:spPr>
      </p:pic>
      <p:sp>
        <p:nvSpPr>
          <p:cNvPr id="5" name="Rectangle 4">
            <a:extLst>
              <a:ext uri="{FF2B5EF4-FFF2-40B4-BE49-F238E27FC236}">
                <a16:creationId xmlns:a16="http://schemas.microsoft.com/office/drawing/2014/main" id="{503AFB22-E411-48AB-A626-A8293BEBE561}"/>
              </a:ext>
            </a:extLst>
          </p:cNvPr>
          <p:cNvSpPr>
            <a:spLocks noGrp="1"/>
          </p:cNvSpPr>
          <p:nvPr/>
        </p:nvSpPr>
        <p:spPr>
          <a:xfrm>
            <a:off x="304800" y="6515100"/>
            <a:ext cx="11239500" cy="266700"/>
          </a:xfrm>
          <a:prstGeom prst="rect">
            <a:avLst/>
          </a:prstGeom>
          <a:noFill/>
          <a:ln w="0">
            <a:noFill/>
          </a:ln>
        </p:spPr>
        <p:txBody>
          <a:bodyPr/>
          <a:lstStyle>
            <a:defPPr>
              <a:defRPr sz="1350" b="0">
                <a:solidFill>
                  <a:srgbClr val="555555"/>
                </a:solidFill>
                <a:latin typeface="Calibri"/>
                <a:ea typeface="Calibri"/>
                <a:cs typeface="Calibri"/>
              </a:defRPr>
            </a:defPPr>
            <a:lvl1pPr>
              <a:defRPr sz="1350" b="0">
                <a:solidFill>
                  <a:srgbClr val="555555"/>
                </a:solidFill>
                <a:latin typeface="Calibri"/>
                <a:ea typeface="Calibri"/>
                <a:cs typeface="Calibri"/>
              </a:defRPr>
            </a:lvl1pPr>
            <a:lvl2pPr>
              <a:defRPr sz="1350" b="0">
                <a:solidFill>
                  <a:srgbClr val="555555"/>
                </a:solidFill>
                <a:latin typeface="Calibri"/>
                <a:ea typeface="Calibri"/>
                <a:cs typeface="Calibri"/>
              </a:defRPr>
            </a:lvl2pPr>
            <a:lvl3pPr>
              <a:defRPr sz="1350" b="0">
                <a:solidFill>
                  <a:srgbClr val="555555"/>
                </a:solidFill>
                <a:latin typeface="Calibri"/>
                <a:ea typeface="Calibri"/>
                <a:cs typeface="Calibri"/>
              </a:defRPr>
            </a:lvl3pPr>
            <a:lvl4pPr>
              <a:defRPr sz="1350" b="0">
                <a:solidFill>
                  <a:srgbClr val="555555"/>
                </a:solidFill>
                <a:latin typeface="Calibri"/>
                <a:ea typeface="Calibri"/>
                <a:cs typeface="Calibri"/>
              </a:defRPr>
            </a:lvl4pPr>
            <a:lvl5pPr>
              <a:defRPr sz="1350" b="0">
                <a:solidFill>
                  <a:srgbClr val="555555"/>
                </a:solidFill>
                <a:latin typeface="Calibri"/>
                <a:ea typeface="Calibri"/>
                <a:cs typeface="Calibri"/>
              </a:defRPr>
            </a:lvl5pPr>
            <a:lvl6pPr>
              <a:defRPr sz="1350" b="0">
                <a:solidFill>
                  <a:srgbClr val="555555"/>
                </a:solidFill>
                <a:latin typeface="Calibri"/>
                <a:ea typeface="Calibri"/>
                <a:cs typeface="Calibri"/>
              </a:defRPr>
            </a:lvl6pPr>
            <a:lvl7pPr>
              <a:defRPr sz="1350" b="0">
                <a:solidFill>
                  <a:srgbClr val="555555"/>
                </a:solidFill>
                <a:latin typeface="Calibri"/>
                <a:ea typeface="Calibri"/>
                <a:cs typeface="Calibri"/>
              </a:defRPr>
            </a:lvl7pPr>
            <a:lvl8pPr>
              <a:defRPr sz="1350" b="0">
                <a:solidFill>
                  <a:srgbClr val="555555"/>
                </a:solidFill>
                <a:latin typeface="Calibri"/>
                <a:ea typeface="Calibri"/>
                <a:cs typeface="Calibri"/>
              </a:defRPr>
            </a:lvl8pPr>
            <a:lvl9pPr>
              <a:defRPr sz="1350" b="0">
                <a:solidFill>
                  <a:srgbClr val="555555"/>
                </a:solidFill>
                <a:latin typeface="Calibri"/>
                <a:ea typeface="Calibri"/>
                <a:cs typeface="Calibri"/>
              </a:defRPr>
            </a:lvl9pPr>
          </a:lstStyle>
          <a:p>
            <a:pPr>
              <a:defRPr sz="1350" b="0">
                <a:solidFill>
                  <a:srgbClr val="555555"/>
                </a:solidFill>
                <a:latin typeface="Calibri"/>
                <a:ea typeface="Calibri"/>
                <a:cs typeface="Calibri"/>
              </a:defRPr>
            </a:pPr>
            <a:r>
              <a:rPr sz="1350" b="0">
                <a:solidFill>
                  <a:srgbClr val="555555"/>
                </a:solidFill>
                <a:latin typeface="Calibri"/>
                <a:ea typeface="Calibri"/>
                <a:cs typeface="Calibri"/>
              </a:rPr>
              <a:t>80% vertical support · hybrid control · reference tensions · knee/contact assumptions</a:t>
            </a:r>
          </a:p>
        </p:txBody>
      </p:sp>
    </p:spTree>
    <p:extLst>
      <p:ext uri="{BB962C8B-B14F-4D97-AF65-F5344CB8AC3E}">
        <p14:creationId xmlns:p14="http://schemas.microsoft.com/office/powerpoint/2010/main" val="721198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FEBFA80-88FC-4C1E-82E4-952C233BFFE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Rectangle 1">
            <a:extLst>
              <a:ext uri="{FF2B5EF4-FFF2-40B4-BE49-F238E27FC236}">
                <a16:creationId xmlns:a16="http://schemas.microsoft.com/office/drawing/2014/main" id="{651D15CD-1FDB-4FBE-9821-AEC270D86D39}"/>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Rectangle 2">
            <a:extLst>
              <a:ext uri="{FF2B5EF4-FFF2-40B4-BE49-F238E27FC236}">
                <a16:creationId xmlns:a16="http://schemas.microsoft.com/office/drawing/2014/main" id="{47ED25DF-7859-4D44-82E5-C1034F77BE2F}"/>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Rectangle 3">
            <a:extLst>
              <a:ext uri="{FF2B5EF4-FFF2-40B4-BE49-F238E27FC236}">
                <a16:creationId xmlns:a16="http://schemas.microsoft.com/office/drawing/2014/main" id="{FBD79BAC-CBD1-4690-9164-E1DF3A7350C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30</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F0367C4C-5F62-4532-B087-A9B9789453F3}"/>
              </a:ext>
            </a:extLst>
          </p:cNvPr>
          <p:cNvGraphicFramePr/>
          <p:nvPr/>
        </p:nvGraphicFramePr>
        <p:xfrm>
          <a:off x="476250" y="1619250"/>
          <a:ext cx="11239500" cy="3905250"/>
        </p:xfrm>
        <a:graphic>
          <a:graphicData uri="http://schemas.openxmlformats.org/drawingml/2006/table">
            <a:tbl>
              <a:tblPr/>
              <a:tblGrid>
                <a:gridCol w="3746500">
                  <a:extLst>
                    <a:ext uri="{9D8B030D-6E8A-4147-A177-3AD203B41FA5}">
                      <a16:colId xmlns:a16="http://schemas.microsoft.com/office/drawing/2014/main" val="20000"/>
                    </a:ext>
                  </a:extLst>
                </a:gridCol>
                <a:gridCol w="3746500">
                  <a:extLst>
                    <a:ext uri="{9D8B030D-6E8A-4147-A177-3AD203B41FA5}">
                      <a16:colId xmlns:a16="http://schemas.microsoft.com/office/drawing/2014/main" val="20001"/>
                    </a:ext>
                  </a:extLst>
                </a:gridCol>
                <a:gridCol w="3746500">
                  <a:extLst>
                    <a:ext uri="{9D8B030D-6E8A-4147-A177-3AD203B41FA5}">
                      <a16:colId xmlns:a16="http://schemas.microsoft.com/office/drawing/2014/main" val="20002"/>
                    </a:ext>
                  </a:extLst>
                </a:gridCol>
              </a:tblGrid>
              <a:tr h="781050">
                <a:tc>
                  <a:txBody>
                    <a:bodyPr/>
                    <a:lstStyle/>
                    <a:p>
                      <a:r>
                        <a:rPr sz="1875" b="1">
                          <a:solidFill>
                            <a:srgbClr val="00796B"/>
                          </a:solidFill>
                          <a:latin typeface="Calibri"/>
                          <a:ea typeface="Calibri"/>
                          <a:cs typeface="Calibri"/>
                        </a:rPr>
                        <a:t>Contribution</a:t>
                      </a:r>
                    </a:p>
                  </a:txBody>
                  <a:tcPr>
                    <a:solidFill>
                      <a:srgbClr val="FFFFFF"/>
                    </a:solidFill>
                  </a:tcPr>
                </a:tc>
                <a:tc>
                  <a:txBody>
                    <a:bodyPr/>
                    <a:lstStyle/>
                    <a:p>
                      <a:r>
                        <a:rPr sz="1875" b="1">
                          <a:solidFill>
                            <a:srgbClr val="00796B"/>
                          </a:solidFill>
                          <a:latin typeface="Calibri"/>
                          <a:ea typeface="Calibri"/>
                          <a:cs typeface="Calibri"/>
                        </a:rPr>
                        <a:t>Evidence</a:t>
                      </a:r>
                    </a:p>
                  </a:txBody>
                  <a:tcPr>
                    <a:solidFill>
                      <a:srgbClr val="FFFFFF"/>
                    </a:solidFill>
                  </a:tcPr>
                </a:tc>
                <a:tc>
                  <a:txBody>
                    <a:bodyPr/>
                    <a:lstStyle/>
                    <a:p>
                      <a:r>
                        <a:rPr sz="1875" b="1">
                          <a:solidFill>
                            <a:srgbClr val="00796B"/>
                          </a:solidFill>
                          <a:latin typeface="Calibri"/>
                          <a:ea typeface="Calibri"/>
                          <a:cs typeface="Calibri"/>
                        </a:rPr>
                        <a:t>Boundary</a:t>
                      </a:r>
                    </a:p>
                  </a:txBody>
                  <a:tcPr>
                    <a:solidFill>
                      <a:srgbClr val="FFFFFF"/>
                    </a:solidFill>
                  </a:tcPr>
                </a:tc>
                <a:extLst>
                  <a:ext uri="{0D108BD9-81ED-4DB2-BD59-A6C34878D82A}">
                    <a16:rowId xmlns:a16="http://schemas.microsoft.com/office/drawing/2014/main" val="10000"/>
                  </a:ext>
                </a:extLst>
              </a:tr>
              <a:tr h="781050">
                <a:tc>
                  <a:txBody>
                    <a:bodyPr/>
                    <a:lstStyle/>
                    <a:p>
                      <a:r>
                        <a:rPr sz="1875" b="0">
                          <a:solidFill>
                            <a:srgbClr val="222222"/>
                          </a:solidFill>
                          <a:latin typeface="Calibri"/>
                          <a:ea typeface="Calibri"/>
                          <a:cs typeface="Calibri"/>
                        </a:rPr>
                        <a:t>Actuator force model</a:t>
                      </a:r>
                    </a:p>
                  </a:txBody>
                  <a:tcPr>
                    <a:solidFill>
                      <a:srgbClr val="FFFFFF"/>
                    </a:solidFill>
                  </a:tcPr>
                </a:tc>
                <a:tc>
                  <a:txBody>
                    <a:bodyPr/>
                    <a:lstStyle/>
                    <a:p>
                      <a:r>
                        <a:rPr sz="1875" b="0">
                          <a:solidFill>
                            <a:srgbClr val="222222"/>
                          </a:solidFill>
                          <a:latin typeface="Calibri"/>
                          <a:ea typeface="Calibri"/>
                          <a:cs typeface="Calibri"/>
                        </a:rPr>
                        <a:t>Measured force and held-out fits</a:t>
                      </a:r>
                    </a:p>
                  </a:txBody>
                  <a:tcPr>
                    <a:solidFill>
                      <a:srgbClr val="FFFFFF"/>
                    </a:solidFill>
                  </a:tcPr>
                </a:tc>
                <a:tc>
                  <a:txBody>
                    <a:bodyPr/>
                    <a:lstStyle/>
                    <a:p>
                      <a:r>
                        <a:rPr sz="1875" b="0">
                          <a:solidFill>
                            <a:srgbClr val="222222"/>
                          </a:solidFill>
                          <a:latin typeface="Calibri"/>
                          <a:ea typeface="Calibri"/>
                          <a:cs typeface="Calibri"/>
                        </a:rPr>
                        <a:t>Static, tested actuator range</a:t>
                      </a:r>
                    </a:p>
                  </a:txBody>
                  <a:tcPr>
                    <a:solidFill>
                      <a:srgbClr val="FFFFFF"/>
                    </a:solidFill>
                  </a:tcPr>
                </a:tc>
                <a:extLst>
                  <a:ext uri="{0D108BD9-81ED-4DB2-BD59-A6C34878D82A}">
                    <a16:rowId xmlns:a16="http://schemas.microsoft.com/office/drawing/2014/main" val="10001"/>
                  </a:ext>
                </a:extLst>
              </a:tr>
              <a:tr h="781050">
                <a:tc>
                  <a:txBody>
                    <a:bodyPr/>
                    <a:lstStyle/>
                    <a:p>
                      <a:r>
                        <a:rPr sz="1875" b="0">
                          <a:solidFill>
                            <a:srgbClr val="222222"/>
                          </a:solidFill>
                          <a:latin typeface="Calibri"/>
                          <a:ea typeface="Calibri"/>
                          <a:cs typeface="Calibri"/>
                        </a:rPr>
                        <a:t>Joint model and routes</a:t>
                      </a:r>
                    </a:p>
                  </a:txBody>
                  <a:tcPr>
                    <a:solidFill>
                      <a:srgbClr val="FFFFFF"/>
                    </a:solidFill>
                  </a:tcPr>
                </a:tc>
                <a:tc>
                  <a:txBody>
                    <a:bodyPr/>
                    <a:lstStyle/>
                    <a:p>
                      <a:r>
                        <a:rPr sz="1875" b="0">
                          <a:solidFill>
                            <a:srgbClr val="222222"/>
                          </a:solidFill>
                          <a:latin typeface="Calibri"/>
                          <a:ea typeface="Calibri"/>
                          <a:cs typeface="Calibri"/>
                        </a:rPr>
                        <a:t>Held-out error and physical holds</a:t>
                      </a:r>
                    </a:p>
                  </a:txBody>
                  <a:tcPr>
                    <a:solidFill>
                      <a:srgbClr val="FFFFFF"/>
                    </a:solidFill>
                  </a:tcPr>
                </a:tc>
                <a:tc>
                  <a:txBody>
                    <a:bodyPr/>
                    <a:lstStyle/>
                    <a:p>
                      <a:r>
                        <a:rPr sz="1875" b="0">
                          <a:solidFill>
                            <a:srgbClr val="222222"/>
                          </a:solidFill>
                          <a:latin typeface="Calibri"/>
                          <a:ea typeface="Calibri"/>
                          <a:cs typeface="Calibri"/>
                        </a:rPr>
                        <a:t>Variable pressure; residual mismatch</a:t>
                      </a:r>
                    </a:p>
                  </a:txBody>
                  <a:tcPr>
                    <a:solidFill>
                      <a:srgbClr val="FFFFFF"/>
                    </a:solidFill>
                  </a:tcPr>
                </a:tc>
                <a:extLst>
                  <a:ext uri="{0D108BD9-81ED-4DB2-BD59-A6C34878D82A}">
                    <a16:rowId xmlns:a16="http://schemas.microsoft.com/office/drawing/2014/main" val="10002"/>
                  </a:ext>
                </a:extLst>
              </a:tr>
              <a:tr h="781050">
                <a:tc>
                  <a:txBody>
                    <a:bodyPr/>
                    <a:lstStyle/>
                    <a:p>
                      <a:r>
                        <a:rPr sz="1875" b="0">
                          <a:solidFill>
                            <a:srgbClr val="222222"/>
                          </a:solidFill>
                          <a:latin typeface="Calibri"/>
                          <a:ea typeface="Calibri"/>
                          <a:cs typeface="Calibri"/>
                        </a:rPr>
                        <a:t>SADb</a:t>
                      </a:r>
                    </a:p>
                  </a:txBody>
                  <a:tcPr>
                    <a:solidFill>
                      <a:srgbClr val="FFFFFF"/>
                    </a:solidFill>
                  </a:tcPr>
                </a:tc>
                <a:tc>
                  <a:txBody>
                    <a:bodyPr/>
                    <a:lstStyle/>
                    <a:p>
                      <a:r>
                        <a:rPr sz="1875" b="0">
                          <a:solidFill>
                            <a:srgbClr val="222222"/>
                          </a:solidFill>
                          <a:latin typeface="Calibri"/>
                          <a:ea typeface="Calibri"/>
                          <a:cs typeface="Calibri"/>
                        </a:rPr>
                        <a:t>Inspectable linked records</a:t>
                      </a:r>
                    </a:p>
                  </a:txBody>
                  <a:tcPr>
                    <a:solidFill>
                      <a:srgbClr val="FFFFFF"/>
                    </a:solidFill>
                  </a:tcPr>
                </a:tc>
                <a:tc>
                  <a:txBody>
                    <a:bodyPr/>
                    <a:lstStyle/>
                    <a:p>
                      <a:r>
                        <a:rPr sz="1875" b="0">
                          <a:solidFill>
                            <a:srgbClr val="222222"/>
                          </a:solidFill>
                          <a:latin typeface="Calibri"/>
                          <a:ea typeface="Calibri"/>
                          <a:cs typeface="Calibri"/>
                        </a:rPr>
                        <a:t>Uneven source coverage</a:t>
                      </a:r>
                    </a:p>
                  </a:txBody>
                  <a:tcPr>
                    <a:solidFill>
                      <a:srgbClr val="FFFFFF"/>
                    </a:solidFill>
                  </a:tcPr>
                </a:tc>
                <a:extLst>
                  <a:ext uri="{0D108BD9-81ED-4DB2-BD59-A6C34878D82A}">
                    <a16:rowId xmlns:a16="http://schemas.microsoft.com/office/drawing/2014/main" val="10003"/>
                  </a:ext>
                </a:extLst>
              </a:tr>
              <a:tr h="781050">
                <a:tc>
                  <a:txBody>
                    <a:bodyPr/>
                    <a:lstStyle/>
                    <a:p>
                      <a:r>
                        <a:rPr sz="1875" b="0">
                          <a:solidFill>
                            <a:srgbClr val="222222"/>
                          </a:solidFill>
                          <a:latin typeface="Calibri"/>
                          <a:ea typeface="Calibri"/>
                          <a:cs typeface="Calibri"/>
                        </a:rPr>
                        <a:t>Neural interfaces</a:t>
                      </a:r>
                    </a:p>
                  </a:txBody>
                  <a:tcPr>
                    <a:solidFill>
                      <a:srgbClr val="FFFFFF"/>
                    </a:solidFill>
                  </a:tcPr>
                </a:tc>
                <a:tc>
                  <a:txBody>
                    <a:bodyPr/>
                    <a:lstStyle/>
                    <a:p>
                      <a:r>
                        <a:rPr sz="1875" b="0">
                          <a:solidFill>
                            <a:srgbClr val="222222"/>
                          </a:solidFill>
                          <a:latin typeface="Calibri"/>
                          <a:ea typeface="Calibri"/>
                          <a:cs typeface="Calibri"/>
                        </a:rPr>
                        <a:t>Matched tests and signal readback</a:t>
                      </a:r>
                    </a:p>
                  </a:txBody>
                  <a:tcPr>
                    <a:solidFill>
                      <a:srgbClr val="FFFFFF"/>
                    </a:solidFill>
                  </a:tcPr>
                </a:tc>
                <a:tc>
                  <a:txBody>
                    <a:bodyPr/>
                    <a:lstStyle/>
                    <a:p>
                      <a:r>
                        <a:rPr sz="1875" b="0">
                          <a:solidFill>
                            <a:srgbClr val="222222"/>
                          </a:solidFill>
                          <a:latin typeface="Calibri"/>
                          <a:ea typeface="Calibri"/>
                          <a:cs typeface="Calibri"/>
                        </a:rPr>
                        <a:t>Full-network discrepancy; no free walking</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8460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CFA33C-C11C-41A7-8A2E-8FA8347D284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Rectangle 1">
            <a:extLst>
              <a:ext uri="{FF2B5EF4-FFF2-40B4-BE49-F238E27FC236}">
                <a16:creationId xmlns:a16="http://schemas.microsoft.com/office/drawing/2014/main" id="{25FC950B-779B-4CBC-BC15-5D8EF92C20E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Rectangle 2">
            <a:extLst>
              <a:ext uri="{FF2B5EF4-FFF2-40B4-BE49-F238E27FC236}">
                <a16:creationId xmlns:a16="http://schemas.microsoft.com/office/drawing/2014/main" id="{683F493D-C681-4B03-9E26-C9CB09AC7F0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Rectangle 3">
            <a:extLst>
              <a:ext uri="{FF2B5EF4-FFF2-40B4-BE49-F238E27FC236}">
                <a16:creationId xmlns:a16="http://schemas.microsoft.com/office/drawing/2014/main" id="{5F3CF6D7-0DBA-4255-AF0E-A569B11B2098}"/>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505B7CF-AF54-478E-B04C-428BF0A73A73}"/>
              </a:ext>
            </a:extLst>
          </p:cNvPr>
          <p:cNvPicPr>
            <a:picLocks noChangeAspect="1"/>
          </p:cNvPicPr>
          <p:nvPr/>
        </p:nvPicPr>
        <p:blipFill>
          <a:blip r:embed="rId3"/>
          <a:stretch/>
        </p:blipFill>
        <p:spPr>
          <a:xfrm>
            <a:off x="3008543" y="1666875"/>
            <a:ext cx="6174914" cy="4000500"/>
          </a:xfrm>
          <a:prstGeom prst="rect">
            <a:avLst/>
          </a:prstGeom>
        </p:spPr>
      </p:pic>
      <p:sp>
        <p:nvSpPr>
          <p:cNvPr id="6" name="Rectangle 5">
            <a:extLst>
              <a:ext uri="{FF2B5EF4-FFF2-40B4-BE49-F238E27FC236}">
                <a16:creationId xmlns:a16="http://schemas.microsoft.com/office/drawing/2014/main" id="{A21F721D-38D6-45E2-A1CA-710CB697E1F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719283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BB59916-838B-4D4D-8186-F3E23D768CB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Rectangle 1">
            <a:extLst>
              <a:ext uri="{FF2B5EF4-FFF2-40B4-BE49-F238E27FC236}">
                <a16:creationId xmlns:a16="http://schemas.microsoft.com/office/drawing/2014/main" id="{AE0E17A9-DECB-46A0-A494-8AEDF92701B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Rectangle 2">
            <a:extLst>
              <a:ext uri="{FF2B5EF4-FFF2-40B4-BE49-F238E27FC236}">
                <a16:creationId xmlns:a16="http://schemas.microsoft.com/office/drawing/2014/main" id="{2D29805C-602E-44A9-BBB3-BB353CA4155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Rectangle 3">
            <a:extLst>
              <a:ext uri="{FF2B5EF4-FFF2-40B4-BE49-F238E27FC236}">
                <a16:creationId xmlns:a16="http://schemas.microsoft.com/office/drawing/2014/main" id="{5CCE5439-BABB-408D-AA5E-E03BF2AE6EBD}"/>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32</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70B06E7B-0FFE-4D6F-94CA-D56D193603BB}"/>
              </a:ext>
            </a:extLst>
          </p:cNvPr>
          <p:cNvSpPr>
            <a:spLocks noGrp="1"/>
          </p:cNvSpPr>
          <p:nvPr/>
        </p:nvSpPr>
        <p:spPr>
          <a:xfrm>
            <a:off x="619125" y="2286000"/>
            <a:ext cx="10763250" cy="857250"/>
          </a:xfrm>
          <a:prstGeom prst="rect">
            <a:avLst/>
          </a:prstGeom>
          <a:noFill/>
          <a:ln w="0">
            <a:noFill/>
          </a:ln>
        </p:spPr>
        <p:txBody>
          <a:bodyPr lIns="0" tIns="0" rIns="0" bIns="0"/>
          <a:lstStyle>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Rectangle 5">
            <a:extLst>
              <a:ext uri="{FF2B5EF4-FFF2-40B4-BE49-F238E27FC236}">
                <a16:creationId xmlns:a16="http://schemas.microsoft.com/office/drawing/2014/main" id="{0348E824-49A8-49FF-AC6D-59A23A4288D0}"/>
              </a:ext>
            </a:extLst>
          </p:cNvPr>
          <p:cNvSpPr>
            <a:spLocks noGrp="1"/>
          </p:cNvSpPr>
          <p:nvPr/>
        </p:nvSpPr>
        <p:spPr>
          <a:xfrm>
            <a:off x="619125" y="3524250"/>
            <a:ext cx="10668000" cy="1143000"/>
          </a:xfrm>
          <a:prstGeom prst="rect">
            <a:avLst/>
          </a:prstGeom>
          <a:noFill/>
          <a:ln w="0">
            <a:noFill/>
          </a:ln>
        </p:spPr>
        <p:txBody>
          <a:bodyPr lIns="0" tIns="0" rIns="0" bIns="0"/>
          <a:lstStyle>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752177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C82DC0-5C70-412E-82A5-EA2A64B094A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Rectangle 1">
            <a:extLst>
              <a:ext uri="{FF2B5EF4-FFF2-40B4-BE49-F238E27FC236}">
                <a16:creationId xmlns:a16="http://schemas.microsoft.com/office/drawing/2014/main" id="{9009EDE1-7FA1-4157-9F32-92DBD542D67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Rectangle 2">
            <a:extLst>
              <a:ext uri="{FF2B5EF4-FFF2-40B4-BE49-F238E27FC236}">
                <a16:creationId xmlns:a16="http://schemas.microsoft.com/office/drawing/2014/main" id="{EFFC5F35-4948-4F4C-ADA7-01766B92C064}"/>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Rectangle 3">
            <a:extLst>
              <a:ext uri="{FF2B5EF4-FFF2-40B4-BE49-F238E27FC236}">
                <a16:creationId xmlns:a16="http://schemas.microsoft.com/office/drawing/2014/main" id="{C395B68B-B1CE-48F5-879E-778C05109848}"/>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6C87B3C-9F46-4801-B2B1-71767326ACE1}"/>
              </a:ext>
            </a:extLst>
          </p:cNvPr>
          <p:cNvPicPr>
            <a:picLocks noChangeAspect="1"/>
          </p:cNvPicPr>
          <p:nvPr/>
        </p:nvPicPr>
        <p:blipFill>
          <a:blip r:embed="rId3"/>
          <a:stretch/>
        </p:blipFill>
        <p:spPr>
          <a:xfrm>
            <a:off x="428625" y="3272313"/>
            <a:ext cx="11334750" cy="789624"/>
          </a:xfrm>
          <a:prstGeom prst="rect">
            <a:avLst/>
          </a:prstGeom>
        </p:spPr>
      </p:pic>
      <p:sp>
        <p:nvSpPr>
          <p:cNvPr id="6" name="Rectangle 5">
            <a:extLst>
              <a:ext uri="{FF2B5EF4-FFF2-40B4-BE49-F238E27FC236}">
                <a16:creationId xmlns:a16="http://schemas.microsoft.com/office/drawing/2014/main" id="{52BCD616-A5AD-406B-90C3-7F21CC026650}"/>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681474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B33CBB-0E1B-423F-9FEB-08E3B111309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Rectangle 1">
            <a:extLst>
              <a:ext uri="{FF2B5EF4-FFF2-40B4-BE49-F238E27FC236}">
                <a16:creationId xmlns:a16="http://schemas.microsoft.com/office/drawing/2014/main" id="{DF1FE718-E919-4BA7-B9C7-60301CB054F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Rectangle 2">
            <a:extLst>
              <a:ext uri="{FF2B5EF4-FFF2-40B4-BE49-F238E27FC236}">
                <a16:creationId xmlns:a16="http://schemas.microsoft.com/office/drawing/2014/main" id="{C1AC5943-77EB-4B68-A03A-EA6C9C40492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Rectangle 3">
            <a:extLst>
              <a:ext uri="{FF2B5EF4-FFF2-40B4-BE49-F238E27FC236}">
                <a16:creationId xmlns:a16="http://schemas.microsoft.com/office/drawing/2014/main" id="{60854946-5E64-4C65-8BD3-9B2ADED068E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34</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C6FF5E0C-DAD0-43A4-9605-D3EDBBDC0578}"/>
              </a:ext>
            </a:extLst>
          </p:cNvPr>
          <p:cNvPicPr>
            <a:picLocks noChangeAspect="1"/>
          </p:cNvPicPr>
          <p:nvPr/>
        </p:nvPicPr>
        <p:blipFill>
          <a:blip r:embed="rId3"/>
          <a:stretch/>
        </p:blipFill>
        <p:spPr>
          <a:xfrm>
            <a:off x="1852763" y="1666875"/>
            <a:ext cx="8486475" cy="4000500"/>
          </a:xfrm>
          <a:prstGeom prst="rect">
            <a:avLst/>
          </a:prstGeom>
        </p:spPr>
      </p:pic>
      <p:sp>
        <p:nvSpPr>
          <p:cNvPr id="6" name="Rectangle 5">
            <a:extLst>
              <a:ext uri="{FF2B5EF4-FFF2-40B4-BE49-F238E27FC236}">
                <a16:creationId xmlns:a16="http://schemas.microsoft.com/office/drawing/2014/main" id="{E6FE3D9D-1897-4F4E-A92A-310BF9F860DE}"/>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866055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401811-AF3E-48D4-8001-975962673DF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Rectangle 1">
            <a:extLst>
              <a:ext uri="{FF2B5EF4-FFF2-40B4-BE49-F238E27FC236}">
                <a16:creationId xmlns:a16="http://schemas.microsoft.com/office/drawing/2014/main" id="{99FAC732-D723-4443-AEE7-565A86645B7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Rectangle 2">
            <a:extLst>
              <a:ext uri="{FF2B5EF4-FFF2-40B4-BE49-F238E27FC236}">
                <a16:creationId xmlns:a16="http://schemas.microsoft.com/office/drawing/2014/main" id="{5A0F50AB-4E61-4972-8CFF-C9994851372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Rectangle 3">
            <a:extLst>
              <a:ext uri="{FF2B5EF4-FFF2-40B4-BE49-F238E27FC236}">
                <a16:creationId xmlns:a16="http://schemas.microsoft.com/office/drawing/2014/main" id="{B4B3C696-D0E6-421E-BFF4-A4BACBD115B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8C80FC1B-0925-4BB6-B82F-F9CFCF63DFEA}"/>
              </a:ext>
            </a:extLst>
          </p:cNvPr>
          <p:cNvPicPr>
            <a:picLocks noChangeAspect="1"/>
          </p:cNvPicPr>
          <p:nvPr/>
        </p:nvPicPr>
        <p:blipFill>
          <a:blip r:embed="rId3"/>
          <a:stretch/>
        </p:blipFill>
        <p:spPr>
          <a:xfrm>
            <a:off x="3293445" y="1666875"/>
            <a:ext cx="5605110" cy="4000500"/>
          </a:xfrm>
          <a:prstGeom prst="rect">
            <a:avLst/>
          </a:prstGeom>
        </p:spPr>
      </p:pic>
      <p:sp>
        <p:nvSpPr>
          <p:cNvPr id="6" name="Rectangle 5">
            <a:extLst>
              <a:ext uri="{FF2B5EF4-FFF2-40B4-BE49-F238E27FC236}">
                <a16:creationId xmlns:a16="http://schemas.microsoft.com/office/drawing/2014/main" id="{9F842525-2D4A-484D-85B8-A9BCD803AEB4}"/>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76581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B355647-496E-4243-A9E0-0B9F1B7FF61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Rectangle 1">
            <a:extLst>
              <a:ext uri="{FF2B5EF4-FFF2-40B4-BE49-F238E27FC236}">
                <a16:creationId xmlns:a16="http://schemas.microsoft.com/office/drawing/2014/main" id="{F7797255-5CFD-4F0F-9154-44536E3159A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Rectangle 2">
            <a:extLst>
              <a:ext uri="{FF2B5EF4-FFF2-40B4-BE49-F238E27FC236}">
                <a16:creationId xmlns:a16="http://schemas.microsoft.com/office/drawing/2014/main" id="{1519B5BC-D9C5-4B4F-A9F4-B2B6B2356AF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Rectangle 3">
            <a:extLst>
              <a:ext uri="{FF2B5EF4-FFF2-40B4-BE49-F238E27FC236}">
                <a16:creationId xmlns:a16="http://schemas.microsoft.com/office/drawing/2014/main" id="{348D0227-50CF-4EAB-8195-DFBB9DC5CC71}"/>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6060DA6-236B-4FFD-A9EC-8B8E7F30D73E}"/>
              </a:ext>
            </a:extLst>
          </p:cNvPr>
          <p:cNvPicPr>
            <a:picLocks noChangeAspect="1"/>
          </p:cNvPicPr>
          <p:nvPr/>
        </p:nvPicPr>
        <p:blipFill>
          <a:blip r:embed="rId3"/>
          <a:stretch/>
        </p:blipFill>
        <p:spPr>
          <a:xfrm>
            <a:off x="4095750" y="1666875"/>
            <a:ext cx="4000500" cy="4000500"/>
          </a:xfrm>
          <a:prstGeom prst="rect">
            <a:avLst/>
          </a:prstGeom>
        </p:spPr>
      </p:pic>
      <p:sp>
        <p:nvSpPr>
          <p:cNvPr id="6" name="Rectangle 5">
            <a:extLst>
              <a:ext uri="{FF2B5EF4-FFF2-40B4-BE49-F238E27FC236}">
                <a16:creationId xmlns:a16="http://schemas.microsoft.com/office/drawing/2014/main" id="{4DC2A2ED-3397-4AB7-B538-7947A3A2A8DA}"/>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500032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9FEF5AD-EFAA-4EF6-82FE-84F47C8B3E9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Rectangle 1">
            <a:extLst>
              <a:ext uri="{FF2B5EF4-FFF2-40B4-BE49-F238E27FC236}">
                <a16:creationId xmlns:a16="http://schemas.microsoft.com/office/drawing/2014/main" id="{D64C489E-F6A5-473C-846E-F7607625353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Rectangle 2">
            <a:extLst>
              <a:ext uri="{FF2B5EF4-FFF2-40B4-BE49-F238E27FC236}">
                <a16:creationId xmlns:a16="http://schemas.microsoft.com/office/drawing/2014/main" id="{EAB2093A-778E-4810-87A9-AC727911F55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Rectangle 3">
            <a:extLst>
              <a:ext uri="{FF2B5EF4-FFF2-40B4-BE49-F238E27FC236}">
                <a16:creationId xmlns:a16="http://schemas.microsoft.com/office/drawing/2014/main" id="{729F9742-8F64-45CC-BA43-206210EEBECF}"/>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A570095-AEEB-47A8-A986-9481A9226C21}"/>
              </a:ext>
            </a:extLst>
          </p:cNvPr>
          <p:cNvPicPr>
            <a:picLocks noChangeAspect="1"/>
          </p:cNvPicPr>
          <p:nvPr/>
        </p:nvPicPr>
        <p:blipFill>
          <a:blip r:embed="rId3"/>
          <a:stretch/>
        </p:blipFill>
        <p:spPr>
          <a:xfrm>
            <a:off x="3211024" y="1666875"/>
            <a:ext cx="5769952" cy="4000500"/>
          </a:xfrm>
          <a:prstGeom prst="rect">
            <a:avLst/>
          </a:prstGeom>
        </p:spPr>
      </p:pic>
      <p:sp>
        <p:nvSpPr>
          <p:cNvPr id="6" name="Rectangle 5">
            <a:extLst>
              <a:ext uri="{FF2B5EF4-FFF2-40B4-BE49-F238E27FC236}">
                <a16:creationId xmlns:a16="http://schemas.microsoft.com/office/drawing/2014/main" id="{9FE1720D-DEC1-494E-BF47-ABC8E14AB682}"/>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1785598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5BE5DB-0FDA-4262-8FDD-BF9E45EC835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Rectangle 1">
            <a:extLst>
              <a:ext uri="{FF2B5EF4-FFF2-40B4-BE49-F238E27FC236}">
                <a16:creationId xmlns:a16="http://schemas.microsoft.com/office/drawing/2014/main" id="{31D4E445-790C-4661-A414-AF765CCE927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Rectangle 2">
            <a:extLst>
              <a:ext uri="{FF2B5EF4-FFF2-40B4-BE49-F238E27FC236}">
                <a16:creationId xmlns:a16="http://schemas.microsoft.com/office/drawing/2014/main" id="{EA777295-6C86-4DE3-AD07-B0EA544CD5B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Rectangle 3">
            <a:extLst>
              <a:ext uri="{FF2B5EF4-FFF2-40B4-BE49-F238E27FC236}">
                <a16:creationId xmlns:a16="http://schemas.microsoft.com/office/drawing/2014/main" id="{93906D83-0C57-4F97-B259-45342C35EB0A}"/>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242E5AED-401E-4277-97E6-04437CDB235F}"/>
              </a:ext>
            </a:extLst>
          </p:cNvPr>
          <p:cNvPicPr>
            <a:picLocks noChangeAspect="1"/>
          </p:cNvPicPr>
          <p:nvPr/>
        </p:nvPicPr>
        <p:blipFill>
          <a:blip r:embed="rId3"/>
          <a:stretch/>
        </p:blipFill>
        <p:spPr>
          <a:xfrm>
            <a:off x="2252202" y="1666875"/>
            <a:ext cx="7687597" cy="4000500"/>
          </a:xfrm>
          <a:prstGeom prst="rect">
            <a:avLst/>
          </a:prstGeom>
        </p:spPr>
      </p:pic>
      <p:sp>
        <p:nvSpPr>
          <p:cNvPr id="6" name="Rectangle 5">
            <a:extLst>
              <a:ext uri="{FF2B5EF4-FFF2-40B4-BE49-F238E27FC236}">
                <a16:creationId xmlns:a16="http://schemas.microsoft.com/office/drawing/2014/main" id="{10AE4740-1ABC-4250-B690-D37F4C06D2E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2121386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5E249E-A7AF-4F5E-A012-F8FB70E184E3}"/>
              </a:ext>
            </a:extLst>
          </p:cNvPr>
          <p:cNvSpPr>
            <a:spLocks noGrp="1"/>
          </p:cNvSpPr>
          <p:nvPr/>
        </p:nvSpPr>
        <p:spPr>
          <a:xfrm>
            <a:off x="304800" y="190500"/>
            <a:ext cx="11582400" cy="266700"/>
          </a:xfrm>
          <a:prstGeom prst="rect">
            <a:avLst/>
          </a:prstGeom>
          <a:noFill/>
          <a:ln w="0">
            <a:noFill/>
          </a:ln>
        </p:spPr>
        <p:txBody>
          <a:bodyPr/>
          <a:lstStyle>
            <a:defPPr>
              <a:defRPr sz="1350" b="1">
                <a:solidFill>
                  <a:srgbClr val="008579"/>
                </a:solidFill>
                <a:latin typeface="Calibri"/>
                <a:ea typeface="Calibri"/>
                <a:cs typeface="Calibri"/>
              </a:defRPr>
            </a:defPPr>
            <a:lvl1pPr>
              <a:defRPr sz="1350" b="1">
                <a:solidFill>
                  <a:srgbClr val="008579"/>
                </a:solidFill>
                <a:latin typeface="Calibri"/>
                <a:ea typeface="Calibri"/>
                <a:cs typeface="Calibri"/>
              </a:defRPr>
            </a:lvl1pPr>
            <a:lvl2pPr>
              <a:defRPr sz="1350" b="1">
                <a:solidFill>
                  <a:srgbClr val="008579"/>
                </a:solidFill>
                <a:latin typeface="Calibri"/>
                <a:ea typeface="Calibri"/>
                <a:cs typeface="Calibri"/>
              </a:defRPr>
            </a:lvl2pPr>
            <a:lvl3pPr>
              <a:defRPr sz="1350" b="1">
                <a:solidFill>
                  <a:srgbClr val="008579"/>
                </a:solidFill>
                <a:latin typeface="Calibri"/>
                <a:ea typeface="Calibri"/>
                <a:cs typeface="Calibri"/>
              </a:defRPr>
            </a:lvl3pPr>
            <a:lvl4pPr>
              <a:defRPr sz="1350" b="1">
                <a:solidFill>
                  <a:srgbClr val="008579"/>
                </a:solidFill>
                <a:latin typeface="Calibri"/>
                <a:ea typeface="Calibri"/>
                <a:cs typeface="Calibri"/>
              </a:defRPr>
            </a:lvl4pPr>
            <a:lvl5pPr>
              <a:defRPr sz="1350" b="1">
                <a:solidFill>
                  <a:srgbClr val="008579"/>
                </a:solidFill>
                <a:latin typeface="Calibri"/>
                <a:ea typeface="Calibri"/>
                <a:cs typeface="Calibri"/>
              </a:defRPr>
            </a:lvl5pPr>
            <a:lvl6pPr>
              <a:defRPr sz="1350" b="1">
                <a:solidFill>
                  <a:srgbClr val="008579"/>
                </a:solidFill>
                <a:latin typeface="Calibri"/>
                <a:ea typeface="Calibri"/>
                <a:cs typeface="Calibri"/>
              </a:defRPr>
            </a:lvl6pPr>
            <a:lvl7pPr>
              <a:defRPr sz="1350" b="1">
                <a:solidFill>
                  <a:srgbClr val="008579"/>
                </a:solidFill>
                <a:latin typeface="Calibri"/>
                <a:ea typeface="Calibri"/>
                <a:cs typeface="Calibri"/>
              </a:defRPr>
            </a:lvl7pPr>
            <a:lvl8pPr>
              <a:defRPr sz="1350" b="1">
                <a:solidFill>
                  <a:srgbClr val="008579"/>
                </a:solidFill>
                <a:latin typeface="Calibri"/>
                <a:ea typeface="Calibri"/>
                <a:cs typeface="Calibri"/>
              </a:defRPr>
            </a:lvl8pPr>
            <a:lvl9pPr>
              <a:defRPr sz="1350" b="1">
                <a:solidFill>
                  <a:srgbClr val="008579"/>
                </a:solidFill>
                <a:latin typeface="Calibri"/>
                <a:ea typeface="Calibri"/>
                <a:cs typeface="Calibri"/>
              </a:defRPr>
            </a:lvl9pPr>
          </a:lstStyle>
          <a:p>
            <a:pPr>
              <a:defRPr sz="1350" b="1">
                <a:solidFill>
                  <a:srgbClr val="008579"/>
                </a:solidFill>
                <a:latin typeface="Calibri"/>
                <a:ea typeface="Calibri"/>
                <a:cs typeface="Calibri"/>
              </a:defRPr>
            </a:pPr>
            <a:r>
              <a:rPr sz="1350" b="1">
                <a:solidFill>
                  <a:srgbClr val="008579"/>
                </a:solidFill>
                <a:latin typeface="Calibri"/>
                <a:ea typeface="Calibri"/>
                <a:cs typeface="Calibri"/>
              </a:rPr>
              <a:t>CAD-DERIVED MODEL: MEASURED COMPARISON</a:t>
            </a:r>
          </a:p>
        </p:txBody>
      </p:sp>
      <p:sp>
        <p:nvSpPr>
          <p:cNvPr id="2" name="Rectangle 1">
            <a:extLst>
              <a:ext uri="{FF2B5EF4-FFF2-40B4-BE49-F238E27FC236}">
                <a16:creationId xmlns:a16="http://schemas.microsoft.com/office/drawing/2014/main" id="{D2E64976-E8B8-4BFB-BF2C-E1338C7ADE01}"/>
              </a:ext>
            </a:extLst>
          </p:cNvPr>
          <p:cNvSpPr>
            <a:spLocks noGrp="1"/>
          </p:cNvSpPr>
          <p:nvPr/>
        </p:nvSpPr>
        <p:spPr>
          <a:xfrm>
            <a:off x="304800" y="552450"/>
            <a:ext cx="11582400" cy="914400"/>
          </a:xfrm>
          <a:prstGeom prst="rect">
            <a:avLst/>
          </a:prstGeom>
          <a:noFill/>
          <a:ln w="0">
            <a:noFill/>
          </a:ln>
        </p:spPr>
        <p:txBody>
          <a:bodyPr/>
          <a:lstStyle>
            <a:defPPr>
              <a:defRPr sz="3150" b="1">
                <a:solidFill>
                  <a:srgbClr val="B47C50"/>
                </a:solidFill>
                <a:latin typeface="Calibri"/>
                <a:ea typeface="Calibri"/>
                <a:cs typeface="Calibri"/>
              </a:defRPr>
            </a:defPPr>
            <a:lvl1pPr>
              <a:defRPr sz="3150" b="1">
                <a:solidFill>
                  <a:srgbClr val="B47C50"/>
                </a:solidFill>
                <a:latin typeface="Calibri"/>
                <a:ea typeface="Calibri"/>
                <a:cs typeface="Calibri"/>
              </a:defRPr>
            </a:lvl1pPr>
            <a:lvl2pPr>
              <a:defRPr sz="3150" b="1">
                <a:solidFill>
                  <a:srgbClr val="B47C50"/>
                </a:solidFill>
                <a:latin typeface="Calibri"/>
                <a:ea typeface="Calibri"/>
                <a:cs typeface="Calibri"/>
              </a:defRPr>
            </a:lvl2pPr>
            <a:lvl3pPr>
              <a:defRPr sz="3150" b="1">
                <a:solidFill>
                  <a:srgbClr val="B47C50"/>
                </a:solidFill>
                <a:latin typeface="Calibri"/>
                <a:ea typeface="Calibri"/>
                <a:cs typeface="Calibri"/>
              </a:defRPr>
            </a:lvl3pPr>
            <a:lvl4pPr>
              <a:defRPr sz="3150" b="1">
                <a:solidFill>
                  <a:srgbClr val="B47C50"/>
                </a:solidFill>
                <a:latin typeface="Calibri"/>
                <a:ea typeface="Calibri"/>
                <a:cs typeface="Calibri"/>
              </a:defRPr>
            </a:lvl4pPr>
            <a:lvl5pPr>
              <a:defRPr sz="3150" b="1">
                <a:solidFill>
                  <a:srgbClr val="B47C50"/>
                </a:solidFill>
                <a:latin typeface="Calibri"/>
                <a:ea typeface="Calibri"/>
                <a:cs typeface="Calibri"/>
              </a:defRPr>
            </a:lvl5pPr>
            <a:lvl6pPr>
              <a:defRPr sz="3150" b="1">
                <a:solidFill>
                  <a:srgbClr val="B47C50"/>
                </a:solidFill>
                <a:latin typeface="Calibri"/>
                <a:ea typeface="Calibri"/>
                <a:cs typeface="Calibri"/>
              </a:defRPr>
            </a:lvl6pPr>
            <a:lvl7pPr>
              <a:defRPr sz="3150" b="1">
                <a:solidFill>
                  <a:srgbClr val="B47C50"/>
                </a:solidFill>
                <a:latin typeface="Calibri"/>
                <a:ea typeface="Calibri"/>
                <a:cs typeface="Calibri"/>
              </a:defRPr>
            </a:lvl7pPr>
            <a:lvl8pPr>
              <a:defRPr sz="3150" b="1">
                <a:solidFill>
                  <a:srgbClr val="B47C50"/>
                </a:solidFill>
                <a:latin typeface="Calibri"/>
                <a:ea typeface="Calibri"/>
                <a:cs typeface="Calibri"/>
              </a:defRPr>
            </a:lvl8pPr>
            <a:lvl9pPr>
              <a:defRPr sz="3150" b="1">
                <a:solidFill>
                  <a:srgbClr val="B47C50"/>
                </a:solidFill>
                <a:latin typeface="Calibri"/>
                <a:ea typeface="Calibri"/>
                <a:cs typeface="Calibri"/>
              </a:defRPr>
            </a:lvl9pPr>
          </a:lstStyle>
          <a:p>
            <a:pPr>
              <a:defRPr sz="3150" b="1">
                <a:solidFill>
                  <a:srgbClr val="B47C50"/>
                </a:solidFill>
                <a:latin typeface="Calibri"/>
                <a:ea typeface="Calibri"/>
                <a:cs typeface="Calibri"/>
              </a:defRPr>
            </a:pPr>
            <a:r>
              <a:rPr sz="3150" b="1">
                <a:solidFill>
                  <a:srgbClr val="B47C50"/>
                </a:solidFill>
                <a:latin typeface="Calibri"/>
                <a:ea typeface="Calibri"/>
                <a:cs typeface="Calibri"/>
              </a:rPr>
              <a:t>The matched control comparison quantifies leg separation</a:t>
            </a:r>
          </a:p>
        </p:txBody>
      </p:sp>
      <p:sp>
        <p:nvSpPr>
          <p:cNvPr id="3" name="Rectangle 2">
            <a:extLst>
              <a:ext uri="{FF2B5EF4-FFF2-40B4-BE49-F238E27FC236}">
                <a16:creationId xmlns:a16="http://schemas.microsoft.com/office/drawing/2014/main" id="{63B6065D-F639-42C6-A607-DD7AA1F04FD1}"/>
              </a:ext>
            </a:extLst>
          </p:cNvPr>
          <p:cNvSpPr>
            <a:spLocks noGrp="1"/>
          </p:cNvSpPr>
          <p:nvPr/>
        </p:nvSpPr>
        <p:spPr>
          <a:xfrm>
            <a:off x="11696700" y="6543675"/>
            <a:ext cx="266700" cy="228600"/>
          </a:xfrm>
          <a:prstGeom prst="rect">
            <a:avLst/>
          </a:prstGeom>
          <a:noFill/>
          <a:ln w="0">
            <a:noFill/>
          </a:ln>
        </p:spPr>
        <p:txBody>
          <a:bodyPr/>
          <a:lstStyle>
            <a:defPPr>
              <a:defRPr sz="1350" b="0">
                <a:solidFill>
                  <a:srgbClr val="666666"/>
                </a:solidFill>
                <a:latin typeface="Calibri"/>
                <a:ea typeface="Calibri"/>
                <a:cs typeface="Calibri"/>
              </a:defRPr>
            </a:defPPr>
            <a:lvl1pPr>
              <a:defRPr sz="1350" b="0">
                <a:solidFill>
                  <a:srgbClr val="666666"/>
                </a:solidFill>
                <a:latin typeface="Calibri"/>
                <a:ea typeface="Calibri"/>
                <a:cs typeface="Calibri"/>
              </a:defRPr>
            </a:lvl1pPr>
            <a:lvl2pPr>
              <a:defRPr sz="1350" b="0">
                <a:solidFill>
                  <a:srgbClr val="666666"/>
                </a:solidFill>
                <a:latin typeface="Calibri"/>
                <a:ea typeface="Calibri"/>
                <a:cs typeface="Calibri"/>
              </a:defRPr>
            </a:lvl2pPr>
            <a:lvl3pPr>
              <a:defRPr sz="1350" b="0">
                <a:solidFill>
                  <a:srgbClr val="666666"/>
                </a:solidFill>
                <a:latin typeface="Calibri"/>
                <a:ea typeface="Calibri"/>
                <a:cs typeface="Calibri"/>
              </a:defRPr>
            </a:lvl3pPr>
            <a:lvl4pPr>
              <a:defRPr sz="1350" b="0">
                <a:solidFill>
                  <a:srgbClr val="666666"/>
                </a:solidFill>
                <a:latin typeface="Calibri"/>
                <a:ea typeface="Calibri"/>
                <a:cs typeface="Calibri"/>
              </a:defRPr>
            </a:lvl4pPr>
            <a:lvl5pPr>
              <a:defRPr sz="1350" b="0">
                <a:solidFill>
                  <a:srgbClr val="666666"/>
                </a:solidFill>
                <a:latin typeface="Calibri"/>
                <a:ea typeface="Calibri"/>
                <a:cs typeface="Calibri"/>
              </a:defRPr>
            </a:lvl5pPr>
            <a:lvl6pPr>
              <a:defRPr sz="1350" b="0">
                <a:solidFill>
                  <a:srgbClr val="666666"/>
                </a:solidFill>
                <a:latin typeface="Calibri"/>
                <a:ea typeface="Calibri"/>
                <a:cs typeface="Calibri"/>
              </a:defRPr>
            </a:lvl6pPr>
            <a:lvl7pPr>
              <a:defRPr sz="1350" b="0">
                <a:solidFill>
                  <a:srgbClr val="666666"/>
                </a:solidFill>
                <a:latin typeface="Calibri"/>
                <a:ea typeface="Calibri"/>
                <a:cs typeface="Calibri"/>
              </a:defRPr>
            </a:lvl7pPr>
            <a:lvl8pPr>
              <a:defRPr sz="1350" b="0">
                <a:solidFill>
                  <a:srgbClr val="666666"/>
                </a:solidFill>
                <a:latin typeface="Calibri"/>
                <a:ea typeface="Calibri"/>
                <a:cs typeface="Calibri"/>
              </a:defRPr>
            </a:lvl8pPr>
            <a:lvl9pPr>
              <a:defRPr sz="1350" b="0">
                <a:solidFill>
                  <a:srgbClr val="666666"/>
                </a:solidFill>
                <a:latin typeface="Calibri"/>
                <a:ea typeface="Calibri"/>
                <a:cs typeface="Calibri"/>
              </a:defRPr>
            </a:lvl9pPr>
          </a:lstStyle>
          <a:p>
            <a:pPr>
              <a:defRPr sz="1350" b="0">
                <a:solidFill>
                  <a:srgbClr val="666666"/>
                </a:solidFill>
                <a:latin typeface="Calibri"/>
                <a:ea typeface="Calibri"/>
                <a:cs typeface="Calibri"/>
              </a:defRPr>
            </a:pPr>
            <a:r>
              <a:rPr lang="en-US" sz="1350" b="0">
                <a:solidFill>
                  <a:srgbClr val="666666"/>
                </a:solidFill>
                <a:latin typeface="Calibri"/>
                <a:ea typeface="Calibri"/>
                <a:cs typeface="Calibri"/>
              </a:rPr>
              <a:t>39</a:t>
            </a:r>
            <a:endParaRPr sz="1350" b="0">
              <a:solidFill>
                <a:srgbClr val="666666"/>
              </a:solidFill>
              <a:latin typeface="Calibri"/>
              <a:ea typeface="Calibri"/>
              <a:cs typeface="Calibri"/>
            </a:endParaRPr>
          </a:p>
        </p:txBody>
      </p:sp>
      <p:pic>
        <p:nvPicPr>
          <p:cNvPr id="4" name="Picture 3">
            <a:extLst>
              <a:ext uri="{FF2B5EF4-FFF2-40B4-BE49-F238E27FC236}">
                <a16:creationId xmlns:a16="http://schemas.microsoft.com/office/drawing/2014/main" id="{1C9EB1F9-3EAF-41E2-86E5-8881E0CBEE39}"/>
              </a:ext>
            </a:extLst>
          </p:cNvPr>
          <p:cNvPicPr>
            <a:picLocks noChangeAspect="1"/>
          </p:cNvPicPr>
          <p:nvPr/>
        </p:nvPicPr>
        <p:blipFill>
          <a:blip r:embed="rId3"/>
          <a:stretch/>
        </p:blipFill>
        <p:spPr>
          <a:xfrm>
            <a:off x="304800" y="1619250"/>
            <a:ext cx="7086600" cy="4133850"/>
          </a:xfrm>
          <a:prstGeom prst="rect">
            <a:avLst/>
          </a:prstGeom>
        </p:spPr>
      </p:pic>
      <p:graphicFrame>
        <p:nvGraphicFramePr>
          <p:cNvPr id="5" name="Table 4">
            <a:extLst>
              <a:ext uri="{FF2B5EF4-FFF2-40B4-BE49-F238E27FC236}">
                <a16:creationId xmlns:a16="http://schemas.microsoft.com/office/drawing/2014/main" id="{4C2B1B0F-2F4D-4CE3-8A35-B0DC02D314B7}"/>
              </a:ext>
            </a:extLst>
          </p:cNvPr>
          <p:cNvGraphicFramePr/>
          <p:nvPr/>
        </p:nvGraphicFramePr>
        <p:xfrm>
          <a:off x="7620000" y="1714500"/>
          <a:ext cx="426720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555625">
                <a:tc>
                  <a:txBody>
                    <a:bodyPr/>
                    <a:lstStyle/>
                    <a:p>
                      <a:r>
                        <a:rPr sz="1425" b="1">
                          <a:solidFill>
                            <a:srgbClr val="008579"/>
                          </a:solidFill>
                          <a:latin typeface="Calibri"/>
                          <a:ea typeface="Calibri"/>
                          <a:cs typeface="Calibri"/>
                        </a:rPr>
                        <a:t>15–40 s interval</a:t>
                      </a:r>
                    </a:p>
                  </a:txBody>
                  <a:tcP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tc>
                  <a:txBody>
                    <a:bodyPr/>
                    <a:lstStyle/>
                    <a:p>
                      <a:r>
                        <a:rPr sz="1425" b="1">
                          <a:solidFill>
                            <a:srgbClr val="008579"/>
                          </a:solidFill>
                          <a:latin typeface="Calibri"/>
                          <a:ea typeface="Calibri"/>
                          <a:cs typeface="Calibri"/>
                        </a:rPr>
                        <a:t>Off</a:t>
                      </a:r>
                    </a:p>
                  </a:txBody>
                  <a:tcPr>
                    <a:lnL w="9525" cap="flat" cmpd="sng" algn="ctr">
                      <a:solidFill>
                        <a:srgbClr val="AAAAAA"/>
                      </a:solidFill>
                      <a:prstDash val="solid"/>
                      <a:round/>
                      <a:headEnd type="none" w="med" len="med"/>
                      <a:tailEnd type="none" w="med" len="me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tc>
                  <a:txBody>
                    <a:bodyPr/>
                    <a:lstStyle/>
                    <a:p>
                      <a:r>
                        <a:rPr sz="1425" b="1">
                          <a:solidFill>
                            <a:srgbClr val="008579"/>
                          </a:solidFill>
                          <a:latin typeface="Calibri"/>
                          <a:ea typeface="Calibri"/>
                          <a:cs typeface="Calibri"/>
                        </a:rPr>
                        <a:t>On</a:t>
                      </a:r>
                    </a:p>
                  </a:txBody>
                  <a:tcPr>
                    <a:lnL w="9525" cap="flat" cmpd="sng" algn="ctr">
                      <a:solidFill>
                        <a:srgbClr val="AAAAAA"/>
                      </a:solidFill>
                      <a:prstDash val="solid"/>
                      <a:round/>
                      <a:headEnd type="none" w="med" len="med"/>
                      <a:tailEnd type="none" w="med" len="me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extLst>
                  <a:ext uri="{0D108BD9-81ED-4DB2-BD59-A6C34878D82A}">
                    <a16:rowId xmlns:a16="http://schemas.microsoft.com/office/drawing/2014/main" val="10000"/>
                  </a:ext>
                </a:extLst>
              </a:tr>
              <a:tr h="555625">
                <a:tc>
                  <a:txBody>
                    <a:bodyPr/>
                    <a:lstStyle/>
                    <a:p>
                      <a:r>
                        <a:rPr sz="1425" b="0">
                          <a:solidFill>
                            <a:srgbClr val="333333"/>
                          </a:solidFill>
                          <a:latin typeface="Calibri"/>
                          <a:ea typeface="Calibri"/>
                          <a:cs typeface="Calibri"/>
                        </a:rPr>
                        <a:t>Ankle order reversed</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67%</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1"/>
                  </a:ext>
                </a:extLst>
              </a:tr>
              <a:tr h="555625">
                <a:tc>
                  <a:txBody>
                    <a:bodyPr/>
                    <a:lstStyle/>
                    <a:p>
                      <a:r>
                        <a:rPr sz="1425" b="0">
                          <a:solidFill>
                            <a:srgbClr val="333333"/>
                          </a:solidFill>
                          <a:latin typeface="Calibri"/>
                          <a:ea typeface="Calibri"/>
                          <a:cs typeface="Calibri"/>
                        </a:rPr>
                        <a:t>Minimum spacing</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-38 mm</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142 mm</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2"/>
                  </a:ext>
                </a:extLst>
              </a:tr>
              <a:tr h="555625">
                <a:tc>
                  <a:txBody>
                    <a:bodyPr/>
                    <a:lstStyle/>
                    <a:p>
                      <a:r>
                        <a:rPr sz="1425" b="0">
                          <a:solidFill>
                            <a:srgbClr val="333333"/>
                          </a:solidFill>
                          <a:latin typeface="Calibri"/>
                          <a:ea typeface="Calibri"/>
                          <a:cs typeface="Calibri"/>
                        </a:rPr>
                        <a:t>Right TFL activation</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22%</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82%</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3"/>
                  </a:ext>
                </a:extLst>
              </a:tr>
              <a:tr h="555625">
                <a:tc>
                  <a:txBody>
                    <a:bodyPr/>
                    <a:lstStyle/>
                    <a:p>
                      <a:r>
                        <a:rPr sz="1425" b="0">
                          <a:solidFill>
                            <a:srgbClr val="333333"/>
                          </a:solidFill>
                          <a:latin typeface="Calibri"/>
                          <a:ea typeface="Calibri"/>
                          <a:cs typeface="Calibri"/>
                        </a:rPr>
                        <a:t>Vertical support</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4"/>
                  </a:ext>
                </a:extLst>
              </a:tr>
              <a:tr h="555625">
                <a:tc>
                  <a:txBody>
                    <a:bodyPr/>
                    <a:lstStyle/>
                    <a:p>
                      <a:r>
                        <a:rPr sz="1425" b="0">
                          <a:solidFill>
                            <a:srgbClr val="333333"/>
                          </a:solidFill>
                          <a:latin typeface="Calibri"/>
                          <a:ea typeface="Calibri"/>
                          <a:cs typeface="Calibri"/>
                        </a:rPr>
                        <a:t>Abductor floor</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5%</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6%</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506CCAF9-EF28-499C-89F5-DB51B1D87A01}"/>
              </a:ext>
            </a:extLst>
          </p:cNvPr>
          <p:cNvSpPr>
            <a:spLocks noGrp="1"/>
          </p:cNvSpPr>
          <p:nvPr/>
        </p:nvSpPr>
        <p:spPr>
          <a:xfrm>
            <a:off x="7620000" y="5238750"/>
            <a:ext cx="4267200" cy="762000"/>
          </a:xfrm>
          <a:prstGeom prst="rect">
            <a:avLst/>
          </a:prstGeom>
          <a:noFill/>
          <a:ln w="0">
            <a:noFill/>
          </a:ln>
        </p:spPr>
        <p:txBody>
          <a:bodyPr/>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All other conditions matched. Lateral and angular pelvis support remain active.</a:t>
            </a:r>
          </a:p>
        </p:txBody>
      </p:sp>
      <p:sp>
        <p:nvSpPr>
          <p:cNvPr id="7" name="Rectangle 6">
            <a:extLst>
              <a:ext uri="{FF2B5EF4-FFF2-40B4-BE49-F238E27FC236}">
                <a16:creationId xmlns:a16="http://schemas.microsoft.com/office/drawing/2014/main" id="{7696341E-114B-467C-AFB4-1143EEAC8741}"/>
              </a:ext>
            </a:extLst>
          </p:cNvPr>
          <p:cNvSpPr>
            <a:spLocks noGrp="1"/>
          </p:cNvSpPr>
          <p:nvPr/>
        </p:nvSpPr>
        <p:spPr>
          <a:xfrm>
            <a:off x="304800" y="6153150"/>
            <a:ext cx="11582400" cy="333375"/>
          </a:xfrm>
          <a:prstGeom prst="rect">
            <a:avLst/>
          </a:prstGeom>
          <a:noFill/>
          <a:ln w="0">
            <a:noFill/>
          </a:ln>
        </p:spPr>
        <p:txBody>
          <a:bodyPr/>
          <a:lstStyle>
            <a:defPPr>
              <a:defRPr sz="1575" b="1">
                <a:solidFill>
                  <a:srgbClr val="008579"/>
                </a:solidFill>
                <a:latin typeface="Calibri"/>
                <a:ea typeface="Calibri"/>
                <a:cs typeface="Calibri"/>
              </a:defRPr>
            </a:defPPr>
            <a:lvl1pPr>
              <a:defRPr sz="1575" b="1">
                <a:solidFill>
                  <a:srgbClr val="008579"/>
                </a:solidFill>
                <a:latin typeface="Calibri"/>
                <a:ea typeface="Calibri"/>
                <a:cs typeface="Calibri"/>
              </a:defRPr>
            </a:lvl1pPr>
            <a:lvl2pPr>
              <a:defRPr sz="1575" b="1">
                <a:solidFill>
                  <a:srgbClr val="008579"/>
                </a:solidFill>
                <a:latin typeface="Calibri"/>
                <a:ea typeface="Calibri"/>
                <a:cs typeface="Calibri"/>
              </a:defRPr>
            </a:lvl2pPr>
            <a:lvl3pPr>
              <a:defRPr sz="1575" b="1">
                <a:solidFill>
                  <a:srgbClr val="008579"/>
                </a:solidFill>
                <a:latin typeface="Calibri"/>
                <a:ea typeface="Calibri"/>
                <a:cs typeface="Calibri"/>
              </a:defRPr>
            </a:lvl3pPr>
            <a:lvl4pPr>
              <a:defRPr sz="1575" b="1">
                <a:solidFill>
                  <a:srgbClr val="008579"/>
                </a:solidFill>
                <a:latin typeface="Calibri"/>
                <a:ea typeface="Calibri"/>
                <a:cs typeface="Calibri"/>
              </a:defRPr>
            </a:lvl4pPr>
            <a:lvl5pPr>
              <a:defRPr sz="1575" b="1">
                <a:solidFill>
                  <a:srgbClr val="008579"/>
                </a:solidFill>
                <a:latin typeface="Calibri"/>
                <a:ea typeface="Calibri"/>
                <a:cs typeface="Calibri"/>
              </a:defRPr>
            </a:lvl5pPr>
            <a:lvl6pPr>
              <a:defRPr sz="1575" b="1">
                <a:solidFill>
                  <a:srgbClr val="008579"/>
                </a:solidFill>
                <a:latin typeface="Calibri"/>
                <a:ea typeface="Calibri"/>
                <a:cs typeface="Calibri"/>
              </a:defRPr>
            </a:lvl6pPr>
            <a:lvl7pPr>
              <a:defRPr sz="1575" b="1">
                <a:solidFill>
                  <a:srgbClr val="008579"/>
                </a:solidFill>
                <a:latin typeface="Calibri"/>
                <a:ea typeface="Calibri"/>
                <a:cs typeface="Calibri"/>
              </a:defRPr>
            </a:lvl7pPr>
            <a:lvl8pPr>
              <a:defRPr sz="1575" b="1">
                <a:solidFill>
                  <a:srgbClr val="008579"/>
                </a:solidFill>
                <a:latin typeface="Calibri"/>
                <a:ea typeface="Calibri"/>
                <a:cs typeface="Calibri"/>
              </a:defRPr>
            </a:lvl8pPr>
            <a:lvl9pPr>
              <a:defRPr sz="1575" b="1">
                <a:solidFill>
                  <a:srgbClr val="008579"/>
                </a:solidFill>
                <a:latin typeface="Calibri"/>
                <a:ea typeface="Calibri"/>
                <a:cs typeface="Calibri"/>
              </a:defRPr>
            </a:lvl9pPr>
          </a:lstStyle>
          <a:p>
            <a:pPr>
              <a:defRPr sz="1575" b="1">
                <a:solidFill>
                  <a:srgbClr val="008579"/>
                </a:solidFill>
                <a:latin typeface="Calibri"/>
                <a:ea typeface="Calibri"/>
                <a:cs typeface="Calibri"/>
              </a:defRPr>
            </a:pPr>
            <a:r>
              <a:rPr sz="1575" b="1">
                <a:solidFill>
                  <a:srgbClr val="008579"/>
                </a:solidFill>
                <a:latin typeface="Calibri"/>
                <a:ea typeface="Calibri"/>
                <a:cs typeface="Calibri"/>
              </a:rPr>
              <a:t>This supported diagnostic does not establish independent balance or BPA-controlled walking.</a:t>
            </a:r>
          </a:p>
        </p:txBody>
      </p:sp>
    </p:spTree>
    <p:extLst>
      <p:ext uri="{BB962C8B-B14F-4D97-AF65-F5344CB8AC3E}">
        <p14:creationId xmlns:p14="http://schemas.microsoft.com/office/powerpoint/2010/main" val="26776170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6904</Words>
  <Application>Microsoft Office PowerPoint</Application>
  <DocSecurity>0</DocSecurity>
  <PresentationFormat>Widescreen</PresentationFormat>
  <Paragraphs>499</Paragraphs>
  <Slides>39</Slides>
  <Notes>39</Notes>
  <HiddenSlides>7</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39</vt:i4>
      </vt:variant>
    </vt:vector>
  </HeadingPairs>
  <TitlesOfParts>
    <vt:vector size="41"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Ben Bolen</cp:lastModifiedBy>
  <cp:revision>1</cp:revision>
  <dcterms:created xsi:type="dcterms:W3CDTF">2026-10-23T16:05:49Z</dcterms:created>
  <dcterms:modified xsi:type="dcterms:W3CDTF">2026-10-28T13:42:10Z</dcterms:modified>
</cp:coreProperties>
</file>