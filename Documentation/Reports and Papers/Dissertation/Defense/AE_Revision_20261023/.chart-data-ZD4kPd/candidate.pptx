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fed892c4ac49fd" /><Relationship Type="http://schemas.openxmlformats.org/officeDocument/2006/relationships/extended-properties" Target="/docProps/app.xml" Id="R3e8bbcab31bb458d" /><Relationship Type="http://schemas.openxmlformats.org/officeDocument/2006/relationships/officeDocument" Target="/ppt/presentation.xml" Id="Rd3dc705b71194e13" /></Relationships>
</file>

<file path=ppt/presentation.xml><?xml version="1.0" encoding="utf-8"?>
<p:presentation xmlns:p="http://schemas.openxmlformats.org/presentationml/2006/main">
  <p:sldMasterIdLst>
    <p:sldMasterId xmlns:r="http://schemas.openxmlformats.org/officeDocument/2006/relationships" id="2147483648" r:id="R349b4645e45a44b3"/>
  </p:sldMasterIdLst>
  <p:notesMasterIdLst>
    <p:notesMasterId xmlns:r="http://schemas.openxmlformats.org/officeDocument/2006/relationships" r:id="R9900984099d245ef"/>
  </p:notesMasterIdLst>
  <p:sldIdLst>
    <p:sldId xmlns:r="http://schemas.openxmlformats.org/officeDocument/2006/relationships" id="256" r:id="R3d5c03852db245c4"/>
    <p:sldId xmlns:r="http://schemas.openxmlformats.org/officeDocument/2006/relationships" id="257" r:id="Rc56b8840a519474e"/>
    <p:sldId xmlns:r="http://schemas.openxmlformats.org/officeDocument/2006/relationships" id="258" r:id="Rc07aa31b3fe14721"/>
    <p:sldId xmlns:r="http://schemas.openxmlformats.org/officeDocument/2006/relationships" id="259" r:id="Rbcf2d431201e4edd"/>
    <p:sldId xmlns:r="http://schemas.openxmlformats.org/officeDocument/2006/relationships" id="260" r:id="R65733c96993a4adc"/>
    <p:sldId xmlns:r="http://schemas.openxmlformats.org/officeDocument/2006/relationships" id="261" r:id="Rc2b6bf48ec034f3e"/>
    <p:sldId xmlns:r="http://schemas.openxmlformats.org/officeDocument/2006/relationships" id="262" r:id="Re29f84a0ffa2466c"/>
    <p:sldId xmlns:r="http://schemas.openxmlformats.org/officeDocument/2006/relationships" id="263" r:id="Rfe041ca02aa741e7"/>
    <p:sldId xmlns:r="http://schemas.openxmlformats.org/officeDocument/2006/relationships" id="264" r:id="R884efb395c844f90"/>
    <p:sldId xmlns:r="http://schemas.openxmlformats.org/officeDocument/2006/relationships" id="265" r:id="R3efa00303c3048ec"/>
    <p:sldId xmlns:r="http://schemas.openxmlformats.org/officeDocument/2006/relationships" id="266" r:id="Rb957b83a7f984a34"/>
    <p:sldId xmlns:r="http://schemas.openxmlformats.org/officeDocument/2006/relationships" id="267" r:id="Rf1c8cd2070e04e5c"/>
    <p:sldId xmlns:r="http://schemas.openxmlformats.org/officeDocument/2006/relationships" id="268" r:id="R3017eb3735d74563"/>
    <p:sldId xmlns:r="http://schemas.openxmlformats.org/officeDocument/2006/relationships" id="269" r:id="Rc33ef978434e4e5f"/>
    <p:sldId xmlns:r="http://schemas.openxmlformats.org/officeDocument/2006/relationships" id="270" r:id="Re10fd8d9cb634e8b"/>
    <p:sldId xmlns:r="http://schemas.openxmlformats.org/officeDocument/2006/relationships" id="271" r:id="Rd213c7aa8de148d8"/>
    <p:sldId xmlns:r="http://schemas.openxmlformats.org/officeDocument/2006/relationships" id="272" r:id="R1f44828a76964820"/>
    <p:sldId xmlns:r="http://schemas.openxmlformats.org/officeDocument/2006/relationships" id="273" r:id="Rf1a3fc682ca74618"/>
    <p:sldId xmlns:r="http://schemas.openxmlformats.org/officeDocument/2006/relationships" id="274" r:id="R8c42446a5c394172"/>
    <p:sldId xmlns:r="http://schemas.openxmlformats.org/officeDocument/2006/relationships" id="275" r:id="R97119ee36aa947d8"/>
    <p:sldId xmlns:r="http://schemas.openxmlformats.org/officeDocument/2006/relationships" id="276" r:id="Recadadc8c84f4434"/>
    <p:sldId xmlns:r="http://schemas.openxmlformats.org/officeDocument/2006/relationships" id="277" r:id="R8e82aff76b824900"/>
    <p:sldId xmlns:r="http://schemas.openxmlformats.org/officeDocument/2006/relationships" id="278" r:id="R0f4d1ecc5abc468c"/>
    <p:sldId xmlns:r="http://schemas.openxmlformats.org/officeDocument/2006/relationships" id="279" r:id="Rf7a9d6fe4a2444c4"/>
    <p:sldId xmlns:r="http://schemas.openxmlformats.org/officeDocument/2006/relationships" id="280" r:id="Rf853b9522dc6470f"/>
    <p:sldId xmlns:r="http://schemas.openxmlformats.org/officeDocument/2006/relationships" id="281" r:id="R7e6a172597b64c8a"/>
    <p:sldId xmlns:r="http://schemas.openxmlformats.org/officeDocument/2006/relationships" id="282" r:id="Rc2104383c64341b9"/>
    <p:sldId xmlns:r="http://schemas.openxmlformats.org/officeDocument/2006/relationships" id="283" r:id="R2c63ea8b0df54a54"/>
    <p:sldId xmlns:r="http://schemas.openxmlformats.org/officeDocument/2006/relationships" id="284" r:id="R20e62d6f8614436e"/>
    <p:sldId xmlns:r="http://schemas.openxmlformats.org/officeDocument/2006/relationships" id="285" r:id="R78f1165833aa4ab1"/>
    <p:sldId xmlns:r="http://schemas.openxmlformats.org/officeDocument/2006/relationships" id="286" r:id="R9ba7e930089549f5"/>
    <p:sldId xmlns:r="http://schemas.openxmlformats.org/officeDocument/2006/relationships" id="287" r:id="Rb7ce9bd6b50343d8"/>
    <p:sldId xmlns:r="http://schemas.openxmlformats.org/officeDocument/2006/relationships" id="288" r:id="Ra1c56c732a394c67"/>
    <p:sldId xmlns:r="http://schemas.openxmlformats.org/officeDocument/2006/relationships" id="289" r:id="R4d63b8de2a114975"/>
    <p:sldId xmlns:r="http://schemas.openxmlformats.org/officeDocument/2006/relationships" id="290" r:id="R1501428074ec4038"/>
    <p:sldId xmlns:r="http://schemas.openxmlformats.org/officeDocument/2006/relationships" id="291" r:id="R97ce95b95f6343ce"/>
    <p:sldId xmlns:r="http://schemas.openxmlformats.org/officeDocument/2006/relationships" id="292" r:id="R865e23bd1a2344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e2a213853a4cbc" /><Relationship Type="http://schemas.openxmlformats.org/officeDocument/2006/relationships/slideMaster" Target="/ppt/slideMasters/slideMaster1.xml" Id="R349b4645e45a44b3" /><Relationship Type="http://schemas.openxmlformats.org/officeDocument/2006/relationships/notesMaster" Target="/ppt/notesMasters/notesMaster1.xml" Id="R9900984099d245ef" /><Relationship Type="http://schemas.openxmlformats.org/officeDocument/2006/relationships/presProps" Target="/ppt/presProps.xml" Id="R541bd46336a74cfa" /><Relationship Type="http://schemas.openxmlformats.org/officeDocument/2006/relationships/tableStyles" Target="/ppt/tableStyles.xml" Id="R426760abf9554c04" /><Relationship Type="http://schemas.openxmlformats.org/officeDocument/2006/relationships/slide" Target="/ppt/slides/slide1.xml" Id="R3d5c03852db245c4" /><Relationship Type="http://schemas.openxmlformats.org/officeDocument/2006/relationships/slide" Target="/ppt/slides/slide2.xml" Id="Rc56b8840a519474e" /><Relationship Type="http://schemas.openxmlformats.org/officeDocument/2006/relationships/slide" Target="/ppt/slides/slide3.xml" Id="Rc07aa31b3fe14721" /><Relationship Type="http://schemas.openxmlformats.org/officeDocument/2006/relationships/slide" Target="/ppt/slides/slide4.xml" Id="Rbcf2d431201e4edd" /><Relationship Type="http://schemas.openxmlformats.org/officeDocument/2006/relationships/slide" Target="/ppt/slides/slide5.xml" Id="R65733c96993a4adc" /><Relationship Type="http://schemas.openxmlformats.org/officeDocument/2006/relationships/slide" Target="/ppt/slides/slide6.xml" Id="Rc2b6bf48ec034f3e" /><Relationship Type="http://schemas.openxmlformats.org/officeDocument/2006/relationships/slide" Target="/ppt/slides/slide7.xml" Id="Re29f84a0ffa2466c" /><Relationship Type="http://schemas.openxmlformats.org/officeDocument/2006/relationships/slide" Target="/ppt/slides/slide8.xml" Id="Rfe041ca02aa741e7" /><Relationship Type="http://schemas.openxmlformats.org/officeDocument/2006/relationships/slide" Target="/ppt/slides/slide9.xml" Id="R884efb395c844f90" /><Relationship Type="http://schemas.openxmlformats.org/officeDocument/2006/relationships/slide" Target="/ppt/slides/slide10.xml" Id="R3efa00303c3048ec" /><Relationship Type="http://schemas.openxmlformats.org/officeDocument/2006/relationships/slide" Target="/ppt/slides/slide11.xml" Id="Rb957b83a7f984a34" /><Relationship Type="http://schemas.openxmlformats.org/officeDocument/2006/relationships/slide" Target="/ppt/slides/slide12.xml" Id="Rf1c8cd2070e04e5c" /><Relationship Type="http://schemas.openxmlformats.org/officeDocument/2006/relationships/slide" Target="/ppt/slides/slide13.xml" Id="R3017eb3735d74563" /><Relationship Type="http://schemas.openxmlformats.org/officeDocument/2006/relationships/slide" Target="/ppt/slides/slide14.xml" Id="Rc33ef978434e4e5f" /><Relationship Type="http://schemas.openxmlformats.org/officeDocument/2006/relationships/slide" Target="/ppt/slides/slide15.xml" Id="Re10fd8d9cb634e8b" /><Relationship Type="http://schemas.openxmlformats.org/officeDocument/2006/relationships/slide" Target="/ppt/slides/slide16.xml" Id="Rd213c7aa8de148d8" /><Relationship Type="http://schemas.openxmlformats.org/officeDocument/2006/relationships/slide" Target="/ppt/slides/slide17.xml" Id="R1f44828a76964820" /><Relationship Type="http://schemas.openxmlformats.org/officeDocument/2006/relationships/slide" Target="/ppt/slides/slide18.xml" Id="Rf1a3fc682ca74618" /><Relationship Type="http://schemas.openxmlformats.org/officeDocument/2006/relationships/slide" Target="/ppt/slides/slide19.xml" Id="R8c42446a5c394172" /><Relationship Type="http://schemas.openxmlformats.org/officeDocument/2006/relationships/slide" Target="/ppt/slides/slide20.xml" Id="R97119ee36aa947d8" /><Relationship Type="http://schemas.openxmlformats.org/officeDocument/2006/relationships/slide" Target="/ppt/slides/slide21.xml" Id="Recadadc8c84f4434" /><Relationship Type="http://schemas.openxmlformats.org/officeDocument/2006/relationships/slide" Target="/ppt/slides/slide22.xml" Id="R8e82aff76b824900" /><Relationship Type="http://schemas.openxmlformats.org/officeDocument/2006/relationships/slide" Target="/ppt/slides/slide23.xml" Id="R0f4d1ecc5abc468c" /><Relationship Type="http://schemas.openxmlformats.org/officeDocument/2006/relationships/slide" Target="/ppt/slides/slide24.xml" Id="Rf7a9d6fe4a2444c4" /><Relationship Type="http://schemas.openxmlformats.org/officeDocument/2006/relationships/slide" Target="/ppt/slides/slide25.xml" Id="Rf853b9522dc6470f" /><Relationship Type="http://schemas.openxmlformats.org/officeDocument/2006/relationships/slide" Target="/ppt/slides/slide26.xml" Id="R7e6a172597b64c8a" /><Relationship Type="http://schemas.openxmlformats.org/officeDocument/2006/relationships/slide" Target="/ppt/slides/slide27.xml" Id="Rc2104383c64341b9" /><Relationship Type="http://schemas.openxmlformats.org/officeDocument/2006/relationships/slide" Target="/ppt/slides/slide28.xml" Id="R2c63ea8b0df54a54" /><Relationship Type="http://schemas.openxmlformats.org/officeDocument/2006/relationships/slide" Target="/ppt/slides/slide29.xml" Id="R20e62d6f8614436e" /><Relationship Type="http://schemas.openxmlformats.org/officeDocument/2006/relationships/slide" Target="/ppt/slides/slide30.xml" Id="R78f1165833aa4ab1" /><Relationship Type="http://schemas.openxmlformats.org/officeDocument/2006/relationships/slide" Target="/ppt/slides/slide31.xml" Id="R9ba7e930089549f5" /><Relationship Type="http://schemas.openxmlformats.org/officeDocument/2006/relationships/slide" Target="/ppt/slides/slide32.xml" Id="Rb7ce9bd6b50343d8" /><Relationship Type="http://schemas.openxmlformats.org/officeDocument/2006/relationships/slide" Target="/ppt/slides/slide33.xml" Id="Ra1c56c732a394c67" /><Relationship Type="http://schemas.openxmlformats.org/officeDocument/2006/relationships/slide" Target="/ppt/slides/slide34.xml" Id="R4d63b8de2a114975" /><Relationship Type="http://schemas.openxmlformats.org/officeDocument/2006/relationships/slide" Target="/ppt/slides/slide35.xml" Id="R1501428074ec4038" /><Relationship Type="http://schemas.openxmlformats.org/officeDocument/2006/relationships/slide" Target="/ppt/slides/slide36.xml" Id="R97ce95b95f6343ce" /><Relationship Type="http://schemas.openxmlformats.org/officeDocument/2006/relationships/slide" Target="/ppt/slides/slide37.xml" Id="R865e23bd1a2344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d6329a4ccb4e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7ebd8cfcad4ee1" /><Relationship Type="http://schemas.openxmlformats.org/officeDocument/2006/relationships/notesMaster" Target="/ppt/notesMasters/notesMaster1.xml" Id="R1f03a6f9f8c947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5f5faf5e8c41c7" /><Relationship Type="http://schemas.openxmlformats.org/officeDocument/2006/relationships/notesMaster" Target="/ppt/notesMasters/notesMaster1.xml" Id="R3567e0a85f2c4f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805fee30d14ba9" /><Relationship Type="http://schemas.openxmlformats.org/officeDocument/2006/relationships/notesMaster" Target="/ppt/notesMasters/notesMaster1.xml" Id="R4aaa80aef9eb41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d2c9dcc98941f2" /><Relationship Type="http://schemas.openxmlformats.org/officeDocument/2006/relationships/notesMaster" Target="/ppt/notesMasters/notesMaster1.xml" Id="R02f7a66e3d2d43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80456bbc6b40be" /><Relationship Type="http://schemas.openxmlformats.org/officeDocument/2006/relationships/notesMaster" Target="/ppt/notesMasters/notesMaster1.xml" Id="R4b94e249baed49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9e1632026d44a6" /><Relationship Type="http://schemas.openxmlformats.org/officeDocument/2006/relationships/notesMaster" Target="/ppt/notesMasters/notesMaster1.xml" Id="Rc17139c14af649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b90caac2804b7d" /><Relationship Type="http://schemas.openxmlformats.org/officeDocument/2006/relationships/notesMaster" Target="/ppt/notesMasters/notesMaster1.xml" Id="R23b66545d5f14a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7d01d790014f33" /><Relationship Type="http://schemas.openxmlformats.org/officeDocument/2006/relationships/notesMaster" Target="/ppt/notesMasters/notesMaster1.xml" Id="R6f967bc658dd47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f42a13163d4cbc" /><Relationship Type="http://schemas.openxmlformats.org/officeDocument/2006/relationships/notesMaster" Target="/ppt/notesMasters/notesMaster1.xml" Id="R93aca11b3cfa40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5d15f1e9294797" /><Relationship Type="http://schemas.openxmlformats.org/officeDocument/2006/relationships/notesMaster" Target="/ppt/notesMasters/notesMaster1.xml" Id="Rf9f670c8ed5145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31457c71474ccc" /><Relationship Type="http://schemas.openxmlformats.org/officeDocument/2006/relationships/notesMaster" Target="/ppt/notesMasters/notesMaster1.xml" Id="R01e501f481de41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e24298957d4afd" /><Relationship Type="http://schemas.openxmlformats.org/officeDocument/2006/relationships/notesMaster" Target="/ppt/notesMasters/notesMaster1.xml" Id="R583f0d22fe0149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6b653b3b934c36" /><Relationship Type="http://schemas.openxmlformats.org/officeDocument/2006/relationships/notesMaster" Target="/ppt/notesMasters/notesMaster1.xml" Id="R55ec22847b294b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94c57ab901442d" /><Relationship Type="http://schemas.openxmlformats.org/officeDocument/2006/relationships/notesMaster" Target="/ppt/notesMasters/notesMaster1.xml" Id="R416a8fe0c4fb44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c1b8b723114e92" /><Relationship Type="http://schemas.openxmlformats.org/officeDocument/2006/relationships/notesMaster" Target="/ppt/notesMasters/notesMaster1.xml" Id="R4c4fb33349a345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ac23a734544540" /><Relationship Type="http://schemas.openxmlformats.org/officeDocument/2006/relationships/notesMaster" Target="/ppt/notesMasters/notesMaster1.xml" Id="Rbc15ad2bee7449c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dede60e3934e50" /><Relationship Type="http://schemas.openxmlformats.org/officeDocument/2006/relationships/notesMaster" Target="/ppt/notesMasters/notesMaster1.xml" Id="R381b048761784b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11b4a9e16347ed" /><Relationship Type="http://schemas.openxmlformats.org/officeDocument/2006/relationships/notesMaster" Target="/ppt/notesMasters/notesMaster1.xml" Id="R37a73e514f9240b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fb8b4ad6354261" /><Relationship Type="http://schemas.openxmlformats.org/officeDocument/2006/relationships/notesMaster" Target="/ppt/notesMasters/notesMaster1.xml" Id="R84e2b2ff6eba47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ca434f593843b2" /><Relationship Type="http://schemas.openxmlformats.org/officeDocument/2006/relationships/notesMaster" Target="/ppt/notesMasters/notesMaster1.xml" Id="R6ca69af926074e3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06e070fc594fec" /><Relationship Type="http://schemas.openxmlformats.org/officeDocument/2006/relationships/notesMaster" Target="/ppt/notesMasters/notesMaster1.xml" Id="Ref217eb8704d45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d7cba538c14861" /><Relationship Type="http://schemas.openxmlformats.org/officeDocument/2006/relationships/notesMaster" Target="/ppt/notesMasters/notesMaster1.xml" Id="R54fb9caff73d48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06487e36f445ef" /><Relationship Type="http://schemas.openxmlformats.org/officeDocument/2006/relationships/notesMaster" Target="/ppt/notesMasters/notesMaster1.xml" Id="R9c41bac5f9d740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8146f5a10b4fe3" /><Relationship Type="http://schemas.openxmlformats.org/officeDocument/2006/relationships/notesMaster" Target="/ppt/notesMasters/notesMaster1.xml" Id="R3ced2e1880414de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09a745d537423f" /><Relationship Type="http://schemas.openxmlformats.org/officeDocument/2006/relationships/notesMaster" Target="/ppt/notesMasters/notesMaster1.xml" Id="R2cf1d0e6c170416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eb87e4c1a3478a" /><Relationship Type="http://schemas.openxmlformats.org/officeDocument/2006/relationships/notesMaster" Target="/ppt/notesMasters/notesMaster1.xml" Id="R63be9ffc615041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6efd11236c499b" /><Relationship Type="http://schemas.openxmlformats.org/officeDocument/2006/relationships/notesMaster" Target="/ppt/notesMasters/notesMaster1.xml" Id="Rbf27050460fc4c1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ea200bfd174a13" /><Relationship Type="http://schemas.openxmlformats.org/officeDocument/2006/relationships/notesMaster" Target="/ppt/notesMasters/notesMaster1.xml" Id="Rf0bfb5cd032d4e6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79617dea22e4ae1" /><Relationship Type="http://schemas.openxmlformats.org/officeDocument/2006/relationships/notesMaster" Target="/ppt/notesMasters/notesMaster1.xml" Id="Ra8b1f300111043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cf4f2daed4c4c6e" /><Relationship Type="http://schemas.openxmlformats.org/officeDocument/2006/relationships/notesMaster" Target="/ppt/notesMasters/notesMaster1.xml" Id="R414b744561784be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a83274cc4e346ee" /><Relationship Type="http://schemas.openxmlformats.org/officeDocument/2006/relationships/notesMaster" Target="/ppt/notesMasters/notesMaster1.xml" Id="R24609211e0fd4e5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b8613263fcd48a9" /><Relationship Type="http://schemas.openxmlformats.org/officeDocument/2006/relationships/notesMaster" Target="/ppt/notesMasters/notesMaster1.xml" Id="R984001894b8a46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f759ffb8f143bf" /><Relationship Type="http://schemas.openxmlformats.org/officeDocument/2006/relationships/notesMaster" Target="/ppt/notesMasters/notesMaster1.xml" Id="Ra6c6bfbcaba747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3b2f9bb4b904eb0" /><Relationship Type="http://schemas.openxmlformats.org/officeDocument/2006/relationships/notesMaster" Target="/ppt/notesMasters/notesMaster1.xml" Id="R5a89a56d5ffe46b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fcc0d4679394baf" /><Relationship Type="http://schemas.openxmlformats.org/officeDocument/2006/relationships/notesMaster" Target="/ppt/notesMasters/notesMaster1.xml" Id="Rc4dd5d13d224449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0b6bc79bb914638" /><Relationship Type="http://schemas.openxmlformats.org/officeDocument/2006/relationships/notesMaster" Target="/ppt/notesMasters/notesMaster1.xml" Id="Rffea42716fb94f4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899ee31fce64206" /><Relationship Type="http://schemas.openxmlformats.org/officeDocument/2006/relationships/notesMaster" Target="/ppt/notesMasters/notesMaster1.xml" Id="R64ac3607d21e48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Papers\Dissertation\Defense\deck_builder\deck_assets\figs\b_flxpin_preopt.png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Left is a training test, right a validation test. The adopted full two-bracket model reduces mean RMSE from 8.656 to 1.624 N·m for training and 7.588 to 1.490 N·m for validation. RMSE means root-mean-square error. Figure traces illustrate the pattern; they do not replace per-test statistics. The historical 48.0 cm label in the source panel differs from the 48.5 cm reporting convention in the current table and must be explained if asked.</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These phase-1 angle traces are historical, suspended evidence.</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Papers\Dissertation\Defense\deck_builder\deck_assets\figs\c_animatlab_body_gui.png</a:t>
            </a:r>
          </a:p>
          <a:p xmlns:a="http://schemas.openxmlformats.org/drawingml/2006/main">
            <a:r>
              <a:t>D:\Github\Bipedal_Robot\Documentation\Reports and Papers\Dissertation\Defense\deck_builder\deck_assets\figs\c_animatlab_phase1_joint_angles.png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94798b36e84f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92be3135a543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b20b08380943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621c868a114d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4d433343464e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67152204a245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6BD1F7-E0CB-4DF4-BE8E-454F8DC87B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419DEF-C2AB-47E6-AFE6-7DA70F1A39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D0D4AB-B1B0-43CD-BED7-9220F9DBFA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D16FE3-151F-42E7-A217-BD03FE2515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748AFC-D95E-4705-BD07-5DBE9684C1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F8C3293-EF67-40AE-B09D-2CF03CC462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2C9EF0-63FC-4C79-8BCE-EF406A195A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88D223-C634-4144-B641-9C85193071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3BDA49-C635-4981-B09C-531E63BFD5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38235C-3901-42E9-A49C-467EDF5C34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c9fe40840f4ae3" /><Relationship Type="http://schemas.openxmlformats.org/officeDocument/2006/relationships/slideLayout" Target="/ppt/slideLayouts/slideLayout1.xml" Id="Rf2358b6b343d4ea5" /><Relationship Type="http://schemas.openxmlformats.org/officeDocument/2006/relationships/slideLayout" Target="/ppt/slideLayouts/slideLayout2.xml" Id="R8a903eeec49d4c6a" /><Relationship Type="http://schemas.openxmlformats.org/officeDocument/2006/relationships/slideLayout" Target="/ppt/slideLayouts/slideLayout3.xml" Id="R7118f72047b245a2" /><Relationship Type="http://schemas.openxmlformats.org/officeDocument/2006/relationships/slideLayout" Target="/ppt/slideLayouts/slideLayout4.xml" Id="Re0532c2fe2f64731" /><Relationship Type="http://schemas.openxmlformats.org/officeDocument/2006/relationships/slideLayout" Target="/ppt/slideLayouts/slideLayout5.xml" Id="Rf4d16d19abd64f94" /><Relationship Type="http://schemas.openxmlformats.org/officeDocument/2006/relationships/slideLayout" Target="/ppt/slideLayouts/slideLayout6.xml" Id="Ra760c8cfc69945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358b6b343d4ea5"/>
    <p:sldLayoutId xmlns:r="http://schemas.openxmlformats.org/officeDocument/2006/relationships" id="2147483650" r:id="R8a903eeec49d4c6a"/>
    <p:sldLayoutId xmlns:r="http://schemas.openxmlformats.org/officeDocument/2006/relationships" id="2147483651" r:id="R7118f72047b245a2"/>
    <p:sldLayoutId xmlns:r="http://schemas.openxmlformats.org/officeDocument/2006/relationships" id="2147483652" r:id="Re0532c2fe2f64731"/>
    <p:sldLayoutId xmlns:r="http://schemas.openxmlformats.org/officeDocument/2006/relationships" id="2147483653" r:id="Rf4d16d19abd64f94"/>
    <p:sldLayoutId xmlns:r="http://schemas.openxmlformats.org/officeDocument/2006/relationships" id="2147483654" r:id="Ra760c8cfc69945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950d48b1654ba1" /><Relationship Type="http://schemas.openxmlformats.org/officeDocument/2006/relationships/image" Target="/ppt/media/image.png" Id="R9c8a7ebedb934f9e" /><Relationship Type="http://schemas.openxmlformats.org/officeDocument/2006/relationships/notesSlide" Target="/ppt/notesSlides/notesSlide1.xml" Id="R6945e17f0f8649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c127ed8fab4a91" /><Relationship Type="http://schemas.openxmlformats.org/officeDocument/2006/relationships/notesSlide" Target="/ppt/notesSlides/notesSlide2.xml" Id="Rd287b6b864794e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ce44f2198f4c41" /><Relationship Type="http://schemas.openxmlformats.org/officeDocument/2006/relationships/image" Target="/ppt/media/image2.png" Id="Ra88809e6dff841db" /><Relationship Type="http://schemas.openxmlformats.org/officeDocument/2006/relationships/image" Target="/ppt/media/image3.png" Id="Rb5d41013c27c4278" /><Relationship Type="http://schemas.openxmlformats.org/officeDocument/2006/relationships/notesSlide" Target="/ppt/notesSlides/notesSlide3.xml" Id="R65610ca0936841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86b56fe61844d8" /><Relationship Type="http://schemas.openxmlformats.org/officeDocument/2006/relationships/image" Target="/ppt/media/image4.png" Id="Ra930b61ba5dd462b" /><Relationship Type="http://schemas.openxmlformats.org/officeDocument/2006/relationships/notesSlide" Target="/ppt/notesSlides/notesSlide4.xml" Id="Rd0083647a52042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4e1acaf30a4f42" /><Relationship Type="http://schemas.openxmlformats.org/officeDocument/2006/relationships/image" Target="/ppt/media/image5.png" Id="R3938ff4d30f645d6" /><Relationship Type="http://schemas.openxmlformats.org/officeDocument/2006/relationships/image" Target="/ppt/media/image6.png" Id="R98d6927b01d14189" /><Relationship Type="http://schemas.openxmlformats.org/officeDocument/2006/relationships/notesSlide" Target="/ppt/notesSlides/notesSlide5.xml" Id="Ref15a3ce8d11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d79f97cf6c4f24" /><Relationship Type="http://schemas.openxmlformats.org/officeDocument/2006/relationships/chart" Target="/ppt/slides/charts/chart1.xml" Id="Rc7f2b839d41046a5" /><Relationship Type="http://schemas.openxmlformats.org/officeDocument/2006/relationships/notesSlide" Target="/ppt/notesSlides/notesSlide6.xml" Id="Rd5ee35fdd5e54a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335f55d2d34d50" /><Relationship Type="http://schemas.openxmlformats.org/officeDocument/2006/relationships/image" Target="/ppt/media/image7.png" Id="Rec241a8bda4c4676" /><Relationship Type="http://schemas.openxmlformats.org/officeDocument/2006/relationships/image" Target="/ppt/media/image8.png" Id="Rd31deaece5a547b3" /><Relationship Type="http://schemas.openxmlformats.org/officeDocument/2006/relationships/notesSlide" Target="/ppt/notesSlides/notesSlide7.xml" Id="Rb712e4703ff747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68121e4de84b79" /><Relationship Type="http://schemas.openxmlformats.org/officeDocument/2006/relationships/image" Target="/ppt/media/image9.png" Id="Rede7e0ac9c4644b6" /><Relationship Type="http://schemas.openxmlformats.org/officeDocument/2006/relationships/notesSlide" Target="/ppt/notesSlides/notesSlide8.xml" Id="Rc571abd30bcc4e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8a2fdded864899" /><Relationship Type="http://schemas.openxmlformats.org/officeDocument/2006/relationships/image" Target="/ppt/media/image10.png" Id="R89854e86c6fa4d02" /><Relationship Type="http://schemas.openxmlformats.org/officeDocument/2006/relationships/notesSlide" Target="/ppt/notesSlides/notesSlide9.xml" Id="R1caf1036787140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ae76f456f84f48" /><Relationship Type="http://schemas.openxmlformats.org/officeDocument/2006/relationships/image" Target="/ppt/media/image11.png" Id="R02eef6702e564b0d" /><Relationship Type="http://schemas.openxmlformats.org/officeDocument/2006/relationships/notesSlide" Target="/ppt/notesSlides/notesSlide10.xml" Id="R49e6f1fae9b849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84c30fa7614c4a" /><Relationship Type="http://schemas.openxmlformats.org/officeDocument/2006/relationships/image" Target="/ppt/media/image12.png" Id="R3d02744b12cf47dc" /><Relationship Type="http://schemas.openxmlformats.org/officeDocument/2006/relationships/notesSlide" Target="/ppt/notesSlides/notesSlide11.xml" Id="Refc85339eedf49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a933152673427d" /><Relationship Type="http://schemas.openxmlformats.org/officeDocument/2006/relationships/notesSlide" Target="/ppt/notesSlides/notesSlide12.xml" Id="R6428e8f7dc224c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09f73e32b9407b" /><Relationship Type="http://schemas.openxmlformats.org/officeDocument/2006/relationships/image" Target="/ppt/media/image13.png" Id="R343d0e2374534968" /><Relationship Type="http://schemas.openxmlformats.org/officeDocument/2006/relationships/notesSlide" Target="/ppt/notesSlides/notesSlide13.xml" Id="R691faee545c940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0c6147ac7df4617" /><Relationship Type="http://schemas.openxmlformats.org/officeDocument/2006/relationships/notesSlide" Target="/ppt/notesSlides/notesSlide14.xml" Id="R30a4360c22884a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ec375f76b2644f5" /><Relationship Type="http://schemas.openxmlformats.org/officeDocument/2006/relationships/image" Target="/ppt/media/image14.png" Id="R0bf45a5a4716420b" /><Relationship Type="http://schemas.openxmlformats.org/officeDocument/2006/relationships/notesSlide" Target="/ppt/notesSlides/notesSlide15.xml" Id="R457945960f9f44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66d816da2b24b87" /><Relationship Type="http://schemas.openxmlformats.org/officeDocument/2006/relationships/image" Target="/ppt/media/image15.png" Id="R4bddeca64d6c4b25" /><Relationship Type="http://schemas.openxmlformats.org/officeDocument/2006/relationships/image" Target="/ppt/media/image16.png" Id="Re88c026d305448b9" /><Relationship Type="http://schemas.openxmlformats.org/officeDocument/2006/relationships/notesSlide" Target="/ppt/notesSlides/notesSlide16.xml" Id="Rf754eb632c7d47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6a6d749d984240" /><Relationship Type="http://schemas.openxmlformats.org/officeDocument/2006/relationships/image" Target="/ppt/media/image17.png" Id="Rea3f51f040484774" /><Relationship Type="http://schemas.openxmlformats.org/officeDocument/2006/relationships/notesSlide" Target="/ppt/notesSlides/notesSlide17.xml" Id="R23a5c44a0c4a4b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cae6c9e77454028" /><Relationship Type="http://schemas.openxmlformats.org/officeDocument/2006/relationships/image" Target="/ppt/media/image18.png" Id="Rf6e2ad0cfae14b68" /><Relationship Type="http://schemas.openxmlformats.org/officeDocument/2006/relationships/notesSlide" Target="/ppt/notesSlides/notesSlide18.xml" Id="R0cb56a12ca5a44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cb7aeb0c424b67" /><Relationship Type="http://schemas.openxmlformats.org/officeDocument/2006/relationships/image" Target="/ppt/media/image19.png" Id="R6c54ccd6a7cb47e0" /><Relationship Type="http://schemas.openxmlformats.org/officeDocument/2006/relationships/notesSlide" Target="/ppt/notesSlides/notesSlide19.xml" Id="R69ca618db5a04e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e76c05198c94e61" /><Relationship Type="http://schemas.openxmlformats.org/officeDocument/2006/relationships/image" Target="/ppt/media/image20.png" Id="R4a689728f2254a7b" /><Relationship Type="http://schemas.openxmlformats.org/officeDocument/2006/relationships/notesSlide" Target="/ppt/notesSlides/notesSlide20.xml" Id="R50641a26c839467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514367d0ddd4f92" /><Relationship Type="http://schemas.openxmlformats.org/officeDocument/2006/relationships/image" Target="/ppt/media/image21.png" Id="R4690d7646da944a6" /><Relationship Type="http://schemas.openxmlformats.org/officeDocument/2006/relationships/notesSlide" Target="/ppt/notesSlides/notesSlide21.xml" Id="Re4b5591e7ce441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1d02375dfa34132" /><Relationship Type="http://schemas.openxmlformats.org/officeDocument/2006/relationships/image" Target="/ppt/media/image22.png" Id="Rf92830382b254f7c" /><Relationship Type="http://schemas.openxmlformats.org/officeDocument/2006/relationships/notesSlide" Target="/ppt/notesSlides/notesSlide22.xml" Id="Rb996913994cf4e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e1a4da590e940d3" /><Relationship Type="http://schemas.openxmlformats.org/officeDocument/2006/relationships/image" Target="/ppt/media/image23.png" Id="R507b08faf44d4b05" /><Relationship Type="http://schemas.openxmlformats.org/officeDocument/2006/relationships/image" Target="/ppt/media/image24.png" Id="Rdc8f838622814d32" /><Relationship Type="http://schemas.openxmlformats.org/officeDocument/2006/relationships/notesSlide" Target="/ppt/notesSlides/notesSlide23.xml" Id="R924fadca26324f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c9dd3de970a4d40" /><Relationship Type="http://schemas.openxmlformats.org/officeDocument/2006/relationships/notesSlide" Target="/ppt/notesSlides/notesSlide24.xml" Id="R7e0d1927b114410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8972c9d408a40b2" /><Relationship Type="http://schemas.openxmlformats.org/officeDocument/2006/relationships/image" Target="/ppt/media/image25.png" Id="R333aae44fcba4c37" /><Relationship Type="http://schemas.openxmlformats.org/officeDocument/2006/relationships/image" Target="/ppt/media/image26.png" Id="R3158b0feb2cf490a" /><Relationship Type="http://schemas.openxmlformats.org/officeDocument/2006/relationships/notesSlide" Target="/ppt/notesSlides/notesSlide25.xml" Id="R9f6720beb27746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1d678ac18aa4823" /><Relationship Type="http://schemas.openxmlformats.org/officeDocument/2006/relationships/image" Target="/ppt/media/image27.png" Id="Rf2490fa8030340c7" /><Relationship Type="http://schemas.openxmlformats.org/officeDocument/2006/relationships/notesSlide" Target="/ppt/notesSlides/notesSlide26.xml" Id="Ra4c4c7f5f4554fc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fcbf0d739b44df8" /><Relationship Type="http://schemas.openxmlformats.org/officeDocument/2006/relationships/image" Target="/ppt/media/image28.png" Id="Re6dd2c473e3a4b07" /><Relationship Type="http://schemas.openxmlformats.org/officeDocument/2006/relationships/notesSlide" Target="/ppt/notesSlides/notesSlide27.xml" Id="R655d804782ba447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e5baebe25724b23" /><Relationship Type="http://schemas.openxmlformats.org/officeDocument/2006/relationships/notesSlide" Target="/ppt/notesSlides/notesSlide28.xml" Id="R017b97e3639f40b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480af0403c54a05" /><Relationship Type="http://schemas.openxmlformats.org/officeDocument/2006/relationships/notesSlide" Target="/ppt/notesSlides/notesSlide29.xml" Id="Rdcb85e4241dc43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80c0d8045c34069" /><Relationship Type="http://schemas.openxmlformats.org/officeDocument/2006/relationships/image" Target="/ppt/media/image29.png" Id="Reb2596ac5675430d" /><Relationship Type="http://schemas.openxmlformats.org/officeDocument/2006/relationships/notesSlide" Target="/ppt/notesSlides/notesSlide30.xml" Id="R35c291cdb2ce477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32e3438de2e4757" /><Relationship Type="http://schemas.openxmlformats.org/officeDocument/2006/relationships/notesSlide" Target="/ppt/notesSlides/notesSlide31.xml" Id="Rd96110e7be63416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205e954145a41d8" /><Relationship Type="http://schemas.openxmlformats.org/officeDocument/2006/relationships/image" Target="/ppt/media/image30.png" Id="Rddea8d5f581e496c" /><Relationship Type="http://schemas.openxmlformats.org/officeDocument/2006/relationships/notesSlide" Target="/ppt/notesSlides/notesSlide32.xml" Id="Rd6c2858f5558482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360d55321ca481e" /><Relationship Type="http://schemas.openxmlformats.org/officeDocument/2006/relationships/image" Target="/ppt/media/image31.png" Id="R7e4701daae1f42ed" /><Relationship Type="http://schemas.openxmlformats.org/officeDocument/2006/relationships/notesSlide" Target="/ppt/notesSlides/notesSlide33.xml" Id="Rd7616007ea75476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65e549ab5524b3e" /><Relationship Type="http://schemas.openxmlformats.org/officeDocument/2006/relationships/image" Target="/ppt/media/image32.png" Id="R45c53206b9fc4821" /><Relationship Type="http://schemas.openxmlformats.org/officeDocument/2006/relationships/notesSlide" Target="/ppt/notesSlides/notesSlide34.xml" Id="Rcebb82c01e044d8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769c275fb8546a4" /><Relationship Type="http://schemas.openxmlformats.org/officeDocument/2006/relationships/image" Target="/ppt/media/image33.png" Id="R3daaa3ea5b97489c" /><Relationship Type="http://schemas.openxmlformats.org/officeDocument/2006/relationships/notesSlide" Target="/ppt/notesSlides/notesSlide35.xml" Id="Ra4ffabd2e7d0413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4bece3662cd4d3d" /><Relationship Type="http://schemas.openxmlformats.org/officeDocument/2006/relationships/image" Target="/ppt/media/image34.png" Id="R1229d6608b044d82" /><Relationship Type="http://schemas.openxmlformats.org/officeDocument/2006/relationships/notesSlide" Target="/ppt/notesSlides/notesSlide36.xml" Id="Rb9c224a4c8294cd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691a4c418b74f8a" /><Relationship Type="http://schemas.openxmlformats.org/officeDocument/2006/relationships/image" Target="/ppt/media/image35.png" Id="R3ae46926a1164c8d" /><Relationship Type="http://schemas.openxmlformats.org/officeDocument/2006/relationships/notesSlide" Target="/ppt/notesSlides/notesSlide37.xml" Id="Rb8850622201e4e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23411C-0CA7-4A43-8EDA-BFAFF07D89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DISSERTATION DEFENSE</a:t>
            </a:r>
          </a:p>
        </p:txBody>
      </p:sp>
      <p:sp>
        <p:nvSpPr>
          <p:cNvPr id="2" name="">
            <a:extLst xmlns:a="http://schemas.openxmlformats.org/drawingml/2006/main">
              <a:ext uri="{FF2B5EF4-FFF2-40B4-BE49-F238E27FC236}">
                <a16:creationId xmlns:a16="http://schemas.microsoft.com/office/drawing/2014/main" id="{AFCE1A87-DD3C-42CC-B28C-6DBAFAB7F82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Movement and Control of</a:t>
            </a:r>
          </a:p>
          <a:p xmlns:a="http://schemas.openxmlformats.org/drawingml/2006/main">
            <a:pPr>
              <a:defRPr sz="3225" b="1">
                <a:solidFill>
                  <a:srgbClr val="AF7B51"/>
                </a:solidFill>
              </a:defRPr>
            </a:pPr>
            <a:r>
              <a:rPr sz="3225" b="1">
                <a:solidFill>
                  <a:srgbClr val="AF7B51"/>
                </a:solidFill>
              </a:rPr>
              <a:t>Biomimetic Humanoid Robots</a:t>
            </a:r>
          </a:p>
        </p:txBody>
      </p:sp>
      <p:sp>
        <p:nvSpPr>
          <p:cNvPr id="3" name="">
            <a:extLst xmlns:a="http://schemas.openxmlformats.org/drawingml/2006/main">
              <a:ext uri="{FF2B5EF4-FFF2-40B4-BE49-F238E27FC236}">
                <a16:creationId xmlns:a16="http://schemas.microsoft.com/office/drawing/2014/main" id="{F5079E49-5E06-4359-87E9-94259AEE75C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027EDDE8-BABC-4A14-910C-E82E503885A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01</a:t>
            </a:r>
          </a:p>
        </p:txBody>
      </p:sp>
      <p:sp>
        <p:nvSpPr>
          <p:cNvPr id="5" name="">
            <a:extLst xmlns:a="http://schemas.openxmlformats.org/drawingml/2006/main">
              <a:ext uri="{FF2B5EF4-FFF2-40B4-BE49-F238E27FC236}">
                <a16:creationId xmlns:a16="http://schemas.microsoft.com/office/drawing/2014/main" id="{16CCB146-D92D-4FC7-AB27-4B52E2981335}"/>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defRPr>
            </a:defPPr>
            <a:lvl1pPr>
              <a:defRPr sz="2850" b="1">
                <a:solidFill>
                  <a:srgbClr val="222222"/>
                </a:solidFill>
              </a:defRPr>
            </a:lvl1pPr>
            <a:lvl2pPr>
              <a:defRPr sz="2850" b="1">
                <a:solidFill>
                  <a:srgbClr val="222222"/>
                </a:solidFill>
              </a:defRPr>
            </a:lvl2pPr>
            <a:lvl3pPr>
              <a:defRPr sz="2850" b="1">
                <a:solidFill>
                  <a:srgbClr val="222222"/>
                </a:solidFill>
              </a:defRPr>
            </a:lvl3pPr>
            <a:lvl4pPr>
              <a:defRPr sz="2850" b="1">
                <a:solidFill>
                  <a:srgbClr val="222222"/>
                </a:solidFill>
              </a:defRPr>
            </a:lvl4pPr>
            <a:lvl5pPr>
              <a:defRPr sz="2850" b="1">
                <a:solidFill>
                  <a:srgbClr val="222222"/>
                </a:solidFill>
              </a:defRPr>
            </a:lvl5pPr>
            <a:lvl6pPr>
              <a:defRPr sz="2850" b="1">
                <a:solidFill>
                  <a:srgbClr val="222222"/>
                </a:solidFill>
              </a:defRPr>
            </a:lvl6pPr>
            <a:lvl7pPr>
              <a:defRPr sz="2850" b="1">
                <a:solidFill>
                  <a:srgbClr val="222222"/>
                </a:solidFill>
              </a:defRPr>
            </a:lvl7pPr>
            <a:lvl8pPr>
              <a:defRPr sz="2850" b="1">
                <a:solidFill>
                  <a:srgbClr val="222222"/>
                </a:solidFill>
              </a:defRPr>
            </a:lvl8pPr>
            <a:lvl9pPr>
              <a:defRPr sz="2850" b="1">
                <a:solidFill>
                  <a:srgbClr val="222222"/>
                </a:solidFill>
              </a:defRPr>
            </a:lvl9pPr>
          </a:lstStyle>
          <a:p xmlns:a="http://schemas.openxmlformats.org/drawingml/2006/main">
            <a:pPr>
              <a:defRPr sz="2850" b="1">
                <a:solidFill>
                  <a:srgbClr val="222222"/>
                </a:solidFill>
              </a:defRPr>
            </a:pPr>
            <a:r>
              <a:rPr sz="2850" b="1">
                <a:solidFill>
                  <a:srgbClr val="222222"/>
                </a:solidFill>
              </a:rPr>
              <a:t>Ben P. Bolen</a:t>
            </a:r>
          </a:p>
        </p:txBody>
      </p:sp>
      <p:sp>
        <p:nvSpPr>
          <p:cNvPr id="6" name="">
            <a:extLst xmlns:a="http://schemas.openxmlformats.org/drawingml/2006/main">
              <a:ext uri="{FF2B5EF4-FFF2-40B4-BE49-F238E27FC236}">
                <a16:creationId xmlns:a16="http://schemas.microsoft.com/office/drawing/2014/main" id="{816CE095-399B-4F33-AD2E-659FA04D3F20}"/>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defRPr>
            </a:defPPr>
            <a:lvl1pPr>
              <a:defRPr sz="2175" b="0">
                <a:solidFill>
                  <a:srgbClr val="222222"/>
                </a:solidFill>
              </a:defRPr>
            </a:lvl1pPr>
            <a:lvl2pPr>
              <a:defRPr sz="2175" b="0">
                <a:solidFill>
                  <a:srgbClr val="222222"/>
                </a:solidFill>
              </a:defRPr>
            </a:lvl2pPr>
            <a:lvl3pPr>
              <a:defRPr sz="2175" b="0">
                <a:solidFill>
                  <a:srgbClr val="222222"/>
                </a:solidFill>
              </a:defRPr>
            </a:lvl3pPr>
            <a:lvl4pPr>
              <a:defRPr sz="2175" b="0">
                <a:solidFill>
                  <a:srgbClr val="222222"/>
                </a:solidFill>
              </a:defRPr>
            </a:lvl4pPr>
            <a:lvl5pPr>
              <a:defRPr sz="2175" b="0">
                <a:solidFill>
                  <a:srgbClr val="222222"/>
                </a:solidFill>
              </a:defRPr>
            </a:lvl5pPr>
            <a:lvl6pPr>
              <a:defRPr sz="2175" b="0">
                <a:solidFill>
                  <a:srgbClr val="222222"/>
                </a:solidFill>
              </a:defRPr>
            </a:lvl6pPr>
            <a:lvl7pPr>
              <a:defRPr sz="2175" b="0">
                <a:solidFill>
                  <a:srgbClr val="222222"/>
                </a:solidFill>
              </a:defRPr>
            </a:lvl7pPr>
            <a:lvl8pPr>
              <a:defRPr sz="2175" b="0">
                <a:solidFill>
                  <a:srgbClr val="222222"/>
                </a:solidFill>
              </a:defRPr>
            </a:lvl8pPr>
            <a:lvl9pPr>
              <a:defRPr sz="2175" b="0">
                <a:solidFill>
                  <a:srgbClr val="222222"/>
                </a:solidFill>
              </a:defRPr>
            </a:lvl9pPr>
          </a:lstStyle>
          <a:p xmlns:a="http://schemas.openxmlformats.org/drawingml/2006/main">
            <a:pPr>
              <a:defRPr sz="2175" b="0">
                <a:solidFill>
                  <a:srgbClr val="222222"/>
                </a:solidFill>
              </a:defRPr>
            </a:pPr>
            <a:r>
              <a:rPr sz="2175" b="0">
                <a:solidFill>
                  <a:srgbClr val="222222"/>
                </a:solidFill>
              </a:rPr>
              <a:t>Mechanical Engineering PhD defense</a:t>
            </a:r>
          </a:p>
          <a:p xmlns:a="http://schemas.openxmlformats.org/drawingml/2006/main">
            <a:pPr>
              <a:defRPr sz="2175" b="0">
                <a:solidFill>
                  <a:srgbClr val="222222"/>
                </a:solidFill>
              </a:defRPr>
            </a:pPr>
            <a:r>
              <a:rPr sz="2175" b="0">
                <a:solidFill>
                  <a:srgbClr val="222222"/>
                </a:solidFill>
              </a:rPr>
              <a:t>Advisor: M. Anthony Hunt, Ph.D.</a:t>
            </a:r>
          </a:p>
          <a:p xmlns:a="http://schemas.openxmlformats.org/drawingml/2006/main">
            <a:pPr>
              <a:defRPr sz="2175" b="0">
                <a:solidFill>
                  <a:srgbClr val="222222"/>
                </a:solidFill>
              </a:defRPr>
            </a:pPr>
            <a:r>
              <a:rPr sz="2175" b="0">
                <a:solidFill>
                  <a:srgbClr val="222222"/>
                </a:solidFill>
              </a:rPr>
              <a:t>November 6, 2026</a:t>
            </a:r>
          </a:p>
        </p:txBody>
      </p:sp>
      <p:pic>
        <p:nvPicPr>
          <p:cNvPr id="7" name="">
            <a:extLst xmlns:a="http://schemas.openxmlformats.org/drawingml/2006/main">
              <a:ext uri="{FF2B5EF4-FFF2-40B4-BE49-F238E27FC236}">
                <a16:creationId xmlns:a16="http://schemas.microsoft.com/office/drawing/2014/main" id="{EE856B80-C74B-4C75-80CE-0B98EE9C0F33}"/>
              </a:ext>
            </a:extLst>
          </p:cNvPr>
          <p:cNvPicPr>
            <a:picLocks xmlns:a="http://schemas.openxmlformats.org/drawingml/2006/main" noChangeAspect="1"/>
          </p:cNvPicPr>
          <p:nvPr/>
        </p:nvPicPr>
        <p:blipFill>
          <a:blip xmlns:r="http://schemas.openxmlformats.org/officeDocument/2006/relationships" xmlns:a="http://schemas.openxmlformats.org/drawingml/2006/main" r:embed="R9c8a7ebedb934f9e"/>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10619980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F3F6BE-9F31-456A-A7F0-A3F5772B234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THE ARGUMENT</a:t>
            </a:r>
          </a:p>
        </p:txBody>
      </p:sp>
      <p:sp>
        <p:nvSpPr>
          <p:cNvPr id="2" name="">
            <a:extLst xmlns:a="http://schemas.openxmlformats.org/drawingml/2006/main">
              <a:ext uri="{FF2B5EF4-FFF2-40B4-BE49-F238E27FC236}">
                <a16:creationId xmlns:a16="http://schemas.microsoft.com/office/drawing/2014/main" id="{E7E9EA65-BD1F-4DB8-BC67-90853E282A4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2A1C3582-03E8-4A23-8D37-1F04FEE7530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1, research gaps and objectives</a:t>
            </a:r>
          </a:p>
        </p:txBody>
      </p:sp>
      <p:sp>
        <p:nvSpPr>
          <p:cNvPr id="4" name="">
            <a:extLst xmlns:a="http://schemas.openxmlformats.org/drawingml/2006/main">
              <a:ext uri="{FF2B5EF4-FFF2-40B4-BE49-F238E27FC236}">
                <a16:creationId xmlns:a16="http://schemas.microsoft.com/office/drawing/2014/main" id="{24E75DC0-F5B8-4F3B-A869-BD5DA4A4BA2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02</a:t>
            </a:r>
          </a:p>
        </p:txBody>
      </p:sp>
      <p:graphicFrame>
        <p:nvGraphicFramePr>
          <p:cNvPr id="5" name="">
            <a:extLst xmlns:a="http://schemas.openxmlformats.org/drawingml/2006/main">
              <a:ext uri="{FF2B5EF4-FFF2-40B4-BE49-F238E27FC236}">
                <a16:creationId xmlns:a16="http://schemas.microsoft.com/office/drawing/2014/main" id="{190F0F4B-65EB-4F61-AAB1-EBAB85D5528B}"/>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rPr>
                        <a:t>Knowledge gap</a:t>
                      </a:r>
                    </a:p>
                  </a:txBody>
                  <a:tcPr marL="91440" marR="91440" marT="45720" marB="45720">
                    <a:solidFill>
                      <a:srgbClr val="FFFFFF"/>
                    </a:solidFill>
                  </a:tcPr>
                </a:tc>
                <a:tc>
                  <a:txBody>
                    <a:bodyPr/>
                    <a:lstStyle/>
                    <a:p>
                      <a:r>
                        <a:rPr sz="1875" b="1">
                          <a:solidFill>
                            <a:srgbClr val="00796B"/>
                          </a:solidFill>
                        </a:rPr>
                        <a:t>Contribution tested here</a:t>
                      </a:r>
                    </a:p>
                  </a:txBody>
                  <a:tcPr marL="91440" marR="91440" marT="45720" marB="45720">
                    <a:solidFill>
                      <a:srgbClr val="FFFFFF"/>
                    </a:solidFill>
                  </a:tcPr>
                </a:tc>
              </a:tr>
              <a:tr h="800100">
                <a:tc>
                  <a:txBody>
                    <a:bodyPr/>
                    <a:lstStyle/>
                    <a:p>
                      <a:r>
                        <a:rPr sz="1875" b="0">
                          <a:solidFill>
                            <a:srgbClr val="222222"/>
                          </a:solidFill>
                        </a:rPr>
                        <a:t>Force across actuator lengths</a:t>
                      </a:r>
                    </a:p>
                  </a:txBody>
                  <a:tcPr marL="91440" marR="91440" marT="45720" marB="45720">
                    <a:solidFill>
                      <a:srgbClr val="FFFFFF"/>
                    </a:solidFill>
                  </a:tcPr>
                </a:tc>
                <a:tc>
                  <a:txBody>
                    <a:bodyPr/>
                    <a:lstStyle/>
                    <a:p>
                      <a:r>
                        <a:rPr sz="1875" b="0">
                          <a:solidFill>
                            <a:srgbClr val="222222"/>
                          </a:solidFill>
                        </a:rPr>
                        <a:t>Resting-length-aware force model</a:t>
                      </a:r>
                    </a:p>
                  </a:txBody>
                  <a:tcPr marL="91440" marR="91440" marT="45720" marB="45720">
                    <a:solidFill>
                      <a:srgbClr val="FFFFFF"/>
                    </a:solidFill>
                  </a:tcPr>
                </a:tc>
              </a:tr>
              <a:tr h="800100">
                <a:tc>
                  <a:txBody>
                    <a:bodyPr/>
                    <a:lstStyle/>
                    <a:p>
                      <a:r>
                        <a:rPr sz="1875" b="0">
                          <a:solidFill>
                            <a:srgbClr val="222222"/>
                          </a:solidFill>
                        </a:rPr>
                        <a:t>Torque through compliant routes</a:t>
                      </a:r>
                    </a:p>
                  </a:txBody>
                  <a:tcPr marL="91440" marR="91440" marT="45720" marB="45720">
                    <a:solidFill>
                      <a:srgbClr val="FFFFFF"/>
                    </a:solidFill>
                  </a:tcPr>
                </a:tc>
                <a:tc>
                  <a:txBody>
                    <a:bodyPr/>
                    <a:lstStyle/>
                    <a:p>
                      <a:r>
                        <a:rPr sz="1875" b="0">
                          <a:solidFill>
                            <a:srgbClr val="222222"/>
                          </a:solidFill>
                        </a:rPr>
                        <a:t>Identified corrections and redesigned-route tests</a:t>
                      </a:r>
                    </a:p>
                  </a:txBody>
                  <a:tcPr marL="91440" marR="91440" marT="45720" marB="45720">
                    <a:solidFill>
                      <a:srgbClr val="FFFFFF"/>
                    </a:solidFill>
                  </a:tcPr>
                </a:tc>
              </a:tr>
              <a:tr h="800100">
                <a:tc>
                  <a:txBody>
                    <a:bodyPr/>
                    <a:lstStyle/>
                    <a:p>
                      <a:r>
                        <a:rPr sz="1875" b="0">
                          <a:solidFill>
                            <a:srgbClr val="222222"/>
                          </a:solidFill>
                        </a:rPr>
                        <a:t>Scattered sensory evidence</a:t>
                      </a:r>
                    </a:p>
                  </a:txBody>
                  <a:tcPr marL="91440" marR="91440" marT="45720" marB="45720">
                    <a:solidFill>
                      <a:srgbClr val="FFFFFF"/>
                    </a:solidFill>
                  </a:tcPr>
                </a:tc>
                <a:tc>
                  <a:txBody>
                    <a:bodyPr/>
                    <a:lstStyle/>
                    <a:p>
                      <a:r>
                        <a:rPr sz="1875" b="0">
                          <a:solidFill>
                            <a:srgbClr val="222222"/>
                          </a:solidFill>
                        </a:rPr>
                        <a:t>Linked, searchable SADb resource</a:t>
                      </a:r>
                    </a:p>
                  </a:txBody>
                  <a:tcPr marL="91440" marR="91440" marT="45720" marB="45720">
                    <a:solidFill>
                      <a:srgbClr val="FFFFFF"/>
                    </a:solidFill>
                  </a:tcPr>
                </a:tc>
              </a:tr>
              <a:tr h="800100">
                <a:tc>
                  <a:txBody>
                    <a:bodyPr/>
                    <a:lstStyle/>
                    <a:p>
                      <a:r>
                        <a:rPr sz="1875" b="0">
                          <a:solidFill>
                            <a:srgbClr val="222222"/>
                          </a:solidFill>
                        </a:rPr>
                        <a:t>Untested model connections</a:t>
                      </a:r>
                    </a:p>
                  </a:txBody>
                  <a:tcPr marL="91440" marR="91440" marT="45720" marB="45720">
                    <a:solidFill>
                      <a:srgbClr val="FFFFFF"/>
                    </a:solidFill>
                  </a:tcPr>
                </a:tc>
                <a:tc>
                  <a:txBody>
                    <a:bodyPr/>
                    <a:lstStyle/>
                    <a:p>
                      <a:r>
                        <a:rPr sz="1875" b="0">
                          <a:solidFill>
                            <a:srgbClr val="222222"/>
                          </a:solidFill>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718009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1E4274-C5E5-4C02-BEB1-7F58DF9E58A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SCOPE AND ATTRIBUTION</a:t>
            </a:r>
          </a:p>
        </p:txBody>
      </p:sp>
      <p:sp>
        <p:nvSpPr>
          <p:cNvPr id="2" name="">
            <a:extLst xmlns:a="http://schemas.openxmlformats.org/drawingml/2006/main">
              <a:ext uri="{FF2B5EF4-FFF2-40B4-BE49-F238E27FC236}">
                <a16:creationId xmlns:a16="http://schemas.microsoft.com/office/drawing/2014/main" id="{64561977-916A-43D6-9406-2F96CB8AE31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9C306076-F8FA-4C45-A5BA-21A89C86350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A5668214-AD7A-43F2-AF5C-C91FCE4F31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03</a:t>
            </a:r>
          </a:p>
        </p:txBody>
      </p:sp>
      <p:pic>
        <p:nvPicPr>
          <p:cNvPr id="5" name="">
            <a:extLst xmlns:a="http://schemas.openxmlformats.org/drawingml/2006/main">
              <a:ext uri="{FF2B5EF4-FFF2-40B4-BE49-F238E27FC236}">
                <a16:creationId xmlns:a16="http://schemas.microsoft.com/office/drawing/2014/main" id="{37D30A59-6663-4262-92F3-1824DC2D14B2}"/>
              </a:ext>
            </a:extLst>
          </p:cNvPr>
          <p:cNvPicPr>
            <a:picLocks xmlns:a="http://schemas.openxmlformats.org/drawingml/2006/main" noChangeAspect="1"/>
          </p:cNvPicPr>
          <p:nvPr/>
        </p:nvPicPr>
        <p:blipFill>
          <a:blip xmlns:r="http://schemas.openxmlformats.org/officeDocument/2006/relationships" xmlns:a="http://schemas.openxmlformats.org/drawingml/2006/main" r:embed="Ra88809e6dff841db"/>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B52C914-E9F4-4859-BA47-7BEA5D4D6075}"/>
              </a:ext>
            </a:extLst>
          </p:cNvPr>
          <p:cNvPicPr>
            <a:picLocks xmlns:a="http://schemas.openxmlformats.org/drawingml/2006/main" noChangeAspect="1"/>
          </p:cNvPicPr>
          <p:nvPr/>
        </p:nvPicPr>
        <p:blipFill>
          <a:blip xmlns:r="http://schemas.openxmlformats.org/officeDocument/2006/relationships" xmlns:a="http://schemas.openxmlformats.org/drawingml/2006/main" r:embed="Rb5d41013c27c4278"/>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B2DC6FD-42BC-44E6-99A7-1B731D8E669A}"/>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Existing anatomy and mechanisms</a:t>
            </a:r>
          </a:p>
        </p:txBody>
      </p:sp>
      <p:sp>
        <p:nvSpPr>
          <p:cNvPr id="8" name="">
            <a:extLst xmlns:a="http://schemas.openxmlformats.org/drawingml/2006/main">
              <a:ext uri="{FF2B5EF4-FFF2-40B4-BE49-F238E27FC236}">
                <a16:creationId xmlns:a16="http://schemas.microsoft.com/office/drawing/2014/main" id="{C06B20A0-6D32-47C5-859A-406FE7C5704B}"/>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New route modeling and tests</a:t>
            </a:r>
          </a:p>
        </p:txBody>
      </p:sp>
    </p:spTree>
    <p:extLst>
      <p:ext uri="{BB962C8B-B14F-4D97-AF65-F5344CB8AC3E}">
        <p14:creationId xmlns:p14="http://schemas.microsoft.com/office/powerpoint/2010/main" val="2101215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FD951E-4F96-45EC-89F2-BED8E9EAA53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CHARACTERIZATION</a:t>
            </a:r>
          </a:p>
        </p:txBody>
      </p:sp>
      <p:sp>
        <p:nvSpPr>
          <p:cNvPr id="2" name="">
            <a:extLst xmlns:a="http://schemas.openxmlformats.org/drawingml/2006/main">
              <a:ext uri="{FF2B5EF4-FFF2-40B4-BE49-F238E27FC236}">
                <a16:creationId xmlns:a16="http://schemas.microsoft.com/office/drawing/2014/main" id="{CFADA247-1F26-4E6E-8906-DF47D6ABA7F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F6AD746A-960C-485F-A769-3DE5008ED74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DAB0118C-E720-4738-9171-547D1791870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04</a:t>
            </a:r>
          </a:p>
        </p:txBody>
      </p:sp>
      <p:pic>
        <p:nvPicPr>
          <p:cNvPr id="5" name="">
            <a:extLst xmlns:a="http://schemas.openxmlformats.org/drawingml/2006/main">
              <a:ext uri="{FF2B5EF4-FFF2-40B4-BE49-F238E27FC236}">
                <a16:creationId xmlns:a16="http://schemas.microsoft.com/office/drawing/2014/main" id="{E85845D9-DF62-4319-B729-66B7EAC9233C}"/>
              </a:ext>
            </a:extLst>
          </p:cNvPr>
          <p:cNvPicPr>
            <a:picLocks xmlns:a="http://schemas.openxmlformats.org/drawingml/2006/main" noChangeAspect="1"/>
          </p:cNvPicPr>
          <p:nvPr/>
        </p:nvPicPr>
        <p:blipFill>
          <a:blip xmlns:r="http://schemas.openxmlformats.org/officeDocument/2006/relationships" xmlns:a="http://schemas.openxmlformats.org/drawingml/2006/main" r:embed="Ra930b61ba5dd462b"/>
          <a:stretch xmlns:a="http://schemas.openxmlformats.org/drawingml/2006/main"/>
        </p:blipFill>
        <p:spPr>
          <a:xfrm xmlns:a="http://schemas.openxmlformats.org/drawingml/2006/main">
            <a:off x="4259036" y="1476375"/>
            <a:ext cx="367392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25B6EC-1ACC-4CFA-A524-F04A05A730B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10 mm and 20 mm actuators; 537 observations</a:t>
            </a:r>
          </a:p>
        </p:txBody>
      </p:sp>
    </p:spTree>
    <p:extLst>
      <p:ext uri="{BB962C8B-B14F-4D97-AF65-F5344CB8AC3E}">
        <p14:creationId xmlns:p14="http://schemas.microsoft.com/office/powerpoint/2010/main" val="4488156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463375-F749-4ECA-B924-83CA14ECF20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RESULT</a:t>
            </a:r>
          </a:p>
        </p:txBody>
      </p:sp>
      <p:sp>
        <p:nvSpPr>
          <p:cNvPr id="2" name="">
            <a:extLst xmlns:a="http://schemas.openxmlformats.org/drawingml/2006/main">
              <a:ext uri="{FF2B5EF4-FFF2-40B4-BE49-F238E27FC236}">
                <a16:creationId xmlns:a16="http://schemas.microsoft.com/office/drawing/2014/main" id="{970E4418-7037-4423-AB9E-D61A1DB4290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6F9B10D8-F9CA-43D6-98D5-F11DDD57074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Fmax_fit</a:t>
            </a:r>
          </a:p>
        </p:txBody>
      </p:sp>
      <p:sp>
        <p:nvSpPr>
          <p:cNvPr id="4" name="">
            <a:extLst xmlns:a="http://schemas.openxmlformats.org/drawingml/2006/main">
              <a:ext uri="{FF2B5EF4-FFF2-40B4-BE49-F238E27FC236}">
                <a16:creationId xmlns:a16="http://schemas.microsoft.com/office/drawing/2014/main" id="{1C0D5CB4-EB5E-4C3E-8E37-9A573E70B4E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05</a:t>
            </a:r>
          </a:p>
        </p:txBody>
      </p:sp>
      <p:pic>
        <p:nvPicPr>
          <p:cNvPr id="5" name="">
            <a:extLst xmlns:a="http://schemas.openxmlformats.org/drawingml/2006/main">
              <a:ext uri="{FF2B5EF4-FFF2-40B4-BE49-F238E27FC236}">
                <a16:creationId xmlns:a16="http://schemas.microsoft.com/office/drawing/2014/main" id="{F615763E-114B-48B3-BC99-D93D640971F7}"/>
              </a:ext>
            </a:extLst>
          </p:cNvPr>
          <p:cNvPicPr>
            <a:picLocks xmlns:a="http://schemas.openxmlformats.org/drawingml/2006/main" noChangeAspect="1"/>
          </p:cNvPicPr>
          <p:nvPr/>
        </p:nvPicPr>
        <p:blipFill>
          <a:blip xmlns:r="http://schemas.openxmlformats.org/officeDocument/2006/relationships" xmlns:a="http://schemas.openxmlformats.org/drawingml/2006/main" r:embed="R3938ff4d30f645d6"/>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82D9D9C-3B04-4C6F-9439-F3A2A1CB5774}"/>
              </a:ext>
            </a:extLst>
          </p:cNvPr>
          <p:cNvPicPr>
            <a:picLocks xmlns:a="http://schemas.openxmlformats.org/drawingml/2006/main" noChangeAspect="1"/>
          </p:cNvPicPr>
          <p:nvPr/>
        </p:nvPicPr>
        <p:blipFill>
          <a:blip xmlns:r="http://schemas.openxmlformats.org/officeDocument/2006/relationships" xmlns:a="http://schemas.openxmlformats.org/drawingml/2006/main" r:embed="R98d6927b01d14189"/>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16558645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C6F77A-F3B3-457C-B32A-A8D64E640C8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RESULT</a:t>
            </a:r>
          </a:p>
        </p:txBody>
      </p:sp>
      <p:sp>
        <p:nvSpPr>
          <p:cNvPr id="2" name="">
            <a:extLst xmlns:a="http://schemas.openxmlformats.org/drawingml/2006/main">
              <a:ext uri="{FF2B5EF4-FFF2-40B4-BE49-F238E27FC236}">
                <a16:creationId xmlns:a16="http://schemas.microsoft.com/office/drawing/2014/main" id="{381D557C-43FF-412A-A5C4-CB3C5E0976A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B4C26A16-16F8-48C9-92E9-625787F5BC0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94AEEFAC-4F6A-4EDF-A1A2-D041BACC8A1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06</a:t>
            </a:r>
          </a:p>
        </p:txBody>
      </p:sp>
      <p:graphicFrame>
        <p:nvGraphicFramePr>
          <p:cNvPr id="5" name="Chart">
            <a:extLst xmlns:a="http://schemas.openxmlformats.org/drawingml/2006/main">
              <a:ext uri="{FF2B5EF4-FFF2-40B4-BE49-F238E27FC236}">
                <a16:creationId xmlns:a16="http://schemas.microsoft.com/office/drawing/2014/main" id="{E04E1448-66FF-4DF2-B80E-2C13D961DE7C}"/>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c7f2b839d41046a5"/>
          </a:graphicData>
        </a:graphic>
      </p:graphicFrame>
      <p:sp>
        <p:nvSpPr>
          <p:cNvPr id="6" name="">
            <a:extLst xmlns:a="http://schemas.openxmlformats.org/drawingml/2006/main">
              <a:ext uri="{FF2B5EF4-FFF2-40B4-BE49-F238E27FC236}">
                <a16:creationId xmlns:a16="http://schemas.microsoft.com/office/drawing/2014/main" id="{5D4E6451-0A31-40F7-A549-728B983E360E}"/>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defRPr>
            </a:defPPr>
            <a:lvl1pPr>
              <a:defRPr sz="2025" b="1">
                <a:solidFill>
                  <a:srgbClr val="00796B"/>
                </a:solidFill>
              </a:defRPr>
            </a:lvl1pPr>
            <a:lvl2pPr>
              <a:defRPr sz="2025" b="1">
                <a:solidFill>
                  <a:srgbClr val="00796B"/>
                </a:solidFill>
              </a:defRPr>
            </a:lvl2pPr>
            <a:lvl3pPr>
              <a:defRPr sz="2025" b="1">
                <a:solidFill>
                  <a:srgbClr val="00796B"/>
                </a:solidFill>
              </a:defRPr>
            </a:lvl3pPr>
            <a:lvl4pPr>
              <a:defRPr sz="2025" b="1">
                <a:solidFill>
                  <a:srgbClr val="00796B"/>
                </a:solidFill>
              </a:defRPr>
            </a:lvl4pPr>
            <a:lvl5pPr>
              <a:defRPr sz="2025" b="1">
                <a:solidFill>
                  <a:srgbClr val="00796B"/>
                </a:solidFill>
              </a:defRPr>
            </a:lvl5pPr>
            <a:lvl6pPr>
              <a:defRPr sz="2025" b="1">
                <a:solidFill>
                  <a:srgbClr val="00796B"/>
                </a:solidFill>
              </a:defRPr>
            </a:lvl6pPr>
            <a:lvl7pPr>
              <a:defRPr sz="2025" b="1">
                <a:solidFill>
                  <a:srgbClr val="00796B"/>
                </a:solidFill>
              </a:defRPr>
            </a:lvl7pPr>
            <a:lvl8pPr>
              <a:defRPr sz="2025" b="1">
                <a:solidFill>
                  <a:srgbClr val="00796B"/>
                </a:solidFill>
              </a:defRPr>
            </a:lvl8pPr>
            <a:lvl9pPr>
              <a:defRPr sz="2025" b="1">
                <a:solidFill>
                  <a:srgbClr val="00796B"/>
                </a:solidFill>
              </a:defRPr>
            </a:lvl9pPr>
          </a:lstStyle>
          <a:p xmlns:a="http://schemas.openxmlformats.org/drawingml/2006/main">
            <a:pPr>
              <a:defRPr sz="2025" b="1">
                <a:solidFill>
                  <a:srgbClr val="00796B"/>
                </a:solidFill>
              </a:defRPr>
            </a:pPr>
            <a:r>
              <a:rPr sz="2025" b="1">
                <a:solidFill>
                  <a:srgbClr val="00796B"/>
                </a:solidFill>
              </a:rPr>
              <a:t>350.9 N measured</a:t>
            </a:r>
          </a:p>
        </p:txBody>
      </p:sp>
    </p:spTree>
    <p:extLst>
      <p:ext uri="{BB962C8B-B14F-4D97-AF65-F5344CB8AC3E}">
        <p14:creationId xmlns:p14="http://schemas.microsoft.com/office/powerpoint/2010/main" val="16047539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082D54-3D38-4781-9267-38EDC64F191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MODEL</a:t>
            </a:r>
          </a:p>
        </p:txBody>
      </p:sp>
      <p:sp>
        <p:nvSpPr>
          <p:cNvPr id="2" name="">
            <a:extLst xmlns:a="http://schemas.openxmlformats.org/drawingml/2006/main">
              <a:ext uri="{FF2B5EF4-FFF2-40B4-BE49-F238E27FC236}">
                <a16:creationId xmlns:a16="http://schemas.microsoft.com/office/drawing/2014/main" id="{EEDEC2F3-CDE8-4C01-8A55-F8DADBCC87D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3B6C38FE-B67E-428C-BFFF-774B6BDBE6F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BF354D34-0756-44A4-92A4-EB1EF5694D3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07</a:t>
            </a:r>
          </a:p>
        </p:txBody>
      </p:sp>
      <p:pic>
        <p:nvPicPr>
          <p:cNvPr id="5" name="">
            <a:extLst xmlns:a="http://schemas.openxmlformats.org/drawingml/2006/main">
              <a:ext uri="{FF2B5EF4-FFF2-40B4-BE49-F238E27FC236}">
                <a16:creationId xmlns:a16="http://schemas.microsoft.com/office/drawing/2014/main" id="{72DAD55A-3946-4508-A9CC-33106F70846A}"/>
              </a:ext>
            </a:extLst>
          </p:cNvPr>
          <p:cNvPicPr>
            <a:picLocks xmlns:a="http://schemas.openxmlformats.org/drawingml/2006/main" noChangeAspect="1"/>
          </p:cNvPicPr>
          <p:nvPr/>
        </p:nvPicPr>
        <p:blipFill>
          <a:blip xmlns:r="http://schemas.openxmlformats.org/officeDocument/2006/relationships" xmlns:a="http://schemas.openxmlformats.org/drawingml/2006/main" r:embed="Rec241a8bda4c4676"/>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8849DE8-9AB4-4BA4-8EC8-72DCAB609C1C}"/>
              </a:ext>
            </a:extLst>
          </p:cNvPr>
          <p:cNvPicPr>
            <a:picLocks xmlns:a="http://schemas.openxmlformats.org/drawingml/2006/main" noChangeAspect="1"/>
          </p:cNvPicPr>
          <p:nvPr/>
        </p:nvPicPr>
        <p:blipFill>
          <a:blip xmlns:r="http://schemas.openxmlformats.org/officeDocument/2006/relationships" xmlns:a="http://schemas.openxmlformats.org/drawingml/2006/main" r:embed="Rd31deaece5a547b3"/>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19563754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71EE34-6FBF-4520-BF34-CD17B21E0FF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EVIDENCE</a:t>
            </a:r>
          </a:p>
        </p:txBody>
      </p:sp>
      <p:sp>
        <p:nvSpPr>
          <p:cNvPr id="2" name="">
            <a:extLst xmlns:a="http://schemas.openxmlformats.org/drawingml/2006/main">
              <a:ext uri="{FF2B5EF4-FFF2-40B4-BE49-F238E27FC236}">
                <a16:creationId xmlns:a16="http://schemas.microsoft.com/office/drawing/2014/main" id="{D398EA5C-8E56-45BF-B12C-C48C4AF52E4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35153648-6AA1-43BD-B546-A067F2EED30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7F002293-F69E-41A9-9ABC-5C3AA811023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08</a:t>
            </a:r>
          </a:p>
        </p:txBody>
      </p:sp>
      <p:pic>
        <p:nvPicPr>
          <p:cNvPr id="5" name="">
            <a:extLst xmlns:a="http://schemas.openxmlformats.org/drawingml/2006/main">
              <a:ext uri="{FF2B5EF4-FFF2-40B4-BE49-F238E27FC236}">
                <a16:creationId xmlns:a16="http://schemas.microsoft.com/office/drawing/2014/main" id="{13A6510D-C1A3-4CBD-88AD-23CC8D34E0FD}"/>
              </a:ext>
            </a:extLst>
          </p:cNvPr>
          <p:cNvPicPr>
            <a:picLocks xmlns:a="http://schemas.openxmlformats.org/drawingml/2006/main" noChangeAspect="1"/>
          </p:cNvPicPr>
          <p:nvPr/>
        </p:nvPicPr>
        <p:blipFill>
          <a:blip xmlns:r="http://schemas.openxmlformats.org/officeDocument/2006/relationships" xmlns:a="http://schemas.openxmlformats.org/drawingml/2006/main" r:embed="Rede7e0ac9c4644b6"/>
          <a:stretch xmlns:a="http://schemas.openxmlformats.org/drawingml/2006/main"/>
        </p:blipFill>
        <p:spPr>
          <a:xfrm xmlns:a="http://schemas.openxmlformats.org/drawingml/2006/main">
            <a:off x="570822" y="1476375"/>
            <a:ext cx="11050356" cy="4762500"/>
          </a:xfrm>
          <a:prstGeom xmlns:a="http://schemas.openxmlformats.org/drawingml/2006/main" prst="rect">
            <a:avLst/>
          </a:prstGeom>
        </p:spPr>
      </p:pic>
    </p:spTree>
    <p:extLst>
      <p:ext uri="{BB962C8B-B14F-4D97-AF65-F5344CB8AC3E}">
        <p14:creationId xmlns:p14="http://schemas.microsoft.com/office/powerpoint/2010/main" val="8991063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F9CB0D-2102-45DC-836E-12DE7655FF8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EXPERIMENTAL DESIGN</a:t>
            </a:r>
          </a:p>
        </p:txBody>
      </p:sp>
      <p:sp>
        <p:nvSpPr>
          <p:cNvPr id="2" name="">
            <a:extLst xmlns:a="http://schemas.openxmlformats.org/drawingml/2006/main">
              <a:ext uri="{FF2B5EF4-FFF2-40B4-BE49-F238E27FC236}">
                <a16:creationId xmlns:a16="http://schemas.microsoft.com/office/drawing/2014/main" id="{3597E061-45CC-4230-A50C-40341DEFF16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0CB3D1AA-9186-4DE7-A5E3-D150FEAB435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39575972-F65C-4DF0-86E3-9FD5FE565FE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09</a:t>
            </a:r>
          </a:p>
        </p:txBody>
      </p:sp>
      <p:pic>
        <p:nvPicPr>
          <p:cNvPr id="5" name="">
            <a:extLst xmlns:a="http://schemas.openxmlformats.org/drawingml/2006/main">
              <a:ext uri="{FF2B5EF4-FFF2-40B4-BE49-F238E27FC236}">
                <a16:creationId xmlns:a16="http://schemas.microsoft.com/office/drawing/2014/main" id="{6367DBAC-854C-4106-A46C-078F14584096}"/>
              </a:ext>
            </a:extLst>
          </p:cNvPr>
          <p:cNvPicPr>
            <a:picLocks xmlns:a="http://schemas.openxmlformats.org/drawingml/2006/main" noChangeAspect="1"/>
          </p:cNvPicPr>
          <p:nvPr/>
        </p:nvPicPr>
        <p:blipFill>
          <a:blip xmlns:r="http://schemas.openxmlformats.org/officeDocument/2006/relationships" xmlns:a="http://schemas.openxmlformats.org/drawingml/2006/main" r:embed="R89854e86c6fa4d02"/>
          <a:stretch xmlns:a="http://schemas.openxmlformats.org/drawingml/2006/main"/>
        </p:blipFill>
        <p:spPr>
          <a:xfrm xmlns:a="http://schemas.openxmlformats.org/drawingml/2006/main">
            <a:off x="4054929" y="1476375"/>
            <a:ext cx="4082143" cy="4762500"/>
          </a:xfrm>
          <a:prstGeom xmlns:a="http://schemas.openxmlformats.org/drawingml/2006/main" prst="rect">
            <a:avLst/>
          </a:prstGeom>
        </p:spPr>
      </p:pic>
    </p:spTree>
    <p:extLst>
      <p:ext uri="{BB962C8B-B14F-4D97-AF65-F5344CB8AC3E}">
        <p14:creationId xmlns:p14="http://schemas.microsoft.com/office/powerpoint/2010/main" val="1625284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6A69EC-1B9E-4E3A-B3C7-B3F07F748B4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DIAGNOSIS</a:t>
            </a:r>
          </a:p>
        </p:txBody>
      </p:sp>
      <p:sp>
        <p:nvSpPr>
          <p:cNvPr id="2" name="">
            <a:extLst xmlns:a="http://schemas.openxmlformats.org/drawingml/2006/main">
              <a:ext uri="{FF2B5EF4-FFF2-40B4-BE49-F238E27FC236}">
                <a16:creationId xmlns:a16="http://schemas.microsoft.com/office/drawing/2014/main" id="{17ED5A42-DDF4-490C-A9A4-5425AC2EF58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07941056-8C10-4E84-B719-FE4B3DEE065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13FCD02A-C4A0-4FB1-9A9B-3D40D39725E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10</a:t>
            </a:r>
          </a:p>
        </p:txBody>
      </p:sp>
      <p:pic>
        <p:nvPicPr>
          <p:cNvPr id="5" name="">
            <a:extLst xmlns:a="http://schemas.openxmlformats.org/drawingml/2006/main">
              <a:ext uri="{FF2B5EF4-FFF2-40B4-BE49-F238E27FC236}">
                <a16:creationId xmlns:a16="http://schemas.microsoft.com/office/drawing/2014/main" id="{C3C19616-6FAC-4781-A99B-1AA05B050AC5}"/>
              </a:ext>
            </a:extLst>
          </p:cNvPr>
          <p:cNvPicPr>
            <a:picLocks xmlns:a="http://schemas.openxmlformats.org/drawingml/2006/main" noChangeAspect="1"/>
          </p:cNvPicPr>
          <p:nvPr/>
        </p:nvPicPr>
        <p:blipFill>
          <a:blip xmlns:r="http://schemas.openxmlformats.org/officeDocument/2006/relationships" xmlns:a="http://schemas.openxmlformats.org/drawingml/2006/main" r:embed="R02eef6702e564b0d"/>
          <a:stretch xmlns:a="http://schemas.openxmlformats.org/drawingml/2006/main"/>
        </p:blipFill>
        <p:spPr>
          <a:xfrm xmlns:a="http://schemas.openxmlformats.org/drawingml/2006/main">
            <a:off x="428625" y="1677865"/>
            <a:ext cx="11334750" cy="4359519"/>
          </a:xfrm>
          <a:prstGeom xmlns:a="http://schemas.openxmlformats.org/drawingml/2006/main" prst="rect">
            <a:avLst/>
          </a:prstGeom>
        </p:spPr>
      </p:pic>
    </p:spTree>
    <p:extLst>
      <p:ext uri="{BB962C8B-B14F-4D97-AF65-F5344CB8AC3E}">
        <p14:creationId xmlns:p14="http://schemas.microsoft.com/office/powerpoint/2010/main" val="412478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B846D5-4888-4C09-A077-B08C816CB50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MODEL CONTRIBUTION</a:t>
            </a:r>
          </a:p>
        </p:txBody>
      </p:sp>
      <p:sp>
        <p:nvSpPr>
          <p:cNvPr id="2" name="">
            <a:extLst xmlns:a="http://schemas.openxmlformats.org/drawingml/2006/main">
              <a:ext uri="{FF2B5EF4-FFF2-40B4-BE49-F238E27FC236}">
                <a16:creationId xmlns:a16="http://schemas.microsoft.com/office/drawing/2014/main" id="{DB3B18CA-F9FA-46D0-89AA-A731F976164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AA457630-1E7C-4CE9-BE0B-BF71993C8A6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Improved Torque Model; Appendix C</a:t>
            </a:r>
          </a:p>
        </p:txBody>
      </p:sp>
      <p:sp>
        <p:nvSpPr>
          <p:cNvPr id="4" name="">
            <a:extLst xmlns:a="http://schemas.openxmlformats.org/drawingml/2006/main">
              <a:ext uri="{FF2B5EF4-FFF2-40B4-BE49-F238E27FC236}">
                <a16:creationId xmlns:a16="http://schemas.microsoft.com/office/drawing/2014/main" id="{C6F261E1-F086-4FCE-9AFB-63A1495AE50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11</a:t>
            </a:r>
          </a:p>
        </p:txBody>
      </p:sp>
      <p:pic>
        <p:nvPicPr>
          <p:cNvPr id="5" name="">
            <a:extLst xmlns:a="http://schemas.openxmlformats.org/drawingml/2006/main">
              <a:ext uri="{FF2B5EF4-FFF2-40B4-BE49-F238E27FC236}">
                <a16:creationId xmlns:a16="http://schemas.microsoft.com/office/drawing/2014/main" id="{F2997F92-37EC-4F42-86AD-0ACA11157EC4}"/>
              </a:ext>
            </a:extLst>
          </p:cNvPr>
          <p:cNvPicPr>
            <a:picLocks xmlns:a="http://schemas.openxmlformats.org/drawingml/2006/main" noChangeAspect="1"/>
          </p:cNvPicPr>
          <p:nvPr/>
        </p:nvPicPr>
        <p:blipFill>
          <a:blip xmlns:r="http://schemas.openxmlformats.org/officeDocument/2006/relationships" xmlns:a="http://schemas.openxmlformats.org/drawingml/2006/main" r:embed="R3d02744b12cf47dc"/>
          <a:stretch xmlns:a="http://schemas.openxmlformats.org/drawingml/2006/main"/>
        </p:blipFill>
        <p:spPr>
          <a:xfrm xmlns:a="http://schemas.openxmlformats.org/drawingml/2006/main">
            <a:off x="428625" y="1791386"/>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FACF767-D6F0-45C9-B386-8DEEB8EFC9F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Effective system stiffness includes the fixtures and transmission</a:t>
            </a:r>
          </a:p>
        </p:txBody>
      </p:sp>
    </p:spTree>
    <p:extLst>
      <p:ext uri="{BB962C8B-B14F-4D97-AF65-F5344CB8AC3E}">
        <p14:creationId xmlns:p14="http://schemas.microsoft.com/office/powerpoint/2010/main" val="18882644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9802C4-B0B1-402E-9809-D882391E904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IDENTIFICATION</a:t>
            </a:r>
          </a:p>
        </p:txBody>
      </p:sp>
      <p:sp>
        <p:nvSpPr>
          <p:cNvPr id="2" name="">
            <a:extLst xmlns:a="http://schemas.openxmlformats.org/drawingml/2006/main">
              <a:ext uri="{FF2B5EF4-FFF2-40B4-BE49-F238E27FC236}">
                <a16:creationId xmlns:a16="http://schemas.microsoft.com/office/drawing/2014/main" id="{CC705918-34D5-47B1-BFDB-2EF8C3C5CEB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B309FF64-5DA7-4FDA-B5FC-68942D6DF3E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D42A87CB-4868-4FC0-8416-0301A35C63E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12</a:t>
            </a:r>
          </a:p>
        </p:txBody>
      </p:sp>
      <p:graphicFrame>
        <p:nvGraphicFramePr>
          <p:cNvPr id="5" name="">
            <a:extLst xmlns:a="http://schemas.openxmlformats.org/drawingml/2006/main">
              <a:ext uri="{FF2B5EF4-FFF2-40B4-BE49-F238E27FC236}">
                <a16:creationId xmlns:a16="http://schemas.microsoft.com/office/drawing/2014/main" id="{5E5EA644-BF10-404A-9AD3-025FFBDCBCED}"/>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rPr>
                        <a:t>Adopted fold</a:t>
                      </a:r>
                    </a:p>
                  </a:txBody>
                  <a:tcPr marL="91440" marR="91440" marT="45720" marB="45720">
                    <a:solidFill>
                      <a:srgbClr val="FFFFFF"/>
                    </a:solidFill>
                  </a:tcPr>
                </a:tc>
                <a:tc>
                  <a:txBody>
                    <a:bodyPr/>
                    <a:lstStyle/>
                    <a:p>
                      <a:r>
                        <a:rPr sz="1875" b="1">
                          <a:solidFill>
                            <a:srgbClr val="00796B"/>
                          </a:solidFill>
                        </a:rPr>
                        <a:t>Training</a:t>
                      </a:r>
                    </a:p>
                  </a:txBody>
                  <a:tcPr marL="91440" marR="91440" marT="45720" marB="45720">
                    <a:solidFill>
                      <a:srgbClr val="FFFFFF"/>
                    </a:solidFill>
                  </a:tcPr>
                </a:tc>
                <a:tc>
                  <a:txBody>
                    <a:bodyPr/>
                    <a:lstStyle/>
                    <a:p>
                      <a:r>
                        <a:rPr sz="1875" b="1">
                          <a:solidFill>
                            <a:srgbClr val="00796B"/>
                          </a:solidFill>
                        </a:rPr>
                        <a:t>Held out</a:t>
                      </a:r>
                    </a:p>
                  </a:txBody>
                  <a:tcPr marL="91440" marR="91440" marT="45720" marB="45720">
                    <a:solidFill>
                      <a:srgbClr val="FFFFFF"/>
                    </a:solidFill>
                  </a:tcPr>
                </a:tc>
                <a:tc>
                  <a:txBody>
                    <a:bodyPr/>
                    <a:lstStyle/>
                    <a:p>
                      <a:r>
                        <a:rPr sz="1875" b="1">
                          <a:solidFill>
                            <a:srgbClr val="00796B"/>
                          </a:solidFill>
                        </a:rPr>
                        <a:t>Not used</a:t>
                      </a:r>
                    </a:p>
                  </a:txBody>
                  <a:tcPr marL="91440" marR="91440" marT="45720" marB="45720">
                    <a:solidFill>
                      <a:srgbClr val="FFFFFF"/>
                    </a:solidFill>
                  </a:tcPr>
                </a:tc>
              </a:tr>
              <a:tr h="857250">
                <a:tc>
                  <a:txBody>
                    <a:bodyPr/>
                    <a:lstStyle/>
                    <a:p>
                      <a:r>
                        <a:rPr sz="1875" b="0">
                          <a:solidFill>
                            <a:srgbClr val="222222"/>
                          </a:solidFill>
                        </a:rPr>
                        <a:t>Pinned flexor</a:t>
                      </a:r>
                    </a:p>
                  </a:txBody>
                  <a:tcPr marL="91440" marR="91440" marT="45720" marB="45720">
                    <a:solidFill>
                      <a:srgbClr val="FFFFFF"/>
                    </a:solidFill>
                  </a:tcPr>
                </a:tc>
                <a:tc>
                  <a:txBody>
                    <a:bodyPr/>
                    <a:lstStyle/>
                    <a:p>
                      <a:r>
                        <a:rPr sz="1875" b="0">
                          <a:solidFill>
                            <a:srgbClr val="222222"/>
                          </a:solidFill>
                        </a:rPr>
                        <a:t>2 tests</a:t>
                      </a:r>
                    </a:p>
                  </a:txBody>
                  <a:tcPr marL="91440" marR="91440" marT="45720" marB="45720">
                    <a:solidFill>
                      <a:srgbClr val="FFFFFF"/>
                    </a:solidFill>
                  </a:tcPr>
                </a:tc>
                <a:tc>
                  <a:txBody>
                    <a:bodyPr/>
                    <a:lstStyle/>
                    <a:p>
                      <a:r>
                        <a:rPr sz="1875" b="0">
                          <a:solidFill>
                            <a:srgbClr val="222222"/>
                          </a:solidFill>
                        </a:rPr>
                        <a:t>2 tests</a:t>
                      </a:r>
                    </a:p>
                  </a:txBody>
                  <a:tcPr marL="91440" marR="91440" marT="45720" marB="45720">
                    <a:solidFill>
                      <a:srgbClr val="FFFFFF"/>
                    </a:solidFill>
                  </a:tcPr>
                </a:tc>
                <a:tc>
                  <a:txBody>
                    <a:bodyPr/>
                    <a:lstStyle/>
                    <a:p>
                      <a:r>
                        <a:rPr sz="1875" b="0">
                          <a:solidFill>
                            <a:srgbClr val="222222"/>
                          </a:solidFill>
                        </a:rPr>
                        <a:t>1 test</a:t>
                      </a:r>
                    </a:p>
                  </a:txBody>
                  <a:tcPr marL="91440" marR="91440" marT="45720" marB="45720">
                    <a:solidFill>
                      <a:srgbClr val="FFFFFF"/>
                    </a:solidFill>
                  </a:tcPr>
                </a:tc>
              </a:tr>
              <a:tr h="857250">
                <a:tc>
                  <a:txBody>
                    <a:bodyPr/>
                    <a:lstStyle/>
                    <a:p>
                      <a:r>
                        <a:rPr sz="1875" b="0">
                          <a:solidFill>
                            <a:srgbClr val="222222"/>
                          </a:solidFill>
                        </a:rPr>
                        <a:t>Pinned extensor</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E3AB393-7D07-47D6-A9EF-1593141CF89C}"/>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Identify corrections: gamultiobj</a:t>
            </a:r>
          </a:p>
        </p:txBody>
      </p:sp>
      <p:sp>
        <p:nvSpPr>
          <p:cNvPr id="7" name="">
            <a:extLst xmlns:a="http://schemas.openxmlformats.org/drawingml/2006/main">
              <a:ext uri="{FF2B5EF4-FFF2-40B4-BE49-F238E27FC236}">
                <a16:creationId xmlns:a16="http://schemas.microsoft.com/office/drawing/2014/main" id="{BF1F0C0C-FEC4-4BA1-A5CA-B956605ABF30}"/>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Redesign routes: surrogateopt, then patternsearch</a:t>
            </a:r>
          </a:p>
        </p:txBody>
      </p:sp>
    </p:spTree>
    <p:extLst>
      <p:ext uri="{BB962C8B-B14F-4D97-AF65-F5344CB8AC3E}">
        <p14:creationId xmlns:p14="http://schemas.microsoft.com/office/powerpoint/2010/main" val="12360044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E40128-FAB7-4A7E-ACDB-FEF72AA05D9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REPRESENTATIVE EVIDENCE</a:t>
            </a:r>
          </a:p>
        </p:txBody>
      </p:sp>
      <p:sp>
        <p:nvSpPr>
          <p:cNvPr id="2" name="">
            <a:extLst xmlns:a="http://schemas.openxmlformats.org/drawingml/2006/main">
              <a:ext uri="{FF2B5EF4-FFF2-40B4-BE49-F238E27FC236}">
                <a16:creationId xmlns:a16="http://schemas.microsoft.com/office/drawing/2014/main" id="{186AA571-49EC-44D5-99A7-FE6EA638398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78A5A599-2A2C-49E3-94A7-235160E1CB9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32A9A10C-076E-4CF0-97A9-3E422A3FAAE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13</a:t>
            </a:r>
          </a:p>
        </p:txBody>
      </p:sp>
      <p:pic>
        <p:nvPicPr>
          <p:cNvPr id="5" name="">
            <a:extLst xmlns:a="http://schemas.openxmlformats.org/drawingml/2006/main">
              <a:ext uri="{FF2B5EF4-FFF2-40B4-BE49-F238E27FC236}">
                <a16:creationId xmlns:a16="http://schemas.microsoft.com/office/drawing/2014/main" id="{A5AFCEC1-A01C-48F2-9A3B-257C1A4E986C}"/>
              </a:ext>
            </a:extLst>
          </p:cNvPr>
          <p:cNvPicPr>
            <a:picLocks xmlns:a="http://schemas.openxmlformats.org/drawingml/2006/main" noChangeAspect="1"/>
          </p:cNvPicPr>
          <p:nvPr/>
        </p:nvPicPr>
        <p:blipFill>
          <a:blip xmlns:r="http://schemas.openxmlformats.org/officeDocument/2006/relationships" xmlns:a="http://schemas.openxmlformats.org/drawingml/2006/main" r:embed="R343d0e2374534968"/>
          <a:stretch xmlns:a="http://schemas.openxmlformats.org/drawingml/2006/main"/>
        </p:blipFill>
        <p:spPr>
          <a:xfrm xmlns:a="http://schemas.openxmlformats.org/drawingml/2006/main">
            <a:off x="456197" y="1476375"/>
            <a:ext cx="1127960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E3214D-7D3E-40B9-995D-2CC85FCD194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Held-out mean RMSE: 7.588 to 1.490 N·m</a:t>
            </a:r>
          </a:p>
        </p:txBody>
      </p:sp>
    </p:spTree>
    <p:extLst>
      <p:ext uri="{BB962C8B-B14F-4D97-AF65-F5344CB8AC3E}">
        <p14:creationId xmlns:p14="http://schemas.microsoft.com/office/powerpoint/2010/main" val="13868896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3D696D-E96B-497E-873F-AF496C32AA3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VALIDATION</a:t>
            </a:r>
          </a:p>
        </p:txBody>
      </p:sp>
      <p:sp>
        <p:nvSpPr>
          <p:cNvPr id="2" name="">
            <a:extLst xmlns:a="http://schemas.openxmlformats.org/drawingml/2006/main">
              <a:ext uri="{FF2B5EF4-FFF2-40B4-BE49-F238E27FC236}">
                <a16:creationId xmlns:a16="http://schemas.microsoft.com/office/drawing/2014/main" id="{FE5A4556-C1BB-400E-A73F-AD31B3ED511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780BE254-F303-441C-8044-74370E6099F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Tables FlxPinGof and ExtPinGof</a:t>
            </a:r>
          </a:p>
        </p:txBody>
      </p:sp>
      <p:sp>
        <p:nvSpPr>
          <p:cNvPr id="4" name="">
            <a:extLst xmlns:a="http://schemas.openxmlformats.org/drawingml/2006/main">
              <a:ext uri="{FF2B5EF4-FFF2-40B4-BE49-F238E27FC236}">
                <a16:creationId xmlns:a16="http://schemas.microsoft.com/office/drawing/2014/main" id="{A3A23271-E648-48C5-994A-E4964DE5DBE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14</a:t>
            </a:r>
          </a:p>
        </p:txBody>
      </p:sp>
      <p:graphicFrame>
        <p:nvGraphicFramePr>
          <p:cNvPr id="5" name="">
            <a:extLst xmlns:a="http://schemas.openxmlformats.org/drawingml/2006/main">
              <a:ext uri="{FF2B5EF4-FFF2-40B4-BE49-F238E27FC236}">
                <a16:creationId xmlns:a16="http://schemas.microsoft.com/office/drawing/2014/main" id="{A0D29E38-764E-4E9F-8AFC-F69C6C525136}"/>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rPr>
                        <a:t>Held-out mean RMSE (N·m)</a:t>
                      </a:r>
                    </a:p>
                  </a:txBody>
                  <a:tcPr marL="91440" marR="91440" marT="45720" marB="45720">
                    <a:solidFill>
                      <a:srgbClr val="FFFFFF"/>
                    </a:solidFill>
                  </a:tcPr>
                </a:tc>
                <a:tc>
                  <a:txBody>
                    <a:bodyPr/>
                    <a:lstStyle/>
                    <a:p>
                      <a:r>
                        <a:rPr sz="1875" b="1">
                          <a:solidFill>
                            <a:srgbClr val="00796B"/>
                          </a:solidFill>
                        </a:rPr>
                        <a:t>No corrections</a:t>
                      </a:r>
                    </a:p>
                  </a:txBody>
                  <a:tcPr marL="91440" marR="91440" marT="45720" marB="45720">
                    <a:solidFill>
                      <a:srgbClr val="FFFFFF"/>
                    </a:solidFill>
                  </a:tcPr>
                </a:tc>
                <a:tc>
                  <a:txBody>
                    <a:bodyPr/>
                    <a:lstStyle/>
                    <a:p>
                      <a:r>
                        <a:rPr sz="1875" b="1">
                          <a:solidFill>
                            <a:srgbClr val="00796B"/>
                          </a:solidFill>
                        </a:rPr>
                        <a:t>Corrected</a:t>
                      </a:r>
                    </a:p>
                  </a:txBody>
                  <a:tcPr marL="91440" marR="91440" marT="45720" marB="45720">
                    <a:solidFill>
                      <a:srgbClr val="FFFFFF"/>
                    </a:solidFill>
                  </a:tcPr>
                </a:tc>
              </a:tr>
              <a:tr h="825500">
                <a:tc>
                  <a:txBody>
                    <a:bodyPr/>
                    <a:lstStyle/>
                    <a:p>
                      <a:r>
                        <a:rPr sz="1875" b="0">
                          <a:solidFill>
                            <a:srgbClr val="222222"/>
                          </a:solidFill>
                        </a:rPr>
                        <a:t>Flexor, 2 validation tests</a:t>
                      </a:r>
                    </a:p>
                  </a:txBody>
                  <a:tcPr marL="91440" marR="91440" marT="45720" marB="45720">
                    <a:solidFill>
                      <a:srgbClr val="FFFFFF"/>
                    </a:solidFill>
                  </a:tcPr>
                </a:tc>
                <a:tc>
                  <a:txBody>
                    <a:bodyPr/>
                    <a:lstStyle/>
                    <a:p>
                      <a:r>
                        <a:rPr sz="1875" b="0">
                          <a:solidFill>
                            <a:srgbClr val="222222"/>
                          </a:solidFill>
                        </a:rPr>
                        <a:t>7.588</a:t>
                      </a:r>
                    </a:p>
                  </a:txBody>
                  <a:tcPr marL="91440" marR="91440" marT="45720" marB="45720">
                    <a:solidFill>
                      <a:srgbClr val="FFFFFF"/>
                    </a:solidFill>
                  </a:tcPr>
                </a:tc>
                <a:tc>
                  <a:txBody>
                    <a:bodyPr/>
                    <a:lstStyle/>
                    <a:p>
                      <a:r>
                        <a:rPr sz="1875" b="0">
                          <a:solidFill>
                            <a:srgbClr val="222222"/>
                          </a:solidFill>
                        </a:rPr>
                        <a:t>1.490</a:t>
                      </a:r>
                    </a:p>
                  </a:txBody>
                  <a:tcPr marL="91440" marR="91440" marT="45720" marB="45720">
                    <a:solidFill>
                      <a:srgbClr val="FFFFFF"/>
                    </a:solidFill>
                  </a:tcPr>
                </a:tc>
              </a:tr>
              <a:tr h="825500">
                <a:tc>
                  <a:txBody>
                    <a:bodyPr/>
                    <a:lstStyle/>
                    <a:p>
                      <a:r>
                        <a:rPr sz="1875" b="0">
                          <a:solidFill>
                            <a:srgbClr val="222222"/>
                          </a:solidFill>
                        </a:rPr>
                        <a:t>Extensor, 3 validation tests</a:t>
                      </a:r>
                    </a:p>
                  </a:txBody>
                  <a:tcPr marL="91440" marR="91440" marT="45720" marB="45720">
                    <a:solidFill>
                      <a:srgbClr val="FFFFFF"/>
                    </a:solidFill>
                  </a:tcPr>
                </a:tc>
                <a:tc>
                  <a:txBody>
                    <a:bodyPr/>
                    <a:lstStyle/>
                    <a:p>
                      <a:r>
                        <a:rPr sz="1875" b="0">
                          <a:solidFill>
                            <a:srgbClr val="222222"/>
                          </a:solidFill>
                        </a:rPr>
                        <a:t>2.554</a:t>
                      </a:r>
                    </a:p>
                  </a:txBody>
                  <a:tcPr marL="91440" marR="91440" marT="45720" marB="45720">
                    <a:solidFill>
                      <a:srgbClr val="FFFFFF"/>
                    </a:solidFill>
                  </a:tcPr>
                </a:tc>
                <a:tc>
                  <a:txBody>
                    <a:bodyPr/>
                    <a:lstStyle/>
                    <a:p>
                      <a:r>
                        <a:rPr sz="1875" b="0">
                          <a:solidFill>
                            <a:srgbClr val="222222"/>
                          </a:solidFill>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38733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C44634-2162-41CE-A973-82FCA4D0EFE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REASON TO REDESIGN</a:t>
            </a:r>
          </a:p>
        </p:txBody>
      </p:sp>
      <p:sp>
        <p:nvSpPr>
          <p:cNvPr id="2" name="">
            <a:extLst xmlns:a="http://schemas.openxmlformats.org/drawingml/2006/main">
              <a:ext uri="{FF2B5EF4-FFF2-40B4-BE49-F238E27FC236}">
                <a16:creationId xmlns:a16="http://schemas.microsoft.com/office/drawing/2014/main" id="{7FAD9951-3881-4563-882A-A2240344EEF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B05BA0D4-B1C6-4494-BB00-317C2F4EDA4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FlxGrp, panel B</a:t>
            </a:r>
          </a:p>
        </p:txBody>
      </p:sp>
      <p:sp>
        <p:nvSpPr>
          <p:cNvPr id="4" name="">
            <a:extLst xmlns:a="http://schemas.openxmlformats.org/drawingml/2006/main">
              <a:ext uri="{FF2B5EF4-FFF2-40B4-BE49-F238E27FC236}">
                <a16:creationId xmlns:a16="http://schemas.microsoft.com/office/drawing/2014/main" id="{9C6E09EE-D8FC-4E56-98A3-A3463DCE08B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15</a:t>
            </a:r>
          </a:p>
        </p:txBody>
      </p:sp>
      <p:pic>
        <p:nvPicPr>
          <p:cNvPr id="5" name="">
            <a:extLst xmlns:a="http://schemas.openxmlformats.org/drawingml/2006/main">
              <a:ext uri="{FF2B5EF4-FFF2-40B4-BE49-F238E27FC236}">
                <a16:creationId xmlns:a16="http://schemas.microsoft.com/office/drawing/2014/main" id="{ED6F058E-29AF-457A-BE9D-070BF33F8C40}"/>
              </a:ext>
            </a:extLst>
          </p:cNvPr>
          <p:cNvPicPr>
            <a:picLocks xmlns:a="http://schemas.openxmlformats.org/drawingml/2006/main" noChangeAspect="1"/>
          </p:cNvPicPr>
          <p:nvPr/>
        </p:nvPicPr>
        <p:blipFill>
          <a:blip xmlns:r="http://schemas.openxmlformats.org/officeDocument/2006/relationships" xmlns:a="http://schemas.openxmlformats.org/drawingml/2006/main" r:embed="R0bf45a5a4716420b"/>
          <a:stretch xmlns:a="http://schemas.openxmlformats.org/drawingml/2006/main"/>
        </p:blipFill>
        <p:spPr>
          <a:xfrm xmlns:a="http://schemas.openxmlformats.org/drawingml/2006/main">
            <a:off x="1855862" y="1476375"/>
            <a:ext cx="84802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643BC9E-BECB-459F-B71F-B1B19D1EF71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Earlier geometry: one 20 mm actuator</a:t>
            </a:r>
          </a:p>
        </p:txBody>
      </p:sp>
    </p:spTree>
    <p:extLst>
      <p:ext uri="{BB962C8B-B14F-4D97-AF65-F5344CB8AC3E}">
        <p14:creationId xmlns:p14="http://schemas.microsoft.com/office/powerpoint/2010/main" val="15186864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9B0756-A4C8-4503-AF88-3DE0A47B9C0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GEOMETRY AND HARDWARE</a:t>
            </a:r>
          </a:p>
        </p:txBody>
      </p:sp>
      <p:sp>
        <p:nvSpPr>
          <p:cNvPr id="2" name="">
            <a:extLst xmlns:a="http://schemas.openxmlformats.org/drawingml/2006/main">
              <a:ext uri="{FF2B5EF4-FFF2-40B4-BE49-F238E27FC236}">
                <a16:creationId xmlns:a16="http://schemas.microsoft.com/office/drawing/2014/main" id="{0C6E0989-C82E-48AA-9E29-819FA8547F5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4FAB6CB4-4A8D-4BA9-9B32-C14AC57F50E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A195B421-D90F-4293-A3A0-B59773D78B3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16</a:t>
            </a:r>
          </a:p>
        </p:txBody>
      </p:sp>
      <p:pic>
        <p:nvPicPr>
          <p:cNvPr id="5" name="">
            <a:extLst xmlns:a="http://schemas.openxmlformats.org/drawingml/2006/main">
              <a:ext uri="{FF2B5EF4-FFF2-40B4-BE49-F238E27FC236}">
                <a16:creationId xmlns:a16="http://schemas.microsoft.com/office/drawing/2014/main" id="{6DA20922-49BB-43F1-BF4A-FA78EBC45437}"/>
              </a:ext>
            </a:extLst>
          </p:cNvPr>
          <p:cNvPicPr>
            <a:picLocks xmlns:a="http://schemas.openxmlformats.org/drawingml/2006/main" noChangeAspect="1"/>
          </p:cNvPicPr>
          <p:nvPr/>
        </p:nvPicPr>
        <p:blipFill>
          <a:blip xmlns:r="http://schemas.openxmlformats.org/officeDocument/2006/relationships" xmlns:a="http://schemas.openxmlformats.org/drawingml/2006/main" r:embed="R4bddeca64d6c4b25"/>
          <a:stretch xmlns:a="http://schemas.openxmlformats.org/drawingml/2006/main"/>
        </p:blipFill>
        <p:spPr>
          <a:xfrm xmlns:a="http://schemas.openxmlformats.org/drawingml/2006/main">
            <a:off x="1737445" y="1666875"/>
            <a:ext cx="2859236"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EAD2C06-D161-4465-914C-251A069F6FE9}"/>
              </a:ext>
            </a:extLst>
          </p:cNvPr>
          <p:cNvPicPr>
            <a:picLocks xmlns:a="http://schemas.openxmlformats.org/drawingml/2006/main" noChangeAspect="1"/>
          </p:cNvPicPr>
          <p:nvPr/>
        </p:nvPicPr>
        <p:blipFill>
          <a:blip xmlns:r="http://schemas.openxmlformats.org/officeDocument/2006/relationships" xmlns:a="http://schemas.openxmlformats.org/drawingml/2006/main" r:embed="Re88c026d305448b9"/>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C412284-EE8B-435F-B012-BC50D4110155}"/>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Predicted route at −120°</a:t>
            </a:r>
          </a:p>
        </p:txBody>
      </p:sp>
      <p:sp>
        <p:nvSpPr>
          <p:cNvPr id="8" name="">
            <a:extLst xmlns:a="http://schemas.openxmlformats.org/drawingml/2006/main">
              <a:ext uri="{FF2B5EF4-FFF2-40B4-BE49-F238E27FC236}">
                <a16:creationId xmlns:a16="http://schemas.microsoft.com/office/drawing/2014/main" id="{208D87B0-DF51-4913-A5A4-68939E8EE825}"/>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Assembled cam-extensor hardware</a:t>
            </a:r>
          </a:p>
        </p:txBody>
      </p:sp>
    </p:spTree>
    <p:extLst>
      <p:ext uri="{BB962C8B-B14F-4D97-AF65-F5344CB8AC3E}">
        <p14:creationId xmlns:p14="http://schemas.microsoft.com/office/powerpoint/2010/main" val="21155649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6BCC1A-92D8-48E3-8ACC-B87BCDFA3EE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MODEL PREDICTION</a:t>
            </a:r>
          </a:p>
        </p:txBody>
      </p:sp>
      <p:sp>
        <p:nvSpPr>
          <p:cNvPr id="2" name="">
            <a:extLst xmlns:a="http://schemas.openxmlformats.org/drawingml/2006/main">
              <a:ext uri="{FF2B5EF4-FFF2-40B4-BE49-F238E27FC236}">
                <a16:creationId xmlns:a16="http://schemas.microsoft.com/office/drawing/2014/main" id="{A26BA8AF-A59C-4856-A410-35633BBF433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DFF3DF7B-A3AB-44C7-9888-775F1F7DAAB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0FCD6D66-3006-4006-8505-40C54AA0349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17</a:t>
            </a:r>
          </a:p>
        </p:txBody>
      </p:sp>
      <p:pic>
        <p:nvPicPr>
          <p:cNvPr id="5" name="">
            <a:extLst xmlns:a="http://schemas.openxmlformats.org/drawingml/2006/main">
              <a:ext uri="{FF2B5EF4-FFF2-40B4-BE49-F238E27FC236}">
                <a16:creationId xmlns:a16="http://schemas.microsoft.com/office/drawing/2014/main" id="{F0EEEB3E-784E-4EA6-8F62-BC146D8E0FCF}"/>
              </a:ext>
            </a:extLst>
          </p:cNvPr>
          <p:cNvPicPr>
            <a:picLocks xmlns:a="http://schemas.openxmlformats.org/drawingml/2006/main" noChangeAspect="1"/>
          </p:cNvPicPr>
          <p:nvPr/>
        </p:nvPicPr>
        <p:blipFill>
          <a:blip xmlns:r="http://schemas.openxmlformats.org/officeDocument/2006/relationships" xmlns:a="http://schemas.openxmlformats.org/drawingml/2006/main" r:embed="Rea3f51f040484774"/>
          <a:stretch xmlns:a="http://schemas.openxmlformats.org/drawingml/2006/main"/>
        </p:blipFill>
        <p:spPr>
          <a:xfrm xmlns:a="http://schemas.openxmlformats.org/drawingml/2006/main">
            <a:off x="3201999" y="1476375"/>
            <a:ext cx="578800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77B1CF1-7A79-44BD-BC92-6831BF49EAB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Prediction at 620 kPa; required envelope includes 5% overshoot</a:t>
            </a:r>
          </a:p>
        </p:txBody>
      </p:sp>
    </p:spTree>
    <p:extLst>
      <p:ext uri="{BB962C8B-B14F-4D97-AF65-F5344CB8AC3E}">
        <p14:creationId xmlns:p14="http://schemas.microsoft.com/office/powerpoint/2010/main" val="8494811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B021B5-A3E9-4324-A73B-9E95FA1A057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PHYSICAL EVIDENCE</a:t>
            </a:r>
          </a:p>
        </p:txBody>
      </p:sp>
      <p:sp>
        <p:nvSpPr>
          <p:cNvPr id="2" name="">
            <a:extLst xmlns:a="http://schemas.openxmlformats.org/drawingml/2006/main">
              <a:ext uri="{FF2B5EF4-FFF2-40B4-BE49-F238E27FC236}">
                <a16:creationId xmlns:a16="http://schemas.microsoft.com/office/drawing/2014/main" id="{A9DC5F13-806F-40F4-8CD0-0C2C415AF83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Nine cam-extensor holds test torque across −119° to +5°</a:t>
            </a:r>
          </a:p>
        </p:txBody>
      </p:sp>
      <p:sp>
        <p:nvSpPr>
          <p:cNvPr id="3" name="">
            <a:extLst xmlns:a="http://schemas.openxmlformats.org/drawingml/2006/main">
              <a:ext uri="{FF2B5EF4-FFF2-40B4-BE49-F238E27FC236}">
                <a16:creationId xmlns:a16="http://schemas.microsoft.com/office/drawing/2014/main" id="{4710A1C3-6F10-4DFF-8791-834B069C488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D3A119B0-E22A-4739-B1A2-C21D0C5C526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18</a:t>
            </a:r>
          </a:p>
        </p:txBody>
      </p:sp>
      <p:pic>
        <p:nvPicPr>
          <p:cNvPr id="5" name="">
            <a:extLst xmlns:a="http://schemas.openxmlformats.org/drawingml/2006/main">
              <a:ext uri="{FF2B5EF4-FFF2-40B4-BE49-F238E27FC236}">
                <a16:creationId xmlns:a16="http://schemas.microsoft.com/office/drawing/2014/main" id="{74901DD6-0C55-4616-B089-5C5070497690}"/>
              </a:ext>
            </a:extLst>
          </p:cNvPr>
          <p:cNvPicPr>
            <a:picLocks xmlns:a="http://schemas.openxmlformats.org/drawingml/2006/main" noChangeAspect="1"/>
          </p:cNvPicPr>
          <p:nvPr/>
        </p:nvPicPr>
        <p:blipFill>
          <a:blip xmlns:r="http://schemas.openxmlformats.org/officeDocument/2006/relationships" xmlns:a="http://schemas.openxmlformats.org/drawingml/2006/main" r:embed="Rf6e2ad0cfae14b68"/>
          <a:stretch xmlns:a="http://schemas.openxmlformats.org/drawingml/2006/main"/>
        </p:blipFill>
        <p:spPr>
          <a:xfrm xmlns:a="http://schemas.openxmlformats.org/drawingml/2006/main">
            <a:off x="3478636" y="1476375"/>
            <a:ext cx="5234728"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379AA89-A72B-48D1-8D5E-79A980B30C6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Pressure varied between holds</a:t>
            </a:r>
          </a:p>
        </p:txBody>
      </p:sp>
    </p:spTree>
    <p:extLst>
      <p:ext uri="{BB962C8B-B14F-4D97-AF65-F5344CB8AC3E}">
        <p14:creationId xmlns:p14="http://schemas.microsoft.com/office/powerpoint/2010/main" val="7640595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4C91D6-A35C-4787-8A91-EF7253507D7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PHYSICAL EVIDENCE</a:t>
            </a:r>
          </a:p>
        </p:txBody>
      </p:sp>
      <p:sp>
        <p:nvSpPr>
          <p:cNvPr id="2" name="">
            <a:extLst xmlns:a="http://schemas.openxmlformats.org/drawingml/2006/main">
              <a:ext uri="{FF2B5EF4-FFF2-40B4-BE49-F238E27FC236}">
                <a16:creationId xmlns:a16="http://schemas.microsoft.com/office/drawing/2014/main" id="{6B1FC818-18F4-4028-99E8-2C3DECB1D1B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C8633A2C-AD42-4792-9873-D604C929093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study · Fig. Flx20mm; final MATLAB reduction</a:t>
            </a:r>
          </a:p>
        </p:txBody>
      </p:sp>
      <p:sp>
        <p:nvSpPr>
          <p:cNvPr id="4" name="">
            <a:extLst xmlns:a="http://schemas.openxmlformats.org/drawingml/2006/main">
              <a:ext uri="{FF2B5EF4-FFF2-40B4-BE49-F238E27FC236}">
                <a16:creationId xmlns:a16="http://schemas.microsoft.com/office/drawing/2014/main" id="{16B7B057-D215-4F6E-997C-E6248CB6A8B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19</a:t>
            </a:r>
          </a:p>
        </p:txBody>
      </p:sp>
      <p:pic>
        <p:nvPicPr>
          <p:cNvPr id="5" name="">
            <a:extLst xmlns:a="http://schemas.openxmlformats.org/drawingml/2006/main">
              <a:ext uri="{FF2B5EF4-FFF2-40B4-BE49-F238E27FC236}">
                <a16:creationId xmlns:a16="http://schemas.microsoft.com/office/drawing/2014/main" id="{D22421CA-0B71-443A-9CCD-7AE7E77326E7}"/>
              </a:ext>
            </a:extLst>
          </p:cNvPr>
          <p:cNvPicPr>
            <a:picLocks xmlns:a="http://schemas.openxmlformats.org/drawingml/2006/main" noChangeAspect="1"/>
          </p:cNvPicPr>
          <p:nvPr/>
        </p:nvPicPr>
        <p:blipFill>
          <a:blip xmlns:r="http://schemas.openxmlformats.org/officeDocument/2006/relationships" xmlns:a="http://schemas.openxmlformats.org/drawingml/2006/main" r:embed="R6c54ccd6a7cb47e0"/>
          <a:stretch xmlns:a="http://schemas.openxmlformats.org/drawingml/2006/main"/>
        </p:blipFill>
        <p:spPr>
          <a:xfrm xmlns:a="http://schemas.openxmlformats.org/drawingml/2006/main">
            <a:off x="1947067" y="1476375"/>
            <a:ext cx="8297866"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83CF3F-E653-438B-A7B4-333ED48D401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15 holds at 226.5–638 kPa; margins +0.42 to +17.0 N·m</a:t>
            </a:r>
          </a:p>
        </p:txBody>
      </p:sp>
    </p:spTree>
    <p:extLst>
      <p:ext uri="{BB962C8B-B14F-4D97-AF65-F5344CB8AC3E}">
        <p14:creationId xmlns:p14="http://schemas.microsoft.com/office/powerpoint/2010/main" val="2325998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E20127-364E-443B-B41C-CD4D9968A55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REMAINING UNCERTAINTY</a:t>
            </a:r>
          </a:p>
        </p:txBody>
      </p:sp>
      <p:sp>
        <p:nvSpPr>
          <p:cNvPr id="2" name="">
            <a:extLst xmlns:a="http://schemas.openxmlformats.org/drawingml/2006/main">
              <a:ext uri="{FF2B5EF4-FFF2-40B4-BE49-F238E27FC236}">
                <a16:creationId xmlns:a16="http://schemas.microsoft.com/office/drawing/2014/main" id="{02019093-8950-4283-8B36-178B8A0EDAA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4D59F55A-9C15-4E32-9806-4F9ACC5AFAA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E4BFEC96-73B8-4585-A98D-3A06A6E4E66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20</a:t>
            </a:r>
          </a:p>
        </p:txBody>
      </p:sp>
      <p:pic>
        <p:nvPicPr>
          <p:cNvPr id="5" name="">
            <a:extLst xmlns:a="http://schemas.openxmlformats.org/drawingml/2006/main">
              <a:ext uri="{FF2B5EF4-FFF2-40B4-BE49-F238E27FC236}">
                <a16:creationId xmlns:a16="http://schemas.microsoft.com/office/drawing/2014/main" id="{3080853F-44A9-4899-B250-DF72E8863333}"/>
              </a:ext>
            </a:extLst>
          </p:cNvPr>
          <p:cNvPicPr>
            <a:picLocks xmlns:a="http://schemas.openxmlformats.org/drawingml/2006/main" noChangeAspect="1"/>
          </p:cNvPicPr>
          <p:nvPr/>
        </p:nvPicPr>
        <p:blipFill>
          <a:blip xmlns:r="http://schemas.openxmlformats.org/officeDocument/2006/relationships" xmlns:a="http://schemas.openxmlformats.org/drawingml/2006/main" r:embed="R4a689728f2254a7b"/>
          <a:stretch xmlns:a="http://schemas.openxmlformats.org/drawingml/2006/main"/>
        </p:blipFill>
        <p:spPr>
          <a:xfrm xmlns:a="http://schemas.openxmlformats.org/drawingml/2006/main">
            <a:off x="1947067" y="1476375"/>
            <a:ext cx="8297866"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9831732-A388-4B0D-8FD9-9B5AEE0AADF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Fixed-pressure curves; variable-pressure measurements</a:t>
            </a:r>
          </a:p>
        </p:txBody>
      </p:sp>
    </p:spTree>
    <p:extLst>
      <p:ext uri="{BB962C8B-B14F-4D97-AF65-F5344CB8AC3E}">
        <p14:creationId xmlns:p14="http://schemas.microsoft.com/office/powerpoint/2010/main" val="930463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CE9DD5-535B-40BB-A102-EE5DCA30892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SENSORY AFFERENT DATABASE: GAP AND CONTRIBUTION</a:t>
            </a:r>
          </a:p>
        </p:txBody>
      </p:sp>
      <p:sp>
        <p:nvSpPr>
          <p:cNvPr id="2" name="">
            <a:extLst xmlns:a="http://schemas.openxmlformats.org/drawingml/2006/main">
              <a:ext uri="{FF2B5EF4-FFF2-40B4-BE49-F238E27FC236}">
                <a16:creationId xmlns:a16="http://schemas.microsoft.com/office/drawing/2014/main" id="{DF606E0B-0630-4187-BB63-13FB7D731B1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FD2260BF-64B8-4AF7-AA59-13B11687B2E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294C7A43-3C01-4819-A859-3E506BDD009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21</a:t>
            </a:r>
          </a:p>
        </p:txBody>
      </p:sp>
      <p:pic>
        <p:nvPicPr>
          <p:cNvPr id="5" name="">
            <a:extLst xmlns:a="http://schemas.openxmlformats.org/drawingml/2006/main">
              <a:ext uri="{FF2B5EF4-FFF2-40B4-BE49-F238E27FC236}">
                <a16:creationId xmlns:a16="http://schemas.microsoft.com/office/drawing/2014/main" id="{48D69C48-3F9F-404F-8887-7315501F0A98}"/>
              </a:ext>
            </a:extLst>
          </p:cNvPr>
          <p:cNvPicPr>
            <a:picLocks xmlns:a="http://schemas.openxmlformats.org/drawingml/2006/main" noChangeAspect="1"/>
          </p:cNvPicPr>
          <p:nvPr/>
        </p:nvPicPr>
        <p:blipFill>
          <a:blip xmlns:r="http://schemas.openxmlformats.org/officeDocument/2006/relationships" xmlns:a="http://schemas.openxmlformats.org/drawingml/2006/main" r:embed="R4690d7646da944a6"/>
          <a:stretch xmlns:a="http://schemas.openxmlformats.org/drawingml/2006/main"/>
        </p:blipFill>
        <p:spPr>
          <a:xfrm xmlns:a="http://schemas.openxmlformats.org/drawingml/2006/main">
            <a:off x="1774472" y="1476375"/>
            <a:ext cx="8643056" cy="4762500"/>
          </a:xfrm>
          <a:prstGeom xmlns:a="http://schemas.openxmlformats.org/drawingml/2006/main" prst="rect">
            <a:avLst/>
          </a:prstGeom>
        </p:spPr>
      </p:pic>
    </p:spTree>
    <p:extLst>
      <p:ext uri="{BB962C8B-B14F-4D97-AF65-F5344CB8AC3E}">
        <p14:creationId xmlns:p14="http://schemas.microsoft.com/office/powerpoint/2010/main" val="19562288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23C721-885F-4362-8F8F-84860EE1900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SENSORY AFFERENT DATABASE: USE AND LIMITS</a:t>
            </a:r>
          </a:p>
        </p:txBody>
      </p:sp>
      <p:sp>
        <p:nvSpPr>
          <p:cNvPr id="2" name="">
            <a:extLst xmlns:a="http://schemas.openxmlformats.org/drawingml/2006/main">
              <a:ext uri="{FF2B5EF4-FFF2-40B4-BE49-F238E27FC236}">
                <a16:creationId xmlns:a16="http://schemas.microsoft.com/office/drawing/2014/main" id="{1F707945-86BB-43DE-A7E4-35DBFB93E2C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8129BACF-CE99-4A2E-8D3F-574A72A642D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03C43E95-04F0-4809-A176-2545ED8B8F8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22</a:t>
            </a:r>
          </a:p>
        </p:txBody>
      </p:sp>
      <p:pic>
        <p:nvPicPr>
          <p:cNvPr id="5" name="">
            <a:extLst xmlns:a="http://schemas.openxmlformats.org/drawingml/2006/main">
              <a:ext uri="{FF2B5EF4-FFF2-40B4-BE49-F238E27FC236}">
                <a16:creationId xmlns:a16="http://schemas.microsoft.com/office/drawing/2014/main" id="{5E82F0D9-D8A2-4E6C-A96F-3192118D2E21}"/>
              </a:ext>
            </a:extLst>
          </p:cNvPr>
          <p:cNvPicPr>
            <a:picLocks xmlns:a="http://schemas.openxmlformats.org/drawingml/2006/main" noChangeAspect="1"/>
          </p:cNvPicPr>
          <p:nvPr/>
        </p:nvPicPr>
        <p:blipFill>
          <a:blip xmlns:r="http://schemas.openxmlformats.org/officeDocument/2006/relationships" xmlns:a="http://schemas.openxmlformats.org/drawingml/2006/main" r:embed="Rf92830382b254f7c"/>
          <a:stretch xmlns:a="http://schemas.openxmlformats.org/drawingml/2006/main"/>
        </p:blipFill>
        <p:spPr>
          <a:xfrm xmlns:a="http://schemas.openxmlformats.org/drawingml/2006/main">
            <a:off x="1346372" y="1476375"/>
            <a:ext cx="94992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B256DC-DB24-4488-B4E7-8F4A65EDAA2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Tagged papers retain their experimental context</a:t>
            </a:r>
          </a:p>
        </p:txBody>
      </p:sp>
    </p:spTree>
    <p:extLst>
      <p:ext uri="{BB962C8B-B14F-4D97-AF65-F5344CB8AC3E}">
        <p14:creationId xmlns:p14="http://schemas.microsoft.com/office/powerpoint/2010/main" val="14134336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A0B365-329F-4352-BFD7-B36BC680131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MOTIVATING LIMITATION</a:t>
            </a:r>
          </a:p>
        </p:txBody>
      </p:sp>
      <p:sp>
        <p:nvSpPr>
          <p:cNvPr id="2" name="">
            <a:extLst xmlns:a="http://schemas.openxmlformats.org/drawingml/2006/main">
              <a:ext uri="{FF2B5EF4-FFF2-40B4-BE49-F238E27FC236}">
                <a16:creationId xmlns:a16="http://schemas.microsoft.com/office/drawing/2014/main" id="{F56437B5-B710-404D-B15F-94351BA31FA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16AE7A3F-F081-42ED-BA32-5FEAA635511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7476AB25-62CE-4D19-8DF8-3219E4D478D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23</a:t>
            </a:r>
          </a:p>
        </p:txBody>
      </p:sp>
      <p:pic>
        <p:nvPicPr>
          <p:cNvPr id="5" name="">
            <a:extLst xmlns:a="http://schemas.openxmlformats.org/drawingml/2006/main">
              <a:ext uri="{FF2B5EF4-FFF2-40B4-BE49-F238E27FC236}">
                <a16:creationId xmlns:a16="http://schemas.microsoft.com/office/drawing/2014/main" id="{761954D8-38CB-4224-94E3-55E0E198F487}"/>
              </a:ext>
            </a:extLst>
          </p:cNvPr>
          <p:cNvPicPr>
            <a:picLocks xmlns:a="http://schemas.openxmlformats.org/drawingml/2006/main" noChangeAspect="1"/>
          </p:cNvPicPr>
          <p:nvPr/>
        </p:nvPicPr>
        <p:blipFill>
          <a:blip xmlns:r="http://schemas.openxmlformats.org/officeDocument/2006/relationships" xmlns:a="http://schemas.openxmlformats.org/drawingml/2006/main" r:embed="R507b08faf44d4b05"/>
          <a:stretch xmlns:a="http://schemas.openxmlformats.org/drawingml/2006/main"/>
        </p:blipFill>
        <p:spPr>
          <a:xfrm xmlns:a="http://schemas.openxmlformats.org/drawingml/2006/main">
            <a:off x="381000" y="2267769"/>
            <a:ext cx="5572125" cy="29892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B8E4573-5365-482F-AA4D-6DB0A06DA8EF}"/>
              </a:ext>
            </a:extLst>
          </p:cNvPr>
          <p:cNvPicPr>
            <a:picLocks xmlns:a="http://schemas.openxmlformats.org/drawingml/2006/main" noChangeAspect="1"/>
          </p:cNvPicPr>
          <p:nvPr/>
        </p:nvPicPr>
        <p:blipFill>
          <a:blip xmlns:r="http://schemas.openxmlformats.org/officeDocument/2006/relationships" xmlns:a="http://schemas.openxmlformats.org/drawingml/2006/main" r:embed="Rdc8f838622814d32"/>
          <a:stretch xmlns:a="http://schemas.openxmlformats.org/drawingml/2006/main"/>
        </p:blipFill>
        <p:spPr>
          <a:xfrm xmlns:a="http://schemas.openxmlformats.org/drawingml/2006/main">
            <a:off x="6592661" y="1666875"/>
            <a:ext cx="4864554"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D71F5F1-D3EA-497B-8494-D843F76B8BBC}"/>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Initial mechanics and controller integration</a:t>
            </a:r>
          </a:p>
        </p:txBody>
      </p:sp>
      <p:sp>
        <p:nvSpPr>
          <p:cNvPr id="8" name="">
            <a:extLst xmlns:a="http://schemas.openxmlformats.org/drawingml/2006/main">
              <a:ext uri="{FF2B5EF4-FFF2-40B4-BE49-F238E27FC236}">
                <a16:creationId xmlns:a16="http://schemas.microsoft.com/office/drawing/2014/main" id="{46D0F84E-F0BC-4B12-9558-EA67575D0572}"/>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Suspended joint motion</a:t>
            </a:r>
          </a:p>
        </p:txBody>
      </p:sp>
    </p:spTree>
    <p:extLst>
      <p:ext uri="{BB962C8B-B14F-4D97-AF65-F5344CB8AC3E}">
        <p14:creationId xmlns:p14="http://schemas.microsoft.com/office/powerpoint/2010/main" val="27033788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C13CF3B-2496-4E42-A1C4-77623B6EEC41}"/>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0931E1C4-2832-4084-8AE3-CD5BD93556F5}"/>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8829465A-3163-4193-9D95-1B40020850C9}"/>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1EE3A6FE-A467-47BF-9B40-6530466EA7B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DISTINCT CONTRIBUTION</a:t>
            </a:r>
          </a:p>
        </p:txBody>
      </p:sp>
      <p:sp>
        <p:nvSpPr>
          <p:cNvPr id="2" name="">
            <a:extLst xmlns:a="http://schemas.openxmlformats.org/drawingml/2006/main">
              <a:ext uri="{FF2B5EF4-FFF2-40B4-BE49-F238E27FC236}">
                <a16:creationId xmlns:a16="http://schemas.microsoft.com/office/drawing/2014/main" id="{7363D08C-E62D-4225-9AAF-5996310DE25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CA41F0F3-29FA-43AE-BBEA-6780174152E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The AnimatLab Bipedal Walker</a:t>
            </a:r>
          </a:p>
        </p:txBody>
      </p:sp>
      <p:sp>
        <p:nvSpPr>
          <p:cNvPr id="4" name="">
            <a:extLst xmlns:a="http://schemas.openxmlformats.org/drawingml/2006/main">
              <a:ext uri="{FF2B5EF4-FFF2-40B4-BE49-F238E27FC236}">
                <a16:creationId xmlns:a16="http://schemas.microsoft.com/office/drawing/2014/main" id="{B98AF49C-9609-4035-A47D-A7B0F3C5CA7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24</a:t>
            </a:r>
          </a:p>
        </p:txBody>
      </p:sp>
      <p:sp>
        <p:nvSpPr>
          <p:cNvPr id="5" name="">
            <a:extLst xmlns:a="http://schemas.openxmlformats.org/drawingml/2006/main">
              <a:ext uri="{FF2B5EF4-FFF2-40B4-BE49-F238E27FC236}">
                <a16:creationId xmlns:a16="http://schemas.microsoft.com/office/drawing/2014/main" id="{2CA061EF-2351-48A9-8407-5C580D2C4A56}"/>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Left rhythm generator</a:t>
            </a:r>
          </a:p>
        </p:txBody>
      </p:sp>
      <p:sp>
        <p:nvSpPr>
          <p:cNvPr id="6" name="">
            <a:extLst xmlns:a="http://schemas.openxmlformats.org/drawingml/2006/main">
              <a:ext uri="{FF2B5EF4-FFF2-40B4-BE49-F238E27FC236}">
                <a16:creationId xmlns:a16="http://schemas.microsoft.com/office/drawing/2014/main" id="{99E78FA6-73A1-49FC-89B3-FDF88D7C9160}"/>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Right rhythm generator</a:t>
            </a:r>
          </a:p>
        </p:txBody>
      </p:sp>
      <p:sp>
        <p:nvSpPr>
          <p:cNvPr id="7" name="">
            <a:extLst xmlns:a="http://schemas.openxmlformats.org/drawingml/2006/main">
              <a:ext uri="{FF2B5EF4-FFF2-40B4-BE49-F238E27FC236}">
                <a16:creationId xmlns:a16="http://schemas.microsoft.com/office/drawing/2014/main" id="{B3408237-CC92-4F0B-9FFB-8CB51E866687}"/>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Left pattern formation</a:t>
            </a:r>
          </a:p>
        </p:txBody>
      </p:sp>
      <p:sp>
        <p:nvSpPr>
          <p:cNvPr id="8" name="">
            <a:extLst xmlns:a="http://schemas.openxmlformats.org/drawingml/2006/main">
              <a:ext uri="{FF2B5EF4-FFF2-40B4-BE49-F238E27FC236}">
                <a16:creationId xmlns:a16="http://schemas.microsoft.com/office/drawing/2014/main" id="{C4D51584-1DC1-467E-8EC9-FDBE6802199D}"/>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Right pattern formation</a:t>
            </a:r>
          </a:p>
        </p:txBody>
      </p:sp>
      <p:sp>
        <p:nvSpPr>
          <p:cNvPr id="12" name="">
            <a:extLst xmlns:a="http://schemas.openxmlformats.org/drawingml/2006/main">
              <a:ext uri="{FF2B5EF4-FFF2-40B4-BE49-F238E27FC236}">
                <a16:creationId xmlns:a16="http://schemas.microsoft.com/office/drawing/2014/main" id="{8871686E-3574-496B-A485-88CC98158A32}"/>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Commissural pathways</a:t>
            </a:r>
          </a:p>
        </p:txBody>
      </p:sp>
      <p:sp>
        <p:nvSpPr>
          <p:cNvPr id="13" name="">
            <a:extLst xmlns:a="http://schemas.openxmlformats.org/drawingml/2006/main">
              <a:ext uri="{FF2B5EF4-FFF2-40B4-BE49-F238E27FC236}">
                <a16:creationId xmlns:a16="http://schemas.microsoft.com/office/drawing/2014/main" id="{BAFFC930-DE9D-4C27-9849-CB30B64AD0B1}"/>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Conceptual architecture; walking remains unverified</a:t>
            </a:r>
          </a:p>
        </p:txBody>
      </p:sp>
    </p:spTree>
    <p:extLst>
      <p:ext uri="{BB962C8B-B14F-4D97-AF65-F5344CB8AC3E}">
        <p14:creationId xmlns:p14="http://schemas.microsoft.com/office/powerpoint/2010/main" val="31773764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22AD08-17D1-4331-8FD9-151BED362FC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TOOL CONTRIBUTION</a:t>
            </a:r>
          </a:p>
        </p:txBody>
      </p:sp>
      <p:sp>
        <p:nvSpPr>
          <p:cNvPr id="2" name="">
            <a:extLst xmlns:a="http://schemas.openxmlformats.org/drawingml/2006/main">
              <a:ext uri="{FF2B5EF4-FFF2-40B4-BE49-F238E27FC236}">
                <a16:creationId xmlns:a16="http://schemas.microsoft.com/office/drawing/2014/main" id="{6E8430F3-1394-4E96-9379-5963E336CF0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B47C1D6B-6FA8-45D6-A42F-2B1F5B654DD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8DAA9508-5E89-4A6C-BBFF-893427CDF89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25</a:t>
            </a:r>
          </a:p>
        </p:txBody>
      </p:sp>
      <p:pic>
        <p:nvPicPr>
          <p:cNvPr id="5" name="">
            <a:extLst xmlns:a="http://schemas.openxmlformats.org/drawingml/2006/main">
              <a:ext uri="{FF2B5EF4-FFF2-40B4-BE49-F238E27FC236}">
                <a16:creationId xmlns:a16="http://schemas.microsoft.com/office/drawing/2014/main" id="{307A0880-D6B0-4E98-9562-0C1F49BF4979}"/>
              </a:ext>
            </a:extLst>
          </p:cNvPr>
          <p:cNvPicPr>
            <a:picLocks xmlns:a="http://schemas.openxmlformats.org/drawingml/2006/main" noChangeAspect="1"/>
          </p:cNvPicPr>
          <p:nvPr/>
        </p:nvPicPr>
        <p:blipFill>
          <a:blip xmlns:r="http://schemas.openxmlformats.org/officeDocument/2006/relationships" xmlns:a="http://schemas.openxmlformats.org/drawingml/2006/main" r:embed="R333aae44fcba4c37"/>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B6A92C9-FBFD-45C7-AD3F-D631A5937FC9}"/>
              </a:ext>
            </a:extLst>
          </p:cNvPr>
          <p:cNvPicPr>
            <a:picLocks xmlns:a="http://schemas.openxmlformats.org/drawingml/2006/main" noChangeAspect="1"/>
          </p:cNvPicPr>
          <p:nvPr/>
        </p:nvPicPr>
        <p:blipFill>
          <a:blip xmlns:r="http://schemas.openxmlformats.org/officeDocument/2006/relationships" xmlns:a="http://schemas.openxmlformats.org/drawingml/2006/main" r:embed="R3158b0feb2cf490a"/>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5BD1366-63FD-47A5-B44B-A5E2ACC79AB7}"/>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Repaired and audited model coupling</a:t>
            </a:r>
          </a:p>
        </p:txBody>
      </p:sp>
      <p:sp>
        <p:nvSpPr>
          <p:cNvPr id="8" name="">
            <a:extLst xmlns:a="http://schemas.openxmlformats.org/drawingml/2006/main">
              <a:ext uri="{FF2B5EF4-FFF2-40B4-BE49-F238E27FC236}">
                <a16:creationId xmlns:a16="http://schemas.microsoft.com/office/drawing/2014/main" id="{C1380420-A8B3-4335-A383-B1839320EDEA}"/>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Editable implementations of existing equations</a:t>
            </a:r>
          </a:p>
        </p:txBody>
      </p:sp>
    </p:spTree>
    <p:extLst>
      <p:ext uri="{BB962C8B-B14F-4D97-AF65-F5344CB8AC3E}">
        <p14:creationId xmlns:p14="http://schemas.microsoft.com/office/powerpoint/2010/main" val="76861347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D50B75-E9C6-48C5-8540-6B601781CC1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REPRESENTATIVE CIRCUIT</a:t>
            </a:r>
          </a:p>
        </p:txBody>
      </p:sp>
      <p:sp>
        <p:nvSpPr>
          <p:cNvPr id="2" name="">
            <a:extLst xmlns:a="http://schemas.openxmlformats.org/drawingml/2006/main">
              <a:ext uri="{FF2B5EF4-FFF2-40B4-BE49-F238E27FC236}">
                <a16:creationId xmlns:a16="http://schemas.microsoft.com/office/drawing/2014/main" id="{FFB951C2-6979-4A3B-A929-137F9C55C5F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E176504E-F155-48E9-AA4D-CEDEAB082B2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Fig. simulink_reflex_topology</a:t>
            </a:r>
          </a:p>
        </p:txBody>
      </p:sp>
      <p:sp>
        <p:nvSpPr>
          <p:cNvPr id="4" name="">
            <a:extLst xmlns:a="http://schemas.openxmlformats.org/drawingml/2006/main">
              <a:ext uri="{FF2B5EF4-FFF2-40B4-BE49-F238E27FC236}">
                <a16:creationId xmlns:a16="http://schemas.microsoft.com/office/drawing/2014/main" id="{088D3036-F7EC-42A5-BA54-07A2C000541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26</a:t>
            </a:r>
          </a:p>
        </p:txBody>
      </p:sp>
      <p:pic>
        <p:nvPicPr>
          <p:cNvPr id="5" name="">
            <a:extLst xmlns:a="http://schemas.openxmlformats.org/drawingml/2006/main">
              <a:ext uri="{FF2B5EF4-FFF2-40B4-BE49-F238E27FC236}">
                <a16:creationId xmlns:a16="http://schemas.microsoft.com/office/drawing/2014/main" id="{F363B2AF-3742-44D6-8680-C3D9D3029C5A}"/>
              </a:ext>
            </a:extLst>
          </p:cNvPr>
          <p:cNvPicPr>
            <a:picLocks xmlns:a="http://schemas.openxmlformats.org/drawingml/2006/main" noChangeAspect="1"/>
          </p:cNvPicPr>
          <p:nvPr/>
        </p:nvPicPr>
        <p:blipFill>
          <a:blip xmlns:r="http://schemas.openxmlformats.org/officeDocument/2006/relationships" xmlns:a="http://schemas.openxmlformats.org/drawingml/2006/main" r:embed="Rf2490fa8030340c7"/>
          <a:stretch xmlns:a="http://schemas.openxmlformats.org/drawingml/2006/main"/>
        </p:blipFill>
        <p:spPr>
          <a:xfrm xmlns:a="http://schemas.openxmlformats.org/drawingml/2006/main">
            <a:off x="3183740" y="1476375"/>
            <a:ext cx="582452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3E0FF62-61A7-44F5-B3B9-B2507CB8057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Reduced-order demonstration; provisional mechanical parameters</a:t>
            </a:r>
          </a:p>
        </p:txBody>
      </p:sp>
    </p:spTree>
    <p:extLst>
      <p:ext uri="{BB962C8B-B14F-4D97-AF65-F5344CB8AC3E}">
        <p14:creationId xmlns:p14="http://schemas.microsoft.com/office/powerpoint/2010/main" val="172483550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1C1209-3D77-433A-941D-3AB5EA80CDA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MATCHED VERIFICATION</a:t>
            </a:r>
          </a:p>
        </p:txBody>
      </p:sp>
      <p:sp>
        <p:nvSpPr>
          <p:cNvPr id="2" name="">
            <a:extLst xmlns:a="http://schemas.openxmlformats.org/drawingml/2006/main">
              <a:ext uri="{FF2B5EF4-FFF2-40B4-BE49-F238E27FC236}">
                <a16:creationId xmlns:a16="http://schemas.microsoft.com/office/drawing/2014/main" id="{47C117FE-084E-4AE0-8ABE-3DF1F3D6F74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DCD0321C-4A61-4C5D-BCC2-6051BF2003D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DD40F3E1-A858-43D5-88ED-9CF473B1755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27</a:t>
            </a:r>
          </a:p>
        </p:txBody>
      </p:sp>
      <p:pic>
        <p:nvPicPr>
          <p:cNvPr id="5" name="">
            <a:extLst xmlns:a="http://schemas.openxmlformats.org/drawingml/2006/main">
              <a:ext uri="{FF2B5EF4-FFF2-40B4-BE49-F238E27FC236}">
                <a16:creationId xmlns:a16="http://schemas.microsoft.com/office/drawing/2014/main" id="{0A7D4790-E155-4407-8C6A-40FFDD538657}"/>
              </a:ext>
            </a:extLst>
          </p:cNvPr>
          <p:cNvPicPr>
            <a:picLocks xmlns:a="http://schemas.openxmlformats.org/drawingml/2006/main" noChangeAspect="1"/>
          </p:cNvPicPr>
          <p:nvPr/>
        </p:nvPicPr>
        <p:blipFill>
          <a:blip xmlns:r="http://schemas.openxmlformats.org/officeDocument/2006/relationships" xmlns:a="http://schemas.openxmlformats.org/drawingml/2006/main" r:embed="Re6dd2c473e3a4b07"/>
          <a:stretch xmlns:a="http://schemas.openxmlformats.org/drawingml/2006/main"/>
        </p:blipFill>
        <p:spPr>
          <a:xfrm xmlns:a="http://schemas.openxmlformats.org/drawingml/2006/main">
            <a:off x="3340554" y="1476375"/>
            <a:ext cx="5510893"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12B4A9B-A7A2-4793-8020-FC85EFA9B593}"/>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1.000 s periods; trace correlation ≥ 0.99996</a:t>
            </a:r>
          </a:p>
        </p:txBody>
      </p:sp>
    </p:spTree>
    <p:extLst>
      <p:ext uri="{BB962C8B-B14F-4D97-AF65-F5344CB8AC3E}">
        <p14:creationId xmlns:p14="http://schemas.microsoft.com/office/powerpoint/2010/main" val="186341843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BDDD3B-3D70-4B91-8FF7-5BE55C7BB31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VERIFICATION BOUNDARY</a:t>
            </a:r>
          </a:p>
        </p:txBody>
      </p:sp>
      <p:sp>
        <p:nvSpPr>
          <p:cNvPr id="2" name="">
            <a:extLst xmlns:a="http://schemas.openxmlformats.org/drawingml/2006/main">
              <a:ext uri="{FF2B5EF4-FFF2-40B4-BE49-F238E27FC236}">
                <a16:creationId xmlns:a16="http://schemas.microsoft.com/office/drawing/2014/main" id="{887B8EC1-E3FC-4198-985B-3E7AA3E3CB3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A0AEB93A-218A-4C8D-85F6-4B163308A03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35AD7B8B-82C3-449A-B8A5-555DAB6AF01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28</a:t>
            </a:r>
          </a:p>
        </p:txBody>
      </p:sp>
      <p:graphicFrame>
        <p:nvGraphicFramePr>
          <p:cNvPr id="5" name="">
            <a:extLst xmlns:a="http://schemas.openxmlformats.org/drawingml/2006/main">
              <a:ext uri="{FF2B5EF4-FFF2-40B4-BE49-F238E27FC236}">
                <a16:creationId xmlns:a16="http://schemas.microsoft.com/office/drawing/2014/main" id="{C74166DF-9CAC-4A90-8448-F8005488AC66}"/>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rPr>
                        <a:t>Verification level</a:t>
                      </a:r>
                    </a:p>
                  </a:txBody>
                  <a:tcPr marL="91440" marR="91440" marT="45720" marB="45720">
                    <a:solidFill>
                      <a:srgbClr val="FFFFFF"/>
                    </a:solidFill>
                  </a:tcPr>
                </a:tc>
                <a:tc>
                  <a:txBody>
                    <a:bodyPr/>
                    <a:lstStyle/>
                    <a:p>
                      <a:r>
                        <a:rPr sz="1875" b="1">
                          <a:solidFill>
                            <a:srgbClr val="00796B"/>
                          </a:solidFill>
                        </a:rPr>
                        <a:t>Observed result</a:t>
                      </a:r>
                    </a:p>
                  </a:txBody>
                  <a:tcPr marL="91440" marR="91440" marT="45720" marB="45720">
                    <a:solidFill>
                      <a:srgbClr val="FFFFFF"/>
                    </a:solidFill>
                  </a:tcPr>
                </a:tc>
              </a:tr>
              <a:tr h="809625">
                <a:tc>
                  <a:txBody>
                    <a:bodyPr/>
                    <a:lstStyle/>
                    <a:p>
                      <a:r>
                        <a:rPr sz="1875" b="0">
                          <a:solidFill>
                            <a:srgbClr val="222222"/>
                          </a:solidFill>
                        </a:rPr>
                        <a:t>Sensor and command exchange</a:t>
                      </a:r>
                    </a:p>
                  </a:txBody>
                  <a:tcPr marL="91440" marR="91440" marT="45720" marB="45720">
                    <a:solidFill>
                      <a:srgbClr val="FFFFFF"/>
                    </a:solidFill>
                  </a:tcPr>
                </a:tc>
                <a:tc>
                  <a:txBody>
                    <a:bodyPr/>
                    <a:lstStyle/>
                    <a:p>
                      <a:r>
                        <a:rPr sz="1875" b="0">
                          <a:solidFill>
                            <a:srgbClr val="222222"/>
                          </a:solidFill>
                        </a:rPr>
                        <a:t>Bit-exact scored readback</a:t>
                      </a:r>
                    </a:p>
                  </a:txBody>
                  <a:tcPr marL="91440" marR="91440" marT="45720" marB="45720">
                    <a:solidFill>
                      <a:srgbClr val="FFFFFF"/>
                    </a:solidFill>
                  </a:tcPr>
                </a:tc>
              </a:tr>
              <a:tr h="809625">
                <a:tc>
                  <a:txBody>
                    <a:bodyPr/>
                    <a:lstStyle/>
                    <a:p>
                      <a:r>
                        <a:rPr sz="1875" b="0">
                          <a:solidFill>
                            <a:srgbClr val="222222"/>
                          </a:solidFill>
                        </a:rPr>
                        <a:t>92-actuator closed-loop run</a:t>
                      </a:r>
                    </a:p>
                  </a:txBody>
                  <a:tcPr marL="91440" marR="91440" marT="45720" marB="45720">
                    <a:solidFill>
                      <a:srgbClr val="FFFFFF"/>
                    </a:solidFill>
                  </a:tcPr>
                </a:tc>
                <a:tc>
                  <a:txBody>
                    <a:bodyPr/>
                    <a:lstStyle/>
                    <a:p>
                      <a:r>
                        <a:rPr sz="1875" b="0">
                          <a:solidFill>
                            <a:srgbClr val="222222"/>
                          </a:solidFill>
                        </a:rPr>
                        <a:t>Signals exchanged for 5 seconds</a:t>
                      </a:r>
                    </a:p>
                  </a:txBody>
                  <a:tcPr marL="91440" marR="91440" marT="45720" marB="45720">
                    <a:solidFill>
                      <a:srgbClr val="FFFFFF"/>
                    </a:solidFill>
                  </a:tcPr>
                </a:tc>
              </a:tr>
              <a:tr h="809625">
                <a:tc>
                  <a:txBody>
                    <a:bodyPr/>
                    <a:lstStyle/>
                    <a:p>
                      <a:r>
                        <a:rPr sz="1875" b="0">
                          <a:solidFill>
                            <a:srgbClr val="222222"/>
                          </a:solidFill>
                        </a:rPr>
                        <a:t>Full network under tonic drive</a:t>
                      </a:r>
                    </a:p>
                  </a:txBody>
                  <a:tcPr marL="91440" marR="91440" marT="45720" marB="45720">
                    <a:solidFill>
                      <a:srgbClr val="FFFFFF"/>
                    </a:solidFill>
                  </a:tcPr>
                </a:tc>
                <a:tc>
                  <a:txBody>
                    <a:bodyPr/>
                    <a:lstStyle/>
                    <a:p>
                      <a:r>
                        <a:rPr sz="1875" b="0">
                          <a:solidFill>
                            <a:srgbClr val="222222"/>
                          </a:solidFill>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0A502D5-8FD2-45FE-B626-EDF64329CC85}"/>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defRPr>
            </a:defPPr>
            <a:lvl1pPr>
              <a:defRPr sz="2025" b="1">
                <a:solidFill>
                  <a:srgbClr val="00796B"/>
                </a:solidFill>
              </a:defRPr>
            </a:lvl1pPr>
            <a:lvl2pPr>
              <a:defRPr sz="2025" b="1">
                <a:solidFill>
                  <a:srgbClr val="00796B"/>
                </a:solidFill>
              </a:defRPr>
            </a:lvl2pPr>
            <a:lvl3pPr>
              <a:defRPr sz="2025" b="1">
                <a:solidFill>
                  <a:srgbClr val="00796B"/>
                </a:solidFill>
              </a:defRPr>
            </a:lvl3pPr>
            <a:lvl4pPr>
              <a:defRPr sz="2025" b="1">
                <a:solidFill>
                  <a:srgbClr val="00796B"/>
                </a:solidFill>
              </a:defRPr>
            </a:lvl4pPr>
            <a:lvl5pPr>
              <a:defRPr sz="2025" b="1">
                <a:solidFill>
                  <a:srgbClr val="00796B"/>
                </a:solidFill>
              </a:defRPr>
            </a:lvl5pPr>
            <a:lvl6pPr>
              <a:defRPr sz="2025" b="1">
                <a:solidFill>
                  <a:srgbClr val="00796B"/>
                </a:solidFill>
              </a:defRPr>
            </a:lvl6pPr>
            <a:lvl7pPr>
              <a:defRPr sz="2025" b="1">
                <a:solidFill>
                  <a:srgbClr val="00796B"/>
                </a:solidFill>
              </a:defRPr>
            </a:lvl7pPr>
            <a:lvl8pPr>
              <a:defRPr sz="2025" b="1">
                <a:solidFill>
                  <a:srgbClr val="00796B"/>
                </a:solidFill>
              </a:defRPr>
            </a:lvl8pPr>
            <a:lvl9pPr>
              <a:defRPr sz="2025" b="1">
                <a:solidFill>
                  <a:srgbClr val="00796B"/>
                </a:solidFill>
              </a:defRPr>
            </a:lvl9pPr>
          </a:lstStyle>
          <a:p xmlns:a="http://schemas.openxmlformats.org/drawingml/2006/main">
            <a:pPr>
              <a:defRPr sz="2025" b="1">
                <a:solidFill>
                  <a:srgbClr val="00796B"/>
                </a:solidFill>
              </a:defRPr>
            </a:pPr>
            <a:r>
              <a:rPr sz="2025" b="1">
                <a:solidFill>
                  <a:srgbClr val="00796B"/>
                </a:solidFill>
              </a:rPr>
              <a:t>Interface correctness and controller equivalence need separate tests</a:t>
            </a:r>
          </a:p>
        </p:txBody>
      </p:sp>
    </p:spTree>
    <p:extLst>
      <p:ext uri="{BB962C8B-B14F-4D97-AF65-F5344CB8AC3E}">
        <p14:creationId xmlns:p14="http://schemas.microsoft.com/office/powerpoint/2010/main" val="6783061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AFCB74-B0BC-4073-B15B-99EE9D7D59E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CONCLUSIONS</a:t>
            </a:r>
          </a:p>
        </p:txBody>
      </p:sp>
      <p:sp>
        <p:nvSpPr>
          <p:cNvPr id="2" name="">
            <a:extLst xmlns:a="http://schemas.openxmlformats.org/drawingml/2006/main">
              <a:ext uri="{FF2B5EF4-FFF2-40B4-BE49-F238E27FC236}">
                <a16:creationId xmlns:a16="http://schemas.microsoft.com/office/drawing/2014/main" id="{A7467A87-9B33-44B8-AA7C-2AB180D22EC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2D47840A-EA62-47C9-B864-1B9BC002A5D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BBCA7A8F-1003-4041-954F-7E57814A956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29</a:t>
            </a:r>
          </a:p>
        </p:txBody>
      </p:sp>
      <p:graphicFrame>
        <p:nvGraphicFramePr>
          <p:cNvPr id="5" name="">
            <a:extLst xmlns:a="http://schemas.openxmlformats.org/drawingml/2006/main">
              <a:ext uri="{FF2B5EF4-FFF2-40B4-BE49-F238E27FC236}">
                <a16:creationId xmlns:a16="http://schemas.microsoft.com/office/drawing/2014/main" id="{F079D128-85B7-4753-9BA3-24B809CBF2A9}"/>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rPr>
                        <a:t>Contribution</a:t>
                      </a:r>
                    </a:p>
                  </a:txBody>
                  <a:tcPr marL="91440" marR="91440" marT="45720" marB="45720">
                    <a:solidFill>
                      <a:srgbClr val="FFFFFF"/>
                    </a:solidFill>
                  </a:tcPr>
                </a:tc>
                <a:tc>
                  <a:txBody>
                    <a:bodyPr/>
                    <a:lstStyle/>
                    <a:p>
                      <a:r>
                        <a:rPr sz="1875" b="1">
                          <a:solidFill>
                            <a:srgbClr val="00796B"/>
                          </a:solidFill>
                        </a:rPr>
                        <a:t>Evidence</a:t>
                      </a:r>
                    </a:p>
                  </a:txBody>
                  <a:tcPr marL="91440" marR="91440" marT="45720" marB="45720">
                    <a:solidFill>
                      <a:srgbClr val="FFFFFF"/>
                    </a:solidFill>
                  </a:tcPr>
                </a:tc>
                <a:tc>
                  <a:txBody>
                    <a:bodyPr/>
                    <a:lstStyle/>
                    <a:p>
                      <a:r>
                        <a:rPr sz="1875" b="1">
                          <a:solidFill>
                            <a:srgbClr val="00796B"/>
                          </a:solidFill>
                        </a:rPr>
                        <a:t>Boundary</a:t>
                      </a:r>
                    </a:p>
                  </a:txBody>
                  <a:tcPr marL="91440" marR="91440" marT="45720" marB="45720">
                    <a:solidFill>
                      <a:srgbClr val="FFFFFF"/>
                    </a:solidFill>
                  </a:tcPr>
                </a:tc>
              </a:tr>
              <a:tr h="781050">
                <a:tc>
                  <a:txBody>
                    <a:bodyPr/>
                    <a:lstStyle/>
                    <a:p>
                      <a:r>
                        <a:rPr sz="1875" b="0">
                          <a:solidFill>
                            <a:srgbClr val="222222"/>
                          </a:solidFill>
                        </a:rPr>
                        <a:t>Actuator force model</a:t>
                      </a:r>
                    </a:p>
                  </a:txBody>
                  <a:tcPr marL="91440" marR="91440" marT="45720" marB="45720">
                    <a:solidFill>
                      <a:srgbClr val="FFFFFF"/>
                    </a:solidFill>
                  </a:tcPr>
                </a:tc>
                <a:tc>
                  <a:txBody>
                    <a:bodyPr/>
                    <a:lstStyle/>
                    <a:p>
                      <a:r>
                        <a:rPr sz="1875" b="0">
                          <a:solidFill>
                            <a:srgbClr val="222222"/>
                          </a:solidFill>
                        </a:rPr>
                        <a:t>Measured force and held-out fits</a:t>
                      </a:r>
                    </a:p>
                  </a:txBody>
                  <a:tcPr marL="91440" marR="91440" marT="45720" marB="45720">
                    <a:solidFill>
                      <a:srgbClr val="FFFFFF"/>
                    </a:solidFill>
                  </a:tcPr>
                </a:tc>
                <a:tc>
                  <a:txBody>
                    <a:bodyPr/>
                    <a:lstStyle/>
                    <a:p>
                      <a:r>
                        <a:rPr sz="1875" b="0">
                          <a:solidFill>
                            <a:srgbClr val="222222"/>
                          </a:solidFill>
                        </a:rPr>
                        <a:t>Static, tested actuator range</a:t>
                      </a:r>
                    </a:p>
                  </a:txBody>
                  <a:tcPr marL="91440" marR="91440" marT="45720" marB="45720">
                    <a:solidFill>
                      <a:srgbClr val="FFFFFF"/>
                    </a:solidFill>
                  </a:tcPr>
                </a:tc>
              </a:tr>
              <a:tr h="781050">
                <a:tc>
                  <a:txBody>
                    <a:bodyPr/>
                    <a:lstStyle/>
                    <a:p>
                      <a:r>
                        <a:rPr sz="1875" b="0">
                          <a:solidFill>
                            <a:srgbClr val="222222"/>
                          </a:solidFill>
                        </a:rPr>
                        <a:t>Joint model and routes</a:t>
                      </a:r>
                    </a:p>
                  </a:txBody>
                  <a:tcPr marL="91440" marR="91440" marT="45720" marB="45720">
                    <a:solidFill>
                      <a:srgbClr val="FFFFFF"/>
                    </a:solidFill>
                  </a:tcPr>
                </a:tc>
                <a:tc>
                  <a:txBody>
                    <a:bodyPr/>
                    <a:lstStyle/>
                    <a:p>
                      <a:r>
                        <a:rPr sz="1875" b="0">
                          <a:solidFill>
                            <a:srgbClr val="222222"/>
                          </a:solidFill>
                        </a:rPr>
                        <a:t>Held-out error and physical holds</a:t>
                      </a:r>
                    </a:p>
                  </a:txBody>
                  <a:tcPr marL="91440" marR="91440" marT="45720" marB="45720">
                    <a:solidFill>
                      <a:srgbClr val="FFFFFF"/>
                    </a:solidFill>
                  </a:tcPr>
                </a:tc>
                <a:tc>
                  <a:txBody>
                    <a:bodyPr/>
                    <a:lstStyle/>
                    <a:p>
                      <a:r>
                        <a:rPr sz="1875" b="0">
                          <a:solidFill>
                            <a:srgbClr val="222222"/>
                          </a:solidFill>
                        </a:rPr>
                        <a:t>Variable pressure; residual mismatch</a:t>
                      </a:r>
                    </a:p>
                  </a:txBody>
                  <a:tcPr marL="91440" marR="91440" marT="45720" marB="45720">
                    <a:solidFill>
                      <a:srgbClr val="FFFFFF"/>
                    </a:solidFill>
                  </a:tcPr>
                </a:tc>
              </a:tr>
              <a:tr h="781050">
                <a:tc>
                  <a:txBody>
                    <a:bodyPr/>
                    <a:lstStyle/>
                    <a:p>
                      <a:r>
                        <a:rPr sz="1875" b="0">
                          <a:solidFill>
                            <a:srgbClr val="222222"/>
                          </a:solidFill>
                        </a:rPr>
                        <a:t>SADb</a:t>
                      </a:r>
                    </a:p>
                  </a:txBody>
                  <a:tcPr marL="91440" marR="91440" marT="45720" marB="45720">
                    <a:solidFill>
                      <a:srgbClr val="FFFFFF"/>
                    </a:solidFill>
                  </a:tcPr>
                </a:tc>
                <a:tc>
                  <a:txBody>
                    <a:bodyPr/>
                    <a:lstStyle/>
                    <a:p>
                      <a:r>
                        <a:rPr sz="1875" b="0">
                          <a:solidFill>
                            <a:srgbClr val="222222"/>
                          </a:solidFill>
                        </a:rPr>
                        <a:t>Inspectable linked records</a:t>
                      </a:r>
                    </a:p>
                  </a:txBody>
                  <a:tcPr marL="91440" marR="91440" marT="45720" marB="45720">
                    <a:solidFill>
                      <a:srgbClr val="FFFFFF"/>
                    </a:solidFill>
                  </a:tcPr>
                </a:tc>
                <a:tc>
                  <a:txBody>
                    <a:bodyPr/>
                    <a:lstStyle/>
                    <a:p>
                      <a:r>
                        <a:rPr sz="1875" b="0">
                          <a:solidFill>
                            <a:srgbClr val="222222"/>
                          </a:solidFill>
                        </a:rPr>
                        <a:t>Uneven source coverage</a:t>
                      </a:r>
                    </a:p>
                  </a:txBody>
                  <a:tcPr marL="91440" marR="91440" marT="45720" marB="45720">
                    <a:solidFill>
                      <a:srgbClr val="FFFFFF"/>
                    </a:solidFill>
                  </a:tcPr>
                </a:tc>
              </a:tr>
              <a:tr h="781050">
                <a:tc>
                  <a:txBody>
                    <a:bodyPr/>
                    <a:lstStyle/>
                    <a:p>
                      <a:r>
                        <a:rPr sz="1875" b="0">
                          <a:solidFill>
                            <a:srgbClr val="222222"/>
                          </a:solidFill>
                        </a:rPr>
                        <a:t>Neural interfaces</a:t>
                      </a:r>
                    </a:p>
                  </a:txBody>
                  <a:tcPr marL="91440" marR="91440" marT="45720" marB="45720">
                    <a:solidFill>
                      <a:srgbClr val="FFFFFF"/>
                    </a:solidFill>
                  </a:tcPr>
                </a:tc>
                <a:tc>
                  <a:txBody>
                    <a:bodyPr/>
                    <a:lstStyle/>
                    <a:p>
                      <a:r>
                        <a:rPr sz="1875" b="0">
                          <a:solidFill>
                            <a:srgbClr val="222222"/>
                          </a:solidFill>
                        </a:rPr>
                        <a:t>Matched tests and signal readback</a:t>
                      </a:r>
                    </a:p>
                  </a:txBody>
                  <a:tcPr marL="91440" marR="91440" marT="45720" marB="45720">
                    <a:solidFill>
                      <a:srgbClr val="FFFFFF"/>
                    </a:solidFill>
                  </a:tcPr>
                </a:tc>
                <a:tc>
                  <a:txBody>
                    <a:bodyPr/>
                    <a:lstStyle/>
                    <a:p>
                      <a:r>
                        <a:rPr sz="1875" b="0">
                          <a:solidFill>
                            <a:srgbClr val="222222"/>
                          </a:solidFill>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3222073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98383C-B306-47CE-A7A2-5B2FF20E713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NEXT EXPERIMENTS</a:t>
            </a:r>
          </a:p>
        </p:txBody>
      </p:sp>
      <p:sp>
        <p:nvSpPr>
          <p:cNvPr id="2" name="">
            <a:extLst xmlns:a="http://schemas.openxmlformats.org/drawingml/2006/main">
              <a:ext uri="{FF2B5EF4-FFF2-40B4-BE49-F238E27FC236}">
                <a16:creationId xmlns:a16="http://schemas.microsoft.com/office/drawing/2014/main" id="{50BA85F7-704B-4702-962A-FB504BD138D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D9781885-47FB-4372-8DEB-074A2B17BEE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7; Ch. 6, remaining limits</a:t>
            </a:r>
          </a:p>
        </p:txBody>
      </p:sp>
      <p:sp>
        <p:nvSpPr>
          <p:cNvPr id="4" name="">
            <a:extLst xmlns:a="http://schemas.openxmlformats.org/drawingml/2006/main">
              <a:ext uri="{FF2B5EF4-FFF2-40B4-BE49-F238E27FC236}">
                <a16:creationId xmlns:a16="http://schemas.microsoft.com/office/drawing/2014/main" id="{50EAA3A5-674A-47A3-A3F5-3F4014613F2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30</a:t>
            </a:r>
          </a:p>
        </p:txBody>
      </p:sp>
      <p:pic>
        <p:nvPicPr>
          <p:cNvPr id="5" name="">
            <a:extLst xmlns:a="http://schemas.openxmlformats.org/drawingml/2006/main">
              <a:ext uri="{FF2B5EF4-FFF2-40B4-BE49-F238E27FC236}">
                <a16:creationId xmlns:a16="http://schemas.microsoft.com/office/drawing/2014/main" id="{3C09165B-B6B5-4E42-86C6-2FDBAC5C36CB}"/>
              </a:ext>
            </a:extLst>
          </p:cNvPr>
          <p:cNvPicPr>
            <a:picLocks xmlns:a="http://schemas.openxmlformats.org/drawingml/2006/main" noChangeAspect="1"/>
          </p:cNvPicPr>
          <p:nvPr/>
        </p:nvPicPr>
        <p:blipFill>
          <a:blip xmlns:r="http://schemas.openxmlformats.org/officeDocument/2006/relationships" xmlns:a="http://schemas.openxmlformats.org/drawingml/2006/main" r:embed="Reb2596ac5675430d"/>
          <a:stretch xmlns:a="http://schemas.openxmlformats.org/drawingml/2006/main"/>
        </p:blipFill>
        <p:spPr>
          <a:xfrm xmlns:a="http://schemas.openxmlformats.org/drawingml/2006/main">
            <a:off x="2788010" y="1476375"/>
            <a:ext cx="661598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2D2995-32D0-443C-999F-3EA66CD25039}"/>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Close the measured gaps before transferring control to hardware</a:t>
            </a:r>
          </a:p>
        </p:txBody>
      </p:sp>
    </p:spTree>
    <p:extLst>
      <p:ext uri="{BB962C8B-B14F-4D97-AF65-F5344CB8AC3E}">
        <p14:creationId xmlns:p14="http://schemas.microsoft.com/office/powerpoint/2010/main" val="174273979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C2BE2E-0B79-4DFB-A3E1-5131728C0F8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ACKNOWLEDGMENTS</a:t>
            </a:r>
          </a:p>
        </p:txBody>
      </p:sp>
      <p:sp>
        <p:nvSpPr>
          <p:cNvPr id="2" name="">
            <a:extLst xmlns:a="http://schemas.openxmlformats.org/drawingml/2006/main">
              <a:ext uri="{FF2B5EF4-FFF2-40B4-BE49-F238E27FC236}">
                <a16:creationId xmlns:a16="http://schemas.microsoft.com/office/drawing/2014/main" id="{3418D730-3983-45A1-8B5C-2ABDC4D72C5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Questions</a:t>
            </a:r>
          </a:p>
        </p:txBody>
      </p:sp>
      <p:sp>
        <p:nvSpPr>
          <p:cNvPr id="3" name="">
            <a:extLst xmlns:a="http://schemas.openxmlformats.org/drawingml/2006/main">
              <a:ext uri="{FF2B5EF4-FFF2-40B4-BE49-F238E27FC236}">
                <a16:creationId xmlns:a16="http://schemas.microsoft.com/office/drawing/2014/main" id="{6572B6D0-331C-4DBF-9E56-659B04B968E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E0A8F599-560D-4FE0-9D98-D1AEB7204F9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31</a:t>
            </a:r>
          </a:p>
        </p:txBody>
      </p:sp>
      <p:sp>
        <p:nvSpPr>
          <p:cNvPr id="5" name="">
            <a:extLst xmlns:a="http://schemas.openxmlformats.org/drawingml/2006/main">
              <a:ext uri="{FF2B5EF4-FFF2-40B4-BE49-F238E27FC236}">
                <a16:creationId xmlns:a16="http://schemas.microsoft.com/office/drawing/2014/main" id="{C184FB08-63DC-42CF-B807-03FFD7ADDCC8}"/>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defRPr>
            </a:defPPr>
            <a:lvl1pPr>
              <a:defRPr sz="4800" b="1">
                <a:solidFill>
                  <a:srgbClr val="AF7B51"/>
                </a:solidFill>
              </a:defRPr>
            </a:lvl1pPr>
            <a:lvl2pPr>
              <a:defRPr sz="4800" b="1">
                <a:solidFill>
                  <a:srgbClr val="AF7B51"/>
                </a:solidFill>
              </a:defRPr>
            </a:lvl2pPr>
            <a:lvl3pPr>
              <a:defRPr sz="4800" b="1">
                <a:solidFill>
                  <a:srgbClr val="AF7B51"/>
                </a:solidFill>
              </a:defRPr>
            </a:lvl3pPr>
            <a:lvl4pPr>
              <a:defRPr sz="4800" b="1">
                <a:solidFill>
                  <a:srgbClr val="AF7B51"/>
                </a:solidFill>
              </a:defRPr>
            </a:lvl4pPr>
            <a:lvl5pPr>
              <a:defRPr sz="4800" b="1">
                <a:solidFill>
                  <a:srgbClr val="AF7B51"/>
                </a:solidFill>
              </a:defRPr>
            </a:lvl5pPr>
            <a:lvl6pPr>
              <a:defRPr sz="4800" b="1">
                <a:solidFill>
                  <a:srgbClr val="AF7B51"/>
                </a:solidFill>
              </a:defRPr>
            </a:lvl6pPr>
            <a:lvl7pPr>
              <a:defRPr sz="4800" b="1">
                <a:solidFill>
                  <a:srgbClr val="AF7B51"/>
                </a:solidFill>
              </a:defRPr>
            </a:lvl7pPr>
            <a:lvl8pPr>
              <a:defRPr sz="4800" b="1">
                <a:solidFill>
                  <a:srgbClr val="AF7B51"/>
                </a:solidFill>
              </a:defRPr>
            </a:lvl8pPr>
            <a:lvl9pPr>
              <a:defRPr sz="4800" b="1">
                <a:solidFill>
                  <a:srgbClr val="AF7B51"/>
                </a:solidFill>
              </a:defRPr>
            </a:lvl9pPr>
          </a:lstStyle>
          <a:p xmlns:a="http://schemas.openxmlformats.org/drawingml/2006/main">
            <a:pPr>
              <a:defRPr sz="4800" b="1">
                <a:solidFill>
                  <a:srgbClr val="AF7B51"/>
                </a:solidFill>
              </a:defRPr>
            </a:pPr>
            <a:r>
              <a:rPr sz="4800" b="1">
                <a:solidFill>
                  <a:srgbClr val="AF7B51"/>
                </a:solidFill>
              </a:rPr>
              <a:t>Thank you</a:t>
            </a:r>
          </a:p>
        </p:txBody>
      </p:sp>
      <p:sp>
        <p:nvSpPr>
          <p:cNvPr id="6" name="">
            <a:extLst xmlns:a="http://schemas.openxmlformats.org/drawingml/2006/main">
              <a:ext uri="{FF2B5EF4-FFF2-40B4-BE49-F238E27FC236}">
                <a16:creationId xmlns:a16="http://schemas.microsoft.com/office/drawing/2014/main" id="{D73AE74E-DC06-4EBC-913F-24DF9BC6E53C}"/>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defRPr>
            </a:defPPr>
            <a:lvl1pPr>
              <a:defRPr sz="2250" b="0">
                <a:solidFill>
                  <a:srgbClr val="222222"/>
                </a:solidFill>
              </a:defRPr>
            </a:lvl1pPr>
            <a:lvl2pPr>
              <a:defRPr sz="2250" b="0">
                <a:solidFill>
                  <a:srgbClr val="222222"/>
                </a:solidFill>
              </a:defRPr>
            </a:lvl2pPr>
            <a:lvl3pPr>
              <a:defRPr sz="2250" b="0">
                <a:solidFill>
                  <a:srgbClr val="222222"/>
                </a:solidFill>
              </a:defRPr>
            </a:lvl3pPr>
            <a:lvl4pPr>
              <a:defRPr sz="2250" b="0">
                <a:solidFill>
                  <a:srgbClr val="222222"/>
                </a:solidFill>
              </a:defRPr>
            </a:lvl4pPr>
            <a:lvl5pPr>
              <a:defRPr sz="2250" b="0">
                <a:solidFill>
                  <a:srgbClr val="222222"/>
                </a:solidFill>
              </a:defRPr>
            </a:lvl5pPr>
            <a:lvl6pPr>
              <a:defRPr sz="2250" b="0">
                <a:solidFill>
                  <a:srgbClr val="222222"/>
                </a:solidFill>
              </a:defRPr>
            </a:lvl6pPr>
            <a:lvl7pPr>
              <a:defRPr sz="2250" b="0">
                <a:solidFill>
                  <a:srgbClr val="222222"/>
                </a:solidFill>
              </a:defRPr>
            </a:lvl7pPr>
            <a:lvl8pPr>
              <a:defRPr sz="2250" b="0">
                <a:solidFill>
                  <a:srgbClr val="222222"/>
                </a:solidFill>
              </a:defRPr>
            </a:lvl8pPr>
            <a:lvl9pPr>
              <a:defRPr sz="2250" b="0">
                <a:solidFill>
                  <a:srgbClr val="222222"/>
                </a:solidFill>
              </a:defRPr>
            </a:lvl9pPr>
          </a:lstStyle>
          <a:p xmlns:a="http://schemas.openxmlformats.org/drawingml/2006/main">
            <a:pPr>
              <a:defRPr sz="2250" b="0">
                <a:solidFill>
                  <a:srgbClr val="222222"/>
                </a:solidFill>
              </a:defRPr>
            </a:pPr>
            <a:r>
              <a:rPr sz="2250" b="0">
                <a:solidFill>
                  <a:srgbClr val="222222"/>
                </a:solidFill>
              </a:rPr>
              <a:t>Advisor: M. Anthony Hunt</a:t>
            </a:r>
          </a:p>
          <a:p xmlns:a="http://schemas.openxmlformats.org/drawingml/2006/main">
            <a:pPr>
              <a:defRPr sz="2250" b="0">
                <a:solidFill>
                  <a:srgbClr val="222222"/>
                </a:solidFill>
              </a:defRPr>
            </a:pPr>
            <a:r>
              <a:rPr sz="2250" b="0">
                <a:solidFill>
                  <a:srgbClr val="222222"/>
                </a:solidFill>
              </a:rPr>
              <a:t>Committee, AARL, and research collaborators</a:t>
            </a:r>
          </a:p>
        </p:txBody>
      </p:sp>
    </p:spTree>
    <p:extLst>
      <p:ext uri="{BB962C8B-B14F-4D97-AF65-F5344CB8AC3E}">
        <p14:creationId xmlns:p14="http://schemas.microsoft.com/office/powerpoint/2010/main" val="1400269734"/>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16FED0-5E4B-4B5F-8DD0-19D8CA124EC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ACTUATOR EQUATION</a:t>
            </a:r>
          </a:p>
        </p:txBody>
      </p:sp>
      <p:sp>
        <p:nvSpPr>
          <p:cNvPr id="2" name="">
            <a:extLst xmlns:a="http://schemas.openxmlformats.org/drawingml/2006/main">
              <a:ext uri="{FF2B5EF4-FFF2-40B4-BE49-F238E27FC236}">
                <a16:creationId xmlns:a16="http://schemas.microsoft.com/office/drawing/2014/main" id="{6F8EC3B2-4187-426D-AC5B-0D4C4588B92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9E631913-703A-475B-8E21-43BF52EE39F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3, force equation; Bolen et al. (2026)</a:t>
            </a:r>
          </a:p>
        </p:txBody>
      </p:sp>
      <p:sp>
        <p:nvSpPr>
          <p:cNvPr id="4" name="">
            <a:extLst xmlns:a="http://schemas.openxmlformats.org/drawingml/2006/main">
              <a:ext uri="{FF2B5EF4-FFF2-40B4-BE49-F238E27FC236}">
                <a16:creationId xmlns:a16="http://schemas.microsoft.com/office/drawing/2014/main" id="{D96463E8-5134-4B8B-990C-2731A4875CE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32</a:t>
            </a:r>
          </a:p>
        </p:txBody>
      </p:sp>
      <p:pic>
        <p:nvPicPr>
          <p:cNvPr id="5" name="">
            <a:extLst xmlns:a="http://schemas.openxmlformats.org/drawingml/2006/main">
              <a:ext uri="{FF2B5EF4-FFF2-40B4-BE49-F238E27FC236}">
                <a16:creationId xmlns:a16="http://schemas.microsoft.com/office/drawing/2014/main" id="{69CC1A7F-9482-49CB-B60B-F527F6155028}"/>
              </a:ext>
            </a:extLst>
          </p:cNvPr>
          <p:cNvPicPr>
            <a:picLocks xmlns:a="http://schemas.openxmlformats.org/drawingml/2006/main" noChangeAspect="1"/>
          </p:cNvPicPr>
          <p:nvPr/>
        </p:nvPicPr>
        <p:blipFill>
          <a:blip xmlns:r="http://schemas.openxmlformats.org/officeDocument/2006/relationships" xmlns:a="http://schemas.openxmlformats.org/drawingml/2006/main" r:embed="Rddea8d5f581e496c"/>
          <a:stretch xmlns:a="http://schemas.openxmlformats.org/drawingml/2006/main"/>
        </p:blipFill>
        <p:spPr>
          <a:xfrm xmlns:a="http://schemas.openxmlformats.org/drawingml/2006/main">
            <a:off x="428625" y="3224688"/>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DF5D63B-B330-4D1E-98A5-F7BFC3E661F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Separate coefficients apply to each diameter</a:t>
            </a:r>
          </a:p>
        </p:txBody>
      </p:sp>
    </p:spTree>
    <p:extLst>
      <p:ext uri="{BB962C8B-B14F-4D97-AF65-F5344CB8AC3E}">
        <p14:creationId xmlns:p14="http://schemas.microsoft.com/office/powerpoint/2010/main" val="1890181767"/>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8B799C-6B74-4A54-B95E-F456B8BF8B6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TRANSFER TO BIOMIMETIC KNEE</a:t>
            </a:r>
          </a:p>
        </p:txBody>
      </p:sp>
      <p:sp>
        <p:nvSpPr>
          <p:cNvPr id="2" name="">
            <a:extLst xmlns:a="http://schemas.openxmlformats.org/drawingml/2006/main">
              <a:ext uri="{FF2B5EF4-FFF2-40B4-BE49-F238E27FC236}">
                <a16:creationId xmlns:a16="http://schemas.microsoft.com/office/drawing/2014/main" id="{15B7F4C8-DD9A-4605-84C2-2A9BCCDADAC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2A223ED8-EBB9-4C59-B77E-A66182541CF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22A9F06B-5EF1-4B8E-BF95-0BDA2BB0169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33</a:t>
            </a:r>
          </a:p>
        </p:txBody>
      </p:sp>
      <p:pic>
        <p:nvPicPr>
          <p:cNvPr id="5" name="">
            <a:extLst xmlns:a="http://schemas.openxmlformats.org/drawingml/2006/main">
              <a:ext uri="{FF2B5EF4-FFF2-40B4-BE49-F238E27FC236}">
                <a16:creationId xmlns:a16="http://schemas.microsoft.com/office/drawing/2014/main" id="{6991FE25-5784-4BC3-8697-E0D64A1FA3EC}"/>
              </a:ext>
            </a:extLst>
          </p:cNvPr>
          <p:cNvPicPr>
            <a:picLocks xmlns:a="http://schemas.openxmlformats.org/drawingml/2006/main" noChangeAspect="1"/>
          </p:cNvPicPr>
          <p:nvPr/>
        </p:nvPicPr>
        <p:blipFill>
          <a:blip xmlns:r="http://schemas.openxmlformats.org/officeDocument/2006/relationships" xmlns:a="http://schemas.openxmlformats.org/drawingml/2006/main" r:embed="R7e4701daae1f42ed"/>
          <a:stretch xmlns:a="http://schemas.openxmlformats.org/drawingml/2006/main"/>
        </p:blipFill>
        <p:spPr>
          <a:xfrm xmlns:a="http://schemas.openxmlformats.org/drawingml/2006/main">
            <a:off x="1549674" y="1476375"/>
            <a:ext cx="909265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399E4F7-148A-4B28-BA3B-07450E361FD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Earlier 10 mm configuration</a:t>
            </a:r>
          </a:p>
        </p:txBody>
      </p:sp>
    </p:spTree>
    <p:extLst>
      <p:ext uri="{BB962C8B-B14F-4D97-AF65-F5344CB8AC3E}">
        <p14:creationId xmlns:p14="http://schemas.microsoft.com/office/powerpoint/2010/main" val="217111646"/>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FFFBB0-BCAF-43A5-81A9-2DC131590BB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ROUTE EXTENSION</a:t>
            </a:r>
          </a:p>
        </p:txBody>
      </p:sp>
      <p:sp>
        <p:nvSpPr>
          <p:cNvPr id="2" name="">
            <a:extLst xmlns:a="http://schemas.openxmlformats.org/drawingml/2006/main">
              <a:ext uri="{FF2B5EF4-FFF2-40B4-BE49-F238E27FC236}">
                <a16:creationId xmlns:a16="http://schemas.microsoft.com/office/drawing/2014/main" id="{DDD91F3F-4436-4026-BB45-96388672D21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442C7ECC-DD73-4666-878B-886439DC177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Mono- and Bi-Pulley Tendon Routing</a:t>
            </a:r>
          </a:p>
        </p:txBody>
      </p:sp>
      <p:sp>
        <p:nvSpPr>
          <p:cNvPr id="4" name="">
            <a:extLst xmlns:a="http://schemas.openxmlformats.org/drawingml/2006/main">
              <a:ext uri="{FF2B5EF4-FFF2-40B4-BE49-F238E27FC236}">
                <a16:creationId xmlns:a16="http://schemas.microsoft.com/office/drawing/2014/main" id="{27BF2825-7596-4203-A21E-0924F8ECA47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34</a:t>
            </a:r>
          </a:p>
        </p:txBody>
      </p:sp>
      <p:pic>
        <p:nvPicPr>
          <p:cNvPr id="5" name="">
            <a:extLst xmlns:a="http://schemas.openxmlformats.org/drawingml/2006/main">
              <a:ext uri="{FF2B5EF4-FFF2-40B4-BE49-F238E27FC236}">
                <a16:creationId xmlns:a16="http://schemas.microsoft.com/office/drawing/2014/main" id="{4DAD6FC0-3224-4C3D-B913-C883CEE1F963}"/>
              </a:ext>
            </a:extLst>
          </p:cNvPr>
          <p:cNvPicPr>
            <a:picLocks xmlns:a="http://schemas.openxmlformats.org/drawingml/2006/main" noChangeAspect="1"/>
          </p:cNvPicPr>
          <p:nvPr/>
        </p:nvPicPr>
        <p:blipFill>
          <a:blip xmlns:r="http://schemas.openxmlformats.org/officeDocument/2006/relationships" xmlns:a="http://schemas.openxmlformats.org/drawingml/2006/main" r:embed="R45c53206b9fc4821"/>
          <a:stretch xmlns:a="http://schemas.openxmlformats.org/drawingml/2006/main"/>
        </p:blipFill>
        <p:spPr>
          <a:xfrm xmlns:a="http://schemas.openxmlformats.org/drawingml/2006/main">
            <a:off x="3093263" y="1476375"/>
            <a:ext cx="60054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DE79EC-2BB7-47E9-92B4-11E2D8C68EA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Model predictions; adjacent joint fixed in biarticular planes</a:t>
            </a:r>
          </a:p>
        </p:txBody>
      </p:sp>
    </p:spTree>
    <p:extLst>
      <p:ext uri="{BB962C8B-B14F-4D97-AF65-F5344CB8AC3E}">
        <p14:creationId xmlns:p14="http://schemas.microsoft.com/office/powerpoint/2010/main" val="659680181"/>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827E3D-574F-444F-A31D-C0672B356E4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SIMULATION SCOPE</a:t>
            </a:r>
          </a:p>
        </p:txBody>
      </p:sp>
      <p:sp>
        <p:nvSpPr>
          <p:cNvPr id="2" name="">
            <a:extLst xmlns:a="http://schemas.openxmlformats.org/drawingml/2006/main">
              <a:ext uri="{FF2B5EF4-FFF2-40B4-BE49-F238E27FC236}">
                <a16:creationId xmlns:a16="http://schemas.microsoft.com/office/drawing/2014/main" id="{488985A8-571E-4A3B-8A67-B43CB84FA06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91495A0C-D0D5-44E4-8B1B-CF03B59B085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0EF531ED-A9BE-47D4-8395-C79D7D252F3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35</a:t>
            </a:r>
          </a:p>
        </p:txBody>
      </p:sp>
      <p:pic>
        <p:nvPicPr>
          <p:cNvPr id="5" name="">
            <a:extLst xmlns:a="http://schemas.openxmlformats.org/drawingml/2006/main">
              <a:ext uri="{FF2B5EF4-FFF2-40B4-BE49-F238E27FC236}">
                <a16:creationId xmlns:a16="http://schemas.microsoft.com/office/drawing/2014/main" id="{162F940B-E4A4-4A8B-B97D-5DCC2EDABD9B}"/>
              </a:ext>
            </a:extLst>
          </p:cNvPr>
          <p:cNvPicPr>
            <a:picLocks xmlns:a="http://schemas.openxmlformats.org/drawingml/2006/main" noChangeAspect="1"/>
          </p:cNvPicPr>
          <p:nvPr/>
        </p:nvPicPr>
        <p:blipFill>
          <a:blip xmlns:r="http://schemas.openxmlformats.org/officeDocument/2006/relationships" xmlns:a="http://schemas.openxmlformats.org/drawingml/2006/main" r:embed="R3daaa3ea5b97489c"/>
          <a:stretch xmlns:a="http://schemas.openxmlformats.org/drawingml/2006/main"/>
        </p:blipFill>
        <p:spPr>
          <a:xfrm xmlns:a="http://schemas.openxmlformats.org/drawingml/2006/main">
            <a:off x="3952875" y="1476375"/>
            <a:ext cx="428625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482468-D5F6-45B0-8288-C4CB7590655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Mechanical support remains</a:t>
            </a:r>
          </a:p>
        </p:txBody>
      </p:sp>
    </p:spTree>
    <p:extLst>
      <p:ext uri="{BB962C8B-B14F-4D97-AF65-F5344CB8AC3E}">
        <p14:creationId xmlns:p14="http://schemas.microsoft.com/office/powerpoint/2010/main" val="1334754503"/>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E6D5DA-6AF0-4DBD-A208-166D6D30845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NEURAL CODING</a:t>
            </a:r>
          </a:p>
        </p:txBody>
      </p:sp>
      <p:sp>
        <p:nvSpPr>
          <p:cNvPr id="2" name="">
            <a:extLst xmlns:a="http://schemas.openxmlformats.org/drawingml/2006/main">
              <a:ext uri="{FF2B5EF4-FFF2-40B4-BE49-F238E27FC236}">
                <a16:creationId xmlns:a16="http://schemas.microsoft.com/office/drawing/2014/main" id="{1372F00F-6D70-4123-8801-96782A6BF22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BB56C12D-B3C0-4796-AFDD-9174FE0FFA5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0877D7DB-B734-401F-AF44-B937D456BCF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36</a:t>
            </a:r>
          </a:p>
        </p:txBody>
      </p:sp>
      <p:pic>
        <p:nvPicPr>
          <p:cNvPr id="5" name="">
            <a:extLst xmlns:a="http://schemas.openxmlformats.org/drawingml/2006/main">
              <a:ext uri="{FF2B5EF4-FFF2-40B4-BE49-F238E27FC236}">
                <a16:creationId xmlns:a16="http://schemas.microsoft.com/office/drawing/2014/main" id="{4AD7405B-9624-44C3-800C-943F871D05F8}"/>
              </a:ext>
            </a:extLst>
          </p:cNvPr>
          <p:cNvPicPr>
            <a:picLocks xmlns:a="http://schemas.openxmlformats.org/drawingml/2006/main" noChangeAspect="1"/>
          </p:cNvPicPr>
          <p:nvPr/>
        </p:nvPicPr>
        <p:blipFill>
          <a:blip xmlns:r="http://schemas.openxmlformats.org/officeDocument/2006/relationships" xmlns:a="http://schemas.openxmlformats.org/drawingml/2006/main" r:embed="R1229d6608b044d82"/>
          <a:stretch xmlns:a="http://schemas.openxmlformats.org/drawingml/2006/main"/>
        </p:blipFill>
        <p:spPr>
          <a:xfrm xmlns:a="http://schemas.openxmlformats.org/drawingml/2006/main">
            <a:off x="3004954" y="1476375"/>
            <a:ext cx="618209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FD35BE-84B5-4860-9375-D9405A3A58E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A matched interface does not ensure matched dynamics</a:t>
            </a:r>
          </a:p>
        </p:txBody>
      </p:sp>
    </p:spTree>
    <p:extLst>
      <p:ext uri="{BB962C8B-B14F-4D97-AF65-F5344CB8AC3E}">
        <p14:creationId xmlns:p14="http://schemas.microsoft.com/office/powerpoint/2010/main" val="1033945514"/>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4D44F8-214E-4BEA-B6D5-ABF3F3F6FB8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TARGET DEFINITION</a:t>
            </a:r>
          </a:p>
        </p:txBody>
      </p:sp>
      <p:sp>
        <p:nvSpPr>
          <p:cNvPr id="2" name="">
            <a:extLst xmlns:a="http://schemas.openxmlformats.org/drawingml/2006/main">
              <a:ext uri="{FF2B5EF4-FFF2-40B4-BE49-F238E27FC236}">
                <a16:creationId xmlns:a16="http://schemas.microsoft.com/office/drawing/2014/main" id="{B0BCDA04-E14D-4C17-8734-976DEB47D72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FB19169D-2B0E-4929-9B75-169C7B78D88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B04BFE8D-6CA2-4A96-AFE8-E2F13BF56EF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37</a:t>
            </a:r>
          </a:p>
        </p:txBody>
      </p:sp>
      <p:pic>
        <p:nvPicPr>
          <p:cNvPr id="5" name="">
            <a:extLst xmlns:a="http://schemas.openxmlformats.org/drawingml/2006/main">
              <a:ext uri="{FF2B5EF4-FFF2-40B4-BE49-F238E27FC236}">
                <a16:creationId xmlns:a16="http://schemas.microsoft.com/office/drawing/2014/main" id="{57E34970-E61F-46DA-B1D9-257C6F9B7FDA}"/>
              </a:ext>
            </a:extLst>
          </p:cNvPr>
          <p:cNvPicPr>
            <a:picLocks xmlns:a="http://schemas.openxmlformats.org/drawingml/2006/main" noChangeAspect="1"/>
          </p:cNvPicPr>
          <p:nvPr/>
        </p:nvPicPr>
        <p:blipFill>
          <a:blip xmlns:r="http://schemas.openxmlformats.org/officeDocument/2006/relationships" xmlns:a="http://schemas.openxmlformats.org/drawingml/2006/main" r:embed="R3ae46926a1164c8d"/>
          <a:stretch xmlns:a="http://schemas.openxmlformats.org/drawingml/2006/main"/>
        </p:blipFill>
        <p:spPr>
          <a:xfrm xmlns:a="http://schemas.openxmlformats.org/drawingml/2006/main">
            <a:off x="1977645" y="1476375"/>
            <a:ext cx="823671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616773E-3E68-4B49-9FE0-67A740E33B9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Biceps femoris short head; maximum isometric model torque</a:t>
            </a:r>
          </a:p>
        </p:txBody>
      </p:sp>
    </p:spTree>
    <p:extLst>
      <p:ext uri="{BB962C8B-B14F-4D97-AF65-F5344CB8AC3E}">
        <p14:creationId xmlns:p14="http://schemas.microsoft.com/office/powerpoint/2010/main" val="543260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2026-10-23T15:57:52.2150000Z</dcterms:created>
  <dcterms:modified xsi:type="dcterms:W3CDTF">2026-10-23T15:57:52.2150000Z</dcterms:modified>
</coreProperties>
</file>