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7eaf393122841d7" /><Relationship Type="http://schemas.openxmlformats.org/officeDocument/2006/relationships/extended-properties" Target="/docProps/app.xml" Id="R72e2890d4b9d4a18" /><Relationship Type="http://schemas.openxmlformats.org/officeDocument/2006/relationships/officeDocument" Target="/ppt/presentation.xml" Id="R7af68d0b829c44ad" /></Relationships>
</file>

<file path=ppt/presentation.xml><?xml version="1.0" encoding="utf-8"?>
<p:presentation xmlns:p="http://schemas.openxmlformats.org/presentationml/2006/main">
  <p:sldMasterIdLst>
    <p:sldMasterId xmlns:r="http://schemas.openxmlformats.org/officeDocument/2006/relationships" id="2147483648" r:id="R60c573f5d92e459e"/>
  </p:sldMasterIdLst>
  <p:notesMasterIdLst>
    <p:notesMasterId xmlns:r="http://schemas.openxmlformats.org/officeDocument/2006/relationships" r:id="R4e6dbb15df284448"/>
  </p:notesMasterIdLst>
  <p:sldIdLst>
    <p:sldId xmlns:r="http://schemas.openxmlformats.org/officeDocument/2006/relationships" id="256" r:id="Raab6cfa817c3401c"/>
    <p:sldId xmlns:r="http://schemas.openxmlformats.org/officeDocument/2006/relationships" id="257" r:id="Rddfef593bf7c4e82"/>
    <p:sldId xmlns:r="http://schemas.openxmlformats.org/officeDocument/2006/relationships" id="258" r:id="R866833ed5c6c4706"/>
    <p:sldId xmlns:r="http://schemas.openxmlformats.org/officeDocument/2006/relationships" id="259" r:id="Ra5a7c3d202044753"/>
    <p:sldId xmlns:r="http://schemas.openxmlformats.org/officeDocument/2006/relationships" id="260" r:id="R857f130056394198"/>
    <p:sldId xmlns:r="http://schemas.openxmlformats.org/officeDocument/2006/relationships" id="261" r:id="R2f908a035d194639"/>
    <p:sldId xmlns:r="http://schemas.openxmlformats.org/officeDocument/2006/relationships" id="262" r:id="R9ce8c9f76e5b4cc6"/>
    <p:sldId xmlns:r="http://schemas.openxmlformats.org/officeDocument/2006/relationships" id="263" r:id="Rbb3632c91b874a92"/>
    <p:sldId xmlns:r="http://schemas.openxmlformats.org/officeDocument/2006/relationships" id="264" r:id="R0fbdfd59380448c8"/>
    <p:sldId xmlns:r="http://schemas.openxmlformats.org/officeDocument/2006/relationships" id="265" r:id="Rd10da847f14f4a23"/>
    <p:sldId xmlns:r="http://schemas.openxmlformats.org/officeDocument/2006/relationships" id="266" r:id="Rcc89f716410b4895"/>
    <p:sldId xmlns:r="http://schemas.openxmlformats.org/officeDocument/2006/relationships" id="267" r:id="R6723f5e6620b472b"/>
    <p:sldId xmlns:r="http://schemas.openxmlformats.org/officeDocument/2006/relationships" id="268" r:id="R325dfe184d624091"/>
    <p:sldId xmlns:r="http://schemas.openxmlformats.org/officeDocument/2006/relationships" id="269" r:id="Rc05a4f1620874d4f"/>
    <p:sldId xmlns:r="http://schemas.openxmlformats.org/officeDocument/2006/relationships" id="270" r:id="Rcedd0a0f3fc94156"/>
    <p:sldId xmlns:r="http://schemas.openxmlformats.org/officeDocument/2006/relationships" id="271" r:id="R82013b23b7764fad"/>
    <p:sldId xmlns:r="http://schemas.openxmlformats.org/officeDocument/2006/relationships" id="272" r:id="R4d8707e897e547ad"/>
    <p:sldId xmlns:r="http://schemas.openxmlformats.org/officeDocument/2006/relationships" id="273" r:id="R1dcf31effa774fc3"/>
    <p:sldId xmlns:r="http://schemas.openxmlformats.org/officeDocument/2006/relationships" id="274" r:id="R9256f3a44eb54e23"/>
    <p:sldId xmlns:r="http://schemas.openxmlformats.org/officeDocument/2006/relationships" id="275" r:id="R0d4ce4a663484ab5"/>
    <p:sldId xmlns:r="http://schemas.openxmlformats.org/officeDocument/2006/relationships" id="276" r:id="R362924a8fd924513"/>
    <p:sldId xmlns:r="http://schemas.openxmlformats.org/officeDocument/2006/relationships" id="277" r:id="R8725116662ea4b67"/>
    <p:sldId xmlns:r="http://schemas.openxmlformats.org/officeDocument/2006/relationships" id="278" r:id="R057b35fafd3c4224"/>
    <p:sldId xmlns:r="http://schemas.openxmlformats.org/officeDocument/2006/relationships" id="279" r:id="R74fddcd716cb4382"/>
    <p:sldId xmlns:r="http://schemas.openxmlformats.org/officeDocument/2006/relationships" id="280" r:id="R56261a3989394377"/>
    <p:sldId xmlns:r="http://schemas.openxmlformats.org/officeDocument/2006/relationships" id="281" r:id="Ra98ac2f6ba4c4c61"/>
    <p:sldId xmlns:r="http://schemas.openxmlformats.org/officeDocument/2006/relationships" id="282" r:id="R2b257680f44c4d14"/>
    <p:sldId xmlns:r="http://schemas.openxmlformats.org/officeDocument/2006/relationships" id="283" r:id="R7b35c6b9ad7243f9"/>
    <p:sldId xmlns:r="http://schemas.openxmlformats.org/officeDocument/2006/relationships" id="284" r:id="R59a49c395d8145e1"/>
    <p:sldId xmlns:r="http://schemas.openxmlformats.org/officeDocument/2006/relationships" id="285" r:id="Rf1a695510344448f"/>
    <p:sldId xmlns:r="http://schemas.openxmlformats.org/officeDocument/2006/relationships" id="286" r:id="R6c05cd0843874b06"/>
    <p:sldId xmlns:r="http://schemas.openxmlformats.org/officeDocument/2006/relationships" id="287" r:id="R89442018c5344357"/>
    <p:sldId xmlns:r="http://schemas.openxmlformats.org/officeDocument/2006/relationships" id="288" r:id="R0720a4d7cb66463f"/>
    <p:sldId xmlns:r="http://schemas.openxmlformats.org/officeDocument/2006/relationships" id="289" r:id="R776a79cc4dbd4c01"/>
    <p:sldId xmlns:r="http://schemas.openxmlformats.org/officeDocument/2006/relationships" id="290" r:id="R0cc1896b47584001"/>
    <p:sldId xmlns:r="http://schemas.openxmlformats.org/officeDocument/2006/relationships" id="291" r:id="Rc66e5e03193849d5"/>
    <p:sldId xmlns:r="http://schemas.openxmlformats.org/officeDocument/2006/relationships" id="292" r:id="Ref9f8fb54f0a48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42c8d8b6454e4c" /><Relationship Type="http://schemas.openxmlformats.org/officeDocument/2006/relationships/slideMaster" Target="/ppt/slideMasters/slideMaster1.xml" Id="R60c573f5d92e459e" /><Relationship Type="http://schemas.openxmlformats.org/officeDocument/2006/relationships/notesMaster" Target="/ppt/notesMasters/notesMaster1.xml" Id="R4e6dbb15df284448" /><Relationship Type="http://schemas.openxmlformats.org/officeDocument/2006/relationships/presProps" Target="/ppt/presProps.xml" Id="R02015d7f2d9841e4" /><Relationship Type="http://schemas.openxmlformats.org/officeDocument/2006/relationships/tableStyles" Target="/ppt/tableStyles.xml" Id="R99b5084417ec4da1" /><Relationship Type="http://schemas.openxmlformats.org/officeDocument/2006/relationships/slide" Target="/ppt/slides/slide1.xml" Id="Raab6cfa817c3401c" /><Relationship Type="http://schemas.openxmlformats.org/officeDocument/2006/relationships/slide" Target="/ppt/slides/slide2.xml" Id="Rddfef593bf7c4e82" /><Relationship Type="http://schemas.openxmlformats.org/officeDocument/2006/relationships/slide" Target="/ppt/slides/slide3.xml" Id="R866833ed5c6c4706" /><Relationship Type="http://schemas.openxmlformats.org/officeDocument/2006/relationships/slide" Target="/ppt/slides/slide4.xml" Id="Ra5a7c3d202044753" /><Relationship Type="http://schemas.openxmlformats.org/officeDocument/2006/relationships/slide" Target="/ppt/slides/slide5.xml" Id="R857f130056394198" /><Relationship Type="http://schemas.openxmlformats.org/officeDocument/2006/relationships/slide" Target="/ppt/slides/slide6.xml" Id="R2f908a035d194639" /><Relationship Type="http://schemas.openxmlformats.org/officeDocument/2006/relationships/slide" Target="/ppt/slides/slide7.xml" Id="R9ce8c9f76e5b4cc6" /><Relationship Type="http://schemas.openxmlformats.org/officeDocument/2006/relationships/slide" Target="/ppt/slides/slide8.xml" Id="Rbb3632c91b874a92" /><Relationship Type="http://schemas.openxmlformats.org/officeDocument/2006/relationships/slide" Target="/ppt/slides/slide9.xml" Id="R0fbdfd59380448c8" /><Relationship Type="http://schemas.openxmlformats.org/officeDocument/2006/relationships/slide" Target="/ppt/slides/slide10.xml" Id="Rd10da847f14f4a23" /><Relationship Type="http://schemas.openxmlformats.org/officeDocument/2006/relationships/slide" Target="/ppt/slides/slide11.xml" Id="Rcc89f716410b4895" /><Relationship Type="http://schemas.openxmlformats.org/officeDocument/2006/relationships/slide" Target="/ppt/slides/slide12.xml" Id="R6723f5e6620b472b" /><Relationship Type="http://schemas.openxmlformats.org/officeDocument/2006/relationships/slide" Target="/ppt/slides/slide13.xml" Id="R325dfe184d624091" /><Relationship Type="http://schemas.openxmlformats.org/officeDocument/2006/relationships/slide" Target="/ppt/slides/slide14.xml" Id="Rc05a4f1620874d4f" /><Relationship Type="http://schemas.openxmlformats.org/officeDocument/2006/relationships/slide" Target="/ppt/slides/slide15.xml" Id="Rcedd0a0f3fc94156" /><Relationship Type="http://schemas.openxmlformats.org/officeDocument/2006/relationships/slide" Target="/ppt/slides/slide16.xml" Id="R82013b23b7764fad" /><Relationship Type="http://schemas.openxmlformats.org/officeDocument/2006/relationships/slide" Target="/ppt/slides/slide17.xml" Id="R4d8707e897e547ad" /><Relationship Type="http://schemas.openxmlformats.org/officeDocument/2006/relationships/slide" Target="/ppt/slides/slide18.xml" Id="R1dcf31effa774fc3" /><Relationship Type="http://schemas.openxmlformats.org/officeDocument/2006/relationships/slide" Target="/ppt/slides/slide19.xml" Id="R9256f3a44eb54e23" /><Relationship Type="http://schemas.openxmlformats.org/officeDocument/2006/relationships/slide" Target="/ppt/slides/slide20.xml" Id="R0d4ce4a663484ab5" /><Relationship Type="http://schemas.openxmlformats.org/officeDocument/2006/relationships/slide" Target="/ppt/slides/slide21.xml" Id="R362924a8fd924513" /><Relationship Type="http://schemas.openxmlformats.org/officeDocument/2006/relationships/slide" Target="/ppt/slides/slide22.xml" Id="R8725116662ea4b67" /><Relationship Type="http://schemas.openxmlformats.org/officeDocument/2006/relationships/slide" Target="/ppt/slides/slide23.xml" Id="R057b35fafd3c4224" /><Relationship Type="http://schemas.openxmlformats.org/officeDocument/2006/relationships/slide" Target="/ppt/slides/slide24.xml" Id="R74fddcd716cb4382" /><Relationship Type="http://schemas.openxmlformats.org/officeDocument/2006/relationships/slide" Target="/ppt/slides/slide25.xml" Id="R56261a3989394377" /><Relationship Type="http://schemas.openxmlformats.org/officeDocument/2006/relationships/slide" Target="/ppt/slides/slide26.xml" Id="Ra98ac2f6ba4c4c61" /><Relationship Type="http://schemas.openxmlformats.org/officeDocument/2006/relationships/slide" Target="/ppt/slides/slide27.xml" Id="R2b257680f44c4d14" /><Relationship Type="http://schemas.openxmlformats.org/officeDocument/2006/relationships/slide" Target="/ppt/slides/slide28.xml" Id="R7b35c6b9ad7243f9" /><Relationship Type="http://schemas.openxmlformats.org/officeDocument/2006/relationships/slide" Target="/ppt/slides/slide29.xml" Id="R59a49c395d8145e1" /><Relationship Type="http://schemas.openxmlformats.org/officeDocument/2006/relationships/slide" Target="/ppt/slides/slide30.xml" Id="Rf1a695510344448f" /><Relationship Type="http://schemas.openxmlformats.org/officeDocument/2006/relationships/slide" Target="/ppt/slides/slide31.xml" Id="R6c05cd0843874b06" /><Relationship Type="http://schemas.openxmlformats.org/officeDocument/2006/relationships/slide" Target="/ppt/slides/slide32.xml" Id="R89442018c5344357" /><Relationship Type="http://schemas.openxmlformats.org/officeDocument/2006/relationships/slide" Target="/ppt/slides/slide33.xml" Id="R0720a4d7cb66463f" /><Relationship Type="http://schemas.openxmlformats.org/officeDocument/2006/relationships/slide" Target="/ppt/slides/slide34.xml" Id="R776a79cc4dbd4c01" /><Relationship Type="http://schemas.openxmlformats.org/officeDocument/2006/relationships/slide" Target="/ppt/slides/slide35.xml" Id="R0cc1896b47584001" /><Relationship Type="http://schemas.openxmlformats.org/officeDocument/2006/relationships/slide" Target="/ppt/slides/slide36.xml" Id="Rc66e5e03193849d5" /><Relationship Type="http://schemas.openxmlformats.org/officeDocument/2006/relationships/slide" Target="/ppt/slides/slide37.xml" Id="Ref9f8fb54f0a48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218d3450604d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a631e6d35a4281" /><Relationship Type="http://schemas.openxmlformats.org/officeDocument/2006/relationships/notesMaster" Target="/ppt/notesMasters/notesMaster1.xml" Id="Rc80f1f0f4dbe4a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05ae2a5a2d4134" /><Relationship Type="http://schemas.openxmlformats.org/officeDocument/2006/relationships/notesMaster" Target="/ppt/notesMasters/notesMaster1.xml" Id="R397494f660c54f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5ac05a772f46ff" /><Relationship Type="http://schemas.openxmlformats.org/officeDocument/2006/relationships/notesMaster" Target="/ppt/notesMasters/notesMaster1.xml" Id="R684fe31c6c6b40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7dc6cf910c4066" /><Relationship Type="http://schemas.openxmlformats.org/officeDocument/2006/relationships/notesMaster" Target="/ppt/notesMasters/notesMaster1.xml" Id="R4dae20a2152142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f2e9fe0370499d" /><Relationship Type="http://schemas.openxmlformats.org/officeDocument/2006/relationships/notesMaster" Target="/ppt/notesMasters/notesMaster1.xml" Id="Re2448cc1f1324a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d8375ed3c44c95" /><Relationship Type="http://schemas.openxmlformats.org/officeDocument/2006/relationships/notesMaster" Target="/ppt/notesMasters/notesMaster1.xml" Id="R32f65e4cfe2748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cfc72b4fe74bbf" /><Relationship Type="http://schemas.openxmlformats.org/officeDocument/2006/relationships/notesMaster" Target="/ppt/notesMasters/notesMaster1.xml" Id="Re5309a5c567441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bbb85733a34a65" /><Relationship Type="http://schemas.openxmlformats.org/officeDocument/2006/relationships/notesMaster" Target="/ppt/notesMasters/notesMaster1.xml" Id="Rb05db22de6ab40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6a398caebc4a6b" /><Relationship Type="http://schemas.openxmlformats.org/officeDocument/2006/relationships/notesMaster" Target="/ppt/notesMasters/notesMaster1.xml" Id="Rb80c27a1c9984b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cdf30cbf134c3f" /><Relationship Type="http://schemas.openxmlformats.org/officeDocument/2006/relationships/notesMaster" Target="/ppt/notesMasters/notesMaster1.xml" Id="R9a87965704224d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8e86b20b7e4893" /><Relationship Type="http://schemas.openxmlformats.org/officeDocument/2006/relationships/notesMaster" Target="/ppt/notesMasters/notesMaster1.xml" Id="R83941ba506ca4b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91765db6d94c5b" /><Relationship Type="http://schemas.openxmlformats.org/officeDocument/2006/relationships/notesMaster" Target="/ppt/notesMasters/notesMaster1.xml" Id="R64233020532e45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85e1f34b4374363" /><Relationship Type="http://schemas.openxmlformats.org/officeDocument/2006/relationships/notesMaster" Target="/ppt/notesMasters/notesMaster1.xml" Id="R535a9fc62ae945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4ad78623814d33" /><Relationship Type="http://schemas.openxmlformats.org/officeDocument/2006/relationships/notesMaster" Target="/ppt/notesMasters/notesMaster1.xml" Id="R4a0b8e934dbb44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01c3386f4a45aa" /><Relationship Type="http://schemas.openxmlformats.org/officeDocument/2006/relationships/notesMaster" Target="/ppt/notesMasters/notesMaster1.xml" Id="R7e12fa69599747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1a696adda534dff" /><Relationship Type="http://schemas.openxmlformats.org/officeDocument/2006/relationships/notesMaster" Target="/ppt/notesMasters/notesMaster1.xml" Id="R5462af0a3ea048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335411fca54be7" /><Relationship Type="http://schemas.openxmlformats.org/officeDocument/2006/relationships/notesMaster" Target="/ppt/notesMasters/notesMaster1.xml" Id="R9ad2c8d4ee3145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a349ec08084e1c" /><Relationship Type="http://schemas.openxmlformats.org/officeDocument/2006/relationships/notesMaster" Target="/ppt/notesMasters/notesMaster1.xml" Id="R96d06ecad132484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b22e6b7d7414fa0" /><Relationship Type="http://schemas.openxmlformats.org/officeDocument/2006/relationships/notesMaster" Target="/ppt/notesMasters/notesMaster1.xml" Id="R11b8678186ce46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287cb6abbd42c0" /><Relationship Type="http://schemas.openxmlformats.org/officeDocument/2006/relationships/notesMaster" Target="/ppt/notesMasters/notesMaster1.xml" Id="Rdd81f222dc4443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ab0cecf41954f21" /><Relationship Type="http://schemas.openxmlformats.org/officeDocument/2006/relationships/notesMaster" Target="/ppt/notesMasters/notesMaster1.xml" Id="R172946616f63428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3ff5f5affa64b00" /><Relationship Type="http://schemas.openxmlformats.org/officeDocument/2006/relationships/notesMaster" Target="/ppt/notesMasters/notesMaster1.xml" Id="R407967feb57d40a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2c7c1a00914db9" /><Relationship Type="http://schemas.openxmlformats.org/officeDocument/2006/relationships/notesMaster" Target="/ppt/notesMasters/notesMaster1.xml" Id="Ra02fe90acd8e40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90d16118f64a7f" /><Relationship Type="http://schemas.openxmlformats.org/officeDocument/2006/relationships/notesMaster" Target="/ppt/notesMasters/notesMaster1.xml" Id="Rea881ea5c0374d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f656451ed6547d6" /><Relationship Type="http://schemas.openxmlformats.org/officeDocument/2006/relationships/notesMaster" Target="/ppt/notesMasters/notesMaster1.xml" Id="R6624d5743c3748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6b5c59c381e489e" /><Relationship Type="http://schemas.openxmlformats.org/officeDocument/2006/relationships/notesMaster" Target="/ppt/notesMasters/notesMaster1.xml" Id="Rde65e8f340d243a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fa161f88c34b6a" /><Relationship Type="http://schemas.openxmlformats.org/officeDocument/2006/relationships/notesMaster" Target="/ppt/notesMasters/notesMaster1.xml" Id="R96b28374aafc48b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edff7d28d141ca" /><Relationship Type="http://schemas.openxmlformats.org/officeDocument/2006/relationships/notesMaster" Target="/ppt/notesMasters/notesMaster1.xml" Id="Rc3196d1afb164a1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3d228bba6444e97" /><Relationship Type="http://schemas.openxmlformats.org/officeDocument/2006/relationships/notesMaster" Target="/ppt/notesMasters/notesMaster1.xml" Id="Rab3174715aaa487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9e85a772bbd4368" /><Relationship Type="http://schemas.openxmlformats.org/officeDocument/2006/relationships/notesMaster" Target="/ppt/notesMasters/notesMaster1.xml" Id="R4a76598a92304d8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adee9bd34894dbf" /><Relationship Type="http://schemas.openxmlformats.org/officeDocument/2006/relationships/notesMaster" Target="/ppt/notesMasters/notesMaster1.xml" Id="R7d88b28a9a16415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c43e40dbd9646e9" /><Relationship Type="http://schemas.openxmlformats.org/officeDocument/2006/relationships/notesMaster" Target="/ppt/notesMasters/notesMaster1.xml" Id="Rc8d5efa1ca674a5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65df11950d149fb" /><Relationship Type="http://schemas.openxmlformats.org/officeDocument/2006/relationships/notesMaster" Target="/ppt/notesMasters/notesMaster1.xml" Id="R3ed7279554c9474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833776733d4733" /><Relationship Type="http://schemas.openxmlformats.org/officeDocument/2006/relationships/notesMaster" Target="/ppt/notesMasters/notesMaster1.xml" Id="Ra0d40e78ddef4c3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d2d18c38bfc4cf4" /><Relationship Type="http://schemas.openxmlformats.org/officeDocument/2006/relationships/notesMaster" Target="/ppt/notesMasters/notesMaster1.xml" Id="R4a71eb9f9e794ff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88d7eafb3b94041" /><Relationship Type="http://schemas.openxmlformats.org/officeDocument/2006/relationships/notesMaster" Target="/ppt/notesMasters/notesMaster1.xml" Id="Reb0bb07f0a8c4d8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d499e86352848f1" /><Relationship Type="http://schemas.openxmlformats.org/officeDocument/2006/relationships/notesMaster" Target="/ppt/notesMasters/notesMaster1.xml" Id="R75dd1052077d48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xmlns:a="http://schemas.openxmlformats.org/drawingml/2006/main">
            <a:r>
              <a:t/>
            </a:r>
          </a:p>
          <a:p xmlns:a="http://schemas.openxmlformats.org/drawingml/2006/main">
            <a:r>
              <a:t>Sources: Portland State University · Agile &amp; Adaptive Robotics Laboratory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xmlns:a="http://schemas.openxmlformats.org/drawingml/2006/main">
            <a:r>
              <a:t/>
            </a:r>
          </a:p>
          <a:p xmlns:a="http://schemas.openxmlformats.org/drawingml/2006/main">
            <a:r>
              <a:t>Sources: Revision C · Ch. 1, research gaps and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xmlns:a="http://schemas.openxmlformats.org/drawingml/2006/main">
            <a:r>
              <a:t/>
            </a:r>
          </a:p>
          <a:p xmlns:a="http://schemas.openxmlformats.org/drawingml/2006/main">
            <a:r>
              <a:t>Sources: Revision C · Ch. 1; Ch. 6, Model Conversion and Actuator Coupling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xmlns:a="http://schemas.openxmlformats.org/drawingml/2006/main">
            <a:r>
              <a:t/>
            </a:r>
          </a:p>
          <a:p xmlns:a="http://schemas.openxmlformats.org/drawingml/2006/main">
            <a:r>
              <a:t>Sources: Bolen, Elzein, Pang, and Hunt (2026), Actuators · Revision C, Ch.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xmlns:a="http://schemas.openxmlformats.org/drawingml/2006/main">
            <a:r>
              <a:t/>
            </a:r>
          </a:p>
          <a:p xmlns:a="http://schemas.openxmlformats.org/drawingml/2006/main">
            <a:r>
              <a:t>Sources: Bolen et al. (2026), Actuators · Revision C, Fig. Fmax_fit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xmlns:a="http://schemas.openxmlformats.org/drawingml/2006/main">
            <a:r>
              <a:t/>
            </a:r>
          </a:p>
          <a:p xmlns:a="http://schemas.openxmlformats.org/drawingml/2006/main">
            <a:r>
              <a:t>Sources: Revision C · Ch. 3, Effects of Resting Length; 10 mm BPA at 620 kPa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xmlns:a="http://schemas.openxmlformats.org/drawingml/2006/main">
            <a:r>
              <a:t/>
            </a:r>
          </a:p>
          <a:p xmlns:a="http://schemas.openxmlformats.org/drawingml/2006/main">
            <a:r>
              <a:t>Sources: Bolen et al. (2026), Actuators · Revision C, Fig. GenForceFit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xmlns:a="http://schemas.openxmlformats.org/drawingml/2006/main">
            <a:r>
              <a:t/>
            </a:r>
          </a:p>
          <a:p xmlns:a="http://schemas.openxmlformats.org/drawingml/2006/main">
            <a:r>
              <a:t>Sources: Bolen et al. (2026), Actuators · Revision C, Fig. Comparison and model-comparison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xmlns:a="http://schemas.openxmlformats.org/drawingml/2006/main">
            <a:r>
              <a:t/>
            </a:r>
          </a:p>
          <a:p xmlns:a="http://schemas.openxmlformats.org/drawingml/2006/main">
            <a:r>
              <a:t>Sources: Revision C · Ch. 4, test stands; four-bar knee credited to Steele et 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xmlns:a="http://schemas.openxmlformats.org/drawingml/2006/main">
            <a:r>
              <a:t/>
            </a:r>
          </a:p>
          <a:p xmlns:a="http://schemas.openxmlformats.org/drawingml/2006/main">
            <a:r>
              <a:t>Sources: Revision C · Ch. 4, Fig. FlxPin_preopt; hybrid-method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xmlns:a="http://schemas.openxmlformats.org/drawingml/2006/main">
            <a:r>
              <a:t/>
            </a:r>
          </a:p>
          <a:p xmlns:a="http://schemas.openxmlformats.org/drawingml/2006/main">
            <a:r>
              <a:t>Sources: Revision C · Ch. 4, Improved Torque Model; Appendix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xmlns:a="http://schemas.openxmlformats.org/drawingml/2006/main">
            <a:r>
              <a:t/>
            </a:r>
          </a:p>
          <a:p xmlns:a="http://schemas.openxmlformats.org/drawingml/2006/main">
            <a:r>
              <a:t>Sources: Revision C · Ch. 4, Tables FlxPinGof and ExtPinGof; Appendix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Left is a training test, right a validation test. The adopted full two-bracket model reduces mean RMSE from 8.656 to 1.624 N·m for training and 7.588 to 1.490 N·m for validation. RMSE means root-mean-square error. Figure traces illustrate the pattern; they do not replace per-test statistics. The historical 48.0 cm label in the source panel differs from the 48.5 cm reporting convention in the current table and must be explained if asked.</a:t>
            </a:r>
          </a:p>
          <a:p xmlns:a="http://schemas.openxmlformats.org/drawingml/2006/main">
            <a:r>
              <a:t/>
            </a:r>
          </a:p>
          <a:p xmlns:a="http://schemas.openxmlformats.org/drawingml/2006/main">
            <a:r>
              <a:t>Sources: Revision C · Ch. 4, Fig. FlxPin_optimized; Table FlxPinGof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xmlns:a="http://schemas.openxmlformats.org/drawingml/2006/main">
            <a:r>
              <a:t/>
            </a:r>
          </a:p>
          <a:p xmlns:a="http://schemas.openxmlformats.org/drawingml/2006/main">
            <a:r>
              <a:t>Sources: Revision C · Ch. 4, Tables FlxPinGof and ExtPinGof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xmlns:a="http://schemas.openxmlformats.org/drawingml/2006/main">
            <a:r>
              <a:t/>
            </a:r>
          </a:p>
          <a:p xmlns:a="http://schemas.openxmlformats.org/drawingml/2006/main">
            <a:r>
              <a:t>Sources: Revision C · Ch. 4, Fig. FlxGrp, panel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xmlns:a="http://schemas.openxmlformats.org/drawingml/2006/main">
            <a:r>
              <a:t/>
            </a:r>
          </a:p>
          <a:p xmlns:a="http://schemas.openxmlformats.org/drawingml/2006/main">
            <a:r>
              <a:t>Sources: Revision C · Ch. 4, Fig. ExtensorRoute_redesigned and cam-extensor hardware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xmlns:a="http://schemas.openxmlformats.org/drawingml/2006/main">
            <a:r>
              <a:t/>
            </a:r>
          </a:p>
          <a:p xmlns:a="http://schemas.openxmlformats.org/drawingml/2006/main">
            <a:r>
              <a:t>Sources: Revision C · Ch. 4, redesigned-route results; cam result of record, 14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xmlns:a="http://schemas.openxmlformats.org/drawingml/2006/main">
            <a:r>
              <a:t/>
            </a:r>
          </a:p>
          <a:p xmlns:a="http://schemas.openxmlformats.org/drawingml/2006/main">
            <a:r>
              <a:t>Sources: Revision C · Ch. 4, Fig. extensor_physical_final; MATLAB Ext20mm_compare_20261022.png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xmlns:a="http://schemas.openxmlformats.org/drawingml/2006/main">
            <a:r>
              <a:t/>
            </a:r>
          </a:p>
          <a:p xmlns:a="http://schemas.openxmlformats.org/drawingml/2006/main">
            <a:r>
              <a:t>Sources: Knee-torque paper · Fig. Flx20mm; MATLAB generator gen_Flx20mm_3panel_20261023.m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xmlns:a="http://schemas.openxmlformats.org/drawingml/2006/main">
            <a:r>
              <a:t/>
            </a:r>
          </a:p>
          <a:p xmlns:a="http://schemas.openxmlformats.org/drawingml/2006/main">
            <a:r>
              <a:t>Sources: Knee-torque paper · Fig. Flx20mm, panel B; unchanged MATLAB calculation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xmlns:a="http://schemas.openxmlformats.org/drawingml/2006/main">
            <a:r>
              <a:t/>
            </a:r>
          </a:p>
          <a:p xmlns:a="http://schemas.openxmlformats.org/drawingml/2006/main">
            <a:r>
              <a:t>Sources: Revision C · Ch. 5, The Resource; SADb application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xmlns:a="http://schemas.openxmlformats.org/drawingml/2006/main">
            <a:r>
              <a:t/>
            </a:r>
          </a:p>
          <a:p xmlns:a="http://schemas.openxmlformats.org/drawingml/2006/main">
            <a:r>
              <a:t>Sources: Revision C · Ch. 5, Fig. sadb_pivot and Use in Neural-Controller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These phase-1 angle traces are historical, suspended evidence.</a:t>
            </a:r>
          </a:p>
          <a:p xmlns:a="http://schemas.openxmlformats.org/drawingml/2006/main">
            <a:r>
              <a:t/>
            </a:r>
          </a:p>
          <a:p xmlns:a="http://schemas.openxmlformats.org/drawingml/2006/main">
            <a:r>
              <a:t>Sources: Revision C · Ch. 6, The AnimatLab Bipedal Walker; Li (2017), Deng (2019), Bolen (2021)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xmlns:a="http://schemas.openxmlformats.org/drawingml/2006/main">
            <a:r>
              <a:t/>
            </a:r>
          </a:p>
          <a:p xmlns:a="http://schemas.openxmlformats.org/drawingml/2006/main">
            <a:r>
              <a:t>Sources: Revision C · Ch. 6, The AnimatLab Bipedal Walker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xmlns:a="http://schemas.openxmlformats.org/drawingml/2006/main">
            <a:r>
              <a:t/>
            </a:r>
          </a:p>
          <a:p xmlns:a="http://schemas.openxmlformats.org/drawingml/2006/main">
            <a:r>
              <a:t>Sources: Revision C · Ch. 6, Model Conversion and Graphical Circuit 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xmlns:a="http://schemas.openxmlformats.org/drawingml/2006/main">
            <a:r>
              <a:t/>
            </a:r>
          </a:p>
          <a:p xmlns:a="http://schemas.openxmlformats.org/drawingml/2006/main">
            <a:r>
              <a:t>Sources: Revision C · Ch. 6, Fig. simulink_reflex_topology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xmlns:a="http://schemas.openxmlformats.org/drawingml/2006/main">
            <a:r>
              <a:t/>
            </a:r>
          </a:p>
          <a:p xmlns:a="http://schemas.openxmlformats.org/drawingml/2006/main">
            <a:r>
              <a:t>Sources: Revision C · Ch. 6, Fig. w2l_crossengine; matched NumPy and Simulink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xmlns:a="http://schemas.openxmlformats.org/drawingml/2006/main">
            <a:r>
              <a:t/>
            </a:r>
          </a:p>
          <a:p xmlns:a="http://schemas.openxmlformats.org/drawingml/2006/main">
            <a:r>
              <a:t>Sources: Revision C · Ch. 6, Closed-Loop Model Coupling and capability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xmlns:a="http://schemas.openxmlformats.org/drawingml/2006/main">
            <a:r>
              <a:t/>
            </a:r>
          </a:p>
          <a:p xmlns:a="http://schemas.openxmlformats.org/drawingml/2006/main">
            <a:r>
              <a:t>Sources: Revision C · Chs. 3–7; final flexor MATLAB reduction,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xmlns:a="http://schemas.openxmlformats.org/drawingml/2006/main">
            <a:r>
              <a:t/>
            </a:r>
          </a:p>
          <a:p xmlns:a="http://schemas.openxmlformats.org/drawingml/2006/main">
            <a:r>
              <a:t>Sources: Revision C · Ch. 7; Ch. 6, remaining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the advisor M. Anthony Hunt, the committee, the AARL, and the dissertation collaborators. Recognize M. Elzein, L. Pang, L. Burgess, C. Morrow, J. Scharzenberger, C. Steele, and J. Chung. This slide ends the main presentation. Hidden backup follows.</a:t>
            </a:r>
          </a:p>
          <a:p xmlns:a="http://schemas.openxmlformats.org/drawingml/2006/main">
            <a:r>
              <a:t/>
            </a:r>
          </a:p>
          <a:p xmlns:a="http://schemas.openxmlformats.org/drawingml/2006/main">
            <a:r>
              <a:t>Sources: Ben P. Bolen · Mechanical Engineering · Portland State University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xmlns:a="http://schemas.openxmlformats.org/drawingml/2006/main">
            <a:r>
              <a:t/>
            </a:r>
          </a:p>
          <a:p xmlns:a="http://schemas.openxmlformats.org/drawingml/2006/main">
            <a:r>
              <a:t>Sources: Revision C · Ch. 3, force equation; Bolen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xmlns:a="http://schemas.openxmlformats.org/drawingml/2006/main">
            <a:r>
              <a:t/>
            </a:r>
          </a:p>
          <a:p xmlns:a="http://schemas.openxmlformats.org/drawingml/2006/main">
            <a:r>
              <a:t>Sources: Revision C · Ch. 4, Fig. Ext10mm_52cm; see adopted shared-pair table for final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xmlns:a="http://schemas.openxmlformats.org/drawingml/2006/main">
            <a:r>
              <a:t/>
            </a:r>
          </a:p>
          <a:p xmlns:a="http://schemas.openxmlformats.org/drawingml/2006/main">
            <a:r>
              <a:t>Sources: Revision C · Ch. 4, Mono- and Bi-Pulley Tendon Routing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xmlns:a="http://schemas.openxmlformats.org/drawingml/2006/main">
            <a:r>
              <a:t/>
            </a:r>
          </a:p>
          <a:p xmlns:a="http://schemas.openxmlformats.org/drawingml/2006/main">
            <a:r>
              <a:t>Sources: Revision C · Ch. 6 and Appendix, Simulation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xmlns:a="http://schemas.openxmlformats.org/drawingml/2006/main">
            <a:r>
              <a:t/>
            </a:r>
          </a:p>
          <a:p xmlns:a="http://schemas.openxmlformats.org/drawingml/2006/main">
            <a:r>
              <a:t>Sources: Revision C · Appendix, Simulation Verification; knee spiking-twin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xmlns:a="http://schemas.openxmlformats.org/drawingml/2006/main">
            <a:r>
              <a:t/>
            </a:r>
          </a:p>
          <a:p xmlns:a="http://schemas.openxmlformats.org/drawingml/2006/main">
            <a:r>
              <a:t>Sources: Knee-torque paper · Fig. Flx20mm, panel A; OpenSim Gait2392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b383d9446e44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d2e98ac99142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baee35a5b344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f3a72434ef4e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fe9ccb5f094e1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d113fe764a43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8258AD-579D-485F-A2CE-A547FAD8FF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6E1E42-7451-4808-B47E-E1E5C41C7C3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CD1645-6866-4D79-910B-7E8DD7DCDE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BDA75C-55FA-43ED-985C-14FE6CFB4C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716200-0B40-412E-B609-741075FA66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11C602-2A42-4751-8616-C703578F3A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8CC85EC-51C2-427B-AEFC-C535E40475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0F116D-EEFB-4673-A578-5C2DD01A7A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A05BF0-A495-47F4-A19B-58E6A1A345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481DAF-44D1-41EA-B886-3F58557721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d9c6c097424b58" /><Relationship Type="http://schemas.openxmlformats.org/officeDocument/2006/relationships/slideLayout" Target="/ppt/slideLayouts/slideLayout1.xml" Id="R840d4537386d48b3" /><Relationship Type="http://schemas.openxmlformats.org/officeDocument/2006/relationships/slideLayout" Target="/ppt/slideLayouts/slideLayout2.xml" Id="Rf1ee8723713a4078" /><Relationship Type="http://schemas.openxmlformats.org/officeDocument/2006/relationships/slideLayout" Target="/ppt/slideLayouts/slideLayout3.xml" Id="Rbabfac6bd8c84400" /><Relationship Type="http://schemas.openxmlformats.org/officeDocument/2006/relationships/slideLayout" Target="/ppt/slideLayouts/slideLayout4.xml" Id="R8e2bdb941f344d29" /><Relationship Type="http://schemas.openxmlformats.org/officeDocument/2006/relationships/slideLayout" Target="/ppt/slideLayouts/slideLayout5.xml" Id="Re317b6c80e8a41cd" /><Relationship Type="http://schemas.openxmlformats.org/officeDocument/2006/relationships/slideLayout" Target="/ppt/slideLayouts/slideLayout6.xml" Id="Rb34adfe3897c49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0d4537386d48b3"/>
    <p:sldLayoutId xmlns:r="http://schemas.openxmlformats.org/officeDocument/2006/relationships" id="2147483650" r:id="Rf1ee8723713a4078"/>
    <p:sldLayoutId xmlns:r="http://schemas.openxmlformats.org/officeDocument/2006/relationships" id="2147483651" r:id="Rbabfac6bd8c84400"/>
    <p:sldLayoutId xmlns:r="http://schemas.openxmlformats.org/officeDocument/2006/relationships" id="2147483652" r:id="R8e2bdb941f344d29"/>
    <p:sldLayoutId xmlns:r="http://schemas.openxmlformats.org/officeDocument/2006/relationships" id="2147483653" r:id="Re317b6c80e8a41cd"/>
    <p:sldLayoutId xmlns:r="http://schemas.openxmlformats.org/officeDocument/2006/relationships" id="2147483654" r:id="Rb34adfe3897c49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a86a0cb210459c" /><Relationship Type="http://schemas.openxmlformats.org/officeDocument/2006/relationships/image" Target="/ppt/media/image.png" Id="R53707bf4dd76468c" /><Relationship Type="http://schemas.openxmlformats.org/officeDocument/2006/relationships/notesSlide" Target="/ppt/notesSlides/notesSlide1.xml" Id="Rd3d088f4554a44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65593c5a7ca4626" /><Relationship Type="http://schemas.openxmlformats.org/officeDocument/2006/relationships/notesSlide" Target="/ppt/notesSlides/notesSlide2.xml" Id="R53182a1cce6444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b5e49f1195476d" /><Relationship Type="http://schemas.openxmlformats.org/officeDocument/2006/relationships/image" Target="/ppt/media/image2.png" Id="Reb56b5ab577b4af8" /><Relationship Type="http://schemas.openxmlformats.org/officeDocument/2006/relationships/image" Target="/ppt/media/image3.png" Id="R61f68ba21c93403f" /><Relationship Type="http://schemas.openxmlformats.org/officeDocument/2006/relationships/notesSlide" Target="/ppt/notesSlides/notesSlide3.xml" Id="Rdde3850a5cf64c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b37bbb9d18430e" /><Relationship Type="http://schemas.openxmlformats.org/officeDocument/2006/relationships/image" Target="/ppt/media/image4.png" Id="Ra96664b6f12f4478" /><Relationship Type="http://schemas.openxmlformats.org/officeDocument/2006/relationships/notesSlide" Target="/ppt/notesSlides/notesSlide4.xml" Id="R2d77e33ed37e4e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7f625d796584ad3" /><Relationship Type="http://schemas.openxmlformats.org/officeDocument/2006/relationships/image" Target="/ppt/media/image5.png" Id="R5e50628bc9bc4a78" /><Relationship Type="http://schemas.openxmlformats.org/officeDocument/2006/relationships/image" Target="/ppt/media/image6.png" Id="R4ba0ae14b55d4516" /><Relationship Type="http://schemas.openxmlformats.org/officeDocument/2006/relationships/notesSlide" Target="/ppt/notesSlides/notesSlide5.xml" Id="Redad0d2ed5f84c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2d2d085d0c47a7" /><Relationship Type="http://schemas.openxmlformats.org/officeDocument/2006/relationships/chart" Target="/ppt/slides/charts/chart1.xml" Id="R7bb6497cbdeb4d64" /><Relationship Type="http://schemas.openxmlformats.org/officeDocument/2006/relationships/notesSlide" Target="/ppt/notesSlides/notesSlide6.xml" Id="R70807a6150874b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78c5ef5c944920" /><Relationship Type="http://schemas.openxmlformats.org/officeDocument/2006/relationships/image" Target="/ppt/media/image7.png" Id="R5e3a18badec9428f" /><Relationship Type="http://schemas.openxmlformats.org/officeDocument/2006/relationships/image" Target="/ppt/media/image8.png" Id="Rfbd357a924764789" /><Relationship Type="http://schemas.openxmlformats.org/officeDocument/2006/relationships/notesSlide" Target="/ppt/notesSlides/notesSlide7.xml" Id="R4ae71f5288314a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60bbb8d4de4442" /><Relationship Type="http://schemas.openxmlformats.org/officeDocument/2006/relationships/image" Target="/ppt/media/image9.png" Id="R488284211dc04af0" /><Relationship Type="http://schemas.openxmlformats.org/officeDocument/2006/relationships/notesSlide" Target="/ppt/notesSlides/notesSlide8.xml" Id="R130d3512084c4c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3bbfd6a63b4855" /><Relationship Type="http://schemas.openxmlformats.org/officeDocument/2006/relationships/image" Target="/ppt/media/image10.png" Id="R6a6471c23fe749ea" /><Relationship Type="http://schemas.openxmlformats.org/officeDocument/2006/relationships/notesSlide" Target="/ppt/notesSlides/notesSlide9.xml" Id="R0f0080c80e3c4f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cdbe616128d417c" /><Relationship Type="http://schemas.openxmlformats.org/officeDocument/2006/relationships/image" Target="/ppt/media/image11.png" Id="R875bf0b3718c4d6b" /><Relationship Type="http://schemas.openxmlformats.org/officeDocument/2006/relationships/notesSlide" Target="/ppt/notesSlides/notesSlide10.xml" Id="R2c502101ba6a44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b47f9d05adf4c0d" /><Relationship Type="http://schemas.openxmlformats.org/officeDocument/2006/relationships/image" Target="/ppt/media/image12.png" Id="R7e9f9bd4fa104998" /><Relationship Type="http://schemas.openxmlformats.org/officeDocument/2006/relationships/notesSlide" Target="/ppt/notesSlides/notesSlide11.xml" Id="R7343f0d08e5248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e8533b8507a4617" /><Relationship Type="http://schemas.openxmlformats.org/officeDocument/2006/relationships/notesSlide" Target="/ppt/notesSlides/notesSlide12.xml" Id="Radd62c2d3e194f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879e2bc3374e57" /><Relationship Type="http://schemas.openxmlformats.org/officeDocument/2006/relationships/image" Target="/ppt/media/image13.png" Id="R31249869690a4d4a" /><Relationship Type="http://schemas.openxmlformats.org/officeDocument/2006/relationships/notesSlide" Target="/ppt/notesSlides/notesSlide13.xml" Id="R257f3df8999745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7fccf79b144222" /><Relationship Type="http://schemas.openxmlformats.org/officeDocument/2006/relationships/notesSlide" Target="/ppt/notesSlides/notesSlide14.xml" Id="R7160059de84b458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f0196ce5efb436e" /><Relationship Type="http://schemas.openxmlformats.org/officeDocument/2006/relationships/image" Target="/ppt/media/image14.png" Id="R031d0a4fe70f494e" /><Relationship Type="http://schemas.openxmlformats.org/officeDocument/2006/relationships/notesSlide" Target="/ppt/notesSlides/notesSlide15.xml" Id="R1541a841f3994b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4953ff22d864725" /><Relationship Type="http://schemas.openxmlformats.org/officeDocument/2006/relationships/image" Target="/ppt/media/image15.png" Id="Rb6b5a36e059d41e7" /><Relationship Type="http://schemas.openxmlformats.org/officeDocument/2006/relationships/image" Target="/ppt/media/image16.png" Id="R155e5bb9475b4866" /><Relationship Type="http://schemas.openxmlformats.org/officeDocument/2006/relationships/notesSlide" Target="/ppt/notesSlides/notesSlide16.xml" Id="R8cd921eac3d24ff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a8ffb8c01994523" /><Relationship Type="http://schemas.openxmlformats.org/officeDocument/2006/relationships/image" Target="/ppt/media/image17.png" Id="Re473491baae4499c" /><Relationship Type="http://schemas.openxmlformats.org/officeDocument/2006/relationships/notesSlide" Target="/ppt/notesSlides/notesSlide17.xml" Id="R8fe707f653d04a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14b651ac8c64151" /><Relationship Type="http://schemas.openxmlformats.org/officeDocument/2006/relationships/image" Target="/ppt/media/image18.png" Id="R36a98ca0d0e1434a" /><Relationship Type="http://schemas.openxmlformats.org/officeDocument/2006/relationships/notesSlide" Target="/ppt/notesSlides/notesSlide18.xml" Id="Re6139e76184149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ebf03eb38054f8a" /><Relationship Type="http://schemas.openxmlformats.org/officeDocument/2006/relationships/image" Target="/ppt/media/image19.png" Id="R736f4f864ec8433d" /><Relationship Type="http://schemas.openxmlformats.org/officeDocument/2006/relationships/notesSlide" Target="/ppt/notesSlides/notesSlide19.xml" Id="Rc368ad6bc90f400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a22ea5c996042d5" /><Relationship Type="http://schemas.openxmlformats.org/officeDocument/2006/relationships/image" Target="/ppt/media/image20.png" Id="Rf83acf3e8ca24cd1" /><Relationship Type="http://schemas.openxmlformats.org/officeDocument/2006/relationships/notesSlide" Target="/ppt/notesSlides/notesSlide20.xml" Id="R0c98ead1dc204a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453259b82c7467b" /><Relationship Type="http://schemas.openxmlformats.org/officeDocument/2006/relationships/image" Target="/ppt/media/image21.png" Id="Re6b7ffbdd33d4262" /><Relationship Type="http://schemas.openxmlformats.org/officeDocument/2006/relationships/notesSlide" Target="/ppt/notesSlides/notesSlide21.xml" Id="R613fd6bc698f41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80395636ee347dd" /><Relationship Type="http://schemas.openxmlformats.org/officeDocument/2006/relationships/image" Target="/ppt/media/image22.png" Id="R42b13042936348ff" /><Relationship Type="http://schemas.openxmlformats.org/officeDocument/2006/relationships/notesSlide" Target="/ppt/notesSlides/notesSlide22.xml" Id="R8f8c2ac14cc9421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e5bfc8beb2243e1" /><Relationship Type="http://schemas.openxmlformats.org/officeDocument/2006/relationships/image" Target="/ppt/media/image23.png" Id="R67550707a3fd4c52" /><Relationship Type="http://schemas.openxmlformats.org/officeDocument/2006/relationships/image" Target="/ppt/media/image24.png" Id="Rf1f2745378d5472a" /><Relationship Type="http://schemas.openxmlformats.org/officeDocument/2006/relationships/notesSlide" Target="/ppt/notesSlides/notesSlide23.xml" Id="R8cb17f371daa44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2210d13d77e4008" /><Relationship Type="http://schemas.openxmlformats.org/officeDocument/2006/relationships/notesSlide" Target="/ppt/notesSlides/notesSlide24.xml" Id="R7fb824d5bcdb409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17f146ed5f14eba" /><Relationship Type="http://schemas.openxmlformats.org/officeDocument/2006/relationships/image" Target="/ppt/media/image25.png" Id="Rea5c75e0820140c1" /><Relationship Type="http://schemas.openxmlformats.org/officeDocument/2006/relationships/image" Target="/ppt/media/image26.png" Id="R3c1732d6bb1046cf" /><Relationship Type="http://schemas.openxmlformats.org/officeDocument/2006/relationships/notesSlide" Target="/ppt/notesSlides/notesSlide25.xml" Id="R2b130e45453c49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c7611c8600d488b" /><Relationship Type="http://schemas.openxmlformats.org/officeDocument/2006/relationships/image" Target="/ppt/media/image27.png" Id="Ra44515d243f547a1" /><Relationship Type="http://schemas.openxmlformats.org/officeDocument/2006/relationships/notesSlide" Target="/ppt/notesSlides/notesSlide26.xml" Id="Rc362de63891945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d85f8c483f49441e" /><Relationship Type="http://schemas.openxmlformats.org/officeDocument/2006/relationships/image" Target="/ppt/media/image28.png" Id="Rc8726a1ef53a4bf0" /><Relationship Type="http://schemas.openxmlformats.org/officeDocument/2006/relationships/notesSlide" Target="/ppt/notesSlides/notesSlide27.xml" Id="R4dc77a10cff149b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755d8880cde4946" /><Relationship Type="http://schemas.openxmlformats.org/officeDocument/2006/relationships/notesSlide" Target="/ppt/notesSlides/notesSlide28.xml" Id="R8f2c8483a4f4464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94618f465654f42" /><Relationship Type="http://schemas.openxmlformats.org/officeDocument/2006/relationships/notesSlide" Target="/ppt/notesSlides/notesSlide29.xml" Id="Re17a78603b294d8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03df90b7127454c" /><Relationship Type="http://schemas.openxmlformats.org/officeDocument/2006/relationships/image" Target="/ppt/media/image29.png" Id="R3c57e55680974359" /><Relationship Type="http://schemas.openxmlformats.org/officeDocument/2006/relationships/notesSlide" Target="/ppt/notesSlides/notesSlide30.xml" Id="Rd3a86a354e6340b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092c514e305544e8" /><Relationship Type="http://schemas.openxmlformats.org/officeDocument/2006/relationships/notesSlide" Target="/ppt/notesSlides/notesSlide31.xml" Id="R9543dcf7ad45413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54e27a4adea42b6" /><Relationship Type="http://schemas.openxmlformats.org/officeDocument/2006/relationships/image" Target="/ppt/media/image30.png" Id="Rd36d66c64af84610" /><Relationship Type="http://schemas.openxmlformats.org/officeDocument/2006/relationships/notesSlide" Target="/ppt/notesSlides/notesSlide32.xml" Id="Rd51eeb8e26a74cd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d6699c436a74d33" /><Relationship Type="http://schemas.openxmlformats.org/officeDocument/2006/relationships/image" Target="/ppt/media/image31.png" Id="Rdea95b3976f246f7" /><Relationship Type="http://schemas.openxmlformats.org/officeDocument/2006/relationships/notesSlide" Target="/ppt/notesSlides/notesSlide33.xml" Id="Rdf633b5b87c74c0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729210151b04220" /><Relationship Type="http://schemas.openxmlformats.org/officeDocument/2006/relationships/image" Target="/ppt/media/image32.png" Id="R126b7ca942f34477" /><Relationship Type="http://schemas.openxmlformats.org/officeDocument/2006/relationships/notesSlide" Target="/ppt/notesSlides/notesSlide34.xml" Id="Rcbffce47a2cb40d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5fdb3fd41d64e2a" /><Relationship Type="http://schemas.openxmlformats.org/officeDocument/2006/relationships/image" Target="/ppt/media/image33.png" Id="R92710a3262144902" /><Relationship Type="http://schemas.openxmlformats.org/officeDocument/2006/relationships/notesSlide" Target="/ppt/notesSlides/notesSlide35.xml" Id="R89d602d5e89547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4aa049c7568c4a49" /><Relationship Type="http://schemas.openxmlformats.org/officeDocument/2006/relationships/image" Target="/ppt/media/image34.png" Id="R7ca1c3a3bd1c425e" /><Relationship Type="http://schemas.openxmlformats.org/officeDocument/2006/relationships/notesSlide" Target="/ppt/notesSlides/notesSlide36.xml" Id="R687857759a3e4f2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9641db0dfc14524" /><Relationship Type="http://schemas.openxmlformats.org/officeDocument/2006/relationships/image" Target="/ppt/media/image35.png" Id="R5fda577a2480437f" /><Relationship Type="http://schemas.openxmlformats.org/officeDocument/2006/relationships/notesSlide" Target="/ppt/notesSlides/notesSlide37.xml" Id="R4628fc556aa1444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Force (N)</c:v>
          </c:tx>
          <c:spPr>
            <a:solidFill xmlns:a="http://schemas.openxmlformats.org/drawingml/2006/main">
              <a:srgbClr val="2E5A88"/>
            </a:solidFill>
          </c:spPr>
          <c:invertIfNegative val="0"/>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t>10 mm diameter, 112 mm resting length, 620 kPa</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t>Force (N)</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8BD8B5-BF6D-4DEA-833C-617DA8D2C24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DISSERTATION DEFENSE</a:t>
            </a:r>
          </a:p>
        </p:txBody>
      </p:sp>
      <p:sp>
        <p:nvSpPr>
          <p:cNvPr id="2" name="">
            <a:extLst xmlns:a="http://schemas.openxmlformats.org/drawingml/2006/main">
              <a:ext uri="{FF2B5EF4-FFF2-40B4-BE49-F238E27FC236}">
                <a16:creationId xmlns:a16="http://schemas.microsoft.com/office/drawing/2014/main" id="{0C8A8E32-CFB0-468F-9393-37674369932C}"/>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Movement and Control of</a:t>
            </a:r>
          </a:p>
          <a:p xmlns:a="http://schemas.openxmlformats.org/drawingml/2006/main">
            <a:pPr>
              <a:defRPr sz="3225" b="1">
                <a:solidFill>
                  <a:srgbClr val="AF7B51"/>
                </a:solidFill>
              </a:defRPr>
            </a:pPr>
            <a:r>
              <a:rPr sz="3225" b="1">
                <a:solidFill>
                  <a:srgbClr val="AF7B51"/>
                </a:solidFill>
              </a:rPr>
              <a:t>Biomimetic Humanoid Robots</a:t>
            </a:r>
          </a:p>
        </p:txBody>
      </p:sp>
      <p:sp>
        <p:nvSpPr>
          <p:cNvPr id="3" name="">
            <a:extLst xmlns:a="http://schemas.openxmlformats.org/drawingml/2006/main">
              <a:ext uri="{FF2B5EF4-FFF2-40B4-BE49-F238E27FC236}">
                <a16:creationId xmlns:a16="http://schemas.microsoft.com/office/drawing/2014/main" id="{091C3191-189C-4D43-B823-98502704ACB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Portland State University · Agile &amp; Adaptive Robotics Laboratory</a:t>
            </a:r>
          </a:p>
        </p:txBody>
      </p:sp>
      <p:sp>
        <p:nvSpPr>
          <p:cNvPr id="4" name="">
            <a:extLst xmlns:a="http://schemas.openxmlformats.org/drawingml/2006/main">
              <a:ext uri="{FF2B5EF4-FFF2-40B4-BE49-F238E27FC236}">
                <a16:creationId xmlns:a16="http://schemas.microsoft.com/office/drawing/2014/main" id="{4A855279-4D78-4F0C-9DA7-2F77DD5C57E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01</a:t>
            </a:r>
          </a:p>
        </p:txBody>
      </p:sp>
      <p:sp>
        <p:nvSpPr>
          <p:cNvPr id="5" name="">
            <a:extLst xmlns:a="http://schemas.openxmlformats.org/drawingml/2006/main">
              <a:ext uri="{FF2B5EF4-FFF2-40B4-BE49-F238E27FC236}">
                <a16:creationId xmlns:a16="http://schemas.microsoft.com/office/drawing/2014/main" id="{90FDD20D-FFBF-4A21-A7C1-14BE528DB770}"/>
              </a:ext>
            </a:extLst>
          </p:cNvPr>
          <p:cNvSpPr>
            <a:spLocks xmlns:a="http://schemas.openxmlformats.org/drawingml/2006/main" noGrp="1"/>
          </p:cNvSpPr>
          <p:nvPr/>
        </p:nvSpPr>
        <p:spPr>
          <a:xfrm xmlns:a="http://schemas.openxmlformats.org/drawingml/2006/main">
            <a:off x="619125" y="24765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22222"/>
                </a:solidFill>
              </a:defRPr>
            </a:defPPr>
            <a:lvl1pPr>
              <a:defRPr sz="2850" b="1">
                <a:solidFill>
                  <a:srgbClr val="222222"/>
                </a:solidFill>
              </a:defRPr>
            </a:lvl1pPr>
            <a:lvl2pPr>
              <a:defRPr sz="2850" b="1">
                <a:solidFill>
                  <a:srgbClr val="222222"/>
                </a:solidFill>
              </a:defRPr>
            </a:lvl2pPr>
            <a:lvl3pPr>
              <a:defRPr sz="2850" b="1">
                <a:solidFill>
                  <a:srgbClr val="222222"/>
                </a:solidFill>
              </a:defRPr>
            </a:lvl3pPr>
            <a:lvl4pPr>
              <a:defRPr sz="2850" b="1">
                <a:solidFill>
                  <a:srgbClr val="222222"/>
                </a:solidFill>
              </a:defRPr>
            </a:lvl4pPr>
            <a:lvl5pPr>
              <a:defRPr sz="2850" b="1">
                <a:solidFill>
                  <a:srgbClr val="222222"/>
                </a:solidFill>
              </a:defRPr>
            </a:lvl5pPr>
            <a:lvl6pPr>
              <a:defRPr sz="2850" b="1">
                <a:solidFill>
                  <a:srgbClr val="222222"/>
                </a:solidFill>
              </a:defRPr>
            </a:lvl6pPr>
            <a:lvl7pPr>
              <a:defRPr sz="2850" b="1">
                <a:solidFill>
                  <a:srgbClr val="222222"/>
                </a:solidFill>
              </a:defRPr>
            </a:lvl7pPr>
            <a:lvl8pPr>
              <a:defRPr sz="2850" b="1">
                <a:solidFill>
                  <a:srgbClr val="222222"/>
                </a:solidFill>
              </a:defRPr>
            </a:lvl8pPr>
            <a:lvl9pPr>
              <a:defRPr sz="2850" b="1">
                <a:solidFill>
                  <a:srgbClr val="222222"/>
                </a:solidFill>
              </a:defRPr>
            </a:lvl9pPr>
          </a:lstStyle>
          <a:p xmlns:a="http://schemas.openxmlformats.org/drawingml/2006/main">
            <a:pPr>
              <a:defRPr sz="2850" b="1">
                <a:solidFill>
                  <a:srgbClr val="222222"/>
                </a:solidFill>
              </a:defRPr>
            </a:pPr>
            <a:r>
              <a:rPr sz="2850" b="1">
                <a:solidFill>
                  <a:srgbClr val="222222"/>
                </a:solidFill>
              </a:rPr>
              <a:t>Ben P. Bolen</a:t>
            </a:r>
          </a:p>
        </p:txBody>
      </p:sp>
      <p:sp>
        <p:nvSpPr>
          <p:cNvPr id="6" name="">
            <a:extLst xmlns:a="http://schemas.openxmlformats.org/drawingml/2006/main">
              <a:ext uri="{FF2B5EF4-FFF2-40B4-BE49-F238E27FC236}">
                <a16:creationId xmlns:a16="http://schemas.microsoft.com/office/drawing/2014/main" id="{94AD9154-7CB7-423F-A829-7223730F7148}"/>
              </a:ext>
            </a:extLst>
          </p:cNvPr>
          <p:cNvSpPr>
            <a:spLocks xmlns:a="http://schemas.openxmlformats.org/drawingml/2006/main" noGrp="1"/>
          </p:cNvSpPr>
          <p:nvPr/>
        </p:nvSpPr>
        <p:spPr>
          <a:xfrm xmlns:a="http://schemas.openxmlformats.org/drawingml/2006/main">
            <a:off x="619125" y="3238500"/>
            <a:ext cx="666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222222"/>
                </a:solidFill>
              </a:defRPr>
            </a:defPPr>
            <a:lvl1pPr>
              <a:defRPr sz="2175" b="0">
                <a:solidFill>
                  <a:srgbClr val="222222"/>
                </a:solidFill>
              </a:defRPr>
            </a:lvl1pPr>
            <a:lvl2pPr>
              <a:defRPr sz="2175" b="0">
                <a:solidFill>
                  <a:srgbClr val="222222"/>
                </a:solidFill>
              </a:defRPr>
            </a:lvl2pPr>
            <a:lvl3pPr>
              <a:defRPr sz="2175" b="0">
                <a:solidFill>
                  <a:srgbClr val="222222"/>
                </a:solidFill>
              </a:defRPr>
            </a:lvl3pPr>
            <a:lvl4pPr>
              <a:defRPr sz="2175" b="0">
                <a:solidFill>
                  <a:srgbClr val="222222"/>
                </a:solidFill>
              </a:defRPr>
            </a:lvl4pPr>
            <a:lvl5pPr>
              <a:defRPr sz="2175" b="0">
                <a:solidFill>
                  <a:srgbClr val="222222"/>
                </a:solidFill>
              </a:defRPr>
            </a:lvl5pPr>
            <a:lvl6pPr>
              <a:defRPr sz="2175" b="0">
                <a:solidFill>
                  <a:srgbClr val="222222"/>
                </a:solidFill>
              </a:defRPr>
            </a:lvl6pPr>
            <a:lvl7pPr>
              <a:defRPr sz="2175" b="0">
                <a:solidFill>
                  <a:srgbClr val="222222"/>
                </a:solidFill>
              </a:defRPr>
            </a:lvl7pPr>
            <a:lvl8pPr>
              <a:defRPr sz="2175" b="0">
                <a:solidFill>
                  <a:srgbClr val="222222"/>
                </a:solidFill>
              </a:defRPr>
            </a:lvl8pPr>
            <a:lvl9pPr>
              <a:defRPr sz="2175" b="0">
                <a:solidFill>
                  <a:srgbClr val="222222"/>
                </a:solidFill>
              </a:defRPr>
            </a:lvl9pPr>
          </a:lstStyle>
          <a:p xmlns:a="http://schemas.openxmlformats.org/drawingml/2006/main">
            <a:pPr>
              <a:defRPr sz="2175" b="0">
                <a:solidFill>
                  <a:srgbClr val="222222"/>
                </a:solidFill>
              </a:defRPr>
            </a:pPr>
            <a:r>
              <a:rPr sz="2175" b="0">
                <a:solidFill>
                  <a:srgbClr val="222222"/>
                </a:solidFill>
              </a:rPr>
              <a:t>Mechanical Engineering PhD defense</a:t>
            </a:r>
          </a:p>
          <a:p xmlns:a="http://schemas.openxmlformats.org/drawingml/2006/main">
            <a:pPr>
              <a:defRPr sz="2175" b="0">
                <a:solidFill>
                  <a:srgbClr val="222222"/>
                </a:solidFill>
              </a:defRPr>
            </a:pPr>
            <a:r>
              <a:rPr sz="2175" b="0">
                <a:solidFill>
                  <a:srgbClr val="222222"/>
                </a:solidFill>
              </a:rPr>
              <a:t>Advisor: M. Anthony Hunt, Ph.D.</a:t>
            </a:r>
          </a:p>
          <a:p xmlns:a="http://schemas.openxmlformats.org/drawingml/2006/main">
            <a:pPr>
              <a:defRPr sz="2175" b="0">
                <a:solidFill>
                  <a:srgbClr val="222222"/>
                </a:solidFill>
              </a:defRPr>
            </a:pPr>
            <a:r>
              <a:rPr sz="2175" b="0">
                <a:solidFill>
                  <a:srgbClr val="222222"/>
                </a:solidFill>
              </a:rPr>
              <a:t>November 6, 2026</a:t>
            </a:r>
          </a:p>
        </p:txBody>
      </p:sp>
      <p:pic>
        <p:nvPicPr>
          <p:cNvPr id="7" name="">
            <a:extLst xmlns:a="http://schemas.openxmlformats.org/drawingml/2006/main">
              <a:ext uri="{FF2B5EF4-FFF2-40B4-BE49-F238E27FC236}">
                <a16:creationId xmlns:a16="http://schemas.microsoft.com/office/drawing/2014/main" id="{87082A35-A5CC-4155-863E-F8D280C724F9}"/>
              </a:ext>
            </a:extLst>
          </p:cNvPr>
          <p:cNvPicPr>
            <a:picLocks xmlns:a="http://schemas.openxmlformats.org/drawingml/2006/main" noChangeAspect="1"/>
          </p:cNvPicPr>
          <p:nvPr/>
        </p:nvPicPr>
        <p:blipFill>
          <a:blip xmlns:r="http://schemas.openxmlformats.org/officeDocument/2006/relationships" xmlns:a="http://schemas.openxmlformats.org/drawingml/2006/main" r:embed="R53707bf4dd76468c"/>
          <a:stretch xmlns:a="http://schemas.openxmlformats.org/drawingml/2006/main"/>
        </p:blipFill>
        <p:spPr>
          <a:xfrm xmlns:a="http://schemas.openxmlformats.org/drawingml/2006/main">
            <a:off x="8191500" y="1619250"/>
            <a:ext cx="2952750" cy="4429125"/>
          </a:xfrm>
          <a:prstGeom xmlns:a="http://schemas.openxmlformats.org/drawingml/2006/main" prst="rect">
            <a:avLst/>
          </a:prstGeom>
        </p:spPr>
      </p:pic>
    </p:spTree>
    <p:extLst>
      <p:ext uri="{BB962C8B-B14F-4D97-AF65-F5344CB8AC3E}">
        <p14:creationId xmlns:p14="http://schemas.microsoft.com/office/powerpoint/2010/main" val="17753887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4964F6-25C9-4B37-BFA1-62E97162B64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THE ARGUMENT</a:t>
            </a:r>
          </a:p>
        </p:txBody>
      </p:sp>
      <p:sp>
        <p:nvSpPr>
          <p:cNvPr id="2" name="">
            <a:extLst xmlns:a="http://schemas.openxmlformats.org/drawingml/2006/main">
              <a:ext uri="{FF2B5EF4-FFF2-40B4-BE49-F238E27FC236}">
                <a16:creationId xmlns:a16="http://schemas.microsoft.com/office/drawing/2014/main" id="{81DF830B-7D73-44C1-A6F4-592779F06E44}"/>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Four gaps connect actuator mechanics to neural-control experiments</a:t>
            </a:r>
          </a:p>
        </p:txBody>
      </p:sp>
      <p:sp>
        <p:nvSpPr>
          <p:cNvPr id="3" name="">
            <a:extLst xmlns:a="http://schemas.openxmlformats.org/drawingml/2006/main">
              <a:ext uri="{FF2B5EF4-FFF2-40B4-BE49-F238E27FC236}">
                <a16:creationId xmlns:a16="http://schemas.microsoft.com/office/drawing/2014/main" id="{4D23B816-4398-4594-A554-968E4CD1A89F}"/>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1, research gaps and objectives</a:t>
            </a:r>
          </a:p>
        </p:txBody>
      </p:sp>
      <p:sp>
        <p:nvSpPr>
          <p:cNvPr id="4" name="">
            <a:extLst xmlns:a="http://schemas.openxmlformats.org/drawingml/2006/main">
              <a:ext uri="{FF2B5EF4-FFF2-40B4-BE49-F238E27FC236}">
                <a16:creationId xmlns:a16="http://schemas.microsoft.com/office/drawing/2014/main" id="{AD63958C-F991-4107-A4E0-03076ED9279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02</a:t>
            </a:r>
          </a:p>
        </p:txBody>
      </p:sp>
      <p:graphicFrame>
        <p:nvGraphicFramePr>
          <p:cNvPr id="5" name="">
            <a:extLst xmlns:a="http://schemas.openxmlformats.org/drawingml/2006/main">
              <a:ext uri="{FF2B5EF4-FFF2-40B4-BE49-F238E27FC236}">
                <a16:creationId xmlns:a16="http://schemas.microsoft.com/office/drawing/2014/main" id="{648313D7-5142-44EA-9B2B-700C5D3BFD8C}"/>
              </a:ext>
            </a:extLst>
          </p:cNvPr>
          <p:cNvGraphicFramePr/>
          <p:nvPr/>
        </p:nvGraphicFramePr>
        <p:xfrm>
          <a:off xmlns:a="http://schemas.openxmlformats.org/drawingml/2006/main" x="476250" y="1666875"/>
          <a:ext xmlns:a="http://schemas.openxmlformats.org/drawingml/2006/main" cx="11239500" cy="4000500"/>
        </p:xfrm>
        <a:graphic xmlns:a="http://schemas.openxmlformats.org/drawingml/2006/main">
          <a:graphicData uri="http://schemas.openxmlformats.org/drawingml/2006/table">
            <a:tbl>
              <a:tblPr/>
              <a:tblGrid>
                <a:gridCol w="5619750"/>
                <a:gridCol w="5619750"/>
              </a:tblGrid>
              <a:tr h="800100">
                <a:tc>
                  <a:txBody>
                    <a:bodyPr/>
                    <a:lstStyle/>
                    <a:p>
                      <a:r>
                        <a:rPr sz="1875" b="1">
                          <a:solidFill>
                            <a:srgbClr val="00796B"/>
                          </a:solidFill>
                        </a:rPr>
                        <a:t>Knowledge gap</a:t>
                      </a:r>
                    </a:p>
                  </a:txBody>
                  <a:tcPr marL="91440" marR="91440" marT="45720" marB="45720">
                    <a:solidFill>
                      <a:srgbClr val="FFFFFF"/>
                    </a:solidFill>
                  </a:tcPr>
                </a:tc>
                <a:tc>
                  <a:txBody>
                    <a:bodyPr/>
                    <a:lstStyle/>
                    <a:p>
                      <a:r>
                        <a:rPr sz="1875" b="1">
                          <a:solidFill>
                            <a:srgbClr val="00796B"/>
                          </a:solidFill>
                        </a:rPr>
                        <a:t>Contribution tested here</a:t>
                      </a:r>
                    </a:p>
                  </a:txBody>
                  <a:tcPr marL="91440" marR="91440" marT="45720" marB="45720">
                    <a:solidFill>
                      <a:srgbClr val="FFFFFF"/>
                    </a:solidFill>
                  </a:tcPr>
                </a:tc>
              </a:tr>
              <a:tr h="800100">
                <a:tc>
                  <a:txBody>
                    <a:bodyPr/>
                    <a:lstStyle/>
                    <a:p>
                      <a:r>
                        <a:rPr sz="1875" b="0">
                          <a:solidFill>
                            <a:srgbClr val="222222"/>
                          </a:solidFill>
                        </a:rPr>
                        <a:t>Force across actuator lengths</a:t>
                      </a:r>
                    </a:p>
                  </a:txBody>
                  <a:tcPr marL="91440" marR="91440" marT="45720" marB="45720">
                    <a:solidFill>
                      <a:srgbClr val="FFFFFF"/>
                    </a:solidFill>
                  </a:tcPr>
                </a:tc>
                <a:tc>
                  <a:txBody>
                    <a:bodyPr/>
                    <a:lstStyle/>
                    <a:p>
                      <a:r>
                        <a:rPr sz="1875" b="0">
                          <a:solidFill>
                            <a:srgbClr val="222222"/>
                          </a:solidFill>
                        </a:rPr>
                        <a:t>Resting-length-aware force model</a:t>
                      </a:r>
                    </a:p>
                  </a:txBody>
                  <a:tcPr marL="91440" marR="91440" marT="45720" marB="45720">
                    <a:solidFill>
                      <a:srgbClr val="FFFFFF"/>
                    </a:solidFill>
                  </a:tcPr>
                </a:tc>
              </a:tr>
              <a:tr h="800100">
                <a:tc>
                  <a:txBody>
                    <a:bodyPr/>
                    <a:lstStyle/>
                    <a:p>
                      <a:r>
                        <a:rPr sz="1875" b="0">
                          <a:solidFill>
                            <a:srgbClr val="222222"/>
                          </a:solidFill>
                        </a:rPr>
                        <a:t>Torque through compliant routes</a:t>
                      </a:r>
                    </a:p>
                  </a:txBody>
                  <a:tcPr marL="91440" marR="91440" marT="45720" marB="45720">
                    <a:solidFill>
                      <a:srgbClr val="FFFFFF"/>
                    </a:solidFill>
                  </a:tcPr>
                </a:tc>
                <a:tc>
                  <a:txBody>
                    <a:bodyPr/>
                    <a:lstStyle/>
                    <a:p>
                      <a:r>
                        <a:rPr sz="1875" b="0">
                          <a:solidFill>
                            <a:srgbClr val="222222"/>
                          </a:solidFill>
                        </a:rPr>
                        <a:t>Identified corrections and redesigned-route tests</a:t>
                      </a:r>
                    </a:p>
                  </a:txBody>
                  <a:tcPr marL="91440" marR="91440" marT="45720" marB="45720">
                    <a:solidFill>
                      <a:srgbClr val="FFFFFF"/>
                    </a:solidFill>
                  </a:tcPr>
                </a:tc>
              </a:tr>
              <a:tr h="800100">
                <a:tc>
                  <a:txBody>
                    <a:bodyPr/>
                    <a:lstStyle/>
                    <a:p>
                      <a:r>
                        <a:rPr sz="1875" b="0">
                          <a:solidFill>
                            <a:srgbClr val="222222"/>
                          </a:solidFill>
                        </a:rPr>
                        <a:t>Scattered sensory evidence</a:t>
                      </a:r>
                    </a:p>
                  </a:txBody>
                  <a:tcPr marL="91440" marR="91440" marT="45720" marB="45720">
                    <a:solidFill>
                      <a:srgbClr val="FFFFFF"/>
                    </a:solidFill>
                  </a:tcPr>
                </a:tc>
                <a:tc>
                  <a:txBody>
                    <a:bodyPr/>
                    <a:lstStyle/>
                    <a:p>
                      <a:r>
                        <a:rPr sz="1875" b="0">
                          <a:solidFill>
                            <a:srgbClr val="222222"/>
                          </a:solidFill>
                        </a:rPr>
                        <a:t>Linked, searchable SADb resource</a:t>
                      </a:r>
                    </a:p>
                  </a:txBody>
                  <a:tcPr marL="91440" marR="91440" marT="45720" marB="45720">
                    <a:solidFill>
                      <a:srgbClr val="FFFFFF"/>
                    </a:solidFill>
                  </a:tcPr>
                </a:tc>
              </a:tr>
              <a:tr h="800100">
                <a:tc>
                  <a:txBody>
                    <a:bodyPr/>
                    <a:lstStyle/>
                    <a:p>
                      <a:r>
                        <a:rPr sz="1875" b="0">
                          <a:solidFill>
                            <a:srgbClr val="222222"/>
                          </a:solidFill>
                        </a:rPr>
                        <a:t>Untested model connections</a:t>
                      </a:r>
                    </a:p>
                  </a:txBody>
                  <a:tcPr marL="91440" marR="91440" marT="45720" marB="45720">
                    <a:solidFill>
                      <a:srgbClr val="FFFFFF"/>
                    </a:solidFill>
                  </a:tcPr>
                </a:tc>
                <a:tc>
                  <a:txBody>
                    <a:bodyPr/>
                    <a:lstStyle/>
                    <a:p>
                      <a:r>
                        <a:rPr sz="1875" b="0">
                          <a:solidFill>
                            <a:srgbClr val="222222"/>
                          </a:solidFill>
                        </a:rPr>
                        <a:t>Interfaces with matched circuit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698222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1594CF-149E-431B-9DC2-66C9148CC9D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SCOPE AND ATTRIBUTION</a:t>
            </a:r>
          </a:p>
        </p:txBody>
      </p:sp>
      <p:sp>
        <p:nvSpPr>
          <p:cNvPr id="2" name="">
            <a:extLst xmlns:a="http://schemas.openxmlformats.org/drawingml/2006/main">
              <a:ext uri="{FF2B5EF4-FFF2-40B4-BE49-F238E27FC236}">
                <a16:creationId xmlns:a16="http://schemas.microsoft.com/office/drawing/2014/main" id="{172FA34B-82FF-49F8-A401-624A69E81DE8}"/>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This dissertation adds models and tests to an existing robot program</a:t>
            </a:r>
          </a:p>
        </p:txBody>
      </p:sp>
      <p:sp>
        <p:nvSpPr>
          <p:cNvPr id="3" name="">
            <a:extLst xmlns:a="http://schemas.openxmlformats.org/drawingml/2006/main">
              <a:ext uri="{FF2B5EF4-FFF2-40B4-BE49-F238E27FC236}">
                <a16:creationId xmlns:a16="http://schemas.microsoft.com/office/drawing/2014/main" id="{4A23BBA8-2065-4FB3-9852-260D8D807B1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1; Ch. 6, Model Conversion and Actuator Coupling</a:t>
            </a:r>
          </a:p>
        </p:txBody>
      </p:sp>
      <p:sp>
        <p:nvSpPr>
          <p:cNvPr id="4" name="">
            <a:extLst xmlns:a="http://schemas.openxmlformats.org/drawingml/2006/main">
              <a:ext uri="{FF2B5EF4-FFF2-40B4-BE49-F238E27FC236}">
                <a16:creationId xmlns:a16="http://schemas.microsoft.com/office/drawing/2014/main" id="{CB4F458F-F8FC-4F1D-92DA-EDD9DF6E7BA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03</a:t>
            </a:r>
          </a:p>
        </p:txBody>
      </p:sp>
      <p:pic>
        <p:nvPicPr>
          <p:cNvPr id="5" name="">
            <a:extLst xmlns:a="http://schemas.openxmlformats.org/drawingml/2006/main">
              <a:ext uri="{FF2B5EF4-FFF2-40B4-BE49-F238E27FC236}">
                <a16:creationId xmlns:a16="http://schemas.microsoft.com/office/drawing/2014/main" id="{0F693C34-BD82-445F-9D68-2121C19938EA}"/>
              </a:ext>
            </a:extLst>
          </p:cNvPr>
          <p:cNvPicPr>
            <a:picLocks xmlns:a="http://schemas.openxmlformats.org/drawingml/2006/main" noChangeAspect="1"/>
          </p:cNvPicPr>
          <p:nvPr/>
        </p:nvPicPr>
        <p:blipFill>
          <a:blip xmlns:r="http://schemas.openxmlformats.org/officeDocument/2006/relationships" xmlns:a="http://schemas.openxmlformats.org/drawingml/2006/main" r:embed="Reb56b5ab577b4af8"/>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2D73E4D-1CF1-4626-9D2C-6A9B39A1D4C7}"/>
              </a:ext>
            </a:extLst>
          </p:cNvPr>
          <p:cNvPicPr>
            <a:picLocks xmlns:a="http://schemas.openxmlformats.org/drawingml/2006/main" noChangeAspect="1"/>
          </p:cNvPicPr>
          <p:nvPr/>
        </p:nvPicPr>
        <p:blipFill>
          <a:blip xmlns:r="http://schemas.openxmlformats.org/officeDocument/2006/relationships" xmlns:a="http://schemas.openxmlformats.org/drawingml/2006/main" r:embed="R61f68ba21c93403f"/>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2DC7744-9B11-4D9E-9D4D-1FF481418778}"/>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Existing anatomy and mechanisms</a:t>
            </a:r>
          </a:p>
        </p:txBody>
      </p:sp>
      <p:sp>
        <p:nvSpPr>
          <p:cNvPr id="8" name="">
            <a:extLst xmlns:a="http://schemas.openxmlformats.org/drawingml/2006/main">
              <a:ext uri="{FF2B5EF4-FFF2-40B4-BE49-F238E27FC236}">
                <a16:creationId xmlns:a16="http://schemas.microsoft.com/office/drawing/2014/main" id="{3DB37A87-DF69-4381-B339-B558A0AAC992}"/>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New route modeling and tests</a:t>
            </a:r>
          </a:p>
        </p:txBody>
      </p:sp>
    </p:spTree>
    <p:extLst>
      <p:ext uri="{BB962C8B-B14F-4D97-AF65-F5344CB8AC3E}">
        <p14:creationId xmlns:p14="http://schemas.microsoft.com/office/powerpoint/2010/main" val="9220393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A39AF6-4036-438D-8F22-D1DC090DE4F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CHARACTERIZATION</a:t>
            </a:r>
          </a:p>
        </p:txBody>
      </p:sp>
      <p:sp>
        <p:nvSpPr>
          <p:cNvPr id="2" name="">
            <a:extLst xmlns:a="http://schemas.openxmlformats.org/drawingml/2006/main">
              <a:ext uri="{FF2B5EF4-FFF2-40B4-BE49-F238E27FC236}">
                <a16:creationId xmlns:a16="http://schemas.microsoft.com/office/drawing/2014/main" id="{CB739F5C-715A-459B-AB63-2915EA71D1E7}"/>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Isometric tests measured force across length, pressure, and contraction</a:t>
            </a:r>
          </a:p>
        </p:txBody>
      </p:sp>
      <p:sp>
        <p:nvSpPr>
          <p:cNvPr id="3" name="">
            <a:extLst xmlns:a="http://schemas.openxmlformats.org/drawingml/2006/main">
              <a:ext uri="{FF2B5EF4-FFF2-40B4-BE49-F238E27FC236}">
                <a16:creationId xmlns:a16="http://schemas.microsoft.com/office/drawing/2014/main" id="{8FD257FB-2EEE-473F-92DE-FCA018E17CE6}"/>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Elzein, Pang, and Hunt (2026), Actuators · Revision C, Ch. 3</a:t>
            </a:r>
          </a:p>
        </p:txBody>
      </p:sp>
      <p:sp>
        <p:nvSpPr>
          <p:cNvPr id="4" name="">
            <a:extLst xmlns:a="http://schemas.openxmlformats.org/drawingml/2006/main">
              <a:ext uri="{FF2B5EF4-FFF2-40B4-BE49-F238E27FC236}">
                <a16:creationId xmlns:a16="http://schemas.microsoft.com/office/drawing/2014/main" id="{3B42FDCC-1BE1-493F-ABB2-A36AC840070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04</a:t>
            </a:r>
          </a:p>
        </p:txBody>
      </p:sp>
      <p:pic>
        <p:nvPicPr>
          <p:cNvPr id="5" name="">
            <a:extLst xmlns:a="http://schemas.openxmlformats.org/drawingml/2006/main">
              <a:ext uri="{FF2B5EF4-FFF2-40B4-BE49-F238E27FC236}">
                <a16:creationId xmlns:a16="http://schemas.microsoft.com/office/drawing/2014/main" id="{88CE7B45-E91B-4283-B2FD-783AE121CA0D}"/>
              </a:ext>
            </a:extLst>
          </p:cNvPr>
          <p:cNvPicPr>
            <a:picLocks xmlns:a="http://schemas.openxmlformats.org/drawingml/2006/main" noChangeAspect="1"/>
          </p:cNvPicPr>
          <p:nvPr/>
        </p:nvPicPr>
        <p:blipFill>
          <a:blip xmlns:r="http://schemas.openxmlformats.org/officeDocument/2006/relationships" xmlns:a="http://schemas.openxmlformats.org/drawingml/2006/main" r:embed="Ra96664b6f12f4478"/>
          <a:stretch xmlns:a="http://schemas.openxmlformats.org/drawingml/2006/main"/>
        </p:blipFill>
        <p:spPr>
          <a:xfrm xmlns:a="http://schemas.openxmlformats.org/drawingml/2006/main">
            <a:off x="4259036" y="1476375"/>
            <a:ext cx="3673929"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8979FE-1A22-4CA9-9172-3F491FFA021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10 mm and 20 mm actuators; 537 observations</a:t>
            </a:r>
          </a:p>
        </p:txBody>
      </p:sp>
    </p:spTree>
    <p:extLst>
      <p:ext uri="{BB962C8B-B14F-4D97-AF65-F5344CB8AC3E}">
        <p14:creationId xmlns:p14="http://schemas.microsoft.com/office/powerpoint/2010/main" val="20031845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156DDE-FBC6-427A-ABF7-CF906471CF8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RESULT</a:t>
            </a:r>
          </a:p>
        </p:txBody>
      </p:sp>
      <p:sp>
        <p:nvSpPr>
          <p:cNvPr id="2" name="">
            <a:extLst xmlns:a="http://schemas.openxmlformats.org/drawingml/2006/main">
              <a:ext uri="{FF2B5EF4-FFF2-40B4-BE49-F238E27FC236}">
                <a16:creationId xmlns:a16="http://schemas.microsoft.com/office/drawing/2014/main" id="{B5529CFA-4990-4CE8-AD37-8F0FD18873C6}"/>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Maximum isometric force decreases as resting length becomes shorter</a:t>
            </a:r>
          </a:p>
        </p:txBody>
      </p:sp>
      <p:sp>
        <p:nvSpPr>
          <p:cNvPr id="3" name="">
            <a:extLst xmlns:a="http://schemas.openxmlformats.org/drawingml/2006/main">
              <a:ext uri="{FF2B5EF4-FFF2-40B4-BE49-F238E27FC236}">
                <a16:creationId xmlns:a16="http://schemas.microsoft.com/office/drawing/2014/main" id="{8DF3BE05-BDBF-47B2-B939-D6013DB8CAC8}"/>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Fmax_fit</a:t>
            </a:r>
          </a:p>
        </p:txBody>
      </p:sp>
      <p:sp>
        <p:nvSpPr>
          <p:cNvPr id="4" name="">
            <a:extLst xmlns:a="http://schemas.openxmlformats.org/drawingml/2006/main">
              <a:ext uri="{FF2B5EF4-FFF2-40B4-BE49-F238E27FC236}">
                <a16:creationId xmlns:a16="http://schemas.microsoft.com/office/drawing/2014/main" id="{BA20D90E-7AC8-4B71-94D6-C9FBEBB04EA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05</a:t>
            </a:r>
          </a:p>
        </p:txBody>
      </p:sp>
      <p:pic>
        <p:nvPicPr>
          <p:cNvPr id="5" name="">
            <a:extLst xmlns:a="http://schemas.openxmlformats.org/drawingml/2006/main">
              <a:ext uri="{FF2B5EF4-FFF2-40B4-BE49-F238E27FC236}">
                <a16:creationId xmlns:a16="http://schemas.microsoft.com/office/drawing/2014/main" id="{47ECFFC3-A0E7-4372-84C1-7A7FDD4F2CF3}"/>
              </a:ext>
            </a:extLst>
          </p:cNvPr>
          <p:cNvPicPr>
            <a:picLocks xmlns:a="http://schemas.openxmlformats.org/drawingml/2006/main" noChangeAspect="1"/>
          </p:cNvPicPr>
          <p:nvPr/>
        </p:nvPicPr>
        <p:blipFill>
          <a:blip xmlns:r="http://schemas.openxmlformats.org/officeDocument/2006/relationships" xmlns:a="http://schemas.openxmlformats.org/drawingml/2006/main" r:embed="R5e50628bc9bc4a78"/>
          <a:stretch xmlns:a="http://schemas.openxmlformats.org/drawingml/2006/main"/>
        </p:blipFill>
        <p:spPr>
          <a:xfrm xmlns:a="http://schemas.openxmlformats.org/drawingml/2006/main">
            <a:off x="583890" y="1666875"/>
            <a:ext cx="51663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9042183-A8B9-49DC-B21A-E264B29086B2}"/>
              </a:ext>
            </a:extLst>
          </p:cNvPr>
          <p:cNvPicPr>
            <a:picLocks xmlns:a="http://schemas.openxmlformats.org/drawingml/2006/main" noChangeAspect="1"/>
          </p:cNvPicPr>
          <p:nvPr/>
        </p:nvPicPr>
        <p:blipFill>
          <a:blip xmlns:r="http://schemas.openxmlformats.org/officeDocument/2006/relationships" xmlns:a="http://schemas.openxmlformats.org/drawingml/2006/main" r:embed="R4ba0ae14b55d4516"/>
          <a:stretch xmlns:a="http://schemas.openxmlformats.org/drawingml/2006/main"/>
        </p:blipFill>
        <p:spPr>
          <a:xfrm xmlns:a="http://schemas.openxmlformats.org/drawingml/2006/main">
            <a:off x="6253027" y="1666875"/>
            <a:ext cx="5543820" cy="4191000"/>
          </a:xfrm>
          <a:prstGeom xmlns:a="http://schemas.openxmlformats.org/drawingml/2006/main" prst="rect">
            <a:avLst/>
          </a:prstGeom>
        </p:spPr>
      </p:pic>
    </p:spTree>
    <p:extLst>
      <p:ext uri="{BB962C8B-B14F-4D97-AF65-F5344CB8AC3E}">
        <p14:creationId xmlns:p14="http://schemas.microsoft.com/office/powerpoint/2010/main" val="18435062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DC5C10-3B4A-4787-9E80-1D7E3255B41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RESULT</a:t>
            </a:r>
          </a:p>
        </p:txBody>
      </p:sp>
      <p:sp>
        <p:nvSpPr>
          <p:cNvPr id="2" name="">
            <a:extLst xmlns:a="http://schemas.openxmlformats.org/drawingml/2006/main">
              <a:ext uri="{FF2B5EF4-FFF2-40B4-BE49-F238E27FC236}">
                <a16:creationId xmlns:a16="http://schemas.microsoft.com/office/drawing/2014/main" id="{8026EB16-847A-4674-B12E-EAFE33AB52A5}"/>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At 112 mm, the new model reduces force error from 42.1% to 4.5%</a:t>
            </a:r>
          </a:p>
        </p:txBody>
      </p:sp>
      <p:sp>
        <p:nvSpPr>
          <p:cNvPr id="3" name="">
            <a:extLst xmlns:a="http://schemas.openxmlformats.org/drawingml/2006/main">
              <a:ext uri="{FF2B5EF4-FFF2-40B4-BE49-F238E27FC236}">
                <a16:creationId xmlns:a16="http://schemas.microsoft.com/office/drawing/2014/main" id="{42950A73-E73F-4850-BEC3-C17669925F6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3, Effects of Resting Length; 10 mm BPA at 620 kPa</a:t>
            </a:r>
          </a:p>
        </p:txBody>
      </p:sp>
      <p:sp>
        <p:nvSpPr>
          <p:cNvPr id="4" name="">
            <a:extLst xmlns:a="http://schemas.openxmlformats.org/drawingml/2006/main">
              <a:ext uri="{FF2B5EF4-FFF2-40B4-BE49-F238E27FC236}">
                <a16:creationId xmlns:a16="http://schemas.microsoft.com/office/drawing/2014/main" id="{89AF05D5-3944-4DA0-8B3B-B3E05E1C17E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06</a:t>
            </a:r>
          </a:p>
        </p:txBody>
      </p:sp>
      <p:graphicFrame>
        <p:nvGraphicFramePr>
          <p:cNvPr id="5" name="Chart">
            <a:extLst xmlns:a="http://schemas.openxmlformats.org/drawingml/2006/main">
              <a:ext uri="{FF2B5EF4-FFF2-40B4-BE49-F238E27FC236}">
                <a16:creationId xmlns:a16="http://schemas.microsoft.com/office/drawing/2014/main" id="{AA572DEA-1D29-48E4-B382-56E1E6D2C225}"/>
              </a:ext>
            </a:extLst>
          </p:cNvPr>
          <p:cNvGraphicFramePr/>
          <p:nvPr/>
        </p:nvGraphicFramePr>
        <p:xfrm>
          <a:off xmlns:a="http://schemas.openxmlformats.org/drawingml/2006/main" x="1143000" y="1762125"/>
          <a:ext xmlns:a="http://schemas.openxmlformats.org/drawingml/2006/main" cx="9810750" cy="4000500"/>
        </p:xfrm>
        <a:graphic xmlns:a="http://schemas.openxmlformats.org/drawingml/2006/main">
          <a:graphicData uri="http://schemas.openxmlformats.org/drawingml/2006/chart">
            <c:chart xmlns:r="http://schemas.openxmlformats.org/officeDocument/2006/relationships" xmlns:c="http://schemas.openxmlformats.org/drawingml/2006/chart" r:id="R7bb6497cbdeb4d64"/>
          </a:graphicData>
        </a:graphic>
      </p:graphicFrame>
      <p:sp>
        <p:nvSpPr>
          <p:cNvPr id="6" name="">
            <a:extLst xmlns:a="http://schemas.openxmlformats.org/drawingml/2006/main">
              <a:ext uri="{FF2B5EF4-FFF2-40B4-BE49-F238E27FC236}">
                <a16:creationId xmlns:a16="http://schemas.microsoft.com/office/drawing/2014/main" id="{C9C90AD4-9F8C-4D14-8AD7-B8848AB02055}"/>
              </a:ext>
            </a:extLst>
          </p:cNvPr>
          <p:cNvSpPr>
            <a:spLocks xmlns:a="http://schemas.openxmlformats.org/drawingml/2006/main" noGrp="1"/>
          </p:cNvSpPr>
          <p:nvPr/>
        </p:nvSpPr>
        <p:spPr>
          <a:xfrm xmlns:a="http://schemas.openxmlformats.org/drawingml/2006/main">
            <a:off x="619125" y="5905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defRPr>
            </a:defPPr>
            <a:lvl1pPr>
              <a:defRPr sz="2025" b="1">
                <a:solidFill>
                  <a:srgbClr val="00796B"/>
                </a:solidFill>
              </a:defRPr>
            </a:lvl1pPr>
            <a:lvl2pPr>
              <a:defRPr sz="2025" b="1">
                <a:solidFill>
                  <a:srgbClr val="00796B"/>
                </a:solidFill>
              </a:defRPr>
            </a:lvl2pPr>
            <a:lvl3pPr>
              <a:defRPr sz="2025" b="1">
                <a:solidFill>
                  <a:srgbClr val="00796B"/>
                </a:solidFill>
              </a:defRPr>
            </a:lvl3pPr>
            <a:lvl4pPr>
              <a:defRPr sz="2025" b="1">
                <a:solidFill>
                  <a:srgbClr val="00796B"/>
                </a:solidFill>
              </a:defRPr>
            </a:lvl4pPr>
            <a:lvl5pPr>
              <a:defRPr sz="2025" b="1">
                <a:solidFill>
                  <a:srgbClr val="00796B"/>
                </a:solidFill>
              </a:defRPr>
            </a:lvl5pPr>
            <a:lvl6pPr>
              <a:defRPr sz="2025" b="1">
                <a:solidFill>
                  <a:srgbClr val="00796B"/>
                </a:solidFill>
              </a:defRPr>
            </a:lvl6pPr>
            <a:lvl7pPr>
              <a:defRPr sz="2025" b="1">
                <a:solidFill>
                  <a:srgbClr val="00796B"/>
                </a:solidFill>
              </a:defRPr>
            </a:lvl7pPr>
            <a:lvl8pPr>
              <a:defRPr sz="2025" b="1">
                <a:solidFill>
                  <a:srgbClr val="00796B"/>
                </a:solidFill>
              </a:defRPr>
            </a:lvl8pPr>
            <a:lvl9pPr>
              <a:defRPr sz="2025" b="1">
                <a:solidFill>
                  <a:srgbClr val="00796B"/>
                </a:solidFill>
              </a:defRPr>
            </a:lvl9pPr>
          </a:lstStyle>
          <a:p xmlns:a="http://schemas.openxmlformats.org/drawingml/2006/main">
            <a:pPr>
              <a:defRPr sz="2025" b="1">
                <a:solidFill>
                  <a:srgbClr val="00796B"/>
                </a:solidFill>
              </a:defRPr>
            </a:pPr>
            <a:r>
              <a:rPr sz="2025" b="1">
                <a:solidFill>
                  <a:srgbClr val="00796B"/>
                </a:solidFill>
              </a:rPr>
              <a:t>350.9 N measured</a:t>
            </a:r>
          </a:p>
        </p:txBody>
      </p:sp>
    </p:spTree>
    <p:extLst>
      <p:ext uri="{BB962C8B-B14F-4D97-AF65-F5344CB8AC3E}">
        <p14:creationId xmlns:p14="http://schemas.microsoft.com/office/powerpoint/2010/main" val="20289095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5E27BD-9DB4-41CC-8768-5267C1AEFCB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MODEL</a:t>
            </a:r>
          </a:p>
        </p:txBody>
      </p:sp>
      <p:sp>
        <p:nvSpPr>
          <p:cNvPr id="2" name="">
            <a:extLst xmlns:a="http://schemas.openxmlformats.org/drawingml/2006/main">
              <a:ext uri="{FF2B5EF4-FFF2-40B4-BE49-F238E27FC236}">
                <a16:creationId xmlns:a16="http://schemas.microsoft.com/office/drawing/2014/main" id="{8463D724-51C5-467E-8C04-9FE39EFBBA5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Normalized force curves describe both tested actuator diameters</a:t>
            </a:r>
          </a:p>
        </p:txBody>
      </p:sp>
      <p:sp>
        <p:nvSpPr>
          <p:cNvPr id="3" name="">
            <a:extLst xmlns:a="http://schemas.openxmlformats.org/drawingml/2006/main">
              <a:ext uri="{FF2B5EF4-FFF2-40B4-BE49-F238E27FC236}">
                <a16:creationId xmlns:a16="http://schemas.microsoft.com/office/drawing/2014/main" id="{C418EBBB-7FBE-46F9-B4E8-55D67F57B16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GenForceFit</a:t>
            </a:r>
          </a:p>
        </p:txBody>
      </p:sp>
      <p:sp>
        <p:nvSpPr>
          <p:cNvPr id="4" name="">
            <a:extLst xmlns:a="http://schemas.openxmlformats.org/drawingml/2006/main">
              <a:ext uri="{FF2B5EF4-FFF2-40B4-BE49-F238E27FC236}">
                <a16:creationId xmlns:a16="http://schemas.microsoft.com/office/drawing/2014/main" id="{5E1FDE6C-45F0-49BE-BA54-792723D9EE2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07</a:t>
            </a:r>
          </a:p>
        </p:txBody>
      </p:sp>
      <p:pic>
        <p:nvPicPr>
          <p:cNvPr id="5" name="">
            <a:extLst xmlns:a="http://schemas.openxmlformats.org/drawingml/2006/main">
              <a:ext uri="{FF2B5EF4-FFF2-40B4-BE49-F238E27FC236}">
                <a16:creationId xmlns:a16="http://schemas.microsoft.com/office/drawing/2014/main" id="{2E043284-451C-420F-94FA-5063B15B4DC8}"/>
              </a:ext>
            </a:extLst>
          </p:cNvPr>
          <p:cNvPicPr>
            <a:picLocks xmlns:a="http://schemas.openxmlformats.org/drawingml/2006/main" noChangeAspect="1"/>
          </p:cNvPicPr>
          <p:nvPr/>
        </p:nvPicPr>
        <p:blipFill>
          <a:blip xmlns:r="http://schemas.openxmlformats.org/officeDocument/2006/relationships" xmlns:a="http://schemas.openxmlformats.org/drawingml/2006/main" r:embed="R5e3a18badec9428f"/>
          <a:stretch xmlns:a="http://schemas.openxmlformats.org/drawingml/2006/main"/>
        </p:blipFill>
        <p:spPr>
          <a:xfrm xmlns:a="http://schemas.openxmlformats.org/drawingml/2006/main">
            <a:off x="896403" y="1666875"/>
            <a:ext cx="4541318"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4AEFE32-0053-4F50-B84A-E8D84DCDD597}"/>
              </a:ext>
            </a:extLst>
          </p:cNvPr>
          <p:cNvPicPr>
            <a:picLocks xmlns:a="http://schemas.openxmlformats.org/drawingml/2006/main" noChangeAspect="1"/>
          </p:cNvPicPr>
          <p:nvPr/>
        </p:nvPicPr>
        <p:blipFill>
          <a:blip xmlns:r="http://schemas.openxmlformats.org/officeDocument/2006/relationships" xmlns:a="http://schemas.openxmlformats.org/drawingml/2006/main" r:embed="Rfbd357a924764789"/>
          <a:stretch xmlns:a="http://schemas.openxmlformats.org/drawingml/2006/main"/>
        </p:blipFill>
        <p:spPr>
          <a:xfrm xmlns:a="http://schemas.openxmlformats.org/drawingml/2006/main">
            <a:off x="6818361" y="1666875"/>
            <a:ext cx="4413153" cy="4191000"/>
          </a:xfrm>
          <a:prstGeom xmlns:a="http://schemas.openxmlformats.org/drawingml/2006/main" prst="rect">
            <a:avLst/>
          </a:prstGeom>
        </p:spPr>
      </p:pic>
    </p:spTree>
    <p:extLst>
      <p:ext uri="{BB962C8B-B14F-4D97-AF65-F5344CB8AC3E}">
        <p14:creationId xmlns:p14="http://schemas.microsoft.com/office/powerpoint/2010/main" val="4553052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A9BEED-C88F-4F17-92F6-4E620F0EC50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ACTUATOR EVIDENCE</a:t>
            </a:r>
          </a:p>
        </p:txBody>
      </p:sp>
      <p:sp>
        <p:nvSpPr>
          <p:cNvPr id="2" name="">
            <a:extLst xmlns:a="http://schemas.openxmlformats.org/drawingml/2006/main">
              <a:ext uri="{FF2B5EF4-FFF2-40B4-BE49-F238E27FC236}">
                <a16:creationId xmlns:a16="http://schemas.microsoft.com/office/drawing/2014/main" id="{575CABE0-793C-4D05-9CBF-066A73F5CF7B}"/>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new model has the lowest error in the reported model comparisons</a:t>
            </a:r>
          </a:p>
        </p:txBody>
      </p:sp>
      <p:sp>
        <p:nvSpPr>
          <p:cNvPr id="3" name="">
            <a:extLst xmlns:a="http://schemas.openxmlformats.org/drawingml/2006/main">
              <a:ext uri="{FF2B5EF4-FFF2-40B4-BE49-F238E27FC236}">
                <a16:creationId xmlns:a16="http://schemas.microsoft.com/office/drawing/2014/main" id="{561EF459-7F67-489D-B91D-8449E5391161}"/>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Bolen et al. (2026), Actuators · Revision C, Fig. Comparison and model-comparison table</a:t>
            </a:r>
          </a:p>
        </p:txBody>
      </p:sp>
      <p:sp>
        <p:nvSpPr>
          <p:cNvPr id="4" name="">
            <a:extLst xmlns:a="http://schemas.openxmlformats.org/drawingml/2006/main">
              <a:ext uri="{FF2B5EF4-FFF2-40B4-BE49-F238E27FC236}">
                <a16:creationId xmlns:a16="http://schemas.microsoft.com/office/drawing/2014/main" id="{D646C910-AB69-4F21-9CCA-1FB34F93C476}"/>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08</a:t>
            </a:r>
          </a:p>
        </p:txBody>
      </p:sp>
      <p:pic>
        <p:nvPicPr>
          <p:cNvPr id="5" name="">
            <a:extLst xmlns:a="http://schemas.openxmlformats.org/drawingml/2006/main">
              <a:ext uri="{FF2B5EF4-FFF2-40B4-BE49-F238E27FC236}">
                <a16:creationId xmlns:a16="http://schemas.microsoft.com/office/drawing/2014/main" id="{4689CEFB-B63B-4E30-91F8-9ACBA6E00ED2}"/>
              </a:ext>
            </a:extLst>
          </p:cNvPr>
          <p:cNvPicPr>
            <a:picLocks xmlns:a="http://schemas.openxmlformats.org/drawingml/2006/main" noChangeAspect="1"/>
          </p:cNvPicPr>
          <p:nvPr/>
        </p:nvPicPr>
        <p:blipFill>
          <a:blip xmlns:r="http://schemas.openxmlformats.org/officeDocument/2006/relationships" xmlns:a="http://schemas.openxmlformats.org/drawingml/2006/main" r:embed="R488284211dc04af0"/>
          <a:stretch xmlns:a="http://schemas.openxmlformats.org/drawingml/2006/main"/>
        </p:blipFill>
        <p:spPr>
          <a:xfrm xmlns:a="http://schemas.openxmlformats.org/drawingml/2006/main">
            <a:off x="3335049" y="1476375"/>
            <a:ext cx="5521903" cy="4762500"/>
          </a:xfrm>
          <a:prstGeom xmlns:a="http://schemas.openxmlformats.org/drawingml/2006/main" prst="rect">
            <a:avLst/>
          </a:prstGeom>
        </p:spPr>
      </p:pic>
    </p:spTree>
    <p:extLst>
      <p:ext uri="{BB962C8B-B14F-4D97-AF65-F5344CB8AC3E}">
        <p14:creationId xmlns:p14="http://schemas.microsoft.com/office/powerpoint/2010/main" val="10211608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127673-05EA-462D-ACF9-80D7A474810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EXPERIMENTAL DESIGN</a:t>
            </a:r>
          </a:p>
        </p:txBody>
      </p:sp>
      <p:sp>
        <p:nvSpPr>
          <p:cNvPr id="2" name="">
            <a:extLst xmlns:a="http://schemas.openxmlformats.org/drawingml/2006/main">
              <a:ext uri="{FF2B5EF4-FFF2-40B4-BE49-F238E27FC236}">
                <a16:creationId xmlns:a16="http://schemas.microsoft.com/office/drawing/2014/main" id="{A6DB1BFF-5214-43CE-8620-0BE7C6B15F1D}"/>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Pinned and biomimetic knees separate identification from transfer tests</a:t>
            </a:r>
          </a:p>
        </p:txBody>
      </p:sp>
      <p:sp>
        <p:nvSpPr>
          <p:cNvPr id="3" name="">
            <a:extLst xmlns:a="http://schemas.openxmlformats.org/drawingml/2006/main">
              <a:ext uri="{FF2B5EF4-FFF2-40B4-BE49-F238E27FC236}">
                <a16:creationId xmlns:a16="http://schemas.microsoft.com/office/drawing/2014/main" id="{E3F914A2-A5E1-43FE-BDE5-6CC774A56AE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test stands; four-bar knee credited to Steele et al.</a:t>
            </a:r>
          </a:p>
        </p:txBody>
      </p:sp>
      <p:sp>
        <p:nvSpPr>
          <p:cNvPr id="4" name="">
            <a:extLst xmlns:a="http://schemas.openxmlformats.org/drawingml/2006/main">
              <a:ext uri="{FF2B5EF4-FFF2-40B4-BE49-F238E27FC236}">
                <a16:creationId xmlns:a16="http://schemas.microsoft.com/office/drawing/2014/main" id="{256C4ABB-F703-4D17-AFD1-FFACDAB86E7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09</a:t>
            </a:r>
          </a:p>
        </p:txBody>
      </p:sp>
      <p:pic>
        <p:nvPicPr>
          <p:cNvPr id="5" name="">
            <a:extLst xmlns:a="http://schemas.openxmlformats.org/drawingml/2006/main">
              <a:ext uri="{FF2B5EF4-FFF2-40B4-BE49-F238E27FC236}">
                <a16:creationId xmlns:a16="http://schemas.microsoft.com/office/drawing/2014/main" id="{8732DF8B-C4BB-4742-B5F1-F5BE4F3598D8}"/>
              </a:ext>
            </a:extLst>
          </p:cNvPr>
          <p:cNvPicPr>
            <a:picLocks xmlns:a="http://schemas.openxmlformats.org/drawingml/2006/main" noChangeAspect="1"/>
          </p:cNvPicPr>
          <p:nvPr/>
        </p:nvPicPr>
        <p:blipFill>
          <a:blip xmlns:r="http://schemas.openxmlformats.org/officeDocument/2006/relationships" xmlns:a="http://schemas.openxmlformats.org/drawingml/2006/main" r:embed="R6a6471c23fe749ea"/>
          <a:stretch xmlns:a="http://schemas.openxmlformats.org/drawingml/2006/main"/>
        </p:blipFill>
        <p:spPr>
          <a:xfrm xmlns:a="http://schemas.openxmlformats.org/drawingml/2006/main">
            <a:off x="4054929" y="1476375"/>
            <a:ext cx="4082143" cy="4762500"/>
          </a:xfrm>
          <a:prstGeom xmlns:a="http://schemas.openxmlformats.org/drawingml/2006/main" prst="rect">
            <a:avLst/>
          </a:prstGeom>
        </p:spPr>
      </p:pic>
    </p:spTree>
    <p:extLst>
      <p:ext uri="{BB962C8B-B14F-4D97-AF65-F5344CB8AC3E}">
        <p14:creationId xmlns:p14="http://schemas.microsoft.com/office/powerpoint/2010/main" val="15799782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2C955E-DA80-4E44-8461-7EE97ABD059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DIAGNOSIS</a:t>
            </a:r>
          </a:p>
        </p:txBody>
      </p:sp>
      <p:sp>
        <p:nvSpPr>
          <p:cNvPr id="2" name="">
            <a:extLst xmlns:a="http://schemas.openxmlformats.org/drawingml/2006/main">
              <a:ext uri="{FF2B5EF4-FFF2-40B4-BE49-F238E27FC236}">
                <a16:creationId xmlns:a16="http://schemas.microsoft.com/office/drawing/2014/main" id="{4A8B2781-EE66-49E3-BD0B-26C9D1FD92AC}"/>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Measured actuator length exposes errors in the rigid-route prediction</a:t>
            </a:r>
          </a:p>
        </p:txBody>
      </p:sp>
      <p:sp>
        <p:nvSpPr>
          <p:cNvPr id="3" name="">
            <a:extLst xmlns:a="http://schemas.openxmlformats.org/drawingml/2006/main">
              <a:ext uri="{FF2B5EF4-FFF2-40B4-BE49-F238E27FC236}">
                <a16:creationId xmlns:a16="http://schemas.microsoft.com/office/drawing/2014/main" id="{41708718-1CFD-4331-9EBA-CCE5B079848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FlxPin_preopt; hybrid-method description</a:t>
            </a:r>
          </a:p>
        </p:txBody>
      </p:sp>
      <p:sp>
        <p:nvSpPr>
          <p:cNvPr id="4" name="">
            <a:extLst xmlns:a="http://schemas.openxmlformats.org/drawingml/2006/main">
              <a:ext uri="{FF2B5EF4-FFF2-40B4-BE49-F238E27FC236}">
                <a16:creationId xmlns:a16="http://schemas.microsoft.com/office/drawing/2014/main" id="{555C2EA9-E365-423C-83A2-8E4676DA067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10</a:t>
            </a:r>
          </a:p>
        </p:txBody>
      </p:sp>
      <p:pic>
        <p:nvPicPr>
          <p:cNvPr id="5" name="">
            <a:extLst xmlns:a="http://schemas.openxmlformats.org/drawingml/2006/main">
              <a:ext uri="{FF2B5EF4-FFF2-40B4-BE49-F238E27FC236}">
                <a16:creationId xmlns:a16="http://schemas.microsoft.com/office/drawing/2014/main" id="{F3286193-2651-4BE8-AAB3-9C948997D3B2}"/>
              </a:ext>
            </a:extLst>
          </p:cNvPr>
          <p:cNvPicPr>
            <a:picLocks xmlns:a="http://schemas.openxmlformats.org/drawingml/2006/main" noChangeAspect="1"/>
          </p:cNvPicPr>
          <p:nvPr/>
        </p:nvPicPr>
        <p:blipFill>
          <a:blip xmlns:r="http://schemas.openxmlformats.org/officeDocument/2006/relationships" xmlns:a="http://schemas.openxmlformats.org/drawingml/2006/main" r:embed="R875bf0b3718c4d6b"/>
          <a:stretch xmlns:a="http://schemas.openxmlformats.org/drawingml/2006/main"/>
        </p:blipFill>
        <p:spPr>
          <a:xfrm xmlns:a="http://schemas.openxmlformats.org/drawingml/2006/main">
            <a:off x="428625" y="1677865"/>
            <a:ext cx="11334750" cy="4359519"/>
          </a:xfrm>
          <a:prstGeom xmlns:a="http://schemas.openxmlformats.org/drawingml/2006/main" prst="rect">
            <a:avLst/>
          </a:prstGeom>
        </p:spPr>
      </p:pic>
    </p:spTree>
    <p:extLst>
      <p:ext uri="{BB962C8B-B14F-4D97-AF65-F5344CB8AC3E}">
        <p14:creationId xmlns:p14="http://schemas.microsoft.com/office/powerpoint/2010/main" val="18781604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9BE11D-B526-4D88-8D01-0C385DBE1EF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MODEL CONTRIBUTION</a:t>
            </a:r>
          </a:p>
        </p:txBody>
      </p:sp>
      <p:sp>
        <p:nvSpPr>
          <p:cNvPr id="2" name="">
            <a:extLst xmlns:a="http://schemas.openxmlformats.org/drawingml/2006/main">
              <a:ext uri="{FF2B5EF4-FFF2-40B4-BE49-F238E27FC236}">
                <a16:creationId xmlns:a16="http://schemas.microsoft.com/office/drawing/2014/main" id="{AC5E2FBF-C2C2-4E51-9D13-2DD3D52AE8B8}"/>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model accounts for length offset, compliance, and wrapping</a:t>
            </a:r>
          </a:p>
        </p:txBody>
      </p:sp>
      <p:sp>
        <p:nvSpPr>
          <p:cNvPr id="3" name="">
            <a:extLst xmlns:a="http://schemas.openxmlformats.org/drawingml/2006/main">
              <a:ext uri="{FF2B5EF4-FFF2-40B4-BE49-F238E27FC236}">
                <a16:creationId xmlns:a16="http://schemas.microsoft.com/office/drawing/2014/main" id="{AA542258-0561-4B56-9F26-F2D048D4205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Improved Torque Model; Appendix C</a:t>
            </a:r>
          </a:p>
        </p:txBody>
      </p:sp>
      <p:sp>
        <p:nvSpPr>
          <p:cNvPr id="4" name="">
            <a:extLst xmlns:a="http://schemas.openxmlformats.org/drawingml/2006/main">
              <a:ext uri="{FF2B5EF4-FFF2-40B4-BE49-F238E27FC236}">
                <a16:creationId xmlns:a16="http://schemas.microsoft.com/office/drawing/2014/main" id="{FDEF789E-AAEF-400C-BA1F-363BA05A57F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11</a:t>
            </a:r>
          </a:p>
        </p:txBody>
      </p:sp>
      <p:pic>
        <p:nvPicPr>
          <p:cNvPr id="5" name="">
            <a:extLst xmlns:a="http://schemas.openxmlformats.org/drawingml/2006/main">
              <a:ext uri="{FF2B5EF4-FFF2-40B4-BE49-F238E27FC236}">
                <a16:creationId xmlns:a16="http://schemas.microsoft.com/office/drawing/2014/main" id="{99D67873-6269-42E9-9F02-7EF6014B74FA}"/>
              </a:ext>
            </a:extLst>
          </p:cNvPr>
          <p:cNvPicPr>
            <a:picLocks xmlns:a="http://schemas.openxmlformats.org/drawingml/2006/main" noChangeAspect="1"/>
          </p:cNvPicPr>
          <p:nvPr/>
        </p:nvPicPr>
        <p:blipFill>
          <a:blip xmlns:r="http://schemas.openxmlformats.org/officeDocument/2006/relationships" xmlns:a="http://schemas.openxmlformats.org/drawingml/2006/main" r:embed="R7e9f9bd4fa104998"/>
          <a:stretch xmlns:a="http://schemas.openxmlformats.org/drawingml/2006/main"/>
        </p:blipFill>
        <p:spPr>
          <a:xfrm xmlns:a="http://schemas.openxmlformats.org/drawingml/2006/main">
            <a:off x="428625" y="1791386"/>
            <a:ext cx="11334750" cy="365622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CE54F4-AD3C-4DEE-9B22-A78E72B93F95}"/>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Effective system stiffness includes the fixtures and transmission</a:t>
            </a:r>
          </a:p>
        </p:txBody>
      </p:sp>
    </p:spTree>
    <p:extLst>
      <p:ext uri="{BB962C8B-B14F-4D97-AF65-F5344CB8AC3E}">
        <p14:creationId xmlns:p14="http://schemas.microsoft.com/office/powerpoint/2010/main" val="3966623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5BB68A-3221-4B49-806B-A28F1A46A4A0}"/>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IDENTIFICATION</a:t>
            </a:r>
          </a:p>
        </p:txBody>
      </p:sp>
      <p:sp>
        <p:nvSpPr>
          <p:cNvPr id="2" name="">
            <a:extLst xmlns:a="http://schemas.openxmlformats.org/drawingml/2006/main">
              <a:ext uri="{FF2B5EF4-FFF2-40B4-BE49-F238E27FC236}">
                <a16:creationId xmlns:a16="http://schemas.microsoft.com/office/drawing/2014/main" id="{C154D6B4-E0E0-4F40-B84C-BDB78E3FAD15}"/>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Identification reserves tests before assessing corrected predictions</a:t>
            </a:r>
          </a:p>
        </p:txBody>
      </p:sp>
      <p:sp>
        <p:nvSpPr>
          <p:cNvPr id="3" name="">
            <a:extLst xmlns:a="http://schemas.openxmlformats.org/drawingml/2006/main">
              <a:ext uri="{FF2B5EF4-FFF2-40B4-BE49-F238E27FC236}">
                <a16:creationId xmlns:a16="http://schemas.microsoft.com/office/drawing/2014/main" id="{EB28988E-78FF-4463-908A-C3CF3363F78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Tables FlxPinGof and ExtPinGof; Appendix C</a:t>
            </a:r>
          </a:p>
        </p:txBody>
      </p:sp>
      <p:sp>
        <p:nvSpPr>
          <p:cNvPr id="4" name="">
            <a:extLst xmlns:a="http://schemas.openxmlformats.org/drawingml/2006/main">
              <a:ext uri="{FF2B5EF4-FFF2-40B4-BE49-F238E27FC236}">
                <a16:creationId xmlns:a16="http://schemas.microsoft.com/office/drawing/2014/main" id="{D5B98506-2B15-42D6-AADD-945091FF822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12</a:t>
            </a:r>
          </a:p>
        </p:txBody>
      </p:sp>
      <p:graphicFrame>
        <p:nvGraphicFramePr>
          <p:cNvPr id="5" name="">
            <a:extLst xmlns:a="http://schemas.openxmlformats.org/drawingml/2006/main">
              <a:ext uri="{FF2B5EF4-FFF2-40B4-BE49-F238E27FC236}">
                <a16:creationId xmlns:a16="http://schemas.microsoft.com/office/drawing/2014/main" id="{06FEFA3E-DBEB-4587-A4F7-99E6C4A7B4BA}"/>
              </a:ext>
            </a:extLst>
          </p:cNvPr>
          <p:cNvGraphicFramePr/>
          <p:nvPr/>
        </p:nvGraphicFramePr>
        <p:xfrm>
          <a:off xmlns:a="http://schemas.openxmlformats.org/drawingml/2006/main" x="476250" y="1952625"/>
          <a:ext xmlns:a="http://schemas.openxmlformats.org/drawingml/2006/main" cx="11239500" cy="2571750"/>
        </p:xfrm>
        <a:graphic xmlns:a="http://schemas.openxmlformats.org/drawingml/2006/main">
          <a:graphicData uri="http://schemas.openxmlformats.org/drawingml/2006/table">
            <a:tbl>
              <a:tblPr/>
              <a:tblGrid>
                <a:gridCol w="2809875"/>
                <a:gridCol w="2809875"/>
                <a:gridCol w="2809875"/>
                <a:gridCol w="2809875"/>
              </a:tblGrid>
              <a:tr h="857250">
                <a:tc>
                  <a:txBody>
                    <a:bodyPr/>
                    <a:lstStyle/>
                    <a:p>
                      <a:r>
                        <a:rPr sz="1875" b="1">
                          <a:solidFill>
                            <a:srgbClr val="00796B"/>
                          </a:solidFill>
                        </a:rPr>
                        <a:t>Adopted fold</a:t>
                      </a:r>
                    </a:p>
                  </a:txBody>
                  <a:tcPr marL="91440" marR="91440" marT="45720" marB="45720">
                    <a:solidFill>
                      <a:srgbClr val="FFFFFF"/>
                    </a:solidFill>
                  </a:tcPr>
                </a:tc>
                <a:tc>
                  <a:txBody>
                    <a:bodyPr/>
                    <a:lstStyle/>
                    <a:p>
                      <a:r>
                        <a:rPr sz="1875" b="1">
                          <a:solidFill>
                            <a:srgbClr val="00796B"/>
                          </a:solidFill>
                        </a:rPr>
                        <a:t>Training</a:t>
                      </a:r>
                    </a:p>
                  </a:txBody>
                  <a:tcPr marL="91440" marR="91440" marT="45720" marB="45720">
                    <a:solidFill>
                      <a:srgbClr val="FFFFFF"/>
                    </a:solidFill>
                  </a:tcPr>
                </a:tc>
                <a:tc>
                  <a:txBody>
                    <a:bodyPr/>
                    <a:lstStyle/>
                    <a:p>
                      <a:r>
                        <a:rPr sz="1875" b="1">
                          <a:solidFill>
                            <a:srgbClr val="00796B"/>
                          </a:solidFill>
                        </a:rPr>
                        <a:t>Held out</a:t>
                      </a:r>
                    </a:p>
                  </a:txBody>
                  <a:tcPr marL="91440" marR="91440" marT="45720" marB="45720">
                    <a:solidFill>
                      <a:srgbClr val="FFFFFF"/>
                    </a:solidFill>
                  </a:tcPr>
                </a:tc>
                <a:tc>
                  <a:txBody>
                    <a:bodyPr/>
                    <a:lstStyle/>
                    <a:p>
                      <a:r>
                        <a:rPr sz="1875" b="1">
                          <a:solidFill>
                            <a:srgbClr val="00796B"/>
                          </a:solidFill>
                        </a:rPr>
                        <a:t>Not used</a:t>
                      </a:r>
                    </a:p>
                  </a:txBody>
                  <a:tcPr marL="91440" marR="91440" marT="45720" marB="45720">
                    <a:solidFill>
                      <a:srgbClr val="FFFFFF"/>
                    </a:solidFill>
                  </a:tcPr>
                </a:tc>
              </a:tr>
              <a:tr h="857250">
                <a:tc>
                  <a:txBody>
                    <a:bodyPr/>
                    <a:lstStyle/>
                    <a:p>
                      <a:r>
                        <a:rPr sz="1875" b="0">
                          <a:solidFill>
                            <a:srgbClr val="222222"/>
                          </a:solidFill>
                        </a:rPr>
                        <a:t>Pinned flexor</a:t>
                      </a:r>
                    </a:p>
                  </a:txBody>
                  <a:tcPr marL="91440" marR="91440" marT="45720" marB="45720">
                    <a:solidFill>
                      <a:srgbClr val="FFFFFF"/>
                    </a:solidFill>
                  </a:tcPr>
                </a:tc>
                <a:tc>
                  <a:txBody>
                    <a:bodyPr/>
                    <a:lstStyle/>
                    <a:p>
                      <a:r>
                        <a:rPr sz="1875" b="0">
                          <a:solidFill>
                            <a:srgbClr val="222222"/>
                          </a:solidFill>
                        </a:rPr>
                        <a:t>2 tests</a:t>
                      </a:r>
                    </a:p>
                  </a:txBody>
                  <a:tcPr marL="91440" marR="91440" marT="45720" marB="45720">
                    <a:solidFill>
                      <a:srgbClr val="FFFFFF"/>
                    </a:solidFill>
                  </a:tcPr>
                </a:tc>
                <a:tc>
                  <a:txBody>
                    <a:bodyPr/>
                    <a:lstStyle/>
                    <a:p>
                      <a:r>
                        <a:rPr sz="1875" b="0">
                          <a:solidFill>
                            <a:srgbClr val="222222"/>
                          </a:solidFill>
                        </a:rPr>
                        <a:t>2 tests</a:t>
                      </a:r>
                    </a:p>
                  </a:txBody>
                  <a:tcPr marL="91440" marR="91440" marT="45720" marB="45720">
                    <a:solidFill>
                      <a:srgbClr val="FFFFFF"/>
                    </a:solidFill>
                  </a:tcPr>
                </a:tc>
                <a:tc>
                  <a:txBody>
                    <a:bodyPr/>
                    <a:lstStyle/>
                    <a:p>
                      <a:r>
                        <a:rPr sz="1875" b="0">
                          <a:solidFill>
                            <a:srgbClr val="222222"/>
                          </a:solidFill>
                        </a:rPr>
                        <a:t>1 test</a:t>
                      </a:r>
                    </a:p>
                  </a:txBody>
                  <a:tcPr marL="91440" marR="91440" marT="45720" marB="45720">
                    <a:solidFill>
                      <a:srgbClr val="FFFFFF"/>
                    </a:solidFill>
                  </a:tcPr>
                </a:tc>
              </a:tr>
              <a:tr h="857250">
                <a:tc>
                  <a:txBody>
                    <a:bodyPr/>
                    <a:lstStyle/>
                    <a:p>
                      <a:r>
                        <a:rPr sz="1875" b="0">
                          <a:solidFill>
                            <a:srgbClr val="222222"/>
                          </a:solidFill>
                        </a:rPr>
                        <a:t>Pinned extensor</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c>
                  <a:txBody>
                    <a:bodyPr/>
                    <a:lstStyle/>
                    <a:p>
                      <a:r>
                        <a:rPr sz="1875" b="0">
                          <a:solidFill>
                            <a:srgbClr val="222222"/>
                          </a:solidFill>
                        </a:rPr>
                        <a:t>3 tests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B0037C4-3E58-4749-A121-75775FDE8CEB}"/>
              </a:ext>
            </a:extLst>
          </p:cNvPr>
          <p:cNvSpPr>
            <a:spLocks xmlns:a="http://schemas.openxmlformats.org/drawingml/2006/main" noGrp="1"/>
          </p:cNvSpPr>
          <p:nvPr/>
        </p:nvSpPr>
        <p:spPr>
          <a:xfrm xmlns:a="http://schemas.openxmlformats.org/drawingml/2006/main">
            <a:off x="619125" y="50006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Identify corrections: gamultiobj</a:t>
            </a:r>
          </a:p>
        </p:txBody>
      </p:sp>
      <p:sp>
        <p:nvSpPr>
          <p:cNvPr id="7" name="">
            <a:extLst xmlns:a="http://schemas.openxmlformats.org/drawingml/2006/main">
              <a:ext uri="{FF2B5EF4-FFF2-40B4-BE49-F238E27FC236}">
                <a16:creationId xmlns:a16="http://schemas.microsoft.com/office/drawing/2014/main" id="{75DD3C78-C613-4D05-802A-BC80C6C958DD}"/>
              </a:ext>
            </a:extLst>
          </p:cNvPr>
          <p:cNvSpPr>
            <a:spLocks xmlns:a="http://schemas.openxmlformats.org/drawingml/2006/main" noGrp="1"/>
          </p:cNvSpPr>
          <p:nvPr/>
        </p:nvSpPr>
        <p:spPr>
          <a:xfrm xmlns:a="http://schemas.openxmlformats.org/drawingml/2006/main">
            <a:off x="619125" y="55245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Redesign routes: surrogateopt, then patternsearch</a:t>
            </a:r>
          </a:p>
        </p:txBody>
      </p:sp>
    </p:spTree>
    <p:extLst>
      <p:ext uri="{BB962C8B-B14F-4D97-AF65-F5344CB8AC3E}">
        <p14:creationId xmlns:p14="http://schemas.microsoft.com/office/powerpoint/2010/main" val="4452353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9E9A05-5E91-4059-8448-D6852728542B}"/>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REPRESENTATIVE EVIDENCE</a:t>
            </a:r>
          </a:p>
        </p:txBody>
      </p:sp>
      <p:sp>
        <p:nvSpPr>
          <p:cNvPr id="2" name="">
            <a:extLst xmlns:a="http://schemas.openxmlformats.org/drawingml/2006/main">
              <a:ext uri="{FF2B5EF4-FFF2-40B4-BE49-F238E27FC236}">
                <a16:creationId xmlns:a16="http://schemas.microsoft.com/office/drawing/2014/main" id="{982A9CD9-031D-445D-9BD8-E7A103FE526A}"/>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flexor model reproduces the held-out torque trend</a:t>
            </a:r>
          </a:p>
        </p:txBody>
      </p:sp>
      <p:sp>
        <p:nvSpPr>
          <p:cNvPr id="3" name="">
            <a:extLst xmlns:a="http://schemas.openxmlformats.org/drawingml/2006/main">
              <a:ext uri="{FF2B5EF4-FFF2-40B4-BE49-F238E27FC236}">
                <a16:creationId xmlns:a16="http://schemas.microsoft.com/office/drawing/2014/main" id="{E8C3A5D9-350A-41DE-BB5E-3E2F533B20A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FlxPin_optimized; Table FlxPinGof</a:t>
            </a:r>
          </a:p>
        </p:txBody>
      </p:sp>
      <p:sp>
        <p:nvSpPr>
          <p:cNvPr id="4" name="">
            <a:extLst xmlns:a="http://schemas.openxmlformats.org/drawingml/2006/main">
              <a:ext uri="{FF2B5EF4-FFF2-40B4-BE49-F238E27FC236}">
                <a16:creationId xmlns:a16="http://schemas.microsoft.com/office/drawing/2014/main" id="{DFB08D33-862A-40C9-8318-B2B0E230C82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13</a:t>
            </a:r>
          </a:p>
        </p:txBody>
      </p:sp>
      <p:pic>
        <p:nvPicPr>
          <p:cNvPr id="5" name="">
            <a:extLst xmlns:a="http://schemas.openxmlformats.org/drawingml/2006/main">
              <a:ext uri="{FF2B5EF4-FFF2-40B4-BE49-F238E27FC236}">
                <a16:creationId xmlns:a16="http://schemas.microsoft.com/office/drawing/2014/main" id="{902E551D-0263-4823-B7CE-8F58CECB6F7F}"/>
              </a:ext>
            </a:extLst>
          </p:cNvPr>
          <p:cNvPicPr>
            <a:picLocks xmlns:a="http://schemas.openxmlformats.org/drawingml/2006/main" noChangeAspect="1"/>
          </p:cNvPicPr>
          <p:nvPr/>
        </p:nvPicPr>
        <p:blipFill>
          <a:blip xmlns:r="http://schemas.openxmlformats.org/officeDocument/2006/relationships" xmlns:a="http://schemas.openxmlformats.org/drawingml/2006/main" r:embed="R31249869690a4d4a"/>
          <a:stretch xmlns:a="http://schemas.openxmlformats.org/drawingml/2006/main"/>
        </p:blipFill>
        <p:spPr>
          <a:xfrm xmlns:a="http://schemas.openxmlformats.org/drawingml/2006/main">
            <a:off x="456197" y="1476375"/>
            <a:ext cx="1127960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C7B5168-10DA-4209-8398-EAAAB4B8BBE2}"/>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Held-out mean RMSE: 7.588 to 1.490 N·m</a:t>
            </a:r>
          </a:p>
        </p:txBody>
      </p:sp>
    </p:spTree>
    <p:extLst>
      <p:ext uri="{BB962C8B-B14F-4D97-AF65-F5344CB8AC3E}">
        <p14:creationId xmlns:p14="http://schemas.microsoft.com/office/powerpoint/2010/main" val="14058311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F2E69A-7A4E-4358-9FEF-31D6F509C18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VALIDATION</a:t>
            </a:r>
          </a:p>
        </p:txBody>
      </p:sp>
      <p:sp>
        <p:nvSpPr>
          <p:cNvPr id="2" name="">
            <a:extLst xmlns:a="http://schemas.openxmlformats.org/drawingml/2006/main">
              <a:ext uri="{FF2B5EF4-FFF2-40B4-BE49-F238E27FC236}">
                <a16:creationId xmlns:a16="http://schemas.microsoft.com/office/drawing/2014/main" id="{9DF15E96-736E-4CC2-85A3-7371F6893DDE}"/>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Corrections reduce held-out error in both pinned-knee configurations</a:t>
            </a:r>
          </a:p>
        </p:txBody>
      </p:sp>
      <p:sp>
        <p:nvSpPr>
          <p:cNvPr id="3" name="">
            <a:extLst xmlns:a="http://schemas.openxmlformats.org/drawingml/2006/main">
              <a:ext uri="{FF2B5EF4-FFF2-40B4-BE49-F238E27FC236}">
                <a16:creationId xmlns:a16="http://schemas.microsoft.com/office/drawing/2014/main" id="{62B10ADF-B6A7-4D84-A97A-8B0B4D9B736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Tables FlxPinGof and ExtPinGof</a:t>
            </a:r>
          </a:p>
        </p:txBody>
      </p:sp>
      <p:sp>
        <p:nvSpPr>
          <p:cNvPr id="4" name="">
            <a:extLst xmlns:a="http://schemas.openxmlformats.org/drawingml/2006/main">
              <a:ext uri="{FF2B5EF4-FFF2-40B4-BE49-F238E27FC236}">
                <a16:creationId xmlns:a16="http://schemas.microsoft.com/office/drawing/2014/main" id="{3A681402-9F81-4889-B70A-8366C01E694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14</a:t>
            </a:r>
          </a:p>
        </p:txBody>
      </p:sp>
      <p:graphicFrame>
        <p:nvGraphicFramePr>
          <p:cNvPr id="5" name="">
            <a:extLst xmlns:a="http://schemas.openxmlformats.org/drawingml/2006/main">
              <a:ext uri="{FF2B5EF4-FFF2-40B4-BE49-F238E27FC236}">
                <a16:creationId xmlns:a16="http://schemas.microsoft.com/office/drawing/2014/main" id="{52EA67EE-A31E-4E6C-9CDA-6C2F1685BB5C}"/>
              </a:ext>
            </a:extLst>
          </p:cNvPr>
          <p:cNvGraphicFramePr/>
          <p:nvPr/>
        </p:nvGraphicFramePr>
        <p:xfrm>
          <a:off xmlns:a="http://schemas.openxmlformats.org/drawingml/2006/main" x="476250" y="2095500"/>
          <a:ext xmlns:a="http://schemas.openxmlformats.org/drawingml/2006/main" cx="11239500" cy="2476500"/>
        </p:xfrm>
        <a:graphic xmlns:a="http://schemas.openxmlformats.org/drawingml/2006/main">
          <a:graphicData uri="http://schemas.openxmlformats.org/drawingml/2006/table">
            <a:tbl>
              <a:tblPr/>
              <a:tblGrid>
                <a:gridCol w="3746500"/>
                <a:gridCol w="3746500"/>
                <a:gridCol w="3746500"/>
              </a:tblGrid>
              <a:tr h="825500">
                <a:tc>
                  <a:txBody>
                    <a:bodyPr/>
                    <a:lstStyle/>
                    <a:p>
                      <a:r>
                        <a:rPr sz="1875" b="1">
                          <a:solidFill>
                            <a:srgbClr val="00796B"/>
                          </a:solidFill>
                        </a:rPr>
                        <a:t>Held-out mean RMSE (N·m)</a:t>
                      </a:r>
                    </a:p>
                  </a:txBody>
                  <a:tcPr marL="91440" marR="91440" marT="45720" marB="45720">
                    <a:solidFill>
                      <a:srgbClr val="FFFFFF"/>
                    </a:solidFill>
                  </a:tcPr>
                </a:tc>
                <a:tc>
                  <a:txBody>
                    <a:bodyPr/>
                    <a:lstStyle/>
                    <a:p>
                      <a:r>
                        <a:rPr sz="1875" b="1">
                          <a:solidFill>
                            <a:srgbClr val="00796B"/>
                          </a:solidFill>
                        </a:rPr>
                        <a:t>No corrections</a:t>
                      </a:r>
                    </a:p>
                  </a:txBody>
                  <a:tcPr marL="91440" marR="91440" marT="45720" marB="45720">
                    <a:solidFill>
                      <a:srgbClr val="FFFFFF"/>
                    </a:solidFill>
                  </a:tcPr>
                </a:tc>
                <a:tc>
                  <a:txBody>
                    <a:bodyPr/>
                    <a:lstStyle/>
                    <a:p>
                      <a:r>
                        <a:rPr sz="1875" b="1">
                          <a:solidFill>
                            <a:srgbClr val="00796B"/>
                          </a:solidFill>
                        </a:rPr>
                        <a:t>Corrected</a:t>
                      </a:r>
                    </a:p>
                  </a:txBody>
                  <a:tcPr marL="91440" marR="91440" marT="45720" marB="45720">
                    <a:solidFill>
                      <a:srgbClr val="FFFFFF"/>
                    </a:solidFill>
                  </a:tcPr>
                </a:tc>
              </a:tr>
              <a:tr h="825500">
                <a:tc>
                  <a:txBody>
                    <a:bodyPr/>
                    <a:lstStyle/>
                    <a:p>
                      <a:r>
                        <a:rPr sz="1875" b="0">
                          <a:solidFill>
                            <a:srgbClr val="222222"/>
                          </a:solidFill>
                        </a:rPr>
                        <a:t>Flexor, 2 validation tests</a:t>
                      </a:r>
                    </a:p>
                  </a:txBody>
                  <a:tcPr marL="91440" marR="91440" marT="45720" marB="45720">
                    <a:solidFill>
                      <a:srgbClr val="FFFFFF"/>
                    </a:solidFill>
                  </a:tcPr>
                </a:tc>
                <a:tc>
                  <a:txBody>
                    <a:bodyPr/>
                    <a:lstStyle/>
                    <a:p>
                      <a:r>
                        <a:rPr sz="1875" b="0">
                          <a:solidFill>
                            <a:srgbClr val="222222"/>
                          </a:solidFill>
                        </a:rPr>
                        <a:t>7.588</a:t>
                      </a:r>
                    </a:p>
                  </a:txBody>
                  <a:tcPr marL="91440" marR="91440" marT="45720" marB="45720">
                    <a:solidFill>
                      <a:srgbClr val="FFFFFF"/>
                    </a:solidFill>
                  </a:tcPr>
                </a:tc>
                <a:tc>
                  <a:txBody>
                    <a:bodyPr/>
                    <a:lstStyle/>
                    <a:p>
                      <a:r>
                        <a:rPr sz="1875" b="0">
                          <a:solidFill>
                            <a:srgbClr val="222222"/>
                          </a:solidFill>
                        </a:rPr>
                        <a:t>1.490</a:t>
                      </a:r>
                    </a:p>
                  </a:txBody>
                  <a:tcPr marL="91440" marR="91440" marT="45720" marB="45720">
                    <a:solidFill>
                      <a:srgbClr val="FFFFFF"/>
                    </a:solidFill>
                  </a:tcPr>
                </a:tc>
              </a:tr>
              <a:tr h="825500">
                <a:tc>
                  <a:txBody>
                    <a:bodyPr/>
                    <a:lstStyle/>
                    <a:p>
                      <a:r>
                        <a:rPr sz="1875" b="0">
                          <a:solidFill>
                            <a:srgbClr val="222222"/>
                          </a:solidFill>
                        </a:rPr>
                        <a:t>Extensor, 3 validation tests</a:t>
                      </a:r>
                    </a:p>
                  </a:txBody>
                  <a:tcPr marL="91440" marR="91440" marT="45720" marB="45720">
                    <a:solidFill>
                      <a:srgbClr val="FFFFFF"/>
                    </a:solidFill>
                  </a:tcPr>
                </a:tc>
                <a:tc>
                  <a:txBody>
                    <a:bodyPr/>
                    <a:lstStyle/>
                    <a:p>
                      <a:r>
                        <a:rPr sz="1875" b="0">
                          <a:solidFill>
                            <a:srgbClr val="222222"/>
                          </a:solidFill>
                        </a:rPr>
                        <a:t>2.554</a:t>
                      </a:r>
                    </a:p>
                  </a:txBody>
                  <a:tcPr marL="91440" marR="91440" marT="45720" marB="45720">
                    <a:solidFill>
                      <a:srgbClr val="FFFFFF"/>
                    </a:solidFill>
                  </a:tcPr>
                </a:tc>
                <a:tc>
                  <a:txBody>
                    <a:bodyPr/>
                    <a:lstStyle/>
                    <a:p>
                      <a:r>
                        <a:rPr sz="1875" b="0">
                          <a:solidFill>
                            <a:srgbClr val="222222"/>
                          </a:solidFill>
                        </a:rPr>
                        <a:t>1.098</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599657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5BC41B-98E7-485C-A9B7-54D81D0E942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JOINT TORQUE: REASON TO REDESIGN</a:t>
            </a:r>
          </a:p>
        </p:txBody>
      </p:sp>
      <p:sp>
        <p:nvSpPr>
          <p:cNvPr id="2" name="">
            <a:extLst xmlns:a="http://schemas.openxmlformats.org/drawingml/2006/main">
              <a:ext uri="{FF2B5EF4-FFF2-40B4-BE49-F238E27FC236}">
                <a16:creationId xmlns:a16="http://schemas.microsoft.com/office/drawing/2014/main" id="{5D01A2C6-7473-4B0A-A09B-1C84198EE48C}"/>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earlier single-actuator flexor falls short of its human target</a:t>
            </a:r>
          </a:p>
        </p:txBody>
      </p:sp>
      <p:sp>
        <p:nvSpPr>
          <p:cNvPr id="3" name="">
            <a:extLst xmlns:a="http://schemas.openxmlformats.org/drawingml/2006/main">
              <a:ext uri="{FF2B5EF4-FFF2-40B4-BE49-F238E27FC236}">
                <a16:creationId xmlns:a16="http://schemas.microsoft.com/office/drawing/2014/main" id="{15BD1904-6F1B-4049-B895-CE394E77680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FlxGrp, panel B</a:t>
            </a:r>
          </a:p>
        </p:txBody>
      </p:sp>
      <p:sp>
        <p:nvSpPr>
          <p:cNvPr id="4" name="">
            <a:extLst xmlns:a="http://schemas.openxmlformats.org/drawingml/2006/main">
              <a:ext uri="{FF2B5EF4-FFF2-40B4-BE49-F238E27FC236}">
                <a16:creationId xmlns:a16="http://schemas.microsoft.com/office/drawing/2014/main" id="{6CE67AE5-4695-4CB8-A65D-DBACF4AB4F2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15</a:t>
            </a:r>
          </a:p>
        </p:txBody>
      </p:sp>
      <p:pic>
        <p:nvPicPr>
          <p:cNvPr id="5" name="">
            <a:extLst xmlns:a="http://schemas.openxmlformats.org/drawingml/2006/main">
              <a:ext uri="{FF2B5EF4-FFF2-40B4-BE49-F238E27FC236}">
                <a16:creationId xmlns:a16="http://schemas.microsoft.com/office/drawing/2014/main" id="{A315F321-A37F-4CB3-8AB0-562C7FED6ED0}"/>
              </a:ext>
            </a:extLst>
          </p:cNvPr>
          <p:cNvPicPr>
            <a:picLocks xmlns:a="http://schemas.openxmlformats.org/drawingml/2006/main" noChangeAspect="1"/>
          </p:cNvPicPr>
          <p:nvPr/>
        </p:nvPicPr>
        <p:blipFill>
          <a:blip xmlns:r="http://schemas.openxmlformats.org/officeDocument/2006/relationships" xmlns:a="http://schemas.openxmlformats.org/drawingml/2006/main" r:embed="R031d0a4fe70f494e"/>
          <a:stretch xmlns:a="http://schemas.openxmlformats.org/drawingml/2006/main"/>
        </p:blipFill>
        <p:spPr>
          <a:xfrm xmlns:a="http://schemas.openxmlformats.org/drawingml/2006/main">
            <a:off x="1855862" y="1476375"/>
            <a:ext cx="84802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FFDF449-4D8C-454A-9B71-16481A4FAD3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Earlier geometry: one 20 mm actuator</a:t>
            </a:r>
          </a:p>
        </p:txBody>
      </p:sp>
    </p:spTree>
    <p:extLst>
      <p:ext uri="{BB962C8B-B14F-4D97-AF65-F5344CB8AC3E}">
        <p14:creationId xmlns:p14="http://schemas.microsoft.com/office/powerpoint/2010/main" val="17919146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9D90F1-B1F8-4718-8A90-690B8978FFC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GEOMETRY AND HARDWARE</a:t>
            </a:r>
          </a:p>
        </p:txBody>
      </p:sp>
      <p:sp>
        <p:nvSpPr>
          <p:cNvPr id="2" name="">
            <a:extLst xmlns:a="http://schemas.openxmlformats.org/drawingml/2006/main">
              <a:ext uri="{FF2B5EF4-FFF2-40B4-BE49-F238E27FC236}">
                <a16:creationId xmlns:a16="http://schemas.microsoft.com/office/drawing/2014/main" id="{8227C0F7-AD9D-4CB5-BEDC-CA976D2DAB07}"/>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optimized cam route became a two-actuator test assembly</a:t>
            </a:r>
          </a:p>
        </p:txBody>
      </p:sp>
      <p:sp>
        <p:nvSpPr>
          <p:cNvPr id="3" name="">
            <a:extLst xmlns:a="http://schemas.openxmlformats.org/drawingml/2006/main">
              <a:ext uri="{FF2B5EF4-FFF2-40B4-BE49-F238E27FC236}">
                <a16:creationId xmlns:a16="http://schemas.microsoft.com/office/drawing/2014/main" id="{F11D3E78-18F0-42D9-BFAC-0C581F51B457}"/>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ExtensorRoute_redesigned and cam-extensor hardware photograph</a:t>
            </a:r>
          </a:p>
        </p:txBody>
      </p:sp>
      <p:sp>
        <p:nvSpPr>
          <p:cNvPr id="4" name="">
            <a:extLst xmlns:a="http://schemas.openxmlformats.org/drawingml/2006/main">
              <a:ext uri="{FF2B5EF4-FFF2-40B4-BE49-F238E27FC236}">
                <a16:creationId xmlns:a16="http://schemas.microsoft.com/office/drawing/2014/main" id="{4D789E70-CC20-43C4-B012-F700EB0C09A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16</a:t>
            </a:r>
          </a:p>
        </p:txBody>
      </p:sp>
      <p:pic>
        <p:nvPicPr>
          <p:cNvPr id="5" name="">
            <a:extLst xmlns:a="http://schemas.openxmlformats.org/drawingml/2006/main">
              <a:ext uri="{FF2B5EF4-FFF2-40B4-BE49-F238E27FC236}">
                <a16:creationId xmlns:a16="http://schemas.microsoft.com/office/drawing/2014/main" id="{B858A168-3B74-46B0-AD9E-304724A21F92}"/>
              </a:ext>
            </a:extLst>
          </p:cNvPr>
          <p:cNvPicPr>
            <a:picLocks xmlns:a="http://schemas.openxmlformats.org/drawingml/2006/main" noChangeAspect="1"/>
          </p:cNvPicPr>
          <p:nvPr/>
        </p:nvPicPr>
        <p:blipFill>
          <a:blip xmlns:r="http://schemas.openxmlformats.org/officeDocument/2006/relationships" xmlns:a="http://schemas.openxmlformats.org/drawingml/2006/main" r:embed="Rb6b5a36e059d41e7"/>
          <a:stretch xmlns:a="http://schemas.openxmlformats.org/drawingml/2006/main"/>
        </p:blipFill>
        <p:spPr>
          <a:xfrm xmlns:a="http://schemas.openxmlformats.org/drawingml/2006/main">
            <a:off x="1250740" y="1666875"/>
            <a:ext cx="3832645"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CBD4AE51-4CBD-4885-8052-45985FE0639E}"/>
              </a:ext>
            </a:extLst>
          </p:cNvPr>
          <p:cNvPicPr>
            <a:picLocks xmlns:a="http://schemas.openxmlformats.org/drawingml/2006/main" noChangeAspect="1"/>
          </p:cNvPicPr>
          <p:nvPr/>
        </p:nvPicPr>
        <p:blipFill>
          <a:blip xmlns:r="http://schemas.openxmlformats.org/officeDocument/2006/relationships" xmlns:a="http://schemas.openxmlformats.org/drawingml/2006/main" r:embed="R155e5bb9475b4866"/>
          <a:stretch xmlns:a="http://schemas.openxmlformats.org/drawingml/2006/main"/>
        </p:blipFill>
        <p:spPr>
          <a:xfrm xmlns:a="http://schemas.openxmlformats.org/drawingml/2006/main">
            <a:off x="7845171" y="1666875"/>
            <a:ext cx="2359533"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6E6D92A-487C-467E-90EE-151FBEA30E5D}"/>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Predicted route at −120°</a:t>
            </a:r>
          </a:p>
        </p:txBody>
      </p:sp>
      <p:sp>
        <p:nvSpPr>
          <p:cNvPr id="8" name="">
            <a:extLst xmlns:a="http://schemas.openxmlformats.org/drawingml/2006/main">
              <a:ext uri="{FF2B5EF4-FFF2-40B4-BE49-F238E27FC236}">
                <a16:creationId xmlns:a16="http://schemas.microsoft.com/office/drawing/2014/main" id="{CC7A9DE8-CB69-42B2-AAE7-519041063228}"/>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Assembled cam-extensor hardware</a:t>
            </a:r>
          </a:p>
        </p:txBody>
      </p:sp>
    </p:spTree>
    <p:extLst>
      <p:ext uri="{BB962C8B-B14F-4D97-AF65-F5344CB8AC3E}">
        <p14:creationId xmlns:p14="http://schemas.microsoft.com/office/powerpoint/2010/main" val="21235529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F42420-9F42-465C-9B36-234E38F1028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MODEL PREDICTION</a:t>
            </a:r>
          </a:p>
        </p:txBody>
      </p:sp>
      <p:sp>
        <p:nvSpPr>
          <p:cNvPr id="2" name="">
            <a:extLst xmlns:a="http://schemas.openxmlformats.org/drawingml/2006/main">
              <a:ext uri="{FF2B5EF4-FFF2-40B4-BE49-F238E27FC236}">
                <a16:creationId xmlns:a16="http://schemas.microsoft.com/office/drawing/2014/main" id="{927E32E3-B6F0-4E23-988E-16743E1BF092}"/>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cam model predicts at least 30.83% margin over the required envelope</a:t>
            </a:r>
          </a:p>
        </p:txBody>
      </p:sp>
      <p:sp>
        <p:nvSpPr>
          <p:cNvPr id="3" name="">
            <a:extLst xmlns:a="http://schemas.openxmlformats.org/drawingml/2006/main">
              <a:ext uri="{FF2B5EF4-FFF2-40B4-BE49-F238E27FC236}">
                <a16:creationId xmlns:a16="http://schemas.microsoft.com/office/drawing/2014/main" id="{5C4111BE-56FB-436C-92D8-9EB40A5C835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redesigned-route results; cam result of record, 14 October 2026</a:t>
            </a:r>
          </a:p>
        </p:txBody>
      </p:sp>
      <p:sp>
        <p:nvSpPr>
          <p:cNvPr id="4" name="">
            <a:extLst xmlns:a="http://schemas.openxmlformats.org/drawingml/2006/main">
              <a:ext uri="{FF2B5EF4-FFF2-40B4-BE49-F238E27FC236}">
                <a16:creationId xmlns:a16="http://schemas.microsoft.com/office/drawing/2014/main" id="{5C8C3F0E-EFD9-4615-B738-7E90CF7CC7B4}"/>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17</a:t>
            </a:r>
          </a:p>
        </p:txBody>
      </p:sp>
      <p:pic>
        <p:nvPicPr>
          <p:cNvPr id="5" name="">
            <a:extLst xmlns:a="http://schemas.openxmlformats.org/drawingml/2006/main">
              <a:ext uri="{FF2B5EF4-FFF2-40B4-BE49-F238E27FC236}">
                <a16:creationId xmlns:a16="http://schemas.microsoft.com/office/drawing/2014/main" id="{56F9DBCC-7D80-406A-8ADA-C52F1349B473}"/>
              </a:ext>
            </a:extLst>
          </p:cNvPr>
          <p:cNvPicPr>
            <a:picLocks xmlns:a="http://schemas.openxmlformats.org/drawingml/2006/main" noChangeAspect="1"/>
          </p:cNvPicPr>
          <p:nvPr/>
        </p:nvPicPr>
        <p:blipFill>
          <a:blip xmlns:r="http://schemas.openxmlformats.org/officeDocument/2006/relationships" xmlns:a="http://schemas.openxmlformats.org/drawingml/2006/main" r:embed="Re473491baae4499c"/>
          <a:stretch xmlns:a="http://schemas.openxmlformats.org/drawingml/2006/main"/>
        </p:blipFill>
        <p:spPr>
          <a:xfrm xmlns:a="http://schemas.openxmlformats.org/drawingml/2006/main">
            <a:off x="3201999" y="1476375"/>
            <a:ext cx="578800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9C1155-D4DC-47C8-B511-6AED82D9E97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Prediction at 620 kPa; required envelope includes 5% overshoot</a:t>
            </a:r>
          </a:p>
        </p:txBody>
      </p:sp>
    </p:spTree>
    <p:extLst>
      <p:ext uri="{BB962C8B-B14F-4D97-AF65-F5344CB8AC3E}">
        <p14:creationId xmlns:p14="http://schemas.microsoft.com/office/powerpoint/2010/main" val="29006675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C058ED-ABDA-464D-88A8-3A6145F4AE0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PHYSICAL EVIDENCE</a:t>
            </a:r>
          </a:p>
        </p:txBody>
      </p:sp>
      <p:sp>
        <p:nvSpPr>
          <p:cNvPr id="2" name="">
            <a:extLst xmlns:a="http://schemas.openxmlformats.org/drawingml/2006/main">
              <a:ext uri="{FF2B5EF4-FFF2-40B4-BE49-F238E27FC236}">
                <a16:creationId xmlns:a16="http://schemas.microsoft.com/office/drawing/2014/main" id="{6A17498D-37BE-45F8-A421-C9F7972F28D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Nine cam-extensor holds test torque across −119° to +5°</a:t>
            </a:r>
          </a:p>
        </p:txBody>
      </p:sp>
      <p:sp>
        <p:nvSpPr>
          <p:cNvPr id="3" name="">
            <a:extLst xmlns:a="http://schemas.openxmlformats.org/drawingml/2006/main">
              <a:ext uri="{FF2B5EF4-FFF2-40B4-BE49-F238E27FC236}">
                <a16:creationId xmlns:a16="http://schemas.microsoft.com/office/drawing/2014/main" id="{9996E6EE-0075-443B-BAB2-C987B86B9FC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extensor_physical_final; MATLAB Ext20mm_compare_20261022.png</a:t>
            </a:r>
          </a:p>
        </p:txBody>
      </p:sp>
      <p:sp>
        <p:nvSpPr>
          <p:cNvPr id="4" name="">
            <a:extLst xmlns:a="http://schemas.openxmlformats.org/drawingml/2006/main">
              <a:ext uri="{FF2B5EF4-FFF2-40B4-BE49-F238E27FC236}">
                <a16:creationId xmlns:a16="http://schemas.microsoft.com/office/drawing/2014/main" id="{BCCB91DF-D5F6-4874-91A6-19176A6E3F8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18</a:t>
            </a:r>
          </a:p>
        </p:txBody>
      </p:sp>
      <p:pic>
        <p:nvPicPr>
          <p:cNvPr id="5" name="">
            <a:extLst xmlns:a="http://schemas.openxmlformats.org/drawingml/2006/main">
              <a:ext uri="{FF2B5EF4-FFF2-40B4-BE49-F238E27FC236}">
                <a16:creationId xmlns:a16="http://schemas.microsoft.com/office/drawing/2014/main" id="{29C4908C-13B8-4B85-B5FF-A0F6A41DF18C}"/>
              </a:ext>
            </a:extLst>
          </p:cNvPr>
          <p:cNvPicPr>
            <a:picLocks xmlns:a="http://schemas.openxmlformats.org/drawingml/2006/main" noChangeAspect="1"/>
          </p:cNvPicPr>
          <p:nvPr/>
        </p:nvPicPr>
        <p:blipFill>
          <a:blip xmlns:r="http://schemas.openxmlformats.org/officeDocument/2006/relationships" xmlns:a="http://schemas.openxmlformats.org/drawingml/2006/main" r:embed="R36a98ca0d0e1434a"/>
          <a:stretch xmlns:a="http://schemas.openxmlformats.org/drawingml/2006/main"/>
        </p:blipFill>
        <p:spPr>
          <a:xfrm xmlns:a="http://schemas.openxmlformats.org/drawingml/2006/main">
            <a:off x="3478636" y="1476375"/>
            <a:ext cx="5234728"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E35818E-CB14-473D-BCBF-B2FBEAC596FA}"/>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Pressure varied between holds</a:t>
            </a:r>
          </a:p>
        </p:txBody>
      </p:sp>
    </p:spTree>
    <p:extLst>
      <p:ext uri="{BB962C8B-B14F-4D97-AF65-F5344CB8AC3E}">
        <p14:creationId xmlns:p14="http://schemas.microsoft.com/office/powerpoint/2010/main" val="180541082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52D199-3702-48C8-A008-5F62DE8DFFD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PHYSICAL EVIDENCE</a:t>
            </a:r>
          </a:p>
        </p:txBody>
      </p:sp>
      <p:sp>
        <p:nvSpPr>
          <p:cNvPr id="2" name="">
            <a:extLst xmlns:a="http://schemas.openxmlformats.org/drawingml/2006/main">
              <a:ext uri="{FF2B5EF4-FFF2-40B4-BE49-F238E27FC236}">
                <a16:creationId xmlns:a16="http://schemas.microsoft.com/office/drawing/2014/main" id="{9D84791E-DC62-4033-901C-848A19B9DD29}"/>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All 15 flexor holds meet or exceed the human muscle target</a:t>
            </a:r>
          </a:p>
        </p:txBody>
      </p:sp>
      <p:sp>
        <p:nvSpPr>
          <p:cNvPr id="3" name="">
            <a:extLst xmlns:a="http://schemas.openxmlformats.org/drawingml/2006/main">
              <a:ext uri="{FF2B5EF4-FFF2-40B4-BE49-F238E27FC236}">
                <a16:creationId xmlns:a16="http://schemas.microsoft.com/office/drawing/2014/main" id="{6320AA99-0F88-4281-B138-40C42C394690}"/>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MATLAB generator gen_Flx20mm_3panel_20261023.m</a:t>
            </a:r>
          </a:p>
        </p:txBody>
      </p:sp>
      <p:sp>
        <p:nvSpPr>
          <p:cNvPr id="4" name="">
            <a:extLst xmlns:a="http://schemas.openxmlformats.org/drawingml/2006/main">
              <a:ext uri="{FF2B5EF4-FFF2-40B4-BE49-F238E27FC236}">
                <a16:creationId xmlns:a16="http://schemas.microsoft.com/office/drawing/2014/main" id="{323EE9FA-47CF-457E-8092-3BE8D6EE1B7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19</a:t>
            </a:r>
          </a:p>
        </p:txBody>
      </p:sp>
      <p:pic>
        <p:nvPicPr>
          <p:cNvPr id="5" name="">
            <a:extLst xmlns:a="http://schemas.openxmlformats.org/drawingml/2006/main">
              <a:ext uri="{FF2B5EF4-FFF2-40B4-BE49-F238E27FC236}">
                <a16:creationId xmlns:a16="http://schemas.microsoft.com/office/drawing/2014/main" id="{AE531D46-25CA-4AFF-9D1F-85D82BA4DEF5}"/>
              </a:ext>
            </a:extLst>
          </p:cNvPr>
          <p:cNvPicPr>
            <a:picLocks xmlns:a="http://schemas.openxmlformats.org/drawingml/2006/main" noChangeAspect="1"/>
          </p:cNvPicPr>
          <p:nvPr/>
        </p:nvPicPr>
        <p:blipFill>
          <a:blip xmlns:r="http://schemas.openxmlformats.org/officeDocument/2006/relationships" xmlns:a="http://schemas.openxmlformats.org/drawingml/2006/main" r:embed="R736f4f864ec8433d"/>
          <a:stretch xmlns:a="http://schemas.openxmlformats.org/drawingml/2006/main"/>
        </p:blipFill>
        <p:spPr>
          <a:xfrm xmlns:a="http://schemas.openxmlformats.org/drawingml/2006/main">
            <a:off x="3089322" y="1476375"/>
            <a:ext cx="60133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E812D2C-076D-478B-A4B2-BEC1A4060CEE}"/>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15 holds at 226.5–638 kPa; margins +0.42 to +17.0 N·m</a:t>
            </a:r>
          </a:p>
        </p:txBody>
      </p:sp>
    </p:spTree>
    <p:extLst>
      <p:ext uri="{BB962C8B-B14F-4D97-AF65-F5344CB8AC3E}">
        <p14:creationId xmlns:p14="http://schemas.microsoft.com/office/powerpoint/2010/main" val="6054785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BBECC8-6EB5-4C9F-9B08-06C060F685F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ROUTE REDESIGN: REMAINING UNCERTAINTY</a:t>
            </a:r>
          </a:p>
        </p:txBody>
      </p:sp>
      <p:sp>
        <p:nvSpPr>
          <p:cNvPr id="2" name="">
            <a:extLst xmlns:a="http://schemas.openxmlformats.org/drawingml/2006/main">
              <a:ext uri="{FF2B5EF4-FFF2-40B4-BE49-F238E27FC236}">
                <a16:creationId xmlns:a16="http://schemas.microsoft.com/office/drawing/2014/main" id="{44CEE2B6-8405-4E2F-A4C8-29F8F002546D}"/>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corrected 620 kPa prediction still exceeds many measured flexor torques</a:t>
            </a:r>
          </a:p>
        </p:txBody>
      </p:sp>
      <p:sp>
        <p:nvSpPr>
          <p:cNvPr id="3" name="">
            <a:extLst xmlns:a="http://schemas.openxmlformats.org/drawingml/2006/main">
              <a:ext uri="{FF2B5EF4-FFF2-40B4-BE49-F238E27FC236}">
                <a16:creationId xmlns:a16="http://schemas.microsoft.com/office/drawing/2014/main" id="{2CFCEC88-B527-4339-BF45-086271B4639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panel B; unchanged MATLAB calculation</a:t>
            </a:r>
          </a:p>
        </p:txBody>
      </p:sp>
      <p:sp>
        <p:nvSpPr>
          <p:cNvPr id="4" name="">
            <a:extLst xmlns:a="http://schemas.openxmlformats.org/drawingml/2006/main">
              <a:ext uri="{FF2B5EF4-FFF2-40B4-BE49-F238E27FC236}">
                <a16:creationId xmlns:a16="http://schemas.microsoft.com/office/drawing/2014/main" id="{BB3724E6-CDF2-4765-8E53-0C60852FD5A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20</a:t>
            </a:r>
          </a:p>
        </p:txBody>
      </p:sp>
      <p:pic>
        <p:nvPicPr>
          <p:cNvPr id="5" name="">
            <a:extLst xmlns:a="http://schemas.openxmlformats.org/drawingml/2006/main">
              <a:ext uri="{FF2B5EF4-FFF2-40B4-BE49-F238E27FC236}">
                <a16:creationId xmlns:a16="http://schemas.microsoft.com/office/drawing/2014/main" id="{6E4A9AD9-29DA-48D5-9055-0A15E6CA786D}"/>
              </a:ext>
            </a:extLst>
          </p:cNvPr>
          <p:cNvPicPr>
            <a:picLocks xmlns:a="http://schemas.openxmlformats.org/drawingml/2006/main" noChangeAspect="1"/>
          </p:cNvPicPr>
          <p:nvPr/>
        </p:nvPicPr>
        <p:blipFill>
          <a:blip xmlns:r="http://schemas.openxmlformats.org/officeDocument/2006/relationships" xmlns:a="http://schemas.openxmlformats.org/drawingml/2006/main" r:embed="Rf83acf3e8ca24cd1"/>
          <a:stretch xmlns:a="http://schemas.openxmlformats.org/drawingml/2006/main"/>
        </p:blipFill>
        <p:spPr>
          <a:xfrm xmlns:a="http://schemas.openxmlformats.org/drawingml/2006/main">
            <a:off x="3089322" y="1476375"/>
            <a:ext cx="60133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AD4B4A5-B659-43E3-905C-9452506E8223}"/>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Fixed-pressure curves; variable-pressure measurements</a:t>
            </a:r>
          </a:p>
        </p:txBody>
      </p:sp>
    </p:spTree>
    <p:extLst>
      <p:ext uri="{BB962C8B-B14F-4D97-AF65-F5344CB8AC3E}">
        <p14:creationId xmlns:p14="http://schemas.microsoft.com/office/powerpoint/2010/main" val="117926760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39404A-CB49-4A35-B02B-5A5914BB9A8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SENSORY AFFERENT DATABASE: GAP AND CONTRIBUTION</a:t>
            </a:r>
          </a:p>
        </p:txBody>
      </p:sp>
      <p:sp>
        <p:nvSpPr>
          <p:cNvPr id="2" name="">
            <a:extLst xmlns:a="http://schemas.openxmlformats.org/drawingml/2006/main">
              <a:ext uri="{FF2B5EF4-FFF2-40B4-BE49-F238E27FC236}">
                <a16:creationId xmlns:a16="http://schemas.microsoft.com/office/drawing/2014/main" id="{7716725A-3492-403A-806B-6FEE262983B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SADb links sensory-feedback literature to inspectable source records</a:t>
            </a:r>
          </a:p>
        </p:txBody>
      </p:sp>
      <p:sp>
        <p:nvSpPr>
          <p:cNvPr id="3" name="">
            <a:extLst xmlns:a="http://schemas.openxmlformats.org/drawingml/2006/main">
              <a:ext uri="{FF2B5EF4-FFF2-40B4-BE49-F238E27FC236}">
                <a16:creationId xmlns:a16="http://schemas.microsoft.com/office/drawing/2014/main" id="{F0F18FD0-E1F6-4F07-861A-133E1FFE17F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5, The Resource; SADb application snapshot</a:t>
            </a:r>
          </a:p>
        </p:txBody>
      </p:sp>
      <p:sp>
        <p:nvSpPr>
          <p:cNvPr id="4" name="">
            <a:extLst xmlns:a="http://schemas.openxmlformats.org/drawingml/2006/main">
              <a:ext uri="{FF2B5EF4-FFF2-40B4-BE49-F238E27FC236}">
                <a16:creationId xmlns:a16="http://schemas.microsoft.com/office/drawing/2014/main" id="{1CFEC914-8E28-4903-A39D-26BE92FA233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21</a:t>
            </a:r>
          </a:p>
        </p:txBody>
      </p:sp>
      <p:pic>
        <p:nvPicPr>
          <p:cNvPr id="5" name="">
            <a:extLst xmlns:a="http://schemas.openxmlformats.org/drawingml/2006/main">
              <a:ext uri="{FF2B5EF4-FFF2-40B4-BE49-F238E27FC236}">
                <a16:creationId xmlns:a16="http://schemas.microsoft.com/office/drawing/2014/main" id="{2EA1F607-88CF-4795-B0AC-9A9AB08188FE}"/>
              </a:ext>
            </a:extLst>
          </p:cNvPr>
          <p:cNvPicPr>
            <a:picLocks xmlns:a="http://schemas.openxmlformats.org/drawingml/2006/main" noChangeAspect="1"/>
          </p:cNvPicPr>
          <p:nvPr/>
        </p:nvPicPr>
        <p:blipFill>
          <a:blip xmlns:r="http://schemas.openxmlformats.org/officeDocument/2006/relationships" xmlns:a="http://schemas.openxmlformats.org/drawingml/2006/main" r:embed="Re6b7ffbdd33d4262"/>
          <a:stretch xmlns:a="http://schemas.openxmlformats.org/drawingml/2006/main"/>
        </p:blipFill>
        <p:spPr>
          <a:xfrm xmlns:a="http://schemas.openxmlformats.org/drawingml/2006/main">
            <a:off x="1774472" y="1476375"/>
            <a:ext cx="8643056" cy="4762500"/>
          </a:xfrm>
          <a:prstGeom xmlns:a="http://schemas.openxmlformats.org/drawingml/2006/main" prst="rect">
            <a:avLst/>
          </a:prstGeom>
        </p:spPr>
      </p:pic>
    </p:spTree>
    <p:extLst>
      <p:ext uri="{BB962C8B-B14F-4D97-AF65-F5344CB8AC3E}">
        <p14:creationId xmlns:p14="http://schemas.microsoft.com/office/powerpoint/2010/main" val="11004083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7CCBA8-6AC4-45F7-B4B0-B1DF46364892}"/>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SENSORY AFFERENT DATABASE: USE AND LIMITS</a:t>
            </a:r>
          </a:p>
        </p:txBody>
      </p:sp>
      <p:sp>
        <p:nvSpPr>
          <p:cNvPr id="2" name="">
            <a:extLst xmlns:a="http://schemas.openxmlformats.org/drawingml/2006/main">
              <a:ext uri="{FF2B5EF4-FFF2-40B4-BE49-F238E27FC236}">
                <a16:creationId xmlns:a16="http://schemas.microsoft.com/office/drawing/2014/main" id="{CFF7E946-80DA-4F52-999F-54B97159E970}"/>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SADb exposes classification coverage without supplying controller gains</a:t>
            </a:r>
          </a:p>
        </p:txBody>
      </p:sp>
      <p:sp>
        <p:nvSpPr>
          <p:cNvPr id="3" name="">
            <a:extLst xmlns:a="http://schemas.openxmlformats.org/drawingml/2006/main">
              <a:ext uri="{FF2B5EF4-FFF2-40B4-BE49-F238E27FC236}">
                <a16:creationId xmlns:a16="http://schemas.microsoft.com/office/drawing/2014/main" id="{D2E9FC52-4343-44D7-947E-CD6100CFB752}"/>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5, Fig. sadb_pivot and Use in Neural-Controller Design</a:t>
            </a:r>
          </a:p>
        </p:txBody>
      </p:sp>
      <p:sp>
        <p:nvSpPr>
          <p:cNvPr id="4" name="">
            <a:extLst xmlns:a="http://schemas.openxmlformats.org/drawingml/2006/main">
              <a:ext uri="{FF2B5EF4-FFF2-40B4-BE49-F238E27FC236}">
                <a16:creationId xmlns:a16="http://schemas.microsoft.com/office/drawing/2014/main" id="{1DD726B3-9262-486E-9F88-57277BEDE50C}"/>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22</a:t>
            </a:r>
          </a:p>
        </p:txBody>
      </p:sp>
      <p:pic>
        <p:nvPicPr>
          <p:cNvPr id="5" name="">
            <a:extLst xmlns:a="http://schemas.openxmlformats.org/drawingml/2006/main">
              <a:ext uri="{FF2B5EF4-FFF2-40B4-BE49-F238E27FC236}">
                <a16:creationId xmlns:a16="http://schemas.microsoft.com/office/drawing/2014/main" id="{4AB82896-84B3-4A2D-B94D-BDB32683B2EC}"/>
              </a:ext>
            </a:extLst>
          </p:cNvPr>
          <p:cNvPicPr>
            <a:picLocks xmlns:a="http://schemas.openxmlformats.org/drawingml/2006/main" noChangeAspect="1"/>
          </p:cNvPicPr>
          <p:nvPr/>
        </p:nvPicPr>
        <p:blipFill>
          <a:blip xmlns:r="http://schemas.openxmlformats.org/officeDocument/2006/relationships" xmlns:a="http://schemas.openxmlformats.org/drawingml/2006/main" r:embed="R42b13042936348ff"/>
          <a:stretch xmlns:a="http://schemas.openxmlformats.org/drawingml/2006/main"/>
        </p:blipFill>
        <p:spPr>
          <a:xfrm xmlns:a="http://schemas.openxmlformats.org/drawingml/2006/main">
            <a:off x="1346372" y="1476375"/>
            <a:ext cx="9499257"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9F13983-659B-47A1-8963-DA959FB50B37}"/>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Tagged papers retain their experimental context</a:t>
            </a:r>
          </a:p>
        </p:txBody>
      </p:sp>
    </p:spTree>
    <p:extLst>
      <p:ext uri="{BB962C8B-B14F-4D97-AF65-F5344CB8AC3E}">
        <p14:creationId xmlns:p14="http://schemas.microsoft.com/office/powerpoint/2010/main" val="73122287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921AC2-BEB5-467F-9D10-BF1C55779D8F}"/>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MOTIVATING LIMITATION</a:t>
            </a:r>
          </a:p>
        </p:txBody>
      </p:sp>
      <p:sp>
        <p:nvSpPr>
          <p:cNvPr id="2" name="">
            <a:extLst xmlns:a="http://schemas.openxmlformats.org/drawingml/2006/main">
              <a:ext uri="{FF2B5EF4-FFF2-40B4-BE49-F238E27FC236}">
                <a16:creationId xmlns:a16="http://schemas.microsoft.com/office/drawing/2014/main" id="{ECF9CC0F-71CD-4F3F-B5D0-E59E220392FA}"/>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initial one-RG AnimatLab model produced suspended stepping</a:t>
            </a:r>
          </a:p>
        </p:txBody>
      </p:sp>
      <p:sp>
        <p:nvSpPr>
          <p:cNvPr id="3" name="">
            <a:extLst xmlns:a="http://schemas.openxmlformats.org/drawingml/2006/main">
              <a:ext uri="{FF2B5EF4-FFF2-40B4-BE49-F238E27FC236}">
                <a16:creationId xmlns:a16="http://schemas.microsoft.com/office/drawing/2014/main" id="{002DA326-2DD7-47BB-BDEA-FEF57681E49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The AnimatLab Bipedal Walker; Li (2017), Deng (2019), Bolen (2021)</a:t>
            </a:r>
          </a:p>
        </p:txBody>
      </p:sp>
      <p:sp>
        <p:nvSpPr>
          <p:cNvPr id="4" name="">
            <a:extLst xmlns:a="http://schemas.openxmlformats.org/drawingml/2006/main">
              <a:ext uri="{FF2B5EF4-FFF2-40B4-BE49-F238E27FC236}">
                <a16:creationId xmlns:a16="http://schemas.microsoft.com/office/drawing/2014/main" id="{48CF1B22-8E56-4312-8490-1B09204F0968}"/>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23</a:t>
            </a:r>
          </a:p>
        </p:txBody>
      </p:sp>
      <p:pic>
        <p:nvPicPr>
          <p:cNvPr id="5" name="">
            <a:extLst xmlns:a="http://schemas.openxmlformats.org/drawingml/2006/main">
              <a:ext uri="{FF2B5EF4-FFF2-40B4-BE49-F238E27FC236}">
                <a16:creationId xmlns:a16="http://schemas.microsoft.com/office/drawing/2014/main" id="{7B2D09D4-5E3F-4F9A-857E-16968CCD0378}"/>
              </a:ext>
            </a:extLst>
          </p:cNvPr>
          <p:cNvPicPr>
            <a:picLocks xmlns:a="http://schemas.openxmlformats.org/drawingml/2006/main" noChangeAspect="1"/>
          </p:cNvPicPr>
          <p:nvPr/>
        </p:nvPicPr>
        <p:blipFill>
          <a:blip xmlns:r="http://schemas.openxmlformats.org/officeDocument/2006/relationships" xmlns:a="http://schemas.openxmlformats.org/drawingml/2006/main" r:embed="R67550707a3fd4c52"/>
          <a:stretch xmlns:a="http://schemas.openxmlformats.org/drawingml/2006/main"/>
        </p:blipFill>
        <p:spPr>
          <a:xfrm xmlns:a="http://schemas.openxmlformats.org/drawingml/2006/main">
            <a:off x="381000" y="2267769"/>
            <a:ext cx="5572125" cy="2989213"/>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2EC67E7F-8D74-4EDA-9799-5AA95234A68A}"/>
              </a:ext>
            </a:extLst>
          </p:cNvPr>
          <p:cNvPicPr>
            <a:picLocks xmlns:a="http://schemas.openxmlformats.org/drawingml/2006/main" noChangeAspect="1"/>
          </p:cNvPicPr>
          <p:nvPr/>
        </p:nvPicPr>
        <p:blipFill>
          <a:blip xmlns:r="http://schemas.openxmlformats.org/officeDocument/2006/relationships" xmlns:a="http://schemas.openxmlformats.org/drawingml/2006/main" r:embed="Rf1f2745378d5472a"/>
          <a:stretch xmlns:a="http://schemas.openxmlformats.org/drawingml/2006/main"/>
        </p:blipFill>
        <p:spPr>
          <a:xfrm xmlns:a="http://schemas.openxmlformats.org/drawingml/2006/main">
            <a:off x="6592661" y="1666875"/>
            <a:ext cx="4864554"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FBFB9D0-8F25-4BF2-A149-E4B0115F67AC}"/>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Initial mechanics and controller integration</a:t>
            </a:r>
          </a:p>
        </p:txBody>
      </p:sp>
      <p:sp>
        <p:nvSpPr>
          <p:cNvPr id="8" name="">
            <a:extLst xmlns:a="http://schemas.openxmlformats.org/drawingml/2006/main">
              <a:ext uri="{FF2B5EF4-FFF2-40B4-BE49-F238E27FC236}">
                <a16:creationId xmlns:a16="http://schemas.microsoft.com/office/drawing/2014/main" id="{B4B60BE8-F4B5-4922-A925-EA2B6CE74ACD}"/>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Suspended joint motion</a:t>
            </a:r>
          </a:p>
        </p:txBody>
      </p:sp>
    </p:spTree>
    <p:extLst>
      <p:ext uri="{BB962C8B-B14F-4D97-AF65-F5344CB8AC3E}">
        <p14:creationId xmlns:p14="http://schemas.microsoft.com/office/powerpoint/2010/main" val="13365023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E6EBE6C-CE53-45AA-82EA-242F47068E14}"/>
              </a:ext>
            </a:extLst>
          </p:cNvPr>
          <p:cNvCxnSpPr>
            <a:stCxn xmlns:a="http://schemas.openxmlformats.org/drawingml/2006/main" id="6" idx="2"/>
            <a:endCxn xmlns:a="http://schemas.openxmlformats.org/drawingml/2006/main" id="8" idx="0"/>
          </p:cNvCxnSpPr>
          <p:nvPr/>
        </p:nvCxnSpPr>
        <p:spPr>
          <a:xfrm xmlns:a="http://schemas.openxmlformats.org/drawingml/2006/main">
            <a:off x="9334500" y="2857500"/>
            <a:ext cx="0" cy="1190625"/>
          </a:xfrm>
          <a:prstGeom xmlns:a="http://schemas.openxmlformats.org/drawingml/2006/main" prst="straightConnector1">
            <a:avLst/>
          </a:prstGeom>
          <a:ln xmlns:a="http://schemas.openxmlformats.org/drawingml/2006/main" w="28575">
            <a:solidFill>
              <a:srgbClr val="00796B"/>
            </a:solidFill>
            <a:headEnd type="arrow" w="med" len="med"/>
          </a:ln>
        </p:spPr>
      </p:cxnSp>
      <p:cxnSp>
        <p:nvCxnSpPr>
          <p:cNvPr id="10" name="">
            <a:extLst xmlns:a="http://schemas.openxmlformats.org/drawingml/2006/main">
              <a:ext uri="{FF2B5EF4-FFF2-40B4-BE49-F238E27FC236}">
                <a16:creationId xmlns:a16="http://schemas.microsoft.com/office/drawing/2014/main" id="{9F91A294-98F5-4E6F-B561-86062F28D3DE}"/>
              </a:ext>
            </a:extLst>
          </p:cNvPr>
          <p:cNvCxnSpPr>
            <a:stCxn xmlns:a="http://schemas.openxmlformats.org/drawingml/2006/main" id="5" idx="2"/>
            <a:endCxn xmlns:a="http://schemas.openxmlformats.org/drawingml/2006/main" id="7" idx="0"/>
          </p:cNvCxnSpPr>
          <p:nvPr/>
        </p:nvCxnSpPr>
        <p:spPr>
          <a:xfrm xmlns:a="http://schemas.openxmlformats.org/drawingml/2006/main">
            <a:off x="2857500" y="2857500"/>
            <a:ext cx="0" cy="1190625"/>
          </a:xfrm>
          <a:prstGeom xmlns:a="http://schemas.openxmlformats.org/drawingml/2006/main" prst="straightConnector1">
            <a:avLst/>
          </a:prstGeom>
          <a:ln xmlns:a="http://schemas.openxmlformats.org/drawingml/2006/main" w="28575">
            <a:solidFill>
              <a:srgbClr val="00796B"/>
            </a:solidFill>
            <a:headEnd type="arrow" w="med" len="med"/>
          </a:ln>
        </p:spPr>
      </p:cxnSp>
      <p:cxnSp>
        <p:nvCxnSpPr>
          <p:cNvPr id="9" name="">
            <a:extLst xmlns:a="http://schemas.openxmlformats.org/drawingml/2006/main">
              <a:ext uri="{FF2B5EF4-FFF2-40B4-BE49-F238E27FC236}">
                <a16:creationId xmlns:a16="http://schemas.microsoft.com/office/drawing/2014/main" id="{3BC0F0EF-5633-4304-A0E7-3096C6A066CD}"/>
              </a:ext>
            </a:extLst>
          </p:cNvPr>
          <p:cNvCxnSpPr>
            <a:stCxn xmlns:a="http://schemas.openxmlformats.org/drawingml/2006/main" id="5" idx="3"/>
            <a:endCxn xmlns:a="http://schemas.openxmlformats.org/drawingml/2006/main" id="6" idx="1"/>
          </p:cNvCxnSpPr>
          <p:nvPr/>
        </p:nvCxnSpPr>
        <p:spPr>
          <a:xfrm xmlns:a="http://schemas.openxmlformats.org/drawingml/2006/main">
            <a:off x="4857750" y="2428875"/>
            <a:ext cx="2476500" cy="0"/>
          </a:xfrm>
          <a:prstGeom xmlns:a="http://schemas.openxmlformats.org/drawingml/2006/main" prst="straightConnector1">
            <a:avLst/>
          </a:prstGeom>
          <a:ln xmlns:a="http://schemas.openxmlformats.org/drawingml/2006/main" w="28575">
            <a:solidFill>
              <a:srgbClr val="00796B"/>
            </a:solidFill>
            <a:headEnd type="arrow" w="med" len="med"/>
          </a:ln>
        </p:spPr>
      </p:cxnSp>
      <p:sp>
        <p:nvSpPr>
          <p:cNvPr id="14" name="">
            <a:extLst xmlns:a="http://schemas.openxmlformats.org/drawingml/2006/main">
              <a:ext uri="{FF2B5EF4-FFF2-40B4-BE49-F238E27FC236}">
                <a16:creationId xmlns:a16="http://schemas.microsoft.com/office/drawing/2014/main" id="{37D31216-8F64-4BC9-95CC-FC350687BE4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DISTINCT CONTRIBUTION</a:t>
            </a:r>
          </a:p>
        </p:txBody>
      </p:sp>
      <p:sp>
        <p:nvSpPr>
          <p:cNvPr id="2" name="">
            <a:extLst xmlns:a="http://schemas.openxmlformats.org/drawingml/2006/main">
              <a:ext uri="{FF2B5EF4-FFF2-40B4-BE49-F238E27FC236}">
                <a16:creationId xmlns:a16="http://schemas.microsoft.com/office/drawing/2014/main" id="{E32401EF-0178-4EA7-89FD-C05BBEF765B4}"/>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I later extended the controller into interconnected left and right RGs</a:t>
            </a:r>
          </a:p>
        </p:txBody>
      </p:sp>
      <p:sp>
        <p:nvSpPr>
          <p:cNvPr id="3" name="">
            <a:extLst xmlns:a="http://schemas.openxmlformats.org/drawingml/2006/main">
              <a:ext uri="{FF2B5EF4-FFF2-40B4-BE49-F238E27FC236}">
                <a16:creationId xmlns:a16="http://schemas.microsoft.com/office/drawing/2014/main" id="{BFCF19DC-A041-4306-92B9-E47AFB314DDD}"/>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The AnimatLab Bipedal Walker</a:t>
            </a:r>
          </a:p>
        </p:txBody>
      </p:sp>
      <p:sp>
        <p:nvSpPr>
          <p:cNvPr id="4" name="">
            <a:extLst xmlns:a="http://schemas.openxmlformats.org/drawingml/2006/main">
              <a:ext uri="{FF2B5EF4-FFF2-40B4-BE49-F238E27FC236}">
                <a16:creationId xmlns:a16="http://schemas.microsoft.com/office/drawing/2014/main" id="{04EB35B7-753F-4821-81B1-6D7433401E1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24</a:t>
            </a:r>
          </a:p>
        </p:txBody>
      </p:sp>
      <p:sp>
        <p:nvSpPr>
          <p:cNvPr id="5" name="">
            <a:extLst xmlns:a="http://schemas.openxmlformats.org/drawingml/2006/main">
              <a:ext uri="{FF2B5EF4-FFF2-40B4-BE49-F238E27FC236}">
                <a16:creationId xmlns:a16="http://schemas.microsoft.com/office/drawing/2014/main" id="{50F94A27-5915-4AF4-B9BB-3217590ADBC2}"/>
              </a:ext>
            </a:extLst>
          </p:cNvPr>
          <p:cNvSpPr>
            <a:spLocks xmlns:a="http://schemas.openxmlformats.org/drawingml/2006/main" noGrp="1"/>
          </p:cNvSpPr>
          <p:nvPr/>
        </p:nvSpPr>
        <p:spPr>
          <a:xfrm xmlns:a="http://schemas.openxmlformats.org/drawingml/2006/main">
            <a:off x="857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Left rhythm generator</a:t>
            </a:r>
          </a:p>
        </p:txBody>
      </p:sp>
      <p:sp>
        <p:nvSpPr>
          <p:cNvPr id="6" name="">
            <a:extLst xmlns:a="http://schemas.openxmlformats.org/drawingml/2006/main">
              <a:ext uri="{FF2B5EF4-FFF2-40B4-BE49-F238E27FC236}">
                <a16:creationId xmlns:a16="http://schemas.microsoft.com/office/drawing/2014/main" id="{D5F9A161-6E44-42BD-A381-2538C9978C10}"/>
              </a:ext>
            </a:extLst>
          </p:cNvPr>
          <p:cNvSpPr>
            <a:spLocks xmlns:a="http://schemas.openxmlformats.org/drawingml/2006/main" noGrp="1"/>
          </p:cNvSpPr>
          <p:nvPr/>
        </p:nvSpPr>
        <p:spPr>
          <a:xfrm xmlns:a="http://schemas.openxmlformats.org/drawingml/2006/main">
            <a:off x="7334250" y="2000250"/>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Right rhythm generator</a:t>
            </a:r>
          </a:p>
        </p:txBody>
      </p:sp>
      <p:sp>
        <p:nvSpPr>
          <p:cNvPr id="7" name="">
            <a:extLst xmlns:a="http://schemas.openxmlformats.org/drawingml/2006/main">
              <a:ext uri="{FF2B5EF4-FFF2-40B4-BE49-F238E27FC236}">
                <a16:creationId xmlns:a16="http://schemas.microsoft.com/office/drawing/2014/main" id="{A0B43005-4E6C-4507-BDB0-BC63566C1788}"/>
              </a:ext>
            </a:extLst>
          </p:cNvPr>
          <p:cNvSpPr>
            <a:spLocks xmlns:a="http://schemas.openxmlformats.org/drawingml/2006/main" noGrp="1"/>
          </p:cNvSpPr>
          <p:nvPr/>
        </p:nvSpPr>
        <p:spPr>
          <a:xfrm xmlns:a="http://schemas.openxmlformats.org/drawingml/2006/main">
            <a:off x="857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Left pattern formation</a:t>
            </a:r>
          </a:p>
        </p:txBody>
      </p:sp>
      <p:sp>
        <p:nvSpPr>
          <p:cNvPr id="8" name="">
            <a:extLst xmlns:a="http://schemas.openxmlformats.org/drawingml/2006/main">
              <a:ext uri="{FF2B5EF4-FFF2-40B4-BE49-F238E27FC236}">
                <a16:creationId xmlns:a16="http://schemas.microsoft.com/office/drawing/2014/main" id="{400E0089-5846-4A9A-9B1F-E788614251C0}"/>
              </a:ext>
            </a:extLst>
          </p:cNvPr>
          <p:cNvSpPr>
            <a:spLocks xmlns:a="http://schemas.openxmlformats.org/drawingml/2006/main" noGrp="1"/>
          </p:cNvSpPr>
          <p:nvPr/>
        </p:nvSpPr>
        <p:spPr>
          <a:xfrm xmlns:a="http://schemas.openxmlformats.org/drawingml/2006/main">
            <a:off x="7334250" y="4048125"/>
            <a:ext cx="40005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00796B"/>
            </a:solidFill>
          </a:ln>
        </p:spPr>
        <p:txBody>
          <a:bodyPr xmlns:a="http://schemas.openxmlformats.org/drawingml/2006/main"/>
          <a:lstStyle xmlns:a="http://schemas.openxmlformats.org/drawingml/2006/main">
            <a:defPPr algn="ctr">
              <a:defRPr sz="2175" b="1">
                <a:solidFill>
                  <a:srgbClr val="222222"/>
                </a:solidFill>
              </a:defRPr>
            </a:defPPr>
            <a:lvl1pPr algn="ctr">
              <a:defRPr sz="2175" b="1">
                <a:solidFill>
                  <a:srgbClr val="222222"/>
                </a:solidFill>
              </a:defRPr>
            </a:lvl1pPr>
            <a:lvl2pPr algn="ctr">
              <a:defRPr sz="2175" b="1">
                <a:solidFill>
                  <a:srgbClr val="222222"/>
                </a:solidFill>
              </a:defRPr>
            </a:lvl2pPr>
            <a:lvl3pPr algn="ctr">
              <a:defRPr sz="2175" b="1">
                <a:solidFill>
                  <a:srgbClr val="222222"/>
                </a:solidFill>
              </a:defRPr>
            </a:lvl3pPr>
            <a:lvl4pPr algn="ctr">
              <a:defRPr sz="2175" b="1">
                <a:solidFill>
                  <a:srgbClr val="222222"/>
                </a:solidFill>
              </a:defRPr>
            </a:lvl4pPr>
            <a:lvl5pPr algn="ctr">
              <a:defRPr sz="2175" b="1">
                <a:solidFill>
                  <a:srgbClr val="222222"/>
                </a:solidFill>
              </a:defRPr>
            </a:lvl5pPr>
            <a:lvl6pPr algn="ctr">
              <a:defRPr sz="2175" b="1">
                <a:solidFill>
                  <a:srgbClr val="222222"/>
                </a:solidFill>
              </a:defRPr>
            </a:lvl6pPr>
            <a:lvl7pPr algn="ctr">
              <a:defRPr sz="2175" b="1">
                <a:solidFill>
                  <a:srgbClr val="222222"/>
                </a:solidFill>
              </a:defRPr>
            </a:lvl7pPr>
            <a:lvl8pPr algn="ctr">
              <a:defRPr sz="2175" b="1">
                <a:solidFill>
                  <a:srgbClr val="222222"/>
                </a:solidFill>
              </a:defRPr>
            </a:lvl8pPr>
            <a:lvl9pPr algn="ctr">
              <a:defRPr sz="2175" b="1">
                <a:solidFill>
                  <a:srgbClr val="222222"/>
                </a:solidFill>
              </a:defRPr>
            </a:lvl9pPr>
          </a:lstStyle>
          <a:p xmlns:a="http://schemas.openxmlformats.org/drawingml/2006/main">
            <a:pPr algn="ctr">
              <a:defRPr sz="2175" b="1">
                <a:solidFill>
                  <a:srgbClr val="222222"/>
                </a:solidFill>
              </a:defRPr>
            </a:pPr>
            <a:r>
              <a:rPr sz="2175" b="1">
                <a:solidFill>
                  <a:srgbClr val="222222"/>
                </a:solidFill>
              </a:rPr>
              <a:t>Right pattern formation</a:t>
            </a:r>
          </a:p>
        </p:txBody>
      </p:sp>
      <p:sp>
        <p:nvSpPr>
          <p:cNvPr id="12" name="">
            <a:extLst xmlns:a="http://schemas.openxmlformats.org/drawingml/2006/main">
              <a:ext uri="{FF2B5EF4-FFF2-40B4-BE49-F238E27FC236}">
                <a16:creationId xmlns:a16="http://schemas.microsoft.com/office/drawing/2014/main" id="{49591BFD-3594-4F2A-B165-F0C0BE6D7948}"/>
              </a:ext>
            </a:extLst>
          </p:cNvPr>
          <p:cNvSpPr>
            <a:spLocks xmlns:a="http://schemas.openxmlformats.org/drawingml/2006/main" noGrp="1"/>
          </p:cNvSpPr>
          <p:nvPr/>
        </p:nvSpPr>
        <p:spPr>
          <a:xfrm xmlns:a="http://schemas.openxmlformats.org/drawingml/2006/main">
            <a:off x="4476750" y="30956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Commissural pathways</a:t>
            </a:r>
          </a:p>
        </p:txBody>
      </p:sp>
      <p:sp>
        <p:nvSpPr>
          <p:cNvPr id="13" name="">
            <a:extLst xmlns:a="http://schemas.openxmlformats.org/drawingml/2006/main">
              <a:ext uri="{FF2B5EF4-FFF2-40B4-BE49-F238E27FC236}">
                <a16:creationId xmlns:a16="http://schemas.microsoft.com/office/drawing/2014/main" id="{78B7957A-E310-443B-B352-CC097233C2D6}"/>
              </a:ext>
            </a:extLst>
          </p:cNvPr>
          <p:cNvSpPr>
            <a:spLocks xmlns:a="http://schemas.openxmlformats.org/drawingml/2006/main" noGrp="1"/>
          </p:cNvSpPr>
          <p:nvPr/>
        </p:nvSpPr>
        <p:spPr>
          <a:xfrm xmlns:a="http://schemas.openxmlformats.org/drawingml/2006/main">
            <a:off x="76200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0796B"/>
                </a:solidFill>
              </a:defRPr>
            </a:defPPr>
            <a:lvl1pPr>
              <a:defRPr sz="2175" b="1">
                <a:solidFill>
                  <a:srgbClr val="00796B"/>
                </a:solidFill>
              </a:defRPr>
            </a:lvl1pPr>
            <a:lvl2pPr>
              <a:defRPr sz="2175" b="1">
                <a:solidFill>
                  <a:srgbClr val="00796B"/>
                </a:solidFill>
              </a:defRPr>
            </a:lvl2pPr>
            <a:lvl3pPr>
              <a:defRPr sz="2175" b="1">
                <a:solidFill>
                  <a:srgbClr val="00796B"/>
                </a:solidFill>
              </a:defRPr>
            </a:lvl3pPr>
            <a:lvl4pPr>
              <a:defRPr sz="2175" b="1">
                <a:solidFill>
                  <a:srgbClr val="00796B"/>
                </a:solidFill>
              </a:defRPr>
            </a:lvl4pPr>
            <a:lvl5pPr>
              <a:defRPr sz="2175" b="1">
                <a:solidFill>
                  <a:srgbClr val="00796B"/>
                </a:solidFill>
              </a:defRPr>
            </a:lvl5pPr>
            <a:lvl6pPr>
              <a:defRPr sz="2175" b="1">
                <a:solidFill>
                  <a:srgbClr val="00796B"/>
                </a:solidFill>
              </a:defRPr>
            </a:lvl6pPr>
            <a:lvl7pPr>
              <a:defRPr sz="2175" b="1">
                <a:solidFill>
                  <a:srgbClr val="00796B"/>
                </a:solidFill>
              </a:defRPr>
            </a:lvl7pPr>
            <a:lvl8pPr>
              <a:defRPr sz="2175" b="1">
                <a:solidFill>
                  <a:srgbClr val="00796B"/>
                </a:solidFill>
              </a:defRPr>
            </a:lvl8pPr>
            <a:lvl9pPr>
              <a:defRPr sz="2175" b="1">
                <a:solidFill>
                  <a:srgbClr val="00796B"/>
                </a:solidFill>
              </a:defRPr>
            </a:lvl9pPr>
          </a:lstStyle>
          <a:p xmlns:a="http://schemas.openxmlformats.org/drawingml/2006/main">
            <a:pPr>
              <a:defRPr sz="2175" b="1">
                <a:solidFill>
                  <a:srgbClr val="00796B"/>
                </a:solidFill>
              </a:defRPr>
            </a:pPr>
            <a:r>
              <a:rPr sz="2175" b="1">
                <a:solidFill>
                  <a:srgbClr val="00796B"/>
                </a:solidFill>
              </a:rPr>
              <a:t>Conceptual architecture; walking remains unverified</a:t>
            </a:r>
          </a:p>
        </p:txBody>
      </p:sp>
    </p:spTree>
    <p:extLst>
      <p:ext uri="{BB962C8B-B14F-4D97-AF65-F5344CB8AC3E}">
        <p14:creationId xmlns:p14="http://schemas.microsoft.com/office/powerpoint/2010/main" val="18855401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048BD5-BD7F-417A-93A2-25AFD404D323}"/>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TOOL CONTRIBUTION</a:t>
            </a:r>
          </a:p>
        </p:txBody>
      </p:sp>
      <p:sp>
        <p:nvSpPr>
          <p:cNvPr id="2" name="">
            <a:extLst xmlns:a="http://schemas.openxmlformats.org/drawingml/2006/main">
              <a:ext uri="{FF2B5EF4-FFF2-40B4-BE49-F238E27FC236}">
                <a16:creationId xmlns:a16="http://schemas.microsoft.com/office/drawing/2014/main" id="{F8721246-8F2E-4B72-9564-BD9B66B466E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My interfaces connect existing mechanics and neural formulations</a:t>
            </a:r>
          </a:p>
        </p:txBody>
      </p:sp>
      <p:sp>
        <p:nvSpPr>
          <p:cNvPr id="3" name="">
            <a:extLst xmlns:a="http://schemas.openxmlformats.org/drawingml/2006/main">
              <a:ext uri="{FF2B5EF4-FFF2-40B4-BE49-F238E27FC236}">
                <a16:creationId xmlns:a16="http://schemas.microsoft.com/office/drawing/2014/main" id="{35C7D6C1-B238-4822-BB1C-8E65C69E80EB}"/>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Model Conversion and Graphical Circuit Construction</a:t>
            </a:r>
          </a:p>
        </p:txBody>
      </p:sp>
      <p:sp>
        <p:nvSpPr>
          <p:cNvPr id="4" name="">
            <a:extLst xmlns:a="http://schemas.openxmlformats.org/drawingml/2006/main">
              <a:ext uri="{FF2B5EF4-FFF2-40B4-BE49-F238E27FC236}">
                <a16:creationId xmlns:a16="http://schemas.microsoft.com/office/drawing/2014/main" id="{F389F625-DFA4-4391-9FA4-39B643008F3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25</a:t>
            </a:r>
          </a:p>
        </p:txBody>
      </p:sp>
      <p:pic>
        <p:nvPicPr>
          <p:cNvPr id="5" name="">
            <a:extLst xmlns:a="http://schemas.openxmlformats.org/drawingml/2006/main">
              <a:ext uri="{FF2B5EF4-FFF2-40B4-BE49-F238E27FC236}">
                <a16:creationId xmlns:a16="http://schemas.microsoft.com/office/drawing/2014/main" id="{A0BB382F-3FAB-4622-B84B-2AAC9CA3C49A}"/>
              </a:ext>
            </a:extLst>
          </p:cNvPr>
          <p:cNvPicPr>
            <a:picLocks xmlns:a="http://schemas.openxmlformats.org/drawingml/2006/main" noChangeAspect="1"/>
          </p:cNvPicPr>
          <p:nvPr/>
        </p:nvPicPr>
        <p:blipFill>
          <a:blip xmlns:r="http://schemas.openxmlformats.org/officeDocument/2006/relationships" xmlns:a="http://schemas.openxmlformats.org/drawingml/2006/main" r:embed="Rea5c75e0820140c1"/>
          <a:stretch xmlns:a="http://schemas.openxmlformats.org/drawingml/2006/main"/>
        </p:blipFill>
        <p:spPr>
          <a:xfrm xmlns:a="http://schemas.openxmlformats.org/drawingml/2006/main">
            <a:off x="1770063" y="1666875"/>
            <a:ext cx="2794000" cy="4191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DC6E677-7B44-4559-94BF-0C34432DDF27}"/>
              </a:ext>
            </a:extLst>
          </p:cNvPr>
          <p:cNvPicPr>
            <a:picLocks xmlns:a="http://schemas.openxmlformats.org/drawingml/2006/main" noChangeAspect="1"/>
          </p:cNvPicPr>
          <p:nvPr/>
        </p:nvPicPr>
        <p:blipFill>
          <a:blip xmlns:r="http://schemas.openxmlformats.org/officeDocument/2006/relationships" xmlns:a="http://schemas.openxmlformats.org/drawingml/2006/main" r:embed="R3c1732d6bb1046cf"/>
          <a:stretch xmlns:a="http://schemas.openxmlformats.org/drawingml/2006/main"/>
        </p:blipFill>
        <p:spPr>
          <a:xfrm xmlns:a="http://schemas.openxmlformats.org/drawingml/2006/main">
            <a:off x="6238875" y="1874518"/>
            <a:ext cx="5572125" cy="37757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B96D344-061D-4846-8A7D-FAB457296896}"/>
              </a:ext>
            </a:extLst>
          </p:cNvPr>
          <p:cNvSpPr>
            <a:spLocks xmlns:a="http://schemas.openxmlformats.org/drawingml/2006/main" noGrp="1"/>
          </p:cNvSpPr>
          <p:nvPr/>
        </p:nvSpPr>
        <p:spPr>
          <a:xfrm xmlns:a="http://schemas.openxmlformats.org/drawingml/2006/main">
            <a:off x="476250"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Repaired and audited model coupling</a:t>
            </a:r>
          </a:p>
        </p:txBody>
      </p:sp>
      <p:sp>
        <p:nvSpPr>
          <p:cNvPr id="8" name="">
            <a:extLst xmlns:a="http://schemas.openxmlformats.org/drawingml/2006/main">
              <a:ext uri="{FF2B5EF4-FFF2-40B4-BE49-F238E27FC236}">
                <a16:creationId xmlns:a16="http://schemas.microsoft.com/office/drawing/2014/main" id="{CC05C9A0-5CAA-4D9B-94A8-71857C55474B}"/>
              </a:ext>
            </a:extLst>
          </p:cNvPr>
          <p:cNvSpPr>
            <a:spLocks xmlns:a="http://schemas.openxmlformats.org/drawingml/2006/main" noGrp="1"/>
          </p:cNvSpPr>
          <p:nvPr/>
        </p:nvSpPr>
        <p:spPr>
          <a:xfrm xmlns:a="http://schemas.openxmlformats.org/drawingml/2006/main">
            <a:off x="6334125" y="5915025"/>
            <a:ext cx="538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00796B"/>
                </a:solidFill>
              </a:defRPr>
            </a:defPPr>
            <a:lvl1pPr>
              <a:defRPr sz="1875" b="1">
                <a:solidFill>
                  <a:srgbClr val="00796B"/>
                </a:solidFill>
              </a:defRPr>
            </a:lvl1pPr>
            <a:lvl2pPr>
              <a:defRPr sz="1875" b="1">
                <a:solidFill>
                  <a:srgbClr val="00796B"/>
                </a:solidFill>
              </a:defRPr>
            </a:lvl2pPr>
            <a:lvl3pPr>
              <a:defRPr sz="1875" b="1">
                <a:solidFill>
                  <a:srgbClr val="00796B"/>
                </a:solidFill>
              </a:defRPr>
            </a:lvl3pPr>
            <a:lvl4pPr>
              <a:defRPr sz="1875" b="1">
                <a:solidFill>
                  <a:srgbClr val="00796B"/>
                </a:solidFill>
              </a:defRPr>
            </a:lvl4pPr>
            <a:lvl5pPr>
              <a:defRPr sz="1875" b="1">
                <a:solidFill>
                  <a:srgbClr val="00796B"/>
                </a:solidFill>
              </a:defRPr>
            </a:lvl5pPr>
            <a:lvl6pPr>
              <a:defRPr sz="1875" b="1">
                <a:solidFill>
                  <a:srgbClr val="00796B"/>
                </a:solidFill>
              </a:defRPr>
            </a:lvl6pPr>
            <a:lvl7pPr>
              <a:defRPr sz="1875" b="1">
                <a:solidFill>
                  <a:srgbClr val="00796B"/>
                </a:solidFill>
              </a:defRPr>
            </a:lvl7pPr>
            <a:lvl8pPr>
              <a:defRPr sz="1875" b="1">
                <a:solidFill>
                  <a:srgbClr val="00796B"/>
                </a:solidFill>
              </a:defRPr>
            </a:lvl8pPr>
            <a:lvl9pPr>
              <a:defRPr sz="1875" b="1">
                <a:solidFill>
                  <a:srgbClr val="00796B"/>
                </a:solidFill>
              </a:defRPr>
            </a:lvl9pPr>
          </a:lstStyle>
          <a:p xmlns:a="http://schemas.openxmlformats.org/drawingml/2006/main">
            <a:pPr>
              <a:defRPr sz="1875" b="1">
                <a:solidFill>
                  <a:srgbClr val="00796B"/>
                </a:solidFill>
              </a:defRPr>
            </a:pPr>
            <a:r>
              <a:rPr sz="1875" b="1">
                <a:solidFill>
                  <a:srgbClr val="00796B"/>
                </a:solidFill>
              </a:rPr>
              <a:t>Editable implementations of existing equations</a:t>
            </a:r>
          </a:p>
        </p:txBody>
      </p:sp>
    </p:spTree>
    <p:extLst>
      <p:ext uri="{BB962C8B-B14F-4D97-AF65-F5344CB8AC3E}">
        <p14:creationId xmlns:p14="http://schemas.microsoft.com/office/powerpoint/2010/main" val="183266960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88B9F3-5BF3-4287-889E-A387D0903F2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REPRESENTATIVE CIRCUIT</a:t>
            </a:r>
          </a:p>
        </p:txBody>
      </p:sp>
      <p:sp>
        <p:nvSpPr>
          <p:cNvPr id="2" name="">
            <a:extLst xmlns:a="http://schemas.openxmlformats.org/drawingml/2006/main">
              <a:ext uri="{FF2B5EF4-FFF2-40B4-BE49-F238E27FC236}">
                <a16:creationId xmlns:a16="http://schemas.microsoft.com/office/drawing/2014/main" id="{437D367F-2436-41FB-9C00-AFCCF14716D3}"/>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graphical library implements defined Ia and Ib reflex pathways</a:t>
            </a:r>
          </a:p>
        </p:txBody>
      </p:sp>
      <p:sp>
        <p:nvSpPr>
          <p:cNvPr id="3" name="">
            <a:extLst xmlns:a="http://schemas.openxmlformats.org/drawingml/2006/main">
              <a:ext uri="{FF2B5EF4-FFF2-40B4-BE49-F238E27FC236}">
                <a16:creationId xmlns:a16="http://schemas.microsoft.com/office/drawing/2014/main" id="{DBDBE3D9-1397-4FE7-A8CB-3904D679868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Fig. simulink_reflex_topology</a:t>
            </a:r>
          </a:p>
        </p:txBody>
      </p:sp>
      <p:sp>
        <p:nvSpPr>
          <p:cNvPr id="4" name="">
            <a:extLst xmlns:a="http://schemas.openxmlformats.org/drawingml/2006/main">
              <a:ext uri="{FF2B5EF4-FFF2-40B4-BE49-F238E27FC236}">
                <a16:creationId xmlns:a16="http://schemas.microsoft.com/office/drawing/2014/main" id="{6FF3CD31-266C-4B13-A779-291F1A2C8D7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26</a:t>
            </a:r>
          </a:p>
        </p:txBody>
      </p:sp>
      <p:pic>
        <p:nvPicPr>
          <p:cNvPr id="5" name="">
            <a:extLst xmlns:a="http://schemas.openxmlformats.org/drawingml/2006/main">
              <a:ext uri="{FF2B5EF4-FFF2-40B4-BE49-F238E27FC236}">
                <a16:creationId xmlns:a16="http://schemas.microsoft.com/office/drawing/2014/main" id="{758221ED-53D3-4463-9ADC-B11BD3AD3F38}"/>
              </a:ext>
            </a:extLst>
          </p:cNvPr>
          <p:cNvPicPr>
            <a:picLocks xmlns:a="http://schemas.openxmlformats.org/drawingml/2006/main" noChangeAspect="1"/>
          </p:cNvPicPr>
          <p:nvPr/>
        </p:nvPicPr>
        <p:blipFill>
          <a:blip xmlns:r="http://schemas.openxmlformats.org/officeDocument/2006/relationships" xmlns:a="http://schemas.openxmlformats.org/drawingml/2006/main" r:embed="Ra44515d243f547a1"/>
          <a:stretch xmlns:a="http://schemas.openxmlformats.org/drawingml/2006/main"/>
        </p:blipFill>
        <p:spPr>
          <a:xfrm xmlns:a="http://schemas.openxmlformats.org/drawingml/2006/main">
            <a:off x="3183740" y="1476375"/>
            <a:ext cx="582452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E7566F3-177B-4C0E-BC34-ABEC6B6C70D0}"/>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Reduced-order demonstration; provisional mechanical parameters</a:t>
            </a:r>
          </a:p>
        </p:txBody>
      </p:sp>
    </p:spTree>
    <p:extLst>
      <p:ext uri="{BB962C8B-B14F-4D97-AF65-F5344CB8AC3E}">
        <p14:creationId xmlns:p14="http://schemas.microsoft.com/office/powerpoint/2010/main" val="69910410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46585A-722F-4D92-B231-534B5A252CA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MATCHED VERIFICATION</a:t>
            </a:r>
          </a:p>
        </p:txBody>
      </p:sp>
      <p:sp>
        <p:nvSpPr>
          <p:cNvPr id="2" name="">
            <a:extLst xmlns:a="http://schemas.openxmlformats.org/drawingml/2006/main">
              <a:ext uri="{FF2B5EF4-FFF2-40B4-BE49-F238E27FC236}">
                <a16:creationId xmlns:a16="http://schemas.microsoft.com/office/drawing/2014/main" id="{F766C3E5-B88D-4E30-A12D-BA33C7B58B9E}"/>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Matched rhythm-core implementations reproduce the same driven bursts</a:t>
            </a:r>
          </a:p>
        </p:txBody>
      </p:sp>
      <p:sp>
        <p:nvSpPr>
          <p:cNvPr id="3" name="">
            <a:extLst xmlns:a="http://schemas.openxmlformats.org/drawingml/2006/main">
              <a:ext uri="{FF2B5EF4-FFF2-40B4-BE49-F238E27FC236}">
                <a16:creationId xmlns:a16="http://schemas.microsoft.com/office/drawing/2014/main" id="{441ACDFE-2FAF-4232-879D-9A05C5C9E2C4}"/>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Fig. w2l_crossengine; matched NumPy and Simulink protocol</a:t>
            </a:r>
          </a:p>
        </p:txBody>
      </p:sp>
      <p:sp>
        <p:nvSpPr>
          <p:cNvPr id="4" name="">
            <a:extLst xmlns:a="http://schemas.openxmlformats.org/drawingml/2006/main">
              <a:ext uri="{FF2B5EF4-FFF2-40B4-BE49-F238E27FC236}">
                <a16:creationId xmlns:a16="http://schemas.microsoft.com/office/drawing/2014/main" id="{A69DCFF5-1F2B-4F4B-9BCF-CEC6E305DD53}"/>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27</a:t>
            </a:r>
          </a:p>
        </p:txBody>
      </p:sp>
      <p:pic>
        <p:nvPicPr>
          <p:cNvPr id="5" name="">
            <a:extLst xmlns:a="http://schemas.openxmlformats.org/drawingml/2006/main">
              <a:ext uri="{FF2B5EF4-FFF2-40B4-BE49-F238E27FC236}">
                <a16:creationId xmlns:a16="http://schemas.microsoft.com/office/drawing/2014/main" id="{F31EC41F-32B0-4200-84A0-1AF9C46F8372}"/>
              </a:ext>
            </a:extLst>
          </p:cNvPr>
          <p:cNvPicPr>
            <a:picLocks xmlns:a="http://schemas.openxmlformats.org/drawingml/2006/main" noChangeAspect="1"/>
          </p:cNvPicPr>
          <p:nvPr/>
        </p:nvPicPr>
        <p:blipFill>
          <a:blip xmlns:r="http://schemas.openxmlformats.org/officeDocument/2006/relationships" xmlns:a="http://schemas.openxmlformats.org/drawingml/2006/main" r:embed="Rc8726a1ef53a4bf0"/>
          <a:stretch xmlns:a="http://schemas.openxmlformats.org/drawingml/2006/main"/>
        </p:blipFill>
        <p:spPr>
          <a:xfrm xmlns:a="http://schemas.openxmlformats.org/drawingml/2006/main">
            <a:off x="3340554" y="1476375"/>
            <a:ext cx="5510893"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4C7945D-A9EB-448E-B2F5-33BDDC39EC69}"/>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1.000 s periods; trace correlation ≥ 0.99996</a:t>
            </a:r>
          </a:p>
        </p:txBody>
      </p:sp>
    </p:spTree>
    <p:extLst>
      <p:ext uri="{BB962C8B-B14F-4D97-AF65-F5344CB8AC3E}">
        <p14:creationId xmlns:p14="http://schemas.microsoft.com/office/powerpoint/2010/main" val="104127051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C5D768-EB13-4CDE-B9E4-A1C88BF14705}"/>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NEURAL SIMULATION: VERIFICATION BOUNDARY</a:t>
            </a:r>
          </a:p>
        </p:txBody>
      </p:sp>
      <p:sp>
        <p:nvSpPr>
          <p:cNvPr id="2" name="">
            <a:extLst xmlns:a="http://schemas.openxmlformats.org/drawingml/2006/main">
              <a:ext uri="{FF2B5EF4-FFF2-40B4-BE49-F238E27FC236}">
                <a16:creationId xmlns:a16="http://schemas.microsoft.com/office/drawing/2014/main" id="{07043962-AE27-403E-B8CF-33546DA35CBE}"/>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bridge exchanges signals while full-network dynamics still disagree</a:t>
            </a:r>
          </a:p>
        </p:txBody>
      </p:sp>
      <p:sp>
        <p:nvSpPr>
          <p:cNvPr id="3" name="">
            <a:extLst xmlns:a="http://schemas.openxmlformats.org/drawingml/2006/main">
              <a:ext uri="{FF2B5EF4-FFF2-40B4-BE49-F238E27FC236}">
                <a16:creationId xmlns:a16="http://schemas.microsoft.com/office/drawing/2014/main" id="{3D2F0F6B-1738-43F5-B167-86F1C9A586D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Closed-Loop Model Coupling and capability table</a:t>
            </a:r>
          </a:p>
        </p:txBody>
      </p:sp>
      <p:sp>
        <p:nvSpPr>
          <p:cNvPr id="4" name="">
            <a:extLst xmlns:a="http://schemas.openxmlformats.org/drawingml/2006/main">
              <a:ext uri="{FF2B5EF4-FFF2-40B4-BE49-F238E27FC236}">
                <a16:creationId xmlns:a16="http://schemas.microsoft.com/office/drawing/2014/main" id="{99B0B8BF-4554-4757-A8DB-9CE2C15AF9B7}"/>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28</a:t>
            </a:r>
          </a:p>
        </p:txBody>
      </p:sp>
      <p:graphicFrame>
        <p:nvGraphicFramePr>
          <p:cNvPr id="5" name="">
            <a:extLst xmlns:a="http://schemas.openxmlformats.org/drawingml/2006/main">
              <a:ext uri="{FF2B5EF4-FFF2-40B4-BE49-F238E27FC236}">
                <a16:creationId xmlns:a16="http://schemas.microsoft.com/office/drawing/2014/main" id="{8840F7F6-AE3B-4B77-A91C-7E2B7CE0FD74}"/>
              </a:ext>
            </a:extLst>
          </p:cNvPr>
          <p:cNvGraphicFramePr/>
          <p:nvPr/>
        </p:nvGraphicFramePr>
        <p:xfrm>
          <a:off xmlns:a="http://schemas.openxmlformats.org/drawingml/2006/main" x="476250" y="1857375"/>
          <a:ext xmlns:a="http://schemas.openxmlformats.org/drawingml/2006/main" cx="11239500" cy="3238500"/>
        </p:xfrm>
        <a:graphic xmlns:a="http://schemas.openxmlformats.org/drawingml/2006/main">
          <a:graphicData uri="http://schemas.openxmlformats.org/drawingml/2006/table">
            <a:tbl>
              <a:tblPr/>
              <a:tblGrid>
                <a:gridCol w="5619750"/>
                <a:gridCol w="5619750"/>
              </a:tblGrid>
              <a:tr h="809625">
                <a:tc>
                  <a:txBody>
                    <a:bodyPr/>
                    <a:lstStyle/>
                    <a:p>
                      <a:r>
                        <a:rPr sz="1875" b="1">
                          <a:solidFill>
                            <a:srgbClr val="00796B"/>
                          </a:solidFill>
                        </a:rPr>
                        <a:t>Verification level</a:t>
                      </a:r>
                    </a:p>
                  </a:txBody>
                  <a:tcPr marL="91440" marR="91440" marT="45720" marB="45720">
                    <a:solidFill>
                      <a:srgbClr val="FFFFFF"/>
                    </a:solidFill>
                  </a:tcPr>
                </a:tc>
                <a:tc>
                  <a:txBody>
                    <a:bodyPr/>
                    <a:lstStyle/>
                    <a:p>
                      <a:r>
                        <a:rPr sz="1875" b="1">
                          <a:solidFill>
                            <a:srgbClr val="00796B"/>
                          </a:solidFill>
                        </a:rPr>
                        <a:t>Observed result</a:t>
                      </a:r>
                    </a:p>
                  </a:txBody>
                  <a:tcPr marL="91440" marR="91440" marT="45720" marB="45720">
                    <a:solidFill>
                      <a:srgbClr val="FFFFFF"/>
                    </a:solidFill>
                  </a:tcPr>
                </a:tc>
              </a:tr>
              <a:tr h="809625">
                <a:tc>
                  <a:txBody>
                    <a:bodyPr/>
                    <a:lstStyle/>
                    <a:p>
                      <a:r>
                        <a:rPr sz="1875" b="0">
                          <a:solidFill>
                            <a:srgbClr val="222222"/>
                          </a:solidFill>
                        </a:rPr>
                        <a:t>Sensor and command exchange</a:t>
                      </a:r>
                    </a:p>
                  </a:txBody>
                  <a:tcPr marL="91440" marR="91440" marT="45720" marB="45720">
                    <a:solidFill>
                      <a:srgbClr val="FFFFFF"/>
                    </a:solidFill>
                  </a:tcPr>
                </a:tc>
                <a:tc>
                  <a:txBody>
                    <a:bodyPr/>
                    <a:lstStyle/>
                    <a:p>
                      <a:r>
                        <a:rPr sz="1875" b="0">
                          <a:solidFill>
                            <a:srgbClr val="222222"/>
                          </a:solidFill>
                        </a:rPr>
                        <a:t>Bit-exact scored readback</a:t>
                      </a:r>
                    </a:p>
                  </a:txBody>
                  <a:tcPr marL="91440" marR="91440" marT="45720" marB="45720">
                    <a:solidFill>
                      <a:srgbClr val="FFFFFF"/>
                    </a:solidFill>
                  </a:tcPr>
                </a:tc>
              </a:tr>
              <a:tr h="809625">
                <a:tc>
                  <a:txBody>
                    <a:bodyPr/>
                    <a:lstStyle/>
                    <a:p>
                      <a:r>
                        <a:rPr sz="1875" b="0">
                          <a:solidFill>
                            <a:srgbClr val="222222"/>
                          </a:solidFill>
                        </a:rPr>
                        <a:t>92-actuator closed-loop run</a:t>
                      </a:r>
                    </a:p>
                  </a:txBody>
                  <a:tcPr marL="91440" marR="91440" marT="45720" marB="45720">
                    <a:solidFill>
                      <a:srgbClr val="FFFFFF"/>
                    </a:solidFill>
                  </a:tcPr>
                </a:tc>
                <a:tc>
                  <a:txBody>
                    <a:bodyPr/>
                    <a:lstStyle/>
                    <a:p>
                      <a:r>
                        <a:rPr sz="1875" b="0">
                          <a:solidFill>
                            <a:srgbClr val="222222"/>
                          </a:solidFill>
                        </a:rPr>
                        <a:t>Signals exchanged for 5 seconds</a:t>
                      </a:r>
                    </a:p>
                  </a:txBody>
                  <a:tcPr marL="91440" marR="91440" marT="45720" marB="45720">
                    <a:solidFill>
                      <a:srgbClr val="FFFFFF"/>
                    </a:solidFill>
                  </a:tcPr>
                </a:tc>
              </a:tr>
              <a:tr h="809625">
                <a:tc>
                  <a:txBody>
                    <a:bodyPr/>
                    <a:lstStyle/>
                    <a:p>
                      <a:r>
                        <a:rPr sz="1875" b="0">
                          <a:solidFill>
                            <a:srgbClr val="222222"/>
                          </a:solidFill>
                        </a:rPr>
                        <a:t>Full network under tonic drive</a:t>
                      </a:r>
                    </a:p>
                  </a:txBody>
                  <a:tcPr marL="91440" marR="91440" marT="45720" marB="45720">
                    <a:solidFill>
                      <a:srgbClr val="FFFFFF"/>
                    </a:solidFill>
                  </a:tcPr>
                </a:tc>
                <a:tc>
                  <a:txBody>
                    <a:bodyPr/>
                    <a:lstStyle/>
                    <a:p>
                      <a:r>
                        <a:rPr sz="1875" b="0">
                          <a:solidFill>
                            <a:srgbClr val="222222"/>
                          </a:solidFill>
                        </a:rPr>
                        <a:t>Simulink settles; NumPy oscillates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680588A-5FA8-4770-87F2-D8C686B395ED}"/>
              </a:ext>
            </a:extLst>
          </p:cNvPr>
          <p:cNvSpPr>
            <a:spLocks xmlns:a="http://schemas.openxmlformats.org/drawingml/2006/main" noGrp="1"/>
          </p:cNvSpPr>
          <p:nvPr/>
        </p:nvSpPr>
        <p:spPr>
          <a:xfrm xmlns:a="http://schemas.openxmlformats.org/drawingml/2006/main">
            <a:off x="523875" y="561975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00796B"/>
                </a:solidFill>
              </a:defRPr>
            </a:defPPr>
            <a:lvl1pPr>
              <a:defRPr sz="2025" b="1">
                <a:solidFill>
                  <a:srgbClr val="00796B"/>
                </a:solidFill>
              </a:defRPr>
            </a:lvl1pPr>
            <a:lvl2pPr>
              <a:defRPr sz="2025" b="1">
                <a:solidFill>
                  <a:srgbClr val="00796B"/>
                </a:solidFill>
              </a:defRPr>
            </a:lvl2pPr>
            <a:lvl3pPr>
              <a:defRPr sz="2025" b="1">
                <a:solidFill>
                  <a:srgbClr val="00796B"/>
                </a:solidFill>
              </a:defRPr>
            </a:lvl3pPr>
            <a:lvl4pPr>
              <a:defRPr sz="2025" b="1">
                <a:solidFill>
                  <a:srgbClr val="00796B"/>
                </a:solidFill>
              </a:defRPr>
            </a:lvl4pPr>
            <a:lvl5pPr>
              <a:defRPr sz="2025" b="1">
                <a:solidFill>
                  <a:srgbClr val="00796B"/>
                </a:solidFill>
              </a:defRPr>
            </a:lvl5pPr>
            <a:lvl6pPr>
              <a:defRPr sz="2025" b="1">
                <a:solidFill>
                  <a:srgbClr val="00796B"/>
                </a:solidFill>
              </a:defRPr>
            </a:lvl6pPr>
            <a:lvl7pPr>
              <a:defRPr sz="2025" b="1">
                <a:solidFill>
                  <a:srgbClr val="00796B"/>
                </a:solidFill>
              </a:defRPr>
            </a:lvl7pPr>
            <a:lvl8pPr>
              <a:defRPr sz="2025" b="1">
                <a:solidFill>
                  <a:srgbClr val="00796B"/>
                </a:solidFill>
              </a:defRPr>
            </a:lvl8pPr>
            <a:lvl9pPr>
              <a:defRPr sz="2025" b="1">
                <a:solidFill>
                  <a:srgbClr val="00796B"/>
                </a:solidFill>
              </a:defRPr>
            </a:lvl9pPr>
          </a:lstStyle>
          <a:p xmlns:a="http://schemas.openxmlformats.org/drawingml/2006/main">
            <a:pPr>
              <a:defRPr sz="2025" b="1">
                <a:solidFill>
                  <a:srgbClr val="00796B"/>
                </a:solidFill>
              </a:defRPr>
            </a:pPr>
            <a:r>
              <a:rPr sz="2025" b="1">
                <a:solidFill>
                  <a:srgbClr val="00796B"/>
                </a:solidFill>
              </a:rPr>
              <a:t>Interface correctness and controller equivalence need separate tests</a:t>
            </a:r>
          </a:p>
        </p:txBody>
      </p:sp>
    </p:spTree>
    <p:extLst>
      <p:ext uri="{BB962C8B-B14F-4D97-AF65-F5344CB8AC3E}">
        <p14:creationId xmlns:p14="http://schemas.microsoft.com/office/powerpoint/2010/main" val="41852521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D70F66-2800-4D60-91E8-E840B055EB0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CONCLUSIONS</a:t>
            </a:r>
          </a:p>
        </p:txBody>
      </p:sp>
      <p:sp>
        <p:nvSpPr>
          <p:cNvPr id="2" name="">
            <a:extLst xmlns:a="http://schemas.openxmlformats.org/drawingml/2006/main">
              <a:ext uri="{FF2B5EF4-FFF2-40B4-BE49-F238E27FC236}">
                <a16:creationId xmlns:a16="http://schemas.microsoft.com/office/drawing/2014/main" id="{A2E01B6F-BE1A-4AB7-8BAB-BDB3345AE085}"/>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evidence supports static torque capacity and specific simulation interfaces</a:t>
            </a:r>
          </a:p>
        </p:txBody>
      </p:sp>
      <p:sp>
        <p:nvSpPr>
          <p:cNvPr id="3" name="">
            <a:extLst xmlns:a="http://schemas.openxmlformats.org/drawingml/2006/main">
              <a:ext uri="{FF2B5EF4-FFF2-40B4-BE49-F238E27FC236}">
                <a16:creationId xmlns:a16="http://schemas.microsoft.com/office/drawing/2014/main" id="{83429BA3-07D8-4C0E-9706-13BE039068AE}"/>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Chs. 3–7; final flexor MATLAB reduction, 23 October 2026</a:t>
            </a:r>
          </a:p>
        </p:txBody>
      </p:sp>
      <p:sp>
        <p:nvSpPr>
          <p:cNvPr id="4" name="">
            <a:extLst xmlns:a="http://schemas.openxmlformats.org/drawingml/2006/main">
              <a:ext uri="{FF2B5EF4-FFF2-40B4-BE49-F238E27FC236}">
                <a16:creationId xmlns:a16="http://schemas.microsoft.com/office/drawing/2014/main" id="{9520FBE9-F29E-43FB-BAA0-50524AE8B86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29</a:t>
            </a:r>
          </a:p>
        </p:txBody>
      </p:sp>
      <p:graphicFrame>
        <p:nvGraphicFramePr>
          <p:cNvPr id="5" name="">
            <a:extLst xmlns:a="http://schemas.openxmlformats.org/drawingml/2006/main">
              <a:ext uri="{FF2B5EF4-FFF2-40B4-BE49-F238E27FC236}">
                <a16:creationId xmlns:a16="http://schemas.microsoft.com/office/drawing/2014/main" id="{53ED4824-8160-4636-9BDA-06F170F871DD}"/>
              </a:ext>
            </a:extLst>
          </p:cNvPr>
          <p:cNvGraphicFramePr/>
          <p:nvPr/>
        </p:nvGraphicFramePr>
        <p:xfrm>
          <a:off xmlns:a="http://schemas.openxmlformats.org/drawingml/2006/main" x="476250" y="1619250"/>
          <a:ext xmlns:a="http://schemas.openxmlformats.org/drawingml/2006/main" cx="11239500" cy="3905250"/>
        </p:xfrm>
        <a:graphic xmlns:a="http://schemas.openxmlformats.org/drawingml/2006/main">
          <a:graphicData uri="http://schemas.openxmlformats.org/drawingml/2006/table">
            <a:tbl>
              <a:tblPr/>
              <a:tblGrid>
                <a:gridCol w="3746500"/>
                <a:gridCol w="3746500"/>
                <a:gridCol w="3746500"/>
              </a:tblGrid>
              <a:tr h="781050">
                <a:tc>
                  <a:txBody>
                    <a:bodyPr/>
                    <a:lstStyle/>
                    <a:p>
                      <a:r>
                        <a:rPr sz="1875" b="1">
                          <a:solidFill>
                            <a:srgbClr val="00796B"/>
                          </a:solidFill>
                        </a:rPr>
                        <a:t>Contribution</a:t>
                      </a:r>
                    </a:p>
                  </a:txBody>
                  <a:tcPr marL="91440" marR="91440" marT="45720" marB="45720">
                    <a:solidFill>
                      <a:srgbClr val="FFFFFF"/>
                    </a:solidFill>
                  </a:tcPr>
                </a:tc>
                <a:tc>
                  <a:txBody>
                    <a:bodyPr/>
                    <a:lstStyle/>
                    <a:p>
                      <a:r>
                        <a:rPr sz="1875" b="1">
                          <a:solidFill>
                            <a:srgbClr val="00796B"/>
                          </a:solidFill>
                        </a:rPr>
                        <a:t>Evidence</a:t>
                      </a:r>
                    </a:p>
                  </a:txBody>
                  <a:tcPr marL="91440" marR="91440" marT="45720" marB="45720">
                    <a:solidFill>
                      <a:srgbClr val="FFFFFF"/>
                    </a:solidFill>
                  </a:tcPr>
                </a:tc>
                <a:tc>
                  <a:txBody>
                    <a:bodyPr/>
                    <a:lstStyle/>
                    <a:p>
                      <a:r>
                        <a:rPr sz="1875" b="1">
                          <a:solidFill>
                            <a:srgbClr val="00796B"/>
                          </a:solidFill>
                        </a:rPr>
                        <a:t>Boundary</a:t>
                      </a:r>
                    </a:p>
                  </a:txBody>
                  <a:tcPr marL="91440" marR="91440" marT="45720" marB="45720">
                    <a:solidFill>
                      <a:srgbClr val="FFFFFF"/>
                    </a:solidFill>
                  </a:tcPr>
                </a:tc>
              </a:tr>
              <a:tr h="781050">
                <a:tc>
                  <a:txBody>
                    <a:bodyPr/>
                    <a:lstStyle/>
                    <a:p>
                      <a:r>
                        <a:rPr sz="1875" b="0">
                          <a:solidFill>
                            <a:srgbClr val="222222"/>
                          </a:solidFill>
                        </a:rPr>
                        <a:t>Actuator force model</a:t>
                      </a:r>
                    </a:p>
                  </a:txBody>
                  <a:tcPr marL="91440" marR="91440" marT="45720" marB="45720">
                    <a:solidFill>
                      <a:srgbClr val="FFFFFF"/>
                    </a:solidFill>
                  </a:tcPr>
                </a:tc>
                <a:tc>
                  <a:txBody>
                    <a:bodyPr/>
                    <a:lstStyle/>
                    <a:p>
                      <a:r>
                        <a:rPr sz="1875" b="0">
                          <a:solidFill>
                            <a:srgbClr val="222222"/>
                          </a:solidFill>
                        </a:rPr>
                        <a:t>Measured force and held-out fits</a:t>
                      </a:r>
                    </a:p>
                  </a:txBody>
                  <a:tcPr marL="91440" marR="91440" marT="45720" marB="45720">
                    <a:solidFill>
                      <a:srgbClr val="FFFFFF"/>
                    </a:solidFill>
                  </a:tcPr>
                </a:tc>
                <a:tc>
                  <a:txBody>
                    <a:bodyPr/>
                    <a:lstStyle/>
                    <a:p>
                      <a:r>
                        <a:rPr sz="1875" b="0">
                          <a:solidFill>
                            <a:srgbClr val="222222"/>
                          </a:solidFill>
                        </a:rPr>
                        <a:t>Static, tested actuator range</a:t>
                      </a:r>
                    </a:p>
                  </a:txBody>
                  <a:tcPr marL="91440" marR="91440" marT="45720" marB="45720">
                    <a:solidFill>
                      <a:srgbClr val="FFFFFF"/>
                    </a:solidFill>
                  </a:tcPr>
                </a:tc>
              </a:tr>
              <a:tr h="781050">
                <a:tc>
                  <a:txBody>
                    <a:bodyPr/>
                    <a:lstStyle/>
                    <a:p>
                      <a:r>
                        <a:rPr sz="1875" b="0">
                          <a:solidFill>
                            <a:srgbClr val="222222"/>
                          </a:solidFill>
                        </a:rPr>
                        <a:t>Joint model and routes</a:t>
                      </a:r>
                    </a:p>
                  </a:txBody>
                  <a:tcPr marL="91440" marR="91440" marT="45720" marB="45720">
                    <a:solidFill>
                      <a:srgbClr val="FFFFFF"/>
                    </a:solidFill>
                  </a:tcPr>
                </a:tc>
                <a:tc>
                  <a:txBody>
                    <a:bodyPr/>
                    <a:lstStyle/>
                    <a:p>
                      <a:r>
                        <a:rPr sz="1875" b="0">
                          <a:solidFill>
                            <a:srgbClr val="222222"/>
                          </a:solidFill>
                        </a:rPr>
                        <a:t>Held-out error and physical holds</a:t>
                      </a:r>
                    </a:p>
                  </a:txBody>
                  <a:tcPr marL="91440" marR="91440" marT="45720" marB="45720">
                    <a:solidFill>
                      <a:srgbClr val="FFFFFF"/>
                    </a:solidFill>
                  </a:tcPr>
                </a:tc>
                <a:tc>
                  <a:txBody>
                    <a:bodyPr/>
                    <a:lstStyle/>
                    <a:p>
                      <a:r>
                        <a:rPr sz="1875" b="0">
                          <a:solidFill>
                            <a:srgbClr val="222222"/>
                          </a:solidFill>
                        </a:rPr>
                        <a:t>Variable pressure; residual mismatch</a:t>
                      </a:r>
                    </a:p>
                  </a:txBody>
                  <a:tcPr marL="91440" marR="91440" marT="45720" marB="45720">
                    <a:solidFill>
                      <a:srgbClr val="FFFFFF"/>
                    </a:solidFill>
                  </a:tcPr>
                </a:tc>
              </a:tr>
              <a:tr h="781050">
                <a:tc>
                  <a:txBody>
                    <a:bodyPr/>
                    <a:lstStyle/>
                    <a:p>
                      <a:r>
                        <a:rPr sz="1875" b="0">
                          <a:solidFill>
                            <a:srgbClr val="222222"/>
                          </a:solidFill>
                        </a:rPr>
                        <a:t>SADb</a:t>
                      </a:r>
                    </a:p>
                  </a:txBody>
                  <a:tcPr marL="91440" marR="91440" marT="45720" marB="45720">
                    <a:solidFill>
                      <a:srgbClr val="FFFFFF"/>
                    </a:solidFill>
                  </a:tcPr>
                </a:tc>
                <a:tc>
                  <a:txBody>
                    <a:bodyPr/>
                    <a:lstStyle/>
                    <a:p>
                      <a:r>
                        <a:rPr sz="1875" b="0">
                          <a:solidFill>
                            <a:srgbClr val="222222"/>
                          </a:solidFill>
                        </a:rPr>
                        <a:t>Inspectable linked records</a:t>
                      </a:r>
                    </a:p>
                  </a:txBody>
                  <a:tcPr marL="91440" marR="91440" marT="45720" marB="45720">
                    <a:solidFill>
                      <a:srgbClr val="FFFFFF"/>
                    </a:solidFill>
                  </a:tcPr>
                </a:tc>
                <a:tc>
                  <a:txBody>
                    <a:bodyPr/>
                    <a:lstStyle/>
                    <a:p>
                      <a:r>
                        <a:rPr sz="1875" b="0">
                          <a:solidFill>
                            <a:srgbClr val="222222"/>
                          </a:solidFill>
                        </a:rPr>
                        <a:t>Uneven source coverage</a:t>
                      </a:r>
                    </a:p>
                  </a:txBody>
                  <a:tcPr marL="91440" marR="91440" marT="45720" marB="45720">
                    <a:solidFill>
                      <a:srgbClr val="FFFFFF"/>
                    </a:solidFill>
                  </a:tcPr>
                </a:tc>
              </a:tr>
              <a:tr h="781050">
                <a:tc>
                  <a:txBody>
                    <a:bodyPr/>
                    <a:lstStyle/>
                    <a:p>
                      <a:r>
                        <a:rPr sz="1875" b="0">
                          <a:solidFill>
                            <a:srgbClr val="222222"/>
                          </a:solidFill>
                        </a:rPr>
                        <a:t>Neural interfaces</a:t>
                      </a:r>
                    </a:p>
                  </a:txBody>
                  <a:tcPr marL="91440" marR="91440" marT="45720" marB="45720">
                    <a:solidFill>
                      <a:srgbClr val="FFFFFF"/>
                    </a:solidFill>
                  </a:tcPr>
                </a:tc>
                <a:tc>
                  <a:txBody>
                    <a:bodyPr/>
                    <a:lstStyle/>
                    <a:p>
                      <a:r>
                        <a:rPr sz="1875" b="0">
                          <a:solidFill>
                            <a:srgbClr val="222222"/>
                          </a:solidFill>
                        </a:rPr>
                        <a:t>Matched tests and signal readback</a:t>
                      </a:r>
                    </a:p>
                  </a:txBody>
                  <a:tcPr marL="91440" marR="91440" marT="45720" marB="45720">
                    <a:solidFill>
                      <a:srgbClr val="FFFFFF"/>
                    </a:solidFill>
                  </a:tcPr>
                </a:tc>
                <a:tc>
                  <a:txBody>
                    <a:bodyPr/>
                    <a:lstStyle/>
                    <a:p>
                      <a:r>
                        <a:rPr sz="1875" b="0">
                          <a:solidFill>
                            <a:srgbClr val="222222"/>
                          </a:solidFill>
                        </a:rPr>
                        <a:t>Full-network discrepancy; no free walking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672062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208AF3-9B17-4E0C-B20A-D18ED8713856}"/>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NEXT EXPERIMENTS</a:t>
            </a:r>
          </a:p>
        </p:txBody>
      </p:sp>
      <p:sp>
        <p:nvSpPr>
          <p:cNvPr id="2" name="">
            <a:extLst xmlns:a="http://schemas.openxmlformats.org/drawingml/2006/main">
              <a:ext uri="{FF2B5EF4-FFF2-40B4-BE49-F238E27FC236}">
                <a16:creationId xmlns:a16="http://schemas.microsoft.com/office/drawing/2014/main" id="{72312419-420F-471A-9A6F-185ED0A9944C}"/>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Matched-pressure tests and controller reconciliation are the next checks</a:t>
            </a:r>
          </a:p>
        </p:txBody>
      </p:sp>
      <p:sp>
        <p:nvSpPr>
          <p:cNvPr id="3" name="">
            <a:extLst xmlns:a="http://schemas.openxmlformats.org/drawingml/2006/main">
              <a:ext uri="{FF2B5EF4-FFF2-40B4-BE49-F238E27FC236}">
                <a16:creationId xmlns:a16="http://schemas.microsoft.com/office/drawing/2014/main" id="{B2289DB4-1F42-411F-8722-BC4954FDCDC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7; Ch. 6, remaining limits</a:t>
            </a:r>
          </a:p>
        </p:txBody>
      </p:sp>
      <p:sp>
        <p:nvSpPr>
          <p:cNvPr id="4" name="">
            <a:extLst xmlns:a="http://schemas.openxmlformats.org/drawingml/2006/main">
              <a:ext uri="{FF2B5EF4-FFF2-40B4-BE49-F238E27FC236}">
                <a16:creationId xmlns:a16="http://schemas.microsoft.com/office/drawing/2014/main" id="{B10032B7-1214-4197-8B40-2CAEA69C9D99}"/>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30</a:t>
            </a:r>
          </a:p>
        </p:txBody>
      </p:sp>
      <p:pic>
        <p:nvPicPr>
          <p:cNvPr id="5" name="">
            <a:extLst xmlns:a="http://schemas.openxmlformats.org/drawingml/2006/main">
              <a:ext uri="{FF2B5EF4-FFF2-40B4-BE49-F238E27FC236}">
                <a16:creationId xmlns:a16="http://schemas.microsoft.com/office/drawing/2014/main" id="{BB498FD0-59C9-4223-A76D-B4E365617923}"/>
              </a:ext>
            </a:extLst>
          </p:cNvPr>
          <p:cNvPicPr>
            <a:picLocks xmlns:a="http://schemas.openxmlformats.org/drawingml/2006/main" noChangeAspect="1"/>
          </p:cNvPicPr>
          <p:nvPr/>
        </p:nvPicPr>
        <p:blipFill>
          <a:blip xmlns:r="http://schemas.openxmlformats.org/officeDocument/2006/relationships" xmlns:a="http://schemas.openxmlformats.org/drawingml/2006/main" r:embed="R3c57e55680974359"/>
          <a:stretch xmlns:a="http://schemas.openxmlformats.org/drawingml/2006/main"/>
        </p:blipFill>
        <p:spPr>
          <a:xfrm xmlns:a="http://schemas.openxmlformats.org/drawingml/2006/main">
            <a:off x="2788010" y="1476375"/>
            <a:ext cx="661598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88F0F74-4681-4B15-921B-40EBBAD99A28}"/>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Close the measured gaps before transferring control to hardware</a:t>
            </a:r>
          </a:p>
        </p:txBody>
      </p:sp>
    </p:spTree>
    <p:extLst>
      <p:ext uri="{BB962C8B-B14F-4D97-AF65-F5344CB8AC3E}">
        <p14:creationId xmlns:p14="http://schemas.microsoft.com/office/powerpoint/2010/main" val="112346968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4C8A57-468F-400B-B2EC-6919F15E1E0E}"/>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ACKNOWLEDGMENTS</a:t>
            </a:r>
          </a:p>
        </p:txBody>
      </p:sp>
      <p:sp>
        <p:nvSpPr>
          <p:cNvPr id="2" name="">
            <a:extLst xmlns:a="http://schemas.openxmlformats.org/drawingml/2006/main">
              <a:ext uri="{FF2B5EF4-FFF2-40B4-BE49-F238E27FC236}">
                <a16:creationId xmlns:a16="http://schemas.microsoft.com/office/drawing/2014/main" id="{ADF634D5-7719-46EA-B526-9D3F4F2C3FD9}"/>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Questions</a:t>
            </a:r>
          </a:p>
        </p:txBody>
      </p:sp>
      <p:sp>
        <p:nvSpPr>
          <p:cNvPr id="3" name="">
            <a:extLst xmlns:a="http://schemas.openxmlformats.org/drawingml/2006/main">
              <a:ext uri="{FF2B5EF4-FFF2-40B4-BE49-F238E27FC236}">
                <a16:creationId xmlns:a16="http://schemas.microsoft.com/office/drawing/2014/main" id="{F044C7D4-D117-43E9-824F-94688AFE7F0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Ben P. Bolen · Mechanical Engineering · Portland State University</a:t>
            </a:r>
          </a:p>
        </p:txBody>
      </p:sp>
      <p:sp>
        <p:nvSpPr>
          <p:cNvPr id="4" name="">
            <a:extLst xmlns:a="http://schemas.openxmlformats.org/drawingml/2006/main">
              <a:ext uri="{FF2B5EF4-FFF2-40B4-BE49-F238E27FC236}">
                <a16:creationId xmlns:a16="http://schemas.microsoft.com/office/drawing/2014/main" id="{8FFEE4AD-9378-433A-8B72-4136272A626E}"/>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31</a:t>
            </a:r>
          </a:p>
        </p:txBody>
      </p:sp>
      <p:sp>
        <p:nvSpPr>
          <p:cNvPr id="5" name="">
            <a:extLst xmlns:a="http://schemas.openxmlformats.org/drawingml/2006/main">
              <a:ext uri="{FF2B5EF4-FFF2-40B4-BE49-F238E27FC236}">
                <a16:creationId xmlns:a16="http://schemas.microsoft.com/office/drawing/2014/main" id="{91BE4418-51BA-48EB-9B91-C15269BDEF4F}"/>
              </a:ext>
            </a:extLst>
          </p:cNvPr>
          <p:cNvSpPr>
            <a:spLocks xmlns:a="http://schemas.openxmlformats.org/drawingml/2006/main" noGrp="1"/>
          </p:cNvSpPr>
          <p:nvPr/>
        </p:nvSpPr>
        <p:spPr>
          <a:xfrm xmlns:a="http://schemas.openxmlformats.org/drawingml/2006/main">
            <a:off x="619125" y="2286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AF7B51"/>
                </a:solidFill>
              </a:defRPr>
            </a:defPPr>
            <a:lvl1pPr>
              <a:defRPr sz="4800" b="1">
                <a:solidFill>
                  <a:srgbClr val="AF7B51"/>
                </a:solidFill>
              </a:defRPr>
            </a:lvl1pPr>
            <a:lvl2pPr>
              <a:defRPr sz="4800" b="1">
                <a:solidFill>
                  <a:srgbClr val="AF7B51"/>
                </a:solidFill>
              </a:defRPr>
            </a:lvl2pPr>
            <a:lvl3pPr>
              <a:defRPr sz="4800" b="1">
                <a:solidFill>
                  <a:srgbClr val="AF7B51"/>
                </a:solidFill>
              </a:defRPr>
            </a:lvl3pPr>
            <a:lvl4pPr>
              <a:defRPr sz="4800" b="1">
                <a:solidFill>
                  <a:srgbClr val="AF7B51"/>
                </a:solidFill>
              </a:defRPr>
            </a:lvl4pPr>
            <a:lvl5pPr>
              <a:defRPr sz="4800" b="1">
                <a:solidFill>
                  <a:srgbClr val="AF7B51"/>
                </a:solidFill>
              </a:defRPr>
            </a:lvl5pPr>
            <a:lvl6pPr>
              <a:defRPr sz="4800" b="1">
                <a:solidFill>
                  <a:srgbClr val="AF7B51"/>
                </a:solidFill>
              </a:defRPr>
            </a:lvl6pPr>
            <a:lvl7pPr>
              <a:defRPr sz="4800" b="1">
                <a:solidFill>
                  <a:srgbClr val="AF7B51"/>
                </a:solidFill>
              </a:defRPr>
            </a:lvl7pPr>
            <a:lvl8pPr>
              <a:defRPr sz="4800" b="1">
                <a:solidFill>
                  <a:srgbClr val="AF7B51"/>
                </a:solidFill>
              </a:defRPr>
            </a:lvl8pPr>
            <a:lvl9pPr>
              <a:defRPr sz="4800" b="1">
                <a:solidFill>
                  <a:srgbClr val="AF7B51"/>
                </a:solidFill>
              </a:defRPr>
            </a:lvl9pPr>
          </a:lstStyle>
          <a:p xmlns:a="http://schemas.openxmlformats.org/drawingml/2006/main">
            <a:pPr>
              <a:defRPr sz="4800" b="1">
                <a:solidFill>
                  <a:srgbClr val="AF7B51"/>
                </a:solidFill>
              </a:defRPr>
            </a:pPr>
            <a:r>
              <a:rPr sz="4800" b="1">
                <a:solidFill>
                  <a:srgbClr val="AF7B51"/>
                </a:solidFill>
              </a:rPr>
              <a:t>Thank you</a:t>
            </a:r>
          </a:p>
        </p:txBody>
      </p:sp>
      <p:sp>
        <p:nvSpPr>
          <p:cNvPr id="6" name="">
            <a:extLst xmlns:a="http://schemas.openxmlformats.org/drawingml/2006/main">
              <a:ext uri="{FF2B5EF4-FFF2-40B4-BE49-F238E27FC236}">
                <a16:creationId xmlns:a16="http://schemas.microsoft.com/office/drawing/2014/main" id="{E885117C-6893-4513-A860-1E581D982B4B}"/>
              </a:ext>
            </a:extLst>
          </p:cNvPr>
          <p:cNvSpPr>
            <a:spLocks xmlns:a="http://schemas.openxmlformats.org/drawingml/2006/main" noGrp="1"/>
          </p:cNvSpPr>
          <p:nvPr/>
        </p:nvSpPr>
        <p:spPr>
          <a:xfrm xmlns:a="http://schemas.openxmlformats.org/drawingml/2006/main">
            <a:off x="619125" y="352425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22222"/>
                </a:solidFill>
              </a:defRPr>
            </a:defPPr>
            <a:lvl1pPr>
              <a:defRPr sz="2250" b="0">
                <a:solidFill>
                  <a:srgbClr val="222222"/>
                </a:solidFill>
              </a:defRPr>
            </a:lvl1pPr>
            <a:lvl2pPr>
              <a:defRPr sz="2250" b="0">
                <a:solidFill>
                  <a:srgbClr val="222222"/>
                </a:solidFill>
              </a:defRPr>
            </a:lvl2pPr>
            <a:lvl3pPr>
              <a:defRPr sz="2250" b="0">
                <a:solidFill>
                  <a:srgbClr val="222222"/>
                </a:solidFill>
              </a:defRPr>
            </a:lvl3pPr>
            <a:lvl4pPr>
              <a:defRPr sz="2250" b="0">
                <a:solidFill>
                  <a:srgbClr val="222222"/>
                </a:solidFill>
              </a:defRPr>
            </a:lvl4pPr>
            <a:lvl5pPr>
              <a:defRPr sz="2250" b="0">
                <a:solidFill>
                  <a:srgbClr val="222222"/>
                </a:solidFill>
              </a:defRPr>
            </a:lvl5pPr>
            <a:lvl6pPr>
              <a:defRPr sz="2250" b="0">
                <a:solidFill>
                  <a:srgbClr val="222222"/>
                </a:solidFill>
              </a:defRPr>
            </a:lvl6pPr>
            <a:lvl7pPr>
              <a:defRPr sz="2250" b="0">
                <a:solidFill>
                  <a:srgbClr val="222222"/>
                </a:solidFill>
              </a:defRPr>
            </a:lvl7pPr>
            <a:lvl8pPr>
              <a:defRPr sz="2250" b="0">
                <a:solidFill>
                  <a:srgbClr val="222222"/>
                </a:solidFill>
              </a:defRPr>
            </a:lvl8pPr>
            <a:lvl9pPr>
              <a:defRPr sz="2250" b="0">
                <a:solidFill>
                  <a:srgbClr val="222222"/>
                </a:solidFill>
              </a:defRPr>
            </a:lvl9pPr>
          </a:lstStyle>
          <a:p xmlns:a="http://schemas.openxmlformats.org/drawingml/2006/main">
            <a:pPr>
              <a:defRPr sz="2250" b="0">
                <a:solidFill>
                  <a:srgbClr val="222222"/>
                </a:solidFill>
              </a:defRPr>
            </a:pPr>
            <a:r>
              <a:rPr sz="2250" b="0">
                <a:solidFill>
                  <a:srgbClr val="222222"/>
                </a:solidFill>
              </a:rPr>
              <a:t>Advisor: M. Anthony Hunt</a:t>
            </a:r>
          </a:p>
          <a:p xmlns:a="http://schemas.openxmlformats.org/drawingml/2006/main">
            <a:pPr>
              <a:defRPr sz="2250" b="0">
                <a:solidFill>
                  <a:srgbClr val="222222"/>
                </a:solidFill>
              </a:defRPr>
            </a:pPr>
            <a:r>
              <a:rPr sz="2250" b="0">
                <a:solidFill>
                  <a:srgbClr val="222222"/>
                </a:solidFill>
              </a:rPr>
              <a:t>Committee, AARL, and research collaborators</a:t>
            </a:r>
          </a:p>
        </p:txBody>
      </p:sp>
    </p:spTree>
    <p:extLst>
      <p:ext uri="{BB962C8B-B14F-4D97-AF65-F5344CB8AC3E}">
        <p14:creationId xmlns:p14="http://schemas.microsoft.com/office/powerpoint/2010/main" val="208814683"/>
      </p:ext>
    </p:extLst>
  </p:cSld>
</p:sld>
</file>

<file path=ppt/slides/slide3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91B9CD-C21F-4FB0-869E-26087A45D9CC}"/>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ACTUATOR EQUATION</a:t>
            </a:r>
          </a:p>
        </p:txBody>
      </p:sp>
      <p:sp>
        <p:nvSpPr>
          <p:cNvPr id="2" name="">
            <a:extLst xmlns:a="http://schemas.openxmlformats.org/drawingml/2006/main">
              <a:ext uri="{FF2B5EF4-FFF2-40B4-BE49-F238E27FC236}">
                <a16:creationId xmlns:a16="http://schemas.microsoft.com/office/drawing/2014/main" id="{3780814A-4EB2-4BDF-AA8B-45C6D208499F}"/>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force model combines normalized force with resting-length scaling</a:t>
            </a:r>
          </a:p>
        </p:txBody>
      </p:sp>
      <p:sp>
        <p:nvSpPr>
          <p:cNvPr id="3" name="">
            <a:extLst xmlns:a="http://schemas.openxmlformats.org/drawingml/2006/main">
              <a:ext uri="{FF2B5EF4-FFF2-40B4-BE49-F238E27FC236}">
                <a16:creationId xmlns:a16="http://schemas.microsoft.com/office/drawing/2014/main" id="{233259B2-1D4D-46B4-8AC1-6E57537AF28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3, force equation; Bolen et al. (2026)</a:t>
            </a:r>
          </a:p>
        </p:txBody>
      </p:sp>
      <p:sp>
        <p:nvSpPr>
          <p:cNvPr id="4" name="">
            <a:extLst xmlns:a="http://schemas.openxmlformats.org/drawingml/2006/main">
              <a:ext uri="{FF2B5EF4-FFF2-40B4-BE49-F238E27FC236}">
                <a16:creationId xmlns:a16="http://schemas.microsoft.com/office/drawing/2014/main" id="{46A310AB-9215-4E63-8AFE-0EFC6132A940}"/>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32</a:t>
            </a:r>
          </a:p>
        </p:txBody>
      </p:sp>
      <p:pic>
        <p:nvPicPr>
          <p:cNvPr id="5" name="">
            <a:extLst xmlns:a="http://schemas.openxmlformats.org/drawingml/2006/main">
              <a:ext uri="{FF2B5EF4-FFF2-40B4-BE49-F238E27FC236}">
                <a16:creationId xmlns:a16="http://schemas.microsoft.com/office/drawing/2014/main" id="{436EE300-052A-417F-A14B-7F82B9FFFDD4}"/>
              </a:ext>
            </a:extLst>
          </p:cNvPr>
          <p:cNvPicPr>
            <a:picLocks xmlns:a="http://schemas.openxmlformats.org/drawingml/2006/main" noChangeAspect="1"/>
          </p:cNvPicPr>
          <p:nvPr/>
        </p:nvPicPr>
        <p:blipFill>
          <a:blip xmlns:r="http://schemas.openxmlformats.org/officeDocument/2006/relationships" xmlns:a="http://schemas.openxmlformats.org/drawingml/2006/main" r:embed="Rd36d66c64af84610"/>
          <a:stretch xmlns:a="http://schemas.openxmlformats.org/drawingml/2006/main"/>
        </p:blipFill>
        <p:spPr>
          <a:xfrm xmlns:a="http://schemas.openxmlformats.org/drawingml/2006/main">
            <a:off x="428625" y="3224688"/>
            <a:ext cx="11334750" cy="78962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3E6665-D56E-4992-9230-5323913692AC}"/>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Separate coefficients apply to each diameter</a:t>
            </a:r>
          </a:p>
        </p:txBody>
      </p:sp>
    </p:spTree>
    <p:extLst>
      <p:ext uri="{BB962C8B-B14F-4D97-AF65-F5344CB8AC3E}">
        <p14:creationId xmlns:p14="http://schemas.microsoft.com/office/powerpoint/2010/main" val="1909154173"/>
      </p:ext>
    </p:extLst>
  </p:cSld>
</p:sld>
</file>

<file path=ppt/slides/slide3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CB732F-DD3F-4BD9-9892-6F0C821DFC1A}"/>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TRANSFER TO BIOMIMETIC KNEE</a:t>
            </a:r>
          </a:p>
        </p:txBody>
      </p:sp>
      <p:sp>
        <p:nvSpPr>
          <p:cNvPr id="2" name="">
            <a:extLst xmlns:a="http://schemas.openxmlformats.org/drawingml/2006/main">
              <a:ext uri="{FF2B5EF4-FFF2-40B4-BE49-F238E27FC236}">
                <a16:creationId xmlns:a16="http://schemas.microsoft.com/office/drawing/2014/main" id="{C879322B-ECAB-4723-8B67-3769E6E7B951}"/>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Earlier biomimetic-extensor measurements retain residual prediction error</a:t>
            </a:r>
          </a:p>
        </p:txBody>
      </p:sp>
      <p:sp>
        <p:nvSpPr>
          <p:cNvPr id="3" name="">
            <a:extLst xmlns:a="http://schemas.openxmlformats.org/drawingml/2006/main">
              <a:ext uri="{FF2B5EF4-FFF2-40B4-BE49-F238E27FC236}">
                <a16:creationId xmlns:a16="http://schemas.microsoft.com/office/drawing/2014/main" id="{D5BC4A31-0B98-43CA-A346-7846E9DE257A}"/>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Fig. Ext10mm_52cm; see adopted shared-pair table for final statistics</a:t>
            </a:r>
          </a:p>
        </p:txBody>
      </p:sp>
      <p:sp>
        <p:nvSpPr>
          <p:cNvPr id="4" name="">
            <a:extLst xmlns:a="http://schemas.openxmlformats.org/drawingml/2006/main">
              <a:ext uri="{FF2B5EF4-FFF2-40B4-BE49-F238E27FC236}">
                <a16:creationId xmlns:a16="http://schemas.microsoft.com/office/drawing/2014/main" id="{4A8A0904-2C61-422E-A73A-87F4B31EC882}"/>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33</a:t>
            </a:r>
          </a:p>
        </p:txBody>
      </p:sp>
      <p:pic>
        <p:nvPicPr>
          <p:cNvPr id="5" name="">
            <a:extLst xmlns:a="http://schemas.openxmlformats.org/drawingml/2006/main">
              <a:ext uri="{FF2B5EF4-FFF2-40B4-BE49-F238E27FC236}">
                <a16:creationId xmlns:a16="http://schemas.microsoft.com/office/drawing/2014/main" id="{F52CF0B0-87A2-452C-BC14-FB5B09360C58}"/>
              </a:ext>
            </a:extLst>
          </p:cNvPr>
          <p:cNvPicPr>
            <a:picLocks xmlns:a="http://schemas.openxmlformats.org/drawingml/2006/main" noChangeAspect="1"/>
          </p:cNvPicPr>
          <p:nvPr/>
        </p:nvPicPr>
        <p:blipFill>
          <a:blip xmlns:r="http://schemas.openxmlformats.org/officeDocument/2006/relationships" xmlns:a="http://schemas.openxmlformats.org/drawingml/2006/main" r:embed="Rdea95b3976f246f7"/>
          <a:stretch xmlns:a="http://schemas.openxmlformats.org/drawingml/2006/main"/>
        </p:blipFill>
        <p:spPr>
          <a:xfrm xmlns:a="http://schemas.openxmlformats.org/drawingml/2006/main">
            <a:off x="1549674" y="1476375"/>
            <a:ext cx="9092652"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D0724C-4C27-4562-9661-C23543FEAB1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Earlier 10 mm configuration</a:t>
            </a:r>
          </a:p>
        </p:txBody>
      </p:sp>
    </p:spTree>
    <p:extLst>
      <p:ext uri="{BB962C8B-B14F-4D97-AF65-F5344CB8AC3E}">
        <p14:creationId xmlns:p14="http://schemas.microsoft.com/office/powerpoint/2010/main" val="441832143"/>
      </p:ext>
    </p:extLst>
  </p:cSld>
</p:sld>
</file>

<file path=ppt/slides/slide3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4DA8DA-1E89-4F9F-A3AC-21798CF64C38}"/>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ROUTE EXTENSION</a:t>
            </a:r>
          </a:p>
        </p:txBody>
      </p:sp>
      <p:sp>
        <p:nvSpPr>
          <p:cNvPr id="2" name="">
            <a:extLst xmlns:a="http://schemas.openxmlformats.org/drawingml/2006/main">
              <a:ext uri="{FF2B5EF4-FFF2-40B4-BE49-F238E27FC236}">
                <a16:creationId xmlns:a16="http://schemas.microsoft.com/office/drawing/2014/main" id="{4BA29D31-38F7-4DD1-96B4-85475FE5C303}"/>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Pulley transmission predictions still require physical verification</a:t>
            </a:r>
          </a:p>
        </p:txBody>
      </p:sp>
      <p:sp>
        <p:nvSpPr>
          <p:cNvPr id="3" name="">
            <a:extLst xmlns:a="http://schemas.openxmlformats.org/drawingml/2006/main">
              <a:ext uri="{FF2B5EF4-FFF2-40B4-BE49-F238E27FC236}">
                <a16:creationId xmlns:a16="http://schemas.microsoft.com/office/drawing/2014/main" id="{82189F1B-9F74-484F-989C-1679AB6BCEE3}"/>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4, Mono- and Bi-Pulley Tendon Routing</a:t>
            </a:r>
          </a:p>
        </p:txBody>
      </p:sp>
      <p:sp>
        <p:nvSpPr>
          <p:cNvPr id="4" name="">
            <a:extLst xmlns:a="http://schemas.openxmlformats.org/drawingml/2006/main">
              <a:ext uri="{FF2B5EF4-FFF2-40B4-BE49-F238E27FC236}">
                <a16:creationId xmlns:a16="http://schemas.microsoft.com/office/drawing/2014/main" id="{34359BAA-36D7-4D51-A12F-B673D5FAA7F1}"/>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34</a:t>
            </a:r>
          </a:p>
        </p:txBody>
      </p:sp>
      <p:pic>
        <p:nvPicPr>
          <p:cNvPr id="5" name="">
            <a:extLst xmlns:a="http://schemas.openxmlformats.org/drawingml/2006/main">
              <a:ext uri="{FF2B5EF4-FFF2-40B4-BE49-F238E27FC236}">
                <a16:creationId xmlns:a16="http://schemas.microsoft.com/office/drawing/2014/main" id="{BCFF5AA7-5160-4D67-94B7-8F139286D99D}"/>
              </a:ext>
            </a:extLst>
          </p:cNvPr>
          <p:cNvPicPr>
            <a:picLocks xmlns:a="http://schemas.openxmlformats.org/drawingml/2006/main" noChangeAspect="1"/>
          </p:cNvPicPr>
          <p:nvPr/>
        </p:nvPicPr>
        <p:blipFill>
          <a:blip xmlns:r="http://schemas.openxmlformats.org/officeDocument/2006/relationships" xmlns:a="http://schemas.openxmlformats.org/drawingml/2006/main" r:embed="R126b7ca942f34477"/>
          <a:stretch xmlns:a="http://schemas.openxmlformats.org/drawingml/2006/main"/>
        </p:blipFill>
        <p:spPr>
          <a:xfrm xmlns:a="http://schemas.openxmlformats.org/drawingml/2006/main">
            <a:off x="3093263" y="1476375"/>
            <a:ext cx="60054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627F182-1751-45C1-9716-6CE32A89DBBF}"/>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Model predictions; adjacent joint fixed in biarticular planes</a:t>
            </a:r>
          </a:p>
        </p:txBody>
      </p:sp>
    </p:spTree>
    <p:extLst>
      <p:ext uri="{BB962C8B-B14F-4D97-AF65-F5344CB8AC3E}">
        <p14:creationId xmlns:p14="http://schemas.microsoft.com/office/powerpoint/2010/main" val="2001625144"/>
      </p:ext>
    </p:extLst>
  </p:cSld>
</p:sld>
</file>

<file path=ppt/slides/slide3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666396-772E-4967-AFFA-8CB977BA88A1}"/>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SIMULATION SCOPE</a:t>
            </a:r>
          </a:p>
        </p:txBody>
      </p:sp>
      <p:sp>
        <p:nvSpPr>
          <p:cNvPr id="2" name="">
            <a:extLst xmlns:a="http://schemas.openxmlformats.org/drawingml/2006/main">
              <a:ext uri="{FF2B5EF4-FFF2-40B4-BE49-F238E27FC236}">
                <a16:creationId xmlns:a16="http://schemas.microsoft.com/office/drawing/2014/main" id="{0EB93634-D044-4CED-8FCE-A0462701E69D}"/>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Supported actuator-driven motion provides a coupling test</a:t>
            </a:r>
          </a:p>
        </p:txBody>
      </p:sp>
      <p:sp>
        <p:nvSpPr>
          <p:cNvPr id="3" name="">
            <a:extLst xmlns:a="http://schemas.openxmlformats.org/drawingml/2006/main">
              <a:ext uri="{FF2B5EF4-FFF2-40B4-BE49-F238E27FC236}">
                <a16:creationId xmlns:a16="http://schemas.microsoft.com/office/drawing/2014/main" id="{8E050B93-0D77-48C2-B4BC-77EB37B9A319}"/>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Ch. 6 and Appendix, Simulation Verification</a:t>
            </a:r>
          </a:p>
        </p:txBody>
      </p:sp>
      <p:sp>
        <p:nvSpPr>
          <p:cNvPr id="4" name="">
            <a:extLst xmlns:a="http://schemas.openxmlformats.org/drawingml/2006/main">
              <a:ext uri="{FF2B5EF4-FFF2-40B4-BE49-F238E27FC236}">
                <a16:creationId xmlns:a16="http://schemas.microsoft.com/office/drawing/2014/main" id="{E52BD303-6843-4940-B7A4-ED66391B2B15}"/>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35</a:t>
            </a:r>
          </a:p>
        </p:txBody>
      </p:sp>
      <p:pic>
        <p:nvPicPr>
          <p:cNvPr id="5" name="">
            <a:extLst xmlns:a="http://schemas.openxmlformats.org/drawingml/2006/main">
              <a:ext uri="{FF2B5EF4-FFF2-40B4-BE49-F238E27FC236}">
                <a16:creationId xmlns:a16="http://schemas.microsoft.com/office/drawing/2014/main" id="{51D91556-375A-41DD-8F1E-65FE20799046}"/>
              </a:ext>
            </a:extLst>
          </p:cNvPr>
          <p:cNvPicPr>
            <a:picLocks xmlns:a="http://schemas.openxmlformats.org/drawingml/2006/main" noChangeAspect="1"/>
          </p:cNvPicPr>
          <p:nvPr/>
        </p:nvPicPr>
        <p:blipFill>
          <a:blip xmlns:r="http://schemas.openxmlformats.org/officeDocument/2006/relationships" xmlns:a="http://schemas.openxmlformats.org/drawingml/2006/main" r:embed="R92710a3262144902"/>
          <a:stretch xmlns:a="http://schemas.openxmlformats.org/drawingml/2006/main"/>
        </p:blipFill>
        <p:spPr>
          <a:xfrm xmlns:a="http://schemas.openxmlformats.org/drawingml/2006/main">
            <a:off x="3952875" y="1476375"/>
            <a:ext cx="428625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D77F74C-FE3B-41DA-AAED-2B6D773BD8B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Mechanical support remains</a:t>
            </a:r>
          </a:p>
        </p:txBody>
      </p:sp>
    </p:spTree>
    <p:extLst>
      <p:ext uri="{BB962C8B-B14F-4D97-AF65-F5344CB8AC3E}">
        <p14:creationId xmlns:p14="http://schemas.microsoft.com/office/powerpoint/2010/main" val="622106767"/>
      </p:ext>
    </p:extLst>
  </p:cSld>
</p:sld>
</file>

<file path=ppt/slides/slide3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C91A1A-7554-4A64-81E3-BCE3ED36AE04}"/>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NEURAL CODING</a:t>
            </a:r>
          </a:p>
        </p:txBody>
      </p:sp>
      <p:sp>
        <p:nvSpPr>
          <p:cNvPr id="2" name="">
            <a:extLst xmlns:a="http://schemas.openxmlformats.org/drawingml/2006/main">
              <a:ext uri="{FF2B5EF4-FFF2-40B4-BE49-F238E27FC236}">
                <a16:creationId xmlns:a16="http://schemas.microsoft.com/office/drawing/2014/main" id="{1BF36819-D725-474C-90DD-E78A611B5493}"/>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Spiking and non-spiking realizations can produce different timing</a:t>
            </a:r>
          </a:p>
        </p:txBody>
      </p:sp>
      <p:sp>
        <p:nvSpPr>
          <p:cNvPr id="3" name="">
            <a:extLst xmlns:a="http://schemas.openxmlformats.org/drawingml/2006/main">
              <a:ext uri="{FF2B5EF4-FFF2-40B4-BE49-F238E27FC236}">
                <a16:creationId xmlns:a16="http://schemas.microsoft.com/office/drawing/2014/main" id="{6EC72183-1F2F-4AE9-893F-9BDC16BB9195}"/>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Revision C · Appendix, Simulation Verification; knee spiking-twin figure</a:t>
            </a:r>
          </a:p>
        </p:txBody>
      </p:sp>
      <p:sp>
        <p:nvSpPr>
          <p:cNvPr id="4" name="">
            <a:extLst xmlns:a="http://schemas.openxmlformats.org/drawingml/2006/main">
              <a:ext uri="{FF2B5EF4-FFF2-40B4-BE49-F238E27FC236}">
                <a16:creationId xmlns:a16="http://schemas.microsoft.com/office/drawing/2014/main" id="{E6E62DA3-C7D4-4AEF-B84D-2234B7BBA8CB}"/>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36</a:t>
            </a:r>
          </a:p>
        </p:txBody>
      </p:sp>
      <p:pic>
        <p:nvPicPr>
          <p:cNvPr id="5" name="">
            <a:extLst xmlns:a="http://schemas.openxmlformats.org/drawingml/2006/main">
              <a:ext uri="{FF2B5EF4-FFF2-40B4-BE49-F238E27FC236}">
                <a16:creationId xmlns:a16="http://schemas.microsoft.com/office/drawing/2014/main" id="{41FD30E1-4430-4196-8AD5-294F50C06272}"/>
              </a:ext>
            </a:extLst>
          </p:cNvPr>
          <p:cNvPicPr>
            <a:picLocks xmlns:a="http://schemas.openxmlformats.org/drawingml/2006/main" noChangeAspect="1"/>
          </p:cNvPicPr>
          <p:nvPr/>
        </p:nvPicPr>
        <p:blipFill>
          <a:blip xmlns:r="http://schemas.openxmlformats.org/officeDocument/2006/relationships" xmlns:a="http://schemas.openxmlformats.org/drawingml/2006/main" r:embed="R7ca1c3a3bd1c425e"/>
          <a:stretch xmlns:a="http://schemas.openxmlformats.org/drawingml/2006/main"/>
        </p:blipFill>
        <p:spPr>
          <a:xfrm xmlns:a="http://schemas.openxmlformats.org/drawingml/2006/main">
            <a:off x="3004954" y="1476375"/>
            <a:ext cx="6182091"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EE09F8-4ED6-4A68-9051-EED223A75104}"/>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A matched interface does not ensure matched dynamics</a:t>
            </a:r>
          </a:p>
        </p:txBody>
      </p:sp>
    </p:spTree>
    <p:extLst>
      <p:ext uri="{BB962C8B-B14F-4D97-AF65-F5344CB8AC3E}">
        <p14:creationId xmlns:p14="http://schemas.microsoft.com/office/powerpoint/2010/main" val="1953741643"/>
      </p:ext>
    </p:extLst>
  </p:cSld>
</p:sld>
</file>

<file path=ppt/slides/slide3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360CB4-5EC9-4670-9EB8-FB416A4CE207}"/>
              </a:ext>
            </a:extLst>
          </p:cNvPr>
          <p:cNvSpPr>
            <a:spLocks xmlns:a="http://schemas.openxmlformats.org/drawingml/2006/main" noGrp="1"/>
          </p:cNvSpPr>
          <p:nvPr/>
        </p:nvSpPr>
        <p:spPr>
          <a:xfrm xmlns:a="http://schemas.openxmlformats.org/drawingml/2006/main">
            <a:off x="285750" y="142875"/>
            <a:ext cx="1143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1">
                <a:solidFill>
                  <a:srgbClr val="00796B"/>
                </a:solidFill>
              </a:defRPr>
            </a:defPPr>
            <a:lvl1pPr>
              <a:defRPr sz="1200" b="1">
                <a:solidFill>
                  <a:srgbClr val="00796B"/>
                </a:solidFill>
              </a:defRPr>
            </a:lvl1pPr>
            <a:lvl2pPr>
              <a:defRPr sz="1200" b="1">
                <a:solidFill>
                  <a:srgbClr val="00796B"/>
                </a:solidFill>
              </a:defRPr>
            </a:lvl2pPr>
            <a:lvl3pPr>
              <a:defRPr sz="1200" b="1">
                <a:solidFill>
                  <a:srgbClr val="00796B"/>
                </a:solidFill>
              </a:defRPr>
            </a:lvl3pPr>
            <a:lvl4pPr>
              <a:defRPr sz="1200" b="1">
                <a:solidFill>
                  <a:srgbClr val="00796B"/>
                </a:solidFill>
              </a:defRPr>
            </a:lvl4pPr>
            <a:lvl5pPr>
              <a:defRPr sz="1200" b="1">
                <a:solidFill>
                  <a:srgbClr val="00796B"/>
                </a:solidFill>
              </a:defRPr>
            </a:lvl5pPr>
            <a:lvl6pPr>
              <a:defRPr sz="1200" b="1">
                <a:solidFill>
                  <a:srgbClr val="00796B"/>
                </a:solidFill>
              </a:defRPr>
            </a:lvl6pPr>
            <a:lvl7pPr>
              <a:defRPr sz="1200" b="1">
                <a:solidFill>
                  <a:srgbClr val="00796B"/>
                </a:solidFill>
              </a:defRPr>
            </a:lvl7pPr>
            <a:lvl8pPr>
              <a:defRPr sz="1200" b="1">
                <a:solidFill>
                  <a:srgbClr val="00796B"/>
                </a:solidFill>
              </a:defRPr>
            </a:lvl8pPr>
            <a:lvl9pPr>
              <a:defRPr sz="1200" b="1">
                <a:solidFill>
                  <a:srgbClr val="00796B"/>
                </a:solidFill>
              </a:defRPr>
            </a:lvl9pPr>
          </a:lstStyle>
          <a:p xmlns:a="http://schemas.openxmlformats.org/drawingml/2006/main">
            <a:pPr>
              <a:defRPr sz="1200" b="1">
                <a:solidFill>
                  <a:srgbClr val="00796B"/>
                </a:solidFill>
              </a:defRPr>
            </a:pPr>
            <a:r>
              <a:rPr sz="1200" b="1">
                <a:solidFill>
                  <a:srgbClr val="00796B"/>
                </a:solidFill>
              </a:rPr>
              <a:t>BACKUP: TARGET DEFINITION</a:t>
            </a:r>
          </a:p>
        </p:txBody>
      </p:sp>
      <p:sp>
        <p:nvSpPr>
          <p:cNvPr id="2" name="">
            <a:extLst xmlns:a="http://schemas.openxmlformats.org/drawingml/2006/main">
              <a:ext uri="{FF2B5EF4-FFF2-40B4-BE49-F238E27FC236}">
                <a16:creationId xmlns:a16="http://schemas.microsoft.com/office/drawing/2014/main" id="{D9AE781D-27D6-47F6-B353-E104B9FD1FE2}"/>
              </a:ext>
            </a:extLst>
          </p:cNvPr>
          <p:cNvSpPr>
            <a:spLocks xmlns:a="http://schemas.openxmlformats.org/drawingml/2006/main" noGrp="1"/>
          </p:cNvSpPr>
          <p:nvPr/>
        </p:nvSpPr>
        <p:spPr>
          <a:xfrm xmlns:a="http://schemas.openxmlformats.org/drawingml/2006/main">
            <a:off x="285750" y="466725"/>
            <a:ext cx="11620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AF7B51"/>
                </a:solidFill>
              </a:defRPr>
            </a:defPPr>
            <a:lvl1pPr>
              <a:defRPr sz="3225" b="1">
                <a:solidFill>
                  <a:srgbClr val="AF7B51"/>
                </a:solidFill>
              </a:defRPr>
            </a:lvl1pPr>
            <a:lvl2pPr>
              <a:defRPr sz="3225" b="1">
                <a:solidFill>
                  <a:srgbClr val="AF7B51"/>
                </a:solidFill>
              </a:defRPr>
            </a:lvl2pPr>
            <a:lvl3pPr>
              <a:defRPr sz="3225" b="1">
                <a:solidFill>
                  <a:srgbClr val="AF7B51"/>
                </a:solidFill>
              </a:defRPr>
            </a:lvl3pPr>
            <a:lvl4pPr>
              <a:defRPr sz="3225" b="1">
                <a:solidFill>
                  <a:srgbClr val="AF7B51"/>
                </a:solidFill>
              </a:defRPr>
            </a:lvl4pPr>
            <a:lvl5pPr>
              <a:defRPr sz="3225" b="1">
                <a:solidFill>
                  <a:srgbClr val="AF7B51"/>
                </a:solidFill>
              </a:defRPr>
            </a:lvl5pPr>
            <a:lvl6pPr>
              <a:defRPr sz="3225" b="1">
                <a:solidFill>
                  <a:srgbClr val="AF7B51"/>
                </a:solidFill>
              </a:defRPr>
            </a:lvl6pPr>
            <a:lvl7pPr>
              <a:defRPr sz="3225" b="1">
                <a:solidFill>
                  <a:srgbClr val="AF7B51"/>
                </a:solidFill>
              </a:defRPr>
            </a:lvl7pPr>
            <a:lvl8pPr>
              <a:defRPr sz="3225" b="1">
                <a:solidFill>
                  <a:srgbClr val="AF7B51"/>
                </a:solidFill>
              </a:defRPr>
            </a:lvl8pPr>
            <a:lvl9pPr>
              <a:defRPr sz="3225" b="1">
                <a:solidFill>
                  <a:srgbClr val="AF7B51"/>
                </a:solidFill>
              </a:defRPr>
            </a:lvl9pPr>
          </a:lstStyle>
          <a:p xmlns:a="http://schemas.openxmlformats.org/drawingml/2006/main">
            <a:pPr>
              <a:defRPr sz="3225" b="1">
                <a:solidFill>
                  <a:srgbClr val="AF7B51"/>
                </a:solidFill>
              </a:defRPr>
            </a:pPr>
            <a:r>
              <a:rPr sz="3225" b="1">
                <a:solidFill>
                  <a:srgbClr val="AF7B51"/>
                </a:solidFill>
              </a:rPr>
              <a:t>The human comparison uses one selected muscle reference</a:t>
            </a:r>
          </a:p>
        </p:txBody>
      </p:sp>
      <p:sp>
        <p:nvSpPr>
          <p:cNvPr id="3" name="">
            <a:extLst xmlns:a="http://schemas.openxmlformats.org/drawingml/2006/main">
              <a:ext uri="{FF2B5EF4-FFF2-40B4-BE49-F238E27FC236}">
                <a16:creationId xmlns:a16="http://schemas.microsoft.com/office/drawing/2014/main" id="{609DF357-775E-47DF-B511-D4490033632C}"/>
              </a:ext>
            </a:extLst>
          </p:cNvPr>
          <p:cNvSpPr>
            <a:spLocks xmlns:a="http://schemas.openxmlformats.org/drawingml/2006/main" noGrp="1"/>
          </p:cNvSpPr>
          <p:nvPr/>
        </p:nvSpPr>
        <p:spPr>
          <a:xfrm xmlns:a="http://schemas.openxmlformats.org/drawingml/2006/main">
            <a:off x="333375" y="640080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95959"/>
                </a:solidFill>
              </a:defRPr>
            </a:defPPr>
            <a:lvl1pPr>
              <a:defRPr sz="1350" b="0">
                <a:solidFill>
                  <a:srgbClr val="595959"/>
                </a:solidFill>
              </a:defRPr>
            </a:lvl1pPr>
            <a:lvl2pPr>
              <a:defRPr sz="1350" b="0">
                <a:solidFill>
                  <a:srgbClr val="595959"/>
                </a:solidFill>
              </a:defRPr>
            </a:lvl2pPr>
            <a:lvl3pPr>
              <a:defRPr sz="1350" b="0">
                <a:solidFill>
                  <a:srgbClr val="595959"/>
                </a:solidFill>
              </a:defRPr>
            </a:lvl3pPr>
            <a:lvl4pPr>
              <a:defRPr sz="1350" b="0">
                <a:solidFill>
                  <a:srgbClr val="595959"/>
                </a:solidFill>
              </a:defRPr>
            </a:lvl4pPr>
            <a:lvl5pPr>
              <a:defRPr sz="1350" b="0">
                <a:solidFill>
                  <a:srgbClr val="595959"/>
                </a:solidFill>
              </a:defRPr>
            </a:lvl5pPr>
            <a:lvl6pPr>
              <a:defRPr sz="1350" b="0">
                <a:solidFill>
                  <a:srgbClr val="595959"/>
                </a:solidFill>
              </a:defRPr>
            </a:lvl6pPr>
            <a:lvl7pPr>
              <a:defRPr sz="1350" b="0">
                <a:solidFill>
                  <a:srgbClr val="595959"/>
                </a:solidFill>
              </a:defRPr>
            </a:lvl7pPr>
            <a:lvl8pPr>
              <a:defRPr sz="1350" b="0">
                <a:solidFill>
                  <a:srgbClr val="595959"/>
                </a:solidFill>
              </a:defRPr>
            </a:lvl8pPr>
            <a:lvl9pPr>
              <a:defRPr sz="1350" b="0">
                <a:solidFill>
                  <a:srgbClr val="595959"/>
                </a:solidFill>
              </a:defRPr>
            </a:lvl9pPr>
          </a:lstStyle>
          <a:p xmlns:a="http://schemas.openxmlformats.org/drawingml/2006/main">
            <a:pPr>
              <a:defRPr sz="1350" b="0">
                <a:solidFill>
                  <a:srgbClr val="595959"/>
                </a:solidFill>
              </a:defRPr>
            </a:pPr>
            <a:r>
              <a:rPr sz="1350" b="0">
                <a:solidFill>
                  <a:srgbClr val="595959"/>
                </a:solidFill>
              </a:rPr>
              <a:t>Knee-torque paper · Fig. Flx20mm, panel A; OpenSim Gait2392</a:t>
            </a:r>
          </a:p>
        </p:txBody>
      </p:sp>
      <p:sp>
        <p:nvSpPr>
          <p:cNvPr id="4" name="">
            <a:extLst xmlns:a="http://schemas.openxmlformats.org/drawingml/2006/main">
              <a:ext uri="{FF2B5EF4-FFF2-40B4-BE49-F238E27FC236}">
                <a16:creationId xmlns:a16="http://schemas.microsoft.com/office/drawing/2014/main" id="{5B4C2E5E-3647-498D-A848-7E0EBF9064CF}"/>
              </a:ext>
            </a:extLst>
          </p:cNvPr>
          <p:cNvSpPr>
            <a:spLocks xmlns:a="http://schemas.openxmlformats.org/drawingml/2006/main" noGrp="1"/>
          </p:cNvSpPr>
          <p:nvPr/>
        </p:nvSpPr>
        <p:spPr>
          <a:xfrm xmlns:a="http://schemas.openxmlformats.org/drawingml/2006/main">
            <a:off x="11525250" y="64293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95959"/>
                </a:solidFill>
              </a:defRPr>
            </a:defPPr>
            <a:lvl1pPr>
              <a:defRPr sz="1200" b="0">
                <a:solidFill>
                  <a:srgbClr val="595959"/>
                </a:solidFill>
              </a:defRPr>
            </a:lvl1pPr>
            <a:lvl2pPr>
              <a:defRPr sz="1200" b="0">
                <a:solidFill>
                  <a:srgbClr val="595959"/>
                </a:solidFill>
              </a:defRPr>
            </a:lvl2pPr>
            <a:lvl3pPr>
              <a:defRPr sz="1200" b="0">
                <a:solidFill>
                  <a:srgbClr val="595959"/>
                </a:solidFill>
              </a:defRPr>
            </a:lvl3pPr>
            <a:lvl4pPr>
              <a:defRPr sz="1200" b="0">
                <a:solidFill>
                  <a:srgbClr val="595959"/>
                </a:solidFill>
              </a:defRPr>
            </a:lvl4pPr>
            <a:lvl5pPr>
              <a:defRPr sz="1200" b="0">
                <a:solidFill>
                  <a:srgbClr val="595959"/>
                </a:solidFill>
              </a:defRPr>
            </a:lvl5pPr>
            <a:lvl6pPr>
              <a:defRPr sz="1200" b="0">
                <a:solidFill>
                  <a:srgbClr val="595959"/>
                </a:solidFill>
              </a:defRPr>
            </a:lvl6pPr>
            <a:lvl7pPr>
              <a:defRPr sz="1200" b="0">
                <a:solidFill>
                  <a:srgbClr val="595959"/>
                </a:solidFill>
              </a:defRPr>
            </a:lvl7pPr>
            <a:lvl8pPr>
              <a:defRPr sz="1200" b="0">
                <a:solidFill>
                  <a:srgbClr val="595959"/>
                </a:solidFill>
              </a:defRPr>
            </a:lvl8pPr>
            <a:lvl9pPr>
              <a:defRPr sz="1200" b="0">
                <a:solidFill>
                  <a:srgbClr val="595959"/>
                </a:solidFill>
              </a:defRPr>
            </a:lvl9pPr>
          </a:lstStyle>
          <a:p xmlns:a="http://schemas.openxmlformats.org/drawingml/2006/main">
            <a:pPr>
              <a:defRPr sz="1200" b="0">
                <a:solidFill>
                  <a:srgbClr val="595959"/>
                </a:solidFill>
              </a:defRPr>
            </a:pPr>
            <a:r>
              <a:rPr sz="1200" b="0">
                <a:solidFill>
                  <a:srgbClr val="595959"/>
                </a:solidFill>
              </a:rPr>
              <a:t>37</a:t>
            </a:r>
          </a:p>
        </p:txBody>
      </p:sp>
      <p:pic>
        <p:nvPicPr>
          <p:cNvPr id="5" name="">
            <a:extLst xmlns:a="http://schemas.openxmlformats.org/drawingml/2006/main">
              <a:ext uri="{FF2B5EF4-FFF2-40B4-BE49-F238E27FC236}">
                <a16:creationId xmlns:a16="http://schemas.microsoft.com/office/drawing/2014/main" id="{3FB598EF-2A1E-4B3A-9B9D-A33D5F0AE599}"/>
              </a:ext>
            </a:extLst>
          </p:cNvPr>
          <p:cNvPicPr>
            <a:picLocks xmlns:a="http://schemas.openxmlformats.org/drawingml/2006/main" noChangeAspect="1"/>
          </p:cNvPicPr>
          <p:nvPr/>
        </p:nvPicPr>
        <p:blipFill>
          <a:blip xmlns:r="http://schemas.openxmlformats.org/officeDocument/2006/relationships" xmlns:a="http://schemas.openxmlformats.org/drawingml/2006/main" r:embed="R5fda577a2480437f"/>
          <a:stretch xmlns:a="http://schemas.openxmlformats.org/drawingml/2006/main"/>
        </p:blipFill>
        <p:spPr>
          <a:xfrm xmlns:a="http://schemas.openxmlformats.org/drawingml/2006/main">
            <a:off x="3104113" y="1476375"/>
            <a:ext cx="5983775"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DAA1DE2-5773-493F-8894-7124CEA2D076}"/>
              </a:ext>
            </a:extLst>
          </p:cNvPr>
          <p:cNvSpPr>
            <a:spLocks xmlns:a="http://schemas.openxmlformats.org/drawingml/2006/main" noGrp="1"/>
          </p:cNvSpPr>
          <p:nvPr/>
        </p:nvSpPr>
        <p:spPr>
          <a:xfrm xmlns:a="http://schemas.openxmlformats.org/drawingml/2006/main">
            <a:off x="619125" y="58483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00796B"/>
                </a:solidFill>
              </a:defRPr>
            </a:defPPr>
            <a:lvl1pPr>
              <a:defRPr sz="1950" b="1">
                <a:solidFill>
                  <a:srgbClr val="00796B"/>
                </a:solidFill>
              </a:defRPr>
            </a:lvl1pPr>
            <a:lvl2pPr>
              <a:defRPr sz="1950" b="1">
                <a:solidFill>
                  <a:srgbClr val="00796B"/>
                </a:solidFill>
              </a:defRPr>
            </a:lvl2pPr>
            <a:lvl3pPr>
              <a:defRPr sz="1950" b="1">
                <a:solidFill>
                  <a:srgbClr val="00796B"/>
                </a:solidFill>
              </a:defRPr>
            </a:lvl3pPr>
            <a:lvl4pPr>
              <a:defRPr sz="1950" b="1">
                <a:solidFill>
                  <a:srgbClr val="00796B"/>
                </a:solidFill>
              </a:defRPr>
            </a:lvl4pPr>
            <a:lvl5pPr>
              <a:defRPr sz="1950" b="1">
                <a:solidFill>
                  <a:srgbClr val="00796B"/>
                </a:solidFill>
              </a:defRPr>
            </a:lvl5pPr>
            <a:lvl6pPr>
              <a:defRPr sz="1950" b="1">
                <a:solidFill>
                  <a:srgbClr val="00796B"/>
                </a:solidFill>
              </a:defRPr>
            </a:lvl6pPr>
            <a:lvl7pPr>
              <a:defRPr sz="1950" b="1">
                <a:solidFill>
                  <a:srgbClr val="00796B"/>
                </a:solidFill>
              </a:defRPr>
            </a:lvl7pPr>
            <a:lvl8pPr>
              <a:defRPr sz="1950" b="1">
                <a:solidFill>
                  <a:srgbClr val="00796B"/>
                </a:solidFill>
              </a:defRPr>
            </a:lvl8pPr>
            <a:lvl9pPr>
              <a:defRPr sz="1950" b="1">
                <a:solidFill>
                  <a:srgbClr val="00796B"/>
                </a:solidFill>
              </a:defRPr>
            </a:lvl9pPr>
          </a:lstStyle>
          <a:p xmlns:a="http://schemas.openxmlformats.org/drawingml/2006/main">
            <a:pPr>
              <a:defRPr sz="1950" b="1">
                <a:solidFill>
                  <a:srgbClr val="00796B"/>
                </a:solidFill>
              </a:defRPr>
            </a:pPr>
            <a:r>
              <a:rPr sz="1950" b="1">
                <a:solidFill>
                  <a:srgbClr val="00796B"/>
                </a:solidFill>
              </a:rPr>
              <a:t>Biceps femoris short head; maximum isometric model torque</a:t>
            </a:r>
          </a:p>
        </p:txBody>
      </p:sp>
    </p:spTree>
    <p:extLst>
      <p:ext uri="{BB962C8B-B14F-4D97-AF65-F5344CB8AC3E}">
        <p14:creationId xmlns:p14="http://schemas.microsoft.com/office/powerpoint/2010/main" val="4972929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2026-10-23T15:54:05.6250000Z</dcterms:created>
  <dcterms:modified xsi:type="dcterms:W3CDTF">2026-10-23T15:54:05.6250000Z</dcterms:modified>
</coreProperties>
</file>