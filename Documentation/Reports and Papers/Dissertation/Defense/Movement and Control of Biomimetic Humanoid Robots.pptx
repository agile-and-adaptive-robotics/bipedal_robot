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embeddedFontLst>
    <p:embeddedFont>
      <p:font typeface="Nunito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Nunito-bold.fntdata"/><Relationship Id="rId14" Type="http://schemas.openxmlformats.org/officeDocument/2006/relationships/slide" Target="slides/slide8.xml"/><Relationship Id="rId36" Type="http://schemas.openxmlformats.org/officeDocument/2006/relationships/font" Target="fonts/Nunito-regular.fntdata"/><Relationship Id="rId17" Type="http://schemas.openxmlformats.org/officeDocument/2006/relationships/slide" Target="slides/slide11.xml"/><Relationship Id="rId39" Type="http://schemas.openxmlformats.org/officeDocument/2006/relationships/font" Target="fonts/Nunito-boldItalic.fntdata"/><Relationship Id="rId16" Type="http://schemas.openxmlformats.org/officeDocument/2006/relationships/slide" Target="slides/slide10.xml"/><Relationship Id="rId38" Type="http://schemas.openxmlformats.org/officeDocument/2006/relationships/font" Target="fonts/Nunito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c393c13c9c_2_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c393c13c9c_2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c393c13c9c_2_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c393c13c9c_2_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c393c13c9c_2_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c393c13c9c_2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c393c13c9c_2_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c393c13c9c_2_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c393c13c9c_2_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c393c13c9c_2_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c393c13c9c_2_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c393c13c9c_2_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c393c13c9c_2_1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c393c13c9c_2_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c393c13c9c_2_1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c393c13c9c_2_1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c393c13c9c_2_1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c393c13c9c_2_1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c393c13c9c_2_1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c393c13c9c_2_1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c393c13c9c_2_1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c393c13c9c_2_1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c393c13c9c_2_1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c393c13c9c_2_1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c393c13c9c_2_1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c393c13c9c_2_1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c393c13c9c_2_1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c393c13c9c_2_1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c393c13c9c_2_1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c393c13c9c_2_1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c393c13c9c_2_1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c393c13c9c_2_1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c393c13c9c_2_1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c393c13c9c_2_1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c393c13c9c_2_1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c393c13c9c_2_1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c393c13c9c_2_1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c393c13c9c_2_1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c393c13c9c_2_1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c393c13c9c_2_1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c393c13c9c_2_1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c393c13c9c_2_1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c393c13c9c_2_1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c393c13c9c_2_1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c393c13c9c_2_1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c393c13c9c_2_1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c393c13c9c_2_1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c393c13c9c_2_1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c393c13c9c_2_1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c393c13c9c_2_1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c393c13c9c_2_1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gc393c13c9c_2_1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c393c13c9c_2_1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gc393c13c9c_2_1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c393c13c9c_2_1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gc393c13c9c_2_1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c393c13c9c_2_2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c393c13c9c_2_2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3218116" y="1408844"/>
            <a:ext cx="4889205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  <a:defRPr b="1"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218116" y="3310271"/>
            <a:ext cx="4889205" cy="342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628650" y="273844"/>
            <a:ext cx="726567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0" type="dt"/>
          </p:nvPr>
        </p:nvSpPr>
        <p:spPr>
          <a:xfrm>
            <a:off x="3543300" y="479940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st Slide" showMasterSp="0">
  <p:cSld name="Last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8" name="Google Shape;68;p17"/>
          <p:cNvSpPr txBox="1"/>
          <p:nvPr>
            <p:ph idx="10" type="dt"/>
          </p:nvPr>
        </p:nvSpPr>
        <p:spPr>
          <a:xfrm>
            <a:off x="3543300" y="479940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628650" y="273844"/>
            <a:ext cx="731139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0" type="dt"/>
          </p:nvPr>
        </p:nvSpPr>
        <p:spPr>
          <a:xfrm>
            <a:off x="3543300" y="479940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79" name="Google Shape;79;p19"/>
          <p:cNvSpPr txBox="1"/>
          <p:nvPr>
            <p:ph idx="2" type="body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1" name="Google Shape;81;p1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0" type="dt"/>
          </p:nvPr>
        </p:nvSpPr>
        <p:spPr>
          <a:xfrm>
            <a:off x="3543300" y="479940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/>
          <p:nvPr>
            <p:ph type="title"/>
          </p:nvPr>
        </p:nvSpPr>
        <p:spPr>
          <a:xfrm>
            <a:off x="628650" y="273844"/>
            <a:ext cx="731139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0"/>
          <p:cNvSpPr txBox="1"/>
          <p:nvPr>
            <p:ph idx="10" type="dt"/>
          </p:nvPr>
        </p:nvSpPr>
        <p:spPr>
          <a:xfrm>
            <a:off x="3543300" y="479940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0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 txBox="1"/>
          <p:nvPr>
            <p:ph idx="10" type="dt"/>
          </p:nvPr>
        </p:nvSpPr>
        <p:spPr>
          <a:xfrm>
            <a:off x="3543300" y="479940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1"/>
          <p:cNvSpPr txBox="1"/>
          <p:nvPr>
            <p:ph idx="12" type="sldNum"/>
          </p:nvPr>
        </p:nvSpPr>
        <p:spPr>
          <a:xfrm>
            <a:off x="8740942" y="4767263"/>
            <a:ext cx="403058" cy="3762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94" name="Google Shape;94;p22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95" name="Google Shape;95;p22"/>
          <p:cNvSpPr txBox="1"/>
          <p:nvPr>
            <p:ph idx="10" type="dt"/>
          </p:nvPr>
        </p:nvSpPr>
        <p:spPr>
          <a:xfrm>
            <a:off x="3543300" y="479940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2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3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0" name="Google Shape;100;p23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101" name="Google Shape;101;p23"/>
          <p:cNvSpPr txBox="1"/>
          <p:nvPr>
            <p:ph idx="10" type="dt"/>
          </p:nvPr>
        </p:nvSpPr>
        <p:spPr>
          <a:xfrm>
            <a:off x="3543300" y="479940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3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 txBox="1"/>
          <p:nvPr>
            <p:ph type="title"/>
          </p:nvPr>
        </p:nvSpPr>
        <p:spPr>
          <a:xfrm>
            <a:off x="628650" y="273844"/>
            <a:ext cx="731139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4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24"/>
          <p:cNvSpPr txBox="1"/>
          <p:nvPr>
            <p:ph idx="10" type="dt"/>
          </p:nvPr>
        </p:nvSpPr>
        <p:spPr>
          <a:xfrm>
            <a:off x="3543300" y="479940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4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5"/>
          <p:cNvSpPr txBox="1"/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5"/>
          <p:cNvSpPr txBox="1"/>
          <p:nvPr>
            <p:ph idx="1" type="body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25"/>
          <p:cNvSpPr txBox="1"/>
          <p:nvPr>
            <p:ph idx="10" type="dt"/>
          </p:nvPr>
        </p:nvSpPr>
        <p:spPr>
          <a:xfrm>
            <a:off x="3543300" y="479940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5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" Type="http://schemas.openxmlformats.org/officeDocument/2006/relationships/image" Target="../media/image43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31139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543300" y="479940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42034" y="65483"/>
            <a:ext cx="1070877" cy="107751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7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hyperlink" Target="https://doi.org/10.1007/978-3-030-24741-6_2" TargetMode="External"/><Relationship Id="rId5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oi.org/10.1007/978-3-030-64313-3_25" TargetMode="External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hyperlink" Target="https://doi.org/10.1115/1.1531112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oi.org/10.1115/DETC2013-13633" TargetMode="External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4.jp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rive.google.com/file/d/19Hspdrcxa1okIdhIMDEu3F0dmrLo1hcb/view" TargetMode="External"/><Relationship Id="rId4" Type="http://schemas.openxmlformats.org/officeDocument/2006/relationships/image" Target="../media/image2.jpg"/><Relationship Id="rId5" Type="http://schemas.openxmlformats.org/officeDocument/2006/relationships/hyperlink" Target="http://drive.google.com/file/d/18opDORlULn028L_UO6DhkYbzAIIj6oUd/view" TargetMode="External"/><Relationship Id="rId6" Type="http://schemas.openxmlformats.org/officeDocument/2006/relationships/image" Target="../media/image1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oi.org/10.1007/978-3-030-24741-6_2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1.jpg"/><Relationship Id="rId4" Type="http://schemas.openxmlformats.org/officeDocument/2006/relationships/image" Target="../media/image50.jpg"/><Relationship Id="rId5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png"/><Relationship Id="rId4" Type="http://schemas.openxmlformats.org/officeDocument/2006/relationships/image" Target="../media/image35.png"/><Relationship Id="rId5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Relationship Id="rId4" Type="http://schemas.openxmlformats.org/officeDocument/2006/relationships/hyperlink" Target="https://www.physiology.org/doi/full/10.1152/jn.2002.87.5.2271?url_ver=Z39.88-2003&amp;rfr_id=ori%3Arid%3Acrossref.org&amp;rfr_dat=cr_pub%3Dpubmed" TargetMode="External"/><Relationship Id="rId5" Type="http://schemas.openxmlformats.org/officeDocument/2006/relationships/hyperlink" Target="https://www.physiology.org/doi/full/10.1152/jn.2002.87.5.2271?url_ver=Z39.88-2003&amp;rfr_id=ori%3Arid%3Acrossref.org&amp;rfr_dat=cr_pub%3Dpubmed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7.png"/><Relationship Id="rId4" Type="http://schemas.openxmlformats.org/officeDocument/2006/relationships/image" Target="../media/image25.png"/><Relationship Id="rId5" Type="http://schemas.openxmlformats.org/officeDocument/2006/relationships/hyperlink" Target="https://doi.org/10.1088/1748-3190/aa8290" TargetMode="External"/><Relationship Id="rId6" Type="http://schemas.openxmlformats.org/officeDocument/2006/relationships/hyperlink" Target="https://doi.org/10.3390/biomimetics4010021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drive.google.com/file/d/1qU2_QWU022d0cz2-VdvkSvbRV8BDjq7b/view" TargetMode="External"/><Relationship Id="rId4" Type="http://schemas.openxmlformats.org/officeDocument/2006/relationships/image" Target="../media/image19.png"/><Relationship Id="rId5" Type="http://schemas.openxmlformats.org/officeDocument/2006/relationships/image" Target="../media/image2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8.png"/><Relationship Id="rId4" Type="http://schemas.openxmlformats.org/officeDocument/2006/relationships/image" Target="../media/image3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4.png"/><Relationship Id="rId4" Type="http://schemas.openxmlformats.org/officeDocument/2006/relationships/image" Target="../media/image3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8.png"/><Relationship Id="rId4" Type="http://schemas.openxmlformats.org/officeDocument/2006/relationships/image" Target="../media/image46.png"/><Relationship Id="rId5" Type="http://schemas.openxmlformats.org/officeDocument/2006/relationships/image" Target="../media/image2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0.png"/><Relationship Id="rId4" Type="http://schemas.openxmlformats.org/officeDocument/2006/relationships/image" Target="../media/image42.png"/><Relationship Id="rId5" Type="http://schemas.openxmlformats.org/officeDocument/2006/relationships/image" Target="../media/image36.png"/><Relationship Id="rId6" Type="http://schemas.openxmlformats.org/officeDocument/2006/relationships/image" Target="../media/image4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5.png"/><Relationship Id="rId4" Type="http://schemas.openxmlformats.org/officeDocument/2006/relationships/image" Target="../media/image3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8.pn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 txBox="1"/>
          <p:nvPr>
            <p:ph type="ctrTitle"/>
          </p:nvPr>
        </p:nvSpPr>
        <p:spPr>
          <a:xfrm>
            <a:off x="3218116" y="1615756"/>
            <a:ext cx="4889205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"/>
              <a:t>Movement and Control of Biomimetic Humanoid Robots</a:t>
            </a:r>
            <a:endParaRPr/>
          </a:p>
        </p:txBody>
      </p:sp>
      <p:pic>
        <p:nvPicPr>
          <p:cNvPr id="118" name="Google Shape;11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1731" y="4021432"/>
            <a:ext cx="3681170" cy="11220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/>
          <p:nvPr>
            <p:ph type="title"/>
          </p:nvPr>
        </p:nvSpPr>
        <p:spPr>
          <a:xfrm>
            <a:off x="628650" y="273844"/>
            <a:ext cx="726567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F7B51"/>
              </a:buClr>
              <a:buSzPts val="2800"/>
              <a:buFont typeface="Nunito"/>
              <a:buNone/>
            </a:pPr>
            <a:r>
              <a:rPr b="0" i="0" lang="en" sz="2800" u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A summary of my talk will help you focus </a:t>
            </a:r>
            <a:br>
              <a:rPr b="0" lang="en" sz="2800"/>
            </a:br>
            <a:r>
              <a:rPr b="0" i="0" lang="en" sz="2800" u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on three key areas:</a:t>
            </a:r>
            <a:endParaRPr sz="2800"/>
          </a:p>
        </p:txBody>
      </p:sp>
      <p:sp>
        <p:nvSpPr>
          <p:cNvPr id="124" name="Google Shape;124;p27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71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•"/>
            </a:pPr>
            <a:r>
              <a:rPr b="0" i="0" lang="en" sz="1800" u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Robot development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0" i="0" sz="1800" u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•"/>
            </a:pPr>
            <a:r>
              <a:rPr b="0" i="0" lang="en" sz="1800" u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Neural controller development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0" i="0" sz="1800" u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•"/>
            </a:pPr>
            <a:r>
              <a:rPr b="0" i="0" lang="en" sz="1800" u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Future work to integrate both these things</a:t>
            </a:r>
            <a:endParaRPr/>
          </a:p>
        </p:txBody>
      </p:sp>
      <p:sp>
        <p:nvSpPr>
          <p:cNvPr id="125" name="Google Shape;125;p27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8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" name="Google Shape;131;p28"/>
          <p:cNvSpPr/>
          <p:nvPr/>
        </p:nvSpPr>
        <p:spPr>
          <a:xfrm>
            <a:off x="0" y="159843"/>
            <a:ext cx="791590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F7B51"/>
              </a:buClr>
              <a:buSzPts val="1800"/>
              <a:buFont typeface="Nunito"/>
              <a:buNone/>
            </a:pPr>
            <a:r>
              <a:rPr b="0" i="0" lang="en" sz="230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Biomimetic humanoid robots can test and deepen our understanding of how the human body moves.</a:t>
            </a:r>
            <a:br>
              <a:rPr b="0" i="0" lang="en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1346826"/>
            <a:ext cx="2405059" cy="2866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97765" y="1346823"/>
            <a:ext cx="5098302" cy="2865557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8"/>
          <p:cNvSpPr txBox="1"/>
          <p:nvPr/>
        </p:nvSpPr>
        <p:spPr>
          <a:xfrm>
            <a:off x="520607" y="4325046"/>
            <a:ext cx="640912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Asano, Y., et al. (2016, November). Human mimetic musculoskeletal humanoid Kengoro toward real world physically interactive actions.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b="0" i="1" lang="en" sz="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2016 IEEE-RAS 16th International Conference on Humanoid Robots (Humanoids)</a:t>
            </a:r>
            <a:r>
              <a:rPr b="0" i="0" lang="en" sz="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(pp. 876-883). IEEE.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9"/>
          <p:cNvPicPr preferRelativeResize="0"/>
          <p:nvPr/>
        </p:nvPicPr>
        <p:blipFill rotWithShape="1">
          <a:blip r:embed="rId3">
            <a:alphaModFix/>
          </a:blip>
          <a:srcRect b="4475" l="0" r="0" t="2092"/>
          <a:stretch/>
        </p:blipFill>
        <p:spPr>
          <a:xfrm>
            <a:off x="4513226" y="1078665"/>
            <a:ext cx="1528325" cy="32827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4"/>
              </a:srgbClr>
            </a:outerShdw>
          </a:effectLst>
        </p:spPr>
      </p:pic>
      <p:sp>
        <p:nvSpPr>
          <p:cNvPr id="140" name="Google Shape;140;p29"/>
          <p:cNvSpPr txBox="1"/>
          <p:nvPr>
            <p:ph type="title"/>
          </p:nvPr>
        </p:nvSpPr>
        <p:spPr>
          <a:xfrm>
            <a:off x="0" y="25018"/>
            <a:ext cx="726567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F7B51"/>
              </a:buClr>
              <a:buSzPts val="1800"/>
              <a:buFont typeface="Nunito"/>
              <a:buNone/>
            </a:pPr>
            <a:r>
              <a:rPr b="0" i="0" lang="en" sz="2000" u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In the AARL we are designing and building a bipedal robot with a 3D printed skeleton and </a:t>
            </a:r>
            <a:r>
              <a:rPr lang="en" sz="2000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artificial muscles</a:t>
            </a:r>
            <a:r>
              <a:rPr b="0" i="0" lang="en" sz="2000" u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 to mimic a human biomechanical model.</a:t>
            </a:r>
            <a:endParaRPr sz="3500"/>
          </a:p>
        </p:txBody>
      </p:sp>
      <p:sp>
        <p:nvSpPr>
          <p:cNvPr id="141" name="Google Shape;141;p29"/>
          <p:cNvSpPr txBox="1"/>
          <p:nvPr>
            <p:ph idx="1" type="body"/>
          </p:nvPr>
        </p:nvSpPr>
        <p:spPr>
          <a:xfrm>
            <a:off x="628650" y="4361415"/>
            <a:ext cx="7886700" cy="3677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None/>
            </a:pPr>
            <a:r>
              <a:rPr b="0" i="0" lang="en" sz="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Bolen, Ben P., and Alexander J. Hunt. “Determination of Artificial Muscle Placement for Biomimetic Humanoid Robot Legs.” </a:t>
            </a:r>
            <a:r>
              <a:rPr b="0" i="1" lang="en" sz="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Biomimetic and Biohybrid Systems</a:t>
            </a:r>
            <a:r>
              <a:rPr b="0" i="0" lang="en" sz="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None/>
            </a:pPr>
            <a:r>
              <a:rPr b="0" i="0" lang="en" sz="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edited by Uriel Martinez-Hernandez et al., vol. 11556, Springer International Publishing, 2019, pp. 15–26. </a:t>
            </a:r>
            <a:r>
              <a:rPr b="0" i="1" lang="en" sz="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DOI.org (Crossref)</a:t>
            </a:r>
            <a:r>
              <a:rPr b="0" i="0" lang="en" sz="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doi:</a:t>
            </a:r>
            <a:r>
              <a:rPr b="0" i="0" lang="en" sz="800" u="sng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10.1007/978-3-030-24741-6_2</a:t>
            </a:r>
            <a:r>
              <a:rPr b="0" i="0" lang="en" sz="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800"/>
            </a:br>
            <a:endParaRPr sz="800"/>
          </a:p>
        </p:txBody>
      </p:sp>
      <p:sp>
        <p:nvSpPr>
          <p:cNvPr id="142" name="Google Shape;142;p29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43" name="Google Shape;143;p29"/>
          <p:cNvCxnSpPr/>
          <p:nvPr/>
        </p:nvCxnSpPr>
        <p:spPr>
          <a:xfrm flipH="1" rot="10800000">
            <a:off x="5506395" y="1953888"/>
            <a:ext cx="753000" cy="330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stealth"/>
            <a:tailEnd len="sm" w="sm" type="none"/>
          </a:ln>
          <a:effectLst>
            <a:outerShdw blurRad="57150" rotWithShape="0" algn="bl" dir="5400000" dist="19050">
              <a:srgbClr val="000000">
                <a:alpha val="49804"/>
              </a:srgbClr>
            </a:outerShdw>
          </a:effectLst>
        </p:spPr>
      </p:cxnSp>
      <p:sp>
        <p:nvSpPr>
          <p:cNvPr id="144" name="Google Shape;144;p29"/>
          <p:cNvSpPr txBox="1"/>
          <p:nvPr/>
        </p:nvSpPr>
        <p:spPr>
          <a:xfrm>
            <a:off x="6277920" y="1861988"/>
            <a:ext cx="1616400" cy="4002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rPr lang="en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 muscles per side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29"/>
          <p:cNvPicPr preferRelativeResize="0"/>
          <p:nvPr/>
        </p:nvPicPr>
        <p:blipFill rotWithShape="1">
          <a:blip r:embed="rId5">
            <a:alphaModFix/>
          </a:blip>
          <a:srcRect b="0" l="0" r="0" t="11606"/>
          <a:stretch/>
        </p:blipFill>
        <p:spPr>
          <a:xfrm>
            <a:off x="1847029" y="1401065"/>
            <a:ext cx="1698675" cy="2827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4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0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" name="Google Shape;151;p30"/>
          <p:cNvSpPr txBox="1"/>
          <p:nvPr/>
        </p:nvSpPr>
        <p:spPr>
          <a:xfrm>
            <a:off x="934746" y="4088275"/>
            <a:ext cx="74151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279400" lvl="0" marL="279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Morrow, Connor, et al. “Optimization of Artificial Muscle Placements for a Humanoid Bipedal Robot.” </a:t>
            </a:r>
            <a:r>
              <a:rPr i="1" lang="en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Biomimetic and Biohybrid Systems</a:t>
            </a:r>
            <a:r>
              <a:rPr lang="en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edited by Vasiliki Vouloutsi et al., vol. 12413, Springer International Publishing, 2020, pp. 257–69. </a:t>
            </a:r>
            <a:r>
              <a:rPr i="1" lang="en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DOI.org (Crossref)</a:t>
            </a:r>
            <a:r>
              <a:rPr lang="en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doi:</a:t>
            </a:r>
            <a:r>
              <a:rPr lang="en" sz="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10.1007/978-3-030-64313-3_25</a:t>
            </a:r>
            <a:r>
              <a:rPr lang="en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30"/>
          <p:cNvPicPr preferRelativeResize="0"/>
          <p:nvPr/>
        </p:nvPicPr>
        <p:blipFill rotWithShape="1">
          <a:blip r:embed="rId4">
            <a:alphaModFix/>
          </a:blip>
          <a:srcRect b="21463" l="0" r="52360" t="0"/>
          <a:stretch/>
        </p:blipFill>
        <p:spPr>
          <a:xfrm>
            <a:off x="2674700" y="1181975"/>
            <a:ext cx="1876823" cy="286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30"/>
          <p:cNvPicPr preferRelativeResize="0"/>
          <p:nvPr/>
        </p:nvPicPr>
        <p:blipFill rotWithShape="1">
          <a:blip r:embed="rId4">
            <a:alphaModFix/>
          </a:blip>
          <a:srcRect b="20094" l="49236" r="0" t="24427"/>
          <a:stretch/>
        </p:blipFill>
        <p:spPr>
          <a:xfrm>
            <a:off x="4333779" y="1337297"/>
            <a:ext cx="2494296" cy="252622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30"/>
          <p:cNvSpPr/>
          <p:nvPr/>
        </p:nvSpPr>
        <p:spPr>
          <a:xfrm rot="972970">
            <a:off x="3629079" y="1664579"/>
            <a:ext cx="1264404" cy="368364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0"/>
          <p:cNvSpPr/>
          <p:nvPr/>
        </p:nvSpPr>
        <p:spPr>
          <a:xfrm>
            <a:off x="4919800" y="1661550"/>
            <a:ext cx="1964100" cy="2228100"/>
          </a:xfrm>
          <a:prstGeom prst="rect">
            <a:avLst/>
          </a:prstGeom>
          <a:noFill/>
          <a:ln cap="flat" cmpd="sng" w="38100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0"/>
          <p:cNvSpPr/>
          <p:nvPr/>
        </p:nvSpPr>
        <p:spPr>
          <a:xfrm>
            <a:off x="3016025" y="1414975"/>
            <a:ext cx="555900" cy="787200"/>
          </a:xfrm>
          <a:prstGeom prst="rect">
            <a:avLst/>
          </a:prstGeom>
          <a:noFill/>
          <a:ln cap="flat" cmpd="sng" w="38100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0"/>
          <p:cNvSpPr txBox="1"/>
          <p:nvPr/>
        </p:nvSpPr>
        <p:spPr>
          <a:xfrm>
            <a:off x="55002" y="54920"/>
            <a:ext cx="7885840" cy="7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F7B51"/>
              </a:buClr>
              <a:buSzPts val="990"/>
              <a:buFont typeface="Nunito"/>
              <a:buNone/>
            </a:pPr>
            <a:r>
              <a:rPr b="0" i="0" lang="en" sz="249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The robot will replicate human features, movements, and have attachment points (</a:t>
            </a:r>
            <a:r>
              <a:rPr b="0" i="0" lang="en" sz="2490" u="none" cap="none" strike="noStrike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red arrows</a:t>
            </a:r>
            <a:r>
              <a:rPr b="0" i="0" lang="en" sz="249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) for the </a:t>
            </a:r>
            <a:r>
              <a:rPr lang="en" sz="2490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muscle actuators</a:t>
            </a:r>
            <a:r>
              <a:rPr b="0" i="0" lang="en" sz="249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3" name="Google Shape;163;p31"/>
          <p:cNvSpPr txBox="1"/>
          <p:nvPr/>
        </p:nvSpPr>
        <p:spPr>
          <a:xfrm>
            <a:off x="197880" y="54642"/>
            <a:ext cx="7612334" cy="12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7500"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F7B51"/>
              </a:buClr>
              <a:buSzPct val="113960"/>
              <a:buFont typeface="Nunito"/>
              <a:buNone/>
            </a:pPr>
            <a:r>
              <a:rPr b="0" i="0" lang="en" sz="270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Total musculotendon length is determined by the angles of the joints, as can be seen in this muscle in its </a:t>
            </a:r>
            <a:r>
              <a:rPr b="0" i="0" lang="en" sz="2700" u="none" cap="none" strike="noStrike">
                <a:solidFill>
                  <a:srgbClr val="6AA84F"/>
                </a:solidFill>
                <a:latin typeface="Nunito"/>
                <a:ea typeface="Nunito"/>
                <a:cs typeface="Nunito"/>
                <a:sym typeface="Nunito"/>
              </a:rPr>
              <a:t>SHORTEST</a:t>
            </a:r>
            <a:r>
              <a:rPr b="0" i="0" lang="en" sz="270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 and </a:t>
            </a:r>
            <a:r>
              <a:rPr b="0" i="0" lang="en" sz="2700" u="none" cap="none" strike="noStrike">
                <a:solidFill>
                  <a:srgbClr val="CC0000"/>
                </a:solidFill>
                <a:latin typeface="Nunito"/>
                <a:ea typeface="Nunito"/>
                <a:cs typeface="Nunito"/>
                <a:sym typeface="Nunito"/>
              </a:rPr>
              <a:t>LONGEST</a:t>
            </a:r>
            <a:r>
              <a:rPr b="0" i="0" lang="en" sz="270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 configurations.</a:t>
            </a:r>
            <a:endParaRPr/>
          </a:p>
        </p:txBody>
      </p:sp>
      <p:pic>
        <p:nvPicPr>
          <p:cNvPr id="164" name="Google Shape;16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7987" y="1504869"/>
            <a:ext cx="3248025" cy="300037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4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" name="Google Shape;170;p32"/>
          <p:cNvSpPr txBox="1"/>
          <p:nvPr/>
        </p:nvSpPr>
        <p:spPr>
          <a:xfrm>
            <a:off x="206725" y="214975"/>
            <a:ext cx="7823495" cy="11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F7B51"/>
              </a:buClr>
              <a:buSzPts val="2800"/>
              <a:buFont typeface="Nunito"/>
              <a:buNone/>
            </a:pPr>
            <a:r>
              <a:rPr b="0" i="0" lang="en" sz="280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Musculotendon length determines the maximum isometric force a muscle can generate.</a:t>
            </a:r>
            <a:endParaRPr b="0" i="0" sz="2800" u="none" cap="none" strike="noStrike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71" name="Google Shape;171;p32"/>
          <p:cNvPicPr preferRelativeResize="0"/>
          <p:nvPr/>
        </p:nvPicPr>
        <p:blipFill rotWithShape="1">
          <a:blip r:embed="rId3">
            <a:alphaModFix/>
          </a:blip>
          <a:srcRect b="0" l="0" r="0" t="51644"/>
          <a:stretch/>
        </p:blipFill>
        <p:spPr>
          <a:xfrm>
            <a:off x="1603325" y="1767634"/>
            <a:ext cx="5552225" cy="20831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4"/>
              </a:srgbClr>
            </a:outerShdw>
          </a:effectLst>
        </p:spPr>
      </p:pic>
      <p:sp>
        <p:nvSpPr>
          <p:cNvPr id="172" name="Google Shape;172;p32"/>
          <p:cNvSpPr txBox="1"/>
          <p:nvPr/>
        </p:nvSpPr>
        <p:spPr>
          <a:xfrm>
            <a:off x="643350" y="4299475"/>
            <a:ext cx="80265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2500"/>
          </a:bodyPr>
          <a:lstStyle/>
          <a:p>
            <a:pPr indent="-279400" lvl="0" marL="279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Thelen, Darryl G. “Adjustment of Muscle Mechanics Model Parameters to Simulate Dynamic Contractions in Older Adults.”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Journal of Biomechanical Engineering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vol. 125, no. 1, Feb. 2003, pp. 70–77.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DOI.org (Crossref)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doi:</a:t>
            </a: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10.1115/1.1531112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79400" lvl="0" marL="279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3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8" name="Google Shape;178;p33"/>
          <p:cNvSpPr txBox="1"/>
          <p:nvPr/>
        </p:nvSpPr>
        <p:spPr>
          <a:xfrm>
            <a:off x="37750" y="0"/>
            <a:ext cx="7891500" cy="13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30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Maximum isometric torque is derived by multiplying the maximum isometric force times the shortest distance to that force’s line of action (moment arm).</a:t>
            </a:r>
            <a:endParaRPr sz="2330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9" name="Google Shape;179;p33"/>
          <p:cNvSpPr txBox="1"/>
          <p:nvPr/>
        </p:nvSpPr>
        <p:spPr>
          <a:xfrm>
            <a:off x="446225" y="4005025"/>
            <a:ext cx="74151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62500"/>
          </a:bodyPr>
          <a:lstStyle/>
          <a:p>
            <a:pPr indent="-279400" lvl="0" marL="279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Sherman, Michael A., et al. “What Is a Moment Arm? Calculating Muscle Effectiveness in Biomechanical Models Using Generalized Coordinates.” </a:t>
            </a:r>
            <a:r>
              <a:rPr i="1" lang="en" sz="1100"/>
              <a:t>Volume 7B: 9th International Conference on Multibody Systems, Nonlinear Dynamics, and Control</a:t>
            </a:r>
            <a:r>
              <a:rPr lang="en" sz="1100"/>
              <a:t>, American Society of Mechanical Engineers, 2013, p. V07BT10A052. </a:t>
            </a:r>
            <a:r>
              <a:rPr i="1" lang="en" sz="1100"/>
              <a:t>DOI.org (Crossref)</a:t>
            </a:r>
            <a:r>
              <a:rPr lang="en" sz="1100"/>
              <a:t>, doi:</a:t>
            </a:r>
            <a:r>
              <a:rPr lang="en" sz="1100" u="sng">
                <a:solidFill>
                  <a:srgbClr val="3D4594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10.1115/DETC2013-13633</a:t>
            </a:r>
            <a:r>
              <a:rPr lang="en" sz="1100"/>
              <a:t>.</a:t>
            </a:r>
            <a:endParaRPr i="1" sz="1100"/>
          </a:p>
        </p:txBody>
      </p:sp>
      <p:pic>
        <p:nvPicPr>
          <p:cNvPr id="180" name="Google Shape;180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225" y="1454400"/>
            <a:ext cx="3457600" cy="25506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81" name="Google Shape;181;p33"/>
          <p:cNvPicPr preferRelativeResize="0"/>
          <p:nvPr/>
        </p:nvPicPr>
        <p:blipFill rotWithShape="1">
          <a:blip r:embed="rId5">
            <a:alphaModFix/>
          </a:blip>
          <a:srcRect b="0" l="0" r="0" t="5643"/>
          <a:stretch/>
        </p:blipFill>
        <p:spPr>
          <a:xfrm>
            <a:off x="4523675" y="1454400"/>
            <a:ext cx="3220776" cy="25506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4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7" name="Google Shape;187;p34"/>
          <p:cNvSpPr txBox="1"/>
          <p:nvPr/>
        </p:nvSpPr>
        <p:spPr>
          <a:xfrm>
            <a:off x="52550" y="76850"/>
            <a:ext cx="79515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Artificial muscles have a force-length relationship like real muscles, so we use them like muscles.</a:t>
            </a:r>
            <a:endParaRPr sz="3000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8" name="Google Shape;188;p34"/>
          <p:cNvSpPr txBox="1"/>
          <p:nvPr/>
        </p:nvSpPr>
        <p:spPr>
          <a:xfrm>
            <a:off x="1299850" y="1246650"/>
            <a:ext cx="3548700" cy="11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In the Agile and Adaptive Robotics Lab (AARL) we use Festo </a:t>
            </a:r>
            <a:r>
              <a:rPr lang="en" sz="1300">
                <a:solidFill>
                  <a:srgbClr val="233A44"/>
                </a:solidFill>
                <a:highlight>
                  <a:srgbClr val="FF9900"/>
                </a:highlight>
                <a:latin typeface="Calibri"/>
                <a:ea typeface="Calibri"/>
                <a:cs typeface="Calibri"/>
                <a:sym typeface="Calibri"/>
              </a:rPr>
              <a:t>Pneumatic Artificial Muscles</a:t>
            </a:r>
            <a:r>
              <a:rPr lang="en" sz="1300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 (PAMs) to actuate biomimetic robot joints.</a:t>
            </a:r>
            <a:endParaRPr sz="1300">
              <a:solidFill>
                <a:srgbClr val="233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rgbClr val="233A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34"/>
          <p:cNvPicPr preferRelativeResize="0"/>
          <p:nvPr/>
        </p:nvPicPr>
        <p:blipFill rotWithShape="1">
          <a:blip r:embed="rId3">
            <a:alphaModFix/>
          </a:blip>
          <a:srcRect b="8651" l="16324" r="14886" t="0"/>
          <a:stretch/>
        </p:blipFill>
        <p:spPr>
          <a:xfrm>
            <a:off x="4891000" y="1197900"/>
            <a:ext cx="3478400" cy="34642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90" name="Google Shape;190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700032">
            <a:off x="1068015" y="1762772"/>
            <a:ext cx="1088543" cy="2884831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91" name="Google Shape;191;p34"/>
          <p:cNvSpPr/>
          <p:nvPr/>
        </p:nvSpPr>
        <p:spPr>
          <a:xfrm rot="-374880">
            <a:off x="5286186" y="3094141"/>
            <a:ext cx="355759" cy="816741"/>
          </a:xfrm>
          <a:prstGeom prst="flowChartTerminator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5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35"/>
          <p:cNvSpPr txBox="1"/>
          <p:nvPr/>
        </p:nvSpPr>
        <p:spPr>
          <a:xfrm>
            <a:off x="87075" y="61700"/>
            <a:ext cx="5183400" cy="12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Robotic joints move when artificial muscles are pressurized.</a:t>
            </a:r>
            <a:endParaRPr sz="2600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98" name="Google Shape;198;p35" title="Puppy muscles move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4525" y="219575"/>
            <a:ext cx="2472275" cy="439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35" title="20mm old 1/4hose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35325" y="1435550"/>
            <a:ext cx="1736899" cy="3014250"/>
          </a:xfrm>
          <a:prstGeom prst="rect">
            <a:avLst/>
          </a:prstGeom>
          <a:noFill/>
          <a:ln cap="flat" cmpd="sng" w="19050">
            <a:solidFill>
              <a:srgbClr val="233A4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6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36"/>
          <p:cNvSpPr txBox="1"/>
          <p:nvPr/>
        </p:nvSpPr>
        <p:spPr>
          <a:xfrm>
            <a:off x="43650" y="71100"/>
            <a:ext cx="84030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Modifying the attachment point locations by hand is a time consuming process, so we created an algorithm to automate it.</a:t>
            </a:r>
            <a:endParaRPr sz="2200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6" name="Google Shape;20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1742" y="1094171"/>
            <a:ext cx="1457679" cy="3463403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07" name="Google Shape;20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435" y="2687095"/>
            <a:ext cx="6305097" cy="1818822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08" name="Google Shape;208;p36"/>
          <p:cNvPicPr preferRelativeResize="0"/>
          <p:nvPr/>
        </p:nvPicPr>
        <p:blipFill rotWithShape="1">
          <a:blip r:embed="rId5">
            <a:alphaModFix/>
          </a:blip>
          <a:srcRect b="9256" l="0" r="0" t="0"/>
          <a:stretch/>
        </p:blipFill>
        <p:spPr>
          <a:xfrm>
            <a:off x="216435" y="1118013"/>
            <a:ext cx="1923645" cy="1282692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6"/>
          <p:cNvSpPr txBox="1"/>
          <p:nvPr/>
        </p:nvSpPr>
        <p:spPr>
          <a:xfrm>
            <a:off x="2177081" y="1537755"/>
            <a:ext cx="281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Connor Morrow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PhD Student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7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5" name="Google Shape;215;p37"/>
          <p:cNvSpPr txBox="1"/>
          <p:nvPr/>
        </p:nvSpPr>
        <p:spPr>
          <a:xfrm>
            <a:off x="36050" y="59125"/>
            <a:ext cx="7930500" cy="11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20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Modifying PAM attachment and wrapping locations allows the robot to meet or EXCEED the required torque for a given muscle/joint combination.</a:t>
            </a:r>
            <a:endParaRPr sz="2120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16" name="Google Shape;216;p37"/>
          <p:cNvPicPr preferRelativeResize="0"/>
          <p:nvPr/>
        </p:nvPicPr>
        <p:blipFill rotWithShape="1">
          <a:blip r:embed="rId3">
            <a:alphaModFix/>
          </a:blip>
          <a:srcRect b="0" l="1858" r="54636" t="38725"/>
          <a:stretch/>
        </p:blipFill>
        <p:spPr>
          <a:xfrm>
            <a:off x="1348575" y="2339700"/>
            <a:ext cx="2788725" cy="23546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17" name="Google Shape;217;p37"/>
          <p:cNvPicPr preferRelativeResize="0"/>
          <p:nvPr/>
        </p:nvPicPr>
        <p:blipFill rotWithShape="1">
          <a:blip r:embed="rId3">
            <a:alphaModFix/>
          </a:blip>
          <a:srcRect b="0" l="53943" r="0" t="38725"/>
          <a:stretch/>
        </p:blipFill>
        <p:spPr>
          <a:xfrm>
            <a:off x="5377250" y="2275200"/>
            <a:ext cx="3033100" cy="2419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18" name="Google Shape;218;p37"/>
          <p:cNvPicPr preferRelativeResize="0"/>
          <p:nvPr/>
        </p:nvPicPr>
        <p:blipFill rotWithShape="1">
          <a:blip r:embed="rId3">
            <a:alphaModFix/>
          </a:blip>
          <a:srcRect b="65438" l="55239" r="34862" t="3761"/>
          <a:stretch/>
        </p:blipFill>
        <p:spPr>
          <a:xfrm>
            <a:off x="4727075" y="1313650"/>
            <a:ext cx="868475" cy="1620076"/>
          </a:xfrm>
          <a:prstGeom prst="rect">
            <a:avLst/>
          </a:prstGeom>
          <a:noFill/>
          <a:ln cap="flat" cmpd="sng" w="9525">
            <a:solidFill>
              <a:srgbClr val="233A4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9" name="Google Shape;219;p37"/>
          <p:cNvPicPr preferRelativeResize="0"/>
          <p:nvPr/>
        </p:nvPicPr>
        <p:blipFill rotWithShape="1">
          <a:blip r:embed="rId3">
            <a:alphaModFix/>
          </a:blip>
          <a:srcRect b="65288" l="7442" r="81968" t="3471"/>
          <a:stretch/>
        </p:blipFill>
        <p:spPr>
          <a:xfrm>
            <a:off x="596025" y="1313650"/>
            <a:ext cx="953626" cy="1686550"/>
          </a:xfrm>
          <a:prstGeom prst="rect">
            <a:avLst/>
          </a:prstGeom>
          <a:noFill/>
          <a:ln cap="flat" cmpd="sng" w="9525">
            <a:solidFill>
              <a:srgbClr val="233A4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0" name="Google Shape;220;p37"/>
          <p:cNvSpPr txBox="1"/>
          <p:nvPr/>
        </p:nvSpPr>
        <p:spPr>
          <a:xfrm>
            <a:off x="2223925" y="1503913"/>
            <a:ext cx="1038000" cy="507900"/>
          </a:xfrm>
          <a:prstGeom prst="rect">
            <a:avLst/>
          </a:prstGeom>
          <a:solidFill>
            <a:srgbClr val="FFF2CC"/>
          </a:solidFill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796B"/>
                </a:solidFill>
                <a:latin typeface="Calibri"/>
                <a:ea typeface="Calibri"/>
                <a:cs typeface="Calibri"/>
                <a:sym typeface="Calibri"/>
              </a:rPr>
              <a:t>Human</a:t>
            </a:r>
            <a:endParaRPr sz="2100">
              <a:solidFill>
                <a:srgbClr val="0079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7"/>
          <p:cNvSpPr txBox="1"/>
          <p:nvPr/>
        </p:nvSpPr>
        <p:spPr>
          <a:xfrm>
            <a:off x="6474560" y="1503925"/>
            <a:ext cx="838500" cy="507900"/>
          </a:xfrm>
          <a:prstGeom prst="rect">
            <a:avLst/>
          </a:prstGeom>
          <a:solidFill>
            <a:srgbClr val="FFF2CC"/>
          </a:solidFill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796B"/>
                </a:solidFill>
                <a:latin typeface="Calibri"/>
                <a:ea typeface="Calibri"/>
                <a:cs typeface="Calibri"/>
                <a:sym typeface="Calibri"/>
              </a:rPr>
              <a:t>Robot</a:t>
            </a:r>
            <a:endParaRPr sz="2100">
              <a:solidFill>
                <a:srgbClr val="0079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8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7" name="Google Shape;227;p38"/>
          <p:cNvSpPr txBox="1"/>
          <p:nvPr/>
        </p:nvSpPr>
        <p:spPr>
          <a:xfrm>
            <a:off x="54325" y="62575"/>
            <a:ext cx="7912200" cy="11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20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We often have to increase the actuator length because the Festo PAMs cannot contract to the same extent as real muscles.</a:t>
            </a:r>
            <a:endParaRPr sz="2120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28" name="Google Shape;228;p38"/>
          <p:cNvPicPr preferRelativeResize="0"/>
          <p:nvPr/>
        </p:nvPicPr>
        <p:blipFill rotWithShape="1">
          <a:blip r:embed="rId3">
            <a:alphaModFix/>
          </a:blip>
          <a:srcRect b="32664" l="22534" r="49808" t="30162"/>
          <a:stretch/>
        </p:blipFill>
        <p:spPr>
          <a:xfrm>
            <a:off x="949750" y="2062525"/>
            <a:ext cx="3350176" cy="253285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29" name="Google Shape;229;p38"/>
          <p:cNvPicPr preferRelativeResize="0"/>
          <p:nvPr/>
        </p:nvPicPr>
        <p:blipFill rotWithShape="1">
          <a:blip r:embed="rId3">
            <a:alphaModFix/>
          </a:blip>
          <a:srcRect b="32664" l="51180" r="22205" t="30162"/>
          <a:stretch/>
        </p:blipFill>
        <p:spPr>
          <a:xfrm>
            <a:off x="4844699" y="1965238"/>
            <a:ext cx="3350176" cy="26320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30" name="Google Shape;230;p38"/>
          <p:cNvSpPr txBox="1"/>
          <p:nvPr/>
        </p:nvSpPr>
        <p:spPr>
          <a:xfrm>
            <a:off x="2042775" y="1397075"/>
            <a:ext cx="1038000" cy="507900"/>
          </a:xfrm>
          <a:prstGeom prst="rect">
            <a:avLst/>
          </a:prstGeom>
          <a:solidFill>
            <a:srgbClr val="FFF2CC"/>
          </a:solidFill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796B"/>
                </a:solidFill>
                <a:latin typeface="Calibri"/>
                <a:ea typeface="Calibri"/>
                <a:cs typeface="Calibri"/>
                <a:sym typeface="Calibri"/>
              </a:rPr>
              <a:t>Human</a:t>
            </a:r>
            <a:endParaRPr sz="2100">
              <a:solidFill>
                <a:srgbClr val="0079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8"/>
          <p:cNvSpPr txBox="1"/>
          <p:nvPr/>
        </p:nvSpPr>
        <p:spPr>
          <a:xfrm>
            <a:off x="6099935" y="1347275"/>
            <a:ext cx="839700" cy="507900"/>
          </a:xfrm>
          <a:prstGeom prst="rect">
            <a:avLst/>
          </a:prstGeom>
          <a:solidFill>
            <a:srgbClr val="FFF2CC"/>
          </a:solidFill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796B"/>
                </a:solidFill>
                <a:latin typeface="Calibri"/>
                <a:ea typeface="Calibri"/>
                <a:cs typeface="Calibri"/>
                <a:sym typeface="Calibri"/>
              </a:rPr>
              <a:t>Robot</a:t>
            </a:r>
            <a:endParaRPr sz="2100">
              <a:solidFill>
                <a:srgbClr val="0079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Google Shape;232;p38"/>
          <p:cNvPicPr preferRelativeResize="0"/>
          <p:nvPr/>
        </p:nvPicPr>
        <p:blipFill rotWithShape="1">
          <a:blip r:embed="rId3">
            <a:alphaModFix/>
          </a:blip>
          <a:srcRect b="71413" l="27110" r="63767" t="0"/>
          <a:stretch/>
        </p:blipFill>
        <p:spPr>
          <a:xfrm>
            <a:off x="637100" y="1027075"/>
            <a:ext cx="958550" cy="1689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38"/>
          <p:cNvPicPr preferRelativeResize="0"/>
          <p:nvPr/>
        </p:nvPicPr>
        <p:blipFill rotWithShape="1">
          <a:blip r:embed="rId3">
            <a:alphaModFix/>
          </a:blip>
          <a:srcRect b="71930" l="53404" r="39416" t="0"/>
          <a:stretch/>
        </p:blipFill>
        <p:spPr>
          <a:xfrm>
            <a:off x="4654350" y="1027075"/>
            <a:ext cx="776000" cy="1706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9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" name="Google Shape;239;p39"/>
          <p:cNvSpPr txBox="1"/>
          <p:nvPr/>
        </p:nvSpPr>
        <p:spPr>
          <a:xfrm>
            <a:off x="66950" y="40525"/>
            <a:ext cx="86808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Range of motion (RoM) in our robot hip is less than the human benchmark, but greater than most traditional robot designs.</a:t>
            </a:r>
            <a:endParaRPr sz="2100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0" name="Google Shape;240;p39"/>
          <p:cNvSpPr txBox="1"/>
          <p:nvPr/>
        </p:nvSpPr>
        <p:spPr>
          <a:xfrm>
            <a:off x="623575" y="4152075"/>
            <a:ext cx="74151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70000"/>
          </a:bodyPr>
          <a:lstStyle/>
          <a:p>
            <a:pPr indent="-279400" lvl="0" marL="279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Bolen, Ben P., and Alexander J. Hunt. “Determination of Artificial Muscle Placement for Biomimetic Humanoid Robot Legs.” </a:t>
            </a:r>
            <a:r>
              <a:rPr i="1" lang="en" sz="1100"/>
              <a:t>Biomimetic and Biohybrid Systems</a:t>
            </a:r>
            <a:r>
              <a:rPr lang="en" sz="1100"/>
              <a:t>, edited by Uriel Martinez-Hernandez et al., vol. 11556, Springer International Publishing, 2019, pp. 15–26. </a:t>
            </a:r>
            <a:r>
              <a:rPr i="1" lang="en" sz="1100"/>
              <a:t>DOI.org (Crossref)</a:t>
            </a:r>
            <a:r>
              <a:rPr lang="en" sz="1100"/>
              <a:t>, doi:</a:t>
            </a:r>
            <a:r>
              <a:rPr lang="en" sz="1100" u="sng">
                <a:solidFill>
                  <a:srgbClr val="3D4594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10.1007/978-3-030-24741-6_2</a:t>
            </a:r>
            <a:r>
              <a:rPr lang="en" sz="1100"/>
              <a:t>.</a:t>
            </a:r>
            <a:endParaRPr sz="1100"/>
          </a:p>
        </p:txBody>
      </p:sp>
      <p:pic>
        <p:nvPicPr>
          <p:cNvPr id="241" name="Google Shape;241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712" y="1012625"/>
            <a:ext cx="3785776" cy="31436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42" name="Google Shape;242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12299" y="1664450"/>
            <a:ext cx="4157325" cy="184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0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8" name="Google Shape;24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8691" y="1845106"/>
            <a:ext cx="3716214" cy="2768570"/>
          </a:xfrm>
          <a:prstGeom prst="rect">
            <a:avLst/>
          </a:prstGeom>
          <a:noFill/>
          <a:ln>
            <a:noFill/>
          </a:ln>
          <a:effectLst>
            <a:outerShdw blurRad="171450" rotWithShape="0" algn="bl" dir="5400000" dist="114300">
              <a:srgbClr val="000000">
                <a:alpha val="50000"/>
              </a:srgbClr>
            </a:outerShdw>
          </a:effectLst>
        </p:spPr>
      </p:pic>
      <p:sp>
        <p:nvSpPr>
          <p:cNvPr id="249" name="Google Shape;249;p40"/>
          <p:cNvSpPr txBox="1"/>
          <p:nvPr/>
        </p:nvSpPr>
        <p:spPr>
          <a:xfrm>
            <a:off x="212950" y="193475"/>
            <a:ext cx="7635300" cy="10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Research on technology for accurate length (and pressure) measurements allow us to reliably calculate force.</a:t>
            </a:r>
            <a:endParaRPr sz="2200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50" name="Google Shape;250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96341" y="1450912"/>
            <a:ext cx="2868516" cy="2180236"/>
          </a:xfrm>
          <a:prstGeom prst="rect">
            <a:avLst/>
          </a:prstGeom>
          <a:noFill/>
          <a:ln>
            <a:noFill/>
          </a:ln>
          <a:effectLst>
            <a:outerShdw blurRad="171450" rotWithShape="0" algn="bl" dir="5400000" dist="38100">
              <a:srgbClr val="000000">
                <a:alpha val="50000"/>
              </a:srgbClr>
            </a:outerShdw>
          </a:effectLst>
        </p:spPr>
      </p:pic>
      <p:pic>
        <p:nvPicPr>
          <p:cNvPr id="251" name="Google Shape;251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9609" y="1482056"/>
            <a:ext cx="1932979" cy="166986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40"/>
          <p:cNvSpPr txBox="1"/>
          <p:nvPr/>
        </p:nvSpPr>
        <p:spPr>
          <a:xfrm>
            <a:off x="212960" y="3196028"/>
            <a:ext cx="1746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Jake Chung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Master’s Student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1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8" name="Google Shape;258;p41"/>
          <p:cNvSpPr txBox="1"/>
          <p:nvPr/>
        </p:nvSpPr>
        <p:spPr>
          <a:xfrm>
            <a:off x="212950" y="193475"/>
            <a:ext cx="8389500" cy="1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We are validating our design criteria by testing for maximum isometric force of two muscle-actuators about the knee.</a:t>
            </a:r>
            <a:endParaRPr sz="2700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59" name="Google Shape;25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5650" y="1636125"/>
            <a:ext cx="3525774" cy="298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47350" y="1640575"/>
            <a:ext cx="1959000" cy="301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582775"/>
            <a:ext cx="1699625" cy="2257074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41"/>
          <p:cNvSpPr txBox="1"/>
          <p:nvPr/>
        </p:nvSpPr>
        <p:spPr>
          <a:xfrm>
            <a:off x="152410" y="3839853"/>
            <a:ext cx="1746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Lindie Burgess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Master’s Student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2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8" name="Google Shape;268;p42"/>
          <p:cNvSpPr txBox="1"/>
          <p:nvPr/>
        </p:nvSpPr>
        <p:spPr>
          <a:xfrm>
            <a:off x="206725" y="214975"/>
            <a:ext cx="7710000" cy="14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We hypothesize that we can use biologically inspired neural controllers that send pulse signals to muscle actuators in order to modulate force output and duration. </a:t>
            </a:r>
            <a:endParaRPr sz="1900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69" name="Google Shape;269;p42"/>
          <p:cNvPicPr preferRelativeResize="0"/>
          <p:nvPr/>
        </p:nvPicPr>
        <p:blipFill rotWithShape="1">
          <a:blip r:embed="rId3">
            <a:alphaModFix/>
          </a:blip>
          <a:srcRect b="0" l="0" r="32587" t="0"/>
          <a:stretch/>
        </p:blipFill>
        <p:spPr>
          <a:xfrm>
            <a:off x="2997471" y="1203900"/>
            <a:ext cx="3353573" cy="316392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42"/>
          <p:cNvSpPr txBox="1"/>
          <p:nvPr/>
        </p:nvSpPr>
        <p:spPr>
          <a:xfrm>
            <a:off x="785225" y="4163500"/>
            <a:ext cx="74151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62500"/>
          </a:bodyPr>
          <a:lstStyle/>
          <a:p>
            <a:pPr indent="-279400" lvl="0" marL="279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/>
              <a:t>Stimulation Pattern That Maximizes Force in Paralyzed and Control Whole Thenar Muscles | Journal of Neurophysiology</a:t>
            </a:r>
            <a:r>
              <a:rPr lang="en" sz="1100"/>
              <a:t>.</a:t>
            </a:r>
            <a:r>
              <a:rPr lang="en" sz="1100">
                <a:uFill>
                  <a:noFill/>
                </a:uFill>
                <a:hlinkClick r:id="rId4"/>
              </a:rPr>
              <a:t> </a:t>
            </a:r>
            <a:r>
              <a:rPr lang="en" sz="1100" u="sng">
                <a:solidFill>
                  <a:srgbClr val="3D4594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https://www.physiology.org/doi/full/10.1152/jn.2002.87.5.2271?url_ver=Z39.88-2003&amp;rfr_id=ori%3Arid%3Acrossref.org&amp;rfr_dat=cr_pub%3Dpubmed</a:t>
            </a:r>
            <a:r>
              <a:rPr lang="en" sz="1100"/>
              <a:t>. Accessed 23 Jan. 2020.</a:t>
            </a:r>
            <a:endParaRPr sz="1300">
              <a:solidFill>
                <a:srgbClr val="233A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3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6" name="Google Shape;276;p43"/>
          <p:cNvPicPr preferRelativeResize="0"/>
          <p:nvPr/>
        </p:nvPicPr>
        <p:blipFill rotWithShape="1">
          <a:blip r:embed="rId3">
            <a:alphaModFix/>
          </a:blip>
          <a:srcRect b="8557" l="10319" r="11384" t="3229"/>
          <a:stretch/>
        </p:blipFill>
        <p:spPr>
          <a:xfrm>
            <a:off x="249772" y="1446525"/>
            <a:ext cx="3807002" cy="24226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77" name="Google Shape;277;p43"/>
          <p:cNvPicPr preferRelativeResize="0"/>
          <p:nvPr/>
        </p:nvPicPr>
        <p:blipFill rotWithShape="1">
          <a:blip r:embed="rId4">
            <a:alphaModFix/>
          </a:blip>
          <a:srcRect b="0" l="0" r="42016" t="0"/>
          <a:stretch/>
        </p:blipFill>
        <p:spPr>
          <a:xfrm>
            <a:off x="4807650" y="1446525"/>
            <a:ext cx="4166350" cy="24079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78" name="Google Shape;278;p43"/>
          <p:cNvSpPr txBox="1"/>
          <p:nvPr/>
        </p:nvSpPr>
        <p:spPr>
          <a:xfrm>
            <a:off x="206725" y="214975"/>
            <a:ext cx="7840800" cy="14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This 2-layer CPG bipedal neuromechanical model was created when we synthesized two existing designs. </a:t>
            </a:r>
            <a:endParaRPr sz="2400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9" name="Google Shape;279;p43"/>
          <p:cNvSpPr/>
          <p:nvPr/>
        </p:nvSpPr>
        <p:spPr>
          <a:xfrm>
            <a:off x="4079550" y="2231700"/>
            <a:ext cx="680100" cy="680100"/>
          </a:xfrm>
          <a:prstGeom prst="mathPlus">
            <a:avLst>
              <a:gd fmla="val 23520" name="adj1"/>
            </a:avLst>
          </a:prstGeom>
          <a:solidFill>
            <a:srgbClr val="B7B7B7"/>
          </a:solidFill>
          <a:ln cap="flat" cmpd="sng" w="19050">
            <a:solidFill>
              <a:srgbClr val="233A4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43"/>
          <p:cNvSpPr txBox="1"/>
          <p:nvPr/>
        </p:nvSpPr>
        <p:spPr>
          <a:xfrm>
            <a:off x="311800" y="4070225"/>
            <a:ext cx="36339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279400" lvl="0" marL="2794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605"/>
              <a:t>Li, Wei, et al. “A Neural Network with Central Pattern Generators Entrained by Sensory Feedback Controls Walking of a Bipedal Model.” </a:t>
            </a:r>
            <a:r>
              <a:rPr i="1" lang="en" sz="605"/>
              <a:t>Bioinspiration &amp; Biomimetics</a:t>
            </a:r>
            <a:r>
              <a:rPr lang="en" sz="605"/>
              <a:t>, vol. 12, no. 6, Oct. 2017, p. 065002. </a:t>
            </a:r>
            <a:r>
              <a:rPr i="1" lang="en" sz="605"/>
              <a:t>Institute of Physics</a:t>
            </a:r>
            <a:r>
              <a:rPr lang="en" sz="605"/>
              <a:t>, doi:</a:t>
            </a:r>
            <a:r>
              <a:rPr lang="en" sz="605" u="sng">
                <a:solidFill>
                  <a:srgbClr val="3D4594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10.1088/1748-3190/aa8290</a:t>
            </a:r>
            <a:r>
              <a:rPr lang="en" sz="605"/>
              <a:t>.</a:t>
            </a:r>
            <a:endParaRPr sz="605"/>
          </a:p>
        </p:txBody>
      </p:sp>
      <p:sp>
        <p:nvSpPr>
          <p:cNvPr id="281" name="Google Shape;281;p43"/>
          <p:cNvSpPr txBox="1"/>
          <p:nvPr/>
        </p:nvSpPr>
        <p:spPr>
          <a:xfrm>
            <a:off x="4933175" y="4093150"/>
            <a:ext cx="34608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279400" lvl="0" marL="279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23"/>
              <a:t>Deng, Kaiyu, et al. “Neuromechanical Model of Rat Hindlimb Walking with Two-Layer CPGs.” </a:t>
            </a:r>
            <a:r>
              <a:rPr i="1" lang="en" sz="623"/>
              <a:t>Biomimetics</a:t>
            </a:r>
            <a:r>
              <a:rPr lang="en" sz="623"/>
              <a:t>, vol. 4, no. 1, Mar. 2019, p. 21. </a:t>
            </a:r>
            <a:r>
              <a:rPr i="1" lang="en" sz="623"/>
              <a:t>DOI.org (Crossref)</a:t>
            </a:r>
            <a:r>
              <a:rPr lang="en" sz="623"/>
              <a:t>, doi:</a:t>
            </a:r>
            <a:r>
              <a:rPr lang="en" sz="623" u="sng">
                <a:solidFill>
                  <a:srgbClr val="3D4594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10.3390/biomimetics4010021</a:t>
            </a:r>
            <a:r>
              <a:rPr lang="en" sz="623"/>
              <a:t>.</a:t>
            </a:r>
            <a:endParaRPr sz="623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4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7" name="Google Shape;287;p44"/>
          <p:cNvSpPr txBox="1"/>
          <p:nvPr/>
        </p:nvSpPr>
        <p:spPr>
          <a:xfrm>
            <a:off x="167000" y="177425"/>
            <a:ext cx="7618800" cy="827100"/>
          </a:xfrm>
          <a:prstGeom prst="rect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50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The synthesis Animatlab model approximates human gait while suspended in the air... </a:t>
            </a:r>
            <a:endParaRPr sz="2250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88" name="Google Shape;288;p44" title="2021-02-17-20-58-24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6250" y="1413525"/>
            <a:ext cx="4005767" cy="3004325"/>
          </a:xfrm>
          <a:prstGeom prst="rect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  <a:effectLst>
            <a:outerShdw blurRad="214313" rotWithShape="0" algn="bl" dir="5400000" dist="28575">
              <a:srgbClr val="000000">
                <a:alpha val="84000"/>
              </a:srgbClr>
            </a:outerShdw>
          </a:effectLst>
        </p:spPr>
      </p:pic>
      <p:sp>
        <p:nvSpPr>
          <p:cNvPr id="289" name="Google Shape;289;p44"/>
          <p:cNvSpPr txBox="1"/>
          <p:nvPr/>
        </p:nvSpPr>
        <p:spPr>
          <a:xfrm>
            <a:off x="4425375" y="1596175"/>
            <a:ext cx="4451400" cy="888300"/>
          </a:xfrm>
          <a:prstGeom prst="rect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but it fails when attempting self-supported bipedal locomotion.  </a:t>
            </a:r>
            <a:endParaRPr sz="2500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0" name="Google Shape;290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88875" y="2681200"/>
            <a:ext cx="4524375" cy="1790700"/>
          </a:xfrm>
          <a:prstGeom prst="rect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5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6" name="Google Shape;296;p45"/>
          <p:cNvSpPr txBox="1"/>
          <p:nvPr/>
        </p:nvSpPr>
        <p:spPr>
          <a:xfrm>
            <a:off x="198400" y="57375"/>
            <a:ext cx="7456500" cy="7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Accuracy will be increased by having a RG for each side, and it will incorporate proprioceptive feedback to the RG and PF layers</a:t>
            </a:r>
            <a:endParaRPr sz="2200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570" y="1784445"/>
            <a:ext cx="2547125" cy="102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45"/>
          <p:cNvPicPr preferRelativeResize="0"/>
          <p:nvPr/>
        </p:nvPicPr>
        <p:blipFill rotWithShape="1">
          <a:blip r:embed="rId4">
            <a:alphaModFix/>
          </a:blip>
          <a:srcRect b="0" l="1623" r="0" t="0"/>
          <a:stretch/>
        </p:blipFill>
        <p:spPr>
          <a:xfrm>
            <a:off x="3524875" y="1247375"/>
            <a:ext cx="4841825" cy="3416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9" name="Google Shape;299;p45"/>
          <p:cNvCxnSpPr/>
          <p:nvPr/>
        </p:nvCxnSpPr>
        <p:spPr>
          <a:xfrm>
            <a:off x="1654525" y="2759575"/>
            <a:ext cx="836100" cy="623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45"/>
          <p:cNvCxnSpPr/>
          <p:nvPr/>
        </p:nvCxnSpPr>
        <p:spPr>
          <a:xfrm>
            <a:off x="2490500" y="3390125"/>
            <a:ext cx="850200" cy="7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1" name="Google Shape;301;p45"/>
          <p:cNvSpPr txBox="1"/>
          <p:nvPr/>
        </p:nvSpPr>
        <p:spPr>
          <a:xfrm>
            <a:off x="6328875" y="1906650"/>
            <a:ext cx="31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highlight>
                  <a:srgbClr val="F1C232"/>
                </a:highlight>
                <a:latin typeface="Calibri"/>
                <a:ea typeface="Calibri"/>
                <a:cs typeface="Calibri"/>
                <a:sym typeface="Calibri"/>
              </a:rPr>
              <a:t>flx</a:t>
            </a:r>
            <a:endParaRPr b="1" sz="900">
              <a:highlight>
                <a:srgbClr val="F1C232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6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7" name="Google Shape;307;p46"/>
          <p:cNvSpPr txBox="1"/>
          <p:nvPr/>
        </p:nvSpPr>
        <p:spPr>
          <a:xfrm>
            <a:off x="109050" y="913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Multiple subsystems will make neural modeling easier to understand and diagnose.</a:t>
            </a:r>
            <a:endParaRPr sz="2200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08" name="Google Shape;30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3850" y="1144600"/>
            <a:ext cx="2206725" cy="16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9875" y="1144600"/>
            <a:ext cx="3846125" cy="354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7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5" name="Google Shape;315;p47"/>
          <p:cNvPicPr preferRelativeResize="0"/>
          <p:nvPr/>
        </p:nvPicPr>
        <p:blipFill rotWithShape="1">
          <a:blip r:embed="rId3">
            <a:alphaModFix/>
          </a:blip>
          <a:srcRect b="11146" l="16179" r="14918" t="1981"/>
          <a:stretch/>
        </p:blipFill>
        <p:spPr>
          <a:xfrm>
            <a:off x="4826175" y="1089200"/>
            <a:ext cx="3100050" cy="330142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47"/>
          <p:cNvSpPr/>
          <p:nvPr/>
        </p:nvSpPr>
        <p:spPr>
          <a:xfrm rot="8096669">
            <a:off x="7041209" y="2571275"/>
            <a:ext cx="875681" cy="33729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A9999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47"/>
          <p:cNvSpPr/>
          <p:nvPr/>
        </p:nvSpPr>
        <p:spPr>
          <a:xfrm rot="-8764890">
            <a:off x="7134702" y="4255655"/>
            <a:ext cx="688694" cy="28464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A9999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47"/>
          <p:cNvSpPr txBox="1"/>
          <p:nvPr/>
        </p:nvSpPr>
        <p:spPr>
          <a:xfrm>
            <a:off x="212125" y="-8875"/>
            <a:ext cx="77793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40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The neural controller model will be improved by incorporating </a:t>
            </a:r>
            <a:r>
              <a:rPr lang="en" sz="2140">
                <a:highlight>
                  <a:srgbClr val="EA9999"/>
                </a:highlight>
                <a:latin typeface="Nunito"/>
                <a:ea typeface="Nunito"/>
                <a:cs typeface="Nunito"/>
                <a:sym typeface="Nunito"/>
              </a:rPr>
              <a:t>contact feedback</a:t>
            </a:r>
            <a:r>
              <a:rPr lang="en" sz="2140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 from </a:t>
            </a:r>
            <a:r>
              <a:rPr lang="en" sz="2140">
                <a:highlight>
                  <a:srgbClr val="EA9999"/>
                </a:highlight>
                <a:latin typeface="Nunito"/>
                <a:ea typeface="Nunito"/>
                <a:cs typeface="Nunito"/>
                <a:sym typeface="Nunito"/>
              </a:rPr>
              <a:t>foot mechanoreceptors</a:t>
            </a:r>
            <a:r>
              <a:rPr lang="en" sz="2140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2140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19" name="Google Shape;319;p47"/>
          <p:cNvPicPr preferRelativeResize="0"/>
          <p:nvPr/>
        </p:nvPicPr>
        <p:blipFill rotWithShape="1">
          <a:blip r:embed="rId4">
            <a:alphaModFix/>
          </a:blip>
          <a:srcRect b="4893" l="0" r="49764" t="13694"/>
          <a:stretch/>
        </p:blipFill>
        <p:spPr>
          <a:xfrm>
            <a:off x="362425" y="1245125"/>
            <a:ext cx="4143901" cy="3352274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47"/>
          <p:cNvSpPr/>
          <p:nvPr/>
        </p:nvSpPr>
        <p:spPr>
          <a:xfrm rot="2696984">
            <a:off x="505922" y="2769906"/>
            <a:ext cx="725280" cy="45608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A9999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8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6" name="Google Shape;326;p48"/>
          <p:cNvSpPr txBox="1"/>
          <p:nvPr/>
        </p:nvSpPr>
        <p:spPr>
          <a:xfrm>
            <a:off x="73850" y="45575"/>
            <a:ext cx="7811700" cy="10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Robot control will be achieved by combining our neuromechanical model with the 3D printed skeleton and pneumatic artificial muscles.</a:t>
            </a:r>
            <a:endParaRPr sz="1900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27" name="Google Shape;327;p48"/>
          <p:cNvPicPr preferRelativeResize="0"/>
          <p:nvPr/>
        </p:nvPicPr>
        <p:blipFill rotWithShape="1">
          <a:blip r:embed="rId3">
            <a:alphaModFix/>
          </a:blip>
          <a:srcRect b="0" l="27921" r="21853" t="0"/>
          <a:stretch/>
        </p:blipFill>
        <p:spPr>
          <a:xfrm>
            <a:off x="1656350" y="1208800"/>
            <a:ext cx="1400000" cy="31408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328" name="Google Shape;328;p48"/>
          <p:cNvPicPr preferRelativeResize="0"/>
          <p:nvPr/>
        </p:nvPicPr>
        <p:blipFill rotWithShape="1">
          <a:blip r:embed="rId4">
            <a:alphaModFix/>
          </a:blip>
          <a:srcRect b="0" l="26322" r="35586" t="0"/>
          <a:stretch/>
        </p:blipFill>
        <p:spPr>
          <a:xfrm>
            <a:off x="550500" y="1208800"/>
            <a:ext cx="973925" cy="31408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329" name="Google Shape;329;p48"/>
          <p:cNvPicPr preferRelativeResize="0"/>
          <p:nvPr/>
        </p:nvPicPr>
        <p:blipFill rotWithShape="1">
          <a:blip r:embed="rId5">
            <a:alphaModFix/>
          </a:blip>
          <a:srcRect b="0" l="0" r="42016" t="0"/>
          <a:stretch/>
        </p:blipFill>
        <p:spPr>
          <a:xfrm>
            <a:off x="4211825" y="1384726"/>
            <a:ext cx="4825725" cy="2789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30" name="Google Shape;330;p48"/>
          <p:cNvSpPr/>
          <p:nvPr/>
        </p:nvSpPr>
        <p:spPr>
          <a:xfrm>
            <a:off x="3424338" y="2348125"/>
            <a:ext cx="680100" cy="680100"/>
          </a:xfrm>
          <a:prstGeom prst="mathPlus">
            <a:avLst>
              <a:gd fmla="val 23520" name="adj1"/>
            </a:avLst>
          </a:prstGeom>
          <a:solidFill>
            <a:srgbClr val="B7B7B7"/>
          </a:solidFill>
          <a:ln cap="flat" cmpd="sng" w="19050">
            <a:solidFill>
              <a:srgbClr val="233A4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9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6" name="Google Shape;336;p49"/>
          <p:cNvSpPr txBox="1"/>
          <p:nvPr/>
        </p:nvSpPr>
        <p:spPr>
          <a:xfrm>
            <a:off x="230975" y="221050"/>
            <a:ext cx="7131000" cy="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30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I hope that this presentation let you learn more about our</a:t>
            </a:r>
            <a:r>
              <a:rPr lang="en" sz="2730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  <a:endParaRPr sz="2730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30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7" name="Google Shape;337;p49"/>
          <p:cNvSpPr txBox="1"/>
          <p:nvPr/>
        </p:nvSpPr>
        <p:spPr>
          <a:xfrm>
            <a:off x="821825" y="1499575"/>
            <a:ext cx="75057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Robot development </a:t>
            </a:r>
            <a:endParaRPr sz="20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Neural controller development</a:t>
            </a:r>
            <a:endParaRPr sz="20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Future work to integrate both these things</a:t>
            </a:r>
            <a:endParaRPr sz="20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0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3" name="Google Shape;343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25" y="3362575"/>
            <a:ext cx="581025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50"/>
          <p:cNvSpPr txBox="1"/>
          <p:nvPr/>
        </p:nvSpPr>
        <p:spPr>
          <a:xfrm>
            <a:off x="109050" y="58950"/>
            <a:ext cx="86874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30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Thank you</a:t>
            </a:r>
            <a:endParaRPr sz="2830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30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45" name="Google Shape;345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938" y="666888"/>
            <a:ext cx="6143625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40575" y="1362225"/>
            <a:ext cx="4491076" cy="328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27325" y="1851775"/>
            <a:ext cx="792525" cy="120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2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7" name="Google Shape;357;p52"/>
          <p:cNvSpPr txBox="1"/>
          <p:nvPr/>
        </p:nvSpPr>
        <p:spPr>
          <a:xfrm>
            <a:off x="130525" y="62575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Our biomechanical model has good fidelity to real human bodies because it uses 11 total joints and 92 muscle-actuators (46 per side).</a:t>
            </a:r>
            <a:endParaRPr sz="2700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58" name="Google Shape;358;p52"/>
          <p:cNvPicPr preferRelativeResize="0"/>
          <p:nvPr/>
        </p:nvPicPr>
        <p:blipFill rotWithShape="1">
          <a:blip r:embed="rId3">
            <a:alphaModFix/>
          </a:blip>
          <a:srcRect b="2951" l="4070" r="36246" t="2173"/>
          <a:stretch/>
        </p:blipFill>
        <p:spPr>
          <a:xfrm>
            <a:off x="1749000" y="1445575"/>
            <a:ext cx="3148325" cy="3193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359" name="Google Shape;359;p52"/>
          <p:cNvPicPr preferRelativeResize="0"/>
          <p:nvPr/>
        </p:nvPicPr>
        <p:blipFill rotWithShape="1">
          <a:blip r:embed="rId4">
            <a:alphaModFix/>
          </a:blip>
          <a:srcRect b="0" l="16152" r="23172" t="0"/>
          <a:stretch/>
        </p:blipFill>
        <p:spPr>
          <a:xfrm>
            <a:off x="6640100" y="760725"/>
            <a:ext cx="969475" cy="38779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3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5" name="Google Shape;365;p53"/>
          <p:cNvSpPr txBox="1"/>
          <p:nvPr/>
        </p:nvSpPr>
        <p:spPr>
          <a:xfrm>
            <a:off x="126625" y="133050"/>
            <a:ext cx="78150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The 2-layer neural controller model has one overall </a:t>
            </a:r>
            <a:r>
              <a:rPr lang="en" sz="1800">
                <a:solidFill>
                  <a:srgbClr val="0000FF"/>
                </a:solidFill>
                <a:latin typeface="Nunito"/>
                <a:ea typeface="Nunito"/>
                <a:cs typeface="Nunito"/>
                <a:sym typeface="Nunito"/>
              </a:rPr>
              <a:t>Rhythm Generator (RG) layer</a:t>
            </a:r>
            <a:r>
              <a:rPr lang="en" sz="1800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, one </a:t>
            </a:r>
            <a:r>
              <a:rPr lang="en" sz="1800">
                <a:solidFill>
                  <a:srgbClr val="6AA84F"/>
                </a:solidFill>
                <a:latin typeface="Nunito"/>
                <a:ea typeface="Nunito"/>
                <a:cs typeface="Nunito"/>
                <a:sym typeface="Nunito"/>
              </a:rPr>
              <a:t>Pattern Formation (PF)</a:t>
            </a:r>
            <a:r>
              <a:rPr lang="en" sz="1800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 layer for each hip, and one </a:t>
            </a:r>
            <a:r>
              <a:rPr lang="en" sz="1800">
                <a:solidFill>
                  <a:srgbClr val="FF00FF"/>
                </a:solidFill>
                <a:latin typeface="Nunito"/>
                <a:ea typeface="Nunito"/>
                <a:cs typeface="Nunito"/>
                <a:sym typeface="Nunito"/>
              </a:rPr>
              <a:t>PF layer</a:t>
            </a:r>
            <a:r>
              <a:rPr lang="en" sz="1800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 for the knee and ankle of each side.</a:t>
            </a:r>
            <a:endParaRPr sz="1800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66" name="Google Shape;366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0400" y="1210250"/>
            <a:ext cx="4070799" cy="3468474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53"/>
          <p:cNvSpPr txBox="1"/>
          <p:nvPr/>
        </p:nvSpPr>
        <p:spPr>
          <a:xfrm>
            <a:off x="6883275" y="1936125"/>
            <a:ext cx="1304700" cy="702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Sensorimotor Layer</a:t>
            </a:r>
            <a:endParaRPr sz="1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53"/>
          <p:cNvSpPr/>
          <p:nvPr/>
        </p:nvSpPr>
        <p:spPr>
          <a:xfrm>
            <a:off x="2210050" y="2492625"/>
            <a:ext cx="801300" cy="575100"/>
          </a:xfrm>
          <a:prstGeom prst="ellipse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53"/>
          <p:cNvSpPr/>
          <p:nvPr/>
        </p:nvSpPr>
        <p:spPr>
          <a:xfrm>
            <a:off x="3212875" y="1418625"/>
            <a:ext cx="642300" cy="391200"/>
          </a:xfrm>
          <a:prstGeom prst="ellipse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53"/>
          <p:cNvSpPr/>
          <p:nvPr/>
        </p:nvSpPr>
        <p:spPr>
          <a:xfrm>
            <a:off x="3139675" y="3907300"/>
            <a:ext cx="715500" cy="391200"/>
          </a:xfrm>
          <a:prstGeom prst="ellipse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53"/>
          <p:cNvSpPr/>
          <p:nvPr/>
        </p:nvSpPr>
        <p:spPr>
          <a:xfrm>
            <a:off x="4925025" y="4120850"/>
            <a:ext cx="801300" cy="442200"/>
          </a:xfrm>
          <a:prstGeom prst="ellipse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53"/>
          <p:cNvSpPr/>
          <p:nvPr/>
        </p:nvSpPr>
        <p:spPr>
          <a:xfrm>
            <a:off x="4955100" y="1172475"/>
            <a:ext cx="801300" cy="442200"/>
          </a:xfrm>
          <a:prstGeom prst="ellipse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53"/>
          <p:cNvSpPr txBox="1"/>
          <p:nvPr/>
        </p:nvSpPr>
        <p:spPr>
          <a:xfrm>
            <a:off x="5415075" y="1809825"/>
            <a:ext cx="1171200" cy="954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4" name="Google Shape;374;p53"/>
          <p:cNvCxnSpPr>
            <a:stCxn id="373" idx="3"/>
            <a:endCxn id="367" idx="1"/>
          </p:cNvCxnSpPr>
          <p:nvPr/>
        </p:nvCxnSpPr>
        <p:spPr>
          <a:xfrm>
            <a:off x="6586275" y="2287125"/>
            <a:ext cx="297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4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0" name="Google Shape;380;p54"/>
          <p:cNvSpPr txBox="1"/>
          <p:nvPr/>
        </p:nvSpPr>
        <p:spPr>
          <a:xfrm>
            <a:off x="204775" y="115550"/>
            <a:ext cx="7724400" cy="10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Robot control will be achieved by combining our neuromechanical model with the previously mentioned skeletal geometry and pneumatic artificial muscles.</a:t>
            </a:r>
            <a:endParaRPr sz="2200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81" name="Google Shape;381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9881" y="1513600"/>
            <a:ext cx="2787494" cy="31408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382" name="Google Shape;382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4750" y="1513600"/>
            <a:ext cx="2556675" cy="31408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