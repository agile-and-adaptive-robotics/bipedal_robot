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5422f5f654eb5" /><Relationship Type="http://schemas.openxmlformats.org/officeDocument/2006/relationships/extended-properties" Target="/docProps/app.xml" Id="Rb6fe40900d2f4553" /><Relationship Type="http://schemas.openxmlformats.org/officeDocument/2006/relationships/officeDocument" Target="/ppt/presentation.xml" Id="R97c8a7f1ed6442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75d29dc1014192"/>
  </p:sldMasterIdLst>
  <p:notesMasterIdLst>
    <p:notesMasterId xmlns:r="http://schemas.openxmlformats.org/officeDocument/2006/relationships" r:id="R18bade6e844a4981"/>
  </p:notesMasterIdLst>
  <p:sldIdLst>
    <p:sldId xmlns:r="http://schemas.openxmlformats.org/officeDocument/2006/relationships" id="256" r:id="R3ce9b7014a024df5"/>
    <p:sldId xmlns:r="http://schemas.openxmlformats.org/officeDocument/2006/relationships" id="257" r:id="R55c514138b3c49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9844550ad04dad" /><Relationship Type="http://schemas.openxmlformats.org/officeDocument/2006/relationships/slideMaster" Target="/ppt/slideMasters/slideMaster1.xml" Id="R6f75d29dc1014192" /><Relationship Type="http://schemas.openxmlformats.org/officeDocument/2006/relationships/notesMaster" Target="/ppt/notesMasters/notesMaster1.xml" Id="R18bade6e844a4981" /><Relationship Type="http://schemas.openxmlformats.org/officeDocument/2006/relationships/presProps" Target="/ppt/presProps.xml" Id="Ra1a9268f5bec49a2" /><Relationship Type="http://schemas.openxmlformats.org/officeDocument/2006/relationships/tableStyles" Target="/ppt/tableStyles.xml" Id="R4eef3b6fb5064717" /><Relationship Type="http://schemas.openxmlformats.org/officeDocument/2006/relationships/slide" Target="/ppt/slides/slide1.xml" Id="R3ce9b7014a024df5" /><Relationship Type="http://schemas.openxmlformats.org/officeDocument/2006/relationships/slide" Target="/ppt/slides/slide2.xml" Id="R55c514138b3c49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c39f59a0c44a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be3e34ce224d4f" /><Relationship Type="http://schemas.openxmlformats.org/officeDocument/2006/relationships/notesMaster" Target="/ppt/notesMasters/notesMaster1.xml" Id="R8f06a5a794f949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76ed4a07c64713" /><Relationship Type="http://schemas.openxmlformats.org/officeDocument/2006/relationships/notesMaster" Target="/ppt/notesMasters/notesMaster1.xml" Id="Rf7facce26d2d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Recorded physics from D:/GitHub/Bipedal_Robot/Code/MuJoCo_SNS/robot_torso/runs/abd_defense_exact.npz. Model D:/GitHub/Bipedal_Robot/Code/MuJoCo_SNS/robot_torso/ah001_abduction_diagnostic_v2.xml. 75 kg; 54 reference-tension actuators, 262-neuron hybrid SNS/postural controller, 2 ms step. 80% actual vertical support after 15 s, with lateral and angular pelvis assistance. Provisional relative-knee passive stops and opposite-leg CAD contacts are active. Abductor control combines separation feedback and a 6% allocation floor on currently abducting routes; global activation floor is 5%. This is not independent balance, calibrated BPA force validation, or accepted walking. Foot toe-out remains. Detailed comparison is in the source assessment JSONs. Fresh reference and accelerated runs are bit-identical. The animation shows 20–32 s of the 40 s run. Right is blue, left gold, and selected hip-abducting routes are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Recorded physics from D:/GitHub/Bipedal_Robot/Code/MuJoCo_SNS/robot_torso/runs/abd_defense_exact.npz. Model D:/GitHub/Bipedal_Robot/Code/MuJoCo_SNS/robot_torso/ah001_abduction_diagnostic_v2.xml. 75 kg; 54 reference-tension actuators, 262-neuron hybrid SNS/postural controller, 2 ms step. 80% actual vertical support after 15 s, with lateral and angular pelvis assistance. Provisional relative-knee passive stops and opposite-leg CAD contacts are active. Abductor control combines separation feedback and a 6% allocation floor on currently abducting routes; global activation floor is 5%. This is not independent balance, calibrated BPA force validation, or accepted walking. Foot toe-out remains. Detailed comparison is in the source assessment JSONs. Fresh reference and accelerated runs are bit-identical. The still is from 24.00 s. The ablation removes the extra separation gain and reduces the abductor floor to the 5% global floor. Other controls, geometry, constraints, support protocol, and initial pose are held fixed. Ankle order alone is not a full collision test; the mesh-contact and loop-closure audit is separate.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378448bad4a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8f300f4a524c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ea4e90bf2f4a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21486334a48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027405ac84a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9d05910b043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789FF9-9443-4E9C-A1F6-02F41671D4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22B7FA-BDB5-4D68-B4EA-ABF4EED801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6747576-3CF3-484B-AFB3-87F706F2F2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7D0229-0CA1-4F7B-846E-BE38CC2E0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60B4F4C-B086-4493-8678-F29474B06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1CD51B-0366-4397-B0F8-B561798979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40C9041-033D-48BC-BC7F-0423C0CC6C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B16738-F326-4499-B85E-39943915C2E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6D84F3-3EED-4D2D-9C85-39CA66D6B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18553B-B26F-40AE-B1F0-540C2D3A5D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f3aa86680e4b22" /><Relationship Type="http://schemas.openxmlformats.org/officeDocument/2006/relationships/slideLayout" Target="/ppt/slideLayouts/slideLayout1.xml" Id="R639119b3489c485f" /><Relationship Type="http://schemas.openxmlformats.org/officeDocument/2006/relationships/slideLayout" Target="/ppt/slideLayouts/slideLayout2.xml" Id="Rd3bcdbbf48744636" /><Relationship Type="http://schemas.openxmlformats.org/officeDocument/2006/relationships/slideLayout" Target="/ppt/slideLayouts/slideLayout3.xml" Id="Rf2679f21b13b46db" /><Relationship Type="http://schemas.openxmlformats.org/officeDocument/2006/relationships/slideLayout" Target="/ppt/slideLayouts/slideLayout4.xml" Id="R330860fba5dd401e" /><Relationship Type="http://schemas.openxmlformats.org/officeDocument/2006/relationships/slideLayout" Target="/ppt/slideLayouts/slideLayout5.xml" Id="R6d1d9048c7714ae5" /><Relationship Type="http://schemas.openxmlformats.org/officeDocument/2006/relationships/slideLayout" Target="/ppt/slideLayouts/slideLayout6.xml" Id="R3bc6606796714a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9119b3489c485f"/>
    <p:sldLayoutId xmlns:r="http://schemas.openxmlformats.org/officeDocument/2006/relationships" id="2147483650" r:id="Rd3bcdbbf48744636"/>
    <p:sldLayoutId xmlns:r="http://schemas.openxmlformats.org/officeDocument/2006/relationships" id="2147483651" r:id="Rf2679f21b13b46db"/>
    <p:sldLayoutId xmlns:r="http://schemas.openxmlformats.org/officeDocument/2006/relationships" id="2147483652" r:id="R330860fba5dd401e"/>
    <p:sldLayoutId xmlns:r="http://schemas.openxmlformats.org/officeDocument/2006/relationships" id="2147483653" r:id="R6d1d9048c7714ae5"/>
    <p:sldLayoutId xmlns:r="http://schemas.openxmlformats.org/officeDocument/2006/relationships" id="2147483654" r:id="R3bc6606796714a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8654b575a54680" /><Relationship Type="http://schemas.openxmlformats.org/officeDocument/2006/relationships/image" Target="/ppt/media/image.gif" Id="Re53e44e9d5be42ca" /><Relationship Type="http://schemas.openxmlformats.org/officeDocument/2006/relationships/notesSlide" Target="/ppt/notesSlides/notesSlide1.xml" Id="Ra31c6bb6d18948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5f5ae2704b4eb4" /><Relationship Type="http://schemas.openxmlformats.org/officeDocument/2006/relationships/image" Target="/ppt/media/image.png" Id="R9306d730c9a648a7" /><Relationship Type="http://schemas.openxmlformats.org/officeDocument/2006/relationships/notesSlide" Target="/ppt/notesSlides/notesSlide2.xml" Id="Ref982a8058f44c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F9294-A813-4FA8-A676-9FB506BBE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0500"/>
            <a:ext cx="1158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CAD-DERIVED MODEL: SUPPORTED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67C15-2558-423D-812B-C7A20867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2450"/>
            <a:ext cx="1158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defPPr>
            <a:lvl1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1pPr>
            <a:lvl2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2pPr>
            <a:lvl3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3pPr>
            <a:lvl4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4pPr>
            <a:lvl5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5pPr>
            <a:lvl6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6pPr>
            <a:lvl7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7pPr>
            <a:lvl8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8pPr>
            <a:lvl9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B47C50"/>
                </a:solidFill>
                <a:latin typeface="Calibri"/>
                <a:ea typeface="Calibri"/>
                <a:cs typeface="Calibri"/>
              </a:rPr>
              <a:t>Abductor-enhanced control keeps the supported legs separated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3A861-D397-4D50-8C11-2E67420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4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8BF32-0C5E-42D8-9C2B-D3C719D5C3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e44e9d5be42ca"/>
          <a:srcRect xmlns:a="http://schemas.openxmlformats.org/drawingml/2006/main" l="0" t="6250" r="0" b="6250"/>
          <a:stretch xmlns:a="http://schemas.openxmlformats.org/drawingml/2006/main"/>
        </p:blipFill>
        <p:spPr>
          <a:xfrm xmlns:a="http://schemas.openxmlformats.org/drawingml/2006/main">
            <a:off x="1981200" y="1562100"/>
            <a:ext cx="8229600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AFB22-E411-48AB-A626-A8293BEB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15100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555555"/>
                </a:solidFill>
                <a:latin typeface="Calibri"/>
                <a:ea typeface="Calibri"/>
                <a:cs typeface="Calibri"/>
              </a:rPr>
              <a:t>80% vertical support · hybrid control · reference tensions · knee/contact assumptions</a:t>
            </a:r>
          </a:p>
        </p:txBody>
      </p:sp>
    </p:spTree>
    <p:extLst>
      <p:ext uri="{BB962C8B-B14F-4D97-AF65-F5344CB8AC3E}">
        <p14:creationId xmlns:p14="http://schemas.microsoft.com/office/powerpoint/2010/main" val="1579445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E249E-A7AF-4F5E-A012-F8FB70E1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90500"/>
            <a:ext cx="11582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defPPr>
            <a:lvl1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1pPr>
            <a:lvl2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2pPr>
            <a:lvl3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3pPr>
            <a:lvl4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4pPr>
            <a:lvl5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5pPr>
            <a:lvl6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6pPr>
            <a:lvl7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7pPr>
            <a:lvl8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8pPr>
            <a:lvl9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CAD-DERIVED MODEL: MEASURED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64976-E8B8-4BFB-BF2C-E1338C7A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52450"/>
            <a:ext cx="115824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defPPr>
            <a:lvl1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1pPr>
            <a:lvl2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2pPr>
            <a:lvl3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3pPr>
            <a:lvl4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4pPr>
            <a:lvl5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5pPr>
            <a:lvl6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6pPr>
            <a:lvl7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7pPr>
            <a:lvl8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8pPr>
            <a:lvl9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B47C5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B47C50"/>
                </a:solidFill>
                <a:latin typeface="Calibri"/>
                <a:ea typeface="Calibri"/>
                <a:cs typeface="Calibri"/>
              </a:rPr>
              <a:t>The matched control comparison quantifies leg separation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B6065D-F639-42C6-A607-DD7AA1F0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65436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defPPr>
            <a:lvl1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1pPr>
            <a:lvl2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2pPr>
            <a:lvl3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3pPr>
            <a:lvl4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4pPr>
            <a:lvl5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5pPr>
            <a:lvl6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6pPr>
            <a:lvl7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7pPr>
            <a:lvl8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8pPr>
            <a:lvl9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EB1F9-3EAF-41E2-86E5-8881E0CBEE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6d730c9a648a7"/>
          <a:stretch xmlns:a="http://schemas.openxmlformats.org/drawingml/2006/main"/>
        </p:blipFill>
        <p:spPr>
          <a:xfrm xmlns:a="http://schemas.openxmlformats.org/drawingml/2006/main">
            <a:off x="304800" y="1619250"/>
            <a:ext cx="7086600" cy="4133850"/>
          </a:xfrm>
          <a:prstGeom xmlns:a="http://schemas.openxmlformats.org/drawingml/2006/main" prst="rect">
            <a:avLst/>
          </a:prstGeom>
        </p:spPr>
      </p:pic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B1B0F-2F4D-4CE3-8A35-B0DC02D314B7}"/>
              </a:ext>
            </a:extLst>
          </p:cNvPr>
          <p:cNvGraphicFramePr/>
          <p:nvPr/>
        </p:nvGraphicFramePr>
        <p:xfrm>
          <a:off xmlns:a="http://schemas.openxmlformats.org/drawingml/2006/main" x="7620000" y="1714500"/>
          <a:ext xmlns:a="http://schemas.openxmlformats.org/drawingml/2006/main" cx="4267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990600"/>
                <a:gridCol w="990600"/>
              </a:tblGrid>
              <a:tr h="5556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8579"/>
                          </a:solidFill>
                          <a:latin typeface="Calibri"/>
                          <a:ea typeface="Calibri"/>
                          <a:cs typeface="Calibri"/>
                        </a:rPr>
                        <a:t>15–40 s interval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8579"/>
                          </a:solidFill>
                          <a:latin typeface="Calibri"/>
                          <a:ea typeface="Calibri"/>
                          <a:cs typeface="Calibri"/>
                        </a:rPr>
                        <a:t>Off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08579"/>
                          </a:solidFill>
                          <a:latin typeface="Calibri"/>
                          <a:ea typeface="Calibri"/>
                          <a:cs typeface="Calibri"/>
                        </a:rPr>
                        <a:t>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T w="9525">
                      <a:solidFill>
                        <a:srgbClr val="AAAAAA"/>
                      </a:solidFill>
                      <a:prstDash val="solid"/>
                    </a:lnT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Ankle order reversed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67%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Minimum spacing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-38 mm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142 mm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Right TFL activation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22%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82%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Vertical support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80%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Abductor floor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AAAAAA"/>
                      </a:solidFill>
                      <a:prstDash val="solid"/>
                    </a:lnL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5%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333333"/>
                          </a:solidFill>
                          <a:latin typeface="Calibri"/>
                          <a:ea typeface="Calibri"/>
                          <a:cs typeface="Calibri"/>
                        </a:rPr>
                        <a:t>6%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AAAAAA"/>
                      </a:solidFill>
                      <a:prstDash val="solid"/>
                    </a:lnR>
                    <a:lnB w="9525">
                      <a:solidFill>
                        <a:srgbClr val="AAAAA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CCAF9-EF28-499C-89F5-DB51B1D8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38750"/>
            <a:ext cx="4267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defPPr>
            <a:lvl1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1pPr>
            <a:lvl2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2pPr>
            <a:lvl3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3pPr>
            <a:lvl4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4pPr>
            <a:lvl5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5pPr>
            <a:lvl6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6pPr>
            <a:lvl7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7pPr>
            <a:lvl8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8pPr>
            <a:lvl9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333333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All other conditions matched. Lateral and angular pelvis support remain active.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6341E-114B-467C-AFB4-1143EEAC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153150"/>
            <a:ext cx="11582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defPPr>
            <a:lvl1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1pPr>
            <a:lvl2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2pPr>
            <a:lvl3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3pPr>
            <a:lvl4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4pPr>
            <a:lvl5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5pPr>
            <a:lvl6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6pPr>
            <a:lvl7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7pPr>
            <a:lvl8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8pPr>
            <a:lvl9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00857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8579"/>
                </a:solidFill>
                <a:latin typeface="Calibri"/>
                <a:ea typeface="Calibri"/>
                <a:cs typeface="Calibri"/>
              </a:rPr>
              <a:t>This supported diagnostic does not establish independent balance or BPA-controlled walking.</a:t>
            </a:r>
          </a:p>
        </p:txBody>
      </p:sp>
    </p:spTree>
    <p:extLst>
      <p:ext uri="{BB962C8B-B14F-4D97-AF65-F5344CB8AC3E}">
        <p14:creationId xmlns:p14="http://schemas.microsoft.com/office/powerpoint/2010/main" val="467728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2026-10-28T13:41:08.2290000Z</dcterms:created>
  <dcterms:modified xsi:type="dcterms:W3CDTF">2026-10-28T13:41:08.2290000Z</dcterms:modified>
</coreProperties>
</file>