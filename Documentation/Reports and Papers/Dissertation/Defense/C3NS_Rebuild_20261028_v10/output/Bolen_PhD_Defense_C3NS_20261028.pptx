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 id="2147483672" r:id="rId2"/>
  </p:sldMasterIdLst>
  <p:notesMasterIdLst>
    <p:notesMasterId r:id="rId46"/>
  </p:notesMasterIdLst>
  <p:sldIdLst>
    <p:sldId id="285" r:id="rId3"/>
    <p:sldId id="286" r:id="rId4"/>
    <p:sldId id="287" r:id="rId5"/>
    <p:sldId id="288" r:id="rId6"/>
    <p:sldId id="289" r:id="rId7"/>
    <p:sldId id="290" r:id="rId8"/>
    <p:sldId id="291" r:id="rId9"/>
    <p:sldId id="292" r:id="rId10"/>
    <p:sldId id="293" r:id="rId11"/>
    <p:sldId id="294" r:id="rId12"/>
    <p:sldId id="295" r:id="rId13"/>
    <p:sldId id="296" r:id="rId14"/>
    <p:sldId id="297" r:id="rId15"/>
    <p:sldId id="298" r:id="rId16"/>
    <p:sldId id="299" r:id="rId17"/>
    <p:sldId id="300" r:id="rId18"/>
    <p:sldId id="301" r:id="rId19"/>
    <p:sldId id="302" r:id="rId20"/>
    <p:sldId id="303" r:id="rId21"/>
    <p:sldId id="304" r:id="rId22"/>
    <p:sldId id="305" r:id="rId23"/>
    <p:sldId id="306" r:id="rId24"/>
    <p:sldId id="307" r:id="rId25"/>
    <p:sldId id="308" r:id="rId26"/>
    <p:sldId id="309" r:id="rId27"/>
    <p:sldId id="310" r:id="rId28"/>
    <p:sldId id="311" r:id="rId29"/>
    <p:sldId id="312" r:id="rId30"/>
    <p:sldId id="313" r:id="rId31"/>
    <p:sldId id="314" r:id="rId32"/>
    <p:sldId id="315" r:id="rId33"/>
    <p:sldId id="316" r:id="rId34"/>
    <p:sldId id="317" r:id="rId35"/>
    <p:sldId id="318" r:id="rId36"/>
    <p:sldId id="319" r:id="rId37"/>
    <p:sldId id="320" r:id="rId38"/>
    <p:sldId id="321" r:id="rId39"/>
    <p:sldId id="322" r:id="rId40"/>
    <p:sldId id="323" r:id="rId41"/>
    <p:sldId id="324" r:id="rId42"/>
    <p:sldId id="325" r:id="rId43"/>
    <p:sldId id="326" r:id="rId44"/>
    <p:sldId id="327" r:id="rId4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Force, N</c:v>
          </c:tx>
          <c:spPr>
            <a:solidFill>
              <a:srgbClr val="00758A"/>
            </a:solidFill>
          </c:spPr>
          <c:invertIfNegative val="0"/>
          <c:dLbls>
            <c:spPr>
              <a:noFill/>
              <a:ln>
                <a:noFill/>
              </a:ln>
              <a:effectLst/>
            </c:spPr>
            <c:txPr>
              <a:bodyPr anchorCtr="1"/>
              <a:lstStyle/>
              <a:p>
                <a:pPr>
                  <a:defRPr sz="2175">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Measured</c:v>
                </c:pt>
                <c:pt idx="1">
                  <c:v>New model</c:v>
                </c:pt>
                <c:pt idx="2">
                  <c:v>Manufacturer</c:v>
                </c:pt>
              </c:strCache>
            </c:strRef>
          </c:cat>
          <c:val>
            <c:numRef>
              <c:f>'Chart Data'!$B$2:$B$4</c:f>
              <c:numCache>
                <c:formatCode>General</c:formatCode>
                <c:ptCount val="3"/>
                <c:pt idx="0">
                  <c:v>350.9</c:v>
                </c:pt>
                <c:pt idx="1">
                  <c:v>335.3</c:v>
                </c:pt>
                <c:pt idx="2">
                  <c:v>498.6</c:v>
                </c:pt>
              </c:numCache>
            </c:numRef>
          </c:val>
          <c:extLst>
            <c:ext xmlns:c16="http://schemas.microsoft.com/office/drawing/2014/chart" uri="{C3380CC4-5D6E-409C-BE32-E72D297353CC}">
              <c16:uniqueId val="{00000000-8E99-4655-B062-9938E4BD2C44}"/>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2025">
                <a:solidFill>
                  <a:srgbClr val="666666"/>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scaling>
        <c:delete val="0"/>
        <c:axPos val="l"/>
        <c:title>
          <c:tx>
            <c:rich>
              <a:bodyPr/>
              <a:lstStyle/>
              <a:p>
                <a:r>
                  <a:t>Force, N</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875">
                <a:solidFill>
                  <a:srgbClr val="666666"/>
                </a:solidFill>
                <a:latin typeface="Calibri"/>
                <a:ea typeface="Calibri"/>
                <a:cs typeface="Calibri"/>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c393c13c9c_2_6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My dissertation makes actuator and transmission assumptions testable, and develops tools for controlled neural–mechanical experiments. Introduce the research robot as the motivating scientific instrument. Advisor: M. Anthony Hunt. Credit the AARL platform and collaborators throughout.</a:t>
            </a:r>
          </a:p>
          <a:p>
            <a:pPr marL="0" lvl="0" indent="0" algn="l" rtl="0">
              <a:spcBef>
                <a:spcPts val="0"/>
              </a:spcBef>
              <a:spcAft>
                <a:spcPts val="0"/>
              </a:spcAft>
              <a:buNone/>
            </a:pPr>
            <a:endParaRPr lang="en-US"/>
          </a:p>
          <a:p>
            <a:pPr marL="0" lvl="0" indent="0" algn="l" rtl="0">
              <a:spcBef>
                <a:spcPts val="0"/>
              </a:spcBef>
              <a:spcAft>
                <a:spcPts val="0"/>
              </a:spcAft>
              <a:buNone/>
            </a:pPr>
            <a:r>
              <a:rPr lang="en-US"/>
              <a:t>Sources: Portland State University · Agile &amp; Adaptive Robotics Laboratory</a:t>
            </a:r>
          </a:p>
          <a:p>
            <a:pPr marL="0" lvl="0" indent="0" algn="l" rtl="0">
              <a:spcBef>
                <a:spcPts val="0"/>
              </a:spcBef>
              <a:spcAft>
                <a:spcPts val="0"/>
              </a:spcAft>
              <a:buNone/>
            </a:pPr>
            <a:r>
              <a:rPr lang="en-US"/>
              <a:t>robot</a:t>
            </a:r>
            <a:endParaRPr/>
          </a:p>
        </p:txBody>
      </p:sp>
      <p:sp>
        <p:nvSpPr>
          <p:cNvPr id="115" name="Google Shape;115;gc393c13c9c_2_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Our first goal is more capable autonomous robots in unstructured environments. Wheels remain efficient on prepared warehouse floors. Sand, forests, and rubble motivate legs, compliant actuation, and sensory neural control. Elastic energy recovery and efficient control are design motivations, not energy savings demonstrated by this dissertation. We therefore need to know whether our chosen biological analogues actually supply the intended capabilities.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Ben’s research-goal directive; Dissertation Ch. 1; older Movement and Control talk</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second goal runs in the other direction. Biological knowledge informs robots, and increasingly biomimetic robots provide experimental access to mechanics and neural pathways. We can change a route or remove a feedback pathway and measure the consequence under repeatable conditions. Such interventions can be impossible or inappropriate in human subjects. Better prosthetic and orthotic devices are a tertiary application of the resulting understanding. The robot must first be characterized well enough that an effect can be interpreted.</a:t>
            </a:r>
          </a:p>
          <a:p>
            <a:pPr marL="0" lvl="0" indent="0" algn="l" rtl="0">
              <a:spcBef>
                <a:spcPts val="0"/>
              </a:spcBef>
              <a:spcAft>
                <a:spcPts val="0"/>
              </a:spcAft>
              <a:buNone/>
            </a:pPr>
            <a:endParaRPr lang="en-US"/>
          </a:p>
          <a:p>
            <a:pPr marL="0" lvl="0" indent="0" algn="l" rtl="0">
              <a:spcBef>
                <a:spcPts val="0"/>
              </a:spcBef>
              <a:spcAft>
                <a:spcPts val="0"/>
              </a:spcAft>
              <a:buNone/>
            </a:pPr>
            <a:r>
              <a:rPr lang="en-US"/>
              <a:t>Sources: Ben’s research-goal directive; Dissertation Ch. 1; older Movement and Control talk</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project builds a lower-body humanoid with a printed skeleton, biomimetic joints, and pneumatic artificial muscles. The older talk introduces the physical robot before explaining its modeling requirements; retain that progression. Credit Steele for the four-bar knee, the earlier AARL platform, and Morrow’s route-design collaboration. My dissertation develops force characterization, joint corrections and route tests, SADb, and neural-model tools. The historical photograph and model are the platform introduction, not a claim that all later models are hardware.</a:t>
            </a:r>
          </a:p>
          <a:p>
            <a:pPr marL="0" lvl="0" indent="0" algn="l" rtl="0">
              <a:spcBef>
                <a:spcPts val="0"/>
              </a:spcBef>
              <a:spcAft>
                <a:spcPts val="0"/>
              </a:spcAft>
              <a:buNone/>
            </a:pPr>
            <a:endParaRPr lang="en-US"/>
          </a:p>
          <a:p>
            <a:pPr marL="0" lvl="0" indent="0" algn="l" rtl="0">
              <a:spcBef>
                <a:spcPts val="0"/>
              </a:spcBef>
              <a:spcAft>
                <a:spcPts val="0"/>
              </a:spcAft>
              <a:buNone/>
            </a:pPr>
            <a:r>
              <a:rPr lang="en-US"/>
              <a:t>Sources: Ben’s research-goal directive; Dissertation Ch. 1; older Movement and Control talk</a:t>
            </a:r>
          </a:p>
          <a:p>
            <a:pPr marL="0" lvl="0" indent="0" algn="l" rtl="0">
              <a:spcBef>
                <a:spcPts val="0"/>
              </a:spcBef>
              <a:spcAft>
                <a:spcPts val="0"/>
              </a:spcAft>
              <a:buNone/>
            </a:pPr>
            <a:r>
              <a:rPr lang="en-US"/>
              <a:t>platform_photo</a:t>
            </a:r>
          </a:p>
          <a:p>
            <a:pPr marL="0" lvl="0" indent="0" algn="l" rtl="0">
              <a:spcBef>
                <a:spcPts val="0"/>
              </a:spcBef>
              <a:spcAft>
                <a:spcPts val="0"/>
              </a:spcAft>
              <a:buNone/>
            </a:pPr>
            <a:r>
              <a:rPr lang="en-US"/>
              <a:t>platform_model</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research goals require four foundations. First, predict artificial-muscle force when actuator length changes. Second, predict what torque the real transmission delivers and compare it with the intended human-muscle target. Third, locate sensory evidence with its experimental context. Fourth, build tools that make coupled circuit behavior testable. These are the four sections of this talk. A general background section is unnecessary; introduce each concept where its question arises.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Ben’s research-goal directive; Dissertation Ch. 1; older Movement and Control talk</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Begin the first question with the designer’s choice: a human-like leg has limited space, and changing actuator length changes force and excursion. Existing single-length fits and manufacturer predictions did not answer that choice reliably. I characterized 10 and 20 mm BPAs across resting length, pressure, and contraction. The next plots test whether length belongs explicitly in the force model.</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(2026), Actuators 15(5):230 · Dissertation Ch. 3</a:t>
            </a:r>
          </a:p>
          <a:p>
            <a:pPr marL="0" lvl="0" indent="0" algn="l" rtl="0">
              <a:spcBef>
                <a:spcPts val="0"/>
              </a:spcBef>
              <a:spcAft>
                <a:spcPts val="0"/>
              </a:spcAft>
              <a:buNone/>
            </a:pPr>
            <a:r>
              <a:rPr lang="en-US"/>
              <a:t>jig</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At 620 kPa, maximum force decreases at short resting lengths in both diameters. The manufacturer tool predicts the opposite trend. Black points are measured data, solid blue is the fitted model, and dashed magenta is the manufacturer prediction. Resting length therefore must be a model input. Do not generalize beyond the tested actuator families.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(2026), Actuators 15(5):230 · Dissertation Ch. 3</a:t>
            </a:r>
          </a:p>
          <a:p>
            <a:pPr marL="0" lvl="0" indent="0" algn="l" rtl="0">
              <a:spcBef>
                <a:spcPts val="0"/>
              </a:spcBef>
              <a:spcAft>
                <a:spcPts val="0"/>
              </a:spcAft>
              <a:buNone/>
            </a:pPr>
            <a:r>
              <a:rPr lang="en-US"/>
              <a:t>max10</a:t>
            </a:r>
          </a:p>
          <a:p>
            <a:pPr marL="0" lvl="0" indent="0" algn="l" rtl="0">
              <a:spcBef>
                <a:spcPts val="0"/>
              </a:spcBef>
              <a:spcAft>
                <a:spcPts val="0"/>
              </a:spcAft>
              <a:buNone/>
            </a:pPr>
            <a:r>
              <a:rPr lang="en-US"/>
              <a:t>max20</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force is the product of a dimensionless force surface and maximum force at the chosen resting length. Normalized pressure and contraction locate the operating point. Separate coefficients apply to each diameter, and maximum contraction is measured for each actuator. The plotted 20 mm curves show measured points and model isoclines. The source uses an 80/20 point split. This does not establish dynamic performance or every unseen actuator length.</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(2026), Actuators 15(5):230 · Dissertation Ch. 3</a:t>
            </a:r>
          </a:p>
          <a:p>
            <a:pPr marL="0" lvl="0" indent="0" algn="l" rtl="0">
              <a:spcBef>
                <a:spcPts val="0"/>
              </a:spcBef>
              <a:spcAft>
                <a:spcPts val="0"/>
              </a:spcAft>
              <a:buNone/>
            </a:pPr>
            <a:r>
              <a:rPr lang="en-US"/>
              <a:t>forceeq</a:t>
            </a:r>
          </a:p>
          <a:p>
            <a:pPr marL="0" lvl="0" indent="0" algn="l" rtl="0">
              <a:spcBef>
                <a:spcPts val="0"/>
              </a:spcBef>
              <a:spcAft>
                <a:spcPts val="0"/>
              </a:spcAft>
              <a:buNone/>
            </a:pPr>
            <a:r>
              <a:rPr lang="en-US"/>
              <a:t>surface20</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first contribution makes resting length a quantitative design input. But actuator force alone does not establish joint performance. The force must travel through a route, brackets, and tendons. The next section asks how much torque that assembly actually delivers, how the rigid prediction fails, and which corrections support a better design. This is the handoff from actuator characterization to joint design factors.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p>
          <a:p>
            <a:pPr marL="0" lvl="0" indent="0" algn="l" rtl="0">
              <a:spcBef>
                <a:spcPts val="0"/>
              </a:spcBef>
              <a:spcAft>
                <a:spcPts val="0"/>
              </a:spcAft>
              <a:buNone/>
            </a:pPr>
            <a:r>
              <a:rPr lang="en-US"/>
              <a:t>knee_jig</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Use the editable schematic to explain the cross product. The joint is O, the attachment is p, and the tensile force acts along its route. The perpendicular distance to the force line is the moment arm. Torque magnitude is force times that distance. Routing changes both moment arm and actuator excursion, so maximizing moment arm alone can reduce usable force. The diagram is conceptual and has no numerical geometry.</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model includes a constant length offset, force-dependent displacement in effective attachment frames, and an empirical wrapping loss. χ1 and χ2 describe effective system stiffness, including fixtures and the winch, rather than isolated bracket material stiffness. One pair is shared across flexor and extensor. The wrapping schematic explains contact angle and length loss. Identification uses existing measured tests; route optimization then uses the adopted terms unchanged.</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p>
          <a:p>
            <a:pPr marL="0" lvl="0" indent="0" algn="l" rtl="0">
              <a:spcBef>
                <a:spcPts val="0"/>
              </a:spcBef>
              <a:spcAft>
                <a:spcPts val="0"/>
              </a:spcAft>
              <a:buNone/>
            </a:pPr>
            <a:r>
              <a:rPr lang="en-US"/>
              <a:t>wrap</a:t>
            </a:r>
          </a:p>
          <a:p>
            <a:pPr marL="0" lvl="0" indent="0" algn="l" rtl="0">
              <a:spcBef>
                <a:spcPts val="0"/>
              </a:spcBef>
              <a:spcAft>
                <a:spcPts val="0"/>
              </a:spcAft>
              <a:buNone/>
            </a:pPr>
            <a:r>
              <a:rPr lang="en-US"/>
              <a:t>bracket</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These exact validation means compare the characterized BPA model with all correction terms disabled against the adopted corrected model. Flexor uses two held-out tests, and extensor three. They are the selected folds of the existing identification, not newly collected tests. The same stiffness pair applies to both. One extensor training test retains FVU above one. The claim is lower held-out error, not uniformly accurate fits.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extensor redesign uses two 20 mm BPAs. The photo shows the assembled cam-assisted route. The optimizer varies geometry under packaging and torque constraints, using the adopted corrections. Credit Morrow for route-design collaboration and Steele for the underlying four-bar knee. Correction identification and route redesign answer different questions.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p>
          <a:p>
            <a:pPr marL="0" lvl="0" indent="0" algn="l" rtl="0">
              <a:spcBef>
                <a:spcPts val="0"/>
              </a:spcBef>
              <a:spcAft>
                <a:spcPts val="0"/>
              </a:spcAft>
              <a:buNone/>
            </a:pPr>
            <a:r>
              <a:rPr lang="en-US"/>
              <a:t>hardware</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Read the series identities: blue points are measured, yellow points are predictions at the measured pressures, the dotted black curve is vastus medialis, and magenta is the optimized 620 kPa prediction. All nine measurements exceed the selected human target, including −86.5 degrees. At that angle, the measured torque is 2.06 N m below the pressure-specific prediction. Measured torque is 29.02–51.17 N m; target margins are +0.24 to +3.52 N m at 256–488 kPa. Discrete holds span −119 to +5 degrees. They establish capacity at those configurations.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p>
          <a:p>
            <a:pPr marL="0" lvl="0" indent="0" algn="l" rtl="0">
              <a:spcBef>
                <a:spcPts val="0"/>
              </a:spcBef>
              <a:spcAft>
                <a:spcPts val="0"/>
              </a:spcAft>
              <a:buNone/>
            </a:pPr>
            <a:r>
              <a:rPr lang="en-US"/>
              <a:t>extphysical</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selected human target is maximum-isometric biceps femoris short head from OpenSim Gait2392. Flexion torque is negative, so compare magnitudes. All 15 holds meet or exceed it from −119 to +5 degrees. The source reduction gives margins +0.42 N m at −105 degrees to +17.0 N m at −14 degrees. Recorded pressures are 226.5–638 kPa. Physical lengths are 561/28 and 560/30 mm resting/tendon. Preserve the nominal 562 mm prediction label and distinguish prediction settings from these measurements. The full-pressure predicted curve and variable-pressure points are different conditions. Capacity is demonstrated while prediction agreement remains uneven.</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p>
          <a:p>
            <a:pPr marL="0" lvl="0" indent="0" algn="l" rtl="0">
              <a:spcBef>
                <a:spcPts val="0"/>
              </a:spcBef>
              <a:spcAft>
                <a:spcPts val="0"/>
              </a:spcAft>
              <a:buNone/>
            </a:pPr>
            <a:r>
              <a:rPr lang="en-US"/>
              <a:t>flexphysical</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corrected model lowers held-out error, and the redesigned routes meet their selected human-muscle targets at all 24 measured points. This establishes tested isometric capacity, while pressure-specific prediction error remains. It does not tell us which feedback should recruit that capacity. To choose biologically motivated feedback, we need the source evidence, including preparation, pathway sign, and experimental task. That need motivates SADb.</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third gap is access to evidence. A pathway name alone does not tell a modeler what was measured, in which species or preparation, or whether an effect depends on task or phase. SADb preserves those links and makes them searchable. The application is a literature resource that supports a modeling decision; it is not a table of universal controller gains. The next slide shows how a researcher follows those links.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5; Appendix E</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Use the six annotated callouts to explain the app: A view selection, B map controls, C focus record, D curation and translation, E citation neighborhood, and F connected papers. Search and filter across 1,393 total app records, including 943 in the Papers category. Models and reviews can also be publications, so the category count is not a total publication count. Table search spans record types; pivots and citation views use paper records. Embedded data support offline exploration; the online-search tab requires a network. A static screenshot shows functionality, not retrieval accuracy.</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5, The Resource · Appendix E, distributed app snapshot</a:t>
            </a:r>
          </a:p>
          <a:p>
            <a:pPr marL="0" lvl="0" indent="0" algn="l" rtl="0">
              <a:spcBef>
                <a:spcPts val="0"/>
              </a:spcBef>
              <a:spcAft>
                <a:spcPts val="0"/>
              </a:spcAft>
              <a:buNone/>
            </a:pPr>
            <a:r>
              <a:rPr lang="en-US"/>
              <a:t>sadb</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For an example, a spindle pathway suggests length and velocity signals, an excitatory homonymous connection, and reciprocal inhibition. The source conditions must remain attached to that choice; gains and receptor dynamics still require explicit selection. This closes the evidence-access gap but opens an implementation question: does the circuit produce the expected effect when coupled to this mechanical model? That is the purpose of the SNS tools section.</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5, Use in Neural-Controller Design; Ch. 6</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Li–Deng/W2L work combines published mechanics and a layered neural controller. Suspended motion did not automatically transfer to supported or weight-bearing behavior, and the MATLAB/Simulink implementation raised additional questions about implementation and coupling. A failed or rhythmic trajectory alone could not identify the cause. I therefore developed a workflow for checking the circuit, connecting actuators and sensors, tuning in stages, and changing one condition at a time. The demonstrations that follow answer distinct questions within that workflow.</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opening narrative and tools gap</a:t>
            </a:r>
          </a:p>
          <a:p>
            <a:pPr marL="0" lvl="0" indent="0" algn="l" rtl="0">
              <a:spcBef>
                <a:spcPts val="0"/>
              </a:spcBef>
              <a:spcAft>
                <a:spcPts val="0"/>
              </a:spcAft>
              <a:buNone/>
            </a:pPr>
            <a:r>
              <a:rPr lang="en-US"/>
              <a:t>robot</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source schematic separates CAD/Simscape imports from OpenSim/MyoConverter/MuJoCo conversion and repairs. Neural control uses graphical SNS blocks or scripted SNS-Toolbox. The MathWorks bridge provides a command/sensor interface, not evidence that every circuit transfers dynamically. My contribution is the neural/actuator coupling, graphical implementations, and verification procedures, building on existing engines and formulations.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Model construction and neural-controller interfaces</a:t>
            </a:r>
          </a:p>
          <a:p>
            <a:pPr marL="0" lvl="0" indent="0" algn="l" rtl="0">
              <a:spcBef>
                <a:spcPts val="0"/>
              </a:spcBef>
              <a:spcAft>
                <a:spcPts val="0"/>
              </a:spcAft>
              <a:buNone/>
            </a:pPr>
            <a:r>
              <a:rPr lang="en-US"/>
              <a:t>workflow</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staged curriculum is a method for locating the next failure, not a claim that every model passes every stage. Start suspended without feedback, add feedback, introduce standing and perturbations, and then assess supported ground coordination against a reference. Saved controllers and controlled removals make conditions comparable. The next demonstrations test corrective feedback, separation of timing and motor output, and mechanical coordination.</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curriculum Table 6.2</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A1 and A2 show the empty and loaded container. B compares forearm elevation with feedback on and off. Sag is 2.00 degrees with feedback versus 7.85 degrees without. C shows the actual implemented circuit: biceps Ia excites biceps MN and inhibits triceps MN; triceps Ia does the converse. Own-muscle Ib inhibits its MN. Arrowheads mean excitation, and filled circles inhibition. This demonstrates a corrective effect in the reduced block model under the selected settings.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arm_pose</a:t>
            </a:r>
          </a:p>
          <a:p>
            <a:pPr marL="0" lvl="0" indent="0" algn="l" rtl="0">
              <a:spcBef>
                <a:spcPts val="0"/>
              </a:spcBef>
              <a:spcAft>
                <a:spcPts val="0"/>
              </a:spcAft>
              <a:buNone/>
            </a:pPr>
            <a:r>
              <a:rPr lang="en-US"/>
              <a:t>arm_circuit</a:t>
            </a:r>
          </a:p>
          <a:p>
            <a:pPr marL="0" lvl="0" indent="0" algn="l" rtl="0">
              <a:spcBef>
                <a:spcPts val="0"/>
              </a:spcBef>
              <a:spcAft>
                <a:spcPts val="0"/>
              </a:spcAft>
              <a:buNone/>
            </a:pPr>
            <a:r>
              <a:rPr lang="en-US"/>
              <a:t>arm_trace</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reduced Deng-derived translated circuit is coupled to a suspended model. Stimuli lasting two baseline periods suppress two expected flexor motor bursts at each tested layer. RG-extensor +50 nA shifts both RG and motor timing by 0.211 cycle. PF-extensor +50 nA suppresses output without resetting the RG clock, and flexor-MN −500 nA also gives a non-resetting deletion. Read left RG traces and right MN activation together. Stronger-current controls matter: a one-second PF pulse shifts motor timing by 0.208 cycle while RG timing stays unchanged. A motor shift alone therefore does not prove RG resetting. This is a translated reduced-circuit test, not original-rat locomotion replication.</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layers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recovered W2L comparison fixes effective conductances, drive, and support settings, then disables all sensory feedback. Median contact phase changes from 0.498 to 0.223 cycles. The accepted supported-stepping interval is 0.35–0.65, with 0.5 indicating alternation. Forward motion and joint cycling persist after deletion. Over 4.5–30 s, displacement is 2.239 m with feedback and 1.996 m without. The demonstrated contribution is contact coordination. Do not confuse this paired protocol with the separately supported basin/replay tests.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w2l</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supported human-model replay contains ten detected cycles per leg. This crop shows hip and knee mean and one standard deviation against the Gait2392 inverse-kinematics reference. Each leg aligns to its own loading onset with no fitted phase shift, angle offset, or amplitude adjustment. Hip and knee timing differences remain visible. Model stance fractions are 0.71 right and 0.65 left versus reference 0.61. Separate leg alignment does not prove bilateral coordination. The complete ankle/contact overlay is backup slide 42. Rhythmic cycles alone do not establish normal human gait.</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ik_hipknee</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Anterior and oblique views show the same saved state. Matched 15–40 s runs compare the separation-control bundle off and on. Reversed ankle ordering changes from 67% to zero, and minimum separation from −38.3 to 142.4 mm. The bundle adds separation feedback and raises the currently abducting-route activation floor from 5% to 6%. The current model has 54 reference-tension actuators and 262 neurons/230 inputs. The hybrid MN clamp cancels incoming PF/reflex currents, so it does not establish effective PF/reflex control of activation. Regular stepping is not accepted. The optional replay and complete support and geometry assumptions are in the question slides.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ah001</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Return to our research goals. The force model supports actuator choice; joint factors support interpreting the transmission; SADb supports selecting a sensory hypothesis; and the SNS tools support controlled interventions. A researcher can now separate a force-capacity question from a pathway-sign question or a model-coupling fault. This is how the contributions advance the robot as an experimental instrument, while autonomous behavior remains an integration goal.</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Introduction, Discussion, and Conclusion</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Organize future work by the original goals rather than by a software to-do list. For autonomous robots, test dynamic actuator/transmission behavior, effective neural control, and progressive support reduction under explicit gait criteria. For biological understanding, compare controlled pathway and mechanical changes with experimental response signatures. Prosthetic and orthotic studies are a later translation requiring task-specific and human validation. The immediate work is to establish the validity and interpretation of each experiment.</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Discussion; current model limitations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Conclude the argument. Our long-term goals are capable autonomous robots and biological insight, with assistive devices as a further application. This dissertation supplies resting-length-aware force prediction, corrected and physically tested knee routes, source-linked sensory evidence, and tools for controlled neuromechanical experiments. All nine extensor and fifteen flexor measurements meet the selected human-muscle targets. These foundations enable stronger experiments; they do not by themselves establish an autonomous walking humanoid. Thank the advisor, committee, AARL, and collaborators, then invite questions.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Ben P. Bolen · Portland State University · AARL</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is the 10 mm BPA at 112 mm resting length and 620 kPa. Measured force is 350.9 N, the model gives 335.3 N, and the manufacturer tool gives 498.6 N. Reported errors are 4.5% and 42.1%. This is one reported case, not the average error or an independent length holdout. The native chart uses the published values directly.</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(2026), Actuators 15(5):230 · Dissertation Ch. 3</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adopted cam design predicts a minimum margin of 30.83% over the required envelope, which itself includes 5% overshoot above the selected human reference. The minimum margin over the plain human target is 39.77%. Predicted pressure needed for the required envelope is 269–507 kPa. The blue curve is the 620 kPa model prediction. These margins are predictions, not physical measurement margins.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p>
          <a:p>
            <a:pPr marL="0" lvl="0" indent="0" algn="l" rtl="0">
              <a:spcBef>
                <a:spcPts val="0"/>
              </a:spcBef>
              <a:spcAft>
                <a:spcPts val="0"/>
              </a:spcAft>
              <a:buNone/>
            </a:pPr>
            <a:r>
              <a:rPr lang="en-US"/>
              <a:t>camtorque</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comparison uses the driven W2L rhythm core, with matched connectivity, initial states, and phasic heel-contact input. Periods match at 1.000 s, all ten expected bursts occur, and trace correlation is at least 0.99996. A 2 ms lag equals one solver step. Removing the specified phasic inputs latches both implementations. This is agreement under a defined protocol, not full-network equivalence. The bridge additionally gives bit-exact scored sensor readback, but a separate tonic-drive full circuit settles in Simulink while its NumPy reference oscillates.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rhythm</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 matched no-stimulus run isolates the effect of a 2 nA, 30 ms current pulse at the extensor Ia input after settling. The peak extension excursion is 1.09 degrees at 111 ms, and the stated recovery thresholds are met at 6.355 s. Six MN/Ia synaptic saturation widths were broadened; the original narrow ramps sustained oscillations. C shows the six feedback connections. These are engineered block settings, not a calibrated human tendon-tap reflex.</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knee_trace</a:t>
            </a:r>
          </a:p>
          <a:p>
            <a:pPr marL="0" lvl="0" indent="0" algn="l" rtl="0">
              <a:spcBef>
                <a:spcPts val="0"/>
              </a:spcBef>
              <a:spcAft>
                <a:spcPts val="0"/>
              </a:spcAft>
              <a:buNone/>
            </a:pPr>
            <a:r>
              <a:rPr lang="en-US"/>
              <a:t>knee_circuit</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Concentrate model scope here. W2L and human-model evaluations retain mechanical support. No harness-free walking is established anywhere in the program. For AH001 the displayed interval uses 80% actual vertical assistance plus lateral and angular support. Actuators are reference tensions, not calibrated BPA dynamics. The MN clamp cancels incoming PF and reflex currents. Foot mounting is provisional, with ideal rigid attachment brackets and assumed passive knee stops. Preventing crossing does not establish regular stepping, balance, or hardware validity. Keep these distinctions without repeating the limitation on every slide.</a:t>
            </a:r>
          </a:p>
          <a:p>
            <a:pPr marL="0" lvl="0" indent="0" algn="l" rtl="0">
              <a:spcBef>
                <a:spcPts val="0"/>
              </a:spcBef>
              <a:spcAft>
                <a:spcPts val="0"/>
              </a:spcAft>
              <a:buNone/>
            </a:pPr>
            <a:endParaRPr lang="en-US"/>
          </a:p>
          <a:p>
            <a:pPr marL="0" lvl="0" indent="0" algn="l" rtl="0">
              <a:spcBef>
                <a:spcPts val="0"/>
              </a:spcBef>
              <a:spcAft>
                <a:spcPts val="0"/>
              </a:spcAft>
              <a:buNone/>
            </a:pPr>
            <a:r>
              <a:rPr lang="en-US"/>
              <a:t>Sources: Current manuscript Ch. 6 / Appendix D · Session 1 AH001 records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Panels C and D are the held-out nominal 46 cm and 40 cm-tendon tests, corresponding to actual 45.7 and 40.6 cm. Separate crops retain the full traces and shared legend; native labels supply panel letters and axes. The full model shares effective stiffness across both knee configurations. Validation mean RMSE is 1.490 N m.</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p>
          <a:p>
            <a:pPr marL="0" lvl="0" indent="0" algn="l" rtl="0">
              <a:spcBef>
                <a:spcPts val="0"/>
              </a:spcBef>
              <a:spcAft>
                <a:spcPts val="0"/>
              </a:spcAft>
              <a:buNone/>
            </a:pPr>
            <a:r>
              <a:rPr lang="en-US"/>
              <a:t>validation_left</a:t>
            </a:r>
          </a:p>
          <a:p>
            <a:pPr marL="0" lvl="0" indent="0" algn="l" rtl="0">
              <a:spcBef>
                <a:spcPts val="0"/>
              </a:spcBef>
              <a:spcAft>
                <a:spcPts val="0"/>
              </a:spcAft>
              <a:buNone/>
            </a:pPr>
            <a:r>
              <a:rPr lang="en-US"/>
              <a:t>validation_right</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Use the exact adopted-fold test split. Flexor training is 48.5 and 41.0 cm; validation is 45.7 and 40.6 cm-tendon; 47 cm was not used. Extensor training is 43.6, 43.2-tendon, and 45.7 cm; validation is 40.0, 40.0-tendon, and 46.5 cm. The early shifted-bracket tests were excluded. Identification uses gamultiobj; route redesign uses surrogateopt and patternsearch. χ1/χ2 are effective stiffness terms, not isolated bracket material values.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rows are physical measurements, in resting/tendon order. Flexor 1 is 561/28 mm, flexor 2 560/30 mm, extensor 1 828/92 mm, and extensor 2 826/85 mm. Prediction inputs instead use shared flexor resting length 561.49 mm and an effective 5.00 mm tendon parameter after fitting adjustment, and extensor resting length 827.74 mm with about 92.49 mm tendon. The nominal 562 mm plot label remains a nominal prediction label.</a:t>
            </a:r>
          </a:p>
          <a:p>
            <a:pPr marL="0" lvl="0" indent="0" algn="l" rtl="0">
              <a:spcBef>
                <a:spcPts val="0"/>
              </a:spcBef>
              <a:spcAft>
                <a:spcPts val="0"/>
              </a:spcAft>
              <a:buNone/>
            </a:pPr>
            <a:endParaRPr lang="en-US"/>
          </a:p>
          <a:p>
            <a:pPr marL="0" lvl="0" indent="0" algn="l" rtl="0">
              <a:spcBef>
                <a:spcPts val="0"/>
              </a:spcBef>
              <a:spcAft>
                <a:spcPts val="0"/>
              </a:spcAft>
              <a:buNone/>
            </a:pPr>
            <a:r>
              <a:rPr lang="en-US"/>
              <a:t>Sources: Torque manuscript, Physical Tests · Dissertation Appendix C dimensions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All values are from the saved table. Two-period RG stimulus: +50 nA for 3.876 s, +0.210526 cycle RG and MN shift. PF same current/duration: zero residual phase at both. MN inhibition: −500 nA for 3.876 s, zero residual. The one-second PF control gives +0.208462 motor shift with zero RG shift. Thus motor phase shift alone does not establish an RG reset. The smaller-current sweep has no observable complete-burst deletion, although brief active-time losses appear in some rows.</a:t>
            </a:r>
          </a:p>
          <a:p>
            <a:pPr marL="0" lvl="0" indent="0" algn="l" rtl="0">
              <a:spcBef>
                <a:spcPts val="0"/>
              </a:spcBef>
              <a:spcAft>
                <a:spcPts val="0"/>
              </a:spcAft>
              <a:buNone/>
            </a:pPr>
            <a:endParaRPr lang="en-US"/>
          </a:p>
          <a:p>
            <a:pPr marL="0" lvl="0" indent="0" algn="l" rtl="0">
              <a:spcBef>
                <a:spcPts val="0"/>
              </a:spcBef>
              <a:spcAft>
                <a:spcPts val="0"/>
              </a:spcAft>
              <a:buNone/>
            </a:pPr>
            <a:r>
              <a:rPr lang="en-US"/>
              <a:t>Sources: stimulus_results_all.csv · Current Appendix D layer-stimulus protocols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Both runs use matching geometry, support, initial pose, and reference tensions. The control bundle adds 160 N/m separation feedback capped at 20 N, plus a 5% to 6% floor on currently abducting routes. The interval is 15–40 s. Zero reversed ordering and zero sampled mesh penetration are separate checks. Toe-out remains about 25–28 degrees, and post-ramp knee motion is small. Exact-fast and reference saved arrays reproduce bit for bit in fresh 40 s runs. This is numerical replay, not robustness or hardware validity.</a:t>
            </a:r>
          </a:p>
          <a:p>
            <a:pPr marL="0" lvl="0" indent="0" algn="l" rtl="0">
              <a:spcBef>
                <a:spcPts val="0"/>
              </a:spcBef>
              <a:spcAft>
                <a:spcPts val="0"/>
              </a:spcAft>
              <a:buNone/>
            </a:pPr>
            <a:endParaRPr lang="en-US"/>
          </a:p>
          <a:p>
            <a:pPr marL="0" lvl="0" indent="0" algn="l" rtl="0">
              <a:spcBef>
                <a:spcPts val="0"/>
              </a:spcBef>
              <a:spcAft>
                <a:spcPts val="0"/>
              </a:spcAft>
              <a:buNone/>
            </a:pPr>
            <a:r>
              <a:rPr lang="en-US"/>
              <a:t>Sources: AH001_20261028/PLACEMENT_RECOMMENDATION.md · asset_provenance.json</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selected 10 mm comparisons are the two upper panels of the published figure, with measured force on x and predicted force on y. The diagonal indicates agreement. Preserve model identities and tested length scopes. This supports the comparison in these reported cases and is not an exhaustive model benchmark. The published coefficients and scientific results remain unchanged.</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(2026), Actuators 15(5):230 · Dissertation Ch. 3</a:t>
            </a:r>
          </a:p>
          <a:p>
            <a:pPr marL="0" lvl="0" indent="0" algn="l" rtl="0">
              <a:spcBef>
                <a:spcPts val="0"/>
              </a:spcBef>
              <a:spcAft>
                <a:spcPts val="0"/>
              </a:spcAft>
              <a:buNone/>
            </a:pPr>
            <a:r>
              <a:rPr lang="en-US"/>
              <a:t>comparison</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complete source figure includes hip, knee, ankle, and stance/contact comparisons. Each leg is aligned independently to loading onset. The same ten-cycle replay supplies the core-talk crop. No fitted angle offsets, amplitude adjustment, or phase shifts are used. The model and reference stance fractions differ, and separate leg alignment does not establish bilateral phase.</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ik</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Optional 12-second replay of the same supported AH001 abductor-control condition. The GIF contains 96 frames over 20–32 s. It illustrates the recorded kinematics and leg separation, not accepted regular stepping. Use slide 35 for support, actuator, and MN-clamp scope, and slide 40 for the matched measures.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AH001_20261028/asset_provenance.json · saved 20–32 s interval</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blipFill>
          <a:blip r:embed="rId2">
            <a:alphaModFix/>
          </a:blip>
          <a:stretch>
            <a:fillRect/>
          </a:stretch>
        </a:blipFill>
        <a:effectLst/>
      </p:bgPr>
    </p:bg>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3218116" y="1408844"/>
            <a:ext cx="4889205"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4500"/>
              <a:buFont typeface="Calibri"/>
              <a:buNone/>
              <a:defRPr sz="45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3218116" y="3310271"/>
            <a:ext cx="4889205" cy="34245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lt1"/>
              </a:buClr>
              <a:buSzPts val="1800"/>
              <a:buNone/>
              <a:defRPr sz="1800">
                <a:solidFill>
                  <a:schemeClr val="lt1"/>
                </a:solidFill>
              </a:defRPr>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628650" y="273844"/>
            <a:ext cx="726567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2" name="Google Shape;62;p15"/>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5"/>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7"/>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68" name="Google Shape;68;p17"/>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7"/>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628650" y="273844"/>
            <a:ext cx="731139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8"/>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3" name="Google Shape;73;p18"/>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4" name="Google Shape;74;p18"/>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8"/>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9"/>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79" name="Google Shape;79;p19"/>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0" name="Google Shape;80;p19"/>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81" name="Google Shape;81;p19"/>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2" name="Google Shape;82;p19"/>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9"/>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4"/>
        <p:cNvGrpSpPr/>
        <p:nvPr/>
      </p:nvGrpSpPr>
      <p:grpSpPr>
        <a:xfrm>
          <a:off x="0" y="0"/>
          <a:ext cx="0" cy="0"/>
          <a:chOff x="0" y="0"/>
          <a:chExt cx="0" cy="0"/>
        </a:xfrm>
      </p:grpSpPr>
      <p:sp>
        <p:nvSpPr>
          <p:cNvPr id="85" name="Google Shape;85;p20"/>
          <p:cNvSpPr txBox="1">
            <a:spLocks noGrp="1"/>
          </p:cNvSpPr>
          <p:nvPr>
            <p:ph type="title"/>
          </p:nvPr>
        </p:nvSpPr>
        <p:spPr>
          <a:xfrm>
            <a:off x="628650" y="273844"/>
            <a:ext cx="731139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0"/>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0"/>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8"/>
        <p:cNvGrpSpPr/>
        <p:nvPr/>
      </p:nvGrpSpPr>
      <p:grpSpPr>
        <a:xfrm>
          <a:off x="0" y="0"/>
          <a:ext cx="0" cy="0"/>
          <a:chOff x="0" y="0"/>
          <a:chExt cx="0" cy="0"/>
        </a:xfrm>
      </p:grpSpPr>
      <p:sp>
        <p:nvSpPr>
          <p:cNvPr id="89" name="Google Shape;89;p21"/>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1"/>
          <p:cNvSpPr txBox="1">
            <a:spLocks noGrp="1"/>
          </p:cNvSpPr>
          <p:nvPr>
            <p:ph type="sldNum" idx="12"/>
          </p:nvPr>
        </p:nvSpPr>
        <p:spPr>
          <a:xfrm>
            <a:off x="8740942" y="4767263"/>
            <a:ext cx="403058" cy="3762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sz="1200">
                <a:solidFill>
                  <a:schemeClr val="lt1"/>
                </a:solidFill>
                <a:latin typeface="Times New Roman"/>
                <a:ea typeface="Times New Roman"/>
                <a:cs typeface="Times New Roman"/>
                <a:sym typeface="Times New Roman"/>
              </a:defRPr>
            </a:lvl1pPr>
            <a:lvl2pPr marL="0" lvl="1" indent="0" algn="r">
              <a:spcBef>
                <a:spcPts val="0"/>
              </a:spcBef>
              <a:buNone/>
              <a:defRPr sz="1200">
                <a:solidFill>
                  <a:schemeClr val="lt1"/>
                </a:solidFill>
                <a:latin typeface="Times New Roman"/>
                <a:ea typeface="Times New Roman"/>
                <a:cs typeface="Times New Roman"/>
                <a:sym typeface="Times New Roman"/>
              </a:defRPr>
            </a:lvl2pPr>
            <a:lvl3pPr marL="0" lvl="2" indent="0" algn="r">
              <a:spcBef>
                <a:spcPts val="0"/>
              </a:spcBef>
              <a:buNone/>
              <a:defRPr sz="1200">
                <a:solidFill>
                  <a:schemeClr val="lt1"/>
                </a:solidFill>
                <a:latin typeface="Times New Roman"/>
                <a:ea typeface="Times New Roman"/>
                <a:cs typeface="Times New Roman"/>
                <a:sym typeface="Times New Roman"/>
              </a:defRPr>
            </a:lvl3pPr>
            <a:lvl4pPr marL="0" lvl="3" indent="0" algn="r">
              <a:spcBef>
                <a:spcPts val="0"/>
              </a:spcBef>
              <a:buNone/>
              <a:defRPr sz="1200">
                <a:solidFill>
                  <a:schemeClr val="lt1"/>
                </a:solidFill>
                <a:latin typeface="Times New Roman"/>
                <a:ea typeface="Times New Roman"/>
                <a:cs typeface="Times New Roman"/>
                <a:sym typeface="Times New Roman"/>
              </a:defRPr>
            </a:lvl4pPr>
            <a:lvl5pPr marL="0" lvl="4" indent="0" algn="r">
              <a:spcBef>
                <a:spcPts val="0"/>
              </a:spcBef>
              <a:buNone/>
              <a:defRPr sz="1200">
                <a:solidFill>
                  <a:schemeClr val="lt1"/>
                </a:solidFill>
                <a:latin typeface="Times New Roman"/>
                <a:ea typeface="Times New Roman"/>
                <a:cs typeface="Times New Roman"/>
                <a:sym typeface="Times New Roman"/>
              </a:defRPr>
            </a:lvl5pPr>
            <a:lvl6pPr marL="0" lvl="5" indent="0" algn="r">
              <a:spcBef>
                <a:spcPts val="0"/>
              </a:spcBef>
              <a:buNone/>
              <a:defRPr sz="1200">
                <a:solidFill>
                  <a:schemeClr val="lt1"/>
                </a:solidFill>
                <a:latin typeface="Times New Roman"/>
                <a:ea typeface="Times New Roman"/>
                <a:cs typeface="Times New Roman"/>
                <a:sym typeface="Times New Roman"/>
              </a:defRPr>
            </a:lvl6pPr>
            <a:lvl7pPr marL="0" lvl="6" indent="0" algn="r">
              <a:spcBef>
                <a:spcPts val="0"/>
              </a:spcBef>
              <a:buNone/>
              <a:defRPr sz="1200">
                <a:solidFill>
                  <a:schemeClr val="lt1"/>
                </a:solidFill>
                <a:latin typeface="Times New Roman"/>
                <a:ea typeface="Times New Roman"/>
                <a:cs typeface="Times New Roman"/>
                <a:sym typeface="Times New Roman"/>
              </a:defRPr>
            </a:lvl7pPr>
            <a:lvl8pPr marL="0" lvl="7" indent="0" algn="r">
              <a:spcBef>
                <a:spcPts val="0"/>
              </a:spcBef>
              <a:buNone/>
              <a:defRPr sz="1200">
                <a:solidFill>
                  <a:schemeClr val="lt1"/>
                </a:solidFill>
                <a:latin typeface="Times New Roman"/>
                <a:ea typeface="Times New Roman"/>
                <a:cs typeface="Times New Roman"/>
                <a:sym typeface="Times New Roman"/>
              </a:defRPr>
            </a:lvl8pPr>
            <a:lvl9pPr marL="0" lvl="8" indent="0" algn="r">
              <a:spcBef>
                <a:spcPts val="0"/>
              </a:spcBef>
              <a:buNone/>
              <a:defRPr sz="1200">
                <a:solidFill>
                  <a:schemeClr val="lt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1"/>
        <p:cNvGrpSpPr/>
        <p:nvPr/>
      </p:nvGrpSpPr>
      <p:grpSpPr>
        <a:xfrm>
          <a:off x="0" y="0"/>
          <a:ext cx="0" cy="0"/>
          <a:chOff x="0" y="0"/>
          <a:chExt cx="0" cy="0"/>
        </a:xfrm>
      </p:grpSpPr>
      <p:sp>
        <p:nvSpPr>
          <p:cNvPr id="92" name="Google Shape;92;p22"/>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22"/>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94" name="Google Shape;94;p22"/>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95" name="Google Shape;95;p22"/>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2"/>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7"/>
        <p:cNvGrpSpPr/>
        <p:nvPr/>
      </p:nvGrpSpPr>
      <p:grpSpPr>
        <a:xfrm>
          <a:off x="0" y="0"/>
          <a:ext cx="0" cy="0"/>
          <a:chOff x="0" y="0"/>
          <a:chExt cx="0" cy="0"/>
        </a:xfrm>
      </p:grpSpPr>
      <p:sp>
        <p:nvSpPr>
          <p:cNvPr id="98" name="Google Shape;98;p23"/>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23"/>
          <p:cNvSpPr>
            <a:spLocks noGrp="1"/>
          </p:cNvSpPr>
          <p:nvPr>
            <p:ph type="pic" idx="2"/>
          </p:nvPr>
        </p:nvSpPr>
        <p:spPr>
          <a:xfrm>
            <a:off x="3887391" y="740569"/>
            <a:ext cx="4629150" cy="365521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100" name="Google Shape;100;p23"/>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101" name="Google Shape;101;p23"/>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23"/>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3"/>
        <p:cNvGrpSpPr/>
        <p:nvPr/>
      </p:nvGrpSpPr>
      <p:grpSpPr>
        <a:xfrm>
          <a:off x="0" y="0"/>
          <a:ext cx="0" cy="0"/>
          <a:chOff x="0" y="0"/>
          <a:chExt cx="0" cy="0"/>
        </a:xfrm>
      </p:grpSpPr>
      <p:sp>
        <p:nvSpPr>
          <p:cNvPr id="104" name="Google Shape;104;p24"/>
          <p:cNvSpPr txBox="1">
            <a:spLocks noGrp="1"/>
          </p:cNvSpPr>
          <p:nvPr>
            <p:ph type="title"/>
          </p:nvPr>
        </p:nvSpPr>
        <p:spPr>
          <a:xfrm>
            <a:off x="628650" y="273844"/>
            <a:ext cx="731139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24"/>
          <p:cNvSpPr txBox="1">
            <a:spLocks noGrp="1"/>
          </p:cNvSpPr>
          <p:nvPr>
            <p:ph type="body" idx="1"/>
          </p:nvPr>
        </p:nvSpPr>
        <p:spPr>
          <a:xfrm rot="5400000">
            <a:off x="2940248" y="-942379"/>
            <a:ext cx="3263504"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06" name="Google Shape;106;p24"/>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4"/>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8"/>
        <p:cNvGrpSpPr/>
        <p:nvPr/>
      </p:nvGrpSpPr>
      <p:grpSpPr>
        <a:xfrm>
          <a:off x="0" y="0"/>
          <a:ext cx="0" cy="0"/>
          <a:chOff x="0" y="0"/>
          <a:chExt cx="0" cy="0"/>
        </a:xfrm>
      </p:grpSpPr>
      <p:sp>
        <p:nvSpPr>
          <p:cNvPr id="109" name="Google Shape;109;p25"/>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25"/>
          <p:cNvSpPr txBox="1">
            <a:spLocks noGrp="1"/>
          </p:cNvSpPr>
          <p:nvPr>
            <p:ph type="body" idx="1"/>
          </p:nvPr>
        </p:nvSpPr>
        <p:spPr>
          <a:xfrm rot="5400000">
            <a:off x="1349573" y="-447079"/>
            <a:ext cx="4358879"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11" name="Google Shape;111;p25"/>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25"/>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31139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marR="0" lvl="0" algn="l" rtl="0">
              <a:spcBef>
                <a:spcPts val="0"/>
              </a:spcBef>
              <a:spcAft>
                <a:spcPts val="0"/>
              </a:spcAft>
              <a:buSzPts val="1400"/>
              <a:buNone/>
              <a:defRPr sz="1200" b="0" i="0" u="none" strike="noStrike" cap="none">
                <a:solidFill>
                  <a:schemeClr val="lt1"/>
                </a:solidFill>
                <a:latin typeface="Times New Roman"/>
                <a:ea typeface="Times New Roman"/>
                <a:cs typeface="Times New Roman"/>
                <a:sym typeface="Times New Roman"/>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marR="0" lvl="0" indent="0" algn="r" rtl="0">
              <a:spcBef>
                <a:spcPts val="0"/>
              </a:spcBef>
              <a:buNone/>
              <a:defRPr sz="1200" b="0" i="0" u="none" strike="noStrike" cap="none">
                <a:solidFill>
                  <a:schemeClr val="lt1"/>
                </a:solidFill>
                <a:latin typeface="Times New Roman"/>
                <a:ea typeface="Times New Roman"/>
                <a:cs typeface="Times New Roman"/>
                <a:sym typeface="Times New Roman"/>
              </a:defRPr>
            </a:lvl1pPr>
            <a:lvl2pPr marL="0" marR="0" lvl="1" indent="0" algn="r" rtl="0">
              <a:spcBef>
                <a:spcPts val="0"/>
              </a:spcBef>
              <a:buNone/>
              <a:defRPr sz="1200" b="0" i="0" u="none" strike="noStrike" cap="none">
                <a:solidFill>
                  <a:schemeClr val="lt1"/>
                </a:solidFill>
                <a:latin typeface="Times New Roman"/>
                <a:ea typeface="Times New Roman"/>
                <a:cs typeface="Times New Roman"/>
                <a:sym typeface="Times New Roman"/>
              </a:defRPr>
            </a:lvl2pPr>
            <a:lvl3pPr marL="0" marR="0" lvl="2" indent="0" algn="r" rtl="0">
              <a:spcBef>
                <a:spcPts val="0"/>
              </a:spcBef>
              <a:buNone/>
              <a:defRPr sz="1200" b="0" i="0" u="none" strike="noStrike" cap="none">
                <a:solidFill>
                  <a:schemeClr val="lt1"/>
                </a:solidFill>
                <a:latin typeface="Times New Roman"/>
                <a:ea typeface="Times New Roman"/>
                <a:cs typeface="Times New Roman"/>
                <a:sym typeface="Times New Roman"/>
              </a:defRPr>
            </a:lvl3pPr>
            <a:lvl4pPr marL="0" marR="0" lvl="3" indent="0" algn="r" rtl="0">
              <a:spcBef>
                <a:spcPts val="0"/>
              </a:spcBef>
              <a:buNone/>
              <a:defRPr sz="1200" b="0" i="0" u="none" strike="noStrike" cap="none">
                <a:solidFill>
                  <a:schemeClr val="lt1"/>
                </a:solidFill>
                <a:latin typeface="Times New Roman"/>
                <a:ea typeface="Times New Roman"/>
                <a:cs typeface="Times New Roman"/>
                <a:sym typeface="Times New Roman"/>
              </a:defRPr>
            </a:lvl4pPr>
            <a:lvl5pPr marL="0" marR="0" lvl="4" indent="0" algn="r" rtl="0">
              <a:spcBef>
                <a:spcPts val="0"/>
              </a:spcBef>
              <a:buNone/>
              <a:defRPr sz="1200" b="0" i="0" u="none" strike="noStrike" cap="none">
                <a:solidFill>
                  <a:schemeClr val="lt1"/>
                </a:solidFill>
                <a:latin typeface="Times New Roman"/>
                <a:ea typeface="Times New Roman"/>
                <a:cs typeface="Times New Roman"/>
                <a:sym typeface="Times New Roman"/>
              </a:defRPr>
            </a:lvl5pPr>
            <a:lvl6pPr marL="0" marR="0" lvl="5" indent="0" algn="r" rtl="0">
              <a:spcBef>
                <a:spcPts val="0"/>
              </a:spcBef>
              <a:buNone/>
              <a:defRPr sz="1200" b="0" i="0" u="none" strike="noStrike" cap="none">
                <a:solidFill>
                  <a:schemeClr val="lt1"/>
                </a:solidFill>
                <a:latin typeface="Times New Roman"/>
                <a:ea typeface="Times New Roman"/>
                <a:cs typeface="Times New Roman"/>
                <a:sym typeface="Times New Roman"/>
              </a:defRPr>
            </a:lvl6pPr>
            <a:lvl7pPr marL="0" marR="0" lvl="6" indent="0" algn="r" rtl="0">
              <a:spcBef>
                <a:spcPts val="0"/>
              </a:spcBef>
              <a:buNone/>
              <a:defRPr sz="1200" b="0" i="0" u="none" strike="noStrike" cap="none">
                <a:solidFill>
                  <a:schemeClr val="lt1"/>
                </a:solidFill>
                <a:latin typeface="Times New Roman"/>
                <a:ea typeface="Times New Roman"/>
                <a:cs typeface="Times New Roman"/>
                <a:sym typeface="Times New Roman"/>
              </a:defRPr>
            </a:lvl7pPr>
            <a:lvl8pPr marL="0" marR="0" lvl="7" indent="0" algn="r" rtl="0">
              <a:spcBef>
                <a:spcPts val="0"/>
              </a:spcBef>
              <a:buNone/>
              <a:defRPr sz="1200" b="0" i="0" u="none" strike="noStrike" cap="none">
                <a:solidFill>
                  <a:schemeClr val="lt1"/>
                </a:solidFill>
                <a:latin typeface="Times New Roman"/>
                <a:ea typeface="Times New Roman"/>
                <a:cs typeface="Times New Roman"/>
                <a:sym typeface="Times New Roman"/>
              </a:defRPr>
            </a:lvl8pPr>
            <a:lvl9pPr marL="0" marR="0" lvl="8" indent="0" algn="r" rtl="0">
              <a:spcBef>
                <a:spcPts val="0"/>
              </a:spcBef>
              <a:buNone/>
              <a:defRPr sz="1200" b="0" i="0" u="none" strike="noStrike" cap="none">
                <a:solidFill>
                  <a:schemeClr val="lt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
              <a:t>‹#›</a:t>
            </a:fld>
            <a:endParaRPr/>
          </a:p>
        </p:txBody>
      </p:sp>
      <p:pic>
        <p:nvPicPr>
          <p:cNvPr id="55" name="Google Shape;55;p13"/>
          <p:cNvPicPr preferRelativeResize="0"/>
          <p:nvPr/>
        </p:nvPicPr>
        <p:blipFill rotWithShape="1">
          <a:blip r:embed="rId14">
            <a:alphaModFix/>
          </a:blip>
          <a:srcRect/>
          <a:stretch/>
        </p:blipFill>
        <p:spPr>
          <a:xfrm>
            <a:off x="8042034" y="65483"/>
            <a:ext cx="1070877" cy="1077517"/>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ctrTitle"/>
          </p:nvPr>
        </p:nvSpPr>
        <p:spPr>
          <a:xfrm>
            <a:off x="3218116" y="1615756"/>
            <a:ext cx="4889205" cy="17907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lt1"/>
              </a:buClr>
              <a:buSzPct val="100000"/>
              <a:buFont typeface="Calibri"/>
              <a:buNone/>
            </a:pPr>
            <a:r>
              <a:rPr lang="en"/>
              <a:t>Movement and Control of Biomimetic Humanoid Robots</a:t>
            </a:r>
            <a:endParaRPr/>
          </a:p>
        </p:txBody>
      </p:sp>
      <p:pic>
        <p:nvPicPr>
          <p:cNvPr id="118" name="Google Shape;118;p26"/>
          <p:cNvPicPr preferRelativeResize="0"/>
          <p:nvPr/>
        </p:nvPicPr>
        <p:blipFill rotWithShape="1">
          <a:blip r:embed="rId3">
            <a:alphaModFix/>
          </a:blip>
          <a:srcRect/>
          <a:stretch/>
        </p:blipFill>
        <p:spPr>
          <a:xfrm>
            <a:off x="1891731" y="4021432"/>
            <a:ext cx="3681170" cy="1122068"/>
          </a:xfrm>
          <a:prstGeom prst="rect">
            <a:avLst/>
          </a:prstGeom>
          <a:noFill/>
          <a:ln>
            <a:noFill/>
          </a:ln>
        </p:spPr>
      </p:pic>
      <p:sp>
        <p:nvSpPr>
          <p:cNvPr id="2" name="TextBox 1">
            <a:extLst>
              <a:ext uri="{FF2B5EF4-FFF2-40B4-BE49-F238E27FC236}">
                <a16:creationId xmlns:a16="http://schemas.microsoft.com/office/drawing/2014/main" id="{7737592A-DBDC-BECA-7615-00465568E531}"/>
              </a:ext>
            </a:extLst>
          </p:cNvPr>
          <p:cNvSpPr txBox="1"/>
          <p:nvPr/>
        </p:nvSpPr>
        <p:spPr>
          <a:xfrm>
            <a:off x="3937000" y="3454400"/>
            <a:ext cx="4572000" cy="523220"/>
          </a:xfrm>
          <a:prstGeom prst="rect">
            <a:avLst/>
          </a:prstGeom>
          <a:noFill/>
        </p:spPr>
        <p:txBody>
          <a:bodyPr vert="horz" rtlCol="0">
            <a:spAutoFit/>
          </a:bodyPr>
          <a:lstStyle/>
          <a:p>
            <a:r>
              <a:rPr lang="en-US">
                <a:solidFill>
                  <a:srgbClr val="FFFFFF"/>
                </a:solidFill>
              </a:rPr>
              <a:t>Ben P. Bolen · PhD Defense</a:t>
            </a:r>
          </a:p>
          <a:p>
            <a:r>
              <a:rPr lang="en-US">
                <a:solidFill>
                  <a:srgbClr val="FFFFFF"/>
                </a:solidFill>
              </a:rPr>
              <a:t>November 6, 2026</a:t>
            </a:r>
          </a:p>
        </p:txBody>
      </p:sp>
    </p:spTree>
    <p:extLst>
      <p:ext uri="{BB962C8B-B14F-4D97-AF65-F5344CB8AC3E}">
        <p14:creationId xmlns:p14="http://schemas.microsoft.com/office/powerpoint/2010/main" val="3729167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97032979-A08B-A4DA-6FF4-845E586FAE9D}"/>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Biology offers design principles for unstructured environments</a:t>
            </a:r>
          </a:p>
        </p:txBody>
      </p:sp>
      <p:sp>
        <p:nvSpPr>
          <p:cNvPr id="3" name="Rectangle 2">
            <a:extLst>
              <a:ext uri="{FF2B5EF4-FFF2-40B4-BE49-F238E27FC236}">
                <a16:creationId xmlns:a16="http://schemas.microsoft.com/office/drawing/2014/main" id="{CACA9AE6-62D7-6A99-4783-C65A1F01C2FE}"/>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lang="en-US" sz="788" b="0">
                <a:solidFill>
                  <a:srgbClr val="53616A"/>
                </a:solidFill>
                <a:latin typeface="Calibri"/>
                <a:ea typeface="Calibri"/>
                <a:cs typeface="Calibri"/>
              </a:rPr>
              <a:t>Research objectives · Dissertation Ch. 1</a:t>
            </a:r>
            <a:endParaRPr sz="788" b="0">
              <a:solidFill>
                <a:srgbClr val="53616A"/>
              </a:solidFill>
              <a:latin typeface="Calibri"/>
              <a:ea typeface="Calibri"/>
              <a:cs typeface="Calibri"/>
            </a:endParaRPr>
          </a:p>
        </p:txBody>
      </p:sp>
      <p:graphicFrame>
        <p:nvGraphicFramePr>
          <p:cNvPr id="4" name="Table 3">
            <a:extLst>
              <a:ext uri="{FF2B5EF4-FFF2-40B4-BE49-F238E27FC236}">
                <a16:creationId xmlns:a16="http://schemas.microsoft.com/office/drawing/2014/main" id="{4AAEDFB0-791F-6D43-79C6-F5AF93F54DDD}"/>
              </a:ext>
            </a:extLst>
          </p:cNvPr>
          <p:cNvGraphicFramePr>
            <a:graphicFrameLocks/>
          </p:cNvGraphicFramePr>
          <p:nvPr>
            <p:extLst>
              <p:ext uri="{D42A27DB-BD31-4B8C-83A1-F6EECF244321}">
                <p14:modId xmlns:p14="http://schemas.microsoft.com/office/powerpoint/2010/main" val="3207297963"/>
              </p:ext>
            </p:extLst>
          </p:nvPr>
        </p:nvGraphicFramePr>
        <p:xfrm>
          <a:off x="428625" y="1357313"/>
          <a:ext cx="8286750" cy="2206347"/>
        </p:xfrm>
        <a:graphic>
          <a:graphicData uri="http://schemas.openxmlformats.org/drawingml/2006/table">
            <a:tbl>
              <a:tblPr/>
              <a:tblGrid>
                <a:gridCol w="4143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tblGrid>
              <a:tr h="508992">
                <a:tc>
                  <a:txBody>
                    <a:bodyPr/>
                    <a:lstStyle/>
                    <a:p>
                      <a:r>
                        <a:rPr sz="1631" b="1">
                          <a:solidFill>
                            <a:srgbClr val="006D77"/>
                          </a:solidFill>
                          <a:latin typeface="Calibri"/>
                          <a:ea typeface="Calibri"/>
                          <a:cs typeface="Calibri"/>
                        </a:rPr>
                        <a:t>Prepared ground</a:t>
                      </a:r>
                    </a:p>
                  </a:txBody>
                  <a:tcPr>
                    <a:solidFill>
                      <a:srgbClr val="FFFFFF"/>
                    </a:solidFill>
                  </a:tcPr>
                </a:tc>
                <a:tc>
                  <a:txBody>
                    <a:bodyPr/>
                    <a:lstStyle/>
                    <a:p>
                      <a:r>
                        <a:rPr sz="1631" b="1">
                          <a:solidFill>
                            <a:srgbClr val="006D77"/>
                          </a:solidFill>
                          <a:latin typeface="Calibri"/>
                          <a:ea typeface="Calibri"/>
                          <a:cs typeface="Calibri"/>
                        </a:rPr>
                        <a:t>Unstructured terrain</a:t>
                      </a:r>
                    </a:p>
                  </a:txBody>
                  <a:tcPr>
                    <a:solidFill>
                      <a:srgbClr val="FFFFFF"/>
                    </a:solidFill>
                  </a:tcPr>
                </a:tc>
                <a:extLst>
                  <a:ext uri="{0D108BD9-81ED-4DB2-BD59-A6C34878D82A}">
                    <a16:rowId xmlns:a16="http://schemas.microsoft.com/office/drawing/2014/main" val="10000"/>
                  </a:ext>
                </a:extLst>
              </a:tr>
              <a:tr h="565785">
                <a:tc>
                  <a:txBody>
                    <a:bodyPr/>
                    <a:lstStyle/>
                    <a:p>
                      <a:r>
                        <a:rPr sz="1631" b="0">
                          <a:solidFill>
                            <a:srgbClr val="202C33"/>
                          </a:solidFill>
                          <a:latin typeface="Calibri"/>
                          <a:ea typeface="Calibri"/>
                          <a:cs typeface="Calibri"/>
                        </a:rPr>
                        <a:t>Wheels exploit a predictable surface</a:t>
                      </a:r>
                    </a:p>
                  </a:txBody>
                  <a:tcPr>
                    <a:solidFill>
                      <a:srgbClr val="FFFFFF"/>
                    </a:solidFill>
                  </a:tcPr>
                </a:tc>
                <a:tc>
                  <a:txBody>
                    <a:bodyPr/>
                    <a:lstStyle/>
                    <a:p>
                      <a:r>
                        <a:rPr sz="1631" b="0">
                          <a:solidFill>
                            <a:srgbClr val="202C33"/>
                          </a:solidFill>
                          <a:latin typeface="Calibri"/>
                          <a:ea typeface="Calibri"/>
                          <a:cs typeface="Calibri"/>
                        </a:rPr>
                        <a:t>Legs negotiate changing footholds</a:t>
                      </a:r>
                    </a:p>
                  </a:txBody>
                  <a:tcPr>
                    <a:solidFill>
                      <a:srgbClr val="FFFFFF"/>
                    </a:solidFill>
                  </a:tcPr>
                </a:tc>
                <a:extLst>
                  <a:ext uri="{0D108BD9-81ED-4DB2-BD59-A6C34878D82A}">
                    <a16:rowId xmlns:a16="http://schemas.microsoft.com/office/drawing/2014/main" val="10001"/>
                  </a:ext>
                </a:extLst>
              </a:tr>
              <a:tr h="565785">
                <a:tc>
                  <a:txBody>
                    <a:bodyPr/>
                    <a:lstStyle/>
                    <a:p>
                      <a:r>
                        <a:rPr sz="1631" b="0">
                          <a:solidFill>
                            <a:srgbClr val="202C33"/>
                          </a:solidFill>
                          <a:latin typeface="Calibri"/>
                          <a:ea typeface="Calibri"/>
                          <a:cs typeface="Calibri"/>
                        </a:rPr>
                        <a:t>Efficiency through simple contact</a:t>
                      </a:r>
                    </a:p>
                  </a:txBody>
                  <a:tcPr>
                    <a:solidFill>
                      <a:srgbClr val="FFFFFF"/>
                    </a:solidFill>
                  </a:tcPr>
                </a:tc>
                <a:tc>
                  <a:txBody>
                    <a:bodyPr/>
                    <a:lstStyle/>
                    <a:p>
                      <a:r>
                        <a:rPr sz="1631" b="0">
                          <a:solidFill>
                            <a:srgbClr val="202C33"/>
                          </a:solidFill>
                          <a:latin typeface="Calibri"/>
                          <a:ea typeface="Calibri"/>
                          <a:cs typeface="Calibri"/>
                        </a:rPr>
                        <a:t>Compliance can store and return energy</a:t>
                      </a:r>
                    </a:p>
                  </a:txBody>
                  <a:tcPr>
                    <a:solidFill>
                      <a:srgbClr val="FFFFFF"/>
                    </a:solidFill>
                  </a:tcPr>
                </a:tc>
                <a:extLst>
                  <a:ext uri="{0D108BD9-81ED-4DB2-BD59-A6C34878D82A}">
                    <a16:rowId xmlns:a16="http://schemas.microsoft.com/office/drawing/2014/main" val="10002"/>
                  </a:ext>
                </a:extLst>
              </a:tr>
              <a:tr h="565785">
                <a:tc>
                  <a:txBody>
                    <a:bodyPr/>
                    <a:lstStyle/>
                    <a:p>
                      <a:r>
                        <a:rPr sz="1631" b="0">
                          <a:solidFill>
                            <a:srgbClr val="202C33"/>
                          </a:solidFill>
                          <a:latin typeface="Calibri"/>
                          <a:ea typeface="Calibri"/>
                          <a:cs typeface="Calibri"/>
                        </a:rPr>
                        <a:t>Known operating conditions</a:t>
                      </a:r>
                    </a:p>
                  </a:txBody>
                  <a:tcPr>
                    <a:solidFill>
                      <a:srgbClr val="FFFFFF"/>
                    </a:solidFill>
                  </a:tcPr>
                </a:tc>
                <a:tc>
                  <a:txBody>
                    <a:bodyPr/>
                    <a:lstStyle/>
                    <a:p>
                      <a:r>
                        <a:rPr sz="1631" b="0">
                          <a:solidFill>
                            <a:srgbClr val="202C33"/>
                          </a:solidFill>
                          <a:latin typeface="Calibri"/>
                          <a:ea typeface="Calibri"/>
                          <a:cs typeface="Calibri"/>
                        </a:rPr>
                        <a:t>Feedback must adapt to disturbances</a:t>
                      </a:r>
                    </a:p>
                  </a:txBody>
                  <a:tcPr>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BA54214E-3F85-89BD-3B2D-7EA1DB375DA3}"/>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Research goal: useful autonomy beyond prepared surfaces</a:t>
            </a:r>
          </a:p>
        </p:txBody>
      </p:sp>
      <p:sp>
        <p:nvSpPr>
          <p:cNvPr id="6" name="TextBox 5">
            <a:extLst>
              <a:ext uri="{FF2B5EF4-FFF2-40B4-BE49-F238E27FC236}">
                <a16:creationId xmlns:a16="http://schemas.microsoft.com/office/drawing/2014/main" id="{B65659B3-96FD-3705-0529-37E4CFE69E18}"/>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a:t>
            </a:r>
          </a:p>
        </p:txBody>
      </p:sp>
    </p:spTree>
    <p:extLst>
      <p:ext uri="{BB962C8B-B14F-4D97-AF65-F5344CB8AC3E}">
        <p14:creationId xmlns:p14="http://schemas.microsoft.com/office/powerpoint/2010/main" val="2231748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cxnSp>
        <p:nvCxnSpPr>
          <p:cNvPr id="2" name="Straight Arrow Connector 1">
            <a:extLst>
              <a:ext uri="{FF2B5EF4-FFF2-40B4-BE49-F238E27FC236}">
                <a16:creationId xmlns:a16="http://schemas.microsoft.com/office/drawing/2014/main" id="{8530E4E3-9C52-8038-A0DF-F3E3149C0531}"/>
              </a:ext>
            </a:extLst>
          </p:cNvPr>
          <p:cNvCxnSpPr>
            <a:cxnSpLocks/>
          </p:cNvCxnSpPr>
          <p:nvPr/>
        </p:nvCxnSpPr>
        <p:spPr>
          <a:xfrm flipH="1">
            <a:off x="3750469" y="1778794"/>
            <a:ext cx="1678781" cy="0"/>
          </a:xfrm>
          <a:prstGeom prst="straightConnector1">
            <a:avLst/>
          </a:prstGeom>
          <a:ln w="28575">
            <a:solidFill>
              <a:srgbClr val="006D77"/>
            </a:solidFill>
            <a:tailEnd type="arrow" w="med" len="med"/>
          </a:ln>
        </p:spPr>
      </p:cxnSp>
      <p:cxnSp>
        <p:nvCxnSpPr>
          <p:cNvPr id="3" name="Straight Arrow Connector 2">
            <a:extLst>
              <a:ext uri="{FF2B5EF4-FFF2-40B4-BE49-F238E27FC236}">
                <a16:creationId xmlns:a16="http://schemas.microsoft.com/office/drawing/2014/main" id="{4D169CA9-5B61-EFBE-BF81-CB84F1735942}"/>
              </a:ext>
            </a:extLst>
          </p:cNvPr>
          <p:cNvCxnSpPr>
            <a:cxnSpLocks/>
          </p:cNvCxnSpPr>
          <p:nvPr/>
        </p:nvCxnSpPr>
        <p:spPr>
          <a:xfrm>
            <a:off x="3750469" y="1778794"/>
            <a:ext cx="1678781" cy="0"/>
          </a:xfrm>
          <a:prstGeom prst="straightConnector1">
            <a:avLst/>
          </a:prstGeom>
          <a:ln w="28575">
            <a:solidFill>
              <a:srgbClr val="006D77"/>
            </a:solidFill>
            <a:tailEnd type="arrow" w="med" len="med"/>
          </a:ln>
        </p:spPr>
      </p:cxnSp>
      <p:sp>
        <p:nvSpPr>
          <p:cNvPr id="4" name="Rectangle 3">
            <a:extLst>
              <a:ext uri="{FF2B5EF4-FFF2-40B4-BE49-F238E27FC236}">
                <a16:creationId xmlns:a16="http://schemas.microsoft.com/office/drawing/2014/main" id="{BBC1C471-92F5-B4F7-C432-D76FDE816800}"/>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Biomimetic robots can also test biological hypotheses</a:t>
            </a:r>
          </a:p>
        </p:txBody>
      </p:sp>
      <p:sp>
        <p:nvSpPr>
          <p:cNvPr id="5" name="Rectangle 4">
            <a:extLst>
              <a:ext uri="{FF2B5EF4-FFF2-40B4-BE49-F238E27FC236}">
                <a16:creationId xmlns:a16="http://schemas.microsoft.com/office/drawing/2014/main" id="{B36C7847-678D-5C8B-4481-84BCED0E8627}"/>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lang="en-US" sz="788" b="0">
                <a:solidFill>
                  <a:srgbClr val="53616A"/>
                </a:solidFill>
                <a:latin typeface="Calibri"/>
                <a:ea typeface="Calibri"/>
                <a:cs typeface="Calibri"/>
              </a:rPr>
              <a:t>Research objectives · Dissertation Ch. 1</a:t>
            </a:r>
            <a:endParaRPr sz="788" b="0">
              <a:solidFill>
                <a:srgbClr val="53616A"/>
              </a:solidFill>
              <a:latin typeface="Calibri"/>
              <a:ea typeface="Calibri"/>
              <a:cs typeface="Calibri"/>
            </a:endParaRPr>
          </a:p>
        </p:txBody>
      </p:sp>
      <p:sp>
        <p:nvSpPr>
          <p:cNvPr id="6" name="Rectangle 5">
            <a:extLst>
              <a:ext uri="{FF2B5EF4-FFF2-40B4-BE49-F238E27FC236}">
                <a16:creationId xmlns:a16="http://schemas.microsoft.com/office/drawing/2014/main" id="{333BD4BF-CA3C-F6C6-AFF0-3E3FEDB6C940}"/>
              </a:ext>
            </a:extLst>
          </p:cNvPr>
          <p:cNvSpPr>
            <a:spLocks noGrp="1"/>
          </p:cNvSpPr>
          <p:nvPr/>
        </p:nvSpPr>
        <p:spPr>
          <a:xfrm>
            <a:off x="678657" y="1500189"/>
            <a:ext cx="3071813" cy="557213"/>
          </a:xfrm>
          <a:prstGeom prst="rect">
            <a:avLst/>
          </a:prstGeom>
          <a:solidFill>
            <a:srgbClr val="FFFFFF"/>
          </a:solidFill>
          <a:ln w="19050">
            <a:solidFill>
              <a:srgbClr val="006D77"/>
            </a:solidFill>
          </a:ln>
        </p:spPr>
        <p:txBody>
          <a:bodyPr/>
          <a:lstStyle>
            <a:defPPr algn="ctr">
              <a:defRPr sz="2175" b="1">
                <a:solidFill>
                  <a:srgbClr val="B57C50"/>
                </a:solidFill>
                <a:latin typeface="Calibri"/>
                <a:ea typeface="Calibri"/>
                <a:cs typeface="Calibri"/>
              </a:defRPr>
            </a:defPPr>
            <a:lvl1pPr algn="ctr">
              <a:defRPr sz="2175" b="1">
                <a:solidFill>
                  <a:srgbClr val="B57C50"/>
                </a:solidFill>
                <a:latin typeface="Calibri"/>
                <a:ea typeface="Calibri"/>
                <a:cs typeface="Calibri"/>
              </a:defRPr>
            </a:lvl1pPr>
            <a:lvl2pPr algn="ctr">
              <a:defRPr sz="2175" b="1">
                <a:solidFill>
                  <a:srgbClr val="B57C50"/>
                </a:solidFill>
                <a:latin typeface="Calibri"/>
                <a:ea typeface="Calibri"/>
                <a:cs typeface="Calibri"/>
              </a:defRPr>
            </a:lvl2pPr>
            <a:lvl3pPr algn="ctr">
              <a:defRPr sz="2175" b="1">
                <a:solidFill>
                  <a:srgbClr val="B57C50"/>
                </a:solidFill>
                <a:latin typeface="Calibri"/>
                <a:ea typeface="Calibri"/>
                <a:cs typeface="Calibri"/>
              </a:defRPr>
            </a:lvl3pPr>
            <a:lvl4pPr algn="ctr">
              <a:defRPr sz="2175" b="1">
                <a:solidFill>
                  <a:srgbClr val="B57C50"/>
                </a:solidFill>
                <a:latin typeface="Calibri"/>
                <a:ea typeface="Calibri"/>
                <a:cs typeface="Calibri"/>
              </a:defRPr>
            </a:lvl4pPr>
            <a:lvl5pPr algn="ctr">
              <a:defRPr sz="2175" b="1">
                <a:solidFill>
                  <a:srgbClr val="B57C50"/>
                </a:solidFill>
                <a:latin typeface="Calibri"/>
                <a:ea typeface="Calibri"/>
                <a:cs typeface="Calibri"/>
              </a:defRPr>
            </a:lvl5pPr>
            <a:lvl6pPr algn="ctr">
              <a:defRPr sz="2175" b="1">
                <a:solidFill>
                  <a:srgbClr val="B57C50"/>
                </a:solidFill>
                <a:latin typeface="Calibri"/>
                <a:ea typeface="Calibri"/>
                <a:cs typeface="Calibri"/>
              </a:defRPr>
            </a:lvl6pPr>
            <a:lvl7pPr algn="ctr">
              <a:defRPr sz="2175" b="1">
                <a:solidFill>
                  <a:srgbClr val="B57C50"/>
                </a:solidFill>
                <a:latin typeface="Calibri"/>
                <a:ea typeface="Calibri"/>
                <a:cs typeface="Calibri"/>
              </a:defRPr>
            </a:lvl7pPr>
            <a:lvl8pPr algn="ctr">
              <a:defRPr sz="2175" b="1">
                <a:solidFill>
                  <a:srgbClr val="B57C50"/>
                </a:solidFill>
                <a:latin typeface="Calibri"/>
                <a:ea typeface="Calibri"/>
                <a:cs typeface="Calibri"/>
              </a:defRPr>
            </a:lvl8pPr>
            <a:lvl9pPr algn="ctr">
              <a:defRPr sz="2175" b="1">
                <a:solidFill>
                  <a:srgbClr val="B57C50"/>
                </a:solidFill>
                <a:latin typeface="Calibri"/>
                <a:ea typeface="Calibri"/>
                <a:cs typeface="Calibri"/>
              </a:defRPr>
            </a:lvl9pPr>
          </a:lstStyle>
          <a:p>
            <a:pPr algn="ctr">
              <a:defRPr sz="2175" b="1">
                <a:solidFill>
                  <a:srgbClr val="B57C50"/>
                </a:solidFill>
                <a:latin typeface="Calibri"/>
                <a:ea typeface="Calibri"/>
                <a:cs typeface="Calibri"/>
              </a:defRPr>
            </a:pPr>
            <a:r>
              <a:rPr sz="1631" b="1">
                <a:solidFill>
                  <a:srgbClr val="B57C50"/>
                </a:solidFill>
                <a:latin typeface="Calibri"/>
                <a:ea typeface="Calibri"/>
                <a:cs typeface="Calibri"/>
              </a:rPr>
              <a:t>Biological mechanisms</a:t>
            </a:r>
          </a:p>
        </p:txBody>
      </p:sp>
      <p:sp>
        <p:nvSpPr>
          <p:cNvPr id="7" name="Rectangle 6">
            <a:extLst>
              <a:ext uri="{FF2B5EF4-FFF2-40B4-BE49-F238E27FC236}">
                <a16:creationId xmlns:a16="http://schemas.microsoft.com/office/drawing/2014/main" id="{970F947A-456B-1007-7789-528C897D134F}"/>
              </a:ext>
            </a:extLst>
          </p:cNvPr>
          <p:cNvSpPr>
            <a:spLocks noGrp="1"/>
          </p:cNvSpPr>
          <p:nvPr/>
        </p:nvSpPr>
        <p:spPr>
          <a:xfrm>
            <a:off x="5429251" y="1500189"/>
            <a:ext cx="3071813" cy="557213"/>
          </a:xfrm>
          <a:prstGeom prst="rect">
            <a:avLst/>
          </a:prstGeom>
          <a:solidFill>
            <a:srgbClr val="FFFFFF"/>
          </a:solidFill>
          <a:ln w="19050">
            <a:solidFill>
              <a:srgbClr val="006D77"/>
            </a:solidFill>
          </a:ln>
        </p:spPr>
        <p:txBody>
          <a:bodyPr/>
          <a:lstStyle>
            <a:defPPr algn="ctr">
              <a:defRPr sz="2175" b="1">
                <a:solidFill>
                  <a:srgbClr val="B57C50"/>
                </a:solidFill>
                <a:latin typeface="Calibri"/>
                <a:ea typeface="Calibri"/>
                <a:cs typeface="Calibri"/>
              </a:defRPr>
            </a:defPPr>
            <a:lvl1pPr algn="ctr">
              <a:defRPr sz="2175" b="1">
                <a:solidFill>
                  <a:srgbClr val="B57C50"/>
                </a:solidFill>
                <a:latin typeface="Calibri"/>
                <a:ea typeface="Calibri"/>
                <a:cs typeface="Calibri"/>
              </a:defRPr>
            </a:lvl1pPr>
            <a:lvl2pPr algn="ctr">
              <a:defRPr sz="2175" b="1">
                <a:solidFill>
                  <a:srgbClr val="B57C50"/>
                </a:solidFill>
                <a:latin typeface="Calibri"/>
                <a:ea typeface="Calibri"/>
                <a:cs typeface="Calibri"/>
              </a:defRPr>
            </a:lvl2pPr>
            <a:lvl3pPr algn="ctr">
              <a:defRPr sz="2175" b="1">
                <a:solidFill>
                  <a:srgbClr val="B57C50"/>
                </a:solidFill>
                <a:latin typeface="Calibri"/>
                <a:ea typeface="Calibri"/>
                <a:cs typeface="Calibri"/>
              </a:defRPr>
            </a:lvl3pPr>
            <a:lvl4pPr algn="ctr">
              <a:defRPr sz="2175" b="1">
                <a:solidFill>
                  <a:srgbClr val="B57C50"/>
                </a:solidFill>
                <a:latin typeface="Calibri"/>
                <a:ea typeface="Calibri"/>
                <a:cs typeface="Calibri"/>
              </a:defRPr>
            </a:lvl4pPr>
            <a:lvl5pPr algn="ctr">
              <a:defRPr sz="2175" b="1">
                <a:solidFill>
                  <a:srgbClr val="B57C50"/>
                </a:solidFill>
                <a:latin typeface="Calibri"/>
                <a:ea typeface="Calibri"/>
                <a:cs typeface="Calibri"/>
              </a:defRPr>
            </a:lvl5pPr>
            <a:lvl6pPr algn="ctr">
              <a:defRPr sz="2175" b="1">
                <a:solidFill>
                  <a:srgbClr val="B57C50"/>
                </a:solidFill>
                <a:latin typeface="Calibri"/>
                <a:ea typeface="Calibri"/>
                <a:cs typeface="Calibri"/>
              </a:defRPr>
            </a:lvl6pPr>
            <a:lvl7pPr algn="ctr">
              <a:defRPr sz="2175" b="1">
                <a:solidFill>
                  <a:srgbClr val="B57C50"/>
                </a:solidFill>
                <a:latin typeface="Calibri"/>
                <a:ea typeface="Calibri"/>
                <a:cs typeface="Calibri"/>
              </a:defRPr>
            </a:lvl7pPr>
            <a:lvl8pPr algn="ctr">
              <a:defRPr sz="2175" b="1">
                <a:solidFill>
                  <a:srgbClr val="B57C50"/>
                </a:solidFill>
                <a:latin typeface="Calibri"/>
                <a:ea typeface="Calibri"/>
                <a:cs typeface="Calibri"/>
              </a:defRPr>
            </a:lvl8pPr>
            <a:lvl9pPr algn="ctr">
              <a:defRPr sz="2175" b="1">
                <a:solidFill>
                  <a:srgbClr val="B57C50"/>
                </a:solidFill>
                <a:latin typeface="Calibri"/>
                <a:ea typeface="Calibri"/>
                <a:cs typeface="Calibri"/>
              </a:defRPr>
            </a:lvl9pPr>
          </a:lstStyle>
          <a:p>
            <a:pPr algn="ctr">
              <a:defRPr sz="2175" b="1">
                <a:solidFill>
                  <a:srgbClr val="B57C50"/>
                </a:solidFill>
                <a:latin typeface="Calibri"/>
                <a:ea typeface="Calibri"/>
                <a:cs typeface="Calibri"/>
              </a:defRPr>
            </a:pPr>
            <a:r>
              <a:rPr sz="1631" b="1">
                <a:solidFill>
                  <a:srgbClr val="B57C50"/>
                </a:solidFill>
                <a:latin typeface="Calibri"/>
                <a:ea typeface="Calibri"/>
                <a:cs typeface="Calibri"/>
              </a:rPr>
              <a:t>Robot experiments</a:t>
            </a:r>
          </a:p>
        </p:txBody>
      </p:sp>
      <p:sp>
        <p:nvSpPr>
          <p:cNvPr id="8" name="Rectangle 7">
            <a:extLst>
              <a:ext uri="{FF2B5EF4-FFF2-40B4-BE49-F238E27FC236}">
                <a16:creationId xmlns:a16="http://schemas.microsoft.com/office/drawing/2014/main" id="{E22AF076-548A-21A2-DA3D-D926E543C479}"/>
              </a:ext>
            </a:extLst>
          </p:cNvPr>
          <p:cNvSpPr>
            <a:spLocks noGrp="1"/>
          </p:cNvSpPr>
          <p:nvPr/>
        </p:nvSpPr>
        <p:spPr>
          <a:xfrm>
            <a:off x="678656" y="2357439"/>
            <a:ext cx="3214688" cy="500063"/>
          </a:xfrm>
          <a:prstGeom prst="rect">
            <a:avLst/>
          </a:prstGeom>
          <a:noFill/>
          <a:ln w="0">
            <a:noFill/>
          </a:ln>
        </p:spPr>
        <p:txBody>
          <a:bodyPr lIns="0" tIns="0" rIns="0" bIns="0" anchor="t"/>
          <a:lstStyle>
            <a:defPPr>
              <a:defRPr sz="2250" b="0">
                <a:solidFill>
                  <a:srgbClr val="202C33"/>
                </a:solidFill>
                <a:latin typeface="Calibri"/>
                <a:ea typeface="Calibri"/>
                <a:cs typeface="Calibri"/>
              </a:defRPr>
            </a:defPPr>
            <a:lvl1pPr>
              <a:defRPr sz="2250" b="0">
                <a:solidFill>
                  <a:srgbClr val="202C33"/>
                </a:solidFill>
                <a:latin typeface="Calibri"/>
                <a:ea typeface="Calibri"/>
                <a:cs typeface="Calibri"/>
              </a:defRPr>
            </a:lvl1pPr>
            <a:lvl2pPr>
              <a:defRPr sz="2250" b="0">
                <a:solidFill>
                  <a:srgbClr val="202C33"/>
                </a:solidFill>
                <a:latin typeface="Calibri"/>
                <a:ea typeface="Calibri"/>
                <a:cs typeface="Calibri"/>
              </a:defRPr>
            </a:lvl2pPr>
            <a:lvl3pPr>
              <a:defRPr sz="2250" b="0">
                <a:solidFill>
                  <a:srgbClr val="202C33"/>
                </a:solidFill>
                <a:latin typeface="Calibri"/>
                <a:ea typeface="Calibri"/>
                <a:cs typeface="Calibri"/>
              </a:defRPr>
            </a:lvl3pPr>
            <a:lvl4pPr>
              <a:defRPr sz="2250" b="0">
                <a:solidFill>
                  <a:srgbClr val="202C33"/>
                </a:solidFill>
                <a:latin typeface="Calibri"/>
                <a:ea typeface="Calibri"/>
                <a:cs typeface="Calibri"/>
              </a:defRPr>
            </a:lvl4pPr>
            <a:lvl5pPr>
              <a:defRPr sz="2250" b="0">
                <a:solidFill>
                  <a:srgbClr val="202C33"/>
                </a:solidFill>
                <a:latin typeface="Calibri"/>
                <a:ea typeface="Calibri"/>
                <a:cs typeface="Calibri"/>
              </a:defRPr>
            </a:lvl5pPr>
            <a:lvl6pPr>
              <a:defRPr sz="2250" b="0">
                <a:solidFill>
                  <a:srgbClr val="202C33"/>
                </a:solidFill>
                <a:latin typeface="Calibri"/>
                <a:ea typeface="Calibri"/>
                <a:cs typeface="Calibri"/>
              </a:defRPr>
            </a:lvl6pPr>
            <a:lvl7pPr>
              <a:defRPr sz="2250" b="0">
                <a:solidFill>
                  <a:srgbClr val="202C33"/>
                </a:solidFill>
                <a:latin typeface="Calibri"/>
                <a:ea typeface="Calibri"/>
                <a:cs typeface="Calibri"/>
              </a:defRPr>
            </a:lvl7pPr>
            <a:lvl8pPr>
              <a:defRPr sz="2250" b="0">
                <a:solidFill>
                  <a:srgbClr val="202C33"/>
                </a:solidFill>
                <a:latin typeface="Calibri"/>
                <a:ea typeface="Calibri"/>
                <a:cs typeface="Calibri"/>
              </a:defRPr>
            </a:lvl8pPr>
            <a:lvl9pPr>
              <a:defRPr sz="2250" b="0">
                <a:solidFill>
                  <a:srgbClr val="202C33"/>
                </a:solidFill>
                <a:latin typeface="Calibri"/>
                <a:ea typeface="Calibri"/>
                <a:cs typeface="Calibri"/>
              </a:defRPr>
            </a:lvl9pPr>
          </a:lstStyle>
          <a:p>
            <a:pPr>
              <a:defRPr sz="2250" b="0">
                <a:solidFill>
                  <a:srgbClr val="202C33"/>
                </a:solidFill>
                <a:latin typeface="Calibri"/>
                <a:ea typeface="Calibri"/>
                <a:cs typeface="Calibri"/>
              </a:defRPr>
            </a:pPr>
            <a:r>
              <a:rPr sz="1688" b="0">
                <a:solidFill>
                  <a:srgbClr val="202C33"/>
                </a:solidFill>
                <a:latin typeface="Calibri"/>
                <a:ea typeface="Calibri"/>
                <a:cs typeface="Calibri"/>
              </a:rPr>
              <a:t>Biomechanics and neuroscience</a:t>
            </a:r>
          </a:p>
        </p:txBody>
      </p:sp>
      <p:sp>
        <p:nvSpPr>
          <p:cNvPr id="9" name="Rectangle 8">
            <a:extLst>
              <a:ext uri="{FF2B5EF4-FFF2-40B4-BE49-F238E27FC236}">
                <a16:creationId xmlns:a16="http://schemas.microsoft.com/office/drawing/2014/main" id="{8F113657-A332-EE40-E49F-66FAD7BCC0E1}"/>
              </a:ext>
            </a:extLst>
          </p:cNvPr>
          <p:cNvSpPr>
            <a:spLocks noGrp="1"/>
          </p:cNvSpPr>
          <p:nvPr/>
        </p:nvSpPr>
        <p:spPr>
          <a:xfrm>
            <a:off x="5393531" y="2357439"/>
            <a:ext cx="3214688" cy="714375"/>
          </a:xfrm>
          <a:prstGeom prst="rect">
            <a:avLst/>
          </a:prstGeom>
          <a:noFill/>
          <a:ln w="0">
            <a:noFill/>
          </a:ln>
        </p:spPr>
        <p:txBody>
          <a:bodyPr lIns="0" tIns="0" rIns="0" bIns="0" anchor="t"/>
          <a:lstStyle>
            <a:defPPr>
              <a:defRPr sz="2250" b="0">
                <a:solidFill>
                  <a:srgbClr val="202C33"/>
                </a:solidFill>
                <a:latin typeface="Calibri"/>
                <a:ea typeface="Calibri"/>
                <a:cs typeface="Calibri"/>
              </a:defRPr>
            </a:defPPr>
            <a:lvl1pPr>
              <a:defRPr sz="2250" b="0">
                <a:solidFill>
                  <a:srgbClr val="202C33"/>
                </a:solidFill>
                <a:latin typeface="Calibri"/>
                <a:ea typeface="Calibri"/>
                <a:cs typeface="Calibri"/>
              </a:defRPr>
            </a:lvl1pPr>
            <a:lvl2pPr>
              <a:defRPr sz="2250" b="0">
                <a:solidFill>
                  <a:srgbClr val="202C33"/>
                </a:solidFill>
                <a:latin typeface="Calibri"/>
                <a:ea typeface="Calibri"/>
                <a:cs typeface="Calibri"/>
              </a:defRPr>
            </a:lvl2pPr>
            <a:lvl3pPr>
              <a:defRPr sz="2250" b="0">
                <a:solidFill>
                  <a:srgbClr val="202C33"/>
                </a:solidFill>
                <a:latin typeface="Calibri"/>
                <a:ea typeface="Calibri"/>
                <a:cs typeface="Calibri"/>
              </a:defRPr>
            </a:lvl3pPr>
            <a:lvl4pPr>
              <a:defRPr sz="2250" b="0">
                <a:solidFill>
                  <a:srgbClr val="202C33"/>
                </a:solidFill>
                <a:latin typeface="Calibri"/>
                <a:ea typeface="Calibri"/>
                <a:cs typeface="Calibri"/>
              </a:defRPr>
            </a:lvl4pPr>
            <a:lvl5pPr>
              <a:defRPr sz="2250" b="0">
                <a:solidFill>
                  <a:srgbClr val="202C33"/>
                </a:solidFill>
                <a:latin typeface="Calibri"/>
                <a:ea typeface="Calibri"/>
                <a:cs typeface="Calibri"/>
              </a:defRPr>
            </a:lvl5pPr>
            <a:lvl6pPr>
              <a:defRPr sz="2250" b="0">
                <a:solidFill>
                  <a:srgbClr val="202C33"/>
                </a:solidFill>
                <a:latin typeface="Calibri"/>
                <a:ea typeface="Calibri"/>
                <a:cs typeface="Calibri"/>
              </a:defRPr>
            </a:lvl6pPr>
            <a:lvl7pPr>
              <a:defRPr sz="2250" b="0">
                <a:solidFill>
                  <a:srgbClr val="202C33"/>
                </a:solidFill>
                <a:latin typeface="Calibri"/>
                <a:ea typeface="Calibri"/>
                <a:cs typeface="Calibri"/>
              </a:defRPr>
            </a:lvl7pPr>
            <a:lvl8pPr>
              <a:defRPr sz="2250" b="0">
                <a:solidFill>
                  <a:srgbClr val="202C33"/>
                </a:solidFill>
                <a:latin typeface="Calibri"/>
                <a:ea typeface="Calibri"/>
                <a:cs typeface="Calibri"/>
              </a:defRPr>
            </a:lvl8pPr>
            <a:lvl9pPr>
              <a:defRPr sz="2250" b="0">
                <a:solidFill>
                  <a:srgbClr val="202C33"/>
                </a:solidFill>
                <a:latin typeface="Calibri"/>
                <a:ea typeface="Calibri"/>
                <a:cs typeface="Calibri"/>
              </a:defRPr>
            </a:lvl9pPr>
          </a:lstStyle>
          <a:p>
            <a:pPr>
              <a:defRPr sz="2250" b="0">
                <a:solidFill>
                  <a:srgbClr val="202C33"/>
                </a:solidFill>
                <a:latin typeface="Calibri"/>
                <a:ea typeface="Calibri"/>
                <a:cs typeface="Calibri"/>
              </a:defRPr>
            </a:pPr>
            <a:r>
              <a:rPr sz="1688" b="0">
                <a:solidFill>
                  <a:srgbClr val="202C33"/>
                </a:solidFill>
                <a:latin typeface="Calibri"/>
                <a:ea typeface="Calibri"/>
                <a:cs typeface="Calibri"/>
              </a:rPr>
              <a:t>Controlled changes in mechanics</a:t>
            </a:r>
          </a:p>
          <a:p>
            <a:pPr>
              <a:defRPr sz="2250" b="0">
                <a:solidFill>
                  <a:srgbClr val="202C33"/>
                </a:solidFill>
                <a:latin typeface="Calibri"/>
                <a:ea typeface="Calibri"/>
                <a:cs typeface="Calibri"/>
              </a:defRPr>
            </a:pPr>
            <a:r>
              <a:rPr sz="1688" b="0">
                <a:solidFill>
                  <a:srgbClr val="202C33"/>
                </a:solidFill>
                <a:latin typeface="Calibri"/>
                <a:ea typeface="Calibri"/>
                <a:cs typeface="Calibri"/>
              </a:rPr>
              <a:t>and sensory pathways</a:t>
            </a:r>
          </a:p>
        </p:txBody>
      </p:sp>
      <p:sp>
        <p:nvSpPr>
          <p:cNvPr id="10" name="Rectangle 9">
            <a:extLst>
              <a:ext uri="{FF2B5EF4-FFF2-40B4-BE49-F238E27FC236}">
                <a16:creationId xmlns:a16="http://schemas.microsoft.com/office/drawing/2014/main" id="{9899577F-001F-6C4A-5DE1-9BDDFCC01A02}"/>
              </a:ext>
            </a:extLst>
          </p:cNvPr>
          <p:cNvSpPr>
            <a:spLocks noGrp="1"/>
          </p:cNvSpPr>
          <p:nvPr/>
        </p:nvSpPr>
        <p:spPr>
          <a:xfrm>
            <a:off x="642938" y="3643314"/>
            <a:ext cx="8001000" cy="500063"/>
          </a:xfrm>
          <a:prstGeom prst="rect">
            <a:avLst/>
          </a:prstGeom>
          <a:noFill/>
          <a:ln w="0">
            <a:noFill/>
          </a:ln>
        </p:spPr>
        <p:txBody>
          <a:bodyPr lIns="0" tIns="0" rIns="0" bIns="0" anchor="t"/>
          <a:lstStyle>
            <a:defPPr>
              <a:defRPr sz="2325" b="1">
                <a:solidFill>
                  <a:srgbClr val="006D77"/>
                </a:solidFill>
                <a:latin typeface="Calibri"/>
                <a:ea typeface="Calibri"/>
                <a:cs typeface="Calibri"/>
              </a:defRPr>
            </a:defPPr>
            <a:lvl1pPr>
              <a:defRPr sz="2325" b="1">
                <a:solidFill>
                  <a:srgbClr val="006D77"/>
                </a:solidFill>
                <a:latin typeface="Calibri"/>
                <a:ea typeface="Calibri"/>
                <a:cs typeface="Calibri"/>
              </a:defRPr>
            </a:lvl1pPr>
            <a:lvl2pPr>
              <a:defRPr sz="2325" b="1">
                <a:solidFill>
                  <a:srgbClr val="006D77"/>
                </a:solidFill>
                <a:latin typeface="Calibri"/>
                <a:ea typeface="Calibri"/>
                <a:cs typeface="Calibri"/>
              </a:defRPr>
            </a:lvl2pPr>
            <a:lvl3pPr>
              <a:defRPr sz="2325" b="1">
                <a:solidFill>
                  <a:srgbClr val="006D77"/>
                </a:solidFill>
                <a:latin typeface="Calibri"/>
                <a:ea typeface="Calibri"/>
                <a:cs typeface="Calibri"/>
              </a:defRPr>
            </a:lvl3pPr>
            <a:lvl4pPr>
              <a:defRPr sz="2325" b="1">
                <a:solidFill>
                  <a:srgbClr val="006D77"/>
                </a:solidFill>
                <a:latin typeface="Calibri"/>
                <a:ea typeface="Calibri"/>
                <a:cs typeface="Calibri"/>
              </a:defRPr>
            </a:lvl4pPr>
            <a:lvl5pPr>
              <a:defRPr sz="2325" b="1">
                <a:solidFill>
                  <a:srgbClr val="006D77"/>
                </a:solidFill>
                <a:latin typeface="Calibri"/>
                <a:ea typeface="Calibri"/>
                <a:cs typeface="Calibri"/>
              </a:defRPr>
            </a:lvl5pPr>
            <a:lvl6pPr>
              <a:defRPr sz="2325" b="1">
                <a:solidFill>
                  <a:srgbClr val="006D77"/>
                </a:solidFill>
                <a:latin typeface="Calibri"/>
                <a:ea typeface="Calibri"/>
                <a:cs typeface="Calibri"/>
              </a:defRPr>
            </a:lvl6pPr>
            <a:lvl7pPr>
              <a:defRPr sz="2325" b="1">
                <a:solidFill>
                  <a:srgbClr val="006D77"/>
                </a:solidFill>
                <a:latin typeface="Calibri"/>
                <a:ea typeface="Calibri"/>
                <a:cs typeface="Calibri"/>
              </a:defRPr>
            </a:lvl7pPr>
            <a:lvl8pPr>
              <a:defRPr sz="2325" b="1">
                <a:solidFill>
                  <a:srgbClr val="006D77"/>
                </a:solidFill>
                <a:latin typeface="Calibri"/>
                <a:ea typeface="Calibri"/>
                <a:cs typeface="Calibri"/>
              </a:defRPr>
            </a:lvl8pPr>
            <a:lvl9pPr>
              <a:defRPr sz="2325" b="1">
                <a:solidFill>
                  <a:srgbClr val="006D77"/>
                </a:solidFill>
                <a:latin typeface="Calibri"/>
                <a:ea typeface="Calibri"/>
                <a:cs typeface="Calibri"/>
              </a:defRPr>
            </a:lvl9pPr>
          </a:lstStyle>
          <a:p>
            <a:pPr>
              <a:defRPr sz="2325" b="1">
                <a:solidFill>
                  <a:srgbClr val="006D77"/>
                </a:solidFill>
                <a:latin typeface="Calibri"/>
                <a:ea typeface="Calibri"/>
                <a:cs typeface="Calibri"/>
              </a:defRPr>
            </a:pPr>
            <a:r>
              <a:rPr sz="1744" b="1">
                <a:solidFill>
                  <a:srgbClr val="006D77"/>
                </a:solidFill>
                <a:latin typeface="Calibri"/>
                <a:ea typeface="Calibri"/>
                <a:cs typeface="Calibri"/>
              </a:rPr>
              <a:t>Further application: improved prosthetic and orthotic devices</a:t>
            </a:r>
          </a:p>
        </p:txBody>
      </p:sp>
      <p:sp>
        <p:nvSpPr>
          <p:cNvPr id="11" name="TextBox 10">
            <a:extLst>
              <a:ext uri="{FF2B5EF4-FFF2-40B4-BE49-F238E27FC236}">
                <a16:creationId xmlns:a16="http://schemas.microsoft.com/office/drawing/2014/main" id="{84BB9F4F-6E4A-1BB5-943E-12C88DF22FF5}"/>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a:t>
            </a:r>
          </a:p>
        </p:txBody>
      </p:sp>
    </p:spTree>
    <p:extLst>
      <p:ext uri="{BB962C8B-B14F-4D97-AF65-F5344CB8AC3E}">
        <p14:creationId xmlns:p14="http://schemas.microsoft.com/office/powerpoint/2010/main" val="1635790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91023914-55DC-3385-8F49-EFDDE1015C9E}"/>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AARL humanoid is our platform for this research</a:t>
            </a:r>
          </a:p>
        </p:txBody>
      </p:sp>
      <p:sp>
        <p:nvSpPr>
          <p:cNvPr id="3" name="Rectangle 2">
            <a:extLst>
              <a:ext uri="{FF2B5EF4-FFF2-40B4-BE49-F238E27FC236}">
                <a16:creationId xmlns:a16="http://schemas.microsoft.com/office/drawing/2014/main" id="{DCF346C5-207A-C96C-4695-4813CF4C3423}"/>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lang="en-US" sz="788" b="0">
                <a:solidFill>
                  <a:srgbClr val="53616A"/>
                </a:solidFill>
                <a:latin typeface="Calibri"/>
                <a:ea typeface="Calibri"/>
                <a:cs typeface="Calibri"/>
              </a:rPr>
              <a:t>Research objectives · Dissertation Ch. 1</a:t>
            </a:r>
            <a:endParaRPr sz="788" b="0">
              <a:solidFill>
                <a:srgbClr val="53616A"/>
              </a:solidFill>
              <a:latin typeface="Calibri"/>
              <a:ea typeface="Calibri"/>
              <a:cs typeface="Calibri"/>
            </a:endParaRPr>
          </a:p>
        </p:txBody>
      </p:sp>
      <p:sp>
        <p:nvSpPr>
          <p:cNvPr id="6" name="Rectangle 5">
            <a:extLst>
              <a:ext uri="{FF2B5EF4-FFF2-40B4-BE49-F238E27FC236}">
                <a16:creationId xmlns:a16="http://schemas.microsoft.com/office/drawing/2014/main" id="{6C08E879-3AA5-768B-C84E-58E4987466E5}"/>
              </a:ext>
            </a:extLst>
          </p:cNvPr>
          <p:cNvSpPr>
            <a:spLocks noGrp="1"/>
          </p:cNvSpPr>
          <p:nvPr/>
        </p:nvSpPr>
        <p:spPr>
          <a:xfrm>
            <a:off x="6607969" y="1714501"/>
            <a:ext cx="2000250" cy="1928813"/>
          </a:xfrm>
          <a:prstGeom prst="rect">
            <a:avLst/>
          </a:prstGeom>
          <a:noFill/>
          <a:ln w="0">
            <a:noFill/>
          </a:ln>
        </p:spPr>
        <p:txBody>
          <a:bodyPr lIns="0" tIns="0" rIns="0" bIns="0" anchor="t"/>
          <a:lstStyle>
            <a:defPPr>
              <a:defRPr sz="2250" b="0">
                <a:solidFill>
                  <a:srgbClr val="202C33"/>
                </a:solidFill>
                <a:latin typeface="Calibri"/>
                <a:ea typeface="Calibri"/>
                <a:cs typeface="Calibri"/>
              </a:defRPr>
            </a:defPPr>
            <a:lvl1pPr>
              <a:defRPr sz="2250" b="0">
                <a:solidFill>
                  <a:srgbClr val="202C33"/>
                </a:solidFill>
                <a:latin typeface="Calibri"/>
                <a:ea typeface="Calibri"/>
                <a:cs typeface="Calibri"/>
              </a:defRPr>
            </a:lvl1pPr>
            <a:lvl2pPr>
              <a:defRPr sz="2250" b="0">
                <a:solidFill>
                  <a:srgbClr val="202C33"/>
                </a:solidFill>
                <a:latin typeface="Calibri"/>
                <a:ea typeface="Calibri"/>
                <a:cs typeface="Calibri"/>
              </a:defRPr>
            </a:lvl2pPr>
            <a:lvl3pPr>
              <a:defRPr sz="2250" b="0">
                <a:solidFill>
                  <a:srgbClr val="202C33"/>
                </a:solidFill>
                <a:latin typeface="Calibri"/>
                <a:ea typeface="Calibri"/>
                <a:cs typeface="Calibri"/>
              </a:defRPr>
            </a:lvl3pPr>
            <a:lvl4pPr>
              <a:defRPr sz="2250" b="0">
                <a:solidFill>
                  <a:srgbClr val="202C33"/>
                </a:solidFill>
                <a:latin typeface="Calibri"/>
                <a:ea typeface="Calibri"/>
                <a:cs typeface="Calibri"/>
              </a:defRPr>
            </a:lvl4pPr>
            <a:lvl5pPr>
              <a:defRPr sz="2250" b="0">
                <a:solidFill>
                  <a:srgbClr val="202C33"/>
                </a:solidFill>
                <a:latin typeface="Calibri"/>
                <a:ea typeface="Calibri"/>
                <a:cs typeface="Calibri"/>
              </a:defRPr>
            </a:lvl5pPr>
            <a:lvl6pPr>
              <a:defRPr sz="2250" b="0">
                <a:solidFill>
                  <a:srgbClr val="202C33"/>
                </a:solidFill>
                <a:latin typeface="Calibri"/>
                <a:ea typeface="Calibri"/>
                <a:cs typeface="Calibri"/>
              </a:defRPr>
            </a:lvl6pPr>
            <a:lvl7pPr>
              <a:defRPr sz="2250" b="0">
                <a:solidFill>
                  <a:srgbClr val="202C33"/>
                </a:solidFill>
                <a:latin typeface="Calibri"/>
                <a:ea typeface="Calibri"/>
                <a:cs typeface="Calibri"/>
              </a:defRPr>
            </a:lvl7pPr>
            <a:lvl8pPr>
              <a:defRPr sz="2250" b="0">
                <a:solidFill>
                  <a:srgbClr val="202C33"/>
                </a:solidFill>
                <a:latin typeface="Calibri"/>
                <a:ea typeface="Calibri"/>
                <a:cs typeface="Calibri"/>
              </a:defRPr>
            </a:lvl8pPr>
            <a:lvl9pPr>
              <a:defRPr sz="2250" b="0">
                <a:solidFill>
                  <a:srgbClr val="202C33"/>
                </a:solidFill>
                <a:latin typeface="Calibri"/>
                <a:ea typeface="Calibri"/>
                <a:cs typeface="Calibri"/>
              </a:defRPr>
            </a:lvl9pPr>
          </a:lstStyle>
          <a:p>
            <a:pPr>
              <a:defRPr sz="2250" b="0">
                <a:solidFill>
                  <a:srgbClr val="202C33"/>
                </a:solidFill>
                <a:latin typeface="Calibri"/>
                <a:ea typeface="Calibri"/>
                <a:cs typeface="Calibri"/>
              </a:defRPr>
            </a:pPr>
            <a:r>
              <a:rPr sz="1688" b="0">
                <a:solidFill>
                  <a:srgbClr val="202C33"/>
                </a:solidFill>
                <a:latin typeface="Calibri"/>
                <a:ea typeface="Calibri"/>
                <a:cs typeface="Calibri"/>
              </a:rPr>
              <a:t>Skeleton and joints</a:t>
            </a:r>
          </a:p>
          <a:p>
            <a:endParaRPr sz="1688" b="0">
              <a:solidFill>
                <a:srgbClr val="202C33"/>
              </a:solidFill>
              <a:latin typeface="Calibri"/>
              <a:ea typeface="Calibri"/>
              <a:cs typeface="Calibri"/>
            </a:endParaRPr>
          </a:p>
          <a:p>
            <a:pPr>
              <a:defRPr sz="2250" b="0">
                <a:solidFill>
                  <a:srgbClr val="202C33"/>
                </a:solidFill>
                <a:latin typeface="Calibri"/>
                <a:ea typeface="Calibri"/>
                <a:cs typeface="Calibri"/>
              </a:defRPr>
            </a:pPr>
            <a:r>
              <a:rPr sz="1688" b="0">
                <a:solidFill>
                  <a:srgbClr val="202C33"/>
                </a:solidFill>
                <a:latin typeface="Calibri"/>
                <a:ea typeface="Calibri"/>
                <a:cs typeface="Calibri"/>
              </a:rPr>
              <a:t>Artificial muscles</a:t>
            </a:r>
          </a:p>
          <a:p>
            <a:endParaRPr sz="1688" b="0">
              <a:solidFill>
                <a:srgbClr val="202C33"/>
              </a:solidFill>
              <a:latin typeface="Calibri"/>
              <a:ea typeface="Calibri"/>
              <a:cs typeface="Calibri"/>
            </a:endParaRPr>
          </a:p>
          <a:p>
            <a:pPr>
              <a:defRPr sz="2250" b="0">
                <a:solidFill>
                  <a:srgbClr val="202C33"/>
                </a:solidFill>
                <a:latin typeface="Calibri"/>
                <a:ea typeface="Calibri"/>
                <a:cs typeface="Calibri"/>
              </a:defRPr>
            </a:pPr>
            <a:r>
              <a:rPr sz="1688" b="0">
                <a:solidFill>
                  <a:srgbClr val="202C33"/>
                </a:solidFill>
                <a:latin typeface="Calibri"/>
                <a:ea typeface="Calibri"/>
                <a:cs typeface="Calibri"/>
              </a:rPr>
              <a:t>Sensory neural control</a:t>
            </a:r>
          </a:p>
        </p:txBody>
      </p:sp>
      <p:sp>
        <p:nvSpPr>
          <p:cNvPr id="7" name="Rectangle 6">
            <a:extLst>
              <a:ext uri="{FF2B5EF4-FFF2-40B4-BE49-F238E27FC236}">
                <a16:creationId xmlns:a16="http://schemas.microsoft.com/office/drawing/2014/main" id="{BDA67D0D-A67F-59AE-4413-6922EE099435}"/>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Biological inspiration must be checked against measured function</a:t>
            </a:r>
          </a:p>
        </p:txBody>
      </p:sp>
      <p:sp>
        <p:nvSpPr>
          <p:cNvPr id="8" name="TextBox 7">
            <a:extLst>
              <a:ext uri="{FF2B5EF4-FFF2-40B4-BE49-F238E27FC236}">
                <a16:creationId xmlns:a16="http://schemas.microsoft.com/office/drawing/2014/main" id="{C2E3043A-5635-9C70-B15C-7172936564B5}"/>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4</a:t>
            </a:r>
          </a:p>
        </p:txBody>
      </p:sp>
      <p:pic>
        <p:nvPicPr>
          <p:cNvPr id="10" name="Picture 9">
            <a:extLst>
              <a:ext uri="{FF2B5EF4-FFF2-40B4-BE49-F238E27FC236}">
                <a16:creationId xmlns:a16="http://schemas.microsoft.com/office/drawing/2014/main" id="{066E5C33-5159-1DAF-4CD2-6005D0E67A26}"/>
              </a:ext>
            </a:extLst>
          </p:cNvPr>
          <p:cNvPicPr>
            <a:picLocks noChangeAspect="1"/>
          </p:cNvPicPr>
          <p:nvPr/>
        </p:nvPicPr>
        <p:blipFill>
          <a:blip r:embed="rId3"/>
          <a:stretch>
            <a:fillRect/>
          </a:stretch>
        </p:blipFill>
        <p:spPr>
          <a:xfrm>
            <a:off x="1396439" y="1193800"/>
            <a:ext cx="1564811" cy="2946400"/>
          </a:xfrm>
          <a:prstGeom prst="rect">
            <a:avLst/>
          </a:prstGeom>
        </p:spPr>
      </p:pic>
      <p:pic>
        <p:nvPicPr>
          <p:cNvPr id="12" name="Picture 11">
            <a:extLst>
              <a:ext uri="{FF2B5EF4-FFF2-40B4-BE49-F238E27FC236}">
                <a16:creationId xmlns:a16="http://schemas.microsoft.com/office/drawing/2014/main" id="{51A8B111-7C7B-FFCC-C033-3E11309C1F3E}"/>
              </a:ext>
            </a:extLst>
          </p:cNvPr>
          <p:cNvPicPr>
            <a:picLocks noChangeAspect="1"/>
          </p:cNvPicPr>
          <p:nvPr/>
        </p:nvPicPr>
        <p:blipFill>
          <a:blip r:embed="rId4"/>
          <a:stretch>
            <a:fillRect/>
          </a:stretch>
        </p:blipFill>
        <p:spPr>
          <a:xfrm>
            <a:off x="4676049" y="1193800"/>
            <a:ext cx="1220651" cy="2946400"/>
          </a:xfrm>
          <a:prstGeom prst="rect">
            <a:avLst/>
          </a:prstGeom>
        </p:spPr>
      </p:pic>
    </p:spTree>
    <p:extLst>
      <p:ext uri="{BB962C8B-B14F-4D97-AF65-F5344CB8AC3E}">
        <p14:creationId xmlns:p14="http://schemas.microsoft.com/office/powerpoint/2010/main" val="3597573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BDB856EB-FAC3-01FF-C2DA-0871D3D0C6FF}"/>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Four knowledge gaps organize this dissertation</a:t>
            </a:r>
          </a:p>
        </p:txBody>
      </p:sp>
      <p:sp>
        <p:nvSpPr>
          <p:cNvPr id="3" name="Rectangle 2">
            <a:extLst>
              <a:ext uri="{FF2B5EF4-FFF2-40B4-BE49-F238E27FC236}">
                <a16:creationId xmlns:a16="http://schemas.microsoft.com/office/drawing/2014/main" id="{1BFCE19B-D3CF-3867-EFAB-FD6092709D1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lang="en-US" sz="788" b="0">
                <a:solidFill>
                  <a:srgbClr val="53616A"/>
                </a:solidFill>
                <a:latin typeface="Calibri"/>
                <a:ea typeface="Calibri"/>
                <a:cs typeface="Calibri"/>
              </a:rPr>
              <a:t>Research objectives · Dissertation Ch. 1</a:t>
            </a:r>
            <a:endParaRPr sz="788" b="0">
              <a:solidFill>
                <a:srgbClr val="53616A"/>
              </a:solidFill>
              <a:latin typeface="Calibri"/>
              <a:ea typeface="Calibri"/>
              <a:cs typeface="Calibri"/>
            </a:endParaRPr>
          </a:p>
        </p:txBody>
      </p:sp>
      <p:graphicFrame>
        <p:nvGraphicFramePr>
          <p:cNvPr id="4" name="Table 3">
            <a:extLst>
              <a:ext uri="{FF2B5EF4-FFF2-40B4-BE49-F238E27FC236}">
                <a16:creationId xmlns:a16="http://schemas.microsoft.com/office/drawing/2014/main" id="{D6900A6A-8BF1-48B2-309B-E2AC04591ADC}"/>
              </a:ext>
            </a:extLst>
          </p:cNvPr>
          <p:cNvGraphicFramePr>
            <a:graphicFrameLocks/>
          </p:cNvGraphicFramePr>
          <p:nvPr>
            <p:extLst>
              <p:ext uri="{D42A27DB-BD31-4B8C-83A1-F6EECF244321}">
                <p14:modId xmlns:p14="http://schemas.microsoft.com/office/powerpoint/2010/main" val="1688788814"/>
              </p:ext>
            </p:extLst>
          </p:nvPr>
        </p:nvGraphicFramePr>
        <p:xfrm>
          <a:off x="428625" y="1285875"/>
          <a:ext cx="8286750" cy="2750344"/>
        </p:xfrm>
        <a:graphic>
          <a:graphicData uri="http://schemas.openxmlformats.org/drawingml/2006/table">
            <a:tbl>
              <a:tblPr/>
              <a:tblGrid>
                <a:gridCol w="4143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tblGrid>
              <a:tr h="550069">
                <a:tc>
                  <a:txBody>
                    <a:bodyPr/>
                    <a:lstStyle/>
                    <a:p>
                      <a:r>
                        <a:rPr sz="1575" b="1">
                          <a:solidFill>
                            <a:srgbClr val="006D77"/>
                          </a:solidFill>
                          <a:latin typeface="Calibri"/>
                          <a:ea typeface="Calibri"/>
                          <a:cs typeface="Calibri"/>
                        </a:rPr>
                        <a:t>Section</a:t>
                      </a:r>
                    </a:p>
                  </a:txBody>
                  <a:tcPr>
                    <a:solidFill>
                      <a:srgbClr val="FFFFFF"/>
                    </a:solidFill>
                  </a:tcPr>
                </a:tc>
                <a:tc>
                  <a:txBody>
                    <a:bodyPr/>
                    <a:lstStyle/>
                    <a:p>
                      <a:r>
                        <a:rPr sz="1575" b="1">
                          <a:solidFill>
                            <a:srgbClr val="006D77"/>
                          </a:solidFill>
                          <a:latin typeface="Calibri"/>
                          <a:ea typeface="Calibri"/>
                          <a:cs typeface="Calibri"/>
                        </a:rPr>
                        <a:t>Question addressed</a:t>
                      </a:r>
                    </a:p>
                  </a:txBody>
                  <a:tcPr>
                    <a:solidFill>
                      <a:srgbClr val="FFFFFF"/>
                    </a:solidFill>
                  </a:tcPr>
                </a:tc>
                <a:extLst>
                  <a:ext uri="{0D108BD9-81ED-4DB2-BD59-A6C34878D82A}">
                    <a16:rowId xmlns:a16="http://schemas.microsoft.com/office/drawing/2014/main" val="10000"/>
                  </a:ext>
                </a:extLst>
              </a:tr>
              <a:tr h="550069">
                <a:tc>
                  <a:txBody>
                    <a:bodyPr/>
                    <a:lstStyle/>
                    <a:p>
                      <a:r>
                        <a:rPr sz="1575" b="0">
                          <a:solidFill>
                            <a:srgbClr val="202C33"/>
                          </a:solidFill>
                          <a:latin typeface="Calibri"/>
                          <a:ea typeface="Calibri"/>
                          <a:cs typeface="Calibri"/>
                        </a:rPr>
                        <a:t>1. BPA actuator characterization</a:t>
                      </a:r>
                    </a:p>
                  </a:txBody>
                  <a:tcPr>
                    <a:solidFill>
                      <a:srgbClr val="FFFFFF"/>
                    </a:solidFill>
                  </a:tcPr>
                </a:tc>
                <a:tc>
                  <a:txBody>
                    <a:bodyPr/>
                    <a:lstStyle/>
                    <a:p>
                      <a:r>
                        <a:rPr sz="1575" b="0">
                          <a:solidFill>
                            <a:srgbClr val="202C33"/>
                          </a:solidFill>
                          <a:latin typeface="Calibri"/>
                          <a:ea typeface="Calibri"/>
                          <a:cs typeface="Calibri"/>
                        </a:rPr>
                        <a:t>How does actuator choice change isometric force?</a:t>
                      </a:r>
                    </a:p>
                  </a:txBody>
                  <a:tcPr>
                    <a:solidFill>
                      <a:srgbClr val="FFFFFF"/>
                    </a:solidFill>
                  </a:tcPr>
                </a:tc>
                <a:extLst>
                  <a:ext uri="{0D108BD9-81ED-4DB2-BD59-A6C34878D82A}">
                    <a16:rowId xmlns:a16="http://schemas.microsoft.com/office/drawing/2014/main" val="10001"/>
                  </a:ext>
                </a:extLst>
              </a:tr>
              <a:tr h="550069">
                <a:tc>
                  <a:txBody>
                    <a:bodyPr/>
                    <a:lstStyle/>
                    <a:p>
                      <a:r>
                        <a:rPr sz="1575" b="0">
                          <a:solidFill>
                            <a:srgbClr val="202C33"/>
                          </a:solidFill>
                          <a:latin typeface="Calibri"/>
                          <a:ea typeface="Calibri"/>
                          <a:cs typeface="Calibri"/>
                        </a:rPr>
                        <a:t>2. Robot joint design factors</a:t>
                      </a:r>
                    </a:p>
                  </a:txBody>
                  <a:tcPr>
                    <a:solidFill>
                      <a:srgbClr val="FFFFFF"/>
                    </a:solidFill>
                  </a:tcPr>
                </a:tc>
                <a:tc>
                  <a:txBody>
                    <a:bodyPr/>
                    <a:lstStyle/>
                    <a:p>
                      <a:r>
                        <a:rPr sz="1575" b="0">
                          <a:solidFill>
                            <a:srgbClr val="202C33"/>
                          </a:solidFill>
                          <a:latin typeface="Calibri"/>
                          <a:ea typeface="Calibri"/>
                          <a:cs typeface="Calibri"/>
                        </a:rPr>
                        <a:t>How much force becomes delivered joint torque?</a:t>
                      </a:r>
                    </a:p>
                  </a:txBody>
                  <a:tcPr>
                    <a:solidFill>
                      <a:srgbClr val="FFFFFF"/>
                    </a:solidFill>
                  </a:tcPr>
                </a:tc>
                <a:extLst>
                  <a:ext uri="{0D108BD9-81ED-4DB2-BD59-A6C34878D82A}">
                    <a16:rowId xmlns:a16="http://schemas.microsoft.com/office/drawing/2014/main" val="10002"/>
                  </a:ext>
                </a:extLst>
              </a:tr>
              <a:tr h="550069">
                <a:tc>
                  <a:txBody>
                    <a:bodyPr/>
                    <a:lstStyle/>
                    <a:p>
                      <a:r>
                        <a:rPr sz="1575" b="0">
                          <a:solidFill>
                            <a:srgbClr val="202C33"/>
                          </a:solidFill>
                          <a:latin typeface="Calibri"/>
                          <a:ea typeface="Calibri"/>
                          <a:cs typeface="Calibri"/>
                        </a:rPr>
                        <a:t>3. SADb</a:t>
                      </a:r>
                    </a:p>
                  </a:txBody>
                  <a:tcPr>
                    <a:solidFill>
                      <a:srgbClr val="FFFFFF"/>
                    </a:solidFill>
                  </a:tcPr>
                </a:tc>
                <a:tc>
                  <a:txBody>
                    <a:bodyPr/>
                    <a:lstStyle/>
                    <a:p>
                      <a:r>
                        <a:rPr sz="1575" b="0">
                          <a:solidFill>
                            <a:srgbClr val="202C33"/>
                          </a:solidFill>
                          <a:latin typeface="Calibri"/>
                          <a:ea typeface="Calibri"/>
                          <a:cs typeface="Calibri"/>
                        </a:rPr>
                        <a:t>Which sensory evidence informs a pathway choice?</a:t>
                      </a:r>
                    </a:p>
                  </a:txBody>
                  <a:tcPr>
                    <a:solidFill>
                      <a:srgbClr val="FFFFFF"/>
                    </a:solidFill>
                  </a:tcPr>
                </a:tc>
                <a:extLst>
                  <a:ext uri="{0D108BD9-81ED-4DB2-BD59-A6C34878D82A}">
                    <a16:rowId xmlns:a16="http://schemas.microsoft.com/office/drawing/2014/main" val="10003"/>
                  </a:ext>
                </a:extLst>
              </a:tr>
              <a:tr h="550069">
                <a:tc>
                  <a:txBody>
                    <a:bodyPr/>
                    <a:lstStyle/>
                    <a:p>
                      <a:r>
                        <a:rPr sz="1575" b="0">
                          <a:solidFill>
                            <a:srgbClr val="202C33"/>
                          </a:solidFill>
                          <a:latin typeface="Calibri"/>
                          <a:ea typeface="Calibri"/>
                          <a:cs typeface="Calibri"/>
                        </a:rPr>
                        <a:t>4. SNS tools</a:t>
                      </a:r>
                    </a:p>
                  </a:txBody>
                  <a:tcPr>
                    <a:solidFill>
                      <a:srgbClr val="FFFFFF"/>
                    </a:solidFill>
                  </a:tcPr>
                </a:tc>
                <a:tc>
                  <a:txBody>
                    <a:bodyPr/>
                    <a:lstStyle/>
                    <a:p>
                      <a:r>
                        <a:rPr sz="1575" b="0">
                          <a:solidFill>
                            <a:srgbClr val="202C33"/>
                          </a:solidFill>
                          <a:latin typeface="Calibri"/>
                          <a:ea typeface="Calibri"/>
                          <a:cs typeface="Calibri"/>
                        </a:rPr>
                        <a:t>How can coupled mechanisms be tested and interpreted?</a:t>
                      </a:r>
                    </a:p>
                  </a:txBody>
                  <a:tcPr>
                    <a:solidFill>
                      <a:srgbClr val="FFFFFF"/>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72BA4A47-AAF6-982C-AFEA-B2E114819266}"/>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5</a:t>
            </a:r>
          </a:p>
        </p:txBody>
      </p:sp>
    </p:spTree>
    <p:extLst>
      <p:ext uri="{BB962C8B-B14F-4D97-AF65-F5344CB8AC3E}">
        <p14:creationId xmlns:p14="http://schemas.microsoft.com/office/powerpoint/2010/main" val="2418126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09C5C17B-A42E-C3E1-43B7-EF6346A11CD7}"/>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Actuator selection requires force predictions across resting lengths</a:t>
            </a:r>
          </a:p>
        </p:txBody>
      </p:sp>
      <p:sp>
        <p:nvSpPr>
          <p:cNvPr id="3" name="Rectangle 2">
            <a:extLst>
              <a:ext uri="{FF2B5EF4-FFF2-40B4-BE49-F238E27FC236}">
                <a16:creationId xmlns:a16="http://schemas.microsoft.com/office/drawing/2014/main" id="{DD3F66A3-9F1C-F8CD-45B6-9DD667D01C11}"/>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(2026), Actuators 15(5):230 · Dissertation Ch. 3</a:t>
            </a:r>
          </a:p>
        </p:txBody>
      </p:sp>
      <p:pic>
        <p:nvPicPr>
          <p:cNvPr id="4" name="Picture 3">
            <a:extLst>
              <a:ext uri="{FF2B5EF4-FFF2-40B4-BE49-F238E27FC236}">
                <a16:creationId xmlns:a16="http://schemas.microsoft.com/office/drawing/2014/main" id="{C9577DDF-D5EA-C64E-FA07-1FDEC1191377}"/>
              </a:ext>
            </a:extLst>
          </p:cNvPr>
          <p:cNvPicPr>
            <a:picLocks/>
          </p:cNvPicPr>
          <p:nvPr/>
        </p:nvPicPr>
        <p:blipFill>
          <a:blip r:embed="rId3"/>
          <a:stretch/>
        </p:blipFill>
        <p:spPr>
          <a:xfrm>
            <a:off x="1035844" y="1107282"/>
            <a:ext cx="2571750" cy="3000375"/>
          </a:xfrm>
          <a:prstGeom prst="rect">
            <a:avLst/>
          </a:prstGeom>
        </p:spPr>
      </p:pic>
      <p:sp>
        <p:nvSpPr>
          <p:cNvPr id="5" name="Rectangle 4">
            <a:extLst>
              <a:ext uri="{FF2B5EF4-FFF2-40B4-BE49-F238E27FC236}">
                <a16:creationId xmlns:a16="http://schemas.microsoft.com/office/drawing/2014/main" id="{80FB5209-9D9C-6730-11FC-AC64387E9B50}"/>
              </a:ext>
            </a:extLst>
          </p:cNvPr>
          <p:cNvSpPr>
            <a:spLocks noGrp="1"/>
          </p:cNvSpPr>
          <p:nvPr/>
        </p:nvSpPr>
        <p:spPr>
          <a:xfrm>
            <a:off x="4857750" y="1464470"/>
            <a:ext cx="3714750" cy="2143125"/>
          </a:xfrm>
          <a:prstGeom prst="rect">
            <a:avLst/>
          </a:prstGeom>
          <a:noFill/>
          <a:ln w="0">
            <a:noFill/>
          </a:ln>
        </p:spPr>
        <p:txBody>
          <a:bodyPr lIns="0" tIns="0" rIns="0" bIns="0" anchor="t"/>
          <a:lstStyle>
            <a:defPPr>
              <a:defRPr sz="2400" b="0">
                <a:solidFill>
                  <a:srgbClr val="202C33"/>
                </a:solidFill>
                <a:latin typeface="Calibri"/>
                <a:ea typeface="Calibri"/>
                <a:cs typeface="Calibri"/>
              </a:defRPr>
            </a:defPPr>
            <a:lvl1pPr>
              <a:defRPr sz="2400" b="0">
                <a:solidFill>
                  <a:srgbClr val="202C33"/>
                </a:solidFill>
                <a:latin typeface="Calibri"/>
                <a:ea typeface="Calibri"/>
                <a:cs typeface="Calibri"/>
              </a:defRPr>
            </a:lvl1pPr>
            <a:lvl2pPr>
              <a:defRPr sz="2400" b="0">
                <a:solidFill>
                  <a:srgbClr val="202C33"/>
                </a:solidFill>
                <a:latin typeface="Calibri"/>
                <a:ea typeface="Calibri"/>
                <a:cs typeface="Calibri"/>
              </a:defRPr>
            </a:lvl2pPr>
            <a:lvl3pPr>
              <a:defRPr sz="2400" b="0">
                <a:solidFill>
                  <a:srgbClr val="202C33"/>
                </a:solidFill>
                <a:latin typeface="Calibri"/>
                <a:ea typeface="Calibri"/>
                <a:cs typeface="Calibri"/>
              </a:defRPr>
            </a:lvl3pPr>
            <a:lvl4pPr>
              <a:defRPr sz="2400" b="0">
                <a:solidFill>
                  <a:srgbClr val="202C33"/>
                </a:solidFill>
                <a:latin typeface="Calibri"/>
                <a:ea typeface="Calibri"/>
                <a:cs typeface="Calibri"/>
              </a:defRPr>
            </a:lvl4pPr>
            <a:lvl5pPr>
              <a:defRPr sz="2400" b="0">
                <a:solidFill>
                  <a:srgbClr val="202C33"/>
                </a:solidFill>
                <a:latin typeface="Calibri"/>
                <a:ea typeface="Calibri"/>
                <a:cs typeface="Calibri"/>
              </a:defRPr>
            </a:lvl5pPr>
            <a:lvl6pPr>
              <a:defRPr sz="2400" b="0">
                <a:solidFill>
                  <a:srgbClr val="202C33"/>
                </a:solidFill>
                <a:latin typeface="Calibri"/>
                <a:ea typeface="Calibri"/>
                <a:cs typeface="Calibri"/>
              </a:defRPr>
            </a:lvl6pPr>
            <a:lvl7pPr>
              <a:defRPr sz="2400" b="0">
                <a:solidFill>
                  <a:srgbClr val="202C33"/>
                </a:solidFill>
                <a:latin typeface="Calibri"/>
                <a:ea typeface="Calibri"/>
                <a:cs typeface="Calibri"/>
              </a:defRPr>
            </a:lvl7pPr>
            <a:lvl8pPr>
              <a:defRPr sz="2400" b="0">
                <a:solidFill>
                  <a:srgbClr val="202C33"/>
                </a:solidFill>
                <a:latin typeface="Calibri"/>
                <a:ea typeface="Calibri"/>
                <a:cs typeface="Calibri"/>
              </a:defRPr>
            </a:lvl8pPr>
            <a:lvl9pPr>
              <a:defRPr sz="2400" b="0">
                <a:solidFill>
                  <a:srgbClr val="202C33"/>
                </a:solidFill>
                <a:latin typeface="Calibri"/>
                <a:ea typeface="Calibri"/>
                <a:cs typeface="Calibri"/>
              </a:defRPr>
            </a:lvl9pPr>
          </a:lstStyle>
          <a:p>
            <a:pPr>
              <a:defRPr sz="2400" b="0">
                <a:solidFill>
                  <a:srgbClr val="202C33"/>
                </a:solidFill>
                <a:latin typeface="Calibri"/>
                <a:ea typeface="Calibri"/>
                <a:cs typeface="Calibri"/>
              </a:defRPr>
            </a:pPr>
            <a:r>
              <a:rPr sz="1800" b="0">
                <a:solidFill>
                  <a:srgbClr val="202C33"/>
                </a:solidFill>
                <a:latin typeface="Calibri"/>
                <a:ea typeface="Calibri"/>
                <a:cs typeface="Calibri"/>
              </a:rPr>
              <a:t>Design choice: resting length</a:t>
            </a:r>
          </a:p>
          <a:p>
            <a:endParaRPr sz="1800" b="0">
              <a:solidFill>
                <a:srgbClr val="202C33"/>
              </a:solidFill>
              <a:latin typeface="Calibri"/>
              <a:ea typeface="Calibri"/>
              <a:cs typeface="Calibri"/>
            </a:endParaRPr>
          </a:p>
          <a:p>
            <a:pPr>
              <a:defRPr sz="2400" b="0">
                <a:solidFill>
                  <a:srgbClr val="202C33"/>
                </a:solidFill>
                <a:latin typeface="Calibri"/>
                <a:ea typeface="Calibri"/>
                <a:cs typeface="Calibri"/>
              </a:defRPr>
            </a:pPr>
            <a:r>
              <a:rPr sz="1800" b="0">
                <a:solidFill>
                  <a:srgbClr val="202C33"/>
                </a:solidFill>
                <a:latin typeface="Calibri"/>
                <a:ea typeface="Calibri"/>
                <a:cs typeface="Calibri"/>
              </a:rPr>
              <a:t>Measurements: length, pressure,</a:t>
            </a:r>
          </a:p>
          <a:p>
            <a:pPr>
              <a:defRPr sz="2400" b="0">
                <a:solidFill>
                  <a:srgbClr val="202C33"/>
                </a:solidFill>
                <a:latin typeface="Calibri"/>
                <a:ea typeface="Calibri"/>
                <a:cs typeface="Calibri"/>
              </a:defRPr>
            </a:pPr>
            <a:r>
              <a:rPr sz="1800" b="0">
                <a:solidFill>
                  <a:srgbClr val="202C33"/>
                </a:solidFill>
                <a:latin typeface="Calibri"/>
                <a:ea typeface="Calibri"/>
                <a:cs typeface="Calibri"/>
              </a:rPr>
              <a:t>contraction, and force</a:t>
            </a:r>
          </a:p>
          <a:p>
            <a:endParaRPr sz="1800" b="0">
              <a:solidFill>
                <a:srgbClr val="202C33"/>
              </a:solidFill>
              <a:latin typeface="Calibri"/>
              <a:ea typeface="Calibri"/>
              <a:cs typeface="Calibri"/>
            </a:endParaRPr>
          </a:p>
          <a:p>
            <a:pPr>
              <a:defRPr sz="2400" b="0">
                <a:solidFill>
                  <a:srgbClr val="202C33"/>
                </a:solidFill>
                <a:latin typeface="Calibri"/>
                <a:ea typeface="Calibri"/>
                <a:cs typeface="Calibri"/>
              </a:defRPr>
            </a:pPr>
            <a:r>
              <a:rPr sz="1800" b="0">
                <a:solidFill>
                  <a:srgbClr val="202C33"/>
                </a:solidFill>
                <a:latin typeface="Calibri"/>
                <a:ea typeface="Calibri"/>
                <a:cs typeface="Calibri"/>
              </a:rPr>
              <a:t>537 isometric observations</a:t>
            </a:r>
          </a:p>
        </p:txBody>
      </p:sp>
      <p:sp>
        <p:nvSpPr>
          <p:cNvPr id="6" name="Rectangle 5">
            <a:extLst>
              <a:ext uri="{FF2B5EF4-FFF2-40B4-BE49-F238E27FC236}">
                <a16:creationId xmlns:a16="http://schemas.microsoft.com/office/drawing/2014/main" id="{FA2ECD34-23DE-9F5A-62B2-E8350F07243B}"/>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Question 1: what force can the selected actuator produce?</a:t>
            </a:r>
          </a:p>
        </p:txBody>
      </p:sp>
      <p:sp>
        <p:nvSpPr>
          <p:cNvPr id="7" name="TextBox 6">
            <a:extLst>
              <a:ext uri="{FF2B5EF4-FFF2-40B4-BE49-F238E27FC236}">
                <a16:creationId xmlns:a16="http://schemas.microsoft.com/office/drawing/2014/main" id="{A1EBF44B-8405-C741-F068-D982905DBCF5}"/>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6</a:t>
            </a:r>
          </a:p>
        </p:txBody>
      </p:sp>
    </p:spTree>
    <p:extLst>
      <p:ext uri="{BB962C8B-B14F-4D97-AF65-F5344CB8AC3E}">
        <p14:creationId xmlns:p14="http://schemas.microsoft.com/office/powerpoint/2010/main" val="1133136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8331B1F8-06AC-16C1-D7CA-C215A72D24B7}"/>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Shorter BPAs deliver less maximum isometric force</a:t>
            </a:r>
          </a:p>
        </p:txBody>
      </p:sp>
      <p:sp>
        <p:nvSpPr>
          <p:cNvPr id="3" name="Rectangle 2">
            <a:extLst>
              <a:ext uri="{FF2B5EF4-FFF2-40B4-BE49-F238E27FC236}">
                <a16:creationId xmlns:a16="http://schemas.microsoft.com/office/drawing/2014/main" id="{4F0D8B9C-74D1-431E-EB98-D6D6F7F24914}"/>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(2026), Actuators 15(5):230 · Dissertation Ch. 3</a:t>
            </a:r>
          </a:p>
        </p:txBody>
      </p:sp>
      <p:pic>
        <p:nvPicPr>
          <p:cNvPr id="4" name="Picture 3">
            <a:extLst>
              <a:ext uri="{FF2B5EF4-FFF2-40B4-BE49-F238E27FC236}">
                <a16:creationId xmlns:a16="http://schemas.microsoft.com/office/drawing/2014/main" id="{1033D70F-48B1-1B82-CD94-0D5076DB2AC1}"/>
              </a:ext>
            </a:extLst>
          </p:cNvPr>
          <p:cNvPicPr>
            <a:picLocks/>
          </p:cNvPicPr>
          <p:nvPr/>
        </p:nvPicPr>
        <p:blipFill>
          <a:blip r:embed="rId3"/>
          <a:stretch/>
        </p:blipFill>
        <p:spPr>
          <a:xfrm>
            <a:off x="622612" y="1285876"/>
            <a:ext cx="3612526" cy="2930524"/>
          </a:xfrm>
          <a:prstGeom prst="rect">
            <a:avLst/>
          </a:prstGeom>
        </p:spPr>
      </p:pic>
      <p:pic>
        <p:nvPicPr>
          <p:cNvPr id="5" name="Picture 4">
            <a:extLst>
              <a:ext uri="{FF2B5EF4-FFF2-40B4-BE49-F238E27FC236}">
                <a16:creationId xmlns:a16="http://schemas.microsoft.com/office/drawing/2014/main" id="{5846438D-CC7B-2D7C-F2DF-4CD6CF5D3165}"/>
              </a:ext>
            </a:extLst>
          </p:cNvPr>
          <p:cNvPicPr>
            <a:picLocks/>
          </p:cNvPicPr>
          <p:nvPr/>
        </p:nvPicPr>
        <p:blipFill>
          <a:blip r:embed="rId4"/>
          <a:stretch/>
        </p:blipFill>
        <p:spPr>
          <a:xfrm>
            <a:off x="4793645" y="1311212"/>
            <a:ext cx="3842959" cy="2905188"/>
          </a:xfrm>
          <a:prstGeom prst="rect">
            <a:avLst/>
          </a:prstGeom>
        </p:spPr>
      </p:pic>
      <p:sp>
        <p:nvSpPr>
          <p:cNvPr id="6" name="Rectangle 5">
            <a:extLst>
              <a:ext uri="{FF2B5EF4-FFF2-40B4-BE49-F238E27FC236}">
                <a16:creationId xmlns:a16="http://schemas.microsoft.com/office/drawing/2014/main" id="{6CD0CC07-2DA5-01DE-5AE7-92CE9EBBD7A8}"/>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Resting length changes the force available to a robot design</a:t>
            </a:r>
          </a:p>
        </p:txBody>
      </p:sp>
      <p:sp>
        <p:nvSpPr>
          <p:cNvPr id="7" name="TextBox 6">
            <a:extLst>
              <a:ext uri="{FF2B5EF4-FFF2-40B4-BE49-F238E27FC236}">
                <a16:creationId xmlns:a16="http://schemas.microsoft.com/office/drawing/2014/main" id="{563A8993-842F-37AF-533A-E46D485B065F}"/>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7</a:t>
            </a:r>
          </a:p>
        </p:txBody>
      </p:sp>
    </p:spTree>
    <p:extLst>
      <p:ext uri="{BB962C8B-B14F-4D97-AF65-F5344CB8AC3E}">
        <p14:creationId xmlns:p14="http://schemas.microsoft.com/office/powerpoint/2010/main" val="3649448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1E8ED32A-81C7-4D8B-0373-2CEECD134FC4}"/>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Resting-length scaling completes the normalized force model</a:t>
            </a:r>
          </a:p>
        </p:txBody>
      </p:sp>
      <p:sp>
        <p:nvSpPr>
          <p:cNvPr id="3" name="Rectangle 2">
            <a:extLst>
              <a:ext uri="{FF2B5EF4-FFF2-40B4-BE49-F238E27FC236}">
                <a16:creationId xmlns:a16="http://schemas.microsoft.com/office/drawing/2014/main" id="{34B97A69-032A-453C-93C2-5D7597D75FBE}"/>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(2026), Actuators 15(5):230 · Dissertation Ch. 3</a:t>
            </a:r>
          </a:p>
        </p:txBody>
      </p:sp>
      <p:pic>
        <p:nvPicPr>
          <p:cNvPr id="4" name="Picture 3">
            <a:extLst>
              <a:ext uri="{FF2B5EF4-FFF2-40B4-BE49-F238E27FC236}">
                <a16:creationId xmlns:a16="http://schemas.microsoft.com/office/drawing/2014/main" id="{EFA00F90-C72C-C0BB-2700-4717BB572179}"/>
              </a:ext>
            </a:extLst>
          </p:cNvPr>
          <p:cNvPicPr>
            <a:picLocks/>
          </p:cNvPicPr>
          <p:nvPr/>
        </p:nvPicPr>
        <p:blipFill>
          <a:blip r:embed="rId3"/>
          <a:stretch/>
        </p:blipFill>
        <p:spPr>
          <a:xfrm>
            <a:off x="500063" y="1299917"/>
            <a:ext cx="8108156" cy="564847"/>
          </a:xfrm>
          <a:prstGeom prst="rect">
            <a:avLst/>
          </a:prstGeom>
        </p:spPr>
      </p:pic>
      <p:pic>
        <p:nvPicPr>
          <p:cNvPr id="5" name="Picture 4">
            <a:extLst>
              <a:ext uri="{FF2B5EF4-FFF2-40B4-BE49-F238E27FC236}">
                <a16:creationId xmlns:a16="http://schemas.microsoft.com/office/drawing/2014/main" id="{52FDDB74-B264-3D91-5FB7-EAFAA98C8D0E}"/>
              </a:ext>
            </a:extLst>
          </p:cNvPr>
          <p:cNvPicPr>
            <a:picLocks/>
          </p:cNvPicPr>
          <p:nvPr/>
        </p:nvPicPr>
        <p:blipFill>
          <a:blip r:embed="rId4"/>
          <a:stretch/>
        </p:blipFill>
        <p:spPr>
          <a:xfrm>
            <a:off x="1889983" y="2107406"/>
            <a:ext cx="2220786" cy="2108994"/>
          </a:xfrm>
          <a:prstGeom prst="rect">
            <a:avLst/>
          </a:prstGeom>
        </p:spPr>
      </p:pic>
      <p:sp>
        <p:nvSpPr>
          <p:cNvPr id="6" name="Rectangle 5">
            <a:extLst>
              <a:ext uri="{FF2B5EF4-FFF2-40B4-BE49-F238E27FC236}">
                <a16:creationId xmlns:a16="http://schemas.microsoft.com/office/drawing/2014/main" id="{8CF964E6-4C27-7A0D-8C59-A87D8DEA4BED}"/>
              </a:ext>
            </a:extLst>
          </p:cNvPr>
          <p:cNvSpPr>
            <a:spLocks noGrp="1"/>
          </p:cNvSpPr>
          <p:nvPr/>
        </p:nvSpPr>
        <p:spPr>
          <a:xfrm>
            <a:off x="5679282" y="2143125"/>
            <a:ext cx="3071813" cy="2286000"/>
          </a:xfrm>
          <a:prstGeom prst="rect">
            <a:avLst/>
          </a:prstGeom>
          <a:noFill/>
          <a:ln w="0">
            <a:noFill/>
          </a:ln>
        </p:spPr>
        <p:txBody>
          <a:bodyPr lIns="0" tIns="0" rIns="0" bIns="0" anchor="t"/>
          <a:lstStyle>
            <a:defPPr>
              <a:defRPr sz="1875" b="0">
                <a:solidFill>
                  <a:srgbClr val="202C33"/>
                </a:solidFill>
                <a:latin typeface="Calibri"/>
                <a:ea typeface="Calibri"/>
                <a:cs typeface="Calibri"/>
              </a:defRPr>
            </a:defPPr>
            <a:lvl1pPr>
              <a:defRPr sz="1875" b="0">
                <a:solidFill>
                  <a:srgbClr val="202C33"/>
                </a:solidFill>
                <a:latin typeface="Calibri"/>
                <a:ea typeface="Calibri"/>
                <a:cs typeface="Calibri"/>
              </a:defRPr>
            </a:lvl1pPr>
            <a:lvl2pPr>
              <a:defRPr sz="1875" b="0">
                <a:solidFill>
                  <a:srgbClr val="202C33"/>
                </a:solidFill>
                <a:latin typeface="Calibri"/>
                <a:ea typeface="Calibri"/>
                <a:cs typeface="Calibri"/>
              </a:defRPr>
            </a:lvl2pPr>
            <a:lvl3pPr>
              <a:defRPr sz="1875" b="0">
                <a:solidFill>
                  <a:srgbClr val="202C33"/>
                </a:solidFill>
                <a:latin typeface="Calibri"/>
                <a:ea typeface="Calibri"/>
                <a:cs typeface="Calibri"/>
              </a:defRPr>
            </a:lvl3pPr>
            <a:lvl4pPr>
              <a:defRPr sz="1875" b="0">
                <a:solidFill>
                  <a:srgbClr val="202C33"/>
                </a:solidFill>
                <a:latin typeface="Calibri"/>
                <a:ea typeface="Calibri"/>
                <a:cs typeface="Calibri"/>
              </a:defRPr>
            </a:lvl4pPr>
            <a:lvl5pPr>
              <a:defRPr sz="1875" b="0">
                <a:solidFill>
                  <a:srgbClr val="202C33"/>
                </a:solidFill>
                <a:latin typeface="Calibri"/>
                <a:ea typeface="Calibri"/>
                <a:cs typeface="Calibri"/>
              </a:defRPr>
            </a:lvl5pPr>
            <a:lvl6pPr>
              <a:defRPr sz="1875" b="0">
                <a:solidFill>
                  <a:srgbClr val="202C33"/>
                </a:solidFill>
                <a:latin typeface="Calibri"/>
                <a:ea typeface="Calibri"/>
                <a:cs typeface="Calibri"/>
              </a:defRPr>
            </a:lvl6pPr>
            <a:lvl7pPr>
              <a:defRPr sz="1875" b="0">
                <a:solidFill>
                  <a:srgbClr val="202C33"/>
                </a:solidFill>
                <a:latin typeface="Calibri"/>
                <a:ea typeface="Calibri"/>
                <a:cs typeface="Calibri"/>
              </a:defRPr>
            </a:lvl7pPr>
            <a:lvl8pPr>
              <a:defRPr sz="1875" b="0">
                <a:solidFill>
                  <a:srgbClr val="202C33"/>
                </a:solidFill>
                <a:latin typeface="Calibri"/>
                <a:ea typeface="Calibri"/>
                <a:cs typeface="Calibri"/>
              </a:defRPr>
            </a:lvl8pPr>
            <a:lvl9pPr>
              <a:defRPr sz="1875" b="0">
                <a:solidFill>
                  <a:srgbClr val="202C33"/>
                </a:solidFill>
                <a:latin typeface="Calibri"/>
                <a:ea typeface="Calibri"/>
                <a:cs typeface="Calibri"/>
              </a:defRPr>
            </a:lvl9pPr>
          </a:lstStyle>
          <a:p>
            <a:pPr>
              <a:defRPr sz="1875" b="0">
                <a:solidFill>
                  <a:srgbClr val="202C33"/>
                </a:solidFill>
                <a:latin typeface="Calibri"/>
                <a:ea typeface="Calibri"/>
                <a:cs typeface="Calibri"/>
              </a:defRPr>
            </a:pPr>
            <a:r>
              <a:rPr sz="1406" b="0">
                <a:solidFill>
                  <a:srgbClr val="202C33"/>
                </a:solidFill>
                <a:latin typeface="Calibri"/>
                <a:ea typeface="Calibri"/>
                <a:cs typeface="Calibri"/>
              </a:rPr>
              <a:t>F*   normalized force</a:t>
            </a:r>
          </a:p>
          <a:p>
            <a:pPr>
              <a:defRPr sz="1875" b="0">
                <a:solidFill>
                  <a:srgbClr val="202C33"/>
                </a:solidFill>
                <a:latin typeface="Calibri"/>
                <a:ea typeface="Calibri"/>
                <a:cs typeface="Calibri"/>
              </a:defRPr>
            </a:pPr>
            <a:r>
              <a:rPr sz="1406" b="0">
                <a:solidFill>
                  <a:srgbClr val="202C33"/>
                </a:solidFill>
                <a:latin typeface="Calibri"/>
                <a:ea typeface="Calibri"/>
                <a:cs typeface="Calibri"/>
              </a:rPr>
              <a:t>P*   pressure / 620 kPa</a:t>
            </a:r>
          </a:p>
          <a:p>
            <a:pPr>
              <a:defRPr sz="1875" b="0">
                <a:solidFill>
                  <a:srgbClr val="202C33"/>
                </a:solidFill>
                <a:latin typeface="Calibri"/>
                <a:ea typeface="Calibri"/>
                <a:cs typeface="Calibri"/>
              </a:defRPr>
            </a:pPr>
            <a:r>
              <a:rPr sz="1406" b="0">
                <a:solidFill>
                  <a:srgbClr val="202C33"/>
                </a:solidFill>
                <a:latin typeface="Calibri"/>
                <a:ea typeface="Calibri"/>
                <a:cs typeface="Calibri"/>
              </a:rPr>
              <a:t>ε*   normalized contraction</a:t>
            </a:r>
          </a:p>
          <a:p>
            <a:pPr>
              <a:defRPr sz="1875" b="0">
                <a:solidFill>
                  <a:srgbClr val="202C33"/>
                </a:solidFill>
                <a:latin typeface="Calibri"/>
                <a:ea typeface="Calibri"/>
                <a:cs typeface="Calibri"/>
              </a:defRPr>
            </a:pPr>
            <a:r>
              <a:rPr sz="1406" b="0">
                <a:solidFill>
                  <a:srgbClr val="202C33"/>
                </a:solidFill>
                <a:latin typeface="Calibri"/>
                <a:ea typeface="Calibri"/>
                <a:cs typeface="Calibri"/>
              </a:rPr>
              <a:t>l₀   resting length</a:t>
            </a:r>
          </a:p>
          <a:p>
            <a:endParaRPr sz="1406" b="0">
              <a:solidFill>
                <a:srgbClr val="202C33"/>
              </a:solidFill>
              <a:latin typeface="Calibri"/>
              <a:ea typeface="Calibri"/>
              <a:cs typeface="Calibri"/>
            </a:endParaRPr>
          </a:p>
          <a:p>
            <a:pPr>
              <a:defRPr sz="1875" b="0">
                <a:solidFill>
                  <a:srgbClr val="202C33"/>
                </a:solidFill>
                <a:latin typeface="Calibri"/>
                <a:ea typeface="Calibri"/>
                <a:cs typeface="Calibri"/>
              </a:defRPr>
            </a:pPr>
            <a:r>
              <a:rPr sz="1406" b="0">
                <a:solidFill>
                  <a:srgbClr val="202C33"/>
                </a:solidFill>
                <a:latin typeface="Calibri"/>
                <a:ea typeface="Calibri"/>
                <a:cs typeface="Calibri"/>
              </a:rPr>
              <a:t>Curves: 200–620 kPa</a:t>
            </a:r>
          </a:p>
          <a:p>
            <a:pPr>
              <a:defRPr sz="1875" b="0">
                <a:solidFill>
                  <a:srgbClr val="202C33"/>
                </a:solidFill>
                <a:latin typeface="Calibri"/>
                <a:ea typeface="Calibri"/>
                <a:cs typeface="Calibri"/>
              </a:defRPr>
            </a:pPr>
            <a:r>
              <a:rPr sz="1406" b="0">
                <a:solidFill>
                  <a:srgbClr val="202C33"/>
                </a:solidFill>
                <a:latin typeface="Calibri"/>
                <a:ea typeface="Calibri"/>
                <a:cs typeface="Calibri"/>
              </a:rPr>
              <a:t>Solid model; circles measured</a:t>
            </a:r>
          </a:p>
          <a:p>
            <a:pPr>
              <a:defRPr sz="1875" b="0">
                <a:solidFill>
                  <a:srgbClr val="202C33"/>
                </a:solidFill>
                <a:latin typeface="Calibri"/>
                <a:ea typeface="Calibri"/>
                <a:cs typeface="Calibri"/>
              </a:defRPr>
            </a:pPr>
            <a:r>
              <a:rPr sz="1406" b="0">
                <a:solidFill>
                  <a:srgbClr val="202C33"/>
                </a:solidFill>
                <a:latin typeface="Calibri"/>
                <a:ea typeface="Calibri"/>
                <a:cs typeface="Calibri"/>
              </a:rPr>
              <a:t>Dashed manufacturer</a:t>
            </a:r>
          </a:p>
        </p:txBody>
      </p:sp>
      <p:sp>
        <p:nvSpPr>
          <p:cNvPr id="7" name="Rectangle 6">
            <a:extLst>
              <a:ext uri="{FF2B5EF4-FFF2-40B4-BE49-F238E27FC236}">
                <a16:creationId xmlns:a16="http://schemas.microsoft.com/office/drawing/2014/main" id="{64782B0E-8628-6DEA-60A8-870EEEEF6AC9}"/>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Diameter-specific coefficients remain fixed from the published study</a:t>
            </a:r>
          </a:p>
        </p:txBody>
      </p:sp>
      <p:sp>
        <p:nvSpPr>
          <p:cNvPr id="8" name="TextBox 7">
            <a:extLst>
              <a:ext uri="{FF2B5EF4-FFF2-40B4-BE49-F238E27FC236}">
                <a16:creationId xmlns:a16="http://schemas.microsoft.com/office/drawing/2014/main" id="{9DC26FEA-DAD5-D766-00C2-2DD02FE0ABC7}"/>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8</a:t>
            </a:r>
          </a:p>
        </p:txBody>
      </p:sp>
    </p:spTree>
    <p:extLst>
      <p:ext uri="{BB962C8B-B14F-4D97-AF65-F5344CB8AC3E}">
        <p14:creationId xmlns:p14="http://schemas.microsoft.com/office/powerpoint/2010/main" val="1758356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FE9191D0-CCC6-8D02-9ABD-81B2D8B0BE31}"/>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A force model must be carried through the joint transmission</a:t>
            </a:r>
          </a:p>
        </p:txBody>
      </p:sp>
      <p:sp>
        <p:nvSpPr>
          <p:cNvPr id="3" name="Rectangle 2">
            <a:extLst>
              <a:ext uri="{FF2B5EF4-FFF2-40B4-BE49-F238E27FC236}">
                <a16:creationId xmlns:a16="http://schemas.microsoft.com/office/drawing/2014/main" id="{3FAE343F-BDFB-D53A-1811-6629A9FBE088}"/>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7E573A94-5CB7-AB9F-89F4-1DB51B6A1E1F}"/>
              </a:ext>
            </a:extLst>
          </p:cNvPr>
          <p:cNvPicPr>
            <a:picLocks/>
          </p:cNvPicPr>
          <p:nvPr/>
        </p:nvPicPr>
        <p:blipFill>
          <a:blip r:embed="rId3"/>
          <a:stretch/>
        </p:blipFill>
        <p:spPr>
          <a:xfrm>
            <a:off x="1535906" y="1143001"/>
            <a:ext cx="2571750" cy="3000375"/>
          </a:xfrm>
          <a:prstGeom prst="rect">
            <a:avLst/>
          </a:prstGeom>
        </p:spPr>
      </p:pic>
      <p:sp>
        <p:nvSpPr>
          <p:cNvPr id="5" name="Rectangle 4">
            <a:extLst>
              <a:ext uri="{FF2B5EF4-FFF2-40B4-BE49-F238E27FC236}">
                <a16:creationId xmlns:a16="http://schemas.microsoft.com/office/drawing/2014/main" id="{E51E2FA5-2FD9-B810-FD55-EE11CDE271B8}"/>
              </a:ext>
            </a:extLst>
          </p:cNvPr>
          <p:cNvSpPr>
            <a:spLocks noGrp="1"/>
          </p:cNvSpPr>
          <p:nvPr/>
        </p:nvSpPr>
        <p:spPr>
          <a:xfrm>
            <a:off x="5715000" y="1571625"/>
            <a:ext cx="2928938" cy="2000250"/>
          </a:xfrm>
          <a:prstGeom prst="rect">
            <a:avLst/>
          </a:prstGeom>
          <a:noFill/>
          <a:ln w="0">
            <a:noFill/>
          </a:ln>
        </p:spPr>
        <p:txBody>
          <a:bodyPr lIns="0" tIns="0" rIns="0" bIns="0" anchor="t"/>
          <a:lstStyle>
            <a:defPPr>
              <a:defRPr sz="2400" b="0">
                <a:solidFill>
                  <a:srgbClr val="202C33"/>
                </a:solidFill>
                <a:latin typeface="Calibri"/>
                <a:ea typeface="Calibri"/>
                <a:cs typeface="Calibri"/>
              </a:defRPr>
            </a:defPPr>
            <a:lvl1pPr>
              <a:defRPr sz="2400" b="0">
                <a:solidFill>
                  <a:srgbClr val="202C33"/>
                </a:solidFill>
                <a:latin typeface="Calibri"/>
                <a:ea typeface="Calibri"/>
                <a:cs typeface="Calibri"/>
              </a:defRPr>
            </a:lvl1pPr>
            <a:lvl2pPr>
              <a:defRPr sz="2400" b="0">
                <a:solidFill>
                  <a:srgbClr val="202C33"/>
                </a:solidFill>
                <a:latin typeface="Calibri"/>
                <a:ea typeface="Calibri"/>
                <a:cs typeface="Calibri"/>
              </a:defRPr>
            </a:lvl2pPr>
            <a:lvl3pPr>
              <a:defRPr sz="2400" b="0">
                <a:solidFill>
                  <a:srgbClr val="202C33"/>
                </a:solidFill>
                <a:latin typeface="Calibri"/>
                <a:ea typeface="Calibri"/>
                <a:cs typeface="Calibri"/>
              </a:defRPr>
            </a:lvl3pPr>
            <a:lvl4pPr>
              <a:defRPr sz="2400" b="0">
                <a:solidFill>
                  <a:srgbClr val="202C33"/>
                </a:solidFill>
                <a:latin typeface="Calibri"/>
                <a:ea typeface="Calibri"/>
                <a:cs typeface="Calibri"/>
              </a:defRPr>
            </a:lvl4pPr>
            <a:lvl5pPr>
              <a:defRPr sz="2400" b="0">
                <a:solidFill>
                  <a:srgbClr val="202C33"/>
                </a:solidFill>
                <a:latin typeface="Calibri"/>
                <a:ea typeface="Calibri"/>
                <a:cs typeface="Calibri"/>
              </a:defRPr>
            </a:lvl5pPr>
            <a:lvl6pPr>
              <a:defRPr sz="2400" b="0">
                <a:solidFill>
                  <a:srgbClr val="202C33"/>
                </a:solidFill>
                <a:latin typeface="Calibri"/>
                <a:ea typeface="Calibri"/>
                <a:cs typeface="Calibri"/>
              </a:defRPr>
            </a:lvl6pPr>
            <a:lvl7pPr>
              <a:defRPr sz="2400" b="0">
                <a:solidFill>
                  <a:srgbClr val="202C33"/>
                </a:solidFill>
                <a:latin typeface="Calibri"/>
                <a:ea typeface="Calibri"/>
                <a:cs typeface="Calibri"/>
              </a:defRPr>
            </a:lvl7pPr>
            <a:lvl8pPr>
              <a:defRPr sz="2400" b="0">
                <a:solidFill>
                  <a:srgbClr val="202C33"/>
                </a:solidFill>
                <a:latin typeface="Calibri"/>
                <a:ea typeface="Calibri"/>
                <a:cs typeface="Calibri"/>
              </a:defRPr>
            </a:lvl8pPr>
            <a:lvl9pPr>
              <a:defRPr sz="2400" b="0">
                <a:solidFill>
                  <a:srgbClr val="202C33"/>
                </a:solidFill>
                <a:latin typeface="Calibri"/>
                <a:ea typeface="Calibri"/>
                <a:cs typeface="Calibri"/>
              </a:defRPr>
            </a:lvl9pPr>
          </a:lstStyle>
          <a:p>
            <a:pPr>
              <a:defRPr sz="2400" b="0">
                <a:solidFill>
                  <a:srgbClr val="202C33"/>
                </a:solidFill>
                <a:latin typeface="Calibri"/>
                <a:ea typeface="Calibri"/>
                <a:cs typeface="Calibri"/>
              </a:defRPr>
            </a:pPr>
            <a:r>
              <a:rPr sz="1800" b="0">
                <a:solidFill>
                  <a:srgbClr val="202C33"/>
                </a:solidFill>
                <a:latin typeface="Calibri"/>
                <a:ea typeface="Calibri"/>
                <a:cs typeface="Calibri"/>
              </a:rPr>
              <a:t>Actuator force</a:t>
            </a:r>
          </a:p>
          <a:p>
            <a:endParaRPr sz="1800" b="0">
              <a:solidFill>
                <a:srgbClr val="202C33"/>
              </a:solidFill>
              <a:latin typeface="Calibri"/>
              <a:ea typeface="Calibri"/>
              <a:cs typeface="Calibri"/>
            </a:endParaRPr>
          </a:p>
          <a:p>
            <a:pPr>
              <a:defRPr sz="2400" b="0">
                <a:solidFill>
                  <a:srgbClr val="202C33"/>
                </a:solidFill>
                <a:latin typeface="Calibri"/>
                <a:ea typeface="Calibri"/>
                <a:cs typeface="Calibri"/>
              </a:defRPr>
            </a:pPr>
            <a:r>
              <a:rPr sz="1800" b="0">
                <a:solidFill>
                  <a:srgbClr val="202C33"/>
                </a:solidFill>
                <a:latin typeface="Calibri"/>
                <a:ea typeface="Calibri"/>
                <a:cs typeface="Calibri"/>
              </a:rPr>
              <a:t>Routing and attachment mechanics</a:t>
            </a:r>
          </a:p>
          <a:p>
            <a:endParaRPr sz="1800" b="0">
              <a:solidFill>
                <a:srgbClr val="202C33"/>
              </a:solidFill>
              <a:latin typeface="Calibri"/>
              <a:ea typeface="Calibri"/>
              <a:cs typeface="Calibri"/>
            </a:endParaRPr>
          </a:p>
          <a:p>
            <a:pPr>
              <a:defRPr sz="2400" b="0">
                <a:solidFill>
                  <a:srgbClr val="202C33"/>
                </a:solidFill>
                <a:latin typeface="Calibri"/>
                <a:ea typeface="Calibri"/>
                <a:cs typeface="Calibri"/>
              </a:defRPr>
            </a:pPr>
            <a:r>
              <a:rPr sz="1800" b="0">
                <a:solidFill>
                  <a:srgbClr val="202C33"/>
                </a:solidFill>
                <a:latin typeface="Calibri"/>
                <a:ea typeface="Calibri"/>
                <a:cs typeface="Calibri"/>
              </a:rPr>
              <a:t>Delivered joint torque</a:t>
            </a:r>
          </a:p>
        </p:txBody>
      </p:sp>
      <p:sp>
        <p:nvSpPr>
          <p:cNvPr id="6" name="Rectangle 5">
            <a:extLst>
              <a:ext uri="{FF2B5EF4-FFF2-40B4-BE49-F238E27FC236}">
                <a16:creationId xmlns:a16="http://schemas.microsoft.com/office/drawing/2014/main" id="{BD5CF41C-6BE7-247A-828C-19D916CAE278}"/>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Question 2: how much of the available force becomes useful torque?</a:t>
            </a:r>
          </a:p>
        </p:txBody>
      </p:sp>
      <p:sp>
        <p:nvSpPr>
          <p:cNvPr id="7" name="TextBox 6">
            <a:extLst>
              <a:ext uri="{FF2B5EF4-FFF2-40B4-BE49-F238E27FC236}">
                <a16:creationId xmlns:a16="http://schemas.microsoft.com/office/drawing/2014/main" id="{94F2509D-EFBB-84B6-1874-AC5A9F79DEAA}"/>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9</a:t>
            </a:r>
          </a:p>
        </p:txBody>
      </p:sp>
    </p:spTree>
    <p:extLst>
      <p:ext uri="{BB962C8B-B14F-4D97-AF65-F5344CB8AC3E}">
        <p14:creationId xmlns:p14="http://schemas.microsoft.com/office/powerpoint/2010/main" val="1428451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EA3C3C8F-04A0-BAD9-19A3-3AE2A3E52A77}"/>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Joint torque depends on force direction and moment arm</a:t>
            </a:r>
          </a:p>
        </p:txBody>
      </p:sp>
      <p:sp>
        <p:nvSpPr>
          <p:cNvPr id="3" name="Rectangle 2">
            <a:extLst>
              <a:ext uri="{FF2B5EF4-FFF2-40B4-BE49-F238E27FC236}">
                <a16:creationId xmlns:a16="http://schemas.microsoft.com/office/drawing/2014/main" id="{8427D2CE-1DEA-2C9B-8F20-5F68CED05353}"/>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sp>
        <p:nvSpPr>
          <p:cNvPr id="4" name="Oval 3">
            <a:extLst>
              <a:ext uri="{FF2B5EF4-FFF2-40B4-BE49-F238E27FC236}">
                <a16:creationId xmlns:a16="http://schemas.microsoft.com/office/drawing/2014/main" id="{6520FC98-9821-6043-D1D8-B52D0843160E}"/>
              </a:ext>
            </a:extLst>
          </p:cNvPr>
          <p:cNvSpPr>
            <a:spLocks noGrp="1"/>
          </p:cNvSpPr>
          <p:nvPr/>
        </p:nvSpPr>
        <p:spPr>
          <a:xfrm>
            <a:off x="1214438" y="3214688"/>
            <a:ext cx="185738" cy="185738"/>
          </a:xfrm>
          <a:prstGeom prst="ellipse">
            <a:avLst/>
          </a:prstGeom>
          <a:solidFill>
            <a:srgbClr val="B57C50"/>
          </a:solidFill>
          <a:ln w="9525">
            <a:solidFill>
              <a:srgbClr val="B57C50"/>
            </a:solidFill>
          </a:ln>
        </p:spPr>
      </p:sp>
      <p:sp>
        <p:nvSpPr>
          <p:cNvPr id="5" name="Oval 4">
            <a:extLst>
              <a:ext uri="{FF2B5EF4-FFF2-40B4-BE49-F238E27FC236}">
                <a16:creationId xmlns:a16="http://schemas.microsoft.com/office/drawing/2014/main" id="{86816185-B30E-9A19-902F-B866195A99B5}"/>
              </a:ext>
            </a:extLst>
          </p:cNvPr>
          <p:cNvSpPr>
            <a:spLocks noGrp="1"/>
          </p:cNvSpPr>
          <p:nvPr/>
        </p:nvSpPr>
        <p:spPr>
          <a:xfrm>
            <a:off x="3429001" y="1714501"/>
            <a:ext cx="157163" cy="157163"/>
          </a:xfrm>
          <a:prstGeom prst="ellipse">
            <a:avLst/>
          </a:prstGeom>
          <a:solidFill>
            <a:srgbClr val="006D77"/>
          </a:solidFill>
          <a:ln w="9525">
            <a:solidFill>
              <a:srgbClr val="006D77"/>
            </a:solidFill>
          </a:ln>
        </p:spPr>
      </p:sp>
      <p:sp>
        <p:nvSpPr>
          <p:cNvPr id="6" name="Straight Connector 5">
            <a:extLst>
              <a:ext uri="{FF2B5EF4-FFF2-40B4-BE49-F238E27FC236}">
                <a16:creationId xmlns:a16="http://schemas.microsoft.com/office/drawing/2014/main" id="{081A4B27-9C7C-9639-AD96-3D35E07C2722}"/>
              </a:ext>
            </a:extLst>
          </p:cNvPr>
          <p:cNvSpPr>
            <a:spLocks noGrp="1"/>
          </p:cNvSpPr>
          <p:nvPr/>
        </p:nvSpPr>
        <p:spPr>
          <a:xfrm flipV="1">
            <a:off x="1307307" y="1793082"/>
            <a:ext cx="2200275" cy="1514475"/>
          </a:xfrm>
          <a:prstGeom prst="line">
            <a:avLst/>
          </a:prstGeom>
          <a:ln w="28575">
            <a:solidFill>
              <a:srgbClr val="B57C50"/>
            </a:solidFill>
          </a:ln>
        </p:spPr>
      </p:sp>
      <p:sp>
        <p:nvSpPr>
          <p:cNvPr id="7" name="Arrow: Right 6">
            <a:extLst>
              <a:ext uri="{FF2B5EF4-FFF2-40B4-BE49-F238E27FC236}">
                <a16:creationId xmlns:a16="http://schemas.microsoft.com/office/drawing/2014/main" id="{7A376C15-83B2-428E-BE15-D4647F1A40F2}"/>
              </a:ext>
            </a:extLst>
          </p:cNvPr>
          <p:cNvSpPr>
            <a:spLocks noGrp="1"/>
          </p:cNvSpPr>
          <p:nvPr/>
        </p:nvSpPr>
        <p:spPr>
          <a:xfrm>
            <a:off x="3571876" y="1685926"/>
            <a:ext cx="1857375" cy="200025"/>
          </a:xfrm>
          <a:prstGeom prst="rightArrow">
            <a:avLst/>
          </a:prstGeom>
          <a:solidFill>
            <a:srgbClr val="B65C25"/>
          </a:solidFill>
          <a:ln w="9525">
            <a:solidFill>
              <a:srgbClr val="B65C25"/>
            </a:solidFill>
          </a:ln>
        </p:spPr>
      </p:sp>
      <p:sp>
        <p:nvSpPr>
          <p:cNvPr id="8" name="Straight Connector 7">
            <a:extLst>
              <a:ext uri="{FF2B5EF4-FFF2-40B4-BE49-F238E27FC236}">
                <a16:creationId xmlns:a16="http://schemas.microsoft.com/office/drawing/2014/main" id="{0DCD805D-F568-24F9-D41A-9D45BC73AC72}"/>
              </a:ext>
            </a:extLst>
          </p:cNvPr>
          <p:cNvSpPr>
            <a:spLocks noGrp="1"/>
          </p:cNvSpPr>
          <p:nvPr/>
        </p:nvSpPr>
        <p:spPr>
          <a:xfrm>
            <a:off x="1300163" y="1785938"/>
            <a:ext cx="4000500" cy="0"/>
          </a:xfrm>
          <a:prstGeom prst="line">
            <a:avLst/>
          </a:prstGeom>
          <a:ln w="19050">
            <a:solidFill>
              <a:srgbClr val="53616A"/>
            </a:solidFill>
            <a:prstDash val="dash"/>
          </a:ln>
        </p:spPr>
      </p:sp>
      <p:sp>
        <p:nvSpPr>
          <p:cNvPr id="9" name="Straight Connector 8">
            <a:extLst>
              <a:ext uri="{FF2B5EF4-FFF2-40B4-BE49-F238E27FC236}">
                <a16:creationId xmlns:a16="http://schemas.microsoft.com/office/drawing/2014/main" id="{60651107-66B5-0750-E853-D99261CCF79E}"/>
              </a:ext>
            </a:extLst>
          </p:cNvPr>
          <p:cNvSpPr>
            <a:spLocks noGrp="1"/>
          </p:cNvSpPr>
          <p:nvPr/>
        </p:nvSpPr>
        <p:spPr>
          <a:xfrm>
            <a:off x="1300163" y="1785938"/>
            <a:ext cx="0" cy="1500188"/>
          </a:xfrm>
          <a:prstGeom prst="line">
            <a:avLst/>
          </a:prstGeom>
          <a:ln w="28575">
            <a:solidFill>
              <a:srgbClr val="006D77"/>
            </a:solidFill>
          </a:ln>
        </p:spPr>
      </p:sp>
      <p:sp>
        <p:nvSpPr>
          <p:cNvPr id="10" name="Rectangle 9">
            <a:extLst>
              <a:ext uri="{FF2B5EF4-FFF2-40B4-BE49-F238E27FC236}">
                <a16:creationId xmlns:a16="http://schemas.microsoft.com/office/drawing/2014/main" id="{2750D8B9-2C49-5A61-7B37-4C10350799D1}"/>
              </a:ext>
            </a:extLst>
          </p:cNvPr>
          <p:cNvSpPr>
            <a:spLocks noGrp="1"/>
          </p:cNvSpPr>
          <p:nvPr/>
        </p:nvSpPr>
        <p:spPr>
          <a:xfrm>
            <a:off x="964407" y="3343275"/>
            <a:ext cx="428625" cy="357188"/>
          </a:xfrm>
          <a:prstGeom prst="rect">
            <a:avLst/>
          </a:prstGeom>
          <a:noFill/>
          <a:ln w="0">
            <a:noFill/>
          </a:ln>
        </p:spPr>
        <p:txBody>
          <a:bodyPr lIns="0" tIns="0" rIns="0" bIns="0" anchor="t"/>
          <a:lstStyle>
            <a:defPPr>
              <a:defRPr sz="2400" b="0">
                <a:solidFill>
                  <a:srgbClr val="202C33"/>
                </a:solidFill>
                <a:latin typeface="Calibri"/>
                <a:ea typeface="Calibri"/>
                <a:cs typeface="Calibri"/>
              </a:defRPr>
            </a:defPPr>
            <a:lvl1pPr>
              <a:defRPr sz="2400" b="0">
                <a:solidFill>
                  <a:srgbClr val="202C33"/>
                </a:solidFill>
                <a:latin typeface="Calibri"/>
                <a:ea typeface="Calibri"/>
                <a:cs typeface="Calibri"/>
              </a:defRPr>
            </a:lvl1pPr>
            <a:lvl2pPr>
              <a:defRPr sz="2400" b="0">
                <a:solidFill>
                  <a:srgbClr val="202C33"/>
                </a:solidFill>
                <a:latin typeface="Calibri"/>
                <a:ea typeface="Calibri"/>
                <a:cs typeface="Calibri"/>
              </a:defRPr>
            </a:lvl2pPr>
            <a:lvl3pPr>
              <a:defRPr sz="2400" b="0">
                <a:solidFill>
                  <a:srgbClr val="202C33"/>
                </a:solidFill>
                <a:latin typeface="Calibri"/>
                <a:ea typeface="Calibri"/>
                <a:cs typeface="Calibri"/>
              </a:defRPr>
            </a:lvl3pPr>
            <a:lvl4pPr>
              <a:defRPr sz="2400" b="0">
                <a:solidFill>
                  <a:srgbClr val="202C33"/>
                </a:solidFill>
                <a:latin typeface="Calibri"/>
                <a:ea typeface="Calibri"/>
                <a:cs typeface="Calibri"/>
              </a:defRPr>
            </a:lvl4pPr>
            <a:lvl5pPr>
              <a:defRPr sz="2400" b="0">
                <a:solidFill>
                  <a:srgbClr val="202C33"/>
                </a:solidFill>
                <a:latin typeface="Calibri"/>
                <a:ea typeface="Calibri"/>
                <a:cs typeface="Calibri"/>
              </a:defRPr>
            </a:lvl5pPr>
            <a:lvl6pPr>
              <a:defRPr sz="2400" b="0">
                <a:solidFill>
                  <a:srgbClr val="202C33"/>
                </a:solidFill>
                <a:latin typeface="Calibri"/>
                <a:ea typeface="Calibri"/>
                <a:cs typeface="Calibri"/>
              </a:defRPr>
            </a:lvl6pPr>
            <a:lvl7pPr>
              <a:defRPr sz="2400" b="0">
                <a:solidFill>
                  <a:srgbClr val="202C33"/>
                </a:solidFill>
                <a:latin typeface="Calibri"/>
                <a:ea typeface="Calibri"/>
                <a:cs typeface="Calibri"/>
              </a:defRPr>
            </a:lvl7pPr>
            <a:lvl8pPr>
              <a:defRPr sz="2400" b="0">
                <a:solidFill>
                  <a:srgbClr val="202C33"/>
                </a:solidFill>
                <a:latin typeface="Calibri"/>
                <a:ea typeface="Calibri"/>
                <a:cs typeface="Calibri"/>
              </a:defRPr>
            </a:lvl8pPr>
            <a:lvl9pPr>
              <a:defRPr sz="2400" b="0">
                <a:solidFill>
                  <a:srgbClr val="202C33"/>
                </a:solidFill>
                <a:latin typeface="Calibri"/>
                <a:ea typeface="Calibri"/>
                <a:cs typeface="Calibri"/>
              </a:defRPr>
            </a:lvl9pPr>
          </a:lstStyle>
          <a:p>
            <a:pPr>
              <a:defRPr sz="2400" b="0">
                <a:solidFill>
                  <a:srgbClr val="202C33"/>
                </a:solidFill>
                <a:latin typeface="Calibri"/>
                <a:ea typeface="Calibri"/>
                <a:cs typeface="Calibri"/>
              </a:defRPr>
            </a:pPr>
            <a:r>
              <a:rPr sz="1800" b="0">
                <a:solidFill>
                  <a:srgbClr val="202C33"/>
                </a:solidFill>
                <a:latin typeface="Calibri"/>
                <a:ea typeface="Calibri"/>
                <a:cs typeface="Calibri"/>
              </a:rPr>
              <a:t>O</a:t>
            </a:r>
          </a:p>
        </p:txBody>
      </p:sp>
      <p:sp>
        <p:nvSpPr>
          <p:cNvPr id="11" name="Rectangle 10">
            <a:extLst>
              <a:ext uri="{FF2B5EF4-FFF2-40B4-BE49-F238E27FC236}">
                <a16:creationId xmlns:a16="http://schemas.microsoft.com/office/drawing/2014/main" id="{B00BFCD7-1653-035C-CFAA-1F4770867F60}"/>
              </a:ext>
            </a:extLst>
          </p:cNvPr>
          <p:cNvSpPr>
            <a:spLocks noGrp="1"/>
          </p:cNvSpPr>
          <p:nvPr/>
        </p:nvSpPr>
        <p:spPr>
          <a:xfrm>
            <a:off x="3243264" y="1428750"/>
            <a:ext cx="428625" cy="321469"/>
          </a:xfrm>
          <a:prstGeom prst="rect">
            <a:avLst/>
          </a:prstGeom>
          <a:noFill/>
          <a:ln w="0">
            <a:noFill/>
          </a:ln>
        </p:spPr>
        <p:txBody>
          <a:bodyPr lIns="0" tIns="0" rIns="0" bIns="0" anchor="t"/>
          <a:lstStyle>
            <a:defPPr>
              <a:defRPr sz="2400" b="0">
                <a:solidFill>
                  <a:srgbClr val="202C33"/>
                </a:solidFill>
                <a:latin typeface="Calibri"/>
                <a:ea typeface="Calibri"/>
                <a:cs typeface="Calibri"/>
              </a:defRPr>
            </a:defPPr>
            <a:lvl1pPr>
              <a:defRPr sz="2400" b="0">
                <a:solidFill>
                  <a:srgbClr val="202C33"/>
                </a:solidFill>
                <a:latin typeface="Calibri"/>
                <a:ea typeface="Calibri"/>
                <a:cs typeface="Calibri"/>
              </a:defRPr>
            </a:lvl1pPr>
            <a:lvl2pPr>
              <a:defRPr sz="2400" b="0">
                <a:solidFill>
                  <a:srgbClr val="202C33"/>
                </a:solidFill>
                <a:latin typeface="Calibri"/>
                <a:ea typeface="Calibri"/>
                <a:cs typeface="Calibri"/>
              </a:defRPr>
            </a:lvl2pPr>
            <a:lvl3pPr>
              <a:defRPr sz="2400" b="0">
                <a:solidFill>
                  <a:srgbClr val="202C33"/>
                </a:solidFill>
                <a:latin typeface="Calibri"/>
                <a:ea typeface="Calibri"/>
                <a:cs typeface="Calibri"/>
              </a:defRPr>
            </a:lvl3pPr>
            <a:lvl4pPr>
              <a:defRPr sz="2400" b="0">
                <a:solidFill>
                  <a:srgbClr val="202C33"/>
                </a:solidFill>
                <a:latin typeface="Calibri"/>
                <a:ea typeface="Calibri"/>
                <a:cs typeface="Calibri"/>
              </a:defRPr>
            </a:lvl4pPr>
            <a:lvl5pPr>
              <a:defRPr sz="2400" b="0">
                <a:solidFill>
                  <a:srgbClr val="202C33"/>
                </a:solidFill>
                <a:latin typeface="Calibri"/>
                <a:ea typeface="Calibri"/>
                <a:cs typeface="Calibri"/>
              </a:defRPr>
            </a:lvl5pPr>
            <a:lvl6pPr>
              <a:defRPr sz="2400" b="0">
                <a:solidFill>
                  <a:srgbClr val="202C33"/>
                </a:solidFill>
                <a:latin typeface="Calibri"/>
                <a:ea typeface="Calibri"/>
                <a:cs typeface="Calibri"/>
              </a:defRPr>
            </a:lvl6pPr>
            <a:lvl7pPr>
              <a:defRPr sz="2400" b="0">
                <a:solidFill>
                  <a:srgbClr val="202C33"/>
                </a:solidFill>
                <a:latin typeface="Calibri"/>
                <a:ea typeface="Calibri"/>
                <a:cs typeface="Calibri"/>
              </a:defRPr>
            </a:lvl7pPr>
            <a:lvl8pPr>
              <a:defRPr sz="2400" b="0">
                <a:solidFill>
                  <a:srgbClr val="202C33"/>
                </a:solidFill>
                <a:latin typeface="Calibri"/>
                <a:ea typeface="Calibri"/>
                <a:cs typeface="Calibri"/>
              </a:defRPr>
            </a:lvl8pPr>
            <a:lvl9pPr>
              <a:defRPr sz="2400" b="0">
                <a:solidFill>
                  <a:srgbClr val="202C33"/>
                </a:solidFill>
                <a:latin typeface="Calibri"/>
                <a:ea typeface="Calibri"/>
                <a:cs typeface="Calibri"/>
              </a:defRPr>
            </a:lvl9pPr>
          </a:lstStyle>
          <a:p>
            <a:pPr>
              <a:defRPr sz="2400" b="0">
                <a:solidFill>
                  <a:srgbClr val="202C33"/>
                </a:solidFill>
                <a:latin typeface="Calibri"/>
                <a:ea typeface="Calibri"/>
                <a:cs typeface="Calibri"/>
              </a:defRPr>
            </a:pPr>
            <a:r>
              <a:rPr sz="1800" b="0">
                <a:solidFill>
                  <a:srgbClr val="202C33"/>
                </a:solidFill>
                <a:latin typeface="Calibri"/>
                <a:ea typeface="Calibri"/>
                <a:cs typeface="Calibri"/>
              </a:rPr>
              <a:t>p</a:t>
            </a:r>
          </a:p>
        </p:txBody>
      </p:sp>
      <p:sp>
        <p:nvSpPr>
          <p:cNvPr id="12" name="Rectangle 11">
            <a:extLst>
              <a:ext uri="{FF2B5EF4-FFF2-40B4-BE49-F238E27FC236}">
                <a16:creationId xmlns:a16="http://schemas.microsoft.com/office/drawing/2014/main" id="{65384A86-F8EE-8E3B-83EB-1E2BB0F5FE26}"/>
              </a:ext>
            </a:extLst>
          </p:cNvPr>
          <p:cNvSpPr>
            <a:spLocks noGrp="1"/>
          </p:cNvSpPr>
          <p:nvPr/>
        </p:nvSpPr>
        <p:spPr>
          <a:xfrm>
            <a:off x="2250281" y="2500313"/>
            <a:ext cx="571500" cy="321469"/>
          </a:xfrm>
          <a:prstGeom prst="rect">
            <a:avLst/>
          </a:prstGeom>
          <a:noFill/>
          <a:ln w="0">
            <a:noFill/>
          </a:ln>
        </p:spPr>
        <p:txBody>
          <a:bodyPr lIns="0" tIns="0" rIns="0" bIns="0" anchor="t"/>
          <a:lstStyle>
            <a:defPPr>
              <a:defRPr sz="2700" b="0">
                <a:solidFill>
                  <a:srgbClr val="202C33"/>
                </a:solidFill>
                <a:latin typeface="Calibri"/>
                <a:ea typeface="Calibri"/>
                <a:cs typeface="Calibri"/>
              </a:defRPr>
            </a:defPPr>
            <a:lvl1pPr>
              <a:defRPr sz="2700" b="0">
                <a:solidFill>
                  <a:srgbClr val="202C33"/>
                </a:solidFill>
                <a:latin typeface="Calibri"/>
                <a:ea typeface="Calibri"/>
                <a:cs typeface="Calibri"/>
              </a:defRPr>
            </a:lvl1pPr>
            <a:lvl2pPr>
              <a:defRPr sz="2700" b="0">
                <a:solidFill>
                  <a:srgbClr val="202C33"/>
                </a:solidFill>
                <a:latin typeface="Calibri"/>
                <a:ea typeface="Calibri"/>
                <a:cs typeface="Calibri"/>
              </a:defRPr>
            </a:lvl2pPr>
            <a:lvl3pPr>
              <a:defRPr sz="2700" b="0">
                <a:solidFill>
                  <a:srgbClr val="202C33"/>
                </a:solidFill>
                <a:latin typeface="Calibri"/>
                <a:ea typeface="Calibri"/>
                <a:cs typeface="Calibri"/>
              </a:defRPr>
            </a:lvl3pPr>
            <a:lvl4pPr>
              <a:defRPr sz="2700" b="0">
                <a:solidFill>
                  <a:srgbClr val="202C33"/>
                </a:solidFill>
                <a:latin typeface="Calibri"/>
                <a:ea typeface="Calibri"/>
                <a:cs typeface="Calibri"/>
              </a:defRPr>
            </a:lvl4pPr>
            <a:lvl5pPr>
              <a:defRPr sz="2700" b="0">
                <a:solidFill>
                  <a:srgbClr val="202C33"/>
                </a:solidFill>
                <a:latin typeface="Calibri"/>
                <a:ea typeface="Calibri"/>
                <a:cs typeface="Calibri"/>
              </a:defRPr>
            </a:lvl5pPr>
            <a:lvl6pPr>
              <a:defRPr sz="2700" b="0">
                <a:solidFill>
                  <a:srgbClr val="202C33"/>
                </a:solidFill>
                <a:latin typeface="Calibri"/>
                <a:ea typeface="Calibri"/>
                <a:cs typeface="Calibri"/>
              </a:defRPr>
            </a:lvl6pPr>
            <a:lvl7pPr>
              <a:defRPr sz="2700" b="0">
                <a:solidFill>
                  <a:srgbClr val="202C33"/>
                </a:solidFill>
                <a:latin typeface="Calibri"/>
                <a:ea typeface="Calibri"/>
                <a:cs typeface="Calibri"/>
              </a:defRPr>
            </a:lvl7pPr>
            <a:lvl8pPr>
              <a:defRPr sz="2700" b="0">
                <a:solidFill>
                  <a:srgbClr val="202C33"/>
                </a:solidFill>
                <a:latin typeface="Calibri"/>
                <a:ea typeface="Calibri"/>
                <a:cs typeface="Calibri"/>
              </a:defRPr>
            </a:lvl8pPr>
            <a:lvl9pPr>
              <a:defRPr sz="2700" b="0">
                <a:solidFill>
                  <a:srgbClr val="202C33"/>
                </a:solidFill>
                <a:latin typeface="Calibri"/>
                <a:ea typeface="Calibri"/>
                <a:cs typeface="Calibri"/>
              </a:defRPr>
            </a:lvl9pPr>
          </a:lstStyle>
          <a:p>
            <a:pPr>
              <a:defRPr sz="2700" b="0">
                <a:solidFill>
                  <a:srgbClr val="202C33"/>
                </a:solidFill>
                <a:latin typeface="Calibri"/>
                <a:ea typeface="Calibri"/>
                <a:cs typeface="Calibri"/>
              </a:defRPr>
            </a:pPr>
            <a:r>
              <a:rPr sz="2025" b="0">
                <a:solidFill>
                  <a:srgbClr val="202C33"/>
                </a:solidFill>
                <a:latin typeface="Calibri"/>
                <a:ea typeface="Calibri"/>
                <a:cs typeface="Calibri"/>
              </a:rPr>
              <a:t>r</a:t>
            </a:r>
          </a:p>
        </p:txBody>
      </p:sp>
      <p:sp>
        <p:nvSpPr>
          <p:cNvPr id="13" name="Rectangle 12">
            <a:extLst>
              <a:ext uri="{FF2B5EF4-FFF2-40B4-BE49-F238E27FC236}">
                <a16:creationId xmlns:a16="http://schemas.microsoft.com/office/drawing/2014/main" id="{5CE7A526-C6D2-AD1F-A1DA-970C015C9C8C}"/>
              </a:ext>
            </a:extLst>
          </p:cNvPr>
          <p:cNvSpPr>
            <a:spLocks noGrp="1"/>
          </p:cNvSpPr>
          <p:nvPr/>
        </p:nvSpPr>
        <p:spPr>
          <a:xfrm>
            <a:off x="4536281" y="1357313"/>
            <a:ext cx="642938" cy="321469"/>
          </a:xfrm>
          <a:prstGeom prst="rect">
            <a:avLst/>
          </a:prstGeom>
          <a:noFill/>
          <a:ln w="0">
            <a:noFill/>
          </a:ln>
        </p:spPr>
        <p:txBody>
          <a:bodyPr lIns="0" tIns="0" rIns="0" bIns="0" anchor="t"/>
          <a:lstStyle>
            <a:defPPr>
              <a:defRPr sz="2700" b="1">
                <a:solidFill>
                  <a:srgbClr val="B65C25"/>
                </a:solidFill>
                <a:latin typeface="Calibri"/>
                <a:ea typeface="Calibri"/>
                <a:cs typeface="Calibri"/>
              </a:defRPr>
            </a:defPPr>
            <a:lvl1pPr>
              <a:defRPr sz="2700" b="1">
                <a:solidFill>
                  <a:srgbClr val="B65C25"/>
                </a:solidFill>
                <a:latin typeface="Calibri"/>
                <a:ea typeface="Calibri"/>
                <a:cs typeface="Calibri"/>
              </a:defRPr>
            </a:lvl1pPr>
            <a:lvl2pPr>
              <a:defRPr sz="2700" b="1">
                <a:solidFill>
                  <a:srgbClr val="B65C25"/>
                </a:solidFill>
                <a:latin typeface="Calibri"/>
                <a:ea typeface="Calibri"/>
                <a:cs typeface="Calibri"/>
              </a:defRPr>
            </a:lvl2pPr>
            <a:lvl3pPr>
              <a:defRPr sz="2700" b="1">
                <a:solidFill>
                  <a:srgbClr val="B65C25"/>
                </a:solidFill>
                <a:latin typeface="Calibri"/>
                <a:ea typeface="Calibri"/>
                <a:cs typeface="Calibri"/>
              </a:defRPr>
            </a:lvl3pPr>
            <a:lvl4pPr>
              <a:defRPr sz="2700" b="1">
                <a:solidFill>
                  <a:srgbClr val="B65C25"/>
                </a:solidFill>
                <a:latin typeface="Calibri"/>
                <a:ea typeface="Calibri"/>
                <a:cs typeface="Calibri"/>
              </a:defRPr>
            </a:lvl4pPr>
            <a:lvl5pPr>
              <a:defRPr sz="2700" b="1">
                <a:solidFill>
                  <a:srgbClr val="B65C25"/>
                </a:solidFill>
                <a:latin typeface="Calibri"/>
                <a:ea typeface="Calibri"/>
                <a:cs typeface="Calibri"/>
              </a:defRPr>
            </a:lvl5pPr>
            <a:lvl6pPr>
              <a:defRPr sz="2700" b="1">
                <a:solidFill>
                  <a:srgbClr val="B65C25"/>
                </a:solidFill>
                <a:latin typeface="Calibri"/>
                <a:ea typeface="Calibri"/>
                <a:cs typeface="Calibri"/>
              </a:defRPr>
            </a:lvl6pPr>
            <a:lvl7pPr>
              <a:defRPr sz="2700" b="1">
                <a:solidFill>
                  <a:srgbClr val="B65C25"/>
                </a:solidFill>
                <a:latin typeface="Calibri"/>
                <a:ea typeface="Calibri"/>
                <a:cs typeface="Calibri"/>
              </a:defRPr>
            </a:lvl7pPr>
            <a:lvl8pPr>
              <a:defRPr sz="2700" b="1">
                <a:solidFill>
                  <a:srgbClr val="B65C25"/>
                </a:solidFill>
                <a:latin typeface="Calibri"/>
                <a:ea typeface="Calibri"/>
                <a:cs typeface="Calibri"/>
              </a:defRPr>
            </a:lvl8pPr>
            <a:lvl9pPr>
              <a:defRPr sz="2700" b="1">
                <a:solidFill>
                  <a:srgbClr val="B65C25"/>
                </a:solidFill>
                <a:latin typeface="Calibri"/>
                <a:ea typeface="Calibri"/>
                <a:cs typeface="Calibri"/>
              </a:defRPr>
            </a:lvl9pPr>
          </a:lstStyle>
          <a:p>
            <a:pPr>
              <a:defRPr sz="2700" b="1">
                <a:solidFill>
                  <a:srgbClr val="B65C25"/>
                </a:solidFill>
                <a:latin typeface="Calibri"/>
                <a:ea typeface="Calibri"/>
                <a:cs typeface="Calibri"/>
              </a:defRPr>
            </a:pPr>
            <a:r>
              <a:rPr sz="2025" b="1">
                <a:solidFill>
                  <a:srgbClr val="B65C25"/>
                </a:solidFill>
                <a:latin typeface="Calibri"/>
                <a:ea typeface="Calibri"/>
                <a:cs typeface="Calibri"/>
              </a:rPr>
              <a:t>F</a:t>
            </a:r>
          </a:p>
        </p:txBody>
      </p:sp>
      <p:sp>
        <p:nvSpPr>
          <p:cNvPr id="14" name="Rectangle 13">
            <a:extLst>
              <a:ext uri="{FF2B5EF4-FFF2-40B4-BE49-F238E27FC236}">
                <a16:creationId xmlns:a16="http://schemas.microsoft.com/office/drawing/2014/main" id="{4768ACA7-1F16-016A-A678-6D8A60BE147F}"/>
              </a:ext>
            </a:extLst>
          </p:cNvPr>
          <p:cNvSpPr>
            <a:spLocks noGrp="1"/>
          </p:cNvSpPr>
          <p:nvPr/>
        </p:nvSpPr>
        <p:spPr>
          <a:xfrm>
            <a:off x="678656" y="2357438"/>
            <a:ext cx="571500" cy="392906"/>
          </a:xfrm>
          <a:prstGeom prst="rect">
            <a:avLst/>
          </a:prstGeom>
          <a:noFill/>
          <a:ln w="0">
            <a:noFill/>
          </a:ln>
        </p:spPr>
        <p:txBody>
          <a:bodyPr lIns="0" tIns="0" rIns="0" bIns="0" anchor="t"/>
          <a:lstStyle>
            <a:defPPr>
              <a:defRPr sz="2550" b="1">
                <a:solidFill>
                  <a:srgbClr val="006D77"/>
                </a:solidFill>
                <a:latin typeface="Calibri"/>
                <a:ea typeface="Calibri"/>
                <a:cs typeface="Calibri"/>
              </a:defRPr>
            </a:defPPr>
            <a:lvl1pPr>
              <a:defRPr sz="2550" b="1">
                <a:solidFill>
                  <a:srgbClr val="006D77"/>
                </a:solidFill>
                <a:latin typeface="Calibri"/>
                <a:ea typeface="Calibri"/>
                <a:cs typeface="Calibri"/>
              </a:defRPr>
            </a:lvl1pPr>
            <a:lvl2pPr>
              <a:defRPr sz="2550" b="1">
                <a:solidFill>
                  <a:srgbClr val="006D77"/>
                </a:solidFill>
                <a:latin typeface="Calibri"/>
                <a:ea typeface="Calibri"/>
                <a:cs typeface="Calibri"/>
              </a:defRPr>
            </a:lvl2pPr>
            <a:lvl3pPr>
              <a:defRPr sz="2550" b="1">
                <a:solidFill>
                  <a:srgbClr val="006D77"/>
                </a:solidFill>
                <a:latin typeface="Calibri"/>
                <a:ea typeface="Calibri"/>
                <a:cs typeface="Calibri"/>
              </a:defRPr>
            </a:lvl3pPr>
            <a:lvl4pPr>
              <a:defRPr sz="2550" b="1">
                <a:solidFill>
                  <a:srgbClr val="006D77"/>
                </a:solidFill>
                <a:latin typeface="Calibri"/>
                <a:ea typeface="Calibri"/>
                <a:cs typeface="Calibri"/>
              </a:defRPr>
            </a:lvl4pPr>
            <a:lvl5pPr>
              <a:defRPr sz="2550" b="1">
                <a:solidFill>
                  <a:srgbClr val="006D77"/>
                </a:solidFill>
                <a:latin typeface="Calibri"/>
                <a:ea typeface="Calibri"/>
                <a:cs typeface="Calibri"/>
              </a:defRPr>
            </a:lvl5pPr>
            <a:lvl6pPr>
              <a:defRPr sz="2550" b="1">
                <a:solidFill>
                  <a:srgbClr val="006D77"/>
                </a:solidFill>
                <a:latin typeface="Calibri"/>
                <a:ea typeface="Calibri"/>
                <a:cs typeface="Calibri"/>
              </a:defRPr>
            </a:lvl6pPr>
            <a:lvl7pPr>
              <a:defRPr sz="2550" b="1">
                <a:solidFill>
                  <a:srgbClr val="006D77"/>
                </a:solidFill>
                <a:latin typeface="Calibri"/>
                <a:ea typeface="Calibri"/>
                <a:cs typeface="Calibri"/>
              </a:defRPr>
            </a:lvl7pPr>
            <a:lvl8pPr>
              <a:defRPr sz="2550" b="1">
                <a:solidFill>
                  <a:srgbClr val="006D77"/>
                </a:solidFill>
                <a:latin typeface="Calibri"/>
                <a:ea typeface="Calibri"/>
                <a:cs typeface="Calibri"/>
              </a:defRPr>
            </a:lvl8pPr>
            <a:lvl9pPr>
              <a:defRPr sz="2550" b="1">
                <a:solidFill>
                  <a:srgbClr val="006D77"/>
                </a:solidFill>
                <a:latin typeface="Calibri"/>
                <a:ea typeface="Calibri"/>
                <a:cs typeface="Calibri"/>
              </a:defRPr>
            </a:lvl9pPr>
          </a:lstStyle>
          <a:p>
            <a:pPr>
              <a:defRPr sz="2550" b="1">
                <a:solidFill>
                  <a:srgbClr val="006D77"/>
                </a:solidFill>
                <a:latin typeface="Calibri"/>
                <a:ea typeface="Calibri"/>
                <a:cs typeface="Calibri"/>
              </a:defRPr>
            </a:pPr>
            <a:r>
              <a:rPr sz="1913" b="1">
                <a:solidFill>
                  <a:srgbClr val="006D77"/>
                </a:solidFill>
                <a:latin typeface="Calibri"/>
                <a:ea typeface="Calibri"/>
                <a:cs typeface="Calibri"/>
              </a:rPr>
              <a:t>r⊥</a:t>
            </a:r>
          </a:p>
        </p:txBody>
      </p:sp>
      <p:sp>
        <p:nvSpPr>
          <p:cNvPr id="15" name="Rectangle 14">
            <a:extLst>
              <a:ext uri="{FF2B5EF4-FFF2-40B4-BE49-F238E27FC236}">
                <a16:creationId xmlns:a16="http://schemas.microsoft.com/office/drawing/2014/main" id="{06D47587-0456-99EC-ACC4-9C838116BEC2}"/>
              </a:ext>
            </a:extLst>
          </p:cNvPr>
          <p:cNvSpPr>
            <a:spLocks noGrp="1"/>
          </p:cNvSpPr>
          <p:nvPr/>
        </p:nvSpPr>
        <p:spPr>
          <a:xfrm>
            <a:off x="5857875" y="1785939"/>
            <a:ext cx="2857500" cy="500063"/>
          </a:xfrm>
          <a:prstGeom prst="rect">
            <a:avLst/>
          </a:prstGeom>
          <a:noFill/>
          <a:ln w="0">
            <a:noFill/>
          </a:ln>
        </p:spPr>
        <p:txBody>
          <a:bodyPr lIns="0" tIns="0" rIns="0" bIns="0" anchor="t"/>
          <a:lstStyle>
            <a:defPPr>
              <a:defRPr sz="2850" b="1">
                <a:solidFill>
                  <a:srgbClr val="B57C50"/>
                </a:solidFill>
                <a:latin typeface="Calibri"/>
                <a:ea typeface="Calibri"/>
                <a:cs typeface="Calibri"/>
              </a:defRPr>
            </a:defPPr>
            <a:lvl1pPr>
              <a:defRPr sz="2850" b="1">
                <a:solidFill>
                  <a:srgbClr val="B57C50"/>
                </a:solidFill>
                <a:latin typeface="Calibri"/>
                <a:ea typeface="Calibri"/>
                <a:cs typeface="Calibri"/>
              </a:defRPr>
            </a:lvl1pPr>
            <a:lvl2pPr>
              <a:defRPr sz="2850" b="1">
                <a:solidFill>
                  <a:srgbClr val="B57C50"/>
                </a:solidFill>
                <a:latin typeface="Calibri"/>
                <a:ea typeface="Calibri"/>
                <a:cs typeface="Calibri"/>
              </a:defRPr>
            </a:lvl2pPr>
            <a:lvl3pPr>
              <a:defRPr sz="2850" b="1">
                <a:solidFill>
                  <a:srgbClr val="B57C50"/>
                </a:solidFill>
                <a:latin typeface="Calibri"/>
                <a:ea typeface="Calibri"/>
                <a:cs typeface="Calibri"/>
              </a:defRPr>
            </a:lvl3pPr>
            <a:lvl4pPr>
              <a:defRPr sz="2850" b="1">
                <a:solidFill>
                  <a:srgbClr val="B57C50"/>
                </a:solidFill>
                <a:latin typeface="Calibri"/>
                <a:ea typeface="Calibri"/>
                <a:cs typeface="Calibri"/>
              </a:defRPr>
            </a:lvl4pPr>
            <a:lvl5pPr>
              <a:defRPr sz="2850" b="1">
                <a:solidFill>
                  <a:srgbClr val="B57C50"/>
                </a:solidFill>
                <a:latin typeface="Calibri"/>
                <a:ea typeface="Calibri"/>
                <a:cs typeface="Calibri"/>
              </a:defRPr>
            </a:lvl5pPr>
            <a:lvl6pPr>
              <a:defRPr sz="2850" b="1">
                <a:solidFill>
                  <a:srgbClr val="B57C50"/>
                </a:solidFill>
                <a:latin typeface="Calibri"/>
                <a:ea typeface="Calibri"/>
                <a:cs typeface="Calibri"/>
              </a:defRPr>
            </a:lvl6pPr>
            <a:lvl7pPr>
              <a:defRPr sz="2850" b="1">
                <a:solidFill>
                  <a:srgbClr val="B57C50"/>
                </a:solidFill>
                <a:latin typeface="Calibri"/>
                <a:ea typeface="Calibri"/>
                <a:cs typeface="Calibri"/>
              </a:defRPr>
            </a:lvl7pPr>
            <a:lvl8pPr>
              <a:defRPr sz="2850" b="1">
                <a:solidFill>
                  <a:srgbClr val="B57C50"/>
                </a:solidFill>
                <a:latin typeface="Calibri"/>
                <a:ea typeface="Calibri"/>
                <a:cs typeface="Calibri"/>
              </a:defRPr>
            </a:lvl8pPr>
            <a:lvl9pPr>
              <a:defRPr sz="2850" b="1">
                <a:solidFill>
                  <a:srgbClr val="B57C50"/>
                </a:solidFill>
                <a:latin typeface="Calibri"/>
                <a:ea typeface="Calibri"/>
                <a:cs typeface="Calibri"/>
              </a:defRPr>
            </a:lvl9pPr>
          </a:lstStyle>
          <a:p>
            <a:pPr>
              <a:defRPr sz="2850" b="1">
                <a:solidFill>
                  <a:srgbClr val="B57C50"/>
                </a:solidFill>
                <a:latin typeface="Calibri"/>
                <a:ea typeface="Calibri"/>
                <a:cs typeface="Calibri"/>
              </a:defRPr>
            </a:pPr>
            <a:r>
              <a:rPr sz="2138" b="1">
                <a:solidFill>
                  <a:srgbClr val="B57C50"/>
                </a:solidFill>
                <a:latin typeface="Calibri"/>
                <a:ea typeface="Calibri"/>
                <a:cs typeface="Calibri"/>
              </a:rPr>
              <a:t>τz = (r × F) · ẑ</a:t>
            </a:r>
          </a:p>
        </p:txBody>
      </p:sp>
      <p:sp>
        <p:nvSpPr>
          <p:cNvPr id="16" name="Rectangle 15">
            <a:extLst>
              <a:ext uri="{FF2B5EF4-FFF2-40B4-BE49-F238E27FC236}">
                <a16:creationId xmlns:a16="http://schemas.microsoft.com/office/drawing/2014/main" id="{F304D917-5054-C45F-E195-0AD1AF14C18C}"/>
              </a:ext>
            </a:extLst>
          </p:cNvPr>
          <p:cNvSpPr>
            <a:spLocks noGrp="1"/>
          </p:cNvSpPr>
          <p:nvPr/>
        </p:nvSpPr>
        <p:spPr>
          <a:xfrm>
            <a:off x="5857875" y="2500314"/>
            <a:ext cx="2857500" cy="500063"/>
          </a:xfrm>
          <a:prstGeom prst="rect">
            <a:avLst/>
          </a:prstGeom>
          <a:noFill/>
          <a:ln w="0">
            <a:noFill/>
          </a:ln>
        </p:spPr>
        <p:txBody>
          <a:bodyPr lIns="0" tIns="0" rIns="0" bIns="0" anchor="t"/>
          <a:lstStyle>
            <a:defPPr>
              <a:defRPr sz="2850" b="1">
                <a:solidFill>
                  <a:srgbClr val="006D77"/>
                </a:solidFill>
                <a:latin typeface="Calibri"/>
                <a:ea typeface="Calibri"/>
                <a:cs typeface="Calibri"/>
              </a:defRPr>
            </a:defPPr>
            <a:lvl1pPr>
              <a:defRPr sz="2850" b="1">
                <a:solidFill>
                  <a:srgbClr val="006D77"/>
                </a:solidFill>
                <a:latin typeface="Calibri"/>
                <a:ea typeface="Calibri"/>
                <a:cs typeface="Calibri"/>
              </a:defRPr>
            </a:lvl1pPr>
            <a:lvl2pPr>
              <a:defRPr sz="2850" b="1">
                <a:solidFill>
                  <a:srgbClr val="006D77"/>
                </a:solidFill>
                <a:latin typeface="Calibri"/>
                <a:ea typeface="Calibri"/>
                <a:cs typeface="Calibri"/>
              </a:defRPr>
            </a:lvl2pPr>
            <a:lvl3pPr>
              <a:defRPr sz="2850" b="1">
                <a:solidFill>
                  <a:srgbClr val="006D77"/>
                </a:solidFill>
                <a:latin typeface="Calibri"/>
                <a:ea typeface="Calibri"/>
                <a:cs typeface="Calibri"/>
              </a:defRPr>
            </a:lvl3pPr>
            <a:lvl4pPr>
              <a:defRPr sz="2850" b="1">
                <a:solidFill>
                  <a:srgbClr val="006D77"/>
                </a:solidFill>
                <a:latin typeface="Calibri"/>
                <a:ea typeface="Calibri"/>
                <a:cs typeface="Calibri"/>
              </a:defRPr>
            </a:lvl4pPr>
            <a:lvl5pPr>
              <a:defRPr sz="2850" b="1">
                <a:solidFill>
                  <a:srgbClr val="006D77"/>
                </a:solidFill>
                <a:latin typeface="Calibri"/>
                <a:ea typeface="Calibri"/>
                <a:cs typeface="Calibri"/>
              </a:defRPr>
            </a:lvl5pPr>
            <a:lvl6pPr>
              <a:defRPr sz="2850" b="1">
                <a:solidFill>
                  <a:srgbClr val="006D77"/>
                </a:solidFill>
                <a:latin typeface="Calibri"/>
                <a:ea typeface="Calibri"/>
                <a:cs typeface="Calibri"/>
              </a:defRPr>
            </a:lvl6pPr>
            <a:lvl7pPr>
              <a:defRPr sz="2850" b="1">
                <a:solidFill>
                  <a:srgbClr val="006D77"/>
                </a:solidFill>
                <a:latin typeface="Calibri"/>
                <a:ea typeface="Calibri"/>
                <a:cs typeface="Calibri"/>
              </a:defRPr>
            </a:lvl7pPr>
            <a:lvl8pPr>
              <a:defRPr sz="2850" b="1">
                <a:solidFill>
                  <a:srgbClr val="006D77"/>
                </a:solidFill>
                <a:latin typeface="Calibri"/>
                <a:ea typeface="Calibri"/>
                <a:cs typeface="Calibri"/>
              </a:defRPr>
            </a:lvl8pPr>
            <a:lvl9pPr>
              <a:defRPr sz="2850" b="1">
                <a:solidFill>
                  <a:srgbClr val="006D77"/>
                </a:solidFill>
                <a:latin typeface="Calibri"/>
                <a:ea typeface="Calibri"/>
                <a:cs typeface="Calibri"/>
              </a:defRPr>
            </a:lvl9pPr>
          </a:lstStyle>
          <a:p>
            <a:pPr>
              <a:defRPr sz="2850" b="1">
                <a:solidFill>
                  <a:srgbClr val="006D77"/>
                </a:solidFill>
                <a:latin typeface="Calibri"/>
                <a:ea typeface="Calibri"/>
                <a:cs typeface="Calibri"/>
              </a:defRPr>
            </a:pPr>
            <a:r>
              <a:rPr sz="2138" b="1">
                <a:solidFill>
                  <a:srgbClr val="006D77"/>
                </a:solidFill>
                <a:latin typeface="Calibri"/>
                <a:ea typeface="Calibri"/>
                <a:cs typeface="Calibri"/>
              </a:rPr>
              <a:t>|τz| = F r⊥</a:t>
            </a:r>
          </a:p>
        </p:txBody>
      </p:sp>
      <p:sp>
        <p:nvSpPr>
          <p:cNvPr id="17" name="Rectangle 16">
            <a:extLst>
              <a:ext uri="{FF2B5EF4-FFF2-40B4-BE49-F238E27FC236}">
                <a16:creationId xmlns:a16="http://schemas.microsoft.com/office/drawing/2014/main" id="{20AAC654-5EA1-ED5A-4764-E514E348D296}"/>
              </a:ext>
            </a:extLst>
          </p:cNvPr>
          <p:cNvSpPr>
            <a:spLocks noGrp="1"/>
          </p:cNvSpPr>
          <p:nvPr/>
        </p:nvSpPr>
        <p:spPr>
          <a:xfrm>
            <a:off x="5822157" y="3321844"/>
            <a:ext cx="2786063" cy="678656"/>
          </a:xfrm>
          <a:prstGeom prst="rect">
            <a:avLst/>
          </a:prstGeom>
          <a:noFill/>
          <a:ln w="0">
            <a:noFill/>
          </a:ln>
        </p:spPr>
        <p:txBody>
          <a:bodyPr lIns="0" tIns="0" rIns="0" bIns="0" anchor="t"/>
          <a:lstStyle>
            <a:defPPr>
              <a:defRPr sz="2250" b="0">
                <a:solidFill>
                  <a:srgbClr val="202C33"/>
                </a:solidFill>
                <a:latin typeface="Calibri"/>
                <a:ea typeface="Calibri"/>
                <a:cs typeface="Calibri"/>
              </a:defRPr>
            </a:defPPr>
            <a:lvl1pPr>
              <a:defRPr sz="2250" b="0">
                <a:solidFill>
                  <a:srgbClr val="202C33"/>
                </a:solidFill>
                <a:latin typeface="Calibri"/>
                <a:ea typeface="Calibri"/>
                <a:cs typeface="Calibri"/>
              </a:defRPr>
            </a:lvl1pPr>
            <a:lvl2pPr>
              <a:defRPr sz="2250" b="0">
                <a:solidFill>
                  <a:srgbClr val="202C33"/>
                </a:solidFill>
                <a:latin typeface="Calibri"/>
                <a:ea typeface="Calibri"/>
                <a:cs typeface="Calibri"/>
              </a:defRPr>
            </a:lvl2pPr>
            <a:lvl3pPr>
              <a:defRPr sz="2250" b="0">
                <a:solidFill>
                  <a:srgbClr val="202C33"/>
                </a:solidFill>
                <a:latin typeface="Calibri"/>
                <a:ea typeface="Calibri"/>
                <a:cs typeface="Calibri"/>
              </a:defRPr>
            </a:lvl3pPr>
            <a:lvl4pPr>
              <a:defRPr sz="2250" b="0">
                <a:solidFill>
                  <a:srgbClr val="202C33"/>
                </a:solidFill>
                <a:latin typeface="Calibri"/>
                <a:ea typeface="Calibri"/>
                <a:cs typeface="Calibri"/>
              </a:defRPr>
            </a:lvl4pPr>
            <a:lvl5pPr>
              <a:defRPr sz="2250" b="0">
                <a:solidFill>
                  <a:srgbClr val="202C33"/>
                </a:solidFill>
                <a:latin typeface="Calibri"/>
                <a:ea typeface="Calibri"/>
                <a:cs typeface="Calibri"/>
              </a:defRPr>
            </a:lvl5pPr>
            <a:lvl6pPr>
              <a:defRPr sz="2250" b="0">
                <a:solidFill>
                  <a:srgbClr val="202C33"/>
                </a:solidFill>
                <a:latin typeface="Calibri"/>
                <a:ea typeface="Calibri"/>
                <a:cs typeface="Calibri"/>
              </a:defRPr>
            </a:lvl6pPr>
            <a:lvl7pPr>
              <a:defRPr sz="2250" b="0">
                <a:solidFill>
                  <a:srgbClr val="202C33"/>
                </a:solidFill>
                <a:latin typeface="Calibri"/>
                <a:ea typeface="Calibri"/>
                <a:cs typeface="Calibri"/>
              </a:defRPr>
            </a:lvl7pPr>
            <a:lvl8pPr>
              <a:defRPr sz="2250" b="0">
                <a:solidFill>
                  <a:srgbClr val="202C33"/>
                </a:solidFill>
                <a:latin typeface="Calibri"/>
                <a:ea typeface="Calibri"/>
                <a:cs typeface="Calibri"/>
              </a:defRPr>
            </a:lvl8pPr>
            <a:lvl9pPr>
              <a:defRPr sz="2250" b="0">
                <a:solidFill>
                  <a:srgbClr val="202C33"/>
                </a:solidFill>
                <a:latin typeface="Calibri"/>
                <a:ea typeface="Calibri"/>
                <a:cs typeface="Calibri"/>
              </a:defRPr>
            </a:lvl9pPr>
          </a:lstStyle>
          <a:p>
            <a:pPr>
              <a:defRPr sz="2250" b="0">
                <a:solidFill>
                  <a:srgbClr val="202C33"/>
                </a:solidFill>
                <a:latin typeface="Calibri"/>
                <a:ea typeface="Calibri"/>
                <a:cs typeface="Calibri"/>
              </a:defRPr>
            </a:pPr>
            <a:r>
              <a:rPr sz="1688" b="0">
                <a:solidFill>
                  <a:srgbClr val="202C33"/>
                </a:solidFill>
                <a:latin typeface="Calibri"/>
                <a:ea typeface="Calibri"/>
                <a:cs typeface="Calibri"/>
              </a:rPr>
              <a:t>Routing also changes</a:t>
            </a:r>
          </a:p>
          <a:p>
            <a:pPr>
              <a:defRPr sz="2250" b="0">
                <a:solidFill>
                  <a:srgbClr val="202C33"/>
                </a:solidFill>
                <a:latin typeface="Calibri"/>
                <a:ea typeface="Calibri"/>
                <a:cs typeface="Calibri"/>
              </a:defRPr>
            </a:pPr>
            <a:r>
              <a:rPr sz="1688" b="0">
                <a:solidFill>
                  <a:srgbClr val="202C33"/>
                </a:solidFill>
                <a:latin typeface="Calibri"/>
                <a:ea typeface="Calibri"/>
                <a:cs typeface="Calibri"/>
              </a:rPr>
              <a:t>actuator length</a:t>
            </a:r>
          </a:p>
        </p:txBody>
      </p:sp>
      <p:sp>
        <p:nvSpPr>
          <p:cNvPr id="18" name="Rectangle 17">
            <a:extLst>
              <a:ext uri="{FF2B5EF4-FFF2-40B4-BE49-F238E27FC236}">
                <a16:creationId xmlns:a16="http://schemas.microsoft.com/office/drawing/2014/main" id="{BB99560A-F41F-C567-11B3-76D670752682}"/>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A force model needs a transmission model to predict delivered torque</a:t>
            </a:r>
          </a:p>
        </p:txBody>
      </p:sp>
      <p:sp>
        <p:nvSpPr>
          <p:cNvPr id="19" name="TextBox 18">
            <a:extLst>
              <a:ext uri="{FF2B5EF4-FFF2-40B4-BE49-F238E27FC236}">
                <a16:creationId xmlns:a16="http://schemas.microsoft.com/office/drawing/2014/main" id="{FE02B914-61E9-8C10-0889-D8DB5B828522}"/>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10</a:t>
            </a:r>
          </a:p>
        </p:txBody>
      </p:sp>
    </p:spTree>
    <p:extLst>
      <p:ext uri="{BB962C8B-B14F-4D97-AF65-F5344CB8AC3E}">
        <p14:creationId xmlns:p14="http://schemas.microsoft.com/office/powerpoint/2010/main" val="3583210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A75005A1-3B37-032E-CAD7-8A2679D646EE}"/>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Length, compliance, and wrapping alter usable contraction</a:t>
            </a:r>
          </a:p>
        </p:txBody>
      </p:sp>
      <p:sp>
        <p:nvSpPr>
          <p:cNvPr id="3" name="Rectangle 2">
            <a:extLst>
              <a:ext uri="{FF2B5EF4-FFF2-40B4-BE49-F238E27FC236}">
                <a16:creationId xmlns:a16="http://schemas.microsoft.com/office/drawing/2014/main" id="{4E561090-0461-B00B-7AF7-BD5B2CFA966F}"/>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650B6EE4-BF3A-0937-5FC6-41637BA9343C}"/>
              </a:ext>
            </a:extLst>
          </p:cNvPr>
          <p:cNvPicPr>
            <a:picLocks/>
          </p:cNvPicPr>
          <p:nvPr/>
        </p:nvPicPr>
        <p:blipFill>
          <a:blip r:embed="rId3"/>
          <a:stretch/>
        </p:blipFill>
        <p:spPr>
          <a:xfrm>
            <a:off x="743881" y="1214439"/>
            <a:ext cx="3834331" cy="3001961"/>
          </a:xfrm>
          <a:prstGeom prst="rect">
            <a:avLst/>
          </a:prstGeom>
        </p:spPr>
      </p:pic>
      <p:pic>
        <p:nvPicPr>
          <p:cNvPr id="5" name="Picture 4">
            <a:extLst>
              <a:ext uri="{FF2B5EF4-FFF2-40B4-BE49-F238E27FC236}">
                <a16:creationId xmlns:a16="http://schemas.microsoft.com/office/drawing/2014/main" id="{CC23D4E1-8443-0743-EC1C-6E71690567A7}"/>
              </a:ext>
            </a:extLst>
          </p:cNvPr>
          <p:cNvPicPr>
            <a:picLocks/>
          </p:cNvPicPr>
          <p:nvPr/>
        </p:nvPicPr>
        <p:blipFill>
          <a:blip r:embed="rId4"/>
          <a:stretch/>
        </p:blipFill>
        <p:spPr>
          <a:xfrm>
            <a:off x="5357813" y="1648268"/>
            <a:ext cx="3178969" cy="1025434"/>
          </a:xfrm>
          <a:prstGeom prst="rect">
            <a:avLst/>
          </a:prstGeom>
        </p:spPr>
      </p:pic>
      <p:sp>
        <p:nvSpPr>
          <p:cNvPr id="6" name="Rectangle 5">
            <a:extLst>
              <a:ext uri="{FF2B5EF4-FFF2-40B4-BE49-F238E27FC236}">
                <a16:creationId xmlns:a16="http://schemas.microsoft.com/office/drawing/2014/main" id="{020FB66E-1AE1-3EBC-BB72-4FD74856C2B4}"/>
              </a:ext>
            </a:extLst>
          </p:cNvPr>
          <p:cNvSpPr>
            <a:spLocks noGrp="1"/>
          </p:cNvSpPr>
          <p:nvPr/>
        </p:nvSpPr>
        <p:spPr>
          <a:xfrm>
            <a:off x="5393531" y="3107532"/>
            <a:ext cx="3214688" cy="1285875"/>
          </a:xfrm>
          <a:prstGeom prst="rect">
            <a:avLst/>
          </a:prstGeom>
          <a:noFill/>
          <a:ln w="0">
            <a:noFill/>
          </a:ln>
        </p:spPr>
        <p:txBody>
          <a:bodyPr lIns="0" tIns="0" rIns="0" bIns="0" anchor="t"/>
          <a:lstStyle>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a:pPr>
              <a:defRPr sz="2175" b="0">
                <a:solidFill>
                  <a:srgbClr val="202C33"/>
                </a:solidFill>
                <a:latin typeface="Calibri"/>
                <a:ea typeface="Calibri"/>
                <a:cs typeface="Calibri"/>
              </a:defRPr>
            </a:pPr>
            <a:r>
              <a:rPr sz="1631" b="0">
                <a:solidFill>
                  <a:srgbClr val="202C33"/>
                </a:solidFill>
                <a:latin typeface="Calibri"/>
                <a:ea typeface="Calibri"/>
                <a:cs typeface="Calibri"/>
              </a:rPr>
              <a:t>Constant offset</a:t>
            </a:r>
          </a:p>
          <a:p>
            <a:endParaRPr sz="1631" b="0">
              <a:solidFill>
                <a:srgbClr val="202C33"/>
              </a:solidFill>
              <a:latin typeface="Calibri"/>
              <a:ea typeface="Calibri"/>
              <a:cs typeface="Calibri"/>
            </a:endParaRPr>
          </a:p>
          <a:p>
            <a:pPr>
              <a:defRPr sz="2175" b="0">
                <a:solidFill>
                  <a:srgbClr val="202C33"/>
                </a:solidFill>
                <a:latin typeface="Calibri"/>
                <a:ea typeface="Calibri"/>
                <a:cs typeface="Calibri"/>
              </a:defRPr>
            </a:pPr>
            <a:r>
              <a:rPr sz="1631" b="0">
                <a:solidFill>
                  <a:srgbClr val="202C33"/>
                </a:solidFill>
                <a:latin typeface="Calibri"/>
                <a:ea typeface="Calibri"/>
                <a:cs typeface="Calibri"/>
              </a:rPr>
              <a:t>Load-dependent deflection</a:t>
            </a:r>
          </a:p>
          <a:p>
            <a:endParaRPr sz="1631" b="0">
              <a:solidFill>
                <a:srgbClr val="202C33"/>
              </a:solidFill>
              <a:latin typeface="Calibri"/>
              <a:ea typeface="Calibri"/>
              <a:cs typeface="Calibri"/>
            </a:endParaRPr>
          </a:p>
          <a:p>
            <a:pPr>
              <a:defRPr sz="2175" b="0">
                <a:solidFill>
                  <a:srgbClr val="202C33"/>
                </a:solidFill>
                <a:latin typeface="Calibri"/>
                <a:ea typeface="Calibri"/>
                <a:cs typeface="Calibri"/>
              </a:defRPr>
            </a:pPr>
            <a:r>
              <a:rPr sz="1631" b="0">
                <a:solidFill>
                  <a:srgbClr val="202C33"/>
                </a:solidFill>
                <a:latin typeface="Calibri"/>
                <a:ea typeface="Calibri"/>
                <a:cs typeface="Calibri"/>
              </a:rPr>
              <a:t>Contact-dependent length loss</a:t>
            </a:r>
          </a:p>
        </p:txBody>
      </p:sp>
      <p:sp>
        <p:nvSpPr>
          <p:cNvPr id="7" name="Rectangle 6">
            <a:extLst>
              <a:ext uri="{FF2B5EF4-FFF2-40B4-BE49-F238E27FC236}">
                <a16:creationId xmlns:a16="http://schemas.microsoft.com/office/drawing/2014/main" id="{61ED1AC3-FC6F-020D-52F0-6AEA7A7C78CB}"/>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The correction terms belong to the actuator–attachment system</a:t>
            </a:r>
          </a:p>
        </p:txBody>
      </p:sp>
      <p:sp>
        <p:nvSpPr>
          <p:cNvPr id="8" name="TextBox 7">
            <a:extLst>
              <a:ext uri="{FF2B5EF4-FFF2-40B4-BE49-F238E27FC236}">
                <a16:creationId xmlns:a16="http://schemas.microsoft.com/office/drawing/2014/main" id="{8261E6F3-8608-2A68-DE5E-874C14486007}"/>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11</a:t>
            </a:r>
          </a:p>
        </p:txBody>
      </p:sp>
    </p:spTree>
    <p:extLst>
      <p:ext uri="{BB962C8B-B14F-4D97-AF65-F5344CB8AC3E}">
        <p14:creationId xmlns:p14="http://schemas.microsoft.com/office/powerpoint/2010/main" val="2756640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E034B209-A45B-6092-CBBA-552D58E9D1E9}"/>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Corrections reduce error on held-out knee tests</a:t>
            </a:r>
          </a:p>
        </p:txBody>
      </p:sp>
      <p:sp>
        <p:nvSpPr>
          <p:cNvPr id="3" name="Rectangle 2">
            <a:extLst>
              <a:ext uri="{FF2B5EF4-FFF2-40B4-BE49-F238E27FC236}">
                <a16:creationId xmlns:a16="http://schemas.microsoft.com/office/drawing/2014/main" id="{D551DF2A-ECEE-479D-3806-2E3D5FE5605E}"/>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graphicFrame>
        <p:nvGraphicFramePr>
          <p:cNvPr id="4" name="Table 3">
            <a:extLst>
              <a:ext uri="{FF2B5EF4-FFF2-40B4-BE49-F238E27FC236}">
                <a16:creationId xmlns:a16="http://schemas.microsoft.com/office/drawing/2014/main" id="{410BFEFE-609D-C359-A2CC-2B9E98034C89}"/>
              </a:ext>
            </a:extLst>
          </p:cNvPr>
          <p:cNvGraphicFramePr>
            <a:graphicFrameLocks/>
          </p:cNvGraphicFramePr>
          <p:nvPr>
            <p:extLst>
              <p:ext uri="{D42A27DB-BD31-4B8C-83A1-F6EECF244321}">
                <p14:modId xmlns:p14="http://schemas.microsoft.com/office/powerpoint/2010/main" val="3942818885"/>
              </p:ext>
            </p:extLst>
          </p:nvPr>
        </p:nvGraphicFramePr>
        <p:xfrm>
          <a:off x="428625" y="1428750"/>
          <a:ext cx="8286750" cy="1630680"/>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582930">
                <a:tc>
                  <a:txBody>
                    <a:bodyPr/>
                    <a:lstStyle/>
                    <a:p>
                      <a:r>
                        <a:rPr sz="1688" b="1">
                          <a:solidFill>
                            <a:srgbClr val="006D77"/>
                          </a:solidFill>
                          <a:latin typeface="Calibri"/>
                          <a:ea typeface="Calibri"/>
                          <a:cs typeface="Calibri"/>
                        </a:rPr>
                        <a:t>Validation RMSE, N m</a:t>
                      </a:r>
                    </a:p>
                  </a:txBody>
                  <a:tcPr>
                    <a:solidFill>
                      <a:srgbClr val="FFFFFF"/>
                    </a:solidFill>
                  </a:tcPr>
                </a:tc>
                <a:tc>
                  <a:txBody>
                    <a:bodyPr/>
                    <a:lstStyle/>
                    <a:p>
                      <a:r>
                        <a:rPr sz="1688" b="1">
                          <a:solidFill>
                            <a:srgbClr val="006D77"/>
                          </a:solidFill>
                          <a:latin typeface="Calibri"/>
                          <a:ea typeface="Calibri"/>
                          <a:cs typeface="Calibri"/>
                        </a:rPr>
                        <a:t>No corrections</a:t>
                      </a:r>
                    </a:p>
                  </a:txBody>
                  <a:tcPr>
                    <a:solidFill>
                      <a:srgbClr val="FFFFFF"/>
                    </a:solidFill>
                  </a:tcPr>
                </a:tc>
                <a:tc>
                  <a:txBody>
                    <a:bodyPr/>
                    <a:lstStyle/>
                    <a:p>
                      <a:r>
                        <a:rPr sz="1688" b="1">
                          <a:solidFill>
                            <a:srgbClr val="006D77"/>
                          </a:solidFill>
                          <a:latin typeface="Calibri"/>
                          <a:ea typeface="Calibri"/>
                          <a:cs typeface="Calibri"/>
                        </a:rPr>
                        <a:t>Corrected</a:t>
                      </a:r>
                    </a:p>
                  </a:txBody>
                  <a:tcPr>
                    <a:solidFill>
                      <a:srgbClr val="FFFFFF"/>
                    </a:solidFill>
                  </a:tcPr>
                </a:tc>
                <a:extLst>
                  <a:ext uri="{0D108BD9-81ED-4DB2-BD59-A6C34878D82A}">
                    <a16:rowId xmlns:a16="http://schemas.microsoft.com/office/drawing/2014/main" val="10000"/>
                  </a:ext>
                </a:extLst>
              </a:tr>
              <a:tr h="523875">
                <a:tc>
                  <a:txBody>
                    <a:bodyPr/>
                    <a:lstStyle/>
                    <a:p>
                      <a:r>
                        <a:rPr sz="1688" b="0">
                          <a:solidFill>
                            <a:srgbClr val="202C33"/>
                          </a:solidFill>
                          <a:latin typeface="Calibri"/>
                          <a:ea typeface="Calibri"/>
                          <a:cs typeface="Calibri"/>
                        </a:rPr>
                        <a:t>Flexor, 2 tests</a:t>
                      </a:r>
                    </a:p>
                  </a:txBody>
                  <a:tcPr>
                    <a:solidFill>
                      <a:srgbClr val="FFFFFF"/>
                    </a:solidFill>
                  </a:tcPr>
                </a:tc>
                <a:tc>
                  <a:txBody>
                    <a:bodyPr/>
                    <a:lstStyle/>
                    <a:p>
                      <a:r>
                        <a:rPr sz="1688" b="0">
                          <a:solidFill>
                            <a:srgbClr val="202C33"/>
                          </a:solidFill>
                          <a:latin typeface="Calibri"/>
                          <a:ea typeface="Calibri"/>
                          <a:cs typeface="Calibri"/>
                        </a:rPr>
                        <a:t>7.588</a:t>
                      </a:r>
                    </a:p>
                  </a:txBody>
                  <a:tcPr>
                    <a:solidFill>
                      <a:srgbClr val="FFFFFF"/>
                    </a:solidFill>
                  </a:tcPr>
                </a:tc>
                <a:tc>
                  <a:txBody>
                    <a:bodyPr/>
                    <a:lstStyle/>
                    <a:p>
                      <a:r>
                        <a:rPr sz="1688" b="0">
                          <a:solidFill>
                            <a:srgbClr val="202C33"/>
                          </a:solidFill>
                          <a:latin typeface="Calibri"/>
                          <a:ea typeface="Calibri"/>
                          <a:cs typeface="Calibri"/>
                        </a:rPr>
                        <a:t>1.490</a:t>
                      </a:r>
                    </a:p>
                  </a:txBody>
                  <a:tcPr>
                    <a:solidFill>
                      <a:srgbClr val="FFFFFF"/>
                    </a:solidFill>
                  </a:tcPr>
                </a:tc>
                <a:extLst>
                  <a:ext uri="{0D108BD9-81ED-4DB2-BD59-A6C34878D82A}">
                    <a16:rowId xmlns:a16="http://schemas.microsoft.com/office/drawing/2014/main" val="10001"/>
                  </a:ext>
                </a:extLst>
              </a:tr>
              <a:tr h="523875">
                <a:tc>
                  <a:txBody>
                    <a:bodyPr/>
                    <a:lstStyle/>
                    <a:p>
                      <a:r>
                        <a:rPr sz="1688" b="0">
                          <a:solidFill>
                            <a:srgbClr val="202C33"/>
                          </a:solidFill>
                          <a:latin typeface="Calibri"/>
                          <a:ea typeface="Calibri"/>
                          <a:cs typeface="Calibri"/>
                        </a:rPr>
                        <a:t>Extensor, 3 tests</a:t>
                      </a:r>
                    </a:p>
                  </a:txBody>
                  <a:tcPr>
                    <a:solidFill>
                      <a:srgbClr val="FFFFFF"/>
                    </a:solidFill>
                  </a:tcPr>
                </a:tc>
                <a:tc>
                  <a:txBody>
                    <a:bodyPr/>
                    <a:lstStyle/>
                    <a:p>
                      <a:r>
                        <a:rPr sz="1688" b="0">
                          <a:solidFill>
                            <a:srgbClr val="202C33"/>
                          </a:solidFill>
                          <a:latin typeface="Calibri"/>
                          <a:ea typeface="Calibri"/>
                          <a:cs typeface="Calibri"/>
                        </a:rPr>
                        <a:t>2.554</a:t>
                      </a:r>
                    </a:p>
                  </a:txBody>
                  <a:tcPr>
                    <a:solidFill>
                      <a:srgbClr val="FFFFFF"/>
                    </a:solidFill>
                  </a:tcPr>
                </a:tc>
                <a:tc>
                  <a:txBody>
                    <a:bodyPr/>
                    <a:lstStyle/>
                    <a:p>
                      <a:r>
                        <a:rPr sz="1688" b="0">
                          <a:solidFill>
                            <a:srgbClr val="202C33"/>
                          </a:solidFill>
                          <a:latin typeface="Calibri"/>
                          <a:ea typeface="Calibri"/>
                          <a:cs typeface="Calibri"/>
                        </a:rPr>
                        <a:t>1.098</a:t>
                      </a:r>
                    </a:p>
                  </a:txBody>
                  <a:tcPr>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51F77144-C319-BB1C-0A02-A534FA26E76D}"/>
              </a:ext>
            </a:extLst>
          </p:cNvPr>
          <p:cNvSpPr>
            <a:spLocks noGrp="1"/>
          </p:cNvSpPr>
          <p:nvPr/>
        </p:nvSpPr>
        <p:spPr>
          <a:xfrm>
            <a:off x="464345" y="3393281"/>
            <a:ext cx="8143875" cy="357188"/>
          </a:xfrm>
          <a:prstGeom prst="rect">
            <a:avLst/>
          </a:prstGeom>
          <a:noFill/>
          <a:ln w="0">
            <a:noFill/>
          </a:ln>
        </p:spPr>
        <p:txBody>
          <a:bodyPr lIns="0" tIns="0" rIns="0" bIns="0" anchor="t"/>
          <a:lstStyle>
            <a:defPPr>
              <a:defRPr sz="2475" b="1">
                <a:solidFill>
                  <a:srgbClr val="006D77"/>
                </a:solidFill>
                <a:latin typeface="Calibri"/>
                <a:ea typeface="Calibri"/>
                <a:cs typeface="Calibri"/>
              </a:defRPr>
            </a:defPPr>
            <a:lvl1pPr>
              <a:defRPr sz="2475" b="1">
                <a:solidFill>
                  <a:srgbClr val="006D77"/>
                </a:solidFill>
                <a:latin typeface="Calibri"/>
                <a:ea typeface="Calibri"/>
                <a:cs typeface="Calibri"/>
              </a:defRPr>
            </a:lvl1pPr>
            <a:lvl2pPr>
              <a:defRPr sz="2475" b="1">
                <a:solidFill>
                  <a:srgbClr val="006D77"/>
                </a:solidFill>
                <a:latin typeface="Calibri"/>
                <a:ea typeface="Calibri"/>
                <a:cs typeface="Calibri"/>
              </a:defRPr>
            </a:lvl2pPr>
            <a:lvl3pPr>
              <a:defRPr sz="2475" b="1">
                <a:solidFill>
                  <a:srgbClr val="006D77"/>
                </a:solidFill>
                <a:latin typeface="Calibri"/>
                <a:ea typeface="Calibri"/>
                <a:cs typeface="Calibri"/>
              </a:defRPr>
            </a:lvl3pPr>
            <a:lvl4pPr>
              <a:defRPr sz="2475" b="1">
                <a:solidFill>
                  <a:srgbClr val="006D77"/>
                </a:solidFill>
                <a:latin typeface="Calibri"/>
                <a:ea typeface="Calibri"/>
                <a:cs typeface="Calibri"/>
              </a:defRPr>
            </a:lvl4pPr>
            <a:lvl5pPr>
              <a:defRPr sz="2475" b="1">
                <a:solidFill>
                  <a:srgbClr val="006D77"/>
                </a:solidFill>
                <a:latin typeface="Calibri"/>
                <a:ea typeface="Calibri"/>
                <a:cs typeface="Calibri"/>
              </a:defRPr>
            </a:lvl5pPr>
            <a:lvl6pPr>
              <a:defRPr sz="2475" b="1">
                <a:solidFill>
                  <a:srgbClr val="006D77"/>
                </a:solidFill>
                <a:latin typeface="Calibri"/>
                <a:ea typeface="Calibri"/>
                <a:cs typeface="Calibri"/>
              </a:defRPr>
            </a:lvl6pPr>
            <a:lvl7pPr>
              <a:defRPr sz="2475" b="1">
                <a:solidFill>
                  <a:srgbClr val="006D77"/>
                </a:solidFill>
                <a:latin typeface="Calibri"/>
                <a:ea typeface="Calibri"/>
                <a:cs typeface="Calibri"/>
              </a:defRPr>
            </a:lvl7pPr>
            <a:lvl8pPr>
              <a:defRPr sz="2475" b="1">
                <a:solidFill>
                  <a:srgbClr val="006D77"/>
                </a:solidFill>
                <a:latin typeface="Calibri"/>
                <a:ea typeface="Calibri"/>
                <a:cs typeface="Calibri"/>
              </a:defRPr>
            </a:lvl8pPr>
            <a:lvl9pPr>
              <a:defRPr sz="2475" b="1">
                <a:solidFill>
                  <a:srgbClr val="006D77"/>
                </a:solidFill>
                <a:latin typeface="Calibri"/>
                <a:ea typeface="Calibri"/>
                <a:cs typeface="Calibri"/>
              </a:defRPr>
            </a:lvl9pPr>
          </a:lstStyle>
          <a:p>
            <a:pPr>
              <a:defRPr sz="2475" b="1">
                <a:solidFill>
                  <a:srgbClr val="006D77"/>
                </a:solidFill>
                <a:latin typeface="Calibri"/>
                <a:ea typeface="Calibri"/>
                <a:cs typeface="Calibri"/>
              </a:defRPr>
            </a:pPr>
            <a:r>
              <a:rPr sz="1856" b="1">
                <a:solidFill>
                  <a:srgbClr val="006D77"/>
                </a:solidFill>
                <a:latin typeface="Calibri"/>
                <a:ea typeface="Calibri"/>
                <a:cs typeface="Calibri"/>
              </a:rPr>
              <a:t>Same stiffness pair across both configurations</a:t>
            </a:r>
          </a:p>
        </p:txBody>
      </p:sp>
      <p:sp>
        <p:nvSpPr>
          <p:cNvPr id="6" name="Rectangle 5">
            <a:extLst>
              <a:ext uri="{FF2B5EF4-FFF2-40B4-BE49-F238E27FC236}">
                <a16:creationId xmlns:a16="http://schemas.microsoft.com/office/drawing/2014/main" id="{B9122243-9818-9F2B-A8AA-D9CAA11A31AA}"/>
              </a:ext>
            </a:extLst>
          </p:cNvPr>
          <p:cNvSpPr>
            <a:spLocks noGrp="1"/>
          </p:cNvSpPr>
          <p:nvPr/>
        </p:nvSpPr>
        <p:spPr>
          <a:xfrm>
            <a:off x="464345" y="3929063"/>
            <a:ext cx="8143875" cy="357188"/>
          </a:xfrm>
          <a:prstGeom prst="rect">
            <a:avLst/>
          </a:prstGeom>
          <a:noFill/>
          <a:ln w="0">
            <a:noFill/>
          </a:ln>
        </p:spPr>
        <p:txBody>
          <a:bodyPr lIns="0" tIns="0" rIns="0" bIns="0" anchor="t"/>
          <a:lstStyle>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a:pPr>
              <a:defRPr sz="2175" b="0">
                <a:solidFill>
                  <a:srgbClr val="202C33"/>
                </a:solidFill>
                <a:latin typeface="Calibri"/>
                <a:ea typeface="Calibri"/>
                <a:cs typeface="Calibri"/>
              </a:defRPr>
            </a:pPr>
            <a:r>
              <a:rPr sz="1631" b="0">
                <a:solidFill>
                  <a:srgbClr val="202C33"/>
                </a:solidFill>
                <a:latin typeface="Calibri"/>
                <a:ea typeface="Calibri"/>
                <a:cs typeface="Calibri"/>
              </a:rPr>
              <a:t>Tests reserved before evaluating the adopted fit</a:t>
            </a:r>
          </a:p>
        </p:txBody>
      </p:sp>
      <p:sp>
        <p:nvSpPr>
          <p:cNvPr id="7" name="TextBox 6">
            <a:extLst>
              <a:ext uri="{FF2B5EF4-FFF2-40B4-BE49-F238E27FC236}">
                <a16:creationId xmlns:a16="http://schemas.microsoft.com/office/drawing/2014/main" id="{E4FD87EF-F649-40D3-01A2-F5BC5C1D5492}"/>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12</a:t>
            </a:r>
          </a:p>
        </p:txBody>
      </p:sp>
    </p:spTree>
    <p:extLst>
      <p:ext uri="{BB962C8B-B14F-4D97-AF65-F5344CB8AC3E}">
        <p14:creationId xmlns:p14="http://schemas.microsoft.com/office/powerpoint/2010/main" val="1621763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48D24620-CD79-3C37-6B2E-8E468E9228F8}"/>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corrected model guides a buildable two-BPA cam route</a:t>
            </a:r>
          </a:p>
        </p:txBody>
      </p:sp>
      <p:sp>
        <p:nvSpPr>
          <p:cNvPr id="3" name="Rectangle 2">
            <a:extLst>
              <a:ext uri="{FF2B5EF4-FFF2-40B4-BE49-F238E27FC236}">
                <a16:creationId xmlns:a16="http://schemas.microsoft.com/office/drawing/2014/main" id="{C324FCAC-F808-AB80-0EB7-4DE8B585C4B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F7D92047-779A-2493-790E-4EA1825A3099}"/>
              </a:ext>
            </a:extLst>
          </p:cNvPr>
          <p:cNvPicPr>
            <a:picLocks/>
          </p:cNvPicPr>
          <p:nvPr/>
        </p:nvPicPr>
        <p:blipFill>
          <a:blip r:embed="rId3"/>
          <a:stretch/>
        </p:blipFill>
        <p:spPr>
          <a:xfrm>
            <a:off x="1905292" y="1214438"/>
            <a:ext cx="1690105" cy="3001962"/>
          </a:xfrm>
          <a:prstGeom prst="rect">
            <a:avLst/>
          </a:prstGeom>
        </p:spPr>
      </p:pic>
      <p:sp>
        <p:nvSpPr>
          <p:cNvPr id="5" name="Rectangle 4">
            <a:extLst>
              <a:ext uri="{FF2B5EF4-FFF2-40B4-BE49-F238E27FC236}">
                <a16:creationId xmlns:a16="http://schemas.microsoft.com/office/drawing/2014/main" id="{A6538E3C-4296-DD5B-6AE4-1161BEC7B5C1}"/>
              </a:ext>
            </a:extLst>
          </p:cNvPr>
          <p:cNvSpPr>
            <a:spLocks noGrp="1"/>
          </p:cNvSpPr>
          <p:nvPr/>
        </p:nvSpPr>
        <p:spPr>
          <a:xfrm>
            <a:off x="5464969" y="1678781"/>
            <a:ext cx="3214688" cy="2357438"/>
          </a:xfrm>
          <a:prstGeom prst="rect">
            <a:avLst/>
          </a:prstGeom>
          <a:noFill/>
          <a:ln w="0">
            <a:noFill/>
          </a:ln>
        </p:spPr>
        <p:txBody>
          <a:bodyPr lIns="0" tIns="0" rIns="0" bIns="0" anchor="t"/>
          <a:lstStyle>
            <a:defPPr>
              <a:defRPr sz="2400" b="0">
                <a:solidFill>
                  <a:srgbClr val="202C33"/>
                </a:solidFill>
                <a:latin typeface="Calibri"/>
                <a:ea typeface="Calibri"/>
                <a:cs typeface="Calibri"/>
              </a:defRPr>
            </a:defPPr>
            <a:lvl1pPr>
              <a:defRPr sz="2400" b="0">
                <a:solidFill>
                  <a:srgbClr val="202C33"/>
                </a:solidFill>
                <a:latin typeface="Calibri"/>
                <a:ea typeface="Calibri"/>
                <a:cs typeface="Calibri"/>
              </a:defRPr>
            </a:lvl1pPr>
            <a:lvl2pPr>
              <a:defRPr sz="2400" b="0">
                <a:solidFill>
                  <a:srgbClr val="202C33"/>
                </a:solidFill>
                <a:latin typeface="Calibri"/>
                <a:ea typeface="Calibri"/>
                <a:cs typeface="Calibri"/>
              </a:defRPr>
            </a:lvl2pPr>
            <a:lvl3pPr>
              <a:defRPr sz="2400" b="0">
                <a:solidFill>
                  <a:srgbClr val="202C33"/>
                </a:solidFill>
                <a:latin typeface="Calibri"/>
                <a:ea typeface="Calibri"/>
                <a:cs typeface="Calibri"/>
              </a:defRPr>
            </a:lvl3pPr>
            <a:lvl4pPr>
              <a:defRPr sz="2400" b="0">
                <a:solidFill>
                  <a:srgbClr val="202C33"/>
                </a:solidFill>
                <a:latin typeface="Calibri"/>
                <a:ea typeface="Calibri"/>
                <a:cs typeface="Calibri"/>
              </a:defRPr>
            </a:lvl4pPr>
            <a:lvl5pPr>
              <a:defRPr sz="2400" b="0">
                <a:solidFill>
                  <a:srgbClr val="202C33"/>
                </a:solidFill>
                <a:latin typeface="Calibri"/>
                <a:ea typeface="Calibri"/>
                <a:cs typeface="Calibri"/>
              </a:defRPr>
            </a:lvl5pPr>
            <a:lvl6pPr>
              <a:defRPr sz="2400" b="0">
                <a:solidFill>
                  <a:srgbClr val="202C33"/>
                </a:solidFill>
                <a:latin typeface="Calibri"/>
                <a:ea typeface="Calibri"/>
                <a:cs typeface="Calibri"/>
              </a:defRPr>
            </a:lvl6pPr>
            <a:lvl7pPr>
              <a:defRPr sz="2400" b="0">
                <a:solidFill>
                  <a:srgbClr val="202C33"/>
                </a:solidFill>
                <a:latin typeface="Calibri"/>
                <a:ea typeface="Calibri"/>
                <a:cs typeface="Calibri"/>
              </a:defRPr>
            </a:lvl7pPr>
            <a:lvl8pPr>
              <a:defRPr sz="2400" b="0">
                <a:solidFill>
                  <a:srgbClr val="202C33"/>
                </a:solidFill>
                <a:latin typeface="Calibri"/>
                <a:ea typeface="Calibri"/>
                <a:cs typeface="Calibri"/>
              </a:defRPr>
            </a:lvl8pPr>
            <a:lvl9pPr>
              <a:defRPr sz="2400" b="0">
                <a:solidFill>
                  <a:srgbClr val="202C33"/>
                </a:solidFill>
                <a:latin typeface="Calibri"/>
                <a:ea typeface="Calibri"/>
                <a:cs typeface="Calibri"/>
              </a:defRPr>
            </a:lvl9pPr>
          </a:lstStyle>
          <a:p>
            <a:pPr>
              <a:defRPr sz="2400" b="0">
                <a:solidFill>
                  <a:srgbClr val="202C33"/>
                </a:solidFill>
                <a:latin typeface="Calibri"/>
                <a:ea typeface="Calibri"/>
                <a:cs typeface="Calibri"/>
              </a:defRPr>
            </a:pPr>
            <a:r>
              <a:rPr sz="1800" b="0">
                <a:solidFill>
                  <a:srgbClr val="202C33"/>
                </a:solidFill>
                <a:latin typeface="Calibri"/>
                <a:ea typeface="Calibri"/>
                <a:cs typeface="Calibri"/>
              </a:rPr>
              <a:t>Two 20 mm BPAs</a:t>
            </a:r>
          </a:p>
          <a:p>
            <a:endParaRPr sz="1800" b="0">
              <a:solidFill>
                <a:srgbClr val="202C33"/>
              </a:solidFill>
              <a:latin typeface="Calibri"/>
              <a:ea typeface="Calibri"/>
              <a:cs typeface="Calibri"/>
            </a:endParaRPr>
          </a:p>
          <a:p>
            <a:pPr>
              <a:defRPr sz="2400" b="0">
                <a:solidFill>
                  <a:srgbClr val="202C33"/>
                </a:solidFill>
                <a:latin typeface="Calibri"/>
                <a:ea typeface="Calibri"/>
                <a:cs typeface="Calibri"/>
              </a:defRPr>
            </a:pPr>
            <a:r>
              <a:rPr sz="1800" b="0">
                <a:solidFill>
                  <a:srgbClr val="202C33"/>
                </a:solidFill>
                <a:latin typeface="Calibri"/>
                <a:ea typeface="Calibri"/>
                <a:cs typeface="Calibri"/>
              </a:rPr>
              <a:t>Cam-assisted tendon path</a:t>
            </a:r>
          </a:p>
          <a:p>
            <a:endParaRPr sz="1800" b="0">
              <a:solidFill>
                <a:srgbClr val="202C33"/>
              </a:solidFill>
              <a:latin typeface="Calibri"/>
              <a:ea typeface="Calibri"/>
              <a:cs typeface="Calibri"/>
            </a:endParaRPr>
          </a:p>
          <a:p>
            <a:pPr>
              <a:defRPr sz="2400" b="0">
                <a:solidFill>
                  <a:srgbClr val="202C33"/>
                </a:solidFill>
                <a:latin typeface="Calibri"/>
                <a:ea typeface="Calibri"/>
                <a:cs typeface="Calibri"/>
              </a:defRPr>
            </a:pPr>
            <a:r>
              <a:rPr sz="1800" b="0">
                <a:solidFill>
                  <a:srgbClr val="202C33"/>
                </a:solidFill>
                <a:latin typeface="Calibri"/>
                <a:ea typeface="Calibri"/>
                <a:cs typeface="Calibri"/>
              </a:rPr>
              <a:t>Adopted transmission</a:t>
            </a:r>
          </a:p>
          <a:p>
            <a:pPr>
              <a:defRPr sz="2400" b="0">
                <a:solidFill>
                  <a:srgbClr val="202C33"/>
                </a:solidFill>
                <a:latin typeface="Calibri"/>
                <a:ea typeface="Calibri"/>
                <a:cs typeface="Calibri"/>
              </a:defRPr>
            </a:pPr>
            <a:r>
              <a:rPr sz="1800" b="0">
                <a:solidFill>
                  <a:srgbClr val="202C33"/>
                </a:solidFill>
                <a:latin typeface="Calibri"/>
                <a:ea typeface="Calibri"/>
                <a:cs typeface="Calibri"/>
              </a:rPr>
              <a:t>corrections guide the design</a:t>
            </a:r>
          </a:p>
        </p:txBody>
      </p:sp>
      <p:sp>
        <p:nvSpPr>
          <p:cNvPr id="6" name="Rectangle 5">
            <a:extLst>
              <a:ext uri="{FF2B5EF4-FFF2-40B4-BE49-F238E27FC236}">
                <a16:creationId xmlns:a16="http://schemas.microsoft.com/office/drawing/2014/main" id="{0F07A865-1407-56E8-2EA8-DE54DC22A4FC}"/>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The route must satisfy force, excursion, and geometric constraints</a:t>
            </a:r>
          </a:p>
        </p:txBody>
      </p:sp>
      <p:sp>
        <p:nvSpPr>
          <p:cNvPr id="7" name="TextBox 6">
            <a:extLst>
              <a:ext uri="{FF2B5EF4-FFF2-40B4-BE49-F238E27FC236}">
                <a16:creationId xmlns:a16="http://schemas.microsoft.com/office/drawing/2014/main" id="{C777824B-4C26-FCF8-FD96-F2EBC338D1BB}"/>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13</a:t>
            </a:r>
          </a:p>
        </p:txBody>
      </p:sp>
    </p:spTree>
    <p:extLst>
      <p:ext uri="{BB962C8B-B14F-4D97-AF65-F5344CB8AC3E}">
        <p14:creationId xmlns:p14="http://schemas.microsoft.com/office/powerpoint/2010/main" val="61570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192ACC23-FCBB-7B0F-5AF5-EB8EF70C9E13}"/>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All nine extensor measurements meet the human target</a:t>
            </a:r>
          </a:p>
        </p:txBody>
      </p:sp>
      <p:sp>
        <p:nvSpPr>
          <p:cNvPr id="3" name="Rectangle 2">
            <a:extLst>
              <a:ext uri="{FF2B5EF4-FFF2-40B4-BE49-F238E27FC236}">
                <a16:creationId xmlns:a16="http://schemas.microsoft.com/office/drawing/2014/main" id="{D19BD8AB-DAA9-4B1F-22E3-40EA757E23E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9E44E2EE-EE65-2A74-C3E5-28F690CF74C6}"/>
              </a:ext>
            </a:extLst>
          </p:cNvPr>
          <p:cNvPicPr>
            <a:picLocks/>
          </p:cNvPicPr>
          <p:nvPr/>
        </p:nvPicPr>
        <p:blipFill>
          <a:blip r:embed="rId3"/>
          <a:stretch/>
        </p:blipFill>
        <p:spPr>
          <a:xfrm>
            <a:off x="2699691" y="1143001"/>
            <a:ext cx="3744618" cy="3000375"/>
          </a:xfrm>
          <a:prstGeom prst="rect">
            <a:avLst/>
          </a:prstGeom>
        </p:spPr>
      </p:pic>
      <p:sp>
        <p:nvSpPr>
          <p:cNvPr id="5" name="Rectangle 4">
            <a:extLst>
              <a:ext uri="{FF2B5EF4-FFF2-40B4-BE49-F238E27FC236}">
                <a16:creationId xmlns:a16="http://schemas.microsoft.com/office/drawing/2014/main" id="{152938D5-E1CD-3790-2D1E-02FD85F553EC}"/>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9 of 9 target margins positive · +0.24 to +3.52 N m</a:t>
            </a:r>
          </a:p>
        </p:txBody>
      </p:sp>
      <p:sp>
        <p:nvSpPr>
          <p:cNvPr id="6" name="TextBox 5">
            <a:extLst>
              <a:ext uri="{FF2B5EF4-FFF2-40B4-BE49-F238E27FC236}">
                <a16:creationId xmlns:a16="http://schemas.microsoft.com/office/drawing/2014/main" id="{02D444D5-1BE3-70D9-2281-689DFD5B2660}"/>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14</a:t>
            </a:r>
          </a:p>
        </p:txBody>
      </p:sp>
    </p:spTree>
    <p:extLst>
      <p:ext uri="{BB962C8B-B14F-4D97-AF65-F5344CB8AC3E}">
        <p14:creationId xmlns:p14="http://schemas.microsoft.com/office/powerpoint/2010/main" val="3082214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0A1F3074-7449-F41A-8FAF-EC21C663FFB6}"/>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All fifteen flexor measurements meet the human target</a:t>
            </a:r>
          </a:p>
        </p:txBody>
      </p:sp>
      <p:sp>
        <p:nvSpPr>
          <p:cNvPr id="3" name="Rectangle 2">
            <a:extLst>
              <a:ext uri="{FF2B5EF4-FFF2-40B4-BE49-F238E27FC236}">
                <a16:creationId xmlns:a16="http://schemas.microsoft.com/office/drawing/2014/main" id="{5EC2BB54-451D-4D84-9096-A083046D08F8}"/>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B878215B-7D91-B379-F493-639CCE35A4C3}"/>
              </a:ext>
            </a:extLst>
          </p:cNvPr>
          <p:cNvPicPr>
            <a:picLocks/>
          </p:cNvPicPr>
          <p:nvPr/>
        </p:nvPicPr>
        <p:blipFill>
          <a:blip r:embed="rId3"/>
          <a:stretch/>
        </p:blipFill>
        <p:spPr>
          <a:xfrm>
            <a:off x="2168495" y="1143001"/>
            <a:ext cx="4807010" cy="3000375"/>
          </a:xfrm>
          <a:prstGeom prst="rect">
            <a:avLst/>
          </a:prstGeom>
        </p:spPr>
      </p:pic>
      <p:sp>
        <p:nvSpPr>
          <p:cNvPr id="5" name="Rectangle 4">
            <a:extLst>
              <a:ext uri="{FF2B5EF4-FFF2-40B4-BE49-F238E27FC236}">
                <a16:creationId xmlns:a16="http://schemas.microsoft.com/office/drawing/2014/main" id="{AB6E593C-7E80-FFEC-A0C3-6934A7BF8FC5}"/>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15 of 15 targets met · 226.5–638 kPa · negative torque denotes flexion</a:t>
            </a:r>
          </a:p>
        </p:txBody>
      </p:sp>
      <p:sp>
        <p:nvSpPr>
          <p:cNvPr id="6" name="TextBox 5">
            <a:extLst>
              <a:ext uri="{FF2B5EF4-FFF2-40B4-BE49-F238E27FC236}">
                <a16:creationId xmlns:a16="http://schemas.microsoft.com/office/drawing/2014/main" id="{78BEFCBD-C001-0C1E-CDB2-F44886D37591}"/>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15</a:t>
            </a:r>
          </a:p>
        </p:txBody>
      </p:sp>
    </p:spTree>
    <p:extLst>
      <p:ext uri="{BB962C8B-B14F-4D97-AF65-F5344CB8AC3E}">
        <p14:creationId xmlns:p14="http://schemas.microsoft.com/office/powerpoint/2010/main" val="3457537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E31A8C47-C6CF-6BB6-E8E0-08A4B9CD26CD}"/>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Measured capacity makes feedback design a meaningful next question</a:t>
            </a:r>
          </a:p>
        </p:txBody>
      </p:sp>
      <p:sp>
        <p:nvSpPr>
          <p:cNvPr id="3" name="Rectangle 2">
            <a:extLst>
              <a:ext uri="{FF2B5EF4-FFF2-40B4-BE49-F238E27FC236}">
                <a16:creationId xmlns:a16="http://schemas.microsoft.com/office/drawing/2014/main" id="{7DD7E215-9980-0B38-5CD9-94C4BB3AC49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graphicFrame>
        <p:nvGraphicFramePr>
          <p:cNvPr id="4" name="Table 3">
            <a:extLst>
              <a:ext uri="{FF2B5EF4-FFF2-40B4-BE49-F238E27FC236}">
                <a16:creationId xmlns:a16="http://schemas.microsoft.com/office/drawing/2014/main" id="{65BEFE74-08A5-4F14-BF5C-2CD3C272BCAC}"/>
              </a:ext>
            </a:extLst>
          </p:cNvPr>
          <p:cNvGraphicFramePr>
            <a:graphicFrameLocks/>
          </p:cNvGraphicFramePr>
          <p:nvPr>
            <p:extLst>
              <p:ext uri="{D42A27DB-BD31-4B8C-83A1-F6EECF244321}">
                <p14:modId xmlns:p14="http://schemas.microsoft.com/office/powerpoint/2010/main" val="4107578910"/>
              </p:ext>
            </p:extLst>
          </p:nvPr>
        </p:nvGraphicFramePr>
        <p:xfrm>
          <a:off x="428625" y="1464469"/>
          <a:ext cx="8286750" cy="2263140"/>
        </p:xfrm>
        <a:graphic>
          <a:graphicData uri="http://schemas.openxmlformats.org/drawingml/2006/table">
            <a:tbl>
              <a:tblPr/>
              <a:tblGrid>
                <a:gridCol w="4143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tblGrid>
              <a:tr h="565785">
                <a:tc>
                  <a:txBody>
                    <a:bodyPr/>
                    <a:lstStyle/>
                    <a:p>
                      <a:r>
                        <a:rPr sz="1631" b="1">
                          <a:solidFill>
                            <a:srgbClr val="006D77"/>
                          </a:solidFill>
                          <a:latin typeface="Calibri"/>
                          <a:ea typeface="Calibri"/>
                          <a:cs typeface="Calibri"/>
                        </a:rPr>
                        <a:t>Mechanical foundation established</a:t>
                      </a:r>
                    </a:p>
                  </a:txBody>
                  <a:tcPr>
                    <a:solidFill>
                      <a:srgbClr val="FFFFFF"/>
                    </a:solidFill>
                  </a:tcPr>
                </a:tc>
                <a:tc>
                  <a:txBody>
                    <a:bodyPr/>
                    <a:lstStyle/>
                    <a:p>
                      <a:r>
                        <a:rPr sz="1631" b="1">
                          <a:solidFill>
                            <a:srgbClr val="006D77"/>
                          </a:solidFill>
                          <a:latin typeface="Calibri"/>
                          <a:ea typeface="Calibri"/>
                          <a:cs typeface="Calibri"/>
                        </a:rPr>
                        <a:t>Next question</a:t>
                      </a:r>
                    </a:p>
                  </a:txBody>
                  <a:tcPr>
                    <a:solidFill>
                      <a:srgbClr val="FFFFFF"/>
                    </a:solidFill>
                  </a:tcPr>
                </a:tc>
                <a:extLst>
                  <a:ext uri="{0D108BD9-81ED-4DB2-BD59-A6C34878D82A}">
                    <a16:rowId xmlns:a16="http://schemas.microsoft.com/office/drawing/2014/main" val="10000"/>
                  </a:ext>
                </a:extLst>
              </a:tr>
              <a:tr h="565785">
                <a:tc>
                  <a:txBody>
                    <a:bodyPr/>
                    <a:lstStyle/>
                    <a:p>
                      <a:r>
                        <a:rPr sz="1631" b="0">
                          <a:solidFill>
                            <a:srgbClr val="202C33"/>
                          </a:solidFill>
                          <a:latin typeface="Calibri"/>
                          <a:ea typeface="Calibri"/>
                          <a:cs typeface="Calibri"/>
                        </a:rPr>
                        <a:t>Resting-length-aware force prediction</a:t>
                      </a:r>
                    </a:p>
                  </a:txBody>
                  <a:tcPr>
                    <a:solidFill>
                      <a:srgbClr val="FFFFFF"/>
                    </a:solidFill>
                  </a:tcPr>
                </a:tc>
                <a:tc>
                  <a:txBody>
                    <a:bodyPr/>
                    <a:lstStyle/>
                    <a:p>
                      <a:r>
                        <a:rPr sz="1631" b="0">
                          <a:solidFill>
                            <a:srgbClr val="202C33"/>
                          </a:solidFill>
                          <a:latin typeface="Calibri"/>
                          <a:ea typeface="Calibri"/>
                          <a:cs typeface="Calibri"/>
                        </a:rPr>
                        <a:t>Which sensory signals should regulate it?</a:t>
                      </a:r>
                    </a:p>
                  </a:txBody>
                  <a:tcPr>
                    <a:solidFill>
                      <a:srgbClr val="FFFFFF"/>
                    </a:solidFill>
                  </a:tcPr>
                </a:tc>
                <a:extLst>
                  <a:ext uri="{0D108BD9-81ED-4DB2-BD59-A6C34878D82A}">
                    <a16:rowId xmlns:a16="http://schemas.microsoft.com/office/drawing/2014/main" val="10001"/>
                  </a:ext>
                </a:extLst>
              </a:tr>
              <a:tr h="565785">
                <a:tc>
                  <a:txBody>
                    <a:bodyPr/>
                    <a:lstStyle/>
                    <a:p>
                      <a:r>
                        <a:rPr sz="1631" b="0">
                          <a:solidFill>
                            <a:srgbClr val="202C33"/>
                          </a:solidFill>
                          <a:latin typeface="Calibri"/>
                          <a:ea typeface="Calibri"/>
                          <a:cs typeface="Calibri"/>
                        </a:rPr>
                        <a:t>Corrections for the joint transmission</a:t>
                      </a:r>
                    </a:p>
                  </a:txBody>
                  <a:tcPr>
                    <a:solidFill>
                      <a:srgbClr val="FFFFFF"/>
                    </a:solidFill>
                  </a:tcPr>
                </a:tc>
                <a:tc>
                  <a:txBody>
                    <a:bodyPr/>
                    <a:lstStyle/>
                    <a:p>
                      <a:r>
                        <a:rPr sz="1631" b="0">
                          <a:solidFill>
                            <a:srgbClr val="202C33"/>
                          </a:solidFill>
                          <a:latin typeface="Calibri"/>
                          <a:ea typeface="Calibri"/>
                          <a:cs typeface="Calibri"/>
                        </a:rPr>
                        <a:t>Under what experimental conditions?</a:t>
                      </a:r>
                    </a:p>
                  </a:txBody>
                  <a:tcPr>
                    <a:solidFill>
                      <a:srgbClr val="FFFFFF"/>
                    </a:solidFill>
                  </a:tcPr>
                </a:tc>
                <a:extLst>
                  <a:ext uri="{0D108BD9-81ED-4DB2-BD59-A6C34878D82A}">
                    <a16:rowId xmlns:a16="http://schemas.microsoft.com/office/drawing/2014/main" val="10002"/>
                  </a:ext>
                </a:extLst>
              </a:tr>
              <a:tr h="565785">
                <a:tc>
                  <a:txBody>
                    <a:bodyPr/>
                    <a:lstStyle/>
                    <a:p>
                      <a:r>
                        <a:rPr sz="1631" b="0">
                          <a:solidFill>
                            <a:srgbClr val="202C33"/>
                          </a:solidFill>
                          <a:latin typeface="Calibri"/>
                          <a:ea typeface="Calibri"/>
                          <a:cs typeface="Calibri"/>
                        </a:rPr>
                        <a:t>9 extensor + 15 flexor target comparisons</a:t>
                      </a:r>
                    </a:p>
                  </a:txBody>
                  <a:tcPr>
                    <a:solidFill>
                      <a:srgbClr val="FFFFFF"/>
                    </a:solidFill>
                  </a:tcPr>
                </a:tc>
                <a:tc>
                  <a:txBody>
                    <a:bodyPr/>
                    <a:lstStyle/>
                    <a:p>
                      <a:r>
                        <a:rPr sz="1631" b="0">
                          <a:solidFill>
                            <a:srgbClr val="202C33"/>
                          </a:solidFill>
                          <a:latin typeface="Calibri"/>
                          <a:ea typeface="Calibri"/>
                          <a:cs typeface="Calibri"/>
                        </a:rPr>
                        <a:t>What pathway effect should be tested?</a:t>
                      </a:r>
                    </a:p>
                  </a:txBody>
                  <a:tcPr>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D86B6475-82AC-2A40-59E0-71AF6B3969EB}"/>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Mechanical capacity and sensory control answer different questions</a:t>
            </a:r>
          </a:p>
        </p:txBody>
      </p:sp>
      <p:sp>
        <p:nvSpPr>
          <p:cNvPr id="6" name="TextBox 5">
            <a:extLst>
              <a:ext uri="{FF2B5EF4-FFF2-40B4-BE49-F238E27FC236}">
                <a16:creationId xmlns:a16="http://schemas.microsoft.com/office/drawing/2014/main" id="{915A7A3D-9958-8670-5B40-D610892E3823}"/>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16</a:t>
            </a:r>
          </a:p>
        </p:txBody>
      </p:sp>
    </p:spTree>
    <p:extLst>
      <p:ext uri="{BB962C8B-B14F-4D97-AF65-F5344CB8AC3E}">
        <p14:creationId xmlns:p14="http://schemas.microsoft.com/office/powerpoint/2010/main" val="2332919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3EB574A4-B256-69B7-9A23-5AE298355197}"/>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Sensory findings are distributed across experimental contexts</a:t>
            </a:r>
          </a:p>
        </p:txBody>
      </p:sp>
      <p:sp>
        <p:nvSpPr>
          <p:cNvPr id="3" name="Rectangle 2">
            <a:extLst>
              <a:ext uri="{FF2B5EF4-FFF2-40B4-BE49-F238E27FC236}">
                <a16:creationId xmlns:a16="http://schemas.microsoft.com/office/drawing/2014/main" id="{2F24AFA8-6234-2FAB-916B-2AEBC305702E}"/>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5; Appendix E</a:t>
            </a:r>
          </a:p>
        </p:txBody>
      </p:sp>
      <p:graphicFrame>
        <p:nvGraphicFramePr>
          <p:cNvPr id="4" name="Table 3">
            <a:extLst>
              <a:ext uri="{FF2B5EF4-FFF2-40B4-BE49-F238E27FC236}">
                <a16:creationId xmlns:a16="http://schemas.microsoft.com/office/drawing/2014/main" id="{AEECC170-738F-B577-BFDB-DE65CA58A4D6}"/>
              </a:ext>
            </a:extLst>
          </p:cNvPr>
          <p:cNvGraphicFramePr>
            <a:graphicFrameLocks/>
          </p:cNvGraphicFramePr>
          <p:nvPr>
            <p:extLst>
              <p:ext uri="{D42A27DB-BD31-4B8C-83A1-F6EECF244321}">
                <p14:modId xmlns:p14="http://schemas.microsoft.com/office/powerpoint/2010/main" val="1369609401"/>
              </p:ext>
            </p:extLst>
          </p:nvPr>
        </p:nvGraphicFramePr>
        <p:xfrm>
          <a:off x="428625" y="1285875"/>
          <a:ext cx="8286750" cy="2696051"/>
        </p:xfrm>
        <a:graphic>
          <a:graphicData uri="http://schemas.openxmlformats.org/drawingml/2006/table">
            <a:tbl>
              <a:tblPr/>
              <a:tblGrid>
                <a:gridCol w="4143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tblGrid>
              <a:tr h="521494">
                <a:tc>
                  <a:txBody>
                    <a:bodyPr/>
                    <a:lstStyle/>
                    <a:p>
                      <a:r>
                        <a:rPr sz="1631" b="1">
                          <a:solidFill>
                            <a:srgbClr val="006D77"/>
                          </a:solidFill>
                          <a:latin typeface="Calibri"/>
                          <a:ea typeface="Calibri"/>
                          <a:cs typeface="Calibri"/>
                        </a:rPr>
                        <a:t>A modeling decision needs…</a:t>
                      </a:r>
                    </a:p>
                  </a:txBody>
                  <a:tcPr>
                    <a:solidFill>
                      <a:srgbClr val="FFFFFF"/>
                    </a:solidFill>
                  </a:tcPr>
                </a:tc>
                <a:tc>
                  <a:txBody>
                    <a:bodyPr/>
                    <a:lstStyle/>
                    <a:p>
                      <a:r>
                        <a:rPr sz="1631" b="1">
                          <a:solidFill>
                            <a:srgbClr val="006D77"/>
                          </a:solidFill>
                          <a:latin typeface="Calibri"/>
                          <a:ea typeface="Calibri"/>
                          <a:cs typeface="Calibri"/>
                        </a:rPr>
                        <a:t>The record must retain…</a:t>
                      </a:r>
                    </a:p>
                  </a:txBody>
                  <a:tcPr>
                    <a:solidFill>
                      <a:srgbClr val="FFFFFF"/>
                    </a:solidFill>
                  </a:tcPr>
                </a:tc>
                <a:extLst>
                  <a:ext uri="{0D108BD9-81ED-4DB2-BD59-A6C34878D82A}">
                    <a16:rowId xmlns:a16="http://schemas.microsoft.com/office/drawing/2014/main" val="10000"/>
                  </a:ext>
                </a:extLst>
              </a:tr>
              <a:tr h="521494">
                <a:tc>
                  <a:txBody>
                    <a:bodyPr/>
                    <a:lstStyle/>
                    <a:p>
                      <a:r>
                        <a:rPr sz="1631" b="0">
                          <a:solidFill>
                            <a:srgbClr val="202C33"/>
                          </a:solidFill>
                          <a:latin typeface="Calibri"/>
                          <a:ea typeface="Calibri"/>
                          <a:cs typeface="Calibri"/>
                        </a:rPr>
                        <a:t>A sensory signal</a:t>
                      </a:r>
                    </a:p>
                  </a:txBody>
                  <a:tcPr>
                    <a:solidFill>
                      <a:srgbClr val="FFFFFF"/>
                    </a:solidFill>
                  </a:tcPr>
                </a:tc>
                <a:tc>
                  <a:txBody>
                    <a:bodyPr/>
                    <a:lstStyle/>
                    <a:p>
                      <a:r>
                        <a:rPr sz="1631" b="0">
                          <a:solidFill>
                            <a:srgbClr val="202C33"/>
                          </a:solidFill>
                          <a:latin typeface="Calibri"/>
                          <a:ea typeface="Calibri"/>
                          <a:cs typeface="Calibri"/>
                        </a:rPr>
                        <a:t>Receptor and measured quantity</a:t>
                      </a:r>
                    </a:p>
                  </a:txBody>
                  <a:tcPr>
                    <a:solidFill>
                      <a:srgbClr val="FFFFFF"/>
                    </a:solidFill>
                  </a:tcPr>
                </a:tc>
                <a:extLst>
                  <a:ext uri="{0D108BD9-81ED-4DB2-BD59-A6C34878D82A}">
                    <a16:rowId xmlns:a16="http://schemas.microsoft.com/office/drawing/2014/main" val="10001"/>
                  </a:ext>
                </a:extLst>
              </a:tr>
              <a:tr h="565785">
                <a:tc>
                  <a:txBody>
                    <a:bodyPr/>
                    <a:lstStyle/>
                    <a:p>
                      <a:r>
                        <a:rPr sz="1631" b="0">
                          <a:solidFill>
                            <a:srgbClr val="202C33"/>
                          </a:solidFill>
                          <a:latin typeface="Calibri"/>
                          <a:ea typeface="Calibri"/>
                          <a:cs typeface="Calibri"/>
                        </a:rPr>
                        <a:t>A connection sign</a:t>
                      </a:r>
                    </a:p>
                  </a:txBody>
                  <a:tcPr>
                    <a:solidFill>
                      <a:srgbClr val="FFFFFF"/>
                    </a:solidFill>
                  </a:tcPr>
                </a:tc>
                <a:tc>
                  <a:txBody>
                    <a:bodyPr/>
                    <a:lstStyle/>
                    <a:p>
                      <a:r>
                        <a:rPr sz="1631" b="0">
                          <a:solidFill>
                            <a:srgbClr val="202C33"/>
                          </a:solidFill>
                          <a:latin typeface="Calibri"/>
                          <a:ea typeface="Calibri"/>
                          <a:cs typeface="Calibri"/>
                        </a:rPr>
                        <a:t>Target pathway and experimental conditions</a:t>
                      </a:r>
                    </a:p>
                  </a:txBody>
                  <a:tcPr>
                    <a:solidFill>
                      <a:srgbClr val="FFFFFF"/>
                    </a:solidFill>
                  </a:tcPr>
                </a:tc>
                <a:extLst>
                  <a:ext uri="{0D108BD9-81ED-4DB2-BD59-A6C34878D82A}">
                    <a16:rowId xmlns:a16="http://schemas.microsoft.com/office/drawing/2014/main" val="10002"/>
                  </a:ext>
                </a:extLst>
              </a:tr>
              <a:tr h="565785">
                <a:tc>
                  <a:txBody>
                    <a:bodyPr/>
                    <a:lstStyle/>
                    <a:p>
                      <a:r>
                        <a:rPr sz="1631" b="0">
                          <a:solidFill>
                            <a:srgbClr val="202C33"/>
                          </a:solidFill>
                          <a:latin typeface="Calibri"/>
                          <a:ea typeface="Calibri"/>
                          <a:cs typeface="Calibri"/>
                        </a:rPr>
                        <a:t>A task-dependent effect</a:t>
                      </a:r>
                    </a:p>
                  </a:txBody>
                  <a:tcPr>
                    <a:solidFill>
                      <a:srgbClr val="FFFFFF"/>
                    </a:solidFill>
                  </a:tcPr>
                </a:tc>
                <a:tc>
                  <a:txBody>
                    <a:bodyPr/>
                    <a:lstStyle/>
                    <a:p>
                      <a:r>
                        <a:rPr sz="1631" b="0">
                          <a:solidFill>
                            <a:srgbClr val="202C33"/>
                          </a:solidFill>
                          <a:latin typeface="Calibri"/>
                          <a:ea typeface="Calibri"/>
                          <a:cs typeface="Calibri"/>
                        </a:rPr>
                        <a:t>Species, preparation, and behavioral phase</a:t>
                      </a:r>
                    </a:p>
                  </a:txBody>
                  <a:tcPr>
                    <a:solidFill>
                      <a:srgbClr val="FFFFFF"/>
                    </a:solidFill>
                  </a:tcPr>
                </a:tc>
                <a:extLst>
                  <a:ext uri="{0D108BD9-81ED-4DB2-BD59-A6C34878D82A}">
                    <a16:rowId xmlns:a16="http://schemas.microsoft.com/office/drawing/2014/main" val="10003"/>
                  </a:ext>
                </a:extLst>
              </a:tr>
              <a:tr h="521494">
                <a:tc>
                  <a:txBody>
                    <a:bodyPr/>
                    <a:lstStyle/>
                    <a:p>
                      <a:r>
                        <a:rPr sz="1631" b="0">
                          <a:solidFill>
                            <a:srgbClr val="202C33"/>
                          </a:solidFill>
                          <a:latin typeface="Calibri"/>
                          <a:ea typeface="Calibri"/>
                          <a:cs typeface="Calibri"/>
                        </a:rPr>
                        <a:t>A defensible assumption</a:t>
                      </a:r>
                    </a:p>
                  </a:txBody>
                  <a:tcPr>
                    <a:solidFill>
                      <a:srgbClr val="FFFFFF"/>
                    </a:solidFill>
                  </a:tcPr>
                </a:tc>
                <a:tc>
                  <a:txBody>
                    <a:bodyPr/>
                    <a:lstStyle/>
                    <a:p>
                      <a:r>
                        <a:rPr sz="1631" b="0">
                          <a:solidFill>
                            <a:srgbClr val="202C33"/>
                          </a:solidFill>
                          <a:latin typeface="Calibri"/>
                          <a:ea typeface="Calibri"/>
                          <a:cs typeface="Calibri"/>
                        </a:rPr>
                        <a:t>Source paper and translation notes</a:t>
                      </a:r>
                    </a:p>
                  </a:txBody>
                  <a:tcPr>
                    <a:solidFill>
                      <a:srgbClr val="FFFFFF"/>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1DD7AAE2-70A1-B01A-B7B5-EB640F420DAC}"/>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17</a:t>
            </a:r>
          </a:p>
        </p:txBody>
      </p:sp>
    </p:spTree>
    <p:extLst>
      <p:ext uri="{BB962C8B-B14F-4D97-AF65-F5344CB8AC3E}">
        <p14:creationId xmlns:p14="http://schemas.microsoft.com/office/powerpoint/2010/main" val="136709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77F7832B-7861-6AF2-AB72-848DD264CE80}"/>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SADb makes sensory evidence traceable to its source context</a:t>
            </a:r>
          </a:p>
        </p:txBody>
      </p:sp>
      <p:sp>
        <p:nvSpPr>
          <p:cNvPr id="3" name="Rectangle 2">
            <a:extLst>
              <a:ext uri="{FF2B5EF4-FFF2-40B4-BE49-F238E27FC236}">
                <a16:creationId xmlns:a16="http://schemas.microsoft.com/office/drawing/2014/main" id="{1EEE340C-484C-8E11-EDD4-61A64709BA36}"/>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5, The Resource · Appendix E, distributed app snapshot</a:t>
            </a:r>
          </a:p>
        </p:txBody>
      </p:sp>
      <p:pic>
        <p:nvPicPr>
          <p:cNvPr id="4" name="Picture 3">
            <a:extLst>
              <a:ext uri="{FF2B5EF4-FFF2-40B4-BE49-F238E27FC236}">
                <a16:creationId xmlns:a16="http://schemas.microsoft.com/office/drawing/2014/main" id="{024E910E-7A96-6E96-66B9-D16020314717}"/>
              </a:ext>
            </a:extLst>
          </p:cNvPr>
          <p:cNvPicPr>
            <a:picLocks/>
          </p:cNvPicPr>
          <p:nvPr/>
        </p:nvPicPr>
        <p:blipFill>
          <a:blip r:embed="rId3"/>
          <a:stretch/>
        </p:blipFill>
        <p:spPr>
          <a:xfrm>
            <a:off x="1993367" y="1214439"/>
            <a:ext cx="5157269" cy="3001961"/>
          </a:xfrm>
          <a:prstGeom prst="rect">
            <a:avLst/>
          </a:prstGeom>
        </p:spPr>
      </p:pic>
      <p:sp>
        <p:nvSpPr>
          <p:cNvPr id="5" name="Rectangle 4">
            <a:extLst>
              <a:ext uri="{FF2B5EF4-FFF2-40B4-BE49-F238E27FC236}">
                <a16:creationId xmlns:a16="http://schemas.microsoft.com/office/drawing/2014/main" id="{497BE2E8-E94B-801F-E14C-CF60CA319F51}"/>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1,393 total records · search, pivot, and follow citation links</a:t>
            </a:r>
          </a:p>
        </p:txBody>
      </p:sp>
      <p:sp>
        <p:nvSpPr>
          <p:cNvPr id="6" name="TextBox 5">
            <a:extLst>
              <a:ext uri="{FF2B5EF4-FFF2-40B4-BE49-F238E27FC236}">
                <a16:creationId xmlns:a16="http://schemas.microsoft.com/office/drawing/2014/main" id="{5F672C78-C12F-E5D7-1362-6FF3B6744BDF}"/>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18</a:t>
            </a:r>
          </a:p>
        </p:txBody>
      </p:sp>
    </p:spTree>
    <p:extLst>
      <p:ext uri="{BB962C8B-B14F-4D97-AF65-F5344CB8AC3E}">
        <p14:creationId xmlns:p14="http://schemas.microsoft.com/office/powerpoint/2010/main" val="3471507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cxnSp>
        <p:nvCxnSpPr>
          <p:cNvPr id="2" name="Straight Arrow Connector 1">
            <a:extLst>
              <a:ext uri="{FF2B5EF4-FFF2-40B4-BE49-F238E27FC236}">
                <a16:creationId xmlns:a16="http://schemas.microsoft.com/office/drawing/2014/main" id="{932B5210-16E9-0AEC-6E0B-DA8C232E73B9}"/>
              </a:ext>
            </a:extLst>
          </p:cNvPr>
          <p:cNvCxnSpPr>
            <a:cxnSpLocks/>
          </p:cNvCxnSpPr>
          <p:nvPr/>
        </p:nvCxnSpPr>
        <p:spPr>
          <a:xfrm>
            <a:off x="5679281" y="1993106"/>
            <a:ext cx="750094" cy="0"/>
          </a:xfrm>
          <a:prstGeom prst="straightConnector1">
            <a:avLst/>
          </a:prstGeom>
          <a:ln w="28575">
            <a:solidFill>
              <a:srgbClr val="006D77"/>
            </a:solidFill>
            <a:tailEnd type="arrow" w="med" len="med"/>
          </a:ln>
        </p:spPr>
      </p:cxnSp>
      <p:cxnSp>
        <p:nvCxnSpPr>
          <p:cNvPr id="3" name="Straight Arrow Connector 2">
            <a:extLst>
              <a:ext uri="{FF2B5EF4-FFF2-40B4-BE49-F238E27FC236}">
                <a16:creationId xmlns:a16="http://schemas.microsoft.com/office/drawing/2014/main" id="{81C67D88-8257-58A8-965C-57F42B1230E7}"/>
              </a:ext>
            </a:extLst>
          </p:cNvPr>
          <p:cNvCxnSpPr>
            <a:cxnSpLocks/>
          </p:cNvCxnSpPr>
          <p:nvPr/>
        </p:nvCxnSpPr>
        <p:spPr>
          <a:xfrm>
            <a:off x="2678906" y="1993106"/>
            <a:ext cx="750094" cy="0"/>
          </a:xfrm>
          <a:prstGeom prst="straightConnector1">
            <a:avLst/>
          </a:prstGeom>
          <a:ln w="28575">
            <a:solidFill>
              <a:srgbClr val="006D77"/>
            </a:solidFill>
            <a:tailEnd type="arrow" w="med" len="med"/>
          </a:ln>
        </p:spPr>
      </p:cxnSp>
      <p:sp>
        <p:nvSpPr>
          <p:cNvPr id="4" name="Rectangle 3">
            <a:extLst>
              <a:ext uri="{FF2B5EF4-FFF2-40B4-BE49-F238E27FC236}">
                <a16:creationId xmlns:a16="http://schemas.microsoft.com/office/drawing/2014/main" id="{62B407C1-13D2-B1F2-B2C4-707F4AE6105F}"/>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Source context turns a candidate pathway into a testable assumption</a:t>
            </a:r>
          </a:p>
        </p:txBody>
      </p:sp>
      <p:sp>
        <p:nvSpPr>
          <p:cNvPr id="5" name="Rectangle 4">
            <a:extLst>
              <a:ext uri="{FF2B5EF4-FFF2-40B4-BE49-F238E27FC236}">
                <a16:creationId xmlns:a16="http://schemas.microsoft.com/office/drawing/2014/main" id="{FF55369A-66D9-14BE-97FA-4FDDB41D4D99}"/>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5, Use in Neural-Controller Design; Ch. 6</a:t>
            </a:r>
          </a:p>
        </p:txBody>
      </p:sp>
      <p:sp>
        <p:nvSpPr>
          <p:cNvPr id="6" name="Rectangle 5">
            <a:extLst>
              <a:ext uri="{FF2B5EF4-FFF2-40B4-BE49-F238E27FC236}">
                <a16:creationId xmlns:a16="http://schemas.microsoft.com/office/drawing/2014/main" id="{79DB5527-8756-51D2-2D0E-3D1CC93116A9}"/>
              </a:ext>
            </a:extLst>
          </p:cNvPr>
          <p:cNvSpPr>
            <a:spLocks noGrp="1"/>
          </p:cNvSpPr>
          <p:nvPr/>
        </p:nvSpPr>
        <p:spPr>
          <a:xfrm>
            <a:off x="428625" y="1714501"/>
            <a:ext cx="2250281" cy="557213"/>
          </a:xfrm>
          <a:prstGeom prst="rect">
            <a:avLst/>
          </a:prstGeom>
          <a:solidFill>
            <a:srgbClr val="FFFFFF"/>
          </a:solidFill>
          <a:ln w="19050">
            <a:solidFill>
              <a:srgbClr val="006D77"/>
            </a:solidFill>
          </a:ln>
        </p:spPr>
        <p:txBody>
          <a:bodyPr/>
          <a:lstStyle>
            <a:defPPr algn="ctr">
              <a:defRPr sz="2175" b="1">
                <a:solidFill>
                  <a:srgbClr val="B57C50"/>
                </a:solidFill>
                <a:latin typeface="Calibri"/>
                <a:ea typeface="Calibri"/>
                <a:cs typeface="Calibri"/>
              </a:defRPr>
            </a:defPPr>
            <a:lvl1pPr algn="ctr">
              <a:defRPr sz="2175" b="1">
                <a:solidFill>
                  <a:srgbClr val="B57C50"/>
                </a:solidFill>
                <a:latin typeface="Calibri"/>
                <a:ea typeface="Calibri"/>
                <a:cs typeface="Calibri"/>
              </a:defRPr>
            </a:lvl1pPr>
            <a:lvl2pPr algn="ctr">
              <a:defRPr sz="2175" b="1">
                <a:solidFill>
                  <a:srgbClr val="B57C50"/>
                </a:solidFill>
                <a:latin typeface="Calibri"/>
                <a:ea typeface="Calibri"/>
                <a:cs typeface="Calibri"/>
              </a:defRPr>
            </a:lvl2pPr>
            <a:lvl3pPr algn="ctr">
              <a:defRPr sz="2175" b="1">
                <a:solidFill>
                  <a:srgbClr val="B57C50"/>
                </a:solidFill>
                <a:latin typeface="Calibri"/>
                <a:ea typeface="Calibri"/>
                <a:cs typeface="Calibri"/>
              </a:defRPr>
            </a:lvl3pPr>
            <a:lvl4pPr algn="ctr">
              <a:defRPr sz="2175" b="1">
                <a:solidFill>
                  <a:srgbClr val="B57C50"/>
                </a:solidFill>
                <a:latin typeface="Calibri"/>
                <a:ea typeface="Calibri"/>
                <a:cs typeface="Calibri"/>
              </a:defRPr>
            </a:lvl4pPr>
            <a:lvl5pPr algn="ctr">
              <a:defRPr sz="2175" b="1">
                <a:solidFill>
                  <a:srgbClr val="B57C50"/>
                </a:solidFill>
                <a:latin typeface="Calibri"/>
                <a:ea typeface="Calibri"/>
                <a:cs typeface="Calibri"/>
              </a:defRPr>
            </a:lvl5pPr>
            <a:lvl6pPr algn="ctr">
              <a:defRPr sz="2175" b="1">
                <a:solidFill>
                  <a:srgbClr val="B57C50"/>
                </a:solidFill>
                <a:latin typeface="Calibri"/>
                <a:ea typeface="Calibri"/>
                <a:cs typeface="Calibri"/>
              </a:defRPr>
            </a:lvl6pPr>
            <a:lvl7pPr algn="ctr">
              <a:defRPr sz="2175" b="1">
                <a:solidFill>
                  <a:srgbClr val="B57C50"/>
                </a:solidFill>
                <a:latin typeface="Calibri"/>
                <a:ea typeface="Calibri"/>
                <a:cs typeface="Calibri"/>
              </a:defRPr>
            </a:lvl7pPr>
            <a:lvl8pPr algn="ctr">
              <a:defRPr sz="2175" b="1">
                <a:solidFill>
                  <a:srgbClr val="B57C50"/>
                </a:solidFill>
                <a:latin typeface="Calibri"/>
                <a:ea typeface="Calibri"/>
                <a:cs typeface="Calibri"/>
              </a:defRPr>
            </a:lvl8pPr>
            <a:lvl9pPr algn="ctr">
              <a:defRPr sz="2175" b="1">
                <a:solidFill>
                  <a:srgbClr val="B57C50"/>
                </a:solidFill>
                <a:latin typeface="Calibri"/>
                <a:ea typeface="Calibri"/>
                <a:cs typeface="Calibri"/>
              </a:defRPr>
            </a:lvl9pPr>
          </a:lstStyle>
          <a:p>
            <a:pPr algn="ctr">
              <a:defRPr sz="2175" b="1">
                <a:solidFill>
                  <a:srgbClr val="B57C50"/>
                </a:solidFill>
                <a:latin typeface="Calibri"/>
                <a:ea typeface="Calibri"/>
                <a:cs typeface="Calibri"/>
              </a:defRPr>
            </a:pPr>
            <a:r>
              <a:rPr sz="1631" b="1">
                <a:solidFill>
                  <a:srgbClr val="B57C50"/>
                </a:solidFill>
                <a:latin typeface="Calibri"/>
                <a:ea typeface="Calibri"/>
                <a:cs typeface="Calibri"/>
              </a:rPr>
              <a:t>Source finding</a:t>
            </a:r>
          </a:p>
        </p:txBody>
      </p:sp>
      <p:sp>
        <p:nvSpPr>
          <p:cNvPr id="7" name="Rectangle 6">
            <a:extLst>
              <a:ext uri="{FF2B5EF4-FFF2-40B4-BE49-F238E27FC236}">
                <a16:creationId xmlns:a16="http://schemas.microsoft.com/office/drawing/2014/main" id="{09BB1306-4D8C-6D82-D5E7-7A0AF8A1090A}"/>
              </a:ext>
            </a:extLst>
          </p:cNvPr>
          <p:cNvSpPr>
            <a:spLocks noGrp="1"/>
          </p:cNvSpPr>
          <p:nvPr/>
        </p:nvSpPr>
        <p:spPr>
          <a:xfrm>
            <a:off x="3429000" y="1714501"/>
            <a:ext cx="2250281" cy="557213"/>
          </a:xfrm>
          <a:prstGeom prst="rect">
            <a:avLst/>
          </a:prstGeom>
          <a:solidFill>
            <a:srgbClr val="FFFFFF"/>
          </a:solidFill>
          <a:ln w="19050">
            <a:solidFill>
              <a:srgbClr val="006D77"/>
            </a:solidFill>
          </a:ln>
        </p:spPr>
        <p:txBody>
          <a:bodyPr/>
          <a:lstStyle>
            <a:defPPr algn="ctr">
              <a:defRPr sz="2175" b="1">
                <a:solidFill>
                  <a:srgbClr val="B57C50"/>
                </a:solidFill>
                <a:latin typeface="Calibri"/>
                <a:ea typeface="Calibri"/>
                <a:cs typeface="Calibri"/>
              </a:defRPr>
            </a:defPPr>
            <a:lvl1pPr algn="ctr">
              <a:defRPr sz="2175" b="1">
                <a:solidFill>
                  <a:srgbClr val="B57C50"/>
                </a:solidFill>
                <a:latin typeface="Calibri"/>
                <a:ea typeface="Calibri"/>
                <a:cs typeface="Calibri"/>
              </a:defRPr>
            </a:lvl1pPr>
            <a:lvl2pPr algn="ctr">
              <a:defRPr sz="2175" b="1">
                <a:solidFill>
                  <a:srgbClr val="B57C50"/>
                </a:solidFill>
                <a:latin typeface="Calibri"/>
                <a:ea typeface="Calibri"/>
                <a:cs typeface="Calibri"/>
              </a:defRPr>
            </a:lvl2pPr>
            <a:lvl3pPr algn="ctr">
              <a:defRPr sz="2175" b="1">
                <a:solidFill>
                  <a:srgbClr val="B57C50"/>
                </a:solidFill>
                <a:latin typeface="Calibri"/>
                <a:ea typeface="Calibri"/>
                <a:cs typeface="Calibri"/>
              </a:defRPr>
            </a:lvl3pPr>
            <a:lvl4pPr algn="ctr">
              <a:defRPr sz="2175" b="1">
                <a:solidFill>
                  <a:srgbClr val="B57C50"/>
                </a:solidFill>
                <a:latin typeface="Calibri"/>
                <a:ea typeface="Calibri"/>
                <a:cs typeface="Calibri"/>
              </a:defRPr>
            </a:lvl4pPr>
            <a:lvl5pPr algn="ctr">
              <a:defRPr sz="2175" b="1">
                <a:solidFill>
                  <a:srgbClr val="B57C50"/>
                </a:solidFill>
                <a:latin typeface="Calibri"/>
                <a:ea typeface="Calibri"/>
                <a:cs typeface="Calibri"/>
              </a:defRPr>
            </a:lvl5pPr>
            <a:lvl6pPr algn="ctr">
              <a:defRPr sz="2175" b="1">
                <a:solidFill>
                  <a:srgbClr val="B57C50"/>
                </a:solidFill>
                <a:latin typeface="Calibri"/>
                <a:ea typeface="Calibri"/>
                <a:cs typeface="Calibri"/>
              </a:defRPr>
            </a:lvl6pPr>
            <a:lvl7pPr algn="ctr">
              <a:defRPr sz="2175" b="1">
                <a:solidFill>
                  <a:srgbClr val="B57C50"/>
                </a:solidFill>
                <a:latin typeface="Calibri"/>
                <a:ea typeface="Calibri"/>
                <a:cs typeface="Calibri"/>
              </a:defRPr>
            </a:lvl7pPr>
            <a:lvl8pPr algn="ctr">
              <a:defRPr sz="2175" b="1">
                <a:solidFill>
                  <a:srgbClr val="B57C50"/>
                </a:solidFill>
                <a:latin typeface="Calibri"/>
                <a:ea typeface="Calibri"/>
                <a:cs typeface="Calibri"/>
              </a:defRPr>
            </a:lvl8pPr>
            <a:lvl9pPr algn="ctr">
              <a:defRPr sz="2175" b="1">
                <a:solidFill>
                  <a:srgbClr val="B57C50"/>
                </a:solidFill>
                <a:latin typeface="Calibri"/>
                <a:ea typeface="Calibri"/>
                <a:cs typeface="Calibri"/>
              </a:defRPr>
            </a:lvl9pPr>
          </a:lstStyle>
          <a:p>
            <a:pPr algn="ctr">
              <a:defRPr sz="2175" b="1">
                <a:solidFill>
                  <a:srgbClr val="B57C50"/>
                </a:solidFill>
                <a:latin typeface="Calibri"/>
                <a:ea typeface="Calibri"/>
                <a:cs typeface="Calibri"/>
              </a:defRPr>
            </a:pPr>
            <a:r>
              <a:rPr sz="1631" b="1">
                <a:solidFill>
                  <a:srgbClr val="B57C50"/>
                </a:solidFill>
                <a:latin typeface="Calibri"/>
                <a:ea typeface="Calibri"/>
                <a:cs typeface="Calibri"/>
              </a:rPr>
              <a:t>Explicit circuit choice</a:t>
            </a:r>
          </a:p>
        </p:txBody>
      </p:sp>
      <p:sp>
        <p:nvSpPr>
          <p:cNvPr id="8" name="Rectangle 7">
            <a:extLst>
              <a:ext uri="{FF2B5EF4-FFF2-40B4-BE49-F238E27FC236}">
                <a16:creationId xmlns:a16="http://schemas.microsoft.com/office/drawing/2014/main" id="{BB583B9E-DBB2-0D11-7C8E-11931F93248C}"/>
              </a:ext>
            </a:extLst>
          </p:cNvPr>
          <p:cNvSpPr>
            <a:spLocks noGrp="1"/>
          </p:cNvSpPr>
          <p:nvPr/>
        </p:nvSpPr>
        <p:spPr>
          <a:xfrm>
            <a:off x="6429375" y="1714501"/>
            <a:ext cx="2250281" cy="557213"/>
          </a:xfrm>
          <a:prstGeom prst="rect">
            <a:avLst/>
          </a:prstGeom>
          <a:solidFill>
            <a:srgbClr val="FFFFFF"/>
          </a:solidFill>
          <a:ln w="19050">
            <a:solidFill>
              <a:srgbClr val="006D77"/>
            </a:solidFill>
          </a:ln>
        </p:spPr>
        <p:txBody>
          <a:bodyPr/>
          <a:lstStyle>
            <a:defPPr algn="ctr">
              <a:defRPr sz="2175" b="1">
                <a:solidFill>
                  <a:srgbClr val="B57C50"/>
                </a:solidFill>
                <a:latin typeface="Calibri"/>
                <a:ea typeface="Calibri"/>
                <a:cs typeface="Calibri"/>
              </a:defRPr>
            </a:defPPr>
            <a:lvl1pPr algn="ctr">
              <a:defRPr sz="2175" b="1">
                <a:solidFill>
                  <a:srgbClr val="B57C50"/>
                </a:solidFill>
                <a:latin typeface="Calibri"/>
                <a:ea typeface="Calibri"/>
                <a:cs typeface="Calibri"/>
              </a:defRPr>
            </a:lvl1pPr>
            <a:lvl2pPr algn="ctr">
              <a:defRPr sz="2175" b="1">
                <a:solidFill>
                  <a:srgbClr val="B57C50"/>
                </a:solidFill>
                <a:latin typeface="Calibri"/>
                <a:ea typeface="Calibri"/>
                <a:cs typeface="Calibri"/>
              </a:defRPr>
            </a:lvl2pPr>
            <a:lvl3pPr algn="ctr">
              <a:defRPr sz="2175" b="1">
                <a:solidFill>
                  <a:srgbClr val="B57C50"/>
                </a:solidFill>
                <a:latin typeface="Calibri"/>
                <a:ea typeface="Calibri"/>
                <a:cs typeface="Calibri"/>
              </a:defRPr>
            </a:lvl3pPr>
            <a:lvl4pPr algn="ctr">
              <a:defRPr sz="2175" b="1">
                <a:solidFill>
                  <a:srgbClr val="B57C50"/>
                </a:solidFill>
                <a:latin typeface="Calibri"/>
                <a:ea typeface="Calibri"/>
                <a:cs typeface="Calibri"/>
              </a:defRPr>
            </a:lvl4pPr>
            <a:lvl5pPr algn="ctr">
              <a:defRPr sz="2175" b="1">
                <a:solidFill>
                  <a:srgbClr val="B57C50"/>
                </a:solidFill>
                <a:latin typeface="Calibri"/>
                <a:ea typeface="Calibri"/>
                <a:cs typeface="Calibri"/>
              </a:defRPr>
            </a:lvl5pPr>
            <a:lvl6pPr algn="ctr">
              <a:defRPr sz="2175" b="1">
                <a:solidFill>
                  <a:srgbClr val="B57C50"/>
                </a:solidFill>
                <a:latin typeface="Calibri"/>
                <a:ea typeface="Calibri"/>
                <a:cs typeface="Calibri"/>
              </a:defRPr>
            </a:lvl6pPr>
            <a:lvl7pPr algn="ctr">
              <a:defRPr sz="2175" b="1">
                <a:solidFill>
                  <a:srgbClr val="B57C50"/>
                </a:solidFill>
                <a:latin typeface="Calibri"/>
                <a:ea typeface="Calibri"/>
                <a:cs typeface="Calibri"/>
              </a:defRPr>
            </a:lvl7pPr>
            <a:lvl8pPr algn="ctr">
              <a:defRPr sz="2175" b="1">
                <a:solidFill>
                  <a:srgbClr val="B57C50"/>
                </a:solidFill>
                <a:latin typeface="Calibri"/>
                <a:ea typeface="Calibri"/>
                <a:cs typeface="Calibri"/>
              </a:defRPr>
            </a:lvl8pPr>
            <a:lvl9pPr algn="ctr">
              <a:defRPr sz="2175" b="1">
                <a:solidFill>
                  <a:srgbClr val="B57C50"/>
                </a:solidFill>
                <a:latin typeface="Calibri"/>
                <a:ea typeface="Calibri"/>
                <a:cs typeface="Calibri"/>
              </a:defRPr>
            </a:lvl9pPr>
          </a:lstStyle>
          <a:p>
            <a:pPr algn="ctr">
              <a:defRPr sz="2175" b="1">
                <a:solidFill>
                  <a:srgbClr val="B57C50"/>
                </a:solidFill>
                <a:latin typeface="Calibri"/>
                <a:ea typeface="Calibri"/>
                <a:cs typeface="Calibri"/>
              </a:defRPr>
            </a:pPr>
            <a:r>
              <a:rPr sz="1631" b="1">
                <a:solidFill>
                  <a:srgbClr val="B57C50"/>
                </a:solidFill>
                <a:latin typeface="Calibri"/>
                <a:ea typeface="Calibri"/>
                <a:cs typeface="Calibri"/>
              </a:rPr>
              <a:t>Controlled test</a:t>
            </a:r>
          </a:p>
        </p:txBody>
      </p:sp>
      <p:sp>
        <p:nvSpPr>
          <p:cNvPr id="9" name="Rectangle 8">
            <a:extLst>
              <a:ext uri="{FF2B5EF4-FFF2-40B4-BE49-F238E27FC236}">
                <a16:creationId xmlns:a16="http://schemas.microsoft.com/office/drawing/2014/main" id="{6B39EE9B-112E-2D36-FD29-AB543091229A}"/>
              </a:ext>
            </a:extLst>
          </p:cNvPr>
          <p:cNvSpPr>
            <a:spLocks noGrp="1"/>
          </p:cNvSpPr>
          <p:nvPr/>
        </p:nvSpPr>
        <p:spPr>
          <a:xfrm>
            <a:off x="464344" y="2536032"/>
            <a:ext cx="2250281" cy="785813"/>
          </a:xfrm>
          <a:prstGeom prst="rect">
            <a:avLst/>
          </a:prstGeom>
          <a:noFill/>
          <a:ln w="0">
            <a:noFill/>
          </a:ln>
        </p:spPr>
        <p:txBody>
          <a:bodyPr lIns="0" tIns="0" rIns="0" bIns="0" anchor="t"/>
          <a:lstStyle>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a:pPr>
              <a:defRPr sz="2175" b="0">
                <a:solidFill>
                  <a:srgbClr val="202C33"/>
                </a:solidFill>
                <a:latin typeface="Calibri"/>
                <a:ea typeface="Calibri"/>
                <a:cs typeface="Calibri"/>
              </a:defRPr>
            </a:pPr>
            <a:r>
              <a:rPr sz="1631" b="0">
                <a:solidFill>
                  <a:srgbClr val="202C33"/>
                </a:solidFill>
                <a:latin typeface="Calibri"/>
                <a:ea typeface="Calibri"/>
                <a:cs typeface="Calibri"/>
              </a:rPr>
              <a:t>Signal and experimental context</a:t>
            </a:r>
          </a:p>
        </p:txBody>
      </p:sp>
      <p:sp>
        <p:nvSpPr>
          <p:cNvPr id="10" name="Rectangle 9">
            <a:extLst>
              <a:ext uri="{FF2B5EF4-FFF2-40B4-BE49-F238E27FC236}">
                <a16:creationId xmlns:a16="http://schemas.microsoft.com/office/drawing/2014/main" id="{DCEAB372-A941-A67B-3E23-549806832576}"/>
              </a:ext>
            </a:extLst>
          </p:cNvPr>
          <p:cNvSpPr>
            <a:spLocks noGrp="1"/>
          </p:cNvSpPr>
          <p:nvPr/>
        </p:nvSpPr>
        <p:spPr>
          <a:xfrm>
            <a:off x="3429001" y="2536032"/>
            <a:ext cx="2428875" cy="785813"/>
          </a:xfrm>
          <a:prstGeom prst="rect">
            <a:avLst/>
          </a:prstGeom>
          <a:noFill/>
          <a:ln w="0">
            <a:noFill/>
          </a:ln>
        </p:spPr>
        <p:txBody>
          <a:bodyPr lIns="0" tIns="0" rIns="0" bIns="0" anchor="t"/>
          <a:lstStyle>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a:pPr>
              <a:defRPr sz="2175" b="0">
                <a:solidFill>
                  <a:srgbClr val="202C33"/>
                </a:solidFill>
                <a:latin typeface="Calibri"/>
                <a:ea typeface="Calibri"/>
                <a:cs typeface="Calibri"/>
              </a:defRPr>
            </a:pPr>
            <a:r>
              <a:rPr sz="1631" b="0">
                <a:solidFill>
                  <a:srgbClr val="202C33"/>
                </a:solidFill>
                <a:latin typeface="Calibri"/>
                <a:ea typeface="Calibri"/>
                <a:cs typeface="Calibri"/>
              </a:rPr>
              <a:t>Connection sign, target,</a:t>
            </a:r>
          </a:p>
          <a:p>
            <a:pPr>
              <a:defRPr sz="2175" b="0">
                <a:solidFill>
                  <a:srgbClr val="202C33"/>
                </a:solidFill>
                <a:latin typeface="Calibri"/>
                <a:ea typeface="Calibri"/>
                <a:cs typeface="Calibri"/>
              </a:defRPr>
            </a:pPr>
            <a:r>
              <a:rPr sz="1631" b="0">
                <a:solidFill>
                  <a:srgbClr val="202C33"/>
                </a:solidFill>
                <a:latin typeface="Calibri"/>
                <a:ea typeface="Calibri"/>
                <a:cs typeface="Calibri"/>
              </a:rPr>
              <a:t>and selected parameters</a:t>
            </a:r>
          </a:p>
        </p:txBody>
      </p:sp>
      <p:sp>
        <p:nvSpPr>
          <p:cNvPr id="11" name="Rectangle 10">
            <a:extLst>
              <a:ext uri="{FF2B5EF4-FFF2-40B4-BE49-F238E27FC236}">
                <a16:creationId xmlns:a16="http://schemas.microsoft.com/office/drawing/2014/main" id="{6AE1AE30-8A03-705D-C5B5-F778CB33B1E6}"/>
              </a:ext>
            </a:extLst>
          </p:cNvPr>
          <p:cNvSpPr>
            <a:spLocks noGrp="1"/>
          </p:cNvSpPr>
          <p:nvPr/>
        </p:nvSpPr>
        <p:spPr>
          <a:xfrm>
            <a:off x="6429375" y="2536032"/>
            <a:ext cx="2250281" cy="785813"/>
          </a:xfrm>
          <a:prstGeom prst="rect">
            <a:avLst/>
          </a:prstGeom>
          <a:noFill/>
          <a:ln w="0">
            <a:noFill/>
          </a:ln>
        </p:spPr>
        <p:txBody>
          <a:bodyPr lIns="0" tIns="0" rIns="0" bIns="0" anchor="t"/>
          <a:lstStyle>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a:pPr>
              <a:defRPr sz="2175" b="0">
                <a:solidFill>
                  <a:srgbClr val="202C33"/>
                </a:solidFill>
                <a:latin typeface="Calibri"/>
                <a:ea typeface="Calibri"/>
                <a:cs typeface="Calibri"/>
              </a:defRPr>
            </a:pPr>
            <a:r>
              <a:rPr sz="1631" b="0">
                <a:solidFill>
                  <a:srgbClr val="202C33"/>
                </a:solidFill>
                <a:latin typeface="Calibri"/>
                <a:ea typeface="Calibri"/>
                <a:cs typeface="Calibri"/>
              </a:rPr>
              <a:t>Matched input or</a:t>
            </a:r>
          </a:p>
          <a:p>
            <a:pPr>
              <a:defRPr sz="2175" b="0">
                <a:solidFill>
                  <a:srgbClr val="202C33"/>
                </a:solidFill>
                <a:latin typeface="Calibri"/>
                <a:ea typeface="Calibri"/>
                <a:cs typeface="Calibri"/>
              </a:defRPr>
            </a:pPr>
            <a:r>
              <a:rPr sz="1631" b="0">
                <a:solidFill>
                  <a:srgbClr val="202C33"/>
                </a:solidFill>
                <a:latin typeface="Calibri"/>
                <a:ea typeface="Calibri"/>
                <a:cs typeface="Calibri"/>
              </a:rPr>
              <a:t>pathway intervention</a:t>
            </a:r>
          </a:p>
        </p:txBody>
      </p:sp>
      <p:sp>
        <p:nvSpPr>
          <p:cNvPr id="12" name="Rectangle 11">
            <a:extLst>
              <a:ext uri="{FF2B5EF4-FFF2-40B4-BE49-F238E27FC236}">
                <a16:creationId xmlns:a16="http://schemas.microsoft.com/office/drawing/2014/main" id="{3DAA6246-4322-6A51-E315-3281EAD69DE7}"/>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A source-grounded pathway still needs implementation and functional checks</a:t>
            </a:r>
          </a:p>
        </p:txBody>
      </p:sp>
      <p:sp>
        <p:nvSpPr>
          <p:cNvPr id="13" name="TextBox 12">
            <a:extLst>
              <a:ext uri="{FF2B5EF4-FFF2-40B4-BE49-F238E27FC236}">
                <a16:creationId xmlns:a16="http://schemas.microsoft.com/office/drawing/2014/main" id="{E26BFB7F-6340-3EFF-BDD5-61EB97C4719D}"/>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19</a:t>
            </a:r>
          </a:p>
        </p:txBody>
      </p:sp>
    </p:spTree>
    <p:extLst>
      <p:ext uri="{BB962C8B-B14F-4D97-AF65-F5344CB8AC3E}">
        <p14:creationId xmlns:p14="http://schemas.microsoft.com/office/powerpoint/2010/main" val="3560356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333561F8-DD84-4D79-D448-B14A73B6CA71}"/>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walker attempts exposed a need for interpretable model tests</a:t>
            </a:r>
          </a:p>
        </p:txBody>
      </p:sp>
      <p:sp>
        <p:nvSpPr>
          <p:cNvPr id="3" name="Rectangle 2">
            <a:extLst>
              <a:ext uri="{FF2B5EF4-FFF2-40B4-BE49-F238E27FC236}">
                <a16:creationId xmlns:a16="http://schemas.microsoft.com/office/drawing/2014/main" id="{950377D1-63D7-D251-188B-976E572137FF}"/>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opening narrative and tools gap</a:t>
            </a:r>
          </a:p>
        </p:txBody>
      </p:sp>
      <p:pic>
        <p:nvPicPr>
          <p:cNvPr id="4" name="Picture 3">
            <a:extLst>
              <a:ext uri="{FF2B5EF4-FFF2-40B4-BE49-F238E27FC236}">
                <a16:creationId xmlns:a16="http://schemas.microsoft.com/office/drawing/2014/main" id="{66F947FF-EC74-BB01-4721-20D2551F27FC}"/>
              </a:ext>
            </a:extLst>
          </p:cNvPr>
          <p:cNvPicPr>
            <a:picLocks/>
          </p:cNvPicPr>
          <p:nvPr/>
        </p:nvPicPr>
        <p:blipFill>
          <a:blip r:embed="rId3"/>
          <a:stretch/>
        </p:blipFill>
        <p:spPr>
          <a:xfrm>
            <a:off x="857250" y="1143001"/>
            <a:ext cx="2000250" cy="3000375"/>
          </a:xfrm>
          <a:prstGeom prst="rect">
            <a:avLst/>
          </a:prstGeom>
        </p:spPr>
      </p:pic>
      <p:sp>
        <p:nvSpPr>
          <p:cNvPr id="5" name="Rectangle 4">
            <a:extLst>
              <a:ext uri="{FF2B5EF4-FFF2-40B4-BE49-F238E27FC236}">
                <a16:creationId xmlns:a16="http://schemas.microsoft.com/office/drawing/2014/main" id="{E8D9A305-1CE8-5D2D-1EB8-04855F15C65E}"/>
              </a:ext>
            </a:extLst>
          </p:cNvPr>
          <p:cNvSpPr>
            <a:spLocks noGrp="1"/>
          </p:cNvSpPr>
          <p:nvPr/>
        </p:nvSpPr>
        <p:spPr>
          <a:xfrm>
            <a:off x="4107657" y="1643063"/>
            <a:ext cx="4429125" cy="1714500"/>
          </a:xfrm>
          <a:prstGeom prst="rect">
            <a:avLst/>
          </a:prstGeom>
          <a:noFill/>
          <a:ln w="0">
            <a:noFill/>
          </a:ln>
        </p:spPr>
        <p:txBody>
          <a:bodyPr lIns="0" tIns="0" rIns="0" bIns="0" anchor="t"/>
          <a:lstStyle>
            <a:defPPr>
              <a:defRPr sz="2550" b="0">
                <a:solidFill>
                  <a:srgbClr val="202C33"/>
                </a:solidFill>
                <a:latin typeface="Calibri"/>
                <a:ea typeface="Calibri"/>
                <a:cs typeface="Calibri"/>
              </a:defRPr>
            </a:defPPr>
            <a:lvl1pPr>
              <a:defRPr sz="2550" b="0">
                <a:solidFill>
                  <a:srgbClr val="202C33"/>
                </a:solidFill>
                <a:latin typeface="Calibri"/>
                <a:ea typeface="Calibri"/>
                <a:cs typeface="Calibri"/>
              </a:defRPr>
            </a:lvl1pPr>
            <a:lvl2pPr>
              <a:defRPr sz="2550" b="0">
                <a:solidFill>
                  <a:srgbClr val="202C33"/>
                </a:solidFill>
                <a:latin typeface="Calibri"/>
                <a:ea typeface="Calibri"/>
                <a:cs typeface="Calibri"/>
              </a:defRPr>
            </a:lvl2pPr>
            <a:lvl3pPr>
              <a:defRPr sz="2550" b="0">
                <a:solidFill>
                  <a:srgbClr val="202C33"/>
                </a:solidFill>
                <a:latin typeface="Calibri"/>
                <a:ea typeface="Calibri"/>
                <a:cs typeface="Calibri"/>
              </a:defRPr>
            </a:lvl3pPr>
            <a:lvl4pPr>
              <a:defRPr sz="2550" b="0">
                <a:solidFill>
                  <a:srgbClr val="202C33"/>
                </a:solidFill>
                <a:latin typeface="Calibri"/>
                <a:ea typeface="Calibri"/>
                <a:cs typeface="Calibri"/>
              </a:defRPr>
            </a:lvl4pPr>
            <a:lvl5pPr>
              <a:defRPr sz="2550" b="0">
                <a:solidFill>
                  <a:srgbClr val="202C33"/>
                </a:solidFill>
                <a:latin typeface="Calibri"/>
                <a:ea typeface="Calibri"/>
                <a:cs typeface="Calibri"/>
              </a:defRPr>
            </a:lvl5pPr>
            <a:lvl6pPr>
              <a:defRPr sz="2550" b="0">
                <a:solidFill>
                  <a:srgbClr val="202C33"/>
                </a:solidFill>
                <a:latin typeface="Calibri"/>
                <a:ea typeface="Calibri"/>
                <a:cs typeface="Calibri"/>
              </a:defRPr>
            </a:lvl6pPr>
            <a:lvl7pPr>
              <a:defRPr sz="2550" b="0">
                <a:solidFill>
                  <a:srgbClr val="202C33"/>
                </a:solidFill>
                <a:latin typeface="Calibri"/>
                <a:ea typeface="Calibri"/>
                <a:cs typeface="Calibri"/>
              </a:defRPr>
            </a:lvl7pPr>
            <a:lvl8pPr>
              <a:defRPr sz="2550" b="0">
                <a:solidFill>
                  <a:srgbClr val="202C33"/>
                </a:solidFill>
                <a:latin typeface="Calibri"/>
                <a:ea typeface="Calibri"/>
                <a:cs typeface="Calibri"/>
              </a:defRPr>
            </a:lvl8pPr>
            <a:lvl9pPr>
              <a:defRPr sz="2550" b="0">
                <a:solidFill>
                  <a:srgbClr val="202C33"/>
                </a:solidFill>
                <a:latin typeface="Calibri"/>
                <a:ea typeface="Calibri"/>
                <a:cs typeface="Calibri"/>
              </a:defRPr>
            </a:lvl9pPr>
          </a:lstStyle>
          <a:p>
            <a:pPr>
              <a:defRPr sz="2550" b="0">
                <a:solidFill>
                  <a:srgbClr val="202C33"/>
                </a:solidFill>
                <a:latin typeface="Calibri"/>
                <a:ea typeface="Calibri"/>
                <a:cs typeface="Calibri"/>
              </a:defRPr>
            </a:pPr>
            <a:r>
              <a:rPr sz="1913" b="0">
                <a:solidFill>
                  <a:srgbClr val="202C33"/>
                </a:solidFill>
                <a:latin typeface="Calibri"/>
                <a:ea typeface="Calibri"/>
                <a:cs typeface="Calibri"/>
              </a:rPr>
              <a:t>A circuit can oscillate while</a:t>
            </a:r>
          </a:p>
          <a:p>
            <a:pPr>
              <a:defRPr sz="2550" b="0">
                <a:solidFill>
                  <a:srgbClr val="202C33"/>
                </a:solidFill>
                <a:latin typeface="Calibri"/>
                <a:ea typeface="Calibri"/>
                <a:cs typeface="Calibri"/>
              </a:defRPr>
            </a:pPr>
            <a:r>
              <a:rPr sz="1913" b="0">
                <a:solidFill>
                  <a:srgbClr val="202C33"/>
                </a:solidFill>
                <a:latin typeface="Calibri"/>
                <a:ea typeface="Calibri"/>
                <a:cs typeface="Calibri"/>
              </a:rPr>
              <a:t>its mechanical model fails</a:t>
            </a:r>
          </a:p>
          <a:p>
            <a:endParaRPr sz="1913" b="0">
              <a:solidFill>
                <a:srgbClr val="202C33"/>
              </a:solidFill>
              <a:latin typeface="Calibri"/>
              <a:ea typeface="Calibri"/>
              <a:cs typeface="Calibri"/>
            </a:endParaRPr>
          </a:p>
          <a:p>
            <a:pPr>
              <a:defRPr sz="2550" b="0">
                <a:solidFill>
                  <a:srgbClr val="202C33"/>
                </a:solidFill>
                <a:latin typeface="Calibri"/>
                <a:ea typeface="Calibri"/>
                <a:cs typeface="Calibri"/>
              </a:defRPr>
            </a:pPr>
            <a:r>
              <a:rPr sz="1913" b="0">
                <a:solidFill>
                  <a:srgbClr val="202C33"/>
                </a:solidFill>
                <a:latin typeface="Calibri"/>
                <a:ea typeface="Calibri"/>
                <a:cs typeface="Calibri"/>
              </a:rPr>
              <a:t>Implementation, feedback, and</a:t>
            </a:r>
          </a:p>
          <a:p>
            <a:pPr>
              <a:defRPr sz="2550" b="0">
                <a:solidFill>
                  <a:srgbClr val="202C33"/>
                </a:solidFill>
                <a:latin typeface="Calibri"/>
                <a:ea typeface="Calibri"/>
                <a:cs typeface="Calibri"/>
              </a:defRPr>
            </a:pPr>
            <a:r>
              <a:rPr sz="1913" b="0">
                <a:solidFill>
                  <a:srgbClr val="202C33"/>
                </a:solidFill>
                <a:latin typeface="Calibri"/>
                <a:ea typeface="Calibri"/>
                <a:cs typeface="Calibri"/>
              </a:rPr>
              <a:t>mechanics must be separated</a:t>
            </a:r>
          </a:p>
        </p:txBody>
      </p:sp>
      <p:sp>
        <p:nvSpPr>
          <p:cNvPr id="6" name="Rectangle 5">
            <a:extLst>
              <a:ext uri="{FF2B5EF4-FFF2-40B4-BE49-F238E27FC236}">
                <a16:creationId xmlns:a16="http://schemas.microsoft.com/office/drawing/2014/main" id="{26331341-BC28-B942-D41A-53673CDE2F5D}"/>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Question 4: what caused the observed neural–mechanical behavior?</a:t>
            </a:r>
          </a:p>
        </p:txBody>
      </p:sp>
      <p:sp>
        <p:nvSpPr>
          <p:cNvPr id="7" name="TextBox 6">
            <a:extLst>
              <a:ext uri="{FF2B5EF4-FFF2-40B4-BE49-F238E27FC236}">
                <a16:creationId xmlns:a16="http://schemas.microsoft.com/office/drawing/2014/main" id="{1D2C9D04-CAEA-1872-A436-04F251C51EE1}"/>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20</a:t>
            </a:r>
          </a:p>
        </p:txBody>
      </p:sp>
    </p:spTree>
    <p:extLst>
      <p:ext uri="{BB962C8B-B14F-4D97-AF65-F5344CB8AC3E}">
        <p14:creationId xmlns:p14="http://schemas.microsoft.com/office/powerpoint/2010/main" val="1693492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EC0F9EC5-C6B0-D721-B6E7-A5A3E4C2AEAB}"/>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model workflow supports distinct mechanical implementations</a:t>
            </a:r>
          </a:p>
        </p:txBody>
      </p:sp>
      <p:sp>
        <p:nvSpPr>
          <p:cNvPr id="3" name="Rectangle 2">
            <a:extLst>
              <a:ext uri="{FF2B5EF4-FFF2-40B4-BE49-F238E27FC236}">
                <a16:creationId xmlns:a16="http://schemas.microsoft.com/office/drawing/2014/main" id="{49FB50E7-ABC4-4B3D-D799-4F01A24C68C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Model construction and neural-controller interfaces</a:t>
            </a:r>
          </a:p>
        </p:txBody>
      </p:sp>
      <p:pic>
        <p:nvPicPr>
          <p:cNvPr id="4" name="Picture 3">
            <a:extLst>
              <a:ext uri="{FF2B5EF4-FFF2-40B4-BE49-F238E27FC236}">
                <a16:creationId xmlns:a16="http://schemas.microsoft.com/office/drawing/2014/main" id="{F9FF9A28-C85C-E9BC-0C55-0055E4A0DB4D}"/>
              </a:ext>
            </a:extLst>
          </p:cNvPr>
          <p:cNvPicPr>
            <a:picLocks/>
          </p:cNvPicPr>
          <p:nvPr/>
        </p:nvPicPr>
        <p:blipFill>
          <a:blip r:embed="rId3"/>
          <a:stretch/>
        </p:blipFill>
        <p:spPr>
          <a:xfrm>
            <a:off x="3024750" y="1143001"/>
            <a:ext cx="3094499" cy="3000375"/>
          </a:xfrm>
          <a:prstGeom prst="rect">
            <a:avLst/>
          </a:prstGeom>
        </p:spPr>
      </p:pic>
      <p:sp>
        <p:nvSpPr>
          <p:cNvPr id="5" name="Rectangle 4">
            <a:extLst>
              <a:ext uri="{FF2B5EF4-FFF2-40B4-BE49-F238E27FC236}">
                <a16:creationId xmlns:a16="http://schemas.microsoft.com/office/drawing/2014/main" id="{D83F4AE5-221F-C89C-58F1-2C6930CED002}"/>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Command exchange, circuit agreement, and motion each require their own check</a:t>
            </a:r>
          </a:p>
        </p:txBody>
      </p:sp>
      <p:sp>
        <p:nvSpPr>
          <p:cNvPr id="6" name="TextBox 5">
            <a:extLst>
              <a:ext uri="{FF2B5EF4-FFF2-40B4-BE49-F238E27FC236}">
                <a16:creationId xmlns:a16="http://schemas.microsoft.com/office/drawing/2014/main" id="{5D768DB4-AD62-4A9A-97EE-AA3A24619AD0}"/>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21</a:t>
            </a:r>
          </a:p>
        </p:txBody>
      </p:sp>
    </p:spTree>
    <p:extLst>
      <p:ext uri="{BB962C8B-B14F-4D97-AF65-F5344CB8AC3E}">
        <p14:creationId xmlns:p14="http://schemas.microsoft.com/office/powerpoint/2010/main" val="32601271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24958018-5342-D37D-70D0-724D12F1D25B}"/>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Staged tests separate rhythm, feedback, and mechanical support</a:t>
            </a:r>
          </a:p>
        </p:txBody>
      </p:sp>
      <p:sp>
        <p:nvSpPr>
          <p:cNvPr id="3" name="Rectangle 2">
            <a:extLst>
              <a:ext uri="{FF2B5EF4-FFF2-40B4-BE49-F238E27FC236}">
                <a16:creationId xmlns:a16="http://schemas.microsoft.com/office/drawing/2014/main" id="{ADEB28D9-F2E3-D8C5-C5AD-E4992446CB23}"/>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curriculum Table 6.2</a:t>
            </a:r>
          </a:p>
        </p:txBody>
      </p:sp>
      <p:graphicFrame>
        <p:nvGraphicFramePr>
          <p:cNvPr id="4" name="Table 3">
            <a:extLst>
              <a:ext uri="{FF2B5EF4-FFF2-40B4-BE49-F238E27FC236}">
                <a16:creationId xmlns:a16="http://schemas.microsoft.com/office/drawing/2014/main" id="{C0C09BFF-950D-B657-63AB-3F95C9AE9818}"/>
              </a:ext>
            </a:extLst>
          </p:cNvPr>
          <p:cNvGraphicFramePr>
            <a:graphicFrameLocks/>
          </p:cNvGraphicFramePr>
          <p:nvPr>
            <p:extLst>
              <p:ext uri="{D42A27DB-BD31-4B8C-83A1-F6EECF244321}">
                <p14:modId xmlns:p14="http://schemas.microsoft.com/office/powerpoint/2010/main" val="3571063070"/>
              </p:ext>
            </p:extLst>
          </p:nvPr>
        </p:nvGraphicFramePr>
        <p:xfrm>
          <a:off x="428625" y="1250156"/>
          <a:ext cx="8286750" cy="3078480"/>
        </p:xfrm>
        <a:graphic>
          <a:graphicData uri="http://schemas.openxmlformats.org/drawingml/2006/table">
            <a:tbl>
              <a:tblPr/>
              <a:tblGrid>
                <a:gridCol w="4143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tblGrid>
              <a:tr h="476250">
                <a:tc>
                  <a:txBody>
                    <a:bodyPr/>
                    <a:lstStyle/>
                    <a:p>
                      <a:r>
                        <a:rPr sz="1519" b="1">
                          <a:solidFill>
                            <a:srgbClr val="006D77"/>
                          </a:solidFill>
                          <a:latin typeface="Calibri"/>
                          <a:ea typeface="Calibri"/>
                          <a:cs typeface="Calibri"/>
                        </a:rPr>
                        <a:t>Condition introduced</a:t>
                      </a:r>
                    </a:p>
                  </a:txBody>
                  <a:tcPr>
                    <a:solidFill>
                      <a:srgbClr val="FFFFFF"/>
                    </a:solidFill>
                  </a:tcPr>
                </a:tc>
                <a:tc>
                  <a:txBody>
                    <a:bodyPr/>
                    <a:lstStyle/>
                    <a:p>
                      <a:r>
                        <a:rPr sz="1519" b="1">
                          <a:solidFill>
                            <a:srgbClr val="006D77"/>
                          </a:solidFill>
                          <a:latin typeface="Calibri"/>
                          <a:ea typeface="Calibri"/>
                          <a:cs typeface="Calibri"/>
                        </a:rPr>
                        <a:t>Question tested</a:t>
                      </a:r>
                    </a:p>
                  </a:txBody>
                  <a:tcPr>
                    <a:solidFill>
                      <a:srgbClr val="FFFFFF"/>
                    </a:solidFill>
                  </a:tcPr>
                </a:tc>
                <a:extLst>
                  <a:ext uri="{0D108BD9-81ED-4DB2-BD59-A6C34878D82A}">
                    <a16:rowId xmlns:a16="http://schemas.microsoft.com/office/drawing/2014/main" val="10000"/>
                  </a:ext>
                </a:extLst>
              </a:tr>
              <a:tr h="531495">
                <a:tc>
                  <a:txBody>
                    <a:bodyPr/>
                    <a:lstStyle/>
                    <a:p>
                      <a:r>
                        <a:rPr sz="1519" b="0">
                          <a:solidFill>
                            <a:srgbClr val="202C33"/>
                          </a:solidFill>
                          <a:latin typeface="Calibri"/>
                          <a:ea typeface="Calibri"/>
                          <a:cs typeface="Calibri"/>
                        </a:rPr>
                        <a:t>Suspended, without sensory feedback</a:t>
                      </a:r>
                    </a:p>
                  </a:txBody>
                  <a:tcPr>
                    <a:solidFill>
                      <a:srgbClr val="FFFFFF"/>
                    </a:solidFill>
                  </a:tcPr>
                </a:tc>
                <a:tc>
                  <a:txBody>
                    <a:bodyPr/>
                    <a:lstStyle/>
                    <a:p>
                      <a:r>
                        <a:rPr sz="1519" b="0">
                          <a:solidFill>
                            <a:srgbClr val="202C33"/>
                          </a:solidFill>
                          <a:latin typeface="Calibri"/>
                          <a:ea typeface="Calibri"/>
                          <a:cs typeface="Calibri"/>
                        </a:rPr>
                        <a:t>Can the circuit generate activity?</a:t>
                      </a:r>
                    </a:p>
                  </a:txBody>
                  <a:tcPr>
                    <a:solidFill>
                      <a:srgbClr val="FFFFFF"/>
                    </a:solidFill>
                  </a:tcPr>
                </a:tc>
                <a:extLst>
                  <a:ext uri="{0D108BD9-81ED-4DB2-BD59-A6C34878D82A}">
                    <a16:rowId xmlns:a16="http://schemas.microsoft.com/office/drawing/2014/main" val="10001"/>
                  </a:ext>
                </a:extLst>
              </a:tr>
              <a:tr h="531495">
                <a:tc>
                  <a:txBody>
                    <a:bodyPr/>
                    <a:lstStyle/>
                    <a:p>
                      <a:r>
                        <a:rPr sz="1519" b="0">
                          <a:solidFill>
                            <a:srgbClr val="202C33"/>
                          </a:solidFill>
                          <a:latin typeface="Calibri"/>
                          <a:ea typeface="Calibri"/>
                          <a:cs typeface="Calibri"/>
                        </a:rPr>
                        <a:t>Sensory feedback</a:t>
                      </a:r>
                    </a:p>
                  </a:txBody>
                  <a:tcPr>
                    <a:solidFill>
                      <a:srgbClr val="FFFFFF"/>
                    </a:solidFill>
                  </a:tcPr>
                </a:tc>
                <a:tc>
                  <a:txBody>
                    <a:bodyPr/>
                    <a:lstStyle/>
                    <a:p>
                      <a:r>
                        <a:rPr sz="1519" b="0">
                          <a:solidFill>
                            <a:srgbClr val="202C33"/>
                          </a:solidFill>
                          <a:latin typeface="Calibri"/>
                          <a:ea typeface="Calibri"/>
                          <a:cs typeface="Calibri"/>
                        </a:rPr>
                        <a:t>How does feedback reshape the output?</a:t>
                      </a:r>
                    </a:p>
                  </a:txBody>
                  <a:tcPr>
                    <a:solidFill>
                      <a:srgbClr val="FFFFFF"/>
                    </a:solidFill>
                  </a:tcPr>
                </a:tc>
                <a:extLst>
                  <a:ext uri="{0D108BD9-81ED-4DB2-BD59-A6C34878D82A}">
                    <a16:rowId xmlns:a16="http://schemas.microsoft.com/office/drawing/2014/main" val="10002"/>
                  </a:ext>
                </a:extLst>
              </a:tr>
              <a:tr h="476250">
                <a:tc>
                  <a:txBody>
                    <a:bodyPr/>
                    <a:lstStyle/>
                    <a:p>
                      <a:r>
                        <a:rPr sz="1519" b="0">
                          <a:solidFill>
                            <a:srgbClr val="202C33"/>
                          </a:solidFill>
                          <a:latin typeface="Calibri"/>
                          <a:ea typeface="Calibri"/>
                          <a:cs typeface="Calibri"/>
                        </a:rPr>
                        <a:t>Standing and perturbations</a:t>
                      </a:r>
                    </a:p>
                  </a:txBody>
                  <a:tcPr>
                    <a:solidFill>
                      <a:srgbClr val="FFFFFF"/>
                    </a:solidFill>
                  </a:tcPr>
                </a:tc>
                <a:tc>
                  <a:txBody>
                    <a:bodyPr/>
                    <a:lstStyle/>
                    <a:p>
                      <a:r>
                        <a:rPr sz="1519" b="0">
                          <a:solidFill>
                            <a:srgbClr val="202C33"/>
                          </a:solidFill>
                          <a:latin typeface="Calibri"/>
                          <a:ea typeface="Calibri"/>
                          <a:cs typeface="Calibri"/>
                        </a:rPr>
                        <a:t>Can the model maintain posture?</a:t>
                      </a:r>
                    </a:p>
                  </a:txBody>
                  <a:tcPr>
                    <a:solidFill>
                      <a:srgbClr val="FFFFFF"/>
                    </a:solidFill>
                  </a:tcPr>
                </a:tc>
                <a:extLst>
                  <a:ext uri="{0D108BD9-81ED-4DB2-BD59-A6C34878D82A}">
                    <a16:rowId xmlns:a16="http://schemas.microsoft.com/office/drawing/2014/main" val="10003"/>
                  </a:ext>
                </a:extLst>
              </a:tr>
              <a:tr h="531495">
                <a:tc>
                  <a:txBody>
                    <a:bodyPr/>
                    <a:lstStyle/>
                    <a:p>
                      <a:r>
                        <a:rPr sz="1519" b="0">
                          <a:solidFill>
                            <a:srgbClr val="202C33"/>
                          </a:solidFill>
                          <a:latin typeface="Calibri"/>
                          <a:ea typeface="Calibri"/>
                          <a:cs typeface="Calibri"/>
                        </a:rPr>
                        <a:t>Supported ground contact</a:t>
                      </a:r>
                    </a:p>
                  </a:txBody>
                  <a:tcPr>
                    <a:solidFill>
                      <a:srgbClr val="FFFFFF"/>
                    </a:solidFill>
                  </a:tcPr>
                </a:tc>
                <a:tc>
                  <a:txBody>
                    <a:bodyPr/>
                    <a:lstStyle/>
                    <a:p>
                      <a:r>
                        <a:rPr sz="1519" b="0">
                          <a:solidFill>
                            <a:srgbClr val="202C33"/>
                          </a:solidFill>
                          <a:latin typeface="Calibri"/>
                          <a:ea typeface="Calibri"/>
                          <a:cs typeface="Calibri"/>
                        </a:rPr>
                        <a:t>Does physical coordination meet the criterion?</a:t>
                      </a:r>
                    </a:p>
                  </a:txBody>
                  <a:tcPr>
                    <a:solidFill>
                      <a:srgbClr val="FFFFFF"/>
                    </a:solidFill>
                  </a:tcPr>
                </a:tc>
                <a:extLst>
                  <a:ext uri="{0D108BD9-81ED-4DB2-BD59-A6C34878D82A}">
                    <a16:rowId xmlns:a16="http://schemas.microsoft.com/office/drawing/2014/main" val="10004"/>
                  </a:ext>
                </a:extLst>
              </a:tr>
              <a:tr h="531495">
                <a:tc>
                  <a:txBody>
                    <a:bodyPr/>
                    <a:lstStyle/>
                    <a:p>
                      <a:r>
                        <a:rPr sz="1519" b="0">
                          <a:solidFill>
                            <a:srgbClr val="202C33"/>
                          </a:solidFill>
                          <a:latin typeface="Calibri"/>
                          <a:ea typeface="Calibri"/>
                          <a:cs typeface="Calibri"/>
                        </a:rPr>
                        <a:t>Reference and intervention comparisons</a:t>
                      </a:r>
                    </a:p>
                  </a:txBody>
                  <a:tcPr>
                    <a:solidFill>
                      <a:srgbClr val="FFFFFF"/>
                    </a:solidFill>
                  </a:tcPr>
                </a:tc>
                <a:tc>
                  <a:txBody>
                    <a:bodyPr/>
                    <a:lstStyle/>
                    <a:p>
                      <a:r>
                        <a:rPr sz="1519" b="0">
                          <a:solidFill>
                            <a:srgbClr val="202C33"/>
                          </a:solidFill>
                          <a:latin typeface="Calibri"/>
                          <a:ea typeface="Calibri"/>
                          <a:cs typeface="Calibri"/>
                        </a:rPr>
                        <a:t>Which mechanism or mismatch explains the result?</a:t>
                      </a:r>
                    </a:p>
                  </a:txBody>
                  <a:tcPr>
                    <a:solidFill>
                      <a:srgbClr val="FFFFFF"/>
                    </a:solidFil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8CCE2981-B57A-E013-0A44-BAAA290C009D}"/>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22</a:t>
            </a:r>
          </a:p>
        </p:txBody>
      </p:sp>
    </p:spTree>
    <p:extLst>
      <p:ext uri="{BB962C8B-B14F-4D97-AF65-F5344CB8AC3E}">
        <p14:creationId xmlns:p14="http://schemas.microsoft.com/office/powerpoint/2010/main" val="263776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D7E0599A-1124-BFC8-E7C2-238E85F103CC}"/>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Sensory feedback reduces sag in the loaded-arm model</a:t>
            </a:r>
          </a:p>
        </p:txBody>
      </p:sp>
      <p:sp>
        <p:nvSpPr>
          <p:cNvPr id="3" name="Rectangle 2">
            <a:extLst>
              <a:ext uri="{FF2B5EF4-FFF2-40B4-BE49-F238E27FC236}">
                <a16:creationId xmlns:a16="http://schemas.microsoft.com/office/drawing/2014/main" id="{8D10B107-5283-2DAC-9382-912CEA0FD0DB}"/>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C07FEC47-3FBF-05AD-516E-988BC7AFBC41}"/>
              </a:ext>
            </a:extLst>
          </p:cNvPr>
          <p:cNvPicPr>
            <a:picLocks/>
          </p:cNvPicPr>
          <p:nvPr/>
        </p:nvPicPr>
        <p:blipFill>
          <a:blip r:embed="rId3"/>
          <a:stretch/>
        </p:blipFill>
        <p:spPr>
          <a:xfrm>
            <a:off x="838933" y="1271588"/>
            <a:ext cx="3179884" cy="1143000"/>
          </a:xfrm>
          <a:prstGeom prst="rect">
            <a:avLst/>
          </a:prstGeom>
        </p:spPr>
      </p:pic>
      <p:pic>
        <p:nvPicPr>
          <p:cNvPr id="5" name="Picture 4">
            <a:extLst>
              <a:ext uri="{FF2B5EF4-FFF2-40B4-BE49-F238E27FC236}">
                <a16:creationId xmlns:a16="http://schemas.microsoft.com/office/drawing/2014/main" id="{04D3EBA9-FF4F-F50A-DF0D-3860B60767F0}"/>
              </a:ext>
            </a:extLst>
          </p:cNvPr>
          <p:cNvPicPr>
            <a:picLocks/>
          </p:cNvPicPr>
          <p:nvPr/>
        </p:nvPicPr>
        <p:blipFill>
          <a:blip r:embed="rId4"/>
          <a:stretch/>
        </p:blipFill>
        <p:spPr>
          <a:xfrm>
            <a:off x="641424" y="2536032"/>
            <a:ext cx="3574902" cy="1680369"/>
          </a:xfrm>
          <a:prstGeom prst="rect">
            <a:avLst/>
          </a:prstGeom>
        </p:spPr>
      </p:pic>
      <p:pic>
        <p:nvPicPr>
          <p:cNvPr id="6" name="Picture 5">
            <a:extLst>
              <a:ext uri="{FF2B5EF4-FFF2-40B4-BE49-F238E27FC236}">
                <a16:creationId xmlns:a16="http://schemas.microsoft.com/office/drawing/2014/main" id="{38099BDC-2C1E-B901-721E-74137E320471}"/>
              </a:ext>
            </a:extLst>
          </p:cNvPr>
          <p:cNvPicPr>
            <a:picLocks/>
          </p:cNvPicPr>
          <p:nvPr/>
        </p:nvPicPr>
        <p:blipFill>
          <a:blip r:embed="rId5"/>
          <a:stretch/>
        </p:blipFill>
        <p:spPr>
          <a:xfrm>
            <a:off x="5208749" y="1535906"/>
            <a:ext cx="3048470" cy="2680494"/>
          </a:xfrm>
          <a:prstGeom prst="rect">
            <a:avLst/>
          </a:prstGeom>
        </p:spPr>
      </p:pic>
      <p:sp>
        <p:nvSpPr>
          <p:cNvPr id="7" name="Rectangle 6">
            <a:extLst>
              <a:ext uri="{FF2B5EF4-FFF2-40B4-BE49-F238E27FC236}">
                <a16:creationId xmlns:a16="http://schemas.microsoft.com/office/drawing/2014/main" id="{1900F5B4-FB2B-42D4-95F6-D6F479E4A1D9}"/>
              </a:ext>
            </a:extLst>
          </p:cNvPr>
          <p:cNvSpPr>
            <a:spLocks noGrp="1"/>
          </p:cNvSpPr>
          <p:nvPr/>
        </p:nvSpPr>
        <p:spPr>
          <a:xfrm>
            <a:off x="4929189" y="1228725"/>
            <a:ext cx="3571875" cy="300038"/>
          </a:xfrm>
          <a:prstGeom prst="rect">
            <a:avLst/>
          </a:prstGeom>
          <a:noFill/>
          <a:ln w="0">
            <a:noFill/>
          </a:ln>
        </p:spPr>
        <p:txBody>
          <a:bodyPr lIns="0" tIns="0" rIns="0" bIns="0" anchor="t"/>
          <a:lstStyle>
            <a:defPPr>
              <a:defRPr sz="1950" b="1">
                <a:solidFill>
                  <a:srgbClr val="202C33"/>
                </a:solidFill>
                <a:latin typeface="Calibri"/>
                <a:ea typeface="Calibri"/>
                <a:cs typeface="Calibri"/>
              </a:defRPr>
            </a:defPPr>
            <a:lvl1pPr>
              <a:defRPr sz="1950" b="1">
                <a:solidFill>
                  <a:srgbClr val="202C33"/>
                </a:solidFill>
                <a:latin typeface="Calibri"/>
                <a:ea typeface="Calibri"/>
                <a:cs typeface="Calibri"/>
              </a:defRPr>
            </a:lvl1pPr>
            <a:lvl2pPr>
              <a:defRPr sz="1950" b="1">
                <a:solidFill>
                  <a:srgbClr val="202C33"/>
                </a:solidFill>
                <a:latin typeface="Calibri"/>
                <a:ea typeface="Calibri"/>
                <a:cs typeface="Calibri"/>
              </a:defRPr>
            </a:lvl2pPr>
            <a:lvl3pPr>
              <a:defRPr sz="1950" b="1">
                <a:solidFill>
                  <a:srgbClr val="202C33"/>
                </a:solidFill>
                <a:latin typeface="Calibri"/>
                <a:ea typeface="Calibri"/>
                <a:cs typeface="Calibri"/>
              </a:defRPr>
            </a:lvl3pPr>
            <a:lvl4pPr>
              <a:defRPr sz="1950" b="1">
                <a:solidFill>
                  <a:srgbClr val="202C33"/>
                </a:solidFill>
                <a:latin typeface="Calibri"/>
                <a:ea typeface="Calibri"/>
                <a:cs typeface="Calibri"/>
              </a:defRPr>
            </a:lvl4pPr>
            <a:lvl5pPr>
              <a:defRPr sz="1950" b="1">
                <a:solidFill>
                  <a:srgbClr val="202C33"/>
                </a:solidFill>
                <a:latin typeface="Calibri"/>
                <a:ea typeface="Calibri"/>
                <a:cs typeface="Calibri"/>
              </a:defRPr>
            </a:lvl5pPr>
            <a:lvl6pPr>
              <a:defRPr sz="1950" b="1">
                <a:solidFill>
                  <a:srgbClr val="202C33"/>
                </a:solidFill>
                <a:latin typeface="Calibri"/>
                <a:ea typeface="Calibri"/>
                <a:cs typeface="Calibri"/>
              </a:defRPr>
            </a:lvl6pPr>
            <a:lvl7pPr>
              <a:defRPr sz="1950" b="1">
                <a:solidFill>
                  <a:srgbClr val="202C33"/>
                </a:solidFill>
                <a:latin typeface="Calibri"/>
                <a:ea typeface="Calibri"/>
                <a:cs typeface="Calibri"/>
              </a:defRPr>
            </a:lvl7pPr>
            <a:lvl8pPr>
              <a:defRPr sz="1950" b="1">
                <a:solidFill>
                  <a:srgbClr val="202C33"/>
                </a:solidFill>
                <a:latin typeface="Calibri"/>
                <a:ea typeface="Calibri"/>
                <a:cs typeface="Calibri"/>
              </a:defRPr>
            </a:lvl8pPr>
            <a:lvl9pPr>
              <a:defRPr sz="1950" b="1">
                <a:solidFill>
                  <a:srgbClr val="202C33"/>
                </a:solidFill>
                <a:latin typeface="Calibri"/>
                <a:ea typeface="Calibri"/>
                <a:cs typeface="Calibri"/>
              </a:defRPr>
            </a:lvl9pPr>
          </a:lstStyle>
          <a:p>
            <a:pPr>
              <a:defRPr sz="1950" b="1">
                <a:solidFill>
                  <a:srgbClr val="202C33"/>
                </a:solidFill>
                <a:latin typeface="Calibri"/>
                <a:ea typeface="Calibri"/>
                <a:cs typeface="Calibri"/>
              </a:defRPr>
            </a:pPr>
            <a:r>
              <a:rPr sz="1463" b="1">
                <a:solidFill>
                  <a:srgbClr val="202C33"/>
                </a:solidFill>
                <a:latin typeface="Calibri"/>
                <a:ea typeface="Calibri"/>
                <a:cs typeface="Calibri"/>
              </a:rPr>
              <a:t>B  Feedback on/off</a:t>
            </a:r>
          </a:p>
        </p:txBody>
      </p:sp>
      <p:sp>
        <p:nvSpPr>
          <p:cNvPr id="8" name="Rectangle 7">
            <a:extLst>
              <a:ext uri="{FF2B5EF4-FFF2-40B4-BE49-F238E27FC236}">
                <a16:creationId xmlns:a16="http://schemas.microsoft.com/office/drawing/2014/main" id="{897F99CC-ACD8-7333-6F29-FE1401D40B9A}"/>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Sag: 2.00° with feedback · 7.85° without feedback</a:t>
            </a:r>
          </a:p>
        </p:txBody>
      </p:sp>
      <p:sp>
        <p:nvSpPr>
          <p:cNvPr id="9" name="TextBox 8">
            <a:extLst>
              <a:ext uri="{FF2B5EF4-FFF2-40B4-BE49-F238E27FC236}">
                <a16:creationId xmlns:a16="http://schemas.microsoft.com/office/drawing/2014/main" id="{791AEEEB-0358-7A87-ED00-70B544A94C93}"/>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23</a:t>
            </a:r>
          </a:p>
        </p:txBody>
      </p:sp>
    </p:spTree>
    <p:extLst>
      <p:ext uri="{BB962C8B-B14F-4D97-AF65-F5344CB8AC3E}">
        <p14:creationId xmlns:p14="http://schemas.microsoft.com/office/powerpoint/2010/main" val="14524010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ACA2ABFC-8C58-1404-AB9D-80EA6D82CB70}"/>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Two deleted bursts can preserve or reset the rhythm</a:t>
            </a:r>
          </a:p>
        </p:txBody>
      </p:sp>
      <p:sp>
        <p:nvSpPr>
          <p:cNvPr id="3" name="Rectangle 2">
            <a:extLst>
              <a:ext uri="{FF2B5EF4-FFF2-40B4-BE49-F238E27FC236}">
                <a16:creationId xmlns:a16="http://schemas.microsoft.com/office/drawing/2014/main" id="{B06E074B-23BB-4AF5-B04F-CDC03E4B8C99}"/>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234E9584-7382-259F-7355-4CF35035656D}"/>
              </a:ext>
            </a:extLst>
          </p:cNvPr>
          <p:cNvPicPr>
            <a:picLocks/>
          </p:cNvPicPr>
          <p:nvPr/>
        </p:nvPicPr>
        <p:blipFill>
          <a:blip r:embed="rId3"/>
          <a:stretch/>
        </p:blipFill>
        <p:spPr>
          <a:xfrm>
            <a:off x="1701128" y="1214439"/>
            <a:ext cx="2955681" cy="3001961"/>
          </a:xfrm>
          <a:prstGeom prst="rect">
            <a:avLst/>
          </a:prstGeom>
        </p:spPr>
      </p:pic>
      <p:graphicFrame>
        <p:nvGraphicFramePr>
          <p:cNvPr id="5" name="Table 4">
            <a:extLst>
              <a:ext uri="{FF2B5EF4-FFF2-40B4-BE49-F238E27FC236}">
                <a16:creationId xmlns:a16="http://schemas.microsoft.com/office/drawing/2014/main" id="{9079608D-6D34-3185-0BD4-40544567FDE9}"/>
              </a:ext>
            </a:extLst>
          </p:cNvPr>
          <p:cNvGraphicFramePr>
            <a:graphicFrameLocks/>
          </p:cNvGraphicFramePr>
          <p:nvPr>
            <p:extLst>
              <p:ext uri="{D42A27DB-BD31-4B8C-83A1-F6EECF244321}">
                <p14:modId xmlns:p14="http://schemas.microsoft.com/office/powerpoint/2010/main" val="417576051"/>
              </p:ext>
            </p:extLst>
          </p:nvPr>
        </p:nvGraphicFramePr>
        <p:xfrm>
          <a:off x="6107906" y="1714501"/>
          <a:ext cx="2643188" cy="2143125"/>
        </p:xfrm>
        <a:graphic>
          <a:graphicData uri="http://schemas.openxmlformats.org/drawingml/2006/table">
            <a:tbl>
              <a:tblPr/>
              <a:tblGrid>
                <a:gridCol w="1321594">
                  <a:extLst>
                    <a:ext uri="{9D8B030D-6E8A-4147-A177-3AD203B41FA5}">
                      <a16:colId xmlns:a16="http://schemas.microsoft.com/office/drawing/2014/main" val="20000"/>
                    </a:ext>
                  </a:extLst>
                </a:gridCol>
                <a:gridCol w="1321594">
                  <a:extLst>
                    <a:ext uri="{9D8B030D-6E8A-4147-A177-3AD203B41FA5}">
                      <a16:colId xmlns:a16="http://schemas.microsoft.com/office/drawing/2014/main" val="20001"/>
                    </a:ext>
                  </a:extLst>
                </a:gridCol>
              </a:tblGrid>
              <a:tr h="535781">
                <a:tc>
                  <a:txBody>
                    <a:bodyPr/>
                    <a:lstStyle/>
                    <a:p>
                      <a:r>
                        <a:rPr sz="1406" b="1">
                          <a:solidFill>
                            <a:srgbClr val="006D77"/>
                          </a:solidFill>
                          <a:latin typeface="Calibri"/>
                          <a:ea typeface="Calibri"/>
                          <a:cs typeface="Calibri"/>
                        </a:rPr>
                        <a:t>Stimulated layer</a:t>
                      </a:r>
                    </a:p>
                  </a:txBody>
                  <a:tcPr>
                    <a:solidFill>
                      <a:srgbClr val="FFFFFF"/>
                    </a:solidFill>
                  </a:tcPr>
                </a:tc>
                <a:tc>
                  <a:txBody>
                    <a:bodyPr/>
                    <a:lstStyle/>
                    <a:p>
                      <a:r>
                        <a:rPr sz="1406" b="1">
                          <a:solidFill>
                            <a:srgbClr val="006D77"/>
                          </a:solidFill>
                          <a:latin typeface="Calibri"/>
                          <a:ea typeface="Calibri"/>
                          <a:cs typeface="Calibri"/>
                        </a:rPr>
                        <a:t>RG shift, cycles</a:t>
                      </a:r>
                    </a:p>
                  </a:txBody>
                  <a:tcPr>
                    <a:solidFill>
                      <a:srgbClr val="FFFFFF"/>
                    </a:solidFill>
                  </a:tcPr>
                </a:tc>
                <a:extLst>
                  <a:ext uri="{0D108BD9-81ED-4DB2-BD59-A6C34878D82A}">
                    <a16:rowId xmlns:a16="http://schemas.microsoft.com/office/drawing/2014/main" val="10000"/>
                  </a:ext>
                </a:extLst>
              </a:tr>
              <a:tr h="535781">
                <a:tc>
                  <a:txBody>
                    <a:bodyPr/>
                    <a:lstStyle/>
                    <a:p>
                      <a:r>
                        <a:rPr sz="1406" b="0">
                          <a:solidFill>
                            <a:srgbClr val="202C33"/>
                          </a:solidFill>
                          <a:latin typeface="Calibri"/>
                          <a:ea typeface="Calibri"/>
                          <a:cs typeface="Calibri"/>
                        </a:rPr>
                        <a:t>RG</a:t>
                      </a:r>
                    </a:p>
                  </a:txBody>
                  <a:tcPr>
                    <a:solidFill>
                      <a:srgbClr val="FFFFFF"/>
                    </a:solidFill>
                  </a:tcPr>
                </a:tc>
                <a:tc>
                  <a:txBody>
                    <a:bodyPr/>
                    <a:lstStyle/>
                    <a:p>
                      <a:r>
                        <a:rPr sz="1406" b="0">
                          <a:solidFill>
                            <a:srgbClr val="202C33"/>
                          </a:solidFill>
                          <a:latin typeface="Calibri"/>
                          <a:ea typeface="Calibri"/>
                          <a:cs typeface="Calibri"/>
                        </a:rPr>
                        <a:t>0.211</a:t>
                      </a:r>
                    </a:p>
                  </a:txBody>
                  <a:tcPr>
                    <a:solidFill>
                      <a:srgbClr val="FFFFFF"/>
                    </a:solidFill>
                  </a:tcPr>
                </a:tc>
                <a:extLst>
                  <a:ext uri="{0D108BD9-81ED-4DB2-BD59-A6C34878D82A}">
                    <a16:rowId xmlns:a16="http://schemas.microsoft.com/office/drawing/2014/main" val="10001"/>
                  </a:ext>
                </a:extLst>
              </a:tr>
              <a:tr h="535781">
                <a:tc>
                  <a:txBody>
                    <a:bodyPr/>
                    <a:lstStyle/>
                    <a:p>
                      <a:r>
                        <a:rPr sz="1406" b="0">
                          <a:solidFill>
                            <a:srgbClr val="202C33"/>
                          </a:solidFill>
                          <a:latin typeface="Calibri"/>
                          <a:ea typeface="Calibri"/>
                          <a:cs typeface="Calibri"/>
                        </a:rPr>
                        <a:t>PF</a:t>
                      </a:r>
                    </a:p>
                  </a:txBody>
                  <a:tcPr>
                    <a:solidFill>
                      <a:srgbClr val="FFFFFF"/>
                    </a:solidFill>
                  </a:tcPr>
                </a:tc>
                <a:tc>
                  <a:txBody>
                    <a:bodyPr/>
                    <a:lstStyle/>
                    <a:p>
                      <a:r>
                        <a:rPr sz="1406" b="0">
                          <a:solidFill>
                            <a:srgbClr val="202C33"/>
                          </a:solidFill>
                          <a:latin typeface="Calibri"/>
                          <a:ea typeface="Calibri"/>
                          <a:cs typeface="Calibri"/>
                        </a:rPr>
                        <a:t>0.000</a:t>
                      </a:r>
                    </a:p>
                  </a:txBody>
                  <a:tcPr>
                    <a:solidFill>
                      <a:srgbClr val="FFFFFF"/>
                    </a:solidFill>
                  </a:tcPr>
                </a:tc>
                <a:extLst>
                  <a:ext uri="{0D108BD9-81ED-4DB2-BD59-A6C34878D82A}">
                    <a16:rowId xmlns:a16="http://schemas.microsoft.com/office/drawing/2014/main" val="10002"/>
                  </a:ext>
                </a:extLst>
              </a:tr>
              <a:tr h="535781">
                <a:tc>
                  <a:txBody>
                    <a:bodyPr/>
                    <a:lstStyle/>
                    <a:p>
                      <a:r>
                        <a:rPr sz="1406" b="0">
                          <a:solidFill>
                            <a:srgbClr val="202C33"/>
                          </a:solidFill>
                          <a:latin typeface="Calibri"/>
                          <a:ea typeface="Calibri"/>
                          <a:cs typeface="Calibri"/>
                        </a:rPr>
                        <a:t>MN</a:t>
                      </a:r>
                    </a:p>
                  </a:txBody>
                  <a:tcPr>
                    <a:solidFill>
                      <a:srgbClr val="FFFFFF"/>
                    </a:solidFill>
                  </a:tcPr>
                </a:tc>
                <a:tc>
                  <a:txBody>
                    <a:bodyPr/>
                    <a:lstStyle/>
                    <a:p>
                      <a:r>
                        <a:rPr sz="1406" b="0">
                          <a:solidFill>
                            <a:srgbClr val="202C33"/>
                          </a:solidFill>
                          <a:latin typeface="Calibri"/>
                          <a:ea typeface="Calibri"/>
                          <a:cs typeface="Calibri"/>
                        </a:rPr>
                        <a:t>0.000</a:t>
                      </a:r>
                    </a:p>
                  </a:txBody>
                  <a:tcPr>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F3FE9573-1D3B-9011-1670-D84CA040AAC2}"/>
              </a:ext>
            </a:extLst>
          </p:cNvPr>
          <p:cNvSpPr>
            <a:spLocks noGrp="1"/>
          </p:cNvSpPr>
          <p:nvPr/>
        </p:nvSpPr>
        <p:spPr>
          <a:xfrm>
            <a:off x="6107906" y="3873500"/>
            <a:ext cx="2643188" cy="444500"/>
          </a:xfrm>
          <a:prstGeom prst="rect">
            <a:avLst/>
          </a:prstGeom>
          <a:noFill/>
          <a:ln w="0">
            <a:noFill/>
          </a:ln>
        </p:spPr>
        <p:txBody>
          <a:bodyPr lIns="0" tIns="0" rIns="0" bIns="0" anchor="t"/>
          <a:lstStyle>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a:pPr>
              <a:defRPr sz="1725" b="0">
                <a:solidFill>
                  <a:srgbClr val="202C33"/>
                </a:solidFill>
                <a:latin typeface="Calibri"/>
                <a:ea typeface="Calibri"/>
                <a:cs typeface="Calibri"/>
              </a:defRPr>
            </a:pPr>
            <a:r>
              <a:rPr sz="1000" b="0">
                <a:solidFill>
                  <a:srgbClr val="202C33"/>
                </a:solidFill>
                <a:latin typeface="Calibri"/>
                <a:ea typeface="Calibri"/>
                <a:cs typeface="Calibri"/>
              </a:rPr>
              <a:t>RG: rhythm generator</a:t>
            </a:r>
          </a:p>
          <a:p>
            <a:pPr>
              <a:defRPr sz="1725" b="0">
                <a:solidFill>
                  <a:srgbClr val="202C33"/>
                </a:solidFill>
                <a:latin typeface="Calibri"/>
                <a:ea typeface="Calibri"/>
                <a:cs typeface="Calibri"/>
              </a:defRPr>
            </a:pPr>
            <a:r>
              <a:rPr sz="1000" b="0">
                <a:solidFill>
                  <a:srgbClr val="202C33"/>
                </a:solidFill>
                <a:latin typeface="Calibri"/>
                <a:ea typeface="Calibri"/>
                <a:cs typeface="Calibri"/>
              </a:rPr>
              <a:t>PF: pattern formation</a:t>
            </a:r>
          </a:p>
          <a:p>
            <a:pPr>
              <a:defRPr sz="1725" b="0">
                <a:solidFill>
                  <a:srgbClr val="202C33"/>
                </a:solidFill>
                <a:latin typeface="Calibri"/>
                <a:ea typeface="Calibri"/>
                <a:cs typeface="Calibri"/>
              </a:defRPr>
            </a:pPr>
            <a:r>
              <a:rPr sz="1000" b="0">
                <a:solidFill>
                  <a:srgbClr val="202C33"/>
                </a:solidFill>
                <a:latin typeface="Calibri"/>
                <a:ea typeface="Calibri"/>
                <a:cs typeface="Calibri"/>
              </a:rPr>
              <a:t>MN: motor neuron</a:t>
            </a:r>
          </a:p>
        </p:txBody>
      </p:sp>
      <p:sp>
        <p:nvSpPr>
          <p:cNvPr id="7" name="Rectangle 6">
            <a:extLst>
              <a:ext uri="{FF2B5EF4-FFF2-40B4-BE49-F238E27FC236}">
                <a16:creationId xmlns:a16="http://schemas.microsoft.com/office/drawing/2014/main" id="{76061A90-8F9D-F94A-4C28-B7F8456C4DD1}"/>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Reduced Deng-derived circuit · two baseline periods · suspended model</a:t>
            </a:r>
          </a:p>
        </p:txBody>
      </p:sp>
      <p:sp>
        <p:nvSpPr>
          <p:cNvPr id="8" name="TextBox 7">
            <a:extLst>
              <a:ext uri="{FF2B5EF4-FFF2-40B4-BE49-F238E27FC236}">
                <a16:creationId xmlns:a16="http://schemas.microsoft.com/office/drawing/2014/main" id="{7D5AA481-C504-1D4D-EC8A-696C30B7C527}"/>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24</a:t>
            </a:r>
          </a:p>
        </p:txBody>
      </p:sp>
    </p:spTree>
    <p:extLst>
      <p:ext uri="{BB962C8B-B14F-4D97-AF65-F5344CB8AC3E}">
        <p14:creationId xmlns:p14="http://schemas.microsoft.com/office/powerpoint/2010/main" val="286382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72AD8432-B4B3-CDC8-D942-8C78641870E3}"/>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Feedback coordinates foot loading in the W2L model</a:t>
            </a:r>
          </a:p>
        </p:txBody>
      </p:sp>
      <p:sp>
        <p:nvSpPr>
          <p:cNvPr id="3" name="Rectangle 2">
            <a:extLst>
              <a:ext uri="{FF2B5EF4-FFF2-40B4-BE49-F238E27FC236}">
                <a16:creationId xmlns:a16="http://schemas.microsoft.com/office/drawing/2014/main" id="{32D3E407-7B83-4AC2-75AF-721A9D792696}"/>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C09E36FB-3772-7C75-F82F-D55EC3854E3F}"/>
              </a:ext>
            </a:extLst>
          </p:cNvPr>
          <p:cNvPicPr>
            <a:picLocks/>
          </p:cNvPicPr>
          <p:nvPr/>
        </p:nvPicPr>
        <p:blipFill>
          <a:blip r:embed="rId3"/>
          <a:stretch/>
        </p:blipFill>
        <p:spPr>
          <a:xfrm>
            <a:off x="2583215" y="1250156"/>
            <a:ext cx="3941852" cy="2966244"/>
          </a:xfrm>
          <a:prstGeom prst="rect">
            <a:avLst/>
          </a:prstGeom>
        </p:spPr>
      </p:pic>
      <p:sp>
        <p:nvSpPr>
          <p:cNvPr id="5" name="Rectangle 4">
            <a:extLst>
              <a:ext uri="{FF2B5EF4-FFF2-40B4-BE49-F238E27FC236}">
                <a16:creationId xmlns:a16="http://schemas.microsoft.com/office/drawing/2014/main" id="{C39491E2-0848-24B7-4BE7-7977B76CA326}"/>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Median bilateral contact phase: 0.498 intact · 0.223 without feedback</a:t>
            </a:r>
          </a:p>
        </p:txBody>
      </p:sp>
      <p:sp>
        <p:nvSpPr>
          <p:cNvPr id="6" name="TextBox 5">
            <a:extLst>
              <a:ext uri="{FF2B5EF4-FFF2-40B4-BE49-F238E27FC236}">
                <a16:creationId xmlns:a16="http://schemas.microsoft.com/office/drawing/2014/main" id="{A5BED7BC-A908-3A05-60CD-5EC19B4C498F}"/>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25</a:t>
            </a:r>
          </a:p>
        </p:txBody>
      </p:sp>
    </p:spTree>
    <p:extLst>
      <p:ext uri="{BB962C8B-B14F-4D97-AF65-F5344CB8AC3E}">
        <p14:creationId xmlns:p14="http://schemas.microsoft.com/office/powerpoint/2010/main" val="2772698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D20F5E3E-6C87-49DF-DEC6-1A976A4990C6}"/>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Rhythmic Gait2392 cycles retain hip and knee errors</a:t>
            </a:r>
          </a:p>
        </p:txBody>
      </p:sp>
      <p:sp>
        <p:nvSpPr>
          <p:cNvPr id="3" name="Rectangle 2">
            <a:extLst>
              <a:ext uri="{FF2B5EF4-FFF2-40B4-BE49-F238E27FC236}">
                <a16:creationId xmlns:a16="http://schemas.microsoft.com/office/drawing/2014/main" id="{25D0E642-3639-66A1-7613-236EF2B75B9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4262121D-115B-DCED-27B3-B108E1CB0F03}"/>
              </a:ext>
            </a:extLst>
          </p:cNvPr>
          <p:cNvPicPr>
            <a:picLocks/>
          </p:cNvPicPr>
          <p:nvPr/>
        </p:nvPicPr>
        <p:blipFill>
          <a:blip r:embed="rId3"/>
          <a:stretch/>
        </p:blipFill>
        <p:spPr>
          <a:xfrm>
            <a:off x="965505" y="1228726"/>
            <a:ext cx="4998429" cy="2987675"/>
          </a:xfrm>
          <a:prstGeom prst="rect">
            <a:avLst/>
          </a:prstGeom>
        </p:spPr>
      </p:pic>
      <p:sp>
        <p:nvSpPr>
          <p:cNvPr id="5" name="Rectangle 4">
            <a:extLst>
              <a:ext uri="{FF2B5EF4-FFF2-40B4-BE49-F238E27FC236}">
                <a16:creationId xmlns:a16="http://schemas.microsoft.com/office/drawing/2014/main" id="{E5D775C6-358E-53FC-89FA-8E76F611F506}"/>
              </a:ext>
            </a:extLst>
          </p:cNvPr>
          <p:cNvSpPr>
            <a:spLocks noGrp="1"/>
          </p:cNvSpPr>
          <p:nvPr/>
        </p:nvSpPr>
        <p:spPr>
          <a:xfrm>
            <a:off x="6786563" y="1785938"/>
            <a:ext cx="2000250" cy="2000250"/>
          </a:xfrm>
          <a:prstGeom prst="rect">
            <a:avLst/>
          </a:prstGeom>
          <a:noFill/>
          <a:ln w="0">
            <a:noFill/>
          </a:ln>
        </p:spPr>
        <p:txBody>
          <a:bodyPr lIns="0" tIns="0" rIns="0" bIns="0" anchor="t"/>
          <a:lstStyle>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a:pPr>
              <a:defRPr sz="2175" b="0">
                <a:solidFill>
                  <a:srgbClr val="202C33"/>
                </a:solidFill>
                <a:latin typeface="Calibri"/>
                <a:ea typeface="Calibri"/>
                <a:cs typeface="Calibri"/>
              </a:defRPr>
            </a:pPr>
            <a:r>
              <a:rPr sz="1631" b="0">
                <a:solidFill>
                  <a:srgbClr val="202C33"/>
                </a:solidFill>
                <a:latin typeface="Calibri"/>
                <a:ea typeface="Calibri"/>
                <a:cs typeface="Calibri"/>
              </a:rPr>
              <a:t>Hip timing differs</a:t>
            </a:r>
          </a:p>
          <a:p>
            <a:endParaRPr sz="1631" b="0">
              <a:solidFill>
                <a:srgbClr val="202C33"/>
              </a:solidFill>
              <a:latin typeface="Calibri"/>
              <a:ea typeface="Calibri"/>
              <a:cs typeface="Calibri"/>
            </a:endParaRPr>
          </a:p>
          <a:p>
            <a:pPr>
              <a:defRPr sz="2175" b="0">
                <a:solidFill>
                  <a:srgbClr val="202C33"/>
                </a:solidFill>
                <a:latin typeface="Calibri"/>
                <a:ea typeface="Calibri"/>
                <a:cs typeface="Calibri"/>
              </a:defRPr>
            </a:pPr>
            <a:r>
              <a:rPr sz="1631" b="0">
                <a:solidFill>
                  <a:srgbClr val="202C33"/>
                </a:solidFill>
                <a:latin typeface="Calibri"/>
                <a:ea typeface="Calibri"/>
                <a:cs typeface="Calibri"/>
              </a:rPr>
              <a:t>Knee timing differs</a:t>
            </a:r>
          </a:p>
          <a:p>
            <a:endParaRPr sz="1631" b="0">
              <a:solidFill>
                <a:srgbClr val="202C33"/>
              </a:solidFill>
              <a:latin typeface="Calibri"/>
              <a:ea typeface="Calibri"/>
              <a:cs typeface="Calibri"/>
            </a:endParaRPr>
          </a:p>
          <a:p>
            <a:pPr>
              <a:defRPr sz="2175" b="0">
                <a:solidFill>
                  <a:srgbClr val="202C33"/>
                </a:solidFill>
                <a:latin typeface="Calibri"/>
                <a:ea typeface="Calibri"/>
                <a:cs typeface="Calibri"/>
              </a:defRPr>
            </a:pPr>
            <a:r>
              <a:rPr sz="1631" b="0">
                <a:solidFill>
                  <a:srgbClr val="202C33"/>
                </a:solidFill>
                <a:latin typeface="Calibri"/>
                <a:ea typeface="Calibri"/>
                <a:cs typeface="Calibri"/>
              </a:rPr>
              <a:t>No fitted phase shift</a:t>
            </a:r>
          </a:p>
          <a:p>
            <a:pPr>
              <a:defRPr sz="2175" b="0">
                <a:solidFill>
                  <a:srgbClr val="202C33"/>
                </a:solidFill>
                <a:latin typeface="Calibri"/>
                <a:ea typeface="Calibri"/>
                <a:cs typeface="Calibri"/>
              </a:defRPr>
            </a:pPr>
            <a:r>
              <a:rPr sz="1631" b="0">
                <a:solidFill>
                  <a:srgbClr val="202C33"/>
                </a:solidFill>
                <a:latin typeface="Calibri"/>
                <a:ea typeface="Calibri"/>
                <a:cs typeface="Calibri"/>
              </a:rPr>
              <a:t>or amplitude scaling</a:t>
            </a:r>
          </a:p>
        </p:txBody>
      </p:sp>
      <p:sp>
        <p:nvSpPr>
          <p:cNvPr id="6" name="Rectangle 5">
            <a:extLst>
              <a:ext uri="{FF2B5EF4-FFF2-40B4-BE49-F238E27FC236}">
                <a16:creationId xmlns:a16="http://schemas.microsoft.com/office/drawing/2014/main" id="{1164F498-77C7-9B91-F97C-6A057116FE57}"/>
              </a:ext>
            </a:extLst>
          </p:cNvPr>
          <p:cNvSpPr>
            <a:spLocks noGrp="1"/>
          </p:cNvSpPr>
          <p:nvPr/>
        </p:nvSpPr>
        <p:spPr>
          <a:xfrm>
            <a:off x="2143125" y="4140200"/>
            <a:ext cx="4286250" cy="152400"/>
          </a:xfrm>
          <a:prstGeom prst="rect">
            <a:avLst/>
          </a:prstGeom>
          <a:noFill/>
          <a:ln w="0">
            <a:noFill/>
          </a:ln>
        </p:spPr>
        <p:txBody>
          <a:bodyPr lIns="0" tIns="0" rIns="0" bIns="0" anchor="t"/>
          <a:lstStyle>
            <a:defPPr>
              <a:defRPr sz="1650" b="0">
                <a:solidFill>
                  <a:srgbClr val="53616A"/>
                </a:solidFill>
                <a:latin typeface="Calibri"/>
                <a:ea typeface="Calibri"/>
                <a:cs typeface="Calibri"/>
              </a:defRPr>
            </a:defPPr>
            <a:lvl1pPr>
              <a:defRPr sz="1650" b="0">
                <a:solidFill>
                  <a:srgbClr val="53616A"/>
                </a:solidFill>
                <a:latin typeface="Calibri"/>
                <a:ea typeface="Calibri"/>
                <a:cs typeface="Calibri"/>
              </a:defRPr>
            </a:lvl1pPr>
            <a:lvl2pPr>
              <a:defRPr sz="1650" b="0">
                <a:solidFill>
                  <a:srgbClr val="53616A"/>
                </a:solidFill>
                <a:latin typeface="Calibri"/>
                <a:ea typeface="Calibri"/>
                <a:cs typeface="Calibri"/>
              </a:defRPr>
            </a:lvl2pPr>
            <a:lvl3pPr>
              <a:defRPr sz="1650" b="0">
                <a:solidFill>
                  <a:srgbClr val="53616A"/>
                </a:solidFill>
                <a:latin typeface="Calibri"/>
                <a:ea typeface="Calibri"/>
                <a:cs typeface="Calibri"/>
              </a:defRPr>
            </a:lvl3pPr>
            <a:lvl4pPr>
              <a:defRPr sz="1650" b="0">
                <a:solidFill>
                  <a:srgbClr val="53616A"/>
                </a:solidFill>
                <a:latin typeface="Calibri"/>
                <a:ea typeface="Calibri"/>
                <a:cs typeface="Calibri"/>
              </a:defRPr>
            </a:lvl4pPr>
            <a:lvl5pPr>
              <a:defRPr sz="1650" b="0">
                <a:solidFill>
                  <a:srgbClr val="53616A"/>
                </a:solidFill>
                <a:latin typeface="Calibri"/>
                <a:ea typeface="Calibri"/>
                <a:cs typeface="Calibri"/>
              </a:defRPr>
            </a:lvl5pPr>
            <a:lvl6pPr>
              <a:defRPr sz="1650" b="0">
                <a:solidFill>
                  <a:srgbClr val="53616A"/>
                </a:solidFill>
                <a:latin typeface="Calibri"/>
                <a:ea typeface="Calibri"/>
                <a:cs typeface="Calibri"/>
              </a:defRPr>
            </a:lvl6pPr>
            <a:lvl7pPr>
              <a:defRPr sz="1650" b="0">
                <a:solidFill>
                  <a:srgbClr val="53616A"/>
                </a:solidFill>
                <a:latin typeface="Calibri"/>
                <a:ea typeface="Calibri"/>
                <a:cs typeface="Calibri"/>
              </a:defRPr>
            </a:lvl7pPr>
            <a:lvl8pPr>
              <a:defRPr sz="1650" b="0">
                <a:solidFill>
                  <a:srgbClr val="53616A"/>
                </a:solidFill>
                <a:latin typeface="Calibri"/>
                <a:ea typeface="Calibri"/>
                <a:cs typeface="Calibri"/>
              </a:defRPr>
            </a:lvl8pPr>
            <a:lvl9pPr>
              <a:defRPr sz="1650" b="0">
                <a:solidFill>
                  <a:srgbClr val="53616A"/>
                </a:solidFill>
                <a:latin typeface="Calibri"/>
                <a:ea typeface="Calibri"/>
                <a:cs typeface="Calibri"/>
              </a:defRPr>
            </a:lvl9pPr>
          </a:lstStyle>
          <a:p>
            <a:pPr>
              <a:defRPr sz="1650" b="0">
                <a:solidFill>
                  <a:srgbClr val="53616A"/>
                </a:solidFill>
                <a:latin typeface="Calibri"/>
                <a:ea typeface="Calibri"/>
                <a:cs typeface="Calibri"/>
              </a:defRPr>
            </a:pPr>
            <a:r>
              <a:rPr sz="1000" b="0">
                <a:solidFill>
                  <a:srgbClr val="53616A"/>
                </a:solidFill>
                <a:latin typeface="Calibri"/>
                <a:ea typeface="Calibri"/>
                <a:cs typeface="Calibri"/>
              </a:rPr>
              <a:t>Gait cycle, %</a:t>
            </a:r>
          </a:p>
        </p:txBody>
      </p:sp>
      <p:sp>
        <p:nvSpPr>
          <p:cNvPr id="7" name="Rectangle 6">
            <a:extLst>
              <a:ext uri="{FF2B5EF4-FFF2-40B4-BE49-F238E27FC236}">
                <a16:creationId xmlns:a16="http://schemas.microsoft.com/office/drawing/2014/main" id="{8D03C4C6-AFE8-C45C-7293-6C9A58B1333F}"/>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10 cycles per leg · stance fractions 0.71 / 0.65 versus reference 0.61</a:t>
            </a:r>
          </a:p>
        </p:txBody>
      </p:sp>
      <p:sp>
        <p:nvSpPr>
          <p:cNvPr id="8" name="TextBox 7">
            <a:extLst>
              <a:ext uri="{FF2B5EF4-FFF2-40B4-BE49-F238E27FC236}">
                <a16:creationId xmlns:a16="http://schemas.microsoft.com/office/drawing/2014/main" id="{4A501F09-3CD7-6272-7B6A-BFA6D7394A4A}"/>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26</a:t>
            </a:r>
          </a:p>
        </p:txBody>
      </p:sp>
    </p:spTree>
    <p:extLst>
      <p:ext uri="{BB962C8B-B14F-4D97-AF65-F5344CB8AC3E}">
        <p14:creationId xmlns:p14="http://schemas.microsoft.com/office/powerpoint/2010/main" val="1837201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67EACCBC-F2CE-63FB-F154-CC46EA65C54E}"/>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Extra abductor control prevents crossing in the AH001 test</a:t>
            </a:r>
          </a:p>
        </p:txBody>
      </p:sp>
      <p:sp>
        <p:nvSpPr>
          <p:cNvPr id="3" name="Rectangle 2">
            <a:extLst>
              <a:ext uri="{FF2B5EF4-FFF2-40B4-BE49-F238E27FC236}">
                <a16:creationId xmlns:a16="http://schemas.microsoft.com/office/drawing/2014/main" id="{93A5155A-3462-CC36-4AE2-CC7AFA8D8DD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DCA50E5A-19D4-FF1F-9E6F-06C82358207A}"/>
              </a:ext>
            </a:extLst>
          </p:cNvPr>
          <p:cNvPicPr>
            <a:picLocks/>
          </p:cNvPicPr>
          <p:nvPr/>
        </p:nvPicPr>
        <p:blipFill>
          <a:blip r:embed="rId3"/>
          <a:stretch/>
        </p:blipFill>
        <p:spPr>
          <a:xfrm>
            <a:off x="756387" y="1285876"/>
            <a:ext cx="5023757" cy="2930525"/>
          </a:xfrm>
          <a:prstGeom prst="rect">
            <a:avLst/>
          </a:prstGeom>
        </p:spPr>
      </p:pic>
      <p:graphicFrame>
        <p:nvGraphicFramePr>
          <p:cNvPr id="5" name="Table 4">
            <a:extLst>
              <a:ext uri="{FF2B5EF4-FFF2-40B4-BE49-F238E27FC236}">
                <a16:creationId xmlns:a16="http://schemas.microsoft.com/office/drawing/2014/main" id="{B7B4782E-29AF-15F4-5636-AB5F023FB781}"/>
              </a:ext>
            </a:extLst>
          </p:cNvPr>
          <p:cNvGraphicFramePr>
            <a:graphicFrameLocks/>
          </p:cNvGraphicFramePr>
          <p:nvPr>
            <p:extLst>
              <p:ext uri="{D42A27DB-BD31-4B8C-83A1-F6EECF244321}">
                <p14:modId xmlns:p14="http://schemas.microsoft.com/office/powerpoint/2010/main" val="4060222099"/>
              </p:ext>
            </p:extLst>
          </p:nvPr>
        </p:nvGraphicFramePr>
        <p:xfrm>
          <a:off x="6179344" y="1643063"/>
          <a:ext cx="2607469" cy="2071688"/>
        </p:xfrm>
        <a:graphic>
          <a:graphicData uri="http://schemas.openxmlformats.org/drawingml/2006/table">
            <a:tbl>
              <a:tblPr/>
              <a:tblGrid>
                <a:gridCol w="869156">
                  <a:extLst>
                    <a:ext uri="{9D8B030D-6E8A-4147-A177-3AD203B41FA5}">
                      <a16:colId xmlns:a16="http://schemas.microsoft.com/office/drawing/2014/main" val="20000"/>
                    </a:ext>
                  </a:extLst>
                </a:gridCol>
                <a:gridCol w="869156">
                  <a:extLst>
                    <a:ext uri="{9D8B030D-6E8A-4147-A177-3AD203B41FA5}">
                      <a16:colId xmlns:a16="http://schemas.microsoft.com/office/drawing/2014/main" val="20001"/>
                    </a:ext>
                  </a:extLst>
                </a:gridCol>
                <a:gridCol w="869156">
                  <a:extLst>
                    <a:ext uri="{9D8B030D-6E8A-4147-A177-3AD203B41FA5}">
                      <a16:colId xmlns:a16="http://schemas.microsoft.com/office/drawing/2014/main" val="20002"/>
                    </a:ext>
                  </a:extLst>
                </a:gridCol>
              </a:tblGrid>
              <a:tr h="690563">
                <a:tc>
                  <a:txBody>
                    <a:bodyPr/>
                    <a:lstStyle/>
                    <a:p>
                      <a:r>
                        <a:rPr sz="1294" b="1">
                          <a:solidFill>
                            <a:srgbClr val="006D77"/>
                          </a:solidFill>
                          <a:latin typeface="Calibri"/>
                          <a:ea typeface="Calibri"/>
                          <a:cs typeface="Calibri"/>
                        </a:rPr>
                        <a:t>15–40 s</a:t>
                      </a:r>
                    </a:p>
                  </a:txBody>
                  <a:tcPr>
                    <a:solidFill>
                      <a:srgbClr val="FFFFFF"/>
                    </a:solidFill>
                  </a:tcPr>
                </a:tc>
                <a:tc>
                  <a:txBody>
                    <a:bodyPr/>
                    <a:lstStyle/>
                    <a:p>
                      <a:r>
                        <a:rPr sz="1294" b="1">
                          <a:solidFill>
                            <a:srgbClr val="006D77"/>
                          </a:solidFill>
                          <a:latin typeface="Calibri"/>
                          <a:ea typeface="Calibri"/>
                          <a:cs typeface="Calibri"/>
                        </a:rPr>
                        <a:t>Off</a:t>
                      </a:r>
                    </a:p>
                  </a:txBody>
                  <a:tcPr>
                    <a:solidFill>
                      <a:srgbClr val="FFFFFF"/>
                    </a:solidFill>
                  </a:tcPr>
                </a:tc>
                <a:tc>
                  <a:txBody>
                    <a:bodyPr/>
                    <a:lstStyle/>
                    <a:p>
                      <a:r>
                        <a:rPr sz="1294" b="1">
                          <a:solidFill>
                            <a:srgbClr val="006D77"/>
                          </a:solidFill>
                          <a:latin typeface="Calibri"/>
                          <a:ea typeface="Calibri"/>
                          <a:cs typeface="Calibri"/>
                        </a:rPr>
                        <a:t>On</a:t>
                      </a:r>
                    </a:p>
                  </a:txBody>
                  <a:tcPr>
                    <a:solidFill>
                      <a:srgbClr val="FFFFFF"/>
                    </a:solidFill>
                  </a:tcPr>
                </a:tc>
                <a:extLst>
                  <a:ext uri="{0D108BD9-81ED-4DB2-BD59-A6C34878D82A}">
                    <a16:rowId xmlns:a16="http://schemas.microsoft.com/office/drawing/2014/main" val="10000"/>
                  </a:ext>
                </a:extLst>
              </a:tr>
              <a:tr h="690563">
                <a:tc>
                  <a:txBody>
                    <a:bodyPr/>
                    <a:lstStyle/>
                    <a:p>
                      <a:r>
                        <a:rPr sz="1294" b="0">
                          <a:solidFill>
                            <a:srgbClr val="202C33"/>
                          </a:solidFill>
                          <a:latin typeface="Calibri"/>
                          <a:ea typeface="Calibri"/>
                          <a:cs typeface="Calibri"/>
                        </a:rPr>
                        <a:t>Crossed states</a:t>
                      </a:r>
                    </a:p>
                  </a:txBody>
                  <a:tcPr>
                    <a:solidFill>
                      <a:srgbClr val="FFFFFF"/>
                    </a:solidFill>
                  </a:tcPr>
                </a:tc>
                <a:tc>
                  <a:txBody>
                    <a:bodyPr/>
                    <a:lstStyle/>
                    <a:p>
                      <a:r>
                        <a:rPr sz="1294" b="0">
                          <a:solidFill>
                            <a:srgbClr val="202C33"/>
                          </a:solidFill>
                          <a:latin typeface="Calibri"/>
                          <a:ea typeface="Calibri"/>
                          <a:cs typeface="Calibri"/>
                        </a:rPr>
                        <a:t>67%</a:t>
                      </a:r>
                    </a:p>
                  </a:txBody>
                  <a:tcPr>
                    <a:solidFill>
                      <a:srgbClr val="FFFFFF"/>
                    </a:solidFill>
                  </a:tcPr>
                </a:tc>
                <a:tc>
                  <a:txBody>
                    <a:bodyPr/>
                    <a:lstStyle/>
                    <a:p>
                      <a:r>
                        <a:rPr sz="1294" b="0">
                          <a:solidFill>
                            <a:srgbClr val="202C33"/>
                          </a:solidFill>
                          <a:latin typeface="Calibri"/>
                          <a:ea typeface="Calibri"/>
                          <a:cs typeface="Calibri"/>
                        </a:rPr>
                        <a:t>0%</a:t>
                      </a:r>
                    </a:p>
                  </a:txBody>
                  <a:tcPr>
                    <a:solidFill>
                      <a:srgbClr val="FFFFFF"/>
                    </a:solidFill>
                  </a:tcPr>
                </a:tc>
                <a:extLst>
                  <a:ext uri="{0D108BD9-81ED-4DB2-BD59-A6C34878D82A}">
                    <a16:rowId xmlns:a16="http://schemas.microsoft.com/office/drawing/2014/main" val="10001"/>
                  </a:ext>
                </a:extLst>
              </a:tr>
              <a:tr h="690563">
                <a:tc>
                  <a:txBody>
                    <a:bodyPr/>
                    <a:lstStyle/>
                    <a:p>
                      <a:r>
                        <a:rPr sz="1294" b="0">
                          <a:solidFill>
                            <a:srgbClr val="202C33"/>
                          </a:solidFill>
                          <a:latin typeface="Calibri"/>
                          <a:ea typeface="Calibri"/>
                          <a:cs typeface="Calibri"/>
                        </a:rPr>
                        <a:t>Min. spacing</a:t>
                      </a:r>
                    </a:p>
                  </a:txBody>
                  <a:tcPr>
                    <a:solidFill>
                      <a:srgbClr val="FFFFFF"/>
                    </a:solidFill>
                  </a:tcPr>
                </a:tc>
                <a:tc>
                  <a:txBody>
                    <a:bodyPr/>
                    <a:lstStyle/>
                    <a:p>
                      <a:r>
                        <a:rPr sz="1294" b="0">
                          <a:solidFill>
                            <a:srgbClr val="202C33"/>
                          </a:solidFill>
                          <a:latin typeface="Calibri"/>
                          <a:ea typeface="Calibri"/>
                          <a:cs typeface="Calibri"/>
                        </a:rPr>
                        <a:t>−38.3 mm</a:t>
                      </a:r>
                    </a:p>
                  </a:txBody>
                  <a:tcPr>
                    <a:solidFill>
                      <a:srgbClr val="FFFFFF"/>
                    </a:solidFill>
                  </a:tcPr>
                </a:tc>
                <a:tc>
                  <a:txBody>
                    <a:bodyPr/>
                    <a:lstStyle/>
                    <a:p>
                      <a:r>
                        <a:rPr sz="1294" b="0">
                          <a:solidFill>
                            <a:srgbClr val="202C33"/>
                          </a:solidFill>
                          <a:latin typeface="Calibri"/>
                          <a:ea typeface="Calibri"/>
                          <a:cs typeface="Calibri"/>
                        </a:rPr>
                        <a:t>142.4 mm</a:t>
                      </a:r>
                    </a:p>
                  </a:txBody>
                  <a:tcPr>
                    <a:solidFill>
                      <a:srgbClr val="FFFFFF"/>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BA2E4E3E-A356-8E6C-4C74-4ABC55A08A12}"/>
              </a:ext>
            </a:extLst>
          </p:cNvPr>
          <p:cNvSpPr>
            <a:spLocks noGrp="1"/>
          </p:cNvSpPr>
          <p:nvPr/>
        </p:nvSpPr>
        <p:spPr>
          <a:xfrm>
            <a:off x="428625" y="4203700"/>
            <a:ext cx="8286750" cy="3175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lang="en-US" sz="1050" b="1">
                <a:solidFill>
                  <a:srgbClr val="006D77"/>
                </a:solidFill>
                <a:latin typeface="Calibri"/>
                <a:ea typeface="Calibri"/>
                <a:cs typeface="Calibri"/>
              </a:rPr>
              <a:t>54 reference-tension actuators; 80% vertical + lateral/angular assistance</a:t>
            </a:r>
          </a:p>
          <a:p>
            <a:pPr>
              <a:defRPr sz="2100" b="1">
                <a:solidFill>
                  <a:srgbClr val="006D77"/>
                </a:solidFill>
                <a:latin typeface="Calibri"/>
                <a:ea typeface="Calibri"/>
                <a:cs typeface="Calibri"/>
              </a:defRPr>
            </a:pPr>
            <a:r>
              <a:rPr lang="en-US" sz="1050" b="1">
                <a:solidFill>
                  <a:srgbClr val="006D77"/>
                </a:solidFill>
                <a:latin typeface="Calibri"/>
                <a:ea typeface="Calibri"/>
                <a:cs typeface="Calibri"/>
              </a:rPr>
              <a:t>MN clamp cancels PF/reflex currents; regular stepping unverified</a:t>
            </a:r>
            <a:endParaRPr sz="1050" b="1">
              <a:solidFill>
                <a:srgbClr val="006D77"/>
              </a:solidFill>
              <a:latin typeface="Calibri"/>
              <a:ea typeface="Calibri"/>
              <a:cs typeface="Calibri"/>
            </a:endParaRPr>
          </a:p>
        </p:txBody>
      </p:sp>
      <p:sp>
        <p:nvSpPr>
          <p:cNvPr id="7" name="TextBox 6">
            <a:extLst>
              <a:ext uri="{FF2B5EF4-FFF2-40B4-BE49-F238E27FC236}">
                <a16:creationId xmlns:a16="http://schemas.microsoft.com/office/drawing/2014/main" id="{E3A69C0C-0A85-8F02-61C8-A508C587CD02}"/>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27</a:t>
            </a:r>
          </a:p>
        </p:txBody>
      </p:sp>
    </p:spTree>
    <p:extLst>
      <p:ext uri="{BB962C8B-B14F-4D97-AF65-F5344CB8AC3E}">
        <p14:creationId xmlns:p14="http://schemas.microsoft.com/office/powerpoint/2010/main" val="2706334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ADE4C25A-C88D-00F9-6EF2-FC152B3E0369}"/>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These contributions enable better-defined research experiments</a:t>
            </a:r>
          </a:p>
        </p:txBody>
      </p:sp>
      <p:sp>
        <p:nvSpPr>
          <p:cNvPr id="3" name="Rectangle 2">
            <a:extLst>
              <a:ext uri="{FF2B5EF4-FFF2-40B4-BE49-F238E27FC236}">
                <a16:creationId xmlns:a16="http://schemas.microsoft.com/office/drawing/2014/main" id="{E6684D33-104C-0521-2DB5-04B7C6FCE5AA}"/>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Introduction, Discussion, and Conclusion</a:t>
            </a:r>
          </a:p>
        </p:txBody>
      </p:sp>
      <p:graphicFrame>
        <p:nvGraphicFramePr>
          <p:cNvPr id="4" name="Table 3">
            <a:extLst>
              <a:ext uri="{FF2B5EF4-FFF2-40B4-BE49-F238E27FC236}">
                <a16:creationId xmlns:a16="http://schemas.microsoft.com/office/drawing/2014/main" id="{91C087E2-BBA1-4021-9144-CCC01C81DBD2}"/>
              </a:ext>
            </a:extLst>
          </p:cNvPr>
          <p:cNvGraphicFramePr>
            <a:graphicFrameLocks/>
          </p:cNvGraphicFramePr>
          <p:nvPr>
            <p:extLst>
              <p:ext uri="{D42A27DB-BD31-4B8C-83A1-F6EECF244321}">
                <p14:modId xmlns:p14="http://schemas.microsoft.com/office/powerpoint/2010/main" val="2771238591"/>
              </p:ext>
            </p:extLst>
          </p:nvPr>
        </p:nvGraphicFramePr>
        <p:xfrm>
          <a:off x="428625" y="1321594"/>
          <a:ext cx="8286750" cy="2716054"/>
        </p:xfrm>
        <a:graphic>
          <a:graphicData uri="http://schemas.openxmlformats.org/drawingml/2006/table">
            <a:tbl>
              <a:tblPr/>
              <a:tblGrid>
                <a:gridCol w="4143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tblGrid>
              <a:tr h="521494">
                <a:tc>
                  <a:txBody>
                    <a:bodyPr/>
                    <a:lstStyle/>
                    <a:p>
                      <a:r>
                        <a:rPr sz="1575" b="1">
                          <a:solidFill>
                            <a:srgbClr val="006D77"/>
                          </a:solidFill>
                          <a:latin typeface="Calibri"/>
                          <a:ea typeface="Calibri"/>
                          <a:cs typeface="Calibri"/>
                        </a:rPr>
                        <a:t>Contribution</a:t>
                      </a:r>
                    </a:p>
                  </a:txBody>
                  <a:tcPr>
                    <a:solidFill>
                      <a:srgbClr val="FFFFFF"/>
                    </a:solidFill>
                  </a:tcPr>
                </a:tc>
                <a:tc>
                  <a:txBody>
                    <a:bodyPr/>
                    <a:lstStyle/>
                    <a:p>
                      <a:r>
                        <a:rPr sz="1575" b="1">
                          <a:solidFill>
                            <a:srgbClr val="006D77"/>
                          </a:solidFill>
                          <a:latin typeface="Calibri"/>
                          <a:ea typeface="Calibri"/>
                          <a:cs typeface="Calibri"/>
                        </a:rPr>
                        <a:t>Research enabled</a:t>
                      </a:r>
                    </a:p>
                  </a:txBody>
                  <a:tcPr>
                    <a:solidFill>
                      <a:srgbClr val="FFFFFF"/>
                    </a:solidFill>
                  </a:tcPr>
                </a:tc>
                <a:extLst>
                  <a:ext uri="{0D108BD9-81ED-4DB2-BD59-A6C34878D82A}">
                    <a16:rowId xmlns:a16="http://schemas.microsoft.com/office/drawing/2014/main" val="10000"/>
                  </a:ext>
                </a:extLst>
              </a:tr>
              <a:tr h="548640">
                <a:tc>
                  <a:txBody>
                    <a:bodyPr/>
                    <a:lstStyle/>
                    <a:p>
                      <a:r>
                        <a:rPr sz="1575" b="0">
                          <a:solidFill>
                            <a:srgbClr val="202C33"/>
                          </a:solidFill>
                          <a:latin typeface="Calibri"/>
                          <a:ea typeface="Calibri"/>
                          <a:cs typeface="Calibri"/>
                        </a:rPr>
                        <a:t>BPA force model</a:t>
                      </a:r>
                    </a:p>
                  </a:txBody>
                  <a:tcPr>
                    <a:solidFill>
                      <a:srgbClr val="FFFFFF"/>
                    </a:solidFill>
                  </a:tcPr>
                </a:tc>
                <a:tc>
                  <a:txBody>
                    <a:bodyPr/>
                    <a:lstStyle/>
                    <a:p>
                      <a:r>
                        <a:rPr sz="1575" b="0">
                          <a:solidFill>
                            <a:srgbClr val="202C33"/>
                          </a:solidFill>
                          <a:latin typeface="Calibri"/>
                          <a:ea typeface="Calibri"/>
                          <a:cs typeface="Calibri"/>
                        </a:rPr>
                        <a:t>Compare actuator lengths before building a route</a:t>
                      </a:r>
                    </a:p>
                  </a:txBody>
                  <a:tcPr>
                    <a:solidFill>
                      <a:srgbClr val="FFFFFF"/>
                    </a:solidFill>
                  </a:tcPr>
                </a:tc>
                <a:extLst>
                  <a:ext uri="{0D108BD9-81ED-4DB2-BD59-A6C34878D82A}">
                    <a16:rowId xmlns:a16="http://schemas.microsoft.com/office/drawing/2014/main" val="10001"/>
                  </a:ext>
                </a:extLst>
              </a:tr>
              <a:tr h="548640">
                <a:tc>
                  <a:txBody>
                    <a:bodyPr/>
                    <a:lstStyle/>
                    <a:p>
                      <a:r>
                        <a:rPr sz="1575" b="0">
                          <a:solidFill>
                            <a:srgbClr val="202C33"/>
                          </a:solidFill>
                          <a:latin typeface="Calibri"/>
                          <a:ea typeface="Calibri"/>
                          <a:cs typeface="Calibri"/>
                        </a:rPr>
                        <a:t>Joint design factors and physical tests</a:t>
                      </a:r>
                    </a:p>
                  </a:txBody>
                  <a:tcPr>
                    <a:solidFill>
                      <a:srgbClr val="FFFFFF"/>
                    </a:solidFill>
                  </a:tcPr>
                </a:tc>
                <a:tc>
                  <a:txBody>
                    <a:bodyPr/>
                    <a:lstStyle/>
                    <a:p>
                      <a:r>
                        <a:rPr sz="1575" b="0">
                          <a:solidFill>
                            <a:srgbClr val="202C33"/>
                          </a:solidFill>
                          <a:latin typeface="Calibri"/>
                          <a:ea typeface="Calibri"/>
                          <a:cs typeface="Calibri"/>
                        </a:rPr>
                        <a:t>Test transmission choices against torque requirements</a:t>
                      </a:r>
                    </a:p>
                  </a:txBody>
                  <a:tcPr>
                    <a:solidFill>
                      <a:srgbClr val="FFFFFF"/>
                    </a:solidFill>
                  </a:tcPr>
                </a:tc>
                <a:extLst>
                  <a:ext uri="{0D108BD9-81ED-4DB2-BD59-A6C34878D82A}">
                    <a16:rowId xmlns:a16="http://schemas.microsoft.com/office/drawing/2014/main" val="10002"/>
                  </a:ext>
                </a:extLst>
              </a:tr>
              <a:tr h="548640">
                <a:tc>
                  <a:txBody>
                    <a:bodyPr/>
                    <a:lstStyle/>
                    <a:p>
                      <a:r>
                        <a:rPr sz="1575" b="0">
                          <a:solidFill>
                            <a:srgbClr val="202C33"/>
                          </a:solidFill>
                          <a:latin typeface="Calibri"/>
                          <a:ea typeface="Calibri"/>
                          <a:cs typeface="Calibri"/>
                        </a:rPr>
                        <a:t>SADb</a:t>
                      </a:r>
                    </a:p>
                  </a:txBody>
                  <a:tcPr>
                    <a:solidFill>
                      <a:srgbClr val="FFFFFF"/>
                    </a:solidFill>
                  </a:tcPr>
                </a:tc>
                <a:tc>
                  <a:txBody>
                    <a:bodyPr/>
                    <a:lstStyle/>
                    <a:p>
                      <a:r>
                        <a:rPr sz="1575" b="0">
                          <a:solidFill>
                            <a:srgbClr val="202C33"/>
                          </a:solidFill>
                          <a:latin typeface="Calibri"/>
                          <a:ea typeface="Calibri"/>
                          <a:cs typeface="Calibri"/>
                        </a:rPr>
                        <a:t>Select feedback hypotheses with source context</a:t>
                      </a:r>
                    </a:p>
                  </a:txBody>
                  <a:tcPr>
                    <a:solidFill>
                      <a:srgbClr val="FFFFFF"/>
                    </a:solidFill>
                  </a:tcPr>
                </a:tc>
                <a:extLst>
                  <a:ext uri="{0D108BD9-81ED-4DB2-BD59-A6C34878D82A}">
                    <a16:rowId xmlns:a16="http://schemas.microsoft.com/office/drawing/2014/main" val="10003"/>
                  </a:ext>
                </a:extLst>
              </a:tr>
              <a:tr h="548640">
                <a:tc>
                  <a:txBody>
                    <a:bodyPr/>
                    <a:lstStyle/>
                    <a:p>
                      <a:r>
                        <a:rPr sz="1575" b="0">
                          <a:solidFill>
                            <a:srgbClr val="202C33"/>
                          </a:solidFill>
                          <a:latin typeface="Calibri"/>
                          <a:ea typeface="Calibri"/>
                          <a:cs typeface="Calibri"/>
                        </a:rPr>
                        <a:t>SNS tools and controlled demonstrations</a:t>
                      </a:r>
                    </a:p>
                  </a:txBody>
                  <a:tcPr>
                    <a:solidFill>
                      <a:srgbClr val="FFFFFF"/>
                    </a:solidFill>
                  </a:tcPr>
                </a:tc>
                <a:tc>
                  <a:txBody>
                    <a:bodyPr/>
                    <a:lstStyle/>
                    <a:p>
                      <a:r>
                        <a:rPr sz="1575" b="0">
                          <a:solidFill>
                            <a:srgbClr val="202C33"/>
                          </a:solidFill>
                          <a:latin typeface="Calibri"/>
                          <a:ea typeface="Calibri"/>
                          <a:cs typeface="Calibri"/>
                        </a:rPr>
                        <a:t>Distinguish neural, sensory, and mechanical effects</a:t>
                      </a:r>
                    </a:p>
                  </a:txBody>
                  <a:tcPr>
                    <a:solidFill>
                      <a:srgbClr val="FFFFFF"/>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DA1F59CD-F98F-98C6-8188-48AE9A05BA8B}"/>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28</a:t>
            </a:r>
          </a:p>
        </p:txBody>
      </p:sp>
    </p:spTree>
    <p:extLst>
      <p:ext uri="{BB962C8B-B14F-4D97-AF65-F5344CB8AC3E}">
        <p14:creationId xmlns:p14="http://schemas.microsoft.com/office/powerpoint/2010/main" val="10689282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DD63B029-7826-0528-9B8A-3227C532756D}"/>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Future experiments can connect these foundations to the research goals</a:t>
            </a:r>
          </a:p>
        </p:txBody>
      </p:sp>
      <p:sp>
        <p:nvSpPr>
          <p:cNvPr id="3" name="Rectangle 2">
            <a:extLst>
              <a:ext uri="{FF2B5EF4-FFF2-40B4-BE49-F238E27FC236}">
                <a16:creationId xmlns:a16="http://schemas.microsoft.com/office/drawing/2014/main" id="{776A7394-8E21-FC33-0C1E-60D0E38E331E}"/>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Discussion; current model limitations</a:t>
            </a:r>
          </a:p>
        </p:txBody>
      </p:sp>
      <p:graphicFrame>
        <p:nvGraphicFramePr>
          <p:cNvPr id="4" name="Table 3">
            <a:extLst>
              <a:ext uri="{FF2B5EF4-FFF2-40B4-BE49-F238E27FC236}">
                <a16:creationId xmlns:a16="http://schemas.microsoft.com/office/drawing/2014/main" id="{0BA4AA30-1DAA-09AD-9209-51285EBE4197}"/>
              </a:ext>
            </a:extLst>
          </p:cNvPr>
          <p:cNvGraphicFramePr>
            <a:graphicFrameLocks/>
          </p:cNvGraphicFramePr>
          <p:nvPr>
            <p:extLst>
              <p:ext uri="{D42A27DB-BD31-4B8C-83A1-F6EECF244321}">
                <p14:modId xmlns:p14="http://schemas.microsoft.com/office/powerpoint/2010/main" val="3644426137"/>
              </p:ext>
            </p:extLst>
          </p:nvPr>
        </p:nvGraphicFramePr>
        <p:xfrm>
          <a:off x="428625" y="1571626"/>
          <a:ext cx="8286750" cy="2197417"/>
        </p:xfrm>
        <a:graphic>
          <a:graphicData uri="http://schemas.openxmlformats.org/drawingml/2006/table">
            <a:tbl>
              <a:tblPr/>
              <a:tblGrid>
                <a:gridCol w="4143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tblGrid>
              <a:tr h="500062">
                <a:tc>
                  <a:txBody>
                    <a:bodyPr/>
                    <a:lstStyle/>
                    <a:p>
                      <a:r>
                        <a:rPr sz="1631" b="1">
                          <a:solidFill>
                            <a:srgbClr val="006D77"/>
                          </a:solidFill>
                          <a:latin typeface="Calibri"/>
                          <a:ea typeface="Calibri"/>
                          <a:cs typeface="Calibri"/>
                        </a:rPr>
                        <a:t>Research goal</a:t>
                      </a:r>
                    </a:p>
                  </a:txBody>
                  <a:tcPr>
                    <a:solidFill>
                      <a:srgbClr val="FFFFFF"/>
                    </a:solidFill>
                  </a:tcPr>
                </a:tc>
                <a:tc>
                  <a:txBody>
                    <a:bodyPr/>
                    <a:lstStyle/>
                    <a:p>
                      <a:r>
                        <a:rPr sz="1631" b="1">
                          <a:solidFill>
                            <a:srgbClr val="006D77"/>
                          </a:solidFill>
                          <a:latin typeface="Calibri"/>
                          <a:ea typeface="Calibri"/>
                          <a:cs typeface="Calibri"/>
                        </a:rPr>
                        <a:t>Next experiments</a:t>
                      </a:r>
                    </a:p>
                  </a:txBody>
                  <a:tcPr>
                    <a:solidFill>
                      <a:srgbClr val="FFFFFF"/>
                    </a:solidFill>
                  </a:tcPr>
                </a:tc>
                <a:extLst>
                  <a:ext uri="{0D108BD9-81ED-4DB2-BD59-A6C34878D82A}">
                    <a16:rowId xmlns:a16="http://schemas.microsoft.com/office/drawing/2014/main" val="10000"/>
                  </a:ext>
                </a:extLst>
              </a:tr>
              <a:tr h="565785">
                <a:tc>
                  <a:txBody>
                    <a:bodyPr/>
                    <a:lstStyle/>
                    <a:p>
                      <a:r>
                        <a:rPr sz="1631" b="0">
                          <a:solidFill>
                            <a:srgbClr val="202C33"/>
                          </a:solidFill>
                          <a:latin typeface="Calibri"/>
                          <a:ea typeface="Calibri"/>
                          <a:cs typeface="Calibri"/>
                        </a:rPr>
                        <a:t>Autonomy in unstructured environments</a:t>
                      </a:r>
                    </a:p>
                  </a:txBody>
                  <a:tcPr>
                    <a:solidFill>
                      <a:srgbClr val="FFFFFF"/>
                    </a:solidFill>
                  </a:tcPr>
                </a:tc>
                <a:tc>
                  <a:txBody>
                    <a:bodyPr/>
                    <a:lstStyle/>
                    <a:p>
                      <a:r>
                        <a:rPr sz="1631" b="0">
                          <a:solidFill>
                            <a:srgbClr val="202C33"/>
                          </a:solidFill>
                          <a:latin typeface="Calibri"/>
                          <a:ea typeface="Calibri"/>
                          <a:cs typeface="Calibri"/>
                        </a:rPr>
                        <a:t>Dynamic loading, perturbations, and graded support reduction</a:t>
                      </a:r>
                    </a:p>
                  </a:txBody>
                  <a:tcPr>
                    <a:solidFill>
                      <a:srgbClr val="FFFFFF"/>
                    </a:solidFill>
                  </a:tcPr>
                </a:tc>
                <a:extLst>
                  <a:ext uri="{0D108BD9-81ED-4DB2-BD59-A6C34878D82A}">
                    <a16:rowId xmlns:a16="http://schemas.microsoft.com/office/drawing/2014/main" val="10001"/>
                  </a:ext>
                </a:extLst>
              </a:tr>
              <a:tr h="565785">
                <a:tc>
                  <a:txBody>
                    <a:bodyPr/>
                    <a:lstStyle/>
                    <a:p>
                      <a:r>
                        <a:rPr sz="1631" b="0">
                          <a:solidFill>
                            <a:srgbClr val="202C33"/>
                          </a:solidFill>
                          <a:latin typeface="Calibri"/>
                          <a:ea typeface="Calibri"/>
                          <a:cs typeface="Calibri"/>
                        </a:rPr>
                        <a:t>Understanding biological mechanisms</a:t>
                      </a:r>
                    </a:p>
                  </a:txBody>
                  <a:tcPr>
                    <a:solidFill>
                      <a:srgbClr val="FFFFFF"/>
                    </a:solidFill>
                  </a:tcPr>
                </a:tc>
                <a:tc>
                  <a:txBody>
                    <a:bodyPr/>
                    <a:lstStyle/>
                    <a:p>
                      <a:r>
                        <a:rPr sz="1631" b="0">
                          <a:solidFill>
                            <a:srgbClr val="202C33"/>
                          </a:solidFill>
                          <a:latin typeface="Calibri"/>
                          <a:ea typeface="Calibri"/>
                          <a:cs typeface="Calibri"/>
                        </a:rPr>
                        <a:t>Matched neural-pathway and mechanical interventions</a:t>
                      </a:r>
                    </a:p>
                  </a:txBody>
                  <a:tcPr>
                    <a:solidFill>
                      <a:srgbClr val="FFFFFF"/>
                    </a:solidFill>
                  </a:tcPr>
                </a:tc>
                <a:extLst>
                  <a:ext uri="{0D108BD9-81ED-4DB2-BD59-A6C34878D82A}">
                    <a16:rowId xmlns:a16="http://schemas.microsoft.com/office/drawing/2014/main" val="10002"/>
                  </a:ext>
                </a:extLst>
              </a:tr>
              <a:tr h="565785">
                <a:tc>
                  <a:txBody>
                    <a:bodyPr/>
                    <a:lstStyle/>
                    <a:p>
                      <a:r>
                        <a:rPr sz="1631" b="0">
                          <a:solidFill>
                            <a:srgbClr val="202C33"/>
                          </a:solidFill>
                          <a:latin typeface="Calibri"/>
                          <a:ea typeface="Calibri"/>
                          <a:cs typeface="Calibri"/>
                        </a:rPr>
                        <a:t>Prosthetic and orthotic translation</a:t>
                      </a:r>
                    </a:p>
                  </a:txBody>
                  <a:tcPr>
                    <a:solidFill>
                      <a:srgbClr val="FFFFFF"/>
                    </a:solidFill>
                  </a:tcPr>
                </a:tc>
                <a:tc>
                  <a:txBody>
                    <a:bodyPr/>
                    <a:lstStyle/>
                    <a:p>
                      <a:r>
                        <a:rPr sz="1631" b="0">
                          <a:solidFill>
                            <a:srgbClr val="202C33"/>
                          </a:solidFill>
                          <a:latin typeface="Calibri"/>
                          <a:ea typeface="Calibri"/>
                          <a:cs typeface="Calibri"/>
                        </a:rPr>
                        <a:t>Task-specific assistive concepts and later human validation</a:t>
                      </a:r>
                    </a:p>
                  </a:txBody>
                  <a:tcPr>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2204BF28-FC1D-E474-5579-D7866A70A216}"/>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Greater biomimetic detail is useful when it enables a more decisive test</a:t>
            </a:r>
          </a:p>
        </p:txBody>
      </p:sp>
      <p:sp>
        <p:nvSpPr>
          <p:cNvPr id="6" name="TextBox 5">
            <a:extLst>
              <a:ext uri="{FF2B5EF4-FFF2-40B4-BE49-F238E27FC236}">
                <a16:creationId xmlns:a16="http://schemas.microsoft.com/office/drawing/2014/main" id="{60C6D792-AA1A-DA72-B9A6-4ED1865011D7}"/>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29</a:t>
            </a:r>
          </a:p>
        </p:txBody>
      </p:sp>
    </p:spTree>
    <p:extLst>
      <p:ext uri="{BB962C8B-B14F-4D97-AF65-F5344CB8AC3E}">
        <p14:creationId xmlns:p14="http://schemas.microsoft.com/office/powerpoint/2010/main" val="17255731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07C77FA2-B9C1-2571-D1DD-B3120DF9DB0C}"/>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dissertation makes key biomimetic design assumptions testable</a:t>
            </a:r>
          </a:p>
        </p:txBody>
      </p:sp>
      <p:sp>
        <p:nvSpPr>
          <p:cNvPr id="3" name="Rectangle 2">
            <a:extLst>
              <a:ext uri="{FF2B5EF4-FFF2-40B4-BE49-F238E27FC236}">
                <a16:creationId xmlns:a16="http://schemas.microsoft.com/office/drawing/2014/main" id="{F24406E4-FE6D-F4C6-F9DD-9AC7D003AA1B}"/>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Ben P. Bolen · Portland State University · AARL</a:t>
            </a:r>
          </a:p>
        </p:txBody>
      </p:sp>
      <p:sp>
        <p:nvSpPr>
          <p:cNvPr id="4" name="Rectangle 3">
            <a:extLst>
              <a:ext uri="{FF2B5EF4-FFF2-40B4-BE49-F238E27FC236}">
                <a16:creationId xmlns:a16="http://schemas.microsoft.com/office/drawing/2014/main" id="{D0C5DF64-D9BC-930E-DE34-1B172B9388DF}"/>
              </a:ext>
            </a:extLst>
          </p:cNvPr>
          <p:cNvSpPr>
            <a:spLocks noGrp="1"/>
          </p:cNvSpPr>
          <p:nvPr/>
        </p:nvSpPr>
        <p:spPr>
          <a:xfrm>
            <a:off x="500063" y="1393031"/>
            <a:ext cx="8072438" cy="464344"/>
          </a:xfrm>
          <a:prstGeom prst="rect">
            <a:avLst/>
          </a:prstGeom>
          <a:noFill/>
          <a:ln w="0">
            <a:noFill/>
          </a:ln>
        </p:spPr>
        <p:txBody>
          <a:bodyPr lIns="0" tIns="0" rIns="0" bIns="0" anchor="t"/>
          <a:lstStyle>
            <a:defPPr>
              <a:defRPr sz="2775" b="1">
                <a:solidFill>
                  <a:srgbClr val="B57C50"/>
                </a:solidFill>
                <a:latin typeface="Calibri"/>
                <a:ea typeface="Calibri"/>
                <a:cs typeface="Calibri"/>
              </a:defRPr>
            </a:defPPr>
            <a:lvl1pPr>
              <a:defRPr sz="2775" b="1">
                <a:solidFill>
                  <a:srgbClr val="B57C50"/>
                </a:solidFill>
                <a:latin typeface="Calibri"/>
                <a:ea typeface="Calibri"/>
                <a:cs typeface="Calibri"/>
              </a:defRPr>
            </a:lvl1pPr>
            <a:lvl2pPr>
              <a:defRPr sz="2775" b="1">
                <a:solidFill>
                  <a:srgbClr val="B57C50"/>
                </a:solidFill>
                <a:latin typeface="Calibri"/>
                <a:ea typeface="Calibri"/>
                <a:cs typeface="Calibri"/>
              </a:defRPr>
            </a:lvl2pPr>
            <a:lvl3pPr>
              <a:defRPr sz="2775" b="1">
                <a:solidFill>
                  <a:srgbClr val="B57C50"/>
                </a:solidFill>
                <a:latin typeface="Calibri"/>
                <a:ea typeface="Calibri"/>
                <a:cs typeface="Calibri"/>
              </a:defRPr>
            </a:lvl3pPr>
            <a:lvl4pPr>
              <a:defRPr sz="2775" b="1">
                <a:solidFill>
                  <a:srgbClr val="B57C50"/>
                </a:solidFill>
                <a:latin typeface="Calibri"/>
                <a:ea typeface="Calibri"/>
                <a:cs typeface="Calibri"/>
              </a:defRPr>
            </a:lvl4pPr>
            <a:lvl5pPr>
              <a:defRPr sz="2775" b="1">
                <a:solidFill>
                  <a:srgbClr val="B57C50"/>
                </a:solidFill>
                <a:latin typeface="Calibri"/>
                <a:ea typeface="Calibri"/>
                <a:cs typeface="Calibri"/>
              </a:defRPr>
            </a:lvl5pPr>
            <a:lvl6pPr>
              <a:defRPr sz="2775" b="1">
                <a:solidFill>
                  <a:srgbClr val="B57C50"/>
                </a:solidFill>
                <a:latin typeface="Calibri"/>
                <a:ea typeface="Calibri"/>
                <a:cs typeface="Calibri"/>
              </a:defRPr>
            </a:lvl6pPr>
            <a:lvl7pPr>
              <a:defRPr sz="2775" b="1">
                <a:solidFill>
                  <a:srgbClr val="B57C50"/>
                </a:solidFill>
                <a:latin typeface="Calibri"/>
                <a:ea typeface="Calibri"/>
                <a:cs typeface="Calibri"/>
              </a:defRPr>
            </a:lvl7pPr>
            <a:lvl8pPr>
              <a:defRPr sz="2775" b="1">
                <a:solidFill>
                  <a:srgbClr val="B57C50"/>
                </a:solidFill>
                <a:latin typeface="Calibri"/>
                <a:ea typeface="Calibri"/>
                <a:cs typeface="Calibri"/>
              </a:defRPr>
            </a:lvl8pPr>
            <a:lvl9pPr>
              <a:defRPr sz="2775" b="1">
                <a:solidFill>
                  <a:srgbClr val="B57C50"/>
                </a:solidFill>
                <a:latin typeface="Calibri"/>
                <a:ea typeface="Calibri"/>
                <a:cs typeface="Calibri"/>
              </a:defRPr>
            </a:lvl9pPr>
          </a:lstStyle>
          <a:p>
            <a:pPr>
              <a:defRPr sz="2775" b="1">
                <a:solidFill>
                  <a:srgbClr val="B57C50"/>
                </a:solidFill>
                <a:latin typeface="Calibri"/>
                <a:ea typeface="Calibri"/>
                <a:cs typeface="Calibri"/>
              </a:defRPr>
            </a:pPr>
            <a:r>
              <a:rPr sz="2081" b="1">
                <a:solidFill>
                  <a:srgbClr val="B57C50"/>
                </a:solidFill>
                <a:latin typeface="Calibri"/>
                <a:ea typeface="Calibri"/>
                <a:cs typeface="Calibri"/>
              </a:rPr>
              <a:t>Actuator choice grounded in measured force</a:t>
            </a:r>
          </a:p>
        </p:txBody>
      </p:sp>
      <p:sp>
        <p:nvSpPr>
          <p:cNvPr id="5" name="Rectangle 4">
            <a:extLst>
              <a:ext uri="{FF2B5EF4-FFF2-40B4-BE49-F238E27FC236}">
                <a16:creationId xmlns:a16="http://schemas.microsoft.com/office/drawing/2014/main" id="{E333FB54-6EA0-3721-858E-7BA948680E53}"/>
              </a:ext>
            </a:extLst>
          </p:cNvPr>
          <p:cNvSpPr>
            <a:spLocks noGrp="1"/>
          </p:cNvSpPr>
          <p:nvPr/>
        </p:nvSpPr>
        <p:spPr>
          <a:xfrm>
            <a:off x="500063" y="2107406"/>
            <a:ext cx="8072438" cy="535781"/>
          </a:xfrm>
          <a:prstGeom prst="rect">
            <a:avLst/>
          </a:prstGeom>
          <a:noFill/>
          <a:ln w="0">
            <a:noFill/>
          </a:ln>
        </p:spPr>
        <p:txBody>
          <a:bodyPr lIns="0" tIns="0" rIns="0" bIns="0" anchor="t"/>
          <a:lstStyle>
            <a:defPPr>
              <a:defRPr sz="2775" b="1">
                <a:solidFill>
                  <a:srgbClr val="B57C50"/>
                </a:solidFill>
                <a:latin typeface="Calibri"/>
                <a:ea typeface="Calibri"/>
                <a:cs typeface="Calibri"/>
              </a:defRPr>
            </a:defPPr>
            <a:lvl1pPr>
              <a:defRPr sz="2775" b="1">
                <a:solidFill>
                  <a:srgbClr val="B57C50"/>
                </a:solidFill>
                <a:latin typeface="Calibri"/>
                <a:ea typeface="Calibri"/>
                <a:cs typeface="Calibri"/>
              </a:defRPr>
            </a:lvl1pPr>
            <a:lvl2pPr>
              <a:defRPr sz="2775" b="1">
                <a:solidFill>
                  <a:srgbClr val="B57C50"/>
                </a:solidFill>
                <a:latin typeface="Calibri"/>
                <a:ea typeface="Calibri"/>
                <a:cs typeface="Calibri"/>
              </a:defRPr>
            </a:lvl2pPr>
            <a:lvl3pPr>
              <a:defRPr sz="2775" b="1">
                <a:solidFill>
                  <a:srgbClr val="B57C50"/>
                </a:solidFill>
                <a:latin typeface="Calibri"/>
                <a:ea typeface="Calibri"/>
                <a:cs typeface="Calibri"/>
              </a:defRPr>
            </a:lvl3pPr>
            <a:lvl4pPr>
              <a:defRPr sz="2775" b="1">
                <a:solidFill>
                  <a:srgbClr val="B57C50"/>
                </a:solidFill>
                <a:latin typeface="Calibri"/>
                <a:ea typeface="Calibri"/>
                <a:cs typeface="Calibri"/>
              </a:defRPr>
            </a:lvl4pPr>
            <a:lvl5pPr>
              <a:defRPr sz="2775" b="1">
                <a:solidFill>
                  <a:srgbClr val="B57C50"/>
                </a:solidFill>
                <a:latin typeface="Calibri"/>
                <a:ea typeface="Calibri"/>
                <a:cs typeface="Calibri"/>
              </a:defRPr>
            </a:lvl5pPr>
            <a:lvl6pPr>
              <a:defRPr sz="2775" b="1">
                <a:solidFill>
                  <a:srgbClr val="B57C50"/>
                </a:solidFill>
                <a:latin typeface="Calibri"/>
                <a:ea typeface="Calibri"/>
                <a:cs typeface="Calibri"/>
              </a:defRPr>
            </a:lvl6pPr>
            <a:lvl7pPr>
              <a:defRPr sz="2775" b="1">
                <a:solidFill>
                  <a:srgbClr val="B57C50"/>
                </a:solidFill>
                <a:latin typeface="Calibri"/>
                <a:ea typeface="Calibri"/>
                <a:cs typeface="Calibri"/>
              </a:defRPr>
            </a:lvl7pPr>
            <a:lvl8pPr>
              <a:defRPr sz="2775" b="1">
                <a:solidFill>
                  <a:srgbClr val="B57C50"/>
                </a:solidFill>
                <a:latin typeface="Calibri"/>
                <a:ea typeface="Calibri"/>
                <a:cs typeface="Calibri"/>
              </a:defRPr>
            </a:lvl8pPr>
            <a:lvl9pPr>
              <a:defRPr sz="2775" b="1">
                <a:solidFill>
                  <a:srgbClr val="B57C50"/>
                </a:solidFill>
                <a:latin typeface="Calibri"/>
                <a:ea typeface="Calibri"/>
                <a:cs typeface="Calibri"/>
              </a:defRPr>
            </a:lvl9pPr>
          </a:lstStyle>
          <a:p>
            <a:pPr>
              <a:defRPr sz="2775" b="1">
                <a:solidFill>
                  <a:srgbClr val="B57C50"/>
                </a:solidFill>
                <a:latin typeface="Calibri"/>
                <a:ea typeface="Calibri"/>
                <a:cs typeface="Calibri"/>
              </a:defRPr>
            </a:pPr>
            <a:r>
              <a:rPr sz="2081" b="1">
                <a:solidFill>
                  <a:srgbClr val="B57C50"/>
                </a:solidFill>
                <a:latin typeface="Calibri"/>
                <a:ea typeface="Calibri"/>
                <a:cs typeface="Calibri"/>
              </a:rPr>
              <a:t>Joint designs tested against selected human targets</a:t>
            </a:r>
          </a:p>
        </p:txBody>
      </p:sp>
      <p:sp>
        <p:nvSpPr>
          <p:cNvPr id="6" name="Rectangle 5">
            <a:extLst>
              <a:ext uri="{FF2B5EF4-FFF2-40B4-BE49-F238E27FC236}">
                <a16:creationId xmlns:a16="http://schemas.microsoft.com/office/drawing/2014/main" id="{D6D2D4FC-511C-FDA8-AC1F-CDB37C1D4A15}"/>
              </a:ext>
            </a:extLst>
          </p:cNvPr>
          <p:cNvSpPr>
            <a:spLocks noGrp="1"/>
          </p:cNvSpPr>
          <p:nvPr/>
        </p:nvSpPr>
        <p:spPr>
          <a:xfrm>
            <a:off x="500063" y="2893219"/>
            <a:ext cx="8072438" cy="642938"/>
          </a:xfrm>
          <a:prstGeom prst="rect">
            <a:avLst/>
          </a:prstGeom>
          <a:noFill/>
          <a:ln w="0">
            <a:noFill/>
          </a:ln>
        </p:spPr>
        <p:txBody>
          <a:bodyPr lIns="0" tIns="0" rIns="0" bIns="0" anchor="t"/>
          <a:lstStyle>
            <a:defPPr>
              <a:defRPr sz="2550" b="1">
                <a:solidFill>
                  <a:srgbClr val="B57C50"/>
                </a:solidFill>
                <a:latin typeface="Calibri"/>
                <a:ea typeface="Calibri"/>
                <a:cs typeface="Calibri"/>
              </a:defRPr>
            </a:defPPr>
            <a:lvl1pPr>
              <a:defRPr sz="2550" b="1">
                <a:solidFill>
                  <a:srgbClr val="B57C50"/>
                </a:solidFill>
                <a:latin typeface="Calibri"/>
                <a:ea typeface="Calibri"/>
                <a:cs typeface="Calibri"/>
              </a:defRPr>
            </a:lvl1pPr>
            <a:lvl2pPr>
              <a:defRPr sz="2550" b="1">
                <a:solidFill>
                  <a:srgbClr val="B57C50"/>
                </a:solidFill>
                <a:latin typeface="Calibri"/>
                <a:ea typeface="Calibri"/>
                <a:cs typeface="Calibri"/>
              </a:defRPr>
            </a:lvl2pPr>
            <a:lvl3pPr>
              <a:defRPr sz="2550" b="1">
                <a:solidFill>
                  <a:srgbClr val="B57C50"/>
                </a:solidFill>
                <a:latin typeface="Calibri"/>
                <a:ea typeface="Calibri"/>
                <a:cs typeface="Calibri"/>
              </a:defRPr>
            </a:lvl3pPr>
            <a:lvl4pPr>
              <a:defRPr sz="2550" b="1">
                <a:solidFill>
                  <a:srgbClr val="B57C50"/>
                </a:solidFill>
                <a:latin typeface="Calibri"/>
                <a:ea typeface="Calibri"/>
                <a:cs typeface="Calibri"/>
              </a:defRPr>
            </a:lvl4pPr>
            <a:lvl5pPr>
              <a:defRPr sz="2550" b="1">
                <a:solidFill>
                  <a:srgbClr val="B57C50"/>
                </a:solidFill>
                <a:latin typeface="Calibri"/>
                <a:ea typeface="Calibri"/>
                <a:cs typeface="Calibri"/>
              </a:defRPr>
            </a:lvl5pPr>
            <a:lvl6pPr>
              <a:defRPr sz="2550" b="1">
                <a:solidFill>
                  <a:srgbClr val="B57C50"/>
                </a:solidFill>
                <a:latin typeface="Calibri"/>
                <a:ea typeface="Calibri"/>
                <a:cs typeface="Calibri"/>
              </a:defRPr>
            </a:lvl6pPr>
            <a:lvl7pPr>
              <a:defRPr sz="2550" b="1">
                <a:solidFill>
                  <a:srgbClr val="B57C50"/>
                </a:solidFill>
                <a:latin typeface="Calibri"/>
                <a:ea typeface="Calibri"/>
                <a:cs typeface="Calibri"/>
              </a:defRPr>
            </a:lvl7pPr>
            <a:lvl8pPr>
              <a:defRPr sz="2550" b="1">
                <a:solidFill>
                  <a:srgbClr val="B57C50"/>
                </a:solidFill>
                <a:latin typeface="Calibri"/>
                <a:ea typeface="Calibri"/>
                <a:cs typeface="Calibri"/>
              </a:defRPr>
            </a:lvl8pPr>
            <a:lvl9pPr>
              <a:defRPr sz="2550" b="1">
                <a:solidFill>
                  <a:srgbClr val="B57C50"/>
                </a:solidFill>
                <a:latin typeface="Calibri"/>
                <a:ea typeface="Calibri"/>
                <a:cs typeface="Calibri"/>
              </a:defRPr>
            </a:lvl9pPr>
          </a:lstStyle>
          <a:p>
            <a:pPr>
              <a:defRPr sz="2550" b="1">
                <a:solidFill>
                  <a:srgbClr val="B57C50"/>
                </a:solidFill>
                <a:latin typeface="Calibri"/>
                <a:ea typeface="Calibri"/>
                <a:cs typeface="Calibri"/>
              </a:defRPr>
            </a:pPr>
            <a:r>
              <a:rPr sz="1913" b="1">
                <a:solidFill>
                  <a:srgbClr val="B57C50"/>
                </a:solidFill>
                <a:latin typeface="Calibri"/>
                <a:ea typeface="Calibri"/>
                <a:cs typeface="Calibri"/>
              </a:rPr>
              <a:t>Sensory hypotheses made explicit and experimentally testable</a:t>
            </a:r>
          </a:p>
        </p:txBody>
      </p:sp>
      <p:sp>
        <p:nvSpPr>
          <p:cNvPr id="7" name="Rectangle 6">
            <a:extLst>
              <a:ext uri="{FF2B5EF4-FFF2-40B4-BE49-F238E27FC236}">
                <a16:creationId xmlns:a16="http://schemas.microsoft.com/office/drawing/2014/main" id="{09989998-2B80-87F6-BB01-D98DDD7C9C41}"/>
              </a:ext>
            </a:extLst>
          </p:cNvPr>
          <p:cNvSpPr>
            <a:spLocks noGrp="1"/>
          </p:cNvSpPr>
          <p:nvPr/>
        </p:nvSpPr>
        <p:spPr>
          <a:xfrm>
            <a:off x="500063" y="3893344"/>
            <a:ext cx="8072438" cy="392906"/>
          </a:xfrm>
          <a:prstGeom prst="rect">
            <a:avLst/>
          </a:prstGeom>
          <a:noFill/>
          <a:ln w="0">
            <a:noFill/>
          </a:ln>
        </p:spPr>
        <p:txBody>
          <a:bodyPr lIns="0" tIns="0" rIns="0" bIns="0" anchor="t"/>
          <a:lstStyle>
            <a:defPPr>
              <a:defRPr sz="2400" b="1">
                <a:solidFill>
                  <a:srgbClr val="006D77"/>
                </a:solidFill>
                <a:latin typeface="Calibri"/>
                <a:ea typeface="Calibri"/>
                <a:cs typeface="Calibri"/>
              </a:defRPr>
            </a:defPPr>
            <a:lvl1pPr>
              <a:defRPr sz="2400" b="1">
                <a:solidFill>
                  <a:srgbClr val="006D77"/>
                </a:solidFill>
                <a:latin typeface="Calibri"/>
                <a:ea typeface="Calibri"/>
                <a:cs typeface="Calibri"/>
              </a:defRPr>
            </a:lvl1pPr>
            <a:lvl2pPr>
              <a:defRPr sz="2400" b="1">
                <a:solidFill>
                  <a:srgbClr val="006D77"/>
                </a:solidFill>
                <a:latin typeface="Calibri"/>
                <a:ea typeface="Calibri"/>
                <a:cs typeface="Calibri"/>
              </a:defRPr>
            </a:lvl2pPr>
            <a:lvl3pPr>
              <a:defRPr sz="2400" b="1">
                <a:solidFill>
                  <a:srgbClr val="006D77"/>
                </a:solidFill>
                <a:latin typeface="Calibri"/>
                <a:ea typeface="Calibri"/>
                <a:cs typeface="Calibri"/>
              </a:defRPr>
            </a:lvl3pPr>
            <a:lvl4pPr>
              <a:defRPr sz="2400" b="1">
                <a:solidFill>
                  <a:srgbClr val="006D77"/>
                </a:solidFill>
                <a:latin typeface="Calibri"/>
                <a:ea typeface="Calibri"/>
                <a:cs typeface="Calibri"/>
              </a:defRPr>
            </a:lvl4pPr>
            <a:lvl5pPr>
              <a:defRPr sz="2400" b="1">
                <a:solidFill>
                  <a:srgbClr val="006D77"/>
                </a:solidFill>
                <a:latin typeface="Calibri"/>
                <a:ea typeface="Calibri"/>
                <a:cs typeface="Calibri"/>
              </a:defRPr>
            </a:lvl5pPr>
            <a:lvl6pPr>
              <a:defRPr sz="2400" b="1">
                <a:solidFill>
                  <a:srgbClr val="006D77"/>
                </a:solidFill>
                <a:latin typeface="Calibri"/>
                <a:ea typeface="Calibri"/>
                <a:cs typeface="Calibri"/>
              </a:defRPr>
            </a:lvl6pPr>
            <a:lvl7pPr>
              <a:defRPr sz="2400" b="1">
                <a:solidFill>
                  <a:srgbClr val="006D77"/>
                </a:solidFill>
                <a:latin typeface="Calibri"/>
                <a:ea typeface="Calibri"/>
                <a:cs typeface="Calibri"/>
              </a:defRPr>
            </a:lvl7pPr>
            <a:lvl8pPr>
              <a:defRPr sz="2400" b="1">
                <a:solidFill>
                  <a:srgbClr val="006D77"/>
                </a:solidFill>
                <a:latin typeface="Calibri"/>
                <a:ea typeface="Calibri"/>
                <a:cs typeface="Calibri"/>
              </a:defRPr>
            </a:lvl8pPr>
            <a:lvl9pPr>
              <a:defRPr sz="2400" b="1">
                <a:solidFill>
                  <a:srgbClr val="006D77"/>
                </a:solidFill>
                <a:latin typeface="Calibri"/>
                <a:ea typeface="Calibri"/>
                <a:cs typeface="Calibri"/>
              </a:defRPr>
            </a:lvl9pPr>
          </a:lstStyle>
          <a:p>
            <a:pPr>
              <a:defRPr sz="2400" b="1">
                <a:solidFill>
                  <a:srgbClr val="006D77"/>
                </a:solidFill>
                <a:latin typeface="Calibri"/>
                <a:ea typeface="Calibri"/>
                <a:cs typeface="Calibri"/>
              </a:defRPr>
            </a:pPr>
            <a:r>
              <a:rPr sz="1800" b="1">
                <a:solidFill>
                  <a:srgbClr val="006D77"/>
                </a:solidFill>
                <a:latin typeface="Calibri"/>
                <a:ea typeface="Calibri"/>
                <a:cs typeface="Calibri"/>
              </a:rPr>
              <a:t>Thank you · Questions</a:t>
            </a:r>
          </a:p>
        </p:txBody>
      </p:sp>
      <p:sp>
        <p:nvSpPr>
          <p:cNvPr id="8" name="TextBox 7">
            <a:extLst>
              <a:ext uri="{FF2B5EF4-FFF2-40B4-BE49-F238E27FC236}">
                <a16:creationId xmlns:a16="http://schemas.microsoft.com/office/drawing/2014/main" id="{FB3378F3-08CD-6746-CA39-E0530398449B}"/>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30</a:t>
            </a:r>
          </a:p>
        </p:txBody>
      </p:sp>
    </p:spTree>
    <p:extLst>
      <p:ext uri="{BB962C8B-B14F-4D97-AF65-F5344CB8AC3E}">
        <p14:creationId xmlns:p14="http://schemas.microsoft.com/office/powerpoint/2010/main" val="2925937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28BE25AF-843F-1EB0-4B4C-783409CBE092}"/>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At 112 mm, the new model reduces force error to 4.5%</a:t>
            </a:r>
          </a:p>
        </p:txBody>
      </p:sp>
      <p:sp>
        <p:nvSpPr>
          <p:cNvPr id="3" name="Rectangle 2">
            <a:extLst>
              <a:ext uri="{FF2B5EF4-FFF2-40B4-BE49-F238E27FC236}">
                <a16:creationId xmlns:a16="http://schemas.microsoft.com/office/drawing/2014/main" id="{99CDD3AA-E0E2-B412-DA3C-9CB7D967745F}"/>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(2026), Actuators 15(5):230 · Dissertation Ch. 3</a:t>
            </a:r>
          </a:p>
        </p:txBody>
      </p:sp>
      <p:graphicFrame>
        <p:nvGraphicFramePr>
          <p:cNvPr id="4" name="Chart">
            <a:extLst>
              <a:ext uri="{FF2B5EF4-FFF2-40B4-BE49-F238E27FC236}">
                <a16:creationId xmlns:a16="http://schemas.microsoft.com/office/drawing/2014/main" id="{727C68CF-9FCA-2EC0-858D-D70DABAF7CEE}"/>
              </a:ext>
            </a:extLst>
          </p:cNvPr>
          <p:cNvGraphicFramePr>
            <a:graphicFrameLocks/>
          </p:cNvGraphicFramePr>
          <p:nvPr>
            <p:extLst>
              <p:ext uri="{D42A27DB-BD31-4B8C-83A1-F6EECF244321}">
                <p14:modId xmlns:p14="http://schemas.microsoft.com/office/powerpoint/2010/main" val="753289437"/>
              </p:ext>
            </p:extLst>
          </p:nvPr>
        </p:nvGraphicFramePr>
        <p:xfrm>
          <a:off x="642939" y="1285876"/>
          <a:ext cx="7858125" cy="300037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8ACC435F-311E-ECB1-97A4-61833737BD47}"/>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10 mm BPA · 112 mm resting length · 620 kPa</a:t>
            </a:r>
          </a:p>
        </p:txBody>
      </p:sp>
      <p:sp>
        <p:nvSpPr>
          <p:cNvPr id="6" name="TextBox 5">
            <a:extLst>
              <a:ext uri="{FF2B5EF4-FFF2-40B4-BE49-F238E27FC236}">
                <a16:creationId xmlns:a16="http://schemas.microsoft.com/office/drawing/2014/main" id="{17F159F3-B4AF-22B7-87CF-DECD4475DD61}"/>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31</a:t>
            </a:r>
          </a:p>
        </p:txBody>
      </p:sp>
    </p:spTree>
    <p:extLst>
      <p:ext uri="{BB962C8B-B14F-4D97-AF65-F5344CB8AC3E}">
        <p14:creationId xmlns:p14="http://schemas.microsoft.com/office/powerpoint/2010/main" val="34748489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63F2AA6E-AA0E-AB3A-A264-03458B30A8FE}"/>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cam model predicts headroom above the required target</a:t>
            </a:r>
          </a:p>
        </p:txBody>
      </p:sp>
      <p:sp>
        <p:nvSpPr>
          <p:cNvPr id="3" name="Rectangle 2">
            <a:extLst>
              <a:ext uri="{FF2B5EF4-FFF2-40B4-BE49-F238E27FC236}">
                <a16:creationId xmlns:a16="http://schemas.microsoft.com/office/drawing/2014/main" id="{1D485140-F707-55A7-3FAD-1967D0B99831}"/>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44A12F39-AEAF-000F-D308-2B97270DA923}"/>
              </a:ext>
            </a:extLst>
          </p:cNvPr>
          <p:cNvPicPr>
            <a:picLocks/>
          </p:cNvPicPr>
          <p:nvPr/>
        </p:nvPicPr>
        <p:blipFill>
          <a:blip r:embed="rId3"/>
          <a:stretch/>
        </p:blipFill>
        <p:spPr>
          <a:xfrm>
            <a:off x="2546199" y="1143001"/>
            <a:ext cx="4051601" cy="3000375"/>
          </a:xfrm>
          <a:prstGeom prst="rect">
            <a:avLst/>
          </a:prstGeom>
        </p:spPr>
      </p:pic>
      <p:sp>
        <p:nvSpPr>
          <p:cNvPr id="5" name="Rectangle 4">
            <a:extLst>
              <a:ext uri="{FF2B5EF4-FFF2-40B4-BE49-F238E27FC236}">
                <a16:creationId xmlns:a16="http://schemas.microsoft.com/office/drawing/2014/main" id="{6C1312F7-C8F3-C93A-6E9A-25925FAF2A25}"/>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+30.83% above required envelope · 269–507 kPa predicted pressure</a:t>
            </a:r>
          </a:p>
        </p:txBody>
      </p:sp>
      <p:sp>
        <p:nvSpPr>
          <p:cNvPr id="6" name="TextBox 5">
            <a:extLst>
              <a:ext uri="{FF2B5EF4-FFF2-40B4-BE49-F238E27FC236}">
                <a16:creationId xmlns:a16="http://schemas.microsoft.com/office/drawing/2014/main" id="{223FA60E-444E-4E01-6612-139490262165}"/>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32</a:t>
            </a:r>
          </a:p>
        </p:txBody>
      </p:sp>
    </p:spTree>
    <p:extLst>
      <p:ext uri="{BB962C8B-B14F-4D97-AF65-F5344CB8AC3E}">
        <p14:creationId xmlns:p14="http://schemas.microsoft.com/office/powerpoint/2010/main" val="2046024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A291358F-338A-4C59-7346-8177B99FB877}"/>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Matched rhythm cores reproduce the same driven bursts</a:t>
            </a:r>
          </a:p>
        </p:txBody>
      </p:sp>
      <p:sp>
        <p:nvSpPr>
          <p:cNvPr id="3" name="Rectangle 2">
            <a:extLst>
              <a:ext uri="{FF2B5EF4-FFF2-40B4-BE49-F238E27FC236}">
                <a16:creationId xmlns:a16="http://schemas.microsoft.com/office/drawing/2014/main" id="{399D7D6A-B756-30FE-4A29-67BAB86ECF2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6DFE0527-1A33-E3F6-B63B-32DA8EAA6DD9}"/>
              </a:ext>
            </a:extLst>
          </p:cNvPr>
          <p:cNvPicPr>
            <a:picLocks/>
          </p:cNvPicPr>
          <p:nvPr/>
        </p:nvPicPr>
        <p:blipFill>
          <a:blip r:embed="rId3"/>
          <a:stretch/>
        </p:blipFill>
        <p:spPr>
          <a:xfrm>
            <a:off x="2643189" y="1143001"/>
            <a:ext cx="3857625" cy="3000375"/>
          </a:xfrm>
          <a:prstGeom prst="rect">
            <a:avLst/>
          </a:prstGeom>
        </p:spPr>
      </p:pic>
      <p:sp>
        <p:nvSpPr>
          <p:cNvPr id="5" name="Rectangle 4">
            <a:extLst>
              <a:ext uri="{FF2B5EF4-FFF2-40B4-BE49-F238E27FC236}">
                <a16:creationId xmlns:a16="http://schemas.microsoft.com/office/drawing/2014/main" id="{C10C3C0D-603A-FD04-F7E9-D155D4C7D104}"/>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1.000 s period · 10 expected bursts · correlation ≥ 0.99996</a:t>
            </a:r>
          </a:p>
        </p:txBody>
      </p:sp>
      <p:sp>
        <p:nvSpPr>
          <p:cNvPr id="6" name="TextBox 5">
            <a:extLst>
              <a:ext uri="{FF2B5EF4-FFF2-40B4-BE49-F238E27FC236}">
                <a16:creationId xmlns:a16="http://schemas.microsoft.com/office/drawing/2014/main" id="{C713C925-C671-0738-4988-B55B23F826AA}"/>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33</a:t>
            </a:r>
          </a:p>
        </p:txBody>
      </p:sp>
    </p:spTree>
    <p:extLst>
      <p:ext uri="{BB962C8B-B14F-4D97-AF65-F5344CB8AC3E}">
        <p14:creationId xmlns:p14="http://schemas.microsoft.com/office/powerpoint/2010/main" val="34102930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28BAFFD7-C8EE-F248-2ACB-8DBDDEAD6844}"/>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knee model produces a transient sensory response</a:t>
            </a:r>
          </a:p>
        </p:txBody>
      </p:sp>
      <p:sp>
        <p:nvSpPr>
          <p:cNvPr id="3" name="Rectangle 2">
            <a:extLst>
              <a:ext uri="{FF2B5EF4-FFF2-40B4-BE49-F238E27FC236}">
                <a16:creationId xmlns:a16="http://schemas.microsoft.com/office/drawing/2014/main" id="{CA30FBF4-3553-F8D8-5FCB-2638E5162367}"/>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7624FC55-0FF4-7A11-ED04-77DD86953919}"/>
              </a:ext>
            </a:extLst>
          </p:cNvPr>
          <p:cNvPicPr>
            <a:picLocks/>
          </p:cNvPicPr>
          <p:nvPr/>
        </p:nvPicPr>
        <p:blipFill>
          <a:blip r:embed="rId3"/>
          <a:stretch/>
        </p:blipFill>
        <p:spPr>
          <a:xfrm>
            <a:off x="405992" y="1262344"/>
            <a:ext cx="5224483" cy="2954056"/>
          </a:xfrm>
          <a:prstGeom prst="rect">
            <a:avLst/>
          </a:prstGeom>
        </p:spPr>
      </p:pic>
      <p:pic>
        <p:nvPicPr>
          <p:cNvPr id="5" name="Picture 4">
            <a:extLst>
              <a:ext uri="{FF2B5EF4-FFF2-40B4-BE49-F238E27FC236}">
                <a16:creationId xmlns:a16="http://schemas.microsoft.com/office/drawing/2014/main" id="{3F84E85E-8FA6-338D-37B7-34A03D596A76}"/>
              </a:ext>
            </a:extLst>
          </p:cNvPr>
          <p:cNvPicPr>
            <a:picLocks/>
          </p:cNvPicPr>
          <p:nvPr/>
        </p:nvPicPr>
        <p:blipFill>
          <a:blip r:embed="rId4"/>
          <a:stretch/>
        </p:blipFill>
        <p:spPr>
          <a:xfrm>
            <a:off x="5893594" y="1727648"/>
            <a:ext cx="2821781" cy="1116705"/>
          </a:xfrm>
          <a:prstGeom prst="rect">
            <a:avLst/>
          </a:prstGeom>
        </p:spPr>
      </p:pic>
      <p:sp>
        <p:nvSpPr>
          <p:cNvPr id="6" name="Rectangle 5">
            <a:extLst>
              <a:ext uri="{FF2B5EF4-FFF2-40B4-BE49-F238E27FC236}">
                <a16:creationId xmlns:a16="http://schemas.microsoft.com/office/drawing/2014/main" id="{C511674E-0E14-88BF-55AD-212760F26D5F}"/>
              </a:ext>
            </a:extLst>
          </p:cNvPr>
          <p:cNvSpPr>
            <a:spLocks noGrp="1"/>
          </p:cNvSpPr>
          <p:nvPr/>
        </p:nvSpPr>
        <p:spPr>
          <a:xfrm>
            <a:off x="5965031" y="3214688"/>
            <a:ext cx="2750344" cy="1143000"/>
          </a:xfrm>
          <a:prstGeom prst="rect">
            <a:avLst/>
          </a:prstGeom>
          <a:noFill/>
          <a:ln w="0">
            <a:noFill/>
          </a:ln>
        </p:spPr>
        <p:txBody>
          <a:bodyPr lIns="0" tIns="0" rIns="0" bIns="0" anchor="t"/>
          <a:lstStyle>
            <a:defPPr>
              <a:defRPr sz="2025" b="1">
                <a:solidFill>
                  <a:srgbClr val="006D77"/>
                </a:solidFill>
                <a:latin typeface="Calibri"/>
                <a:ea typeface="Calibri"/>
                <a:cs typeface="Calibri"/>
              </a:defRPr>
            </a:defPPr>
            <a:lvl1pPr>
              <a:defRPr sz="2025" b="1">
                <a:solidFill>
                  <a:srgbClr val="006D77"/>
                </a:solidFill>
                <a:latin typeface="Calibri"/>
                <a:ea typeface="Calibri"/>
                <a:cs typeface="Calibri"/>
              </a:defRPr>
            </a:lvl1pPr>
            <a:lvl2pPr>
              <a:defRPr sz="2025" b="1">
                <a:solidFill>
                  <a:srgbClr val="006D77"/>
                </a:solidFill>
                <a:latin typeface="Calibri"/>
                <a:ea typeface="Calibri"/>
                <a:cs typeface="Calibri"/>
              </a:defRPr>
            </a:lvl2pPr>
            <a:lvl3pPr>
              <a:defRPr sz="2025" b="1">
                <a:solidFill>
                  <a:srgbClr val="006D77"/>
                </a:solidFill>
                <a:latin typeface="Calibri"/>
                <a:ea typeface="Calibri"/>
                <a:cs typeface="Calibri"/>
              </a:defRPr>
            </a:lvl3pPr>
            <a:lvl4pPr>
              <a:defRPr sz="2025" b="1">
                <a:solidFill>
                  <a:srgbClr val="006D77"/>
                </a:solidFill>
                <a:latin typeface="Calibri"/>
                <a:ea typeface="Calibri"/>
                <a:cs typeface="Calibri"/>
              </a:defRPr>
            </a:lvl4pPr>
            <a:lvl5pPr>
              <a:defRPr sz="2025" b="1">
                <a:solidFill>
                  <a:srgbClr val="006D77"/>
                </a:solidFill>
                <a:latin typeface="Calibri"/>
                <a:ea typeface="Calibri"/>
                <a:cs typeface="Calibri"/>
              </a:defRPr>
            </a:lvl5pPr>
            <a:lvl6pPr>
              <a:defRPr sz="2025" b="1">
                <a:solidFill>
                  <a:srgbClr val="006D77"/>
                </a:solidFill>
                <a:latin typeface="Calibri"/>
                <a:ea typeface="Calibri"/>
                <a:cs typeface="Calibri"/>
              </a:defRPr>
            </a:lvl6pPr>
            <a:lvl7pPr>
              <a:defRPr sz="2025" b="1">
                <a:solidFill>
                  <a:srgbClr val="006D77"/>
                </a:solidFill>
                <a:latin typeface="Calibri"/>
                <a:ea typeface="Calibri"/>
                <a:cs typeface="Calibri"/>
              </a:defRPr>
            </a:lvl7pPr>
            <a:lvl8pPr>
              <a:defRPr sz="2025" b="1">
                <a:solidFill>
                  <a:srgbClr val="006D77"/>
                </a:solidFill>
                <a:latin typeface="Calibri"/>
                <a:ea typeface="Calibri"/>
                <a:cs typeface="Calibri"/>
              </a:defRPr>
            </a:lvl8pPr>
            <a:lvl9pPr>
              <a:defRPr sz="2025" b="1">
                <a:solidFill>
                  <a:srgbClr val="006D77"/>
                </a:solidFill>
                <a:latin typeface="Calibri"/>
                <a:ea typeface="Calibri"/>
                <a:cs typeface="Calibri"/>
              </a:defRPr>
            </a:lvl9pPr>
          </a:lstStyle>
          <a:p>
            <a:pPr>
              <a:defRPr sz="2025" b="1">
                <a:solidFill>
                  <a:srgbClr val="006D77"/>
                </a:solidFill>
                <a:latin typeface="Calibri"/>
                <a:ea typeface="Calibri"/>
                <a:cs typeface="Calibri"/>
              </a:defRPr>
            </a:pPr>
            <a:r>
              <a:rPr sz="1519" b="1">
                <a:solidFill>
                  <a:srgbClr val="006D77"/>
                </a:solidFill>
                <a:latin typeface="Calibri"/>
                <a:ea typeface="Calibri"/>
                <a:cs typeface="Calibri"/>
              </a:rPr>
              <a:t>2 nA for 30 ms</a:t>
            </a:r>
          </a:p>
          <a:p>
            <a:endParaRPr sz="1519" b="1">
              <a:solidFill>
                <a:srgbClr val="006D77"/>
              </a:solidFill>
              <a:latin typeface="Calibri"/>
              <a:ea typeface="Calibri"/>
              <a:cs typeface="Calibri"/>
            </a:endParaRPr>
          </a:p>
          <a:p>
            <a:pPr>
              <a:defRPr sz="2025" b="1">
                <a:solidFill>
                  <a:srgbClr val="006D77"/>
                </a:solidFill>
                <a:latin typeface="Calibri"/>
                <a:ea typeface="Calibri"/>
                <a:cs typeface="Calibri"/>
              </a:defRPr>
            </a:pPr>
            <a:r>
              <a:rPr sz="1519" b="1">
                <a:solidFill>
                  <a:srgbClr val="006D77"/>
                </a:solidFill>
                <a:latin typeface="Calibri"/>
                <a:ea typeface="Calibri"/>
                <a:cs typeface="Calibri"/>
              </a:rPr>
              <a:t>1.09° at 111 ms</a:t>
            </a:r>
          </a:p>
          <a:p>
            <a:endParaRPr sz="1519" b="1">
              <a:solidFill>
                <a:srgbClr val="006D77"/>
              </a:solidFill>
              <a:latin typeface="Calibri"/>
              <a:ea typeface="Calibri"/>
              <a:cs typeface="Calibri"/>
            </a:endParaRPr>
          </a:p>
          <a:p>
            <a:pPr>
              <a:defRPr sz="2025" b="1">
                <a:solidFill>
                  <a:srgbClr val="006D77"/>
                </a:solidFill>
                <a:latin typeface="Calibri"/>
                <a:ea typeface="Calibri"/>
                <a:cs typeface="Calibri"/>
              </a:defRPr>
            </a:pPr>
            <a:r>
              <a:rPr sz="1519" b="1">
                <a:solidFill>
                  <a:srgbClr val="006D77"/>
                </a:solidFill>
                <a:latin typeface="Calibri"/>
                <a:ea typeface="Calibri"/>
                <a:cs typeface="Calibri"/>
              </a:rPr>
              <a:t>Recovery at 6.355 s</a:t>
            </a:r>
          </a:p>
        </p:txBody>
      </p:sp>
      <p:sp>
        <p:nvSpPr>
          <p:cNvPr id="7" name="Rectangle 6">
            <a:extLst>
              <a:ext uri="{FF2B5EF4-FFF2-40B4-BE49-F238E27FC236}">
                <a16:creationId xmlns:a16="http://schemas.microsoft.com/office/drawing/2014/main" id="{D28F184C-57C6-6F35-6BA0-EA223F231213}"/>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Six neural saturation widths changed in this configuration</a:t>
            </a:r>
          </a:p>
        </p:txBody>
      </p:sp>
      <p:sp>
        <p:nvSpPr>
          <p:cNvPr id="8" name="TextBox 7">
            <a:extLst>
              <a:ext uri="{FF2B5EF4-FFF2-40B4-BE49-F238E27FC236}">
                <a16:creationId xmlns:a16="http://schemas.microsoft.com/office/drawing/2014/main" id="{254DF148-D38C-3C68-B177-FDC1AD010468}"/>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34</a:t>
            </a:r>
          </a:p>
        </p:txBody>
      </p:sp>
    </p:spTree>
    <p:extLst>
      <p:ext uri="{BB962C8B-B14F-4D97-AF65-F5344CB8AC3E}">
        <p14:creationId xmlns:p14="http://schemas.microsoft.com/office/powerpoint/2010/main" val="1020944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9048B53C-4ED2-830A-68E5-60F61B3CDBE4}"/>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evidence establishes specific capabilities within clear limits</a:t>
            </a:r>
          </a:p>
        </p:txBody>
      </p:sp>
      <p:sp>
        <p:nvSpPr>
          <p:cNvPr id="3" name="Rectangle 2">
            <a:extLst>
              <a:ext uri="{FF2B5EF4-FFF2-40B4-BE49-F238E27FC236}">
                <a16:creationId xmlns:a16="http://schemas.microsoft.com/office/drawing/2014/main" id="{7B2D53E2-C37C-6BD2-413F-881224FCBAF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Current manuscript Ch. 6 / Appendix D · Session 1 AH001 records</a:t>
            </a:r>
          </a:p>
        </p:txBody>
      </p:sp>
      <p:graphicFrame>
        <p:nvGraphicFramePr>
          <p:cNvPr id="4" name="Table 3">
            <a:extLst>
              <a:ext uri="{FF2B5EF4-FFF2-40B4-BE49-F238E27FC236}">
                <a16:creationId xmlns:a16="http://schemas.microsoft.com/office/drawing/2014/main" id="{032F16C0-1E08-4280-1D5E-9B58DFDDEFFD}"/>
              </a:ext>
            </a:extLst>
          </p:cNvPr>
          <p:cNvGraphicFramePr>
            <a:graphicFrameLocks/>
          </p:cNvGraphicFramePr>
          <p:nvPr>
            <p:extLst>
              <p:ext uri="{D42A27DB-BD31-4B8C-83A1-F6EECF244321}">
                <p14:modId xmlns:p14="http://schemas.microsoft.com/office/powerpoint/2010/main" val="3719093431"/>
              </p:ext>
            </p:extLst>
          </p:nvPr>
        </p:nvGraphicFramePr>
        <p:xfrm>
          <a:off x="428625" y="1321595"/>
          <a:ext cx="8286750" cy="2428875"/>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485775">
                <a:tc>
                  <a:txBody>
                    <a:bodyPr/>
                    <a:lstStyle/>
                    <a:p>
                      <a:r>
                        <a:rPr sz="1350" b="1">
                          <a:solidFill>
                            <a:srgbClr val="006D77"/>
                          </a:solidFill>
                          <a:latin typeface="Calibri"/>
                          <a:ea typeface="Calibri"/>
                          <a:cs typeface="Calibri"/>
                        </a:rPr>
                        <a:t>Evidence level</a:t>
                      </a:r>
                    </a:p>
                  </a:txBody>
                  <a:tcPr>
                    <a:solidFill>
                      <a:srgbClr val="FFFFFF"/>
                    </a:solidFill>
                  </a:tcPr>
                </a:tc>
                <a:tc>
                  <a:txBody>
                    <a:bodyPr/>
                    <a:lstStyle/>
                    <a:p>
                      <a:r>
                        <a:rPr sz="1350" b="1">
                          <a:solidFill>
                            <a:srgbClr val="006D77"/>
                          </a:solidFill>
                          <a:latin typeface="Calibri"/>
                          <a:ea typeface="Calibri"/>
                          <a:cs typeface="Calibri"/>
                        </a:rPr>
                        <a:t>What the result establishes</a:t>
                      </a:r>
                    </a:p>
                  </a:txBody>
                  <a:tcPr>
                    <a:solidFill>
                      <a:srgbClr val="FFFFFF"/>
                    </a:solidFill>
                  </a:tcPr>
                </a:tc>
                <a:tc>
                  <a:txBody>
                    <a:bodyPr/>
                    <a:lstStyle/>
                    <a:p>
                      <a:r>
                        <a:rPr sz="1350" b="1">
                          <a:solidFill>
                            <a:srgbClr val="006D77"/>
                          </a:solidFill>
                          <a:latin typeface="Calibri"/>
                          <a:ea typeface="Calibri"/>
                          <a:cs typeface="Calibri"/>
                        </a:rPr>
                        <a:t>Remaining boundary</a:t>
                      </a:r>
                    </a:p>
                  </a:txBody>
                  <a:tcPr>
                    <a:solidFill>
                      <a:srgbClr val="FFFFFF"/>
                    </a:solidFill>
                  </a:tcPr>
                </a:tc>
                <a:extLst>
                  <a:ext uri="{0D108BD9-81ED-4DB2-BD59-A6C34878D82A}">
                    <a16:rowId xmlns:a16="http://schemas.microsoft.com/office/drawing/2014/main" val="10000"/>
                  </a:ext>
                </a:extLst>
              </a:tr>
              <a:tr h="485775">
                <a:tc>
                  <a:txBody>
                    <a:bodyPr/>
                    <a:lstStyle/>
                    <a:p>
                      <a:r>
                        <a:rPr sz="1350" b="0">
                          <a:solidFill>
                            <a:srgbClr val="202C33"/>
                          </a:solidFill>
                          <a:latin typeface="Calibri"/>
                          <a:ea typeface="Calibri"/>
                          <a:cs typeface="Calibri"/>
                        </a:rPr>
                        <a:t>Measured hardware</a:t>
                      </a:r>
                    </a:p>
                  </a:txBody>
                  <a:tcPr>
                    <a:solidFill>
                      <a:srgbClr val="FFFFFF"/>
                    </a:solidFill>
                  </a:tcPr>
                </a:tc>
                <a:tc>
                  <a:txBody>
                    <a:bodyPr/>
                    <a:lstStyle/>
                    <a:p>
                      <a:r>
                        <a:rPr sz="1350" b="0">
                          <a:solidFill>
                            <a:srgbClr val="202C33"/>
                          </a:solidFill>
                          <a:latin typeface="Calibri"/>
                          <a:ea typeface="Calibri"/>
                          <a:cs typeface="Calibri"/>
                        </a:rPr>
                        <a:t>Isometric torque capacity</a:t>
                      </a:r>
                    </a:p>
                  </a:txBody>
                  <a:tcPr>
                    <a:solidFill>
                      <a:srgbClr val="FFFFFF"/>
                    </a:solidFill>
                  </a:tcPr>
                </a:tc>
                <a:tc>
                  <a:txBody>
                    <a:bodyPr/>
                    <a:lstStyle/>
                    <a:p>
                      <a:r>
                        <a:rPr sz="1350" b="0">
                          <a:solidFill>
                            <a:srgbClr val="202C33"/>
                          </a:solidFill>
                          <a:latin typeface="Calibri"/>
                          <a:ea typeface="Calibri"/>
                          <a:cs typeface="Calibri"/>
                        </a:rPr>
                        <a:t>Dynamic response and transfer</a:t>
                      </a:r>
                    </a:p>
                  </a:txBody>
                  <a:tcPr>
                    <a:solidFill>
                      <a:srgbClr val="FFFFFF"/>
                    </a:solidFill>
                  </a:tcPr>
                </a:tc>
                <a:extLst>
                  <a:ext uri="{0D108BD9-81ED-4DB2-BD59-A6C34878D82A}">
                    <a16:rowId xmlns:a16="http://schemas.microsoft.com/office/drawing/2014/main" val="10001"/>
                  </a:ext>
                </a:extLst>
              </a:tr>
              <a:tr h="485775">
                <a:tc>
                  <a:txBody>
                    <a:bodyPr/>
                    <a:lstStyle/>
                    <a:p>
                      <a:r>
                        <a:rPr sz="1350" b="0">
                          <a:solidFill>
                            <a:srgbClr val="202C33"/>
                          </a:solidFill>
                          <a:latin typeface="Calibri"/>
                          <a:ea typeface="Calibri"/>
                          <a:cs typeface="Calibri"/>
                        </a:rPr>
                        <a:t>Neural demonstrations</a:t>
                      </a:r>
                    </a:p>
                  </a:txBody>
                  <a:tcPr>
                    <a:solidFill>
                      <a:srgbClr val="FFFFFF"/>
                    </a:solidFill>
                  </a:tcPr>
                </a:tc>
                <a:tc>
                  <a:txBody>
                    <a:bodyPr/>
                    <a:lstStyle/>
                    <a:p>
                      <a:r>
                        <a:rPr sz="1350" b="0">
                          <a:solidFill>
                            <a:srgbClr val="202C33"/>
                          </a:solidFill>
                          <a:latin typeface="Calibri"/>
                          <a:ea typeface="Calibri"/>
                          <a:cs typeface="Calibri"/>
                        </a:rPr>
                        <a:t>Specified response and intervention effect</a:t>
                      </a:r>
                    </a:p>
                  </a:txBody>
                  <a:tcPr>
                    <a:solidFill>
                      <a:srgbClr val="FFFFFF"/>
                    </a:solidFill>
                  </a:tcPr>
                </a:tc>
                <a:tc>
                  <a:txBody>
                    <a:bodyPr/>
                    <a:lstStyle/>
                    <a:p>
                      <a:r>
                        <a:rPr sz="1350" b="0">
                          <a:solidFill>
                            <a:srgbClr val="202C33"/>
                          </a:solidFill>
                          <a:latin typeface="Calibri"/>
                          <a:ea typeface="Calibri"/>
                          <a:cs typeface="Calibri"/>
                        </a:rPr>
                        <a:t>Circuit- and protocol-specific</a:t>
                      </a:r>
                    </a:p>
                  </a:txBody>
                  <a:tcPr>
                    <a:solidFill>
                      <a:srgbClr val="FFFFFF"/>
                    </a:solidFill>
                  </a:tcPr>
                </a:tc>
                <a:extLst>
                  <a:ext uri="{0D108BD9-81ED-4DB2-BD59-A6C34878D82A}">
                    <a16:rowId xmlns:a16="http://schemas.microsoft.com/office/drawing/2014/main" val="10002"/>
                  </a:ext>
                </a:extLst>
              </a:tr>
              <a:tr h="485775">
                <a:tc>
                  <a:txBody>
                    <a:bodyPr/>
                    <a:lstStyle/>
                    <a:p>
                      <a:r>
                        <a:rPr sz="1350" b="0">
                          <a:solidFill>
                            <a:srgbClr val="202C33"/>
                          </a:solidFill>
                          <a:latin typeface="Calibri"/>
                          <a:ea typeface="Calibri"/>
                          <a:cs typeface="Calibri"/>
                        </a:rPr>
                        <a:t>Supported W2L / human models</a:t>
                      </a:r>
                    </a:p>
                  </a:txBody>
                  <a:tcPr>
                    <a:solidFill>
                      <a:srgbClr val="FFFFFF"/>
                    </a:solidFill>
                  </a:tcPr>
                </a:tc>
                <a:tc>
                  <a:txBody>
                    <a:bodyPr/>
                    <a:lstStyle/>
                    <a:p>
                      <a:r>
                        <a:rPr sz="1350" b="0">
                          <a:solidFill>
                            <a:srgbClr val="202C33"/>
                          </a:solidFill>
                          <a:latin typeface="Calibri"/>
                          <a:ea typeface="Calibri"/>
                          <a:cs typeface="Calibri"/>
                        </a:rPr>
                        <a:t>Coupling and coordination tests</a:t>
                      </a:r>
                    </a:p>
                  </a:txBody>
                  <a:tcPr>
                    <a:solidFill>
                      <a:srgbClr val="FFFFFF"/>
                    </a:solidFill>
                  </a:tcPr>
                </a:tc>
                <a:tc>
                  <a:txBody>
                    <a:bodyPr/>
                    <a:lstStyle/>
                    <a:p>
                      <a:r>
                        <a:rPr sz="1350" b="0">
                          <a:solidFill>
                            <a:srgbClr val="202C33"/>
                          </a:solidFill>
                          <a:latin typeface="Calibri"/>
                          <a:ea typeface="Calibri"/>
                          <a:cs typeface="Calibri"/>
                        </a:rPr>
                        <a:t>External support remains</a:t>
                      </a:r>
                    </a:p>
                  </a:txBody>
                  <a:tcPr>
                    <a:solidFill>
                      <a:srgbClr val="FFFFFF"/>
                    </a:solidFill>
                  </a:tcPr>
                </a:tc>
                <a:extLst>
                  <a:ext uri="{0D108BD9-81ED-4DB2-BD59-A6C34878D82A}">
                    <a16:rowId xmlns:a16="http://schemas.microsoft.com/office/drawing/2014/main" val="10003"/>
                  </a:ext>
                </a:extLst>
              </a:tr>
              <a:tr h="485775">
                <a:tc>
                  <a:txBody>
                    <a:bodyPr/>
                    <a:lstStyle/>
                    <a:p>
                      <a:r>
                        <a:rPr sz="1350" b="0">
                          <a:solidFill>
                            <a:srgbClr val="202C33"/>
                          </a:solidFill>
                          <a:latin typeface="Calibri"/>
                          <a:ea typeface="Calibri"/>
                          <a:cs typeface="Calibri"/>
                        </a:rPr>
                        <a:t>AH001 integration</a:t>
                      </a:r>
                    </a:p>
                  </a:txBody>
                  <a:tcPr>
                    <a:solidFill>
                      <a:srgbClr val="FFFFFF"/>
                    </a:solidFill>
                  </a:tcPr>
                </a:tc>
                <a:tc>
                  <a:txBody>
                    <a:bodyPr/>
                    <a:lstStyle/>
                    <a:p>
                      <a:r>
                        <a:rPr sz="1350" b="0">
                          <a:solidFill>
                            <a:srgbClr val="202C33"/>
                          </a:solidFill>
                          <a:latin typeface="Calibri"/>
                          <a:ea typeface="Calibri"/>
                          <a:cs typeface="Calibri"/>
                        </a:rPr>
                        <a:t>Hybrid allocation; PF/reflex currents cancelled</a:t>
                      </a:r>
                    </a:p>
                  </a:txBody>
                  <a:tcPr>
                    <a:solidFill>
                      <a:srgbClr val="FFFFFF"/>
                    </a:solidFill>
                  </a:tcPr>
                </a:tc>
                <a:tc>
                  <a:txBody>
                    <a:bodyPr/>
                    <a:lstStyle/>
                    <a:p>
                      <a:r>
                        <a:rPr sz="1350" b="0">
                          <a:solidFill>
                            <a:srgbClr val="202C33"/>
                          </a:solidFill>
                          <a:latin typeface="Calibri"/>
                          <a:ea typeface="Calibri"/>
                          <a:cs typeface="Calibri"/>
                        </a:rPr>
                        <a:t>80% vertical + lateral/angular support</a:t>
                      </a:r>
                    </a:p>
                  </a:txBody>
                  <a:tcPr>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0B26C038-B5E0-882D-375F-183BADD46417}"/>
              </a:ext>
            </a:extLst>
          </p:cNvPr>
          <p:cNvSpPr>
            <a:spLocks noGrp="1"/>
          </p:cNvSpPr>
          <p:nvPr/>
        </p:nvSpPr>
        <p:spPr>
          <a:xfrm>
            <a:off x="428625" y="3971925"/>
            <a:ext cx="8286750" cy="400050"/>
          </a:xfrm>
          <a:prstGeom prst="rect">
            <a:avLst/>
          </a:prstGeom>
          <a:noFill/>
          <a:ln w="0">
            <a:noFill/>
          </a:ln>
        </p:spPr>
        <p:txBody>
          <a:bodyPr lIns="0" tIns="0" rIns="0" bIns="0" anchor="t"/>
          <a:lstStyle>
            <a:defPPr>
              <a:defRPr sz="2025" b="1">
                <a:solidFill>
                  <a:srgbClr val="006D77"/>
                </a:solidFill>
                <a:latin typeface="Calibri"/>
                <a:ea typeface="Calibri"/>
                <a:cs typeface="Calibri"/>
              </a:defRPr>
            </a:defPPr>
            <a:lvl1pPr>
              <a:defRPr sz="2025" b="1">
                <a:solidFill>
                  <a:srgbClr val="006D77"/>
                </a:solidFill>
                <a:latin typeface="Calibri"/>
                <a:ea typeface="Calibri"/>
                <a:cs typeface="Calibri"/>
              </a:defRPr>
            </a:lvl1pPr>
            <a:lvl2pPr>
              <a:defRPr sz="2025" b="1">
                <a:solidFill>
                  <a:srgbClr val="006D77"/>
                </a:solidFill>
                <a:latin typeface="Calibri"/>
                <a:ea typeface="Calibri"/>
                <a:cs typeface="Calibri"/>
              </a:defRPr>
            </a:lvl2pPr>
            <a:lvl3pPr>
              <a:defRPr sz="2025" b="1">
                <a:solidFill>
                  <a:srgbClr val="006D77"/>
                </a:solidFill>
                <a:latin typeface="Calibri"/>
                <a:ea typeface="Calibri"/>
                <a:cs typeface="Calibri"/>
              </a:defRPr>
            </a:lvl3pPr>
            <a:lvl4pPr>
              <a:defRPr sz="2025" b="1">
                <a:solidFill>
                  <a:srgbClr val="006D77"/>
                </a:solidFill>
                <a:latin typeface="Calibri"/>
                <a:ea typeface="Calibri"/>
                <a:cs typeface="Calibri"/>
              </a:defRPr>
            </a:lvl4pPr>
            <a:lvl5pPr>
              <a:defRPr sz="2025" b="1">
                <a:solidFill>
                  <a:srgbClr val="006D77"/>
                </a:solidFill>
                <a:latin typeface="Calibri"/>
                <a:ea typeface="Calibri"/>
                <a:cs typeface="Calibri"/>
              </a:defRPr>
            </a:lvl5pPr>
            <a:lvl6pPr>
              <a:defRPr sz="2025" b="1">
                <a:solidFill>
                  <a:srgbClr val="006D77"/>
                </a:solidFill>
                <a:latin typeface="Calibri"/>
                <a:ea typeface="Calibri"/>
                <a:cs typeface="Calibri"/>
              </a:defRPr>
            </a:lvl6pPr>
            <a:lvl7pPr>
              <a:defRPr sz="2025" b="1">
                <a:solidFill>
                  <a:srgbClr val="006D77"/>
                </a:solidFill>
                <a:latin typeface="Calibri"/>
                <a:ea typeface="Calibri"/>
                <a:cs typeface="Calibri"/>
              </a:defRPr>
            </a:lvl7pPr>
            <a:lvl8pPr>
              <a:defRPr sz="2025" b="1">
                <a:solidFill>
                  <a:srgbClr val="006D77"/>
                </a:solidFill>
                <a:latin typeface="Calibri"/>
                <a:ea typeface="Calibri"/>
                <a:cs typeface="Calibri"/>
              </a:defRPr>
            </a:lvl8pPr>
            <a:lvl9pPr>
              <a:defRPr sz="2025" b="1">
                <a:solidFill>
                  <a:srgbClr val="006D77"/>
                </a:solidFill>
                <a:latin typeface="Calibri"/>
                <a:ea typeface="Calibri"/>
                <a:cs typeface="Calibri"/>
              </a:defRPr>
            </a:lvl9pPr>
          </a:lstStyle>
          <a:p>
            <a:pPr>
              <a:defRPr sz="2025" b="1">
                <a:solidFill>
                  <a:srgbClr val="006D77"/>
                </a:solidFill>
                <a:latin typeface="Calibri"/>
                <a:ea typeface="Calibri"/>
                <a:cs typeface="Calibri"/>
              </a:defRPr>
            </a:pPr>
            <a:r>
              <a:rPr sz="1519" b="1">
                <a:solidFill>
                  <a:srgbClr val="006D77"/>
                </a:solidFill>
                <a:latin typeface="Calibri"/>
                <a:ea typeface="Calibri"/>
                <a:cs typeface="Calibri"/>
              </a:rPr>
              <a:t>AH001: reference tensions, MN clamp, provisional feet, and ideal brackets</a:t>
            </a:r>
          </a:p>
        </p:txBody>
      </p:sp>
      <p:sp>
        <p:nvSpPr>
          <p:cNvPr id="6" name="Rectangle 5">
            <a:extLst>
              <a:ext uri="{FF2B5EF4-FFF2-40B4-BE49-F238E27FC236}">
                <a16:creationId xmlns:a16="http://schemas.microsoft.com/office/drawing/2014/main" id="{0D63B3DF-3268-C34D-550C-EAF6700CA677}"/>
              </a:ext>
            </a:extLst>
          </p:cNvPr>
          <p:cNvSpPr>
            <a:spLocks noGrp="1"/>
          </p:cNvSpPr>
          <p:nvPr/>
        </p:nvSpPr>
        <p:spPr>
          <a:xfrm>
            <a:off x="428625" y="4368800"/>
            <a:ext cx="8286750" cy="177800"/>
          </a:xfrm>
          <a:prstGeom prst="rect">
            <a:avLst/>
          </a:prstGeom>
          <a:noFill/>
          <a:ln w="0">
            <a:noFill/>
          </a:ln>
        </p:spPr>
        <p:txBody>
          <a:bodyPr lIns="0" tIns="0" rIns="0" bIns="0" anchor="t"/>
          <a:lstStyle>
            <a:defPPr>
              <a:defRPr sz="2175" b="1">
                <a:solidFill>
                  <a:srgbClr val="B57C50"/>
                </a:solidFill>
                <a:latin typeface="Calibri"/>
                <a:ea typeface="Calibri"/>
                <a:cs typeface="Calibri"/>
              </a:defRPr>
            </a:defPPr>
            <a:lvl1pPr>
              <a:defRPr sz="2175" b="1">
                <a:solidFill>
                  <a:srgbClr val="B57C50"/>
                </a:solidFill>
                <a:latin typeface="Calibri"/>
                <a:ea typeface="Calibri"/>
                <a:cs typeface="Calibri"/>
              </a:defRPr>
            </a:lvl1pPr>
            <a:lvl2pPr>
              <a:defRPr sz="2175" b="1">
                <a:solidFill>
                  <a:srgbClr val="B57C50"/>
                </a:solidFill>
                <a:latin typeface="Calibri"/>
                <a:ea typeface="Calibri"/>
                <a:cs typeface="Calibri"/>
              </a:defRPr>
            </a:lvl2pPr>
            <a:lvl3pPr>
              <a:defRPr sz="2175" b="1">
                <a:solidFill>
                  <a:srgbClr val="B57C50"/>
                </a:solidFill>
                <a:latin typeface="Calibri"/>
                <a:ea typeface="Calibri"/>
                <a:cs typeface="Calibri"/>
              </a:defRPr>
            </a:lvl3pPr>
            <a:lvl4pPr>
              <a:defRPr sz="2175" b="1">
                <a:solidFill>
                  <a:srgbClr val="B57C50"/>
                </a:solidFill>
                <a:latin typeface="Calibri"/>
                <a:ea typeface="Calibri"/>
                <a:cs typeface="Calibri"/>
              </a:defRPr>
            </a:lvl4pPr>
            <a:lvl5pPr>
              <a:defRPr sz="2175" b="1">
                <a:solidFill>
                  <a:srgbClr val="B57C50"/>
                </a:solidFill>
                <a:latin typeface="Calibri"/>
                <a:ea typeface="Calibri"/>
                <a:cs typeface="Calibri"/>
              </a:defRPr>
            </a:lvl5pPr>
            <a:lvl6pPr>
              <a:defRPr sz="2175" b="1">
                <a:solidFill>
                  <a:srgbClr val="B57C50"/>
                </a:solidFill>
                <a:latin typeface="Calibri"/>
                <a:ea typeface="Calibri"/>
                <a:cs typeface="Calibri"/>
              </a:defRPr>
            </a:lvl6pPr>
            <a:lvl7pPr>
              <a:defRPr sz="2175" b="1">
                <a:solidFill>
                  <a:srgbClr val="B57C50"/>
                </a:solidFill>
                <a:latin typeface="Calibri"/>
                <a:ea typeface="Calibri"/>
                <a:cs typeface="Calibri"/>
              </a:defRPr>
            </a:lvl7pPr>
            <a:lvl8pPr>
              <a:defRPr sz="2175" b="1">
                <a:solidFill>
                  <a:srgbClr val="B57C50"/>
                </a:solidFill>
                <a:latin typeface="Calibri"/>
                <a:ea typeface="Calibri"/>
                <a:cs typeface="Calibri"/>
              </a:defRPr>
            </a:lvl8pPr>
            <a:lvl9pPr>
              <a:defRPr sz="2175" b="1">
                <a:solidFill>
                  <a:srgbClr val="B57C50"/>
                </a:solidFill>
                <a:latin typeface="Calibri"/>
                <a:ea typeface="Calibri"/>
                <a:cs typeface="Calibri"/>
              </a:defRPr>
            </a:lvl9pPr>
          </a:lstStyle>
          <a:p>
            <a:pPr>
              <a:defRPr sz="2175" b="1">
                <a:solidFill>
                  <a:srgbClr val="B57C50"/>
                </a:solidFill>
                <a:latin typeface="Calibri"/>
                <a:ea typeface="Calibri"/>
                <a:cs typeface="Calibri"/>
              </a:defRPr>
            </a:pPr>
            <a:r>
              <a:rPr sz="1150" b="1">
                <a:solidFill>
                  <a:srgbClr val="B57C50"/>
                </a:solidFill>
                <a:latin typeface="Calibri"/>
                <a:ea typeface="Calibri"/>
                <a:cs typeface="Calibri"/>
              </a:rPr>
              <a:t>No harness-free walking has been demonstrated</a:t>
            </a:r>
          </a:p>
        </p:txBody>
      </p:sp>
      <p:sp>
        <p:nvSpPr>
          <p:cNvPr id="7" name="TextBox 6">
            <a:extLst>
              <a:ext uri="{FF2B5EF4-FFF2-40B4-BE49-F238E27FC236}">
                <a16:creationId xmlns:a16="http://schemas.microsoft.com/office/drawing/2014/main" id="{0C60DCF7-D6C0-20DE-272A-ABC57FF248EF}"/>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35</a:t>
            </a:r>
          </a:p>
        </p:txBody>
      </p:sp>
    </p:spTree>
    <p:extLst>
      <p:ext uri="{BB962C8B-B14F-4D97-AF65-F5344CB8AC3E}">
        <p14:creationId xmlns:p14="http://schemas.microsoft.com/office/powerpoint/2010/main" val="31579514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497B1583-5362-F650-0E41-EA4673D3AE1C}"/>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held-out flexor traces show the corrected torque trend</a:t>
            </a:r>
          </a:p>
        </p:txBody>
      </p:sp>
      <p:sp>
        <p:nvSpPr>
          <p:cNvPr id="3" name="Rectangle 2">
            <a:extLst>
              <a:ext uri="{FF2B5EF4-FFF2-40B4-BE49-F238E27FC236}">
                <a16:creationId xmlns:a16="http://schemas.microsoft.com/office/drawing/2014/main" id="{B9C6123F-0943-512C-FCE0-64D4899D2FB6}"/>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82088F97-A72D-121B-962A-9D8966B2B856}"/>
              </a:ext>
            </a:extLst>
          </p:cNvPr>
          <p:cNvPicPr>
            <a:picLocks/>
          </p:cNvPicPr>
          <p:nvPr/>
        </p:nvPicPr>
        <p:blipFill>
          <a:blip r:embed="rId3"/>
          <a:stretch/>
        </p:blipFill>
        <p:spPr>
          <a:xfrm>
            <a:off x="990346" y="1464470"/>
            <a:ext cx="2948496" cy="2751930"/>
          </a:xfrm>
          <a:prstGeom prst="rect">
            <a:avLst/>
          </a:prstGeom>
        </p:spPr>
      </p:pic>
      <p:pic>
        <p:nvPicPr>
          <p:cNvPr id="5" name="Picture 4">
            <a:extLst>
              <a:ext uri="{FF2B5EF4-FFF2-40B4-BE49-F238E27FC236}">
                <a16:creationId xmlns:a16="http://schemas.microsoft.com/office/drawing/2014/main" id="{D9667095-63D2-4852-A87D-01806F858040}"/>
              </a:ext>
            </a:extLst>
          </p:cNvPr>
          <p:cNvPicPr>
            <a:picLocks/>
          </p:cNvPicPr>
          <p:nvPr/>
        </p:nvPicPr>
        <p:blipFill>
          <a:blip r:embed="rId4"/>
          <a:stretch/>
        </p:blipFill>
        <p:spPr>
          <a:xfrm>
            <a:off x="5023153" y="1464470"/>
            <a:ext cx="3169633" cy="2751930"/>
          </a:xfrm>
          <a:prstGeom prst="rect">
            <a:avLst/>
          </a:prstGeom>
        </p:spPr>
      </p:pic>
      <p:sp>
        <p:nvSpPr>
          <p:cNvPr id="6" name="Rectangle 5">
            <a:extLst>
              <a:ext uri="{FF2B5EF4-FFF2-40B4-BE49-F238E27FC236}">
                <a16:creationId xmlns:a16="http://schemas.microsoft.com/office/drawing/2014/main" id="{6EFEA9B4-C8B2-2D24-96B8-E2AA6B70BD0D}"/>
              </a:ext>
            </a:extLst>
          </p:cNvPr>
          <p:cNvSpPr>
            <a:spLocks noGrp="1"/>
          </p:cNvSpPr>
          <p:nvPr/>
        </p:nvSpPr>
        <p:spPr>
          <a:xfrm>
            <a:off x="428626" y="1228725"/>
            <a:ext cx="2143125" cy="250031"/>
          </a:xfrm>
          <a:prstGeom prst="rect">
            <a:avLst/>
          </a:prstGeom>
          <a:noFill/>
          <a:ln w="0">
            <a:noFill/>
          </a:ln>
        </p:spPr>
        <p:txBody>
          <a:bodyPr lIns="0" tIns="0" rIns="0" bIns="0" anchor="t"/>
          <a:lstStyle>
            <a:defPPr>
              <a:defRPr sz="1800" b="1">
                <a:solidFill>
                  <a:srgbClr val="202C33"/>
                </a:solidFill>
                <a:latin typeface="Calibri"/>
                <a:ea typeface="Calibri"/>
                <a:cs typeface="Calibri"/>
              </a:defRPr>
            </a:defPPr>
            <a:lvl1pPr>
              <a:defRPr sz="1800" b="1">
                <a:solidFill>
                  <a:srgbClr val="202C33"/>
                </a:solidFill>
                <a:latin typeface="Calibri"/>
                <a:ea typeface="Calibri"/>
                <a:cs typeface="Calibri"/>
              </a:defRPr>
            </a:lvl1pPr>
            <a:lvl2pPr>
              <a:defRPr sz="1800" b="1">
                <a:solidFill>
                  <a:srgbClr val="202C33"/>
                </a:solidFill>
                <a:latin typeface="Calibri"/>
                <a:ea typeface="Calibri"/>
                <a:cs typeface="Calibri"/>
              </a:defRPr>
            </a:lvl2pPr>
            <a:lvl3pPr>
              <a:defRPr sz="1800" b="1">
                <a:solidFill>
                  <a:srgbClr val="202C33"/>
                </a:solidFill>
                <a:latin typeface="Calibri"/>
                <a:ea typeface="Calibri"/>
                <a:cs typeface="Calibri"/>
              </a:defRPr>
            </a:lvl3pPr>
            <a:lvl4pPr>
              <a:defRPr sz="1800" b="1">
                <a:solidFill>
                  <a:srgbClr val="202C33"/>
                </a:solidFill>
                <a:latin typeface="Calibri"/>
                <a:ea typeface="Calibri"/>
                <a:cs typeface="Calibri"/>
              </a:defRPr>
            </a:lvl4pPr>
            <a:lvl5pPr>
              <a:defRPr sz="1800" b="1">
                <a:solidFill>
                  <a:srgbClr val="202C33"/>
                </a:solidFill>
                <a:latin typeface="Calibri"/>
                <a:ea typeface="Calibri"/>
                <a:cs typeface="Calibri"/>
              </a:defRPr>
            </a:lvl5pPr>
            <a:lvl6pPr>
              <a:defRPr sz="1800" b="1">
                <a:solidFill>
                  <a:srgbClr val="202C33"/>
                </a:solidFill>
                <a:latin typeface="Calibri"/>
                <a:ea typeface="Calibri"/>
                <a:cs typeface="Calibri"/>
              </a:defRPr>
            </a:lvl6pPr>
            <a:lvl7pPr>
              <a:defRPr sz="1800" b="1">
                <a:solidFill>
                  <a:srgbClr val="202C33"/>
                </a:solidFill>
                <a:latin typeface="Calibri"/>
                <a:ea typeface="Calibri"/>
                <a:cs typeface="Calibri"/>
              </a:defRPr>
            </a:lvl7pPr>
            <a:lvl8pPr>
              <a:defRPr sz="1800" b="1">
                <a:solidFill>
                  <a:srgbClr val="202C33"/>
                </a:solidFill>
                <a:latin typeface="Calibri"/>
                <a:ea typeface="Calibri"/>
                <a:cs typeface="Calibri"/>
              </a:defRPr>
            </a:lvl8pPr>
            <a:lvl9pPr>
              <a:defRPr sz="1800" b="1">
                <a:solidFill>
                  <a:srgbClr val="202C33"/>
                </a:solidFill>
                <a:latin typeface="Calibri"/>
                <a:ea typeface="Calibri"/>
                <a:cs typeface="Calibri"/>
              </a:defRPr>
            </a:lvl9pPr>
          </a:lstStyle>
          <a:p>
            <a:pPr>
              <a:defRPr sz="1800" b="1">
                <a:solidFill>
                  <a:srgbClr val="202C33"/>
                </a:solidFill>
                <a:latin typeface="Calibri"/>
                <a:ea typeface="Calibri"/>
                <a:cs typeface="Calibri"/>
              </a:defRPr>
            </a:pPr>
            <a:r>
              <a:rPr sz="1350" b="1">
                <a:solidFill>
                  <a:srgbClr val="202C33"/>
                </a:solidFill>
                <a:latin typeface="Calibri"/>
                <a:ea typeface="Calibri"/>
                <a:cs typeface="Calibri"/>
              </a:rPr>
              <a:t>Torque, N m</a:t>
            </a:r>
          </a:p>
        </p:txBody>
      </p:sp>
      <p:sp>
        <p:nvSpPr>
          <p:cNvPr id="7" name="Rectangle 6">
            <a:extLst>
              <a:ext uri="{FF2B5EF4-FFF2-40B4-BE49-F238E27FC236}">
                <a16:creationId xmlns:a16="http://schemas.microsoft.com/office/drawing/2014/main" id="{FF5B649C-85D7-12FA-B5D5-2C116EA84778}"/>
              </a:ext>
            </a:extLst>
          </p:cNvPr>
          <p:cNvSpPr>
            <a:spLocks noGrp="1"/>
          </p:cNvSpPr>
          <p:nvPr/>
        </p:nvSpPr>
        <p:spPr>
          <a:xfrm>
            <a:off x="571501" y="1464469"/>
            <a:ext cx="428625" cy="285750"/>
          </a:xfrm>
          <a:prstGeom prst="rect">
            <a:avLst/>
          </a:prstGeom>
          <a:noFill/>
          <a:ln w="0">
            <a:noFill/>
          </a:ln>
        </p:spPr>
        <p:txBody>
          <a:bodyPr lIns="0" tIns="0" rIns="0" bIns="0" anchor="t"/>
          <a:lstStyle>
            <a:defPPr>
              <a:defRPr sz="1800" b="1">
                <a:solidFill>
                  <a:srgbClr val="202C33"/>
                </a:solidFill>
                <a:latin typeface="Calibri"/>
                <a:ea typeface="Calibri"/>
                <a:cs typeface="Calibri"/>
              </a:defRPr>
            </a:defPPr>
            <a:lvl1pPr>
              <a:defRPr sz="1800" b="1">
                <a:solidFill>
                  <a:srgbClr val="202C33"/>
                </a:solidFill>
                <a:latin typeface="Calibri"/>
                <a:ea typeface="Calibri"/>
                <a:cs typeface="Calibri"/>
              </a:defRPr>
            </a:lvl1pPr>
            <a:lvl2pPr>
              <a:defRPr sz="1800" b="1">
                <a:solidFill>
                  <a:srgbClr val="202C33"/>
                </a:solidFill>
                <a:latin typeface="Calibri"/>
                <a:ea typeface="Calibri"/>
                <a:cs typeface="Calibri"/>
              </a:defRPr>
            </a:lvl2pPr>
            <a:lvl3pPr>
              <a:defRPr sz="1800" b="1">
                <a:solidFill>
                  <a:srgbClr val="202C33"/>
                </a:solidFill>
                <a:latin typeface="Calibri"/>
                <a:ea typeface="Calibri"/>
                <a:cs typeface="Calibri"/>
              </a:defRPr>
            </a:lvl3pPr>
            <a:lvl4pPr>
              <a:defRPr sz="1800" b="1">
                <a:solidFill>
                  <a:srgbClr val="202C33"/>
                </a:solidFill>
                <a:latin typeface="Calibri"/>
                <a:ea typeface="Calibri"/>
                <a:cs typeface="Calibri"/>
              </a:defRPr>
            </a:lvl4pPr>
            <a:lvl5pPr>
              <a:defRPr sz="1800" b="1">
                <a:solidFill>
                  <a:srgbClr val="202C33"/>
                </a:solidFill>
                <a:latin typeface="Calibri"/>
                <a:ea typeface="Calibri"/>
                <a:cs typeface="Calibri"/>
              </a:defRPr>
            </a:lvl5pPr>
            <a:lvl6pPr>
              <a:defRPr sz="1800" b="1">
                <a:solidFill>
                  <a:srgbClr val="202C33"/>
                </a:solidFill>
                <a:latin typeface="Calibri"/>
                <a:ea typeface="Calibri"/>
                <a:cs typeface="Calibri"/>
              </a:defRPr>
            </a:lvl6pPr>
            <a:lvl7pPr>
              <a:defRPr sz="1800" b="1">
                <a:solidFill>
                  <a:srgbClr val="202C33"/>
                </a:solidFill>
                <a:latin typeface="Calibri"/>
                <a:ea typeface="Calibri"/>
                <a:cs typeface="Calibri"/>
              </a:defRPr>
            </a:lvl7pPr>
            <a:lvl8pPr>
              <a:defRPr sz="1800" b="1">
                <a:solidFill>
                  <a:srgbClr val="202C33"/>
                </a:solidFill>
                <a:latin typeface="Calibri"/>
                <a:ea typeface="Calibri"/>
                <a:cs typeface="Calibri"/>
              </a:defRPr>
            </a:lvl8pPr>
            <a:lvl9pPr>
              <a:defRPr sz="1800" b="1">
                <a:solidFill>
                  <a:srgbClr val="202C33"/>
                </a:solidFill>
                <a:latin typeface="Calibri"/>
                <a:ea typeface="Calibri"/>
                <a:cs typeface="Calibri"/>
              </a:defRPr>
            </a:lvl9pPr>
          </a:lstStyle>
          <a:p>
            <a:pPr>
              <a:defRPr sz="1800" b="1">
                <a:solidFill>
                  <a:srgbClr val="202C33"/>
                </a:solidFill>
                <a:latin typeface="Calibri"/>
                <a:ea typeface="Calibri"/>
                <a:cs typeface="Calibri"/>
              </a:defRPr>
            </a:pPr>
            <a:r>
              <a:rPr sz="1350" b="1">
                <a:solidFill>
                  <a:srgbClr val="202C33"/>
                </a:solidFill>
                <a:latin typeface="Calibri"/>
                <a:ea typeface="Calibri"/>
                <a:cs typeface="Calibri"/>
              </a:rPr>
              <a:t>(C)</a:t>
            </a:r>
          </a:p>
        </p:txBody>
      </p:sp>
      <p:sp>
        <p:nvSpPr>
          <p:cNvPr id="8" name="Rectangle 7">
            <a:extLst>
              <a:ext uri="{FF2B5EF4-FFF2-40B4-BE49-F238E27FC236}">
                <a16:creationId xmlns:a16="http://schemas.microsoft.com/office/drawing/2014/main" id="{5A66BEC6-AEF0-4F10-DE65-4C03A647C731}"/>
              </a:ext>
            </a:extLst>
          </p:cNvPr>
          <p:cNvSpPr>
            <a:spLocks noGrp="1"/>
          </p:cNvSpPr>
          <p:nvPr/>
        </p:nvSpPr>
        <p:spPr>
          <a:xfrm>
            <a:off x="4643439" y="1464469"/>
            <a:ext cx="428625" cy="285750"/>
          </a:xfrm>
          <a:prstGeom prst="rect">
            <a:avLst/>
          </a:prstGeom>
          <a:noFill/>
          <a:ln w="0">
            <a:noFill/>
          </a:ln>
        </p:spPr>
        <p:txBody>
          <a:bodyPr lIns="0" tIns="0" rIns="0" bIns="0" anchor="t"/>
          <a:lstStyle>
            <a:defPPr>
              <a:defRPr sz="1800" b="1">
                <a:solidFill>
                  <a:srgbClr val="202C33"/>
                </a:solidFill>
                <a:latin typeface="Calibri"/>
                <a:ea typeface="Calibri"/>
                <a:cs typeface="Calibri"/>
              </a:defRPr>
            </a:defPPr>
            <a:lvl1pPr>
              <a:defRPr sz="1800" b="1">
                <a:solidFill>
                  <a:srgbClr val="202C33"/>
                </a:solidFill>
                <a:latin typeface="Calibri"/>
                <a:ea typeface="Calibri"/>
                <a:cs typeface="Calibri"/>
              </a:defRPr>
            </a:lvl1pPr>
            <a:lvl2pPr>
              <a:defRPr sz="1800" b="1">
                <a:solidFill>
                  <a:srgbClr val="202C33"/>
                </a:solidFill>
                <a:latin typeface="Calibri"/>
                <a:ea typeface="Calibri"/>
                <a:cs typeface="Calibri"/>
              </a:defRPr>
            </a:lvl2pPr>
            <a:lvl3pPr>
              <a:defRPr sz="1800" b="1">
                <a:solidFill>
                  <a:srgbClr val="202C33"/>
                </a:solidFill>
                <a:latin typeface="Calibri"/>
                <a:ea typeface="Calibri"/>
                <a:cs typeface="Calibri"/>
              </a:defRPr>
            </a:lvl3pPr>
            <a:lvl4pPr>
              <a:defRPr sz="1800" b="1">
                <a:solidFill>
                  <a:srgbClr val="202C33"/>
                </a:solidFill>
                <a:latin typeface="Calibri"/>
                <a:ea typeface="Calibri"/>
                <a:cs typeface="Calibri"/>
              </a:defRPr>
            </a:lvl4pPr>
            <a:lvl5pPr>
              <a:defRPr sz="1800" b="1">
                <a:solidFill>
                  <a:srgbClr val="202C33"/>
                </a:solidFill>
                <a:latin typeface="Calibri"/>
                <a:ea typeface="Calibri"/>
                <a:cs typeface="Calibri"/>
              </a:defRPr>
            </a:lvl5pPr>
            <a:lvl6pPr>
              <a:defRPr sz="1800" b="1">
                <a:solidFill>
                  <a:srgbClr val="202C33"/>
                </a:solidFill>
                <a:latin typeface="Calibri"/>
                <a:ea typeface="Calibri"/>
                <a:cs typeface="Calibri"/>
              </a:defRPr>
            </a:lvl6pPr>
            <a:lvl7pPr>
              <a:defRPr sz="1800" b="1">
                <a:solidFill>
                  <a:srgbClr val="202C33"/>
                </a:solidFill>
                <a:latin typeface="Calibri"/>
                <a:ea typeface="Calibri"/>
                <a:cs typeface="Calibri"/>
              </a:defRPr>
            </a:lvl7pPr>
            <a:lvl8pPr>
              <a:defRPr sz="1800" b="1">
                <a:solidFill>
                  <a:srgbClr val="202C33"/>
                </a:solidFill>
                <a:latin typeface="Calibri"/>
                <a:ea typeface="Calibri"/>
                <a:cs typeface="Calibri"/>
              </a:defRPr>
            </a:lvl8pPr>
            <a:lvl9pPr>
              <a:defRPr sz="1800" b="1">
                <a:solidFill>
                  <a:srgbClr val="202C33"/>
                </a:solidFill>
                <a:latin typeface="Calibri"/>
                <a:ea typeface="Calibri"/>
                <a:cs typeface="Calibri"/>
              </a:defRPr>
            </a:lvl9pPr>
          </a:lstStyle>
          <a:p>
            <a:pPr>
              <a:defRPr sz="1800" b="1">
                <a:solidFill>
                  <a:srgbClr val="202C33"/>
                </a:solidFill>
                <a:latin typeface="Calibri"/>
                <a:ea typeface="Calibri"/>
                <a:cs typeface="Calibri"/>
              </a:defRPr>
            </a:pPr>
            <a:r>
              <a:rPr sz="1350" b="1">
                <a:solidFill>
                  <a:srgbClr val="202C33"/>
                </a:solidFill>
                <a:latin typeface="Calibri"/>
                <a:ea typeface="Calibri"/>
                <a:cs typeface="Calibri"/>
              </a:rPr>
              <a:t>(D)</a:t>
            </a:r>
          </a:p>
        </p:txBody>
      </p:sp>
      <p:sp>
        <p:nvSpPr>
          <p:cNvPr id="9" name="Rectangle 8">
            <a:extLst>
              <a:ext uri="{FF2B5EF4-FFF2-40B4-BE49-F238E27FC236}">
                <a16:creationId xmlns:a16="http://schemas.microsoft.com/office/drawing/2014/main" id="{3DAAC364-AE04-C053-E187-9C5B9ABE3A34}"/>
              </a:ext>
            </a:extLst>
          </p:cNvPr>
          <p:cNvSpPr>
            <a:spLocks noGrp="1"/>
          </p:cNvSpPr>
          <p:nvPr/>
        </p:nvSpPr>
        <p:spPr>
          <a:xfrm>
            <a:off x="3393281" y="4140200"/>
            <a:ext cx="2857500" cy="152400"/>
          </a:xfrm>
          <a:prstGeom prst="rect">
            <a:avLst/>
          </a:prstGeom>
          <a:noFill/>
          <a:ln w="0">
            <a:noFill/>
          </a:ln>
        </p:spPr>
        <p:txBody>
          <a:bodyPr lIns="0" tIns="0" rIns="0" bIns="0" anchor="t"/>
          <a:lstStyle>
            <a:defPPr>
              <a:defRPr sz="1800" b="0">
                <a:solidFill>
                  <a:srgbClr val="202C33"/>
                </a:solidFill>
                <a:latin typeface="Calibri"/>
                <a:ea typeface="Calibri"/>
                <a:cs typeface="Calibri"/>
              </a:defRPr>
            </a:defPPr>
            <a:lvl1pPr>
              <a:defRPr sz="1800" b="0">
                <a:solidFill>
                  <a:srgbClr val="202C33"/>
                </a:solidFill>
                <a:latin typeface="Calibri"/>
                <a:ea typeface="Calibri"/>
                <a:cs typeface="Calibri"/>
              </a:defRPr>
            </a:lvl1pPr>
            <a:lvl2pPr>
              <a:defRPr sz="1800" b="0">
                <a:solidFill>
                  <a:srgbClr val="202C33"/>
                </a:solidFill>
                <a:latin typeface="Calibri"/>
                <a:ea typeface="Calibri"/>
                <a:cs typeface="Calibri"/>
              </a:defRPr>
            </a:lvl2pPr>
            <a:lvl3pPr>
              <a:defRPr sz="1800" b="0">
                <a:solidFill>
                  <a:srgbClr val="202C33"/>
                </a:solidFill>
                <a:latin typeface="Calibri"/>
                <a:ea typeface="Calibri"/>
                <a:cs typeface="Calibri"/>
              </a:defRPr>
            </a:lvl3pPr>
            <a:lvl4pPr>
              <a:defRPr sz="1800" b="0">
                <a:solidFill>
                  <a:srgbClr val="202C33"/>
                </a:solidFill>
                <a:latin typeface="Calibri"/>
                <a:ea typeface="Calibri"/>
                <a:cs typeface="Calibri"/>
              </a:defRPr>
            </a:lvl4pPr>
            <a:lvl5pPr>
              <a:defRPr sz="1800" b="0">
                <a:solidFill>
                  <a:srgbClr val="202C33"/>
                </a:solidFill>
                <a:latin typeface="Calibri"/>
                <a:ea typeface="Calibri"/>
                <a:cs typeface="Calibri"/>
              </a:defRPr>
            </a:lvl5pPr>
            <a:lvl6pPr>
              <a:defRPr sz="1800" b="0">
                <a:solidFill>
                  <a:srgbClr val="202C33"/>
                </a:solidFill>
                <a:latin typeface="Calibri"/>
                <a:ea typeface="Calibri"/>
                <a:cs typeface="Calibri"/>
              </a:defRPr>
            </a:lvl6pPr>
            <a:lvl7pPr>
              <a:defRPr sz="1800" b="0">
                <a:solidFill>
                  <a:srgbClr val="202C33"/>
                </a:solidFill>
                <a:latin typeface="Calibri"/>
                <a:ea typeface="Calibri"/>
                <a:cs typeface="Calibri"/>
              </a:defRPr>
            </a:lvl7pPr>
            <a:lvl8pPr>
              <a:defRPr sz="1800" b="0">
                <a:solidFill>
                  <a:srgbClr val="202C33"/>
                </a:solidFill>
                <a:latin typeface="Calibri"/>
                <a:ea typeface="Calibri"/>
                <a:cs typeface="Calibri"/>
              </a:defRPr>
            </a:lvl8pPr>
            <a:lvl9pPr>
              <a:defRPr sz="1800" b="0">
                <a:solidFill>
                  <a:srgbClr val="202C33"/>
                </a:solidFill>
                <a:latin typeface="Calibri"/>
                <a:ea typeface="Calibri"/>
                <a:cs typeface="Calibri"/>
              </a:defRPr>
            </a:lvl9pPr>
          </a:lstStyle>
          <a:p>
            <a:pPr>
              <a:defRPr sz="1800" b="0">
                <a:solidFill>
                  <a:srgbClr val="202C33"/>
                </a:solidFill>
                <a:latin typeface="Calibri"/>
                <a:ea typeface="Calibri"/>
                <a:cs typeface="Calibri"/>
              </a:defRPr>
            </a:pPr>
            <a:r>
              <a:rPr sz="1000" b="0">
                <a:solidFill>
                  <a:srgbClr val="202C33"/>
                </a:solidFill>
                <a:latin typeface="Calibri"/>
                <a:ea typeface="Calibri"/>
                <a:cs typeface="Calibri"/>
              </a:rPr>
              <a:t>Knee angle, deg</a:t>
            </a:r>
          </a:p>
        </p:txBody>
      </p:sp>
      <p:sp>
        <p:nvSpPr>
          <p:cNvPr id="10" name="Rectangle 9">
            <a:extLst>
              <a:ext uri="{FF2B5EF4-FFF2-40B4-BE49-F238E27FC236}">
                <a16:creationId xmlns:a16="http://schemas.microsoft.com/office/drawing/2014/main" id="{FF54B4BB-D904-23B0-7810-4AF773123811}"/>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Held-out mean RMSE: 7.588 to 1.490 N m</a:t>
            </a:r>
          </a:p>
        </p:txBody>
      </p:sp>
      <p:sp>
        <p:nvSpPr>
          <p:cNvPr id="11" name="TextBox 10">
            <a:extLst>
              <a:ext uri="{FF2B5EF4-FFF2-40B4-BE49-F238E27FC236}">
                <a16:creationId xmlns:a16="http://schemas.microsoft.com/office/drawing/2014/main" id="{D3497FF0-FC15-E48D-0941-6A91D5D620BB}"/>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36</a:t>
            </a:r>
          </a:p>
        </p:txBody>
      </p:sp>
    </p:spTree>
    <p:extLst>
      <p:ext uri="{BB962C8B-B14F-4D97-AF65-F5344CB8AC3E}">
        <p14:creationId xmlns:p14="http://schemas.microsoft.com/office/powerpoint/2010/main" val="13533219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F8EA335F-8A22-7519-A6E2-F881BD012651}"/>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adopted identification reserves tests in each configuration</a:t>
            </a:r>
          </a:p>
        </p:txBody>
      </p:sp>
      <p:sp>
        <p:nvSpPr>
          <p:cNvPr id="3" name="Rectangle 2">
            <a:extLst>
              <a:ext uri="{FF2B5EF4-FFF2-40B4-BE49-F238E27FC236}">
                <a16:creationId xmlns:a16="http://schemas.microsoft.com/office/drawing/2014/main" id="{7CC7ABD0-96BE-E13C-07C3-0FCC70CFB9A0}"/>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graphicFrame>
        <p:nvGraphicFramePr>
          <p:cNvPr id="4" name="Table 3">
            <a:extLst>
              <a:ext uri="{FF2B5EF4-FFF2-40B4-BE49-F238E27FC236}">
                <a16:creationId xmlns:a16="http://schemas.microsoft.com/office/drawing/2014/main" id="{85DD8A44-915C-5997-1CE0-93E518C54E56}"/>
              </a:ext>
            </a:extLst>
          </p:cNvPr>
          <p:cNvGraphicFramePr>
            <a:graphicFrameLocks/>
          </p:cNvGraphicFramePr>
          <p:nvPr>
            <p:extLst>
              <p:ext uri="{D42A27DB-BD31-4B8C-83A1-F6EECF244321}">
                <p14:modId xmlns:p14="http://schemas.microsoft.com/office/powerpoint/2010/main" val="2409087631"/>
              </p:ext>
            </p:extLst>
          </p:nvPr>
        </p:nvGraphicFramePr>
        <p:xfrm>
          <a:off x="428625" y="1571625"/>
          <a:ext cx="8286750" cy="1785938"/>
        </p:xfrm>
        <a:graphic>
          <a:graphicData uri="http://schemas.openxmlformats.org/drawingml/2006/table">
            <a:tbl>
              <a:tblPr/>
              <a:tblGrid>
                <a:gridCol w="2071688">
                  <a:extLst>
                    <a:ext uri="{9D8B030D-6E8A-4147-A177-3AD203B41FA5}">
                      <a16:colId xmlns:a16="http://schemas.microsoft.com/office/drawing/2014/main" val="20000"/>
                    </a:ext>
                  </a:extLst>
                </a:gridCol>
                <a:gridCol w="2071688">
                  <a:extLst>
                    <a:ext uri="{9D8B030D-6E8A-4147-A177-3AD203B41FA5}">
                      <a16:colId xmlns:a16="http://schemas.microsoft.com/office/drawing/2014/main" val="20001"/>
                    </a:ext>
                  </a:extLst>
                </a:gridCol>
                <a:gridCol w="2071688">
                  <a:extLst>
                    <a:ext uri="{9D8B030D-6E8A-4147-A177-3AD203B41FA5}">
                      <a16:colId xmlns:a16="http://schemas.microsoft.com/office/drawing/2014/main" val="20002"/>
                    </a:ext>
                  </a:extLst>
                </a:gridCol>
                <a:gridCol w="2071688">
                  <a:extLst>
                    <a:ext uri="{9D8B030D-6E8A-4147-A177-3AD203B41FA5}">
                      <a16:colId xmlns:a16="http://schemas.microsoft.com/office/drawing/2014/main" val="20003"/>
                    </a:ext>
                  </a:extLst>
                </a:gridCol>
              </a:tblGrid>
              <a:tr h="595313">
                <a:tc>
                  <a:txBody>
                    <a:bodyPr/>
                    <a:lstStyle/>
                    <a:p>
                      <a:r>
                        <a:rPr sz="1688" b="1">
                          <a:solidFill>
                            <a:srgbClr val="006D77"/>
                          </a:solidFill>
                          <a:latin typeface="Calibri"/>
                          <a:ea typeface="Calibri"/>
                          <a:cs typeface="Calibri"/>
                        </a:rPr>
                        <a:t>Configuration</a:t>
                      </a:r>
                    </a:p>
                  </a:txBody>
                  <a:tcPr>
                    <a:solidFill>
                      <a:srgbClr val="FFFFFF"/>
                    </a:solidFill>
                  </a:tcPr>
                </a:tc>
                <a:tc>
                  <a:txBody>
                    <a:bodyPr/>
                    <a:lstStyle/>
                    <a:p>
                      <a:r>
                        <a:rPr sz="1688" b="1">
                          <a:solidFill>
                            <a:srgbClr val="006D77"/>
                          </a:solidFill>
                          <a:latin typeface="Calibri"/>
                          <a:ea typeface="Calibri"/>
                          <a:cs typeface="Calibri"/>
                        </a:rPr>
                        <a:t>Training</a:t>
                      </a:r>
                    </a:p>
                  </a:txBody>
                  <a:tcPr>
                    <a:solidFill>
                      <a:srgbClr val="FFFFFF"/>
                    </a:solidFill>
                  </a:tcPr>
                </a:tc>
                <a:tc>
                  <a:txBody>
                    <a:bodyPr/>
                    <a:lstStyle/>
                    <a:p>
                      <a:r>
                        <a:rPr sz="1688" b="1">
                          <a:solidFill>
                            <a:srgbClr val="006D77"/>
                          </a:solidFill>
                          <a:latin typeface="Calibri"/>
                          <a:ea typeface="Calibri"/>
                          <a:cs typeface="Calibri"/>
                        </a:rPr>
                        <a:t>Held out</a:t>
                      </a:r>
                    </a:p>
                  </a:txBody>
                  <a:tcPr>
                    <a:solidFill>
                      <a:srgbClr val="FFFFFF"/>
                    </a:solidFill>
                  </a:tcPr>
                </a:tc>
                <a:tc>
                  <a:txBody>
                    <a:bodyPr/>
                    <a:lstStyle/>
                    <a:p>
                      <a:r>
                        <a:rPr sz="1688" b="1">
                          <a:solidFill>
                            <a:srgbClr val="006D77"/>
                          </a:solidFill>
                          <a:latin typeface="Calibri"/>
                          <a:ea typeface="Calibri"/>
                          <a:cs typeface="Calibri"/>
                        </a:rPr>
                        <a:t>Not used</a:t>
                      </a:r>
                    </a:p>
                  </a:txBody>
                  <a:tcPr>
                    <a:solidFill>
                      <a:srgbClr val="FFFFFF"/>
                    </a:solidFill>
                  </a:tcPr>
                </a:tc>
                <a:extLst>
                  <a:ext uri="{0D108BD9-81ED-4DB2-BD59-A6C34878D82A}">
                    <a16:rowId xmlns:a16="http://schemas.microsoft.com/office/drawing/2014/main" val="10000"/>
                  </a:ext>
                </a:extLst>
              </a:tr>
              <a:tr h="595313">
                <a:tc>
                  <a:txBody>
                    <a:bodyPr/>
                    <a:lstStyle/>
                    <a:p>
                      <a:r>
                        <a:rPr sz="1688" b="0">
                          <a:solidFill>
                            <a:srgbClr val="202C33"/>
                          </a:solidFill>
                          <a:latin typeface="Calibri"/>
                          <a:ea typeface="Calibri"/>
                          <a:cs typeface="Calibri"/>
                        </a:rPr>
                        <a:t>Pinned flexor</a:t>
                      </a:r>
                    </a:p>
                  </a:txBody>
                  <a:tcPr>
                    <a:solidFill>
                      <a:srgbClr val="FFFFFF"/>
                    </a:solidFill>
                  </a:tcPr>
                </a:tc>
                <a:tc>
                  <a:txBody>
                    <a:bodyPr/>
                    <a:lstStyle/>
                    <a:p>
                      <a:r>
                        <a:rPr sz="1688" b="0">
                          <a:solidFill>
                            <a:srgbClr val="202C33"/>
                          </a:solidFill>
                          <a:latin typeface="Calibri"/>
                          <a:ea typeface="Calibri"/>
                          <a:cs typeface="Calibri"/>
                        </a:rPr>
                        <a:t>2</a:t>
                      </a:r>
                    </a:p>
                  </a:txBody>
                  <a:tcPr>
                    <a:solidFill>
                      <a:srgbClr val="FFFFFF"/>
                    </a:solidFill>
                  </a:tcPr>
                </a:tc>
                <a:tc>
                  <a:txBody>
                    <a:bodyPr/>
                    <a:lstStyle/>
                    <a:p>
                      <a:r>
                        <a:rPr sz="1688" b="0">
                          <a:solidFill>
                            <a:srgbClr val="202C33"/>
                          </a:solidFill>
                          <a:latin typeface="Calibri"/>
                          <a:ea typeface="Calibri"/>
                          <a:cs typeface="Calibri"/>
                        </a:rPr>
                        <a:t>2</a:t>
                      </a:r>
                    </a:p>
                  </a:txBody>
                  <a:tcPr>
                    <a:solidFill>
                      <a:srgbClr val="FFFFFF"/>
                    </a:solidFill>
                  </a:tcPr>
                </a:tc>
                <a:tc>
                  <a:txBody>
                    <a:bodyPr/>
                    <a:lstStyle/>
                    <a:p>
                      <a:r>
                        <a:rPr sz="1688" b="0">
                          <a:solidFill>
                            <a:srgbClr val="202C33"/>
                          </a:solidFill>
                          <a:latin typeface="Calibri"/>
                          <a:ea typeface="Calibri"/>
                          <a:cs typeface="Calibri"/>
                        </a:rPr>
                        <a:t>1</a:t>
                      </a:r>
                    </a:p>
                  </a:txBody>
                  <a:tcPr>
                    <a:solidFill>
                      <a:srgbClr val="FFFFFF"/>
                    </a:solidFill>
                  </a:tcPr>
                </a:tc>
                <a:extLst>
                  <a:ext uri="{0D108BD9-81ED-4DB2-BD59-A6C34878D82A}">
                    <a16:rowId xmlns:a16="http://schemas.microsoft.com/office/drawing/2014/main" val="10001"/>
                  </a:ext>
                </a:extLst>
              </a:tr>
              <a:tr h="595313">
                <a:tc>
                  <a:txBody>
                    <a:bodyPr/>
                    <a:lstStyle/>
                    <a:p>
                      <a:r>
                        <a:rPr sz="1688" b="0">
                          <a:solidFill>
                            <a:srgbClr val="202C33"/>
                          </a:solidFill>
                          <a:latin typeface="Calibri"/>
                          <a:ea typeface="Calibri"/>
                          <a:cs typeface="Calibri"/>
                        </a:rPr>
                        <a:t>Pinned extensor</a:t>
                      </a:r>
                    </a:p>
                  </a:txBody>
                  <a:tcPr>
                    <a:solidFill>
                      <a:srgbClr val="FFFFFF"/>
                    </a:solidFill>
                  </a:tcPr>
                </a:tc>
                <a:tc>
                  <a:txBody>
                    <a:bodyPr/>
                    <a:lstStyle/>
                    <a:p>
                      <a:r>
                        <a:rPr sz="1688" b="0">
                          <a:solidFill>
                            <a:srgbClr val="202C33"/>
                          </a:solidFill>
                          <a:latin typeface="Calibri"/>
                          <a:ea typeface="Calibri"/>
                          <a:cs typeface="Calibri"/>
                        </a:rPr>
                        <a:t>3</a:t>
                      </a:r>
                    </a:p>
                  </a:txBody>
                  <a:tcPr>
                    <a:solidFill>
                      <a:srgbClr val="FFFFFF"/>
                    </a:solidFill>
                  </a:tcPr>
                </a:tc>
                <a:tc>
                  <a:txBody>
                    <a:bodyPr/>
                    <a:lstStyle/>
                    <a:p>
                      <a:r>
                        <a:rPr sz="1688" b="0">
                          <a:solidFill>
                            <a:srgbClr val="202C33"/>
                          </a:solidFill>
                          <a:latin typeface="Calibri"/>
                          <a:ea typeface="Calibri"/>
                          <a:cs typeface="Calibri"/>
                        </a:rPr>
                        <a:t>3</a:t>
                      </a:r>
                    </a:p>
                  </a:txBody>
                  <a:tcPr>
                    <a:solidFill>
                      <a:srgbClr val="FFFFFF"/>
                    </a:solidFill>
                  </a:tcPr>
                </a:tc>
                <a:tc>
                  <a:txBody>
                    <a:bodyPr/>
                    <a:lstStyle/>
                    <a:p>
                      <a:r>
                        <a:rPr sz="1688" b="0">
                          <a:solidFill>
                            <a:srgbClr val="202C33"/>
                          </a:solidFill>
                          <a:latin typeface="Calibri"/>
                          <a:ea typeface="Calibri"/>
                          <a:cs typeface="Calibri"/>
                        </a:rPr>
                        <a:t>3</a:t>
                      </a:r>
                    </a:p>
                  </a:txBody>
                  <a:tcPr>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C8294D1C-28B9-F106-DC23-F5AC7B3CB8DA}"/>
              </a:ext>
            </a:extLst>
          </p:cNvPr>
          <p:cNvSpPr>
            <a:spLocks noGrp="1"/>
          </p:cNvSpPr>
          <p:nvPr/>
        </p:nvSpPr>
        <p:spPr>
          <a:xfrm>
            <a:off x="428625" y="3786189"/>
            <a:ext cx="8286750" cy="428625"/>
          </a:xfrm>
          <a:prstGeom prst="rect">
            <a:avLst/>
          </a:prstGeom>
          <a:noFill/>
          <a:ln w="0">
            <a:noFill/>
          </a:ln>
        </p:spPr>
        <p:txBody>
          <a:bodyPr lIns="0" tIns="0" rIns="0" bIns="0" anchor="t"/>
          <a:lstStyle>
            <a:defPPr>
              <a:defRPr sz="2250" b="1">
                <a:solidFill>
                  <a:srgbClr val="006D77"/>
                </a:solidFill>
                <a:latin typeface="Calibri"/>
                <a:ea typeface="Calibri"/>
                <a:cs typeface="Calibri"/>
              </a:defRPr>
            </a:defPPr>
            <a:lvl1pPr>
              <a:defRPr sz="2250" b="1">
                <a:solidFill>
                  <a:srgbClr val="006D77"/>
                </a:solidFill>
                <a:latin typeface="Calibri"/>
                <a:ea typeface="Calibri"/>
                <a:cs typeface="Calibri"/>
              </a:defRPr>
            </a:lvl1pPr>
            <a:lvl2pPr>
              <a:defRPr sz="2250" b="1">
                <a:solidFill>
                  <a:srgbClr val="006D77"/>
                </a:solidFill>
                <a:latin typeface="Calibri"/>
                <a:ea typeface="Calibri"/>
                <a:cs typeface="Calibri"/>
              </a:defRPr>
            </a:lvl2pPr>
            <a:lvl3pPr>
              <a:defRPr sz="2250" b="1">
                <a:solidFill>
                  <a:srgbClr val="006D77"/>
                </a:solidFill>
                <a:latin typeface="Calibri"/>
                <a:ea typeface="Calibri"/>
                <a:cs typeface="Calibri"/>
              </a:defRPr>
            </a:lvl3pPr>
            <a:lvl4pPr>
              <a:defRPr sz="2250" b="1">
                <a:solidFill>
                  <a:srgbClr val="006D77"/>
                </a:solidFill>
                <a:latin typeface="Calibri"/>
                <a:ea typeface="Calibri"/>
                <a:cs typeface="Calibri"/>
              </a:defRPr>
            </a:lvl4pPr>
            <a:lvl5pPr>
              <a:defRPr sz="2250" b="1">
                <a:solidFill>
                  <a:srgbClr val="006D77"/>
                </a:solidFill>
                <a:latin typeface="Calibri"/>
                <a:ea typeface="Calibri"/>
                <a:cs typeface="Calibri"/>
              </a:defRPr>
            </a:lvl5pPr>
            <a:lvl6pPr>
              <a:defRPr sz="2250" b="1">
                <a:solidFill>
                  <a:srgbClr val="006D77"/>
                </a:solidFill>
                <a:latin typeface="Calibri"/>
                <a:ea typeface="Calibri"/>
                <a:cs typeface="Calibri"/>
              </a:defRPr>
            </a:lvl6pPr>
            <a:lvl7pPr>
              <a:defRPr sz="2250" b="1">
                <a:solidFill>
                  <a:srgbClr val="006D77"/>
                </a:solidFill>
                <a:latin typeface="Calibri"/>
                <a:ea typeface="Calibri"/>
                <a:cs typeface="Calibri"/>
              </a:defRPr>
            </a:lvl7pPr>
            <a:lvl8pPr>
              <a:defRPr sz="2250" b="1">
                <a:solidFill>
                  <a:srgbClr val="006D77"/>
                </a:solidFill>
                <a:latin typeface="Calibri"/>
                <a:ea typeface="Calibri"/>
                <a:cs typeface="Calibri"/>
              </a:defRPr>
            </a:lvl8pPr>
            <a:lvl9pPr>
              <a:defRPr sz="2250" b="1">
                <a:solidFill>
                  <a:srgbClr val="006D77"/>
                </a:solidFill>
                <a:latin typeface="Calibri"/>
                <a:ea typeface="Calibri"/>
                <a:cs typeface="Calibri"/>
              </a:defRPr>
            </a:lvl9pPr>
          </a:lstStyle>
          <a:p>
            <a:pPr>
              <a:defRPr sz="2250" b="1">
                <a:solidFill>
                  <a:srgbClr val="006D77"/>
                </a:solidFill>
                <a:latin typeface="Calibri"/>
                <a:ea typeface="Calibri"/>
                <a:cs typeface="Calibri"/>
              </a:defRPr>
            </a:pPr>
            <a:r>
              <a:rPr sz="1688" b="1">
                <a:solidFill>
                  <a:srgbClr val="006D77"/>
                </a:solidFill>
                <a:latin typeface="Calibri"/>
                <a:ea typeface="Calibri"/>
                <a:cs typeface="Calibri"/>
              </a:rPr>
              <a:t>Shared effective stiffness pair: χ₁ = 39.98, χ₂ = 14.73 kN/m</a:t>
            </a:r>
          </a:p>
        </p:txBody>
      </p:sp>
      <p:sp>
        <p:nvSpPr>
          <p:cNvPr id="6" name="TextBox 5">
            <a:extLst>
              <a:ext uri="{FF2B5EF4-FFF2-40B4-BE49-F238E27FC236}">
                <a16:creationId xmlns:a16="http://schemas.microsoft.com/office/drawing/2014/main" id="{92616C21-A97A-92EF-D07E-32F430564328}"/>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37</a:t>
            </a:r>
          </a:p>
        </p:txBody>
      </p:sp>
    </p:spTree>
    <p:extLst>
      <p:ext uri="{BB962C8B-B14F-4D97-AF65-F5344CB8AC3E}">
        <p14:creationId xmlns:p14="http://schemas.microsoft.com/office/powerpoint/2010/main" val="35403412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F0B3181D-C0EB-1131-50F2-E79345E3887E}"/>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Physical dimensions differ from prediction settings</a:t>
            </a:r>
          </a:p>
        </p:txBody>
      </p:sp>
      <p:sp>
        <p:nvSpPr>
          <p:cNvPr id="3" name="Rectangle 2">
            <a:extLst>
              <a:ext uri="{FF2B5EF4-FFF2-40B4-BE49-F238E27FC236}">
                <a16:creationId xmlns:a16="http://schemas.microsoft.com/office/drawing/2014/main" id="{CC26B3C8-68CC-B6D8-E9E4-44EAF8244B6F}"/>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Torque manuscript, Physical Tests · Dissertation Appendix C dimensions</a:t>
            </a:r>
          </a:p>
        </p:txBody>
      </p:sp>
      <p:graphicFrame>
        <p:nvGraphicFramePr>
          <p:cNvPr id="4" name="Table 3">
            <a:extLst>
              <a:ext uri="{FF2B5EF4-FFF2-40B4-BE49-F238E27FC236}">
                <a16:creationId xmlns:a16="http://schemas.microsoft.com/office/drawing/2014/main" id="{5C6F3C09-7667-8A5A-243D-B16CCF85F0FC}"/>
              </a:ext>
            </a:extLst>
          </p:cNvPr>
          <p:cNvGraphicFramePr>
            <a:graphicFrameLocks/>
          </p:cNvGraphicFramePr>
          <p:nvPr>
            <p:extLst>
              <p:ext uri="{D42A27DB-BD31-4B8C-83A1-F6EECF244321}">
                <p14:modId xmlns:p14="http://schemas.microsoft.com/office/powerpoint/2010/main" val="649929261"/>
              </p:ext>
            </p:extLst>
          </p:nvPr>
        </p:nvGraphicFramePr>
        <p:xfrm>
          <a:off x="428625" y="1357313"/>
          <a:ext cx="8286750" cy="2393156"/>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478631">
                <a:tc>
                  <a:txBody>
                    <a:bodyPr/>
                    <a:lstStyle/>
                    <a:p>
                      <a:r>
                        <a:rPr sz="1575" b="1">
                          <a:solidFill>
                            <a:srgbClr val="006D77"/>
                          </a:solidFill>
                          <a:latin typeface="Calibri"/>
                          <a:ea typeface="Calibri"/>
                          <a:cs typeface="Calibri"/>
                        </a:rPr>
                        <a:t>Actuator</a:t>
                      </a:r>
                    </a:p>
                  </a:txBody>
                  <a:tcPr>
                    <a:solidFill>
                      <a:srgbClr val="FFFFFF"/>
                    </a:solidFill>
                  </a:tcPr>
                </a:tc>
                <a:tc>
                  <a:txBody>
                    <a:bodyPr/>
                    <a:lstStyle/>
                    <a:p>
                      <a:r>
                        <a:rPr sz="1575" b="1">
                          <a:solidFill>
                            <a:srgbClr val="006D77"/>
                          </a:solidFill>
                          <a:latin typeface="Calibri"/>
                          <a:ea typeface="Calibri"/>
                          <a:cs typeface="Calibri"/>
                        </a:rPr>
                        <a:t>Resting length, mm</a:t>
                      </a:r>
                    </a:p>
                  </a:txBody>
                  <a:tcPr>
                    <a:solidFill>
                      <a:srgbClr val="FFFFFF"/>
                    </a:solidFill>
                  </a:tcPr>
                </a:tc>
                <a:tc>
                  <a:txBody>
                    <a:bodyPr/>
                    <a:lstStyle/>
                    <a:p>
                      <a:r>
                        <a:rPr sz="1575" b="1">
                          <a:solidFill>
                            <a:srgbClr val="006D77"/>
                          </a:solidFill>
                          <a:latin typeface="Calibri"/>
                          <a:ea typeface="Calibri"/>
                          <a:cs typeface="Calibri"/>
                        </a:rPr>
                        <a:t>Tendon length, mm</a:t>
                      </a:r>
                    </a:p>
                  </a:txBody>
                  <a:tcPr>
                    <a:solidFill>
                      <a:srgbClr val="FFFFFF"/>
                    </a:solidFill>
                  </a:tcPr>
                </a:tc>
                <a:extLst>
                  <a:ext uri="{0D108BD9-81ED-4DB2-BD59-A6C34878D82A}">
                    <a16:rowId xmlns:a16="http://schemas.microsoft.com/office/drawing/2014/main" val="10000"/>
                  </a:ext>
                </a:extLst>
              </a:tr>
              <a:tr h="478631">
                <a:tc>
                  <a:txBody>
                    <a:bodyPr/>
                    <a:lstStyle/>
                    <a:p>
                      <a:r>
                        <a:rPr sz="1575" b="0">
                          <a:solidFill>
                            <a:srgbClr val="202C33"/>
                          </a:solidFill>
                          <a:latin typeface="Calibri"/>
                          <a:ea typeface="Calibri"/>
                          <a:cs typeface="Calibri"/>
                        </a:rPr>
                        <a:t>Flexor 1</a:t>
                      </a:r>
                    </a:p>
                  </a:txBody>
                  <a:tcPr>
                    <a:solidFill>
                      <a:srgbClr val="FFFFFF"/>
                    </a:solidFill>
                  </a:tcPr>
                </a:tc>
                <a:tc>
                  <a:txBody>
                    <a:bodyPr/>
                    <a:lstStyle/>
                    <a:p>
                      <a:r>
                        <a:rPr sz="1575" b="0">
                          <a:solidFill>
                            <a:srgbClr val="202C33"/>
                          </a:solidFill>
                          <a:latin typeface="Calibri"/>
                          <a:ea typeface="Calibri"/>
                          <a:cs typeface="Calibri"/>
                        </a:rPr>
                        <a:t>561</a:t>
                      </a:r>
                    </a:p>
                  </a:txBody>
                  <a:tcPr>
                    <a:solidFill>
                      <a:srgbClr val="FFFFFF"/>
                    </a:solidFill>
                  </a:tcPr>
                </a:tc>
                <a:tc>
                  <a:txBody>
                    <a:bodyPr/>
                    <a:lstStyle/>
                    <a:p>
                      <a:r>
                        <a:rPr sz="1575" b="0">
                          <a:solidFill>
                            <a:srgbClr val="202C33"/>
                          </a:solidFill>
                          <a:latin typeface="Calibri"/>
                          <a:ea typeface="Calibri"/>
                          <a:cs typeface="Calibri"/>
                        </a:rPr>
                        <a:t>28</a:t>
                      </a:r>
                    </a:p>
                  </a:txBody>
                  <a:tcPr>
                    <a:solidFill>
                      <a:srgbClr val="FFFFFF"/>
                    </a:solidFill>
                  </a:tcPr>
                </a:tc>
                <a:extLst>
                  <a:ext uri="{0D108BD9-81ED-4DB2-BD59-A6C34878D82A}">
                    <a16:rowId xmlns:a16="http://schemas.microsoft.com/office/drawing/2014/main" val="10001"/>
                  </a:ext>
                </a:extLst>
              </a:tr>
              <a:tr h="478631">
                <a:tc>
                  <a:txBody>
                    <a:bodyPr/>
                    <a:lstStyle/>
                    <a:p>
                      <a:r>
                        <a:rPr sz="1575" b="0">
                          <a:solidFill>
                            <a:srgbClr val="202C33"/>
                          </a:solidFill>
                          <a:latin typeface="Calibri"/>
                          <a:ea typeface="Calibri"/>
                          <a:cs typeface="Calibri"/>
                        </a:rPr>
                        <a:t>Flexor 2</a:t>
                      </a:r>
                    </a:p>
                  </a:txBody>
                  <a:tcPr>
                    <a:solidFill>
                      <a:srgbClr val="FFFFFF"/>
                    </a:solidFill>
                  </a:tcPr>
                </a:tc>
                <a:tc>
                  <a:txBody>
                    <a:bodyPr/>
                    <a:lstStyle/>
                    <a:p>
                      <a:r>
                        <a:rPr sz="1575" b="0">
                          <a:solidFill>
                            <a:srgbClr val="202C33"/>
                          </a:solidFill>
                          <a:latin typeface="Calibri"/>
                          <a:ea typeface="Calibri"/>
                          <a:cs typeface="Calibri"/>
                        </a:rPr>
                        <a:t>560</a:t>
                      </a:r>
                    </a:p>
                  </a:txBody>
                  <a:tcPr>
                    <a:solidFill>
                      <a:srgbClr val="FFFFFF"/>
                    </a:solidFill>
                  </a:tcPr>
                </a:tc>
                <a:tc>
                  <a:txBody>
                    <a:bodyPr/>
                    <a:lstStyle/>
                    <a:p>
                      <a:r>
                        <a:rPr sz="1575" b="0">
                          <a:solidFill>
                            <a:srgbClr val="202C33"/>
                          </a:solidFill>
                          <a:latin typeface="Calibri"/>
                          <a:ea typeface="Calibri"/>
                          <a:cs typeface="Calibri"/>
                        </a:rPr>
                        <a:t>30</a:t>
                      </a:r>
                    </a:p>
                  </a:txBody>
                  <a:tcPr>
                    <a:solidFill>
                      <a:srgbClr val="FFFFFF"/>
                    </a:solidFill>
                  </a:tcPr>
                </a:tc>
                <a:extLst>
                  <a:ext uri="{0D108BD9-81ED-4DB2-BD59-A6C34878D82A}">
                    <a16:rowId xmlns:a16="http://schemas.microsoft.com/office/drawing/2014/main" val="10002"/>
                  </a:ext>
                </a:extLst>
              </a:tr>
              <a:tr h="478631">
                <a:tc>
                  <a:txBody>
                    <a:bodyPr/>
                    <a:lstStyle/>
                    <a:p>
                      <a:r>
                        <a:rPr sz="1575" b="0">
                          <a:solidFill>
                            <a:srgbClr val="202C33"/>
                          </a:solidFill>
                          <a:latin typeface="Calibri"/>
                          <a:ea typeface="Calibri"/>
                          <a:cs typeface="Calibri"/>
                        </a:rPr>
                        <a:t>Extensor 1</a:t>
                      </a:r>
                    </a:p>
                  </a:txBody>
                  <a:tcPr>
                    <a:solidFill>
                      <a:srgbClr val="FFFFFF"/>
                    </a:solidFill>
                  </a:tcPr>
                </a:tc>
                <a:tc>
                  <a:txBody>
                    <a:bodyPr/>
                    <a:lstStyle/>
                    <a:p>
                      <a:r>
                        <a:rPr sz="1575" b="0">
                          <a:solidFill>
                            <a:srgbClr val="202C33"/>
                          </a:solidFill>
                          <a:latin typeface="Calibri"/>
                          <a:ea typeface="Calibri"/>
                          <a:cs typeface="Calibri"/>
                        </a:rPr>
                        <a:t>828</a:t>
                      </a:r>
                    </a:p>
                  </a:txBody>
                  <a:tcPr>
                    <a:solidFill>
                      <a:srgbClr val="FFFFFF"/>
                    </a:solidFill>
                  </a:tcPr>
                </a:tc>
                <a:tc>
                  <a:txBody>
                    <a:bodyPr/>
                    <a:lstStyle/>
                    <a:p>
                      <a:r>
                        <a:rPr sz="1575" b="0">
                          <a:solidFill>
                            <a:srgbClr val="202C33"/>
                          </a:solidFill>
                          <a:latin typeface="Calibri"/>
                          <a:ea typeface="Calibri"/>
                          <a:cs typeface="Calibri"/>
                        </a:rPr>
                        <a:t>92</a:t>
                      </a:r>
                    </a:p>
                  </a:txBody>
                  <a:tcPr>
                    <a:solidFill>
                      <a:srgbClr val="FFFFFF"/>
                    </a:solidFill>
                  </a:tcPr>
                </a:tc>
                <a:extLst>
                  <a:ext uri="{0D108BD9-81ED-4DB2-BD59-A6C34878D82A}">
                    <a16:rowId xmlns:a16="http://schemas.microsoft.com/office/drawing/2014/main" val="10003"/>
                  </a:ext>
                </a:extLst>
              </a:tr>
              <a:tr h="478631">
                <a:tc>
                  <a:txBody>
                    <a:bodyPr/>
                    <a:lstStyle/>
                    <a:p>
                      <a:r>
                        <a:rPr sz="1575" b="0">
                          <a:solidFill>
                            <a:srgbClr val="202C33"/>
                          </a:solidFill>
                          <a:latin typeface="Calibri"/>
                          <a:ea typeface="Calibri"/>
                          <a:cs typeface="Calibri"/>
                        </a:rPr>
                        <a:t>Extensor 2</a:t>
                      </a:r>
                    </a:p>
                  </a:txBody>
                  <a:tcPr>
                    <a:solidFill>
                      <a:srgbClr val="FFFFFF"/>
                    </a:solidFill>
                  </a:tcPr>
                </a:tc>
                <a:tc>
                  <a:txBody>
                    <a:bodyPr/>
                    <a:lstStyle/>
                    <a:p>
                      <a:r>
                        <a:rPr sz="1575" b="0">
                          <a:solidFill>
                            <a:srgbClr val="202C33"/>
                          </a:solidFill>
                          <a:latin typeface="Calibri"/>
                          <a:ea typeface="Calibri"/>
                          <a:cs typeface="Calibri"/>
                        </a:rPr>
                        <a:t>826</a:t>
                      </a:r>
                    </a:p>
                  </a:txBody>
                  <a:tcPr>
                    <a:solidFill>
                      <a:srgbClr val="FFFFFF"/>
                    </a:solidFill>
                  </a:tcPr>
                </a:tc>
                <a:tc>
                  <a:txBody>
                    <a:bodyPr/>
                    <a:lstStyle/>
                    <a:p>
                      <a:r>
                        <a:rPr sz="1575" b="0">
                          <a:solidFill>
                            <a:srgbClr val="202C33"/>
                          </a:solidFill>
                          <a:latin typeface="Calibri"/>
                          <a:ea typeface="Calibri"/>
                          <a:cs typeface="Calibri"/>
                        </a:rPr>
                        <a:t>85</a:t>
                      </a:r>
                    </a:p>
                  </a:txBody>
                  <a:tcPr>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FC01FDB3-EE82-7A14-D085-2B969B8B0CA5}"/>
              </a:ext>
            </a:extLst>
          </p:cNvPr>
          <p:cNvSpPr>
            <a:spLocks noGrp="1"/>
          </p:cNvSpPr>
          <p:nvPr/>
        </p:nvSpPr>
        <p:spPr>
          <a:xfrm>
            <a:off x="428625" y="4043364"/>
            <a:ext cx="8286750" cy="442913"/>
          </a:xfrm>
          <a:prstGeom prst="rect">
            <a:avLst/>
          </a:prstGeom>
          <a:noFill/>
          <a:ln w="0">
            <a:noFill/>
          </a:ln>
        </p:spPr>
        <p:txBody>
          <a:bodyPr lIns="0" tIns="0" rIns="0" bIns="0" anchor="t"/>
          <a:lstStyle>
            <a:defPPr>
              <a:defRPr sz="2025" b="1">
                <a:solidFill>
                  <a:srgbClr val="006D77"/>
                </a:solidFill>
                <a:latin typeface="Calibri"/>
                <a:ea typeface="Calibri"/>
                <a:cs typeface="Calibri"/>
              </a:defRPr>
            </a:defPPr>
            <a:lvl1pPr>
              <a:defRPr sz="2025" b="1">
                <a:solidFill>
                  <a:srgbClr val="006D77"/>
                </a:solidFill>
                <a:latin typeface="Calibri"/>
                <a:ea typeface="Calibri"/>
                <a:cs typeface="Calibri"/>
              </a:defRPr>
            </a:lvl1pPr>
            <a:lvl2pPr>
              <a:defRPr sz="2025" b="1">
                <a:solidFill>
                  <a:srgbClr val="006D77"/>
                </a:solidFill>
                <a:latin typeface="Calibri"/>
                <a:ea typeface="Calibri"/>
                <a:cs typeface="Calibri"/>
              </a:defRPr>
            </a:lvl2pPr>
            <a:lvl3pPr>
              <a:defRPr sz="2025" b="1">
                <a:solidFill>
                  <a:srgbClr val="006D77"/>
                </a:solidFill>
                <a:latin typeface="Calibri"/>
                <a:ea typeface="Calibri"/>
                <a:cs typeface="Calibri"/>
              </a:defRPr>
            </a:lvl3pPr>
            <a:lvl4pPr>
              <a:defRPr sz="2025" b="1">
                <a:solidFill>
                  <a:srgbClr val="006D77"/>
                </a:solidFill>
                <a:latin typeface="Calibri"/>
                <a:ea typeface="Calibri"/>
                <a:cs typeface="Calibri"/>
              </a:defRPr>
            </a:lvl4pPr>
            <a:lvl5pPr>
              <a:defRPr sz="2025" b="1">
                <a:solidFill>
                  <a:srgbClr val="006D77"/>
                </a:solidFill>
                <a:latin typeface="Calibri"/>
                <a:ea typeface="Calibri"/>
                <a:cs typeface="Calibri"/>
              </a:defRPr>
            </a:lvl5pPr>
            <a:lvl6pPr>
              <a:defRPr sz="2025" b="1">
                <a:solidFill>
                  <a:srgbClr val="006D77"/>
                </a:solidFill>
                <a:latin typeface="Calibri"/>
                <a:ea typeface="Calibri"/>
                <a:cs typeface="Calibri"/>
              </a:defRPr>
            </a:lvl6pPr>
            <a:lvl7pPr>
              <a:defRPr sz="2025" b="1">
                <a:solidFill>
                  <a:srgbClr val="006D77"/>
                </a:solidFill>
                <a:latin typeface="Calibri"/>
                <a:ea typeface="Calibri"/>
                <a:cs typeface="Calibri"/>
              </a:defRPr>
            </a:lvl7pPr>
            <a:lvl8pPr>
              <a:defRPr sz="2025" b="1">
                <a:solidFill>
                  <a:srgbClr val="006D77"/>
                </a:solidFill>
                <a:latin typeface="Calibri"/>
                <a:ea typeface="Calibri"/>
                <a:cs typeface="Calibri"/>
              </a:defRPr>
            </a:lvl8pPr>
            <a:lvl9pPr>
              <a:defRPr sz="2025" b="1">
                <a:solidFill>
                  <a:srgbClr val="006D77"/>
                </a:solidFill>
                <a:latin typeface="Calibri"/>
                <a:ea typeface="Calibri"/>
                <a:cs typeface="Calibri"/>
              </a:defRPr>
            </a:lvl9pPr>
          </a:lstStyle>
          <a:p>
            <a:pPr>
              <a:defRPr sz="2025" b="1">
                <a:solidFill>
                  <a:srgbClr val="006D77"/>
                </a:solidFill>
                <a:latin typeface="Calibri"/>
                <a:ea typeface="Calibri"/>
                <a:cs typeface="Calibri"/>
              </a:defRPr>
            </a:pPr>
            <a:r>
              <a:rPr sz="1519" b="1">
                <a:solidFill>
                  <a:srgbClr val="006D77"/>
                </a:solidFill>
                <a:latin typeface="Calibri"/>
                <a:ea typeface="Calibri"/>
                <a:cs typeface="Calibri"/>
              </a:rPr>
              <a:t>Prediction inputs: flexor 561.49 / 5.00 mm; extensor 827.74 / ≈92.49 mm</a:t>
            </a:r>
          </a:p>
        </p:txBody>
      </p:sp>
      <p:sp>
        <p:nvSpPr>
          <p:cNvPr id="6" name="TextBox 5">
            <a:extLst>
              <a:ext uri="{FF2B5EF4-FFF2-40B4-BE49-F238E27FC236}">
                <a16:creationId xmlns:a16="http://schemas.microsoft.com/office/drawing/2014/main" id="{BA63B937-49B7-A3F1-2089-BAD3BF3ABAD4}"/>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38</a:t>
            </a:r>
          </a:p>
        </p:txBody>
      </p:sp>
    </p:spTree>
    <p:extLst>
      <p:ext uri="{BB962C8B-B14F-4D97-AF65-F5344CB8AC3E}">
        <p14:creationId xmlns:p14="http://schemas.microsoft.com/office/powerpoint/2010/main" val="23394555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4D5C2263-E43A-11A3-CCF9-393418222C4F}"/>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Stimulation duration changes the deletion interpretation</a:t>
            </a:r>
          </a:p>
        </p:txBody>
      </p:sp>
      <p:sp>
        <p:nvSpPr>
          <p:cNvPr id="3" name="Rectangle 2">
            <a:extLst>
              <a:ext uri="{FF2B5EF4-FFF2-40B4-BE49-F238E27FC236}">
                <a16:creationId xmlns:a16="http://schemas.microsoft.com/office/drawing/2014/main" id="{588E24B3-B384-7728-7815-660F96EEBFA9}"/>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stimulus_results_all.csv · Current Appendix D layer-stimulus protocols</a:t>
            </a:r>
          </a:p>
        </p:txBody>
      </p:sp>
      <p:graphicFrame>
        <p:nvGraphicFramePr>
          <p:cNvPr id="4" name="Table 3">
            <a:extLst>
              <a:ext uri="{FF2B5EF4-FFF2-40B4-BE49-F238E27FC236}">
                <a16:creationId xmlns:a16="http://schemas.microsoft.com/office/drawing/2014/main" id="{F07776B1-1CF7-C19D-FEAF-88F11E55B98A}"/>
              </a:ext>
            </a:extLst>
          </p:cNvPr>
          <p:cNvGraphicFramePr>
            <a:graphicFrameLocks/>
          </p:cNvGraphicFramePr>
          <p:nvPr>
            <p:extLst>
              <p:ext uri="{D42A27DB-BD31-4B8C-83A1-F6EECF244321}">
                <p14:modId xmlns:p14="http://schemas.microsoft.com/office/powerpoint/2010/main" val="2208130148"/>
              </p:ext>
            </p:extLst>
          </p:nvPr>
        </p:nvGraphicFramePr>
        <p:xfrm>
          <a:off x="428625" y="1393031"/>
          <a:ext cx="8286750" cy="2571750"/>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514350">
                <a:tc>
                  <a:txBody>
                    <a:bodyPr/>
                    <a:lstStyle/>
                    <a:p>
                      <a:r>
                        <a:rPr sz="1575" b="1">
                          <a:solidFill>
                            <a:srgbClr val="006D77"/>
                          </a:solidFill>
                          <a:latin typeface="Calibri"/>
                          <a:ea typeface="Calibri"/>
                          <a:cs typeface="Calibri"/>
                        </a:rPr>
                        <a:t>Protocol</a:t>
                      </a:r>
                    </a:p>
                  </a:txBody>
                  <a:tcPr>
                    <a:solidFill>
                      <a:srgbClr val="FFFFFF"/>
                    </a:solidFill>
                  </a:tcPr>
                </a:tc>
                <a:tc>
                  <a:txBody>
                    <a:bodyPr/>
                    <a:lstStyle/>
                    <a:p>
                      <a:r>
                        <a:rPr sz="1575" b="1">
                          <a:solidFill>
                            <a:srgbClr val="006D77"/>
                          </a:solidFill>
                          <a:latin typeface="Calibri"/>
                          <a:ea typeface="Calibri"/>
                          <a:cs typeface="Calibri"/>
                        </a:rPr>
                        <a:t>RG shift, cycles</a:t>
                      </a:r>
                    </a:p>
                  </a:txBody>
                  <a:tcPr>
                    <a:solidFill>
                      <a:srgbClr val="FFFFFF"/>
                    </a:solidFill>
                  </a:tcPr>
                </a:tc>
                <a:tc>
                  <a:txBody>
                    <a:bodyPr/>
                    <a:lstStyle/>
                    <a:p>
                      <a:r>
                        <a:rPr sz="1575" b="1">
                          <a:solidFill>
                            <a:srgbClr val="006D77"/>
                          </a:solidFill>
                          <a:latin typeface="Calibri"/>
                          <a:ea typeface="Calibri"/>
                          <a:cs typeface="Calibri"/>
                        </a:rPr>
                        <a:t>Motor shift, cycles</a:t>
                      </a:r>
                    </a:p>
                  </a:txBody>
                  <a:tcPr>
                    <a:solidFill>
                      <a:srgbClr val="FFFFFF"/>
                    </a:solidFill>
                  </a:tcPr>
                </a:tc>
                <a:extLst>
                  <a:ext uri="{0D108BD9-81ED-4DB2-BD59-A6C34878D82A}">
                    <a16:rowId xmlns:a16="http://schemas.microsoft.com/office/drawing/2014/main" val="10000"/>
                  </a:ext>
                </a:extLst>
              </a:tr>
              <a:tr h="514350">
                <a:tc>
                  <a:txBody>
                    <a:bodyPr/>
                    <a:lstStyle/>
                    <a:p>
                      <a:r>
                        <a:rPr sz="1575" b="0">
                          <a:solidFill>
                            <a:srgbClr val="202C33"/>
                          </a:solidFill>
                          <a:latin typeface="Calibri"/>
                          <a:ea typeface="Calibri"/>
                          <a:cs typeface="Calibri"/>
                        </a:rPr>
                        <a:t>RG, two periods</a:t>
                      </a:r>
                    </a:p>
                  </a:txBody>
                  <a:tcPr>
                    <a:solidFill>
                      <a:srgbClr val="FFFFFF"/>
                    </a:solidFill>
                  </a:tcPr>
                </a:tc>
                <a:tc>
                  <a:txBody>
                    <a:bodyPr/>
                    <a:lstStyle/>
                    <a:p>
                      <a:r>
                        <a:rPr sz="1575" b="0">
                          <a:solidFill>
                            <a:srgbClr val="202C33"/>
                          </a:solidFill>
                          <a:latin typeface="Calibri"/>
                          <a:ea typeface="Calibri"/>
                          <a:cs typeface="Calibri"/>
                        </a:rPr>
                        <a:t>0.211</a:t>
                      </a:r>
                    </a:p>
                  </a:txBody>
                  <a:tcPr>
                    <a:solidFill>
                      <a:srgbClr val="FFFFFF"/>
                    </a:solidFill>
                  </a:tcPr>
                </a:tc>
                <a:tc>
                  <a:txBody>
                    <a:bodyPr/>
                    <a:lstStyle/>
                    <a:p>
                      <a:r>
                        <a:rPr sz="1575" b="0">
                          <a:solidFill>
                            <a:srgbClr val="202C33"/>
                          </a:solidFill>
                          <a:latin typeface="Calibri"/>
                          <a:ea typeface="Calibri"/>
                          <a:cs typeface="Calibri"/>
                        </a:rPr>
                        <a:t>0.211</a:t>
                      </a:r>
                    </a:p>
                  </a:txBody>
                  <a:tcPr>
                    <a:solidFill>
                      <a:srgbClr val="FFFFFF"/>
                    </a:solidFill>
                  </a:tcPr>
                </a:tc>
                <a:extLst>
                  <a:ext uri="{0D108BD9-81ED-4DB2-BD59-A6C34878D82A}">
                    <a16:rowId xmlns:a16="http://schemas.microsoft.com/office/drawing/2014/main" val="10001"/>
                  </a:ext>
                </a:extLst>
              </a:tr>
              <a:tr h="514350">
                <a:tc>
                  <a:txBody>
                    <a:bodyPr/>
                    <a:lstStyle/>
                    <a:p>
                      <a:r>
                        <a:rPr sz="1575" b="0">
                          <a:solidFill>
                            <a:srgbClr val="202C33"/>
                          </a:solidFill>
                          <a:latin typeface="Calibri"/>
                          <a:ea typeface="Calibri"/>
                          <a:cs typeface="Calibri"/>
                        </a:rPr>
                        <a:t>PF, two periods</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extLst>
                  <a:ext uri="{0D108BD9-81ED-4DB2-BD59-A6C34878D82A}">
                    <a16:rowId xmlns:a16="http://schemas.microsoft.com/office/drawing/2014/main" val="10002"/>
                  </a:ext>
                </a:extLst>
              </a:tr>
              <a:tr h="514350">
                <a:tc>
                  <a:txBody>
                    <a:bodyPr/>
                    <a:lstStyle/>
                    <a:p>
                      <a:r>
                        <a:rPr sz="1575" b="0">
                          <a:solidFill>
                            <a:srgbClr val="202C33"/>
                          </a:solidFill>
                          <a:latin typeface="Calibri"/>
                          <a:ea typeface="Calibri"/>
                          <a:cs typeface="Calibri"/>
                        </a:rPr>
                        <a:t>MN, two periods</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extLst>
                  <a:ext uri="{0D108BD9-81ED-4DB2-BD59-A6C34878D82A}">
                    <a16:rowId xmlns:a16="http://schemas.microsoft.com/office/drawing/2014/main" val="10003"/>
                  </a:ext>
                </a:extLst>
              </a:tr>
              <a:tr h="514350">
                <a:tc>
                  <a:txBody>
                    <a:bodyPr/>
                    <a:lstStyle/>
                    <a:p>
                      <a:r>
                        <a:rPr sz="1575" b="0">
                          <a:solidFill>
                            <a:srgbClr val="202C33"/>
                          </a:solidFill>
                          <a:latin typeface="Calibri"/>
                          <a:ea typeface="Calibri"/>
                          <a:cs typeface="Calibri"/>
                        </a:rPr>
                        <a:t>PF, one second</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tc>
                  <a:txBody>
                    <a:bodyPr/>
                    <a:lstStyle/>
                    <a:p>
                      <a:r>
                        <a:rPr sz="1575" b="0">
                          <a:solidFill>
                            <a:srgbClr val="202C33"/>
                          </a:solidFill>
                          <a:latin typeface="Calibri"/>
                          <a:ea typeface="Calibri"/>
                          <a:cs typeface="Calibri"/>
                        </a:rPr>
                        <a:t>0.208</a:t>
                      </a:r>
                    </a:p>
                  </a:txBody>
                  <a:tcPr>
                    <a:solidFill>
                      <a:srgbClr val="FFFFFF"/>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5DD4E211-6D85-445B-1010-4677D5AE82C7}"/>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39</a:t>
            </a:r>
          </a:p>
        </p:txBody>
      </p:sp>
    </p:spTree>
    <p:extLst>
      <p:ext uri="{BB962C8B-B14F-4D97-AF65-F5344CB8AC3E}">
        <p14:creationId xmlns:p14="http://schemas.microsoft.com/office/powerpoint/2010/main" val="36759426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6FC9BBA0-2F57-BDB9-86DC-72F4F51CB4F3}"/>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AH001 separation control changes a matched diagnostic</a:t>
            </a:r>
          </a:p>
        </p:txBody>
      </p:sp>
      <p:sp>
        <p:nvSpPr>
          <p:cNvPr id="3" name="Rectangle 2">
            <a:extLst>
              <a:ext uri="{FF2B5EF4-FFF2-40B4-BE49-F238E27FC236}">
                <a16:creationId xmlns:a16="http://schemas.microsoft.com/office/drawing/2014/main" id="{E314D473-5087-F562-893D-F38CAC7C12D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AH001_20261028/PLACEMENT_RECOMMENDATION.md · asset_provenance.json</a:t>
            </a:r>
          </a:p>
        </p:txBody>
      </p:sp>
      <p:graphicFrame>
        <p:nvGraphicFramePr>
          <p:cNvPr id="4" name="Table 3">
            <a:extLst>
              <a:ext uri="{FF2B5EF4-FFF2-40B4-BE49-F238E27FC236}">
                <a16:creationId xmlns:a16="http://schemas.microsoft.com/office/drawing/2014/main" id="{826BC2B9-4084-86B2-CA07-08834F8BD6B0}"/>
              </a:ext>
            </a:extLst>
          </p:cNvPr>
          <p:cNvGraphicFramePr>
            <a:graphicFrameLocks/>
          </p:cNvGraphicFramePr>
          <p:nvPr>
            <p:extLst>
              <p:ext uri="{D42A27DB-BD31-4B8C-83A1-F6EECF244321}">
                <p14:modId xmlns:p14="http://schemas.microsoft.com/office/powerpoint/2010/main" val="4161895051"/>
              </p:ext>
            </p:extLst>
          </p:nvPr>
        </p:nvGraphicFramePr>
        <p:xfrm>
          <a:off x="428625" y="1321594"/>
          <a:ext cx="8286750" cy="3028950"/>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500063">
                <a:tc>
                  <a:txBody>
                    <a:bodyPr/>
                    <a:lstStyle/>
                    <a:p>
                      <a:r>
                        <a:rPr sz="1463" b="1">
                          <a:solidFill>
                            <a:srgbClr val="006D77"/>
                          </a:solidFill>
                          <a:latin typeface="Calibri"/>
                          <a:ea typeface="Calibri"/>
                          <a:cs typeface="Calibri"/>
                        </a:rPr>
                        <a:t>15–40 s measure</a:t>
                      </a:r>
                    </a:p>
                  </a:txBody>
                  <a:tcPr>
                    <a:solidFill>
                      <a:srgbClr val="FFFFFF"/>
                    </a:solidFill>
                  </a:tcPr>
                </a:tc>
                <a:tc>
                  <a:txBody>
                    <a:bodyPr/>
                    <a:lstStyle/>
                    <a:p>
                      <a:r>
                        <a:rPr sz="1463" b="1">
                          <a:solidFill>
                            <a:srgbClr val="006D77"/>
                          </a:solidFill>
                          <a:latin typeface="Calibri"/>
                          <a:ea typeface="Calibri"/>
                          <a:cs typeface="Calibri"/>
                        </a:rPr>
                        <a:t>Control off</a:t>
                      </a:r>
                    </a:p>
                  </a:txBody>
                  <a:tcPr>
                    <a:solidFill>
                      <a:srgbClr val="FFFFFF"/>
                    </a:solidFill>
                  </a:tcPr>
                </a:tc>
                <a:tc>
                  <a:txBody>
                    <a:bodyPr/>
                    <a:lstStyle/>
                    <a:p>
                      <a:r>
                        <a:rPr sz="1463" b="1">
                          <a:solidFill>
                            <a:srgbClr val="006D77"/>
                          </a:solidFill>
                          <a:latin typeface="Calibri"/>
                          <a:ea typeface="Calibri"/>
                          <a:cs typeface="Calibri"/>
                        </a:rPr>
                        <a:t>Control on</a:t>
                      </a:r>
                    </a:p>
                  </a:txBody>
                  <a:tcPr>
                    <a:solidFill>
                      <a:srgbClr val="FFFFFF"/>
                    </a:solidFill>
                  </a:tcPr>
                </a:tc>
                <a:extLst>
                  <a:ext uri="{0D108BD9-81ED-4DB2-BD59-A6C34878D82A}">
                    <a16:rowId xmlns:a16="http://schemas.microsoft.com/office/drawing/2014/main" val="10000"/>
                  </a:ext>
                </a:extLst>
              </a:tr>
              <a:tr h="500063">
                <a:tc>
                  <a:txBody>
                    <a:bodyPr/>
                    <a:lstStyle/>
                    <a:p>
                      <a:r>
                        <a:rPr sz="1463" b="0">
                          <a:solidFill>
                            <a:srgbClr val="202C33"/>
                          </a:solidFill>
                          <a:latin typeface="Calibri"/>
                          <a:ea typeface="Calibri"/>
                          <a:cs typeface="Calibri"/>
                        </a:rPr>
                        <a:t>Reversed ankle ordering</a:t>
                      </a:r>
                    </a:p>
                  </a:txBody>
                  <a:tcPr>
                    <a:solidFill>
                      <a:srgbClr val="FFFFFF"/>
                    </a:solidFill>
                  </a:tcPr>
                </a:tc>
                <a:tc>
                  <a:txBody>
                    <a:bodyPr/>
                    <a:lstStyle/>
                    <a:p>
                      <a:r>
                        <a:rPr sz="1463" b="0">
                          <a:solidFill>
                            <a:srgbClr val="202C33"/>
                          </a:solidFill>
                          <a:latin typeface="Calibri"/>
                          <a:ea typeface="Calibri"/>
                          <a:cs typeface="Calibri"/>
                        </a:rPr>
                        <a:t>67%</a:t>
                      </a:r>
                    </a:p>
                  </a:txBody>
                  <a:tcPr>
                    <a:solidFill>
                      <a:srgbClr val="FFFFFF"/>
                    </a:solidFill>
                  </a:tcPr>
                </a:tc>
                <a:tc>
                  <a:txBody>
                    <a:bodyPr/>
                    <a:lstStyle/>
                    <a:p>
                      <a:r>
                        <a:rPr sz="1463" b="0">
                          <a:solidFill>
                            <a:srgbClr val="202C33"/>
                          </a:solidFill>
                          <a:latin typeface="Calibri"/>
                          <a:ea typeface="Calibri"/>
                          <a:cs typeface="Calibri"/>
                        </a:rPr>
                        <a:t>0%</a:t>
                      </a:r>
                    </a:p>
                  </a:txBody>
                  <a:tcPr>
                    <a:solidFill>
                      <a:srgbClr val="FFFFFF"/>
                    </a:solidFill>
                  </a:tcPr>
                </a:tc>
                <a:extLst>
                  <a:ext uri="{0D108BD9-81ED-4DB2-BD59-A6C34878D82A}">
                    <a16:rowId xmlns:a16="http://schemas.microsoft.com/office/drawing/2014/main" val="10001"/>
                  </a:ext>
                </a:extLst>
              </a:tr>
              <a:tr h="500063">
                <a:tc>
                  <a:txBody>
                    <a:bodyPr/>
                    <a:lstStyle/>
                    <a:p>
                      <a:r>
                        <a:rPr sz="1463" b="0">
                          <a:solidFill>
                            <a:srgbClr val="202C33"/>
                          </a:solidFill>
                          <a:latin typeface="Calibri"/>
                          <a:ea typeface="Calibri"/>
                          <a:cs typeface="Calibri"/>
                        </a:rPr>
                        <a:t>Minimum separation</a:t>
                      </a:r>
                    </a:p>
                  </a:txBody>
                  <a:tcPr>
                    <a:solidFill>
                      <a:srgbClr val="FFFFFF"/>
                    </a:solidFill>
                  </a:tcPr>
                </a:tc>
                <a:tc>
                  <a:txBody>
                    <a:bodyPr/>
                    <a:lstStyle/>
                    <a:p>
                      <a:r>
                        <a:rPr sz="1463" b="0">
                          <a:solidFill>
                            <a:srgbClr val="202C33"/>
                          </a:solidFill>
                          <a:latin typeface="Calibri"/>
                          <a:ea typeface="Calibri"/>
                          <a:cs typeface="Calibri"/>
                        </a:rPr>
                        <a:t>−38.3 mm</a:t>
                      </a:r>
                    </a:p>
                  </a:txBody>
                  <a:tcPr>
                    <a:solidFill>
                      <a:srgbClr val="FFFFFF"/>
                    </a:solidFill>
                  </a:tcPr>
                </a:tc>
                <a:tc>
                  <a:txBody>
                    <a:bodyPr/>
                    <a:lstStyle/>
                    <a:p>
                      <a:r>
                        <a:rPr sz="1463" b="0">
                          <a:solidFill>
                            <a:srgbClr val="202C33"/>
                          </a:solidFill>
                          <a:latin typeface="Calibri"/>
                          <a:ea typeface="Calibri"/>
                          <a:cs typeface="Calibri"/>
                        </a:rPr>
                        <a:t>142.4 mm</a:t>
                      </a:r>
                    </a:p>
                  </a:txBody>
                  <a:tcPr>
                    <a:solidFill>
                      <a:srgbClr val="FFFFFF"/>
                    </a:solidFill>
                  </a:tcPr>
                </a:tc>
                <a:extLst>
                  <a:ext uri="{0D108BD9-81ED-4DB2-BD59-A6C34878D82A}">
                    <a16:rowId xmlns:a16="http://schemas.microsoft.com/office/drawing/2014/main" val="10002"/>
                  </a:ext>
                </a:extLst>
              </a:tr>
              <a:tr h="514350">
                <a:tc>
                  <a:txBody>
                    <a:bodyPr/>
                    <a:lstStyle/>
                    <a:p>
                      <a:r>
                        <a:rPr sz="1463" b="0">
                          <a:solidFill>
                            <a:srgbClr val="202C33"/>
                          </a:solidFill>
                          <a:latin typeface="Calibri"/>
                          <a:ea typeface="Calibri"/>
                          <a:cs typeface="Calibri"/>
                        </a:rPr>
                        <a:t>Right TFL mean activation</a:t>
                      </a:r>
                    </a:p>
                  </a:txBody>
                  <a:tcPr>
                    <a:solidFill>
                      <a:srgbClr val="FFFFFF"/>
                    </a:solidFill>
                  </a:tcPr>
                </a:tc>
                <a:tc>
                  <a:txBody>
                    <a:bodyPr/>
                    <a:lstStyle/>
                    <a:p>
                      <a:r>
                        <a:rPr sz="1463" b="0">
                          <a:solidFill>
                            <a:srgbClr val="202C33"/>
                          </a:solidFill>
                          <a:latin typeface="Calibri"/>
                          <a:ea typeface="Calibri"/>
                          <a:cs typeface="Calibri"/>
                        </a:rPr>
                        <a:t>22.3%</a:t>
                      </a:r>
                    </a:p>
                  </a:txBody>
                  <a:tcPr>
                    <a:solidFill>
                      <a:srgbClr val="FFFFFF"/>
                    </a:solidFill>
                  </a:tcPr>
                </a:tc>
                <a:tc>
                  <a:txBody>
                    <a:bodyPr/>
                    <a:lstStyle/>
                    <a:p>
                      <a:r>
                        <a:rPr sz="1463" b="0">
                          <a:solidFill>
                            <a:srgbClr val="202C33"/>
                          </a:solidFill>
                          <a:latin typeface="Calibri"/>
                          <a:ea typeface="Calibri"/>
                          <a:cs typeface="Calibri"/>
                        </a:rPr>
                        <a:t>81.8%</a:t>
                      </a:r>
                    </a:p>
                  </a:txBody>
                  <a:tcPr>
                    <a:solidFill>
                      <a:srgbClr val="FFFFFF"/>
                    </a:solidFill>
                  </a:tcPr>
                </a:tc>
                <a:extLst>
                  <a:ext uri="{0D108BD9-81ED-4DB2-BD59-A6C34878D82A}">
                    <a16:rowId xmlns:a16="http://schemas.microsoft.com/office/drawing/2014/main" val="10003"/>
                  </a:ext>
                </a:extLst>
              </a:tr>
              <a:tr h="500063">
                <a:tc>
                  <a:txBody>
                    <a:bodyPr/>
                    <a:lstStyle/>
                    <a:p>
                      <a:r>
                        <a:rPr sz="1463" b="0">
                          <a:solidFill>
                            <a:srgbClr val="202C33"/>
                          </a:solidFill>
                          <a:latin typeface="Calibri"/>
                          <a:ea typeface="Calibri"/>
                          <a:cs typeface="Calibri"/>
                        </a:rPr>
                        <a:t>Vertical assistance</a:t>
                      </a:r>
                    </a:p>
                  </a:txBody>
                  <a:tcPr>
                    <a:solidFill>
                      <a:srgbClr val="FFFFFF"/>
                    </a:solidFill>
                  </a:tcPr>
                </a:tc>
                <a:tc>
                  <a:txBody>
                    <a:bodyPr/>
                    <a:lstStyle/>
                    <a:p>
                      <a:r>
                        <a:rPr sz="1463" b="0">
                          <a:solidFill>
                            <a:srgbClr val="202C33"/>
                          </a:solidFill>
                          <a:latin typeface="Calibri"/>
                          <a:ea typeface="Calibri"/>
                          <a:cs typeface="Calibri"/>
                        </a:rPr>
                        <a:t>80% BW</a:t>
                      </a:r>
                    </a:p>
                  </a:txBody>
                  <a:tcPr>
                    <a:solidFill>
                      <a:srgbClr val="FFFFFF"/>
                    </a:solidFill>
                  </a:tcPr>
                </a:tc>
                <a:tc>
                  <a:txBody>
                    <a:bodyPr/>
                    <a:lstStyle/>
                    <a:p>
                      <a:r>
                        <a:rPr sz="1463" b="0">
                          <a:solidFill>
                            <a:srgbClr val="202C33"/>
                          </a:solidFill>
                          <a:latin typeface="Calibri"/>
                          <a:ea typeface="Calibri"/>
                          <a:cs typeface="Calibri"/>
                        </a:rPr>
                        <a:t>80% BW</a:t>
                      </a:r>
                    </a:p>
                  </a:txBody>
                  <a:tcPr>
                    <a:solidFill>
                      <a:srgbClr val="FFFFFF"/>
                    </a:solidFill>
                  </a:tcPr>
                </a:tc>
                <a:extLst>
                  <a:ext uri="{0D108BD9-81ED-4DB2-BD59-A6C34878D82A}">
                    <a16:rowId xmlns:a16="http://schemas.microsoft.com/office/drawing/2014/main" val="10004"/>
                  </a:ext>
                </a:extLst>
              </a:tr>
              <a:tr h="514350">
                <a:tc>
                  <a:txBody>
                    <a:bodyPr/>
                    <a:lstStyle/>
                    <a:p>
                      <a:r>
                        <a:rPr sz="1463" b="0">
                          <a:solidFill>
                            <a:srgbClr val="202C33"/>
                          </a:solidFill>
                          <a:latin typeface="Calibri"/>
                          <a:ea typeface="Calibri"/>
                          <a:cs typeface="Calibri"/>
                        </a:rPr>
                        <a:t>Sampled opposite-leg penetration</a:t>
                      </a:r>
                    </a:p>
                  </a:txBody>
                  <a:tcPr>
                    <a:solidFill>
                      <a:srgbClr val="FFFFFF"/>
                    </a:solidFill>
                  </a:tcPr>
                </a:tc>
                <a:tc>
                  <a:txBody>
                    <a:bodyPr/>
                    <a:lstStyle/>
                    <a:p>
                      <a:r>
                        <a:rPr sz="1463" b="0">
                          <a:solidFill>
                            <a:srgbClr val="202C33"/>
                          </a:solidFill>
                          <a:latin typeface="Calibri"/>
                          <a:ea typeface="Calibri"/>
                          <a:cs typeface="Calibri"/>
                        </a:rPr>
                        <a:t>2.700 mm</a:t>
                      </a:r>
                    </a:p>
                  </a:txBody>
                  <a:tcPr>
                    <a:solidFill>
                      <a:srgbClr val="FFFFFF"/>
                    </a:solidFill>
                  </a:tcPr>
                </a:tc>
                <a:tc>
                  <a:txBody>
                    <a:bodyPr/>
                    <a:lstStyle/>
                    <a:p>
                      <a:r>
                        <a:rPr sz="1463" b="0">
                          <a:solidFill>
                            <a:srgbClr val="202C33"/>
                          </a:solidFill>
                          <a:latin typeface="Calibri"/>
                          <a:ea typeface="Calibri"/>
                          <a:cs typeface="Calibri"/>
                        </a:rPr>
                        <a:t>0 mm</a:t>
                      </a:r>
                    </a:p>
                  </a:txBody>
                  <a:tcPr>
                    <a:solidFill>
                      <a:srgbClr val="FFFFFF"/>
                    </a:solidFil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FA050956-66C5-DB7D-A4FF-38C540FA867C}"/>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40</a:t>
            </a:r>
          </a:p>
        </p:txBody>
      </p:sp>
    </p:spTree>
    <p:extLst>
      <p:ext uri="{BB962C8B-B14F-4D97-AF65-F5344CB8AC3E}">
        <p14:creationId xmlns:p14="http://schemas.microsoft.com/office/powerpoint/2010/main" val="35955996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51FF8C8B-DDB3-1C56-0981-6C3209B3E4DF}"/>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Reported force comparisons favor the model in the shown cases</a:t>
            </a:r>
          </a:p>
        </p:txBody>
      </p:sp>
      <p:sp>
        <p:nvSpPr>
          <p:cNvPr id="3" name="Rectangle 2">
            <a:extLst>
              <a:ext uri="{FF2B5EF4-FFF2-40B4-BE49-F238E27FC236}">
                <a16:creationId xmlns:a16="http://schemas.microsoft.com/office/drawing/2014/main" id="{518FA923-36EA-63F3-0697-C952F567B19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(2026), Actuators 15(5):230 · Dissertation Ch. 3</a:t>
            </a:r>
          </a:p>
        </p:txBody>
      </p:sp>
      <p:pic>
        <p:nvPicPr>
          <p:cNvPr id="4" name="Picture 3">
            <a:extLst>
              <a:ext uri="{FF2B5EF4-FFF2-40B4-BE49-F238E27FC236}">
                <a16:creationId xmlns:a16="http://schemas.microsoft.com/office/drawing/2014/main" id="{D72FBAF6-D432-707A-5BDD-1773BAF6D413}"/>
              </a:ext>
            </a:extLst>
          </p:cNvPr>
          <p:cNvPicPr>
            <a:picLocks/>
          </p:cNvPicPr>
          <p:nvPr/>
        </p:nvPicPr>
        <p:blipFill>
          <a:blip r:embed="rId3"/>
          <a:stretch/>
        </p:blipFill>
        <p:spPr>
          <a:xfrm>
            <a:off x="976951" y="1117599"/>
            <a:ext cx="7190098" cy="3098800"/>
          </a:xfrm>
          <a:prstGeom prst="rect">
            <a:avLst/>
          </a:prstGeom>
        </p:spPr>
      </p:pic>
      <p:sp>
        <p:nvSpPr>
          <p:cNvPr id="5" name="Rectangle 4">
            <a:extLst>
              <a:ext uri="{FF2B5EF4-FFF2-40B4-BE49-F238E27FC236}">
                <a16:creationId xmlns:a16="http://schemas.microsoft.com/office/drawing/2014/main" id="{358DDF94-FBE8-EE12-48E7-B3E4FA2FF071}"/>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Measured-versus-predicted force at the two displayed actuator lengths</a:t>
            </a:r>
          </a:p>
        </p:txBody>
      </p:sp>
      <p:sp>
        <p:nvSpPr>
          <p:cNvPr id="6" name="TextBox 5">
            <a:extLst>
              <a:ext uri="{FF2B5EF4-FFF2-40B4-BE49-F238E27FC236}">
                <a16:creationId xmlns:a16="http://schemas.microsoft.com/office/drawing/2014/main" id="{427BEE17-FE5A-F172-A124-CB07E026ED7F}"/>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41</a:t>
            </a:r>
          </a:p>
        </p:txBody>
      </p:sp>
    </p:spTree>
    <p:extLst>
      <p:ext uri="{BB962C8B-B14F-4D97-AF65-F5344CB8AC3E}">
        <p14:creationId xmlns:p14="http://schemas.microsoft.com/office/powerpoint/2010/main" val="31797005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2F007D47-371C-41CA-E893-ACDC6B9188A8}"/>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complete IK overlay also exposes contact differences</a:t>
            </a:r>
          </a:p>
        </p:txBody>
      </p:sp>
      <p:sp>
        <p:nvSpPr>
          <p:cNvPr id="3" name="Rectangle 2">
            <a:extLst>
              <a:ext uri="{FF2B5EF4-FFF2-40B4-BE49-F238E27FC236}">
                <a16:creationId xmlns:a16="http://schemas.microsoft.com/office/drawing/2014/main" id="{71E27241-EA35-F1AA-1BB1-CB3C5C456346}"/>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496F1C95-4318-22EB-C998-FE7547E2313C}"/>
              </a:ext>
            </a:extLst>
          </p:cNvPr>
          <p:cNvPicPr>
            <a:picLocks/>
          </p:cNvPicPr>
          <p:nvPr/>
        </p:nvPicPr>
        <p:blipFill>
          <a:blip r:embed="rId3"/>
          <a:stretch/>
        </p:blipFill>
        <p:spPr>
          <a:xfrm>
            <a:off x="3254335" y="1143001"/>
            <a:ext cx="2635330" cy="3000375"/>
          </a:xfrm>
          <a:prstGeom prst="rect">
            <a:avLst/>
          </a:prstGeom>
        </p:spPr>
      </p:pic>
      <p:sp>
        <p:nvSpPr>
          <p:cNvPr id="5" name="Rectangle 4">
            <a:extLst>
              <a:ext uri="{FF2B5EF4-FFF2-40B4-BE49-F238E27FC236}">
                <a16:creationId xmlns:a16="http://schemas.microsoft.com/office/drawing/2014/main" id="{7AAD3204-5D7E-F9AF-00B3-04CD6F29260A}"/>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Model mean and standard deviation · OpenSim IK reference</a:t>
            </a:r>
          </a:p>
        </p:txBody>
      </p:sp>
      <p:sp>
        <p:nvSpPr>
          <p:cNvPr id="6" name="TextBox 5">
            <a:extLst>
              <a:ext uri="{FF2B5EF4-FFF2-40B4-BE49-F238E27FC236}">
                <a16:creationId xmlns:a16="http://schemas.microsoft.com/office/drawing/2014/main" id="{62FDBBC5-B0B1-48C7-3E02-E30849E0DACA}"/>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42</a:t>
            </a:r>
          </a:p>
        </p:txBody>
      </p:sp>
    </p:spTree>
    <p:extLst>
      <p:ext uri="{BB962C8B-B14F-4D97-AF65-F5344CB8AC3E}">
        <p14:creationId xmlns:p14="http://schemas.microsoft.com/office/powerpoint/2010/main" val="41795799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83D3F469-CE48-FDEE-FE4F-88633C662E5A}"/>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saved AH001 replay shows supported hybrid motion</a:t>
            </a:r>
          </a:p>
        </p:txBody>
      </p:sp>
      <p:sp>
        <p:nvSpPr>
          <p:cNvPr id="3" name="Rectangle 2">
            <a:extLst>
              <a:ext uri="{FF2B5EF4-FFF2-40B4-BE49-F238E27FC236}">
                <a16:creationId xmlns:a16="http://schemas.microsoft.com/office/drawing/2014/main" id="{D4389EAC-D37A-B521-95A0-4F14AE05F914}"/>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AH001_20261028/asset_provenance.json · saved 20–32 s interval</a:t>
            </a:r>
          </a:p>
        </p:txBody>
      </p:sp>
      <p:pic>
        <p:nvPicPr>
          <p:cNvPr id="4" name="Picture 3">
            <a:extLst>
              <a:ext uri="{FF2B5EF4-FFF2-40B4-BE49-F238E27FC236}">
                <a16:creationId xmlns:a16="http://schemas.microsoft.com/office/drawing/2014/main" id="{77B7CDD6-FBAA-0700-BCDF-0AEF6D233DF2}"/>
              </a:ext>
            </a:extLst>
          </p:cNvPr>
          <p:cNvPicPr>
            <a:picLocks/>
          </p:cNvPicPr>
          <p:nvPr/>
        </p:nvPicPr>
        <p:blipFill>
          <a:blip r:embed="rId3"/>
          <a:stretch/>
        </p:blipFill>
        <p:spPr>
          <a:xfrm>
            <a:off x="2347319" y="1250156"/>
            <a:ext cx="4449366" cy="2966244"/>
          </a:xfrm>
          <a:prstGeom prst="rect">
            <a:avLst/>
          </a:prstGeom>
        </p:spPr>
      </p:pic>
      <p:sp>
        <p:nvSpPr>
          <p:cNvPr id="5" name="Rectangle 4">
            <a:extLst>
              <a:ext uri="{FF2B5EF4-FFF2-40B4-BE49-F238E27FC236}">
                <a16:creationId xmlns:a16="http://schemas.microsoft.com/office/drawing/2014/main" id="{08E328AB-E311-CD04-C5AE-12FD66A276DD}"/>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Optional 12-second replay · same supported-control diagnostic</a:t>
            </a:r>
          </a:p>
        </p:txBody>
      </p:sp>
      <p:sp>
        <p:nvSpPr>
          <p:cNvPr id="6" name="TextBox 5">
            <a:extLst>
              <a:ext uri="{FF2B5EF4-FFF2-40B4-BE49-F238E27FC236}">
                <a16:creationId xmlns:a16="http://schemas.microsoft.com/office/drawing/2014/main" id="{D1C094C8-D71D-2766-A144-FA6FDD7C38BC}"/>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43</a:t>
            </a:r>
          </a:p>
        </p:txBody>
      </p:sp>
    </p:spTree>
    <p:extLst>
      <p:ext uri="{BB962C8B-B14F-4D97-AF65-F5344CB8AC3E}">
        <p14:creationId xmlns:p14="http://schemas.microsoft.com/office/powerpoint/2010/main" val="164352555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6199</Words>
  <Application>Microsoft Office PowerPoint</Application>
  <PresentationFormat>On-screen Show (16:9)</PresentationFormat>
  <Paragraphs>582</Paragraphs>
  <Slides>43</Slides>
  <Notes>43</Notes>
  <HiddenSlides>13</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43</vt:i4>
      </vt:variant>
    </vt:vector>
  </HeadingPairs>
  <TitlesOfParts>
    <vt:vector size="48" baseType="lpstr">
      <vt:lpstr>Calibri</vt:lpstr>
      <vt:lpstr>Times New Roman</vt:lpstr>
      <vt:lpstr>Arial</vt:lpstr>
      <vt:lpstr>Simple Light</vt:lpstr>
      <vt:lpstr>Office Theme</vt:lpstr>
      <vt:lpstr>Movement and Control of Biomimetic Humanoid Robots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Ben Bolen</cp:lastModifiedBy>
  <cp:revision>4</cp:revision>
  <dcterms:modified xsi:type="dcterms:W3CDTF">2026-10-29T06:26:41Z</dcterms:modified>
</cp:coreProperties>
</file>