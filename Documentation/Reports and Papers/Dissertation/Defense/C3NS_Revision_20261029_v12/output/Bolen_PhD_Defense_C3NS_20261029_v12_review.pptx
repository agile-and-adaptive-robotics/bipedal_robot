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44"/>
  </p:notesMasterIdLst>
  <p:sldIdLst>
    <p:sldId id="366" r:id="rId3"/>
    <p:sldId id="367" r:id="rId4"/>
    <p:sldId id="368"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Force (N)</c:v>
          </c:tx>
          <c:spPr>
            <a:solidFill>
              <a:srgbClr val="00758A"/>
            </a:solidFill>
          </c:spPr>
          <c:invertIfNegative val="0"/>
          <c:dLbls>
            <c:spPr>
              <a:noFill/>
              <a:ln>
                <a:noFill/>
              </a:ln>
              <a:effectLst/>
            </c:spPr>
            <c:txPr>
              <a:bodyPr anchorCtr="1"/>
              <a:lstStyle/>
              <a:p>
                <a:pPr>
                  <a:defRPr sz="2175">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Measured</c:v>
                </c:pt>
                <c:pt idx="1">
                  <c:v>New model</c:v>
                </c:pt>
                <c:pt idx="2">
                  <c:v>Manufacturer</c:v>
                </c:pt>
              </c:strCache>
            </c:strRef>
          </c:cat>
          <c:val>
            <c:numRef>
              <c:f>'Chart Data'!$B$2:$B$4</c:f>
              <c:numCache>
                <c:formatCode>General</c:formatCode>
                <c:ptCount val="3"/>
                <c:pt idx="0">
                  <c:v>350.9</c:v>
                </c:pt>
                <c:pt idx="1">
                  <c:v>335.3</c:v>
                </c:pt>
                <c:pt idx="2">
                  <c:v>498.6</c:v>
                </c:pt>
              </c:numCache>
            </c:numRef>
          </c:val>
          <c:extLst>
            <c:ext xmlns:c16="http://schemas.microsoft.com/office/drawing/2014/chart" uri="{C3380CC4-5D6E-409C-BE32-E72D297353CC}">
              <c16:uniqueId val="{00000000-8E99-4655-B062-9938E4BD2C44}"/>
            </c:ext>
          </c:extLst>
        </c:ser>
        <c:dLbls>
          <c:dLblPos val="outEnd"/>
          <c:showLegendKey val="0"/>
          <c:showVal val="1"/>
          <c:showCatName val="0"/>
          <c:showSerName val="0"/>
          <c:showPercent val="0"/>
          <c:showBubbleSize val="0"/>
        </c:dLbls>
        <c:gapWidth val="150"/>
        <c:axId val="48650112"/>
        <c:axId val="48672768"/>
      </c:barChart>
      <c:lineChart>
        <c:grouping val="standard"/>
        <c:varyColors val="0"/>
        <c:ser>
          <c:idx val="1"/>
          <c:order val="1"/>
          <c:tx>
            <c:v>Absolute error (%)</c:v>
          </c:tx>
          <c:spPr>
            <a:ln w="28575" cap="rnd" cmpd="sng" algn="ctr">
              <a:noFill/>
              <a:prstDash val="solid"/>
              <a:round/>
            </a:ln>
            <a:effectLst/>
            <a:extLst>
              <a:ext uri="{91240B29-F687-4F45-9708-019B960494DF}">
                <a14:hiddenLine xmlns:a14="http://schemas.microsoft.com/office/drawing/2010/main" w="28575" cap="rnd" cmpd="sng" algn="ctr">
                  <a:solidFill>
                    <a:srgbClr val="ED7D31">
                      <a:shade val="95000"/>
                      <a:satMod val="105000"/>
                    </a:srgbClr>
                  </a:solidFill>
                  <a:prstDash val="solid"/>
                  <a:round/>
                </a14:hiddenLine>
              </a:ext>
            </a:extLst>
          </c:spPr>
          <c:marker>
            <c:symbol val="diamond"/>
            <c:size val="8"/>
            <c:spPr>
              <a:solidFill>
                <a:srgbClr val="000000"/>
              </a:solidFill>
              <a:ln w="9525" cap="flat" cmpd="sng" algn="ctr">
                <a:noFill/>
                <a:prstDash val="solid"/>
                <a:round/>
              </a:ln>
              <a:effectLst/>
              <a:extLst>
                <a:ext uri="{91240B29-F687-4F45-9708-019B960494DF}">
                  <a14:hiddenLine xmlns:a14="http://schemas.microsoft.com/office/drawing/2010/main" w="9525" cap="flat" cmpd="sng" algn="ctr">
                    <a:solidFill>
                      <a:srgbClr val="000000"/>
                    </a:solidFill>
                    <a:prstDash val="solid"/>
                    <a:round/>
                  </a14:hiddenLine>
                </a:ext>
              </a:extLst>
            </c:spPr>
          </c:marker>
          <c:dPt>
            <c:idx val="0"/>
            <c:marker>
              <c:symbol val="none"/>
            </c:marker>
            <c:bubble3D val="0"/>
            <c:extLst>
              <c:ext xmlns:c16="http://schemas.microsoft.com/office/drawing/2014/chart" uri="{C3380CC4-5D6E-409C-BE32-E72D297353CC}">
                <c16:uniqueId val="{00000001-223F-4FE8-B041-8A9FCD5D903F}"/>
              </c:ext>
            </c:extLst>
          </c:dPt>
          <c:dLbls>
            <c:dLbl>
              <c:idx val="0"/>
              <c:delete val="1"/>
              <c:extLst>
                <c:ext xmlns:c15="http://schemas.microsoft.com/office/drawing/2012/chart" uri="{CE6537A1-D6FC-4f65-9D91-7224C49458BB}"/>
                <c:ext xmlns:c16="http://schemas.microsoft.com/office/drawing/2014/chart" uri="{C3380CC4-5D6E-409C-BE32-E72D297353CC}">
                  <c16:uniqueId val="{00000001-223F-4FE8-B041-8A9FCD5D903F}"/>
                </c:ext>
              </c:extLst>
            </c:dLbl>
            <c:numFmt formatCode="0.0&quot;%&quot;" sourceLinked="0"/>
            <c:spPr>
              <a:noFill/>
              <a:ln>
                <a:noFill/>
              </a:ln>
              <a:effectLst/>
            </c:spPr>
            <c:txPr>
              <a:bodyPr wrap="square" lIns="38100" tIns="19050" rIns="38100" bIns="19050" anchor="ctr">
                <a:spAutoFit/>
              </a:bodyPr>
              <a:lstStyle/>
              <a:p>
                <a:pPr>
                  <a:defRPr sz="1100" b="1">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'Chart Data'!$A$2:$A$4</c:f>
              <c:strCache>
                <c:ptCount val="3"/>
                <c:pt idx="0">
                  <c:v>Measured</c:v>
                </c:pt>
                <c:pt idx="1">
                  <c:v>New model</c:v>
                </c:pt>
                <c:pt idx="2">
                  <c:v>Manufacturer</c:v>
                </c:pt>
              </c:strCache>
            </c:strRef>
          </c:cat>
          <c:val>
            <c:numRef>
              <c:f>'Chart Data'!$C$2:$C$4</c:f>
              <c:numCache>
                <c:formatCode>General</c:formatCode>
                <c:ptCount val="3"/>
                <c:pt idx="0">
                  <c:v>0</c:v>
                </c:pt>
                <c:pt idx="1">
                  <c:v>4.5</c:v>
                </c:pt>
                <c:pt idx="2">
                  <c:v>42.1</c:v>
                </c:pt>
              </c:numCache>
            </c:numRef>
          </c:val>
          <c:smooth val="0"/>
          <c:extLst>
            <c:ext xmlns:c16="http://schemas.microsoft.com/office/drawing/2014/chart" uri="{C3380CC4-5D6E-409C-BE32-E72D297353CC}">
              <c16:uniqueId val="{00000000-223F-4FE8-B041-8A9FCD5D903F}"/>
            </c:ext>
          </c:extLst>
        </c:ser>
        <c:dLbls>
          <c:showLegendKey val="0"/>
          <c:showVal val="0"/>
          <c:showCatName val="0"/>
          <c:showSerName val="0"/>
          <c:showPercent val="0"/>
          <c:showBubbleSize val="0"/>
        </c:dLbls>
        <c:marker val="1"/>
        <c:smooth val="0"/>
        <c:axId val="819646607"/>
        <c:axId val="1209254896"/>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025">
                <a:solidFill>
                  <a:srgbClr val="666666"/>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t>Force, 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875">
                <a:solidFill>
                  <a:srgbClr val="666666"/>
                </a:solidFill>
                <a:latin typeface="Calibri"/>
                <a:ea typeface="Calibri"/>
                <a:cs typeface="Calibri"/>
              </a:defRPr>
            </a:pPr>
            <a:endParaRPr lang="en-US"/>
          </a:p>
        </c:txPr>
        <c:crossAx val="48650112"/>
        <c:crosses val="autoZero"/>
        <c:crossBetween val="between"/>
      </c:valAx>
      <c:valAx>
        <c:axId val="1209254896"/>
        <c:scaling>
          <c:orientation val="minMax"/>
          <c:max val="60"/>
          <c:min val="0"/>
        </c:scaling>
        <c:delete val="0"/>
        <c:axPos val="r"/>
        <c:title>
          <c:tx>
            <c:rich>
              <a:bodyPr/>
              <a:lstStyle/>
              <a:p>
                <a:pPr>
                  <a:defRPr sz="1100">
                    <a:latin typeface="Arial"/>
                    <a:ea typeface="Arial"/>
                    <a:cs typeface="Arial"/>
                  </a:defRPr>
                </a:pPr>
                <a:r>
                  <a:rPr lang="en-US"/>
                  <a:t>Absolute error, %</a:t>
                </a:r>
              </a:p>
            </c:rich>
          </c:tx>
          <c:overlay val="0"/>
        </c:title>
        <c:numFmt formatCode="0&quot;%&quot;" sourceLinked="0"/>
        <c:majorTickMark val="out"/>
        <c:minorTickMark val="none"/>
        <c:tickLblPos val="nextTo"/>
        <c:txPr>
          <a:bodyPr/>
          <a:lstStyle/>
          <a:p>
            <a:pPr>
              <a:defRPr sz="1000">
                <a:latin typeface="Arial"/>
                <a:ea typeface="Arial"/>
                <a:cs typeface="Arial"/>
              </a:defRPr>
            </a:pPr>
            <a:endParaRPr lang="en-US"/>
          </a:p>
        </c:txPr>
        <c:crossAx val="819646607"/>
        <c:crosses val="max"/>
        <c:crossBetween val="between"/>
        <c:majorUnit val="10"/>
      </c:valAx>
      <c:catAx>
        <c:axId val="819646607"/>
        <c:scaling>
          <c:orientation val="minMax"/>
        </c:scaling>
        <c:delete val="1"/>
        <c:axPos val="b"/>
        <c:numFmt formatCode="General" sourceLinked="1"/>
        <c:majorTickMark val="out"/>
        <c:minorTickMark val="none"/>
        <c:tickLblPos val="nextTo"/>
        <c:crossAx val="1209254896"/>
        <c:auto val="1"/>
        <c:lblAlgn val="ctr"/>
        <c:lblOffset val="100"/>
        <c:noMultiLvlLbl val="0"/>
      </c:catAx>
    </c:plotArea>
    <c:legend>
      <c:legendPos val="b"/>
      <c:overlay val="0"/>
      <c:txPr>
        <a:bodyPr/>
        <a:lstStyle/>
        <a:p>
          <a:pPr>
            <a:defRPr sz="1000">
              <a:latin typeface="Arial"/>
              <a:ea typeface="Arial"/>
              <a:cs typeface="Arial"/>
            </a:defRPr>
          </a:pPr>
          <a:endParaRPr lang="en-US"/>
        </a:p>
      </c:txPr>
    </c:legend>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c393c13c9c_2_6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My dissertation develops ways to predict actuator force, compare robot joints with human torque targets, and test sensory control. The research robot serves as an experimental platform for studying how mechanics and neural control work together.</a:t>
            </a:r>
          </a:p>
          <a:p>
            <a:pPr marL="0" lvl="0" indent="0" algn="l" rtl="0">
              <a:spcBef>
                <a:spcPts val="0"/>
              </a:spcBef>
              <a:spcAft>
                <a:spcPts val="0"/>
              </a:spcAft>
              <a:buNone/>
            </a:pPr>
            <a:endParaRPr lang="en-US"/>
          </a:p>
          <a:p>
            <a:pPr marL="0" lvl="0" indent="0" algn="l" rtl="0">
              <a:spcBef>
                <a:spcPts val="0"/>
              </a:spcBef>
              <a:spcAft>
                <a:spcPts val="0"/>
              </a:spcAft>
              <a:buNone/>
            </a:pPr>
            <a:r>
              <a:rPr lang="en-US"/>
              <a:t>Sources: Portland State University · Agile &amp; Adaptive Robotics Laboratory</a:t>
            </a:r>
            <a:endParaRPr/>
          </a:p>
        </p:txBody>
      </p:sp>
      <p:sp>
        <p:nvSpPr>
          <p:cNvPr id="115" name="Google Shape;115;gc393c13c9c_2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Wheels work efficiently on prepared warehouse floors. Rubble introduces changing contacts and disturbances. These photographs motivate our interest in compliant legs and neural control; they are not a controlled comparison of the two robots.</a:t>
            </a:r>
          </a:p>
          <a:p>
            <a:pPr marL="0" lvl="0" indent="0" algn="l" rtl="0">
              <a:spcBef>
                <a:spcPts val="0"/>
              </a:spcBef>
              <a:spcAft>
                <a:spcPts val="0"/>
              </a:spcAft>
              <a:buNone/>
            </a:pPr>
            <a:endParaRPr lang="en-US"/>
          </a:p>
          <a:p>
            <a:pPr marL="0" lvl="0" indent="0" algn="l" rtl="0">
              <a:spcBef>
                <a:spcPts val="0"/>
              </a:spcBef>
              <a:spcAft>
                <a:spcPts val="0"/>
              </a:spcAft>
              <a:buNone/>
            </a:pPr>
            <a:r>
              <a:rPr lang="en-US"/>
              <a:t>Sources: Amazon Robotics; DARPA Robotics Challenge (2015)</a:t>
            </a:r>
          </a:p>
          <a:p>
            <a:pPr marL="0" lvl="0" indent="0" algn="l" rtl="0">
              <a:spcBef>
                <a:spcPts val="0"/>
              </a:spcBef>
              <a:spcAft>
                <a:spcPts val="0"/>
              </a:spcAft>
              <a:buNone/>
            </a:pPr>
            <a:r>
              <a:rPr lang="en-US"/>
              <a:t>https://www.aboutamazon.com/news/operations/amazon-robotics-headquarters-tour-westborough-massachusetts</a:t>
            </a:r>
          </a:p>
          <a:p>
            <a:pPr marL="0" lvl="0" indent="0" algn="l" rtl="0">
              <a:spcBef>
                <a:spcPts val="0"/>
              </a:spcBef>
              <a:spcAft>
                <a:spcPts val="0"/>
              </a:spcAft>
              <a:buNone/>
            </a:pPr>
            <a:r>
              <a:rPr lang="en-US"/>
              <a:t>https://newatlas.com/robotics/fast-two-legged-robots-roundup/</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Biology informs robot design, while biomimetic robots let us intervene in mechanics and neural pathways in ways that would be impossible in humans. Better prosthetic and orthotic devices are a later application. Kengoro illustrates physical biomimicry; the AARL leg is our research platform.</a:t>
            </a:r>
          </a:p>
          <a:p>
            <a:pPr marL="0" lvl="0" indent="0" algn="l" rtl="0">
              <a:spcBef>
                <a:spcPts val="0"/>
              </a:spcBef>
              <a:spcAft>
                <a:spcPts val="0"/>
              </a:spcAft>
              <a:buNone/>
            </a:pPr>
            <a:endParaRPr lang="en-US"/>
          </a:p>
          <a:p>
            <a:pPr marL="0" lvl="0" indent="0" algn="l" rtl="0">
              <a:spcBef>
                <a:spcPts val="0"/>
              </a:spcBef>
              <a:spcAft>
                <a:spcPts val="0"/>
              </a:spcAft>
              <a:buNone/>
            </a:pPr>
            <a:r>
              <a:rPr lang="en-US"/>
              <a:t>Sources: Asano et al. (2016); Bolen and Hunt (2019); Dissertation Ch. 1</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Four questions organize the dissertation: what force an actuator can produce, how a real joint transmits it, where to find sensory evidence with its context, and how to test candidate neural mechanisms. SADb addresses the evidence-access question.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Chs. 3–6</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Inflation changes the actuator’s length and diameter. The two photographs establish contracted and uncontracted states. Our rig measures force and pressure at controlled lengths. First, consider how resting length affects the maximum available force.</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Actuators 15(5):230 · Hunt, INRC (2019), slide 49</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At 620 kPa, shorter actuators produce less maximum force in both tested diameters. The manufacturer prediction has the opposite trend. Resting length therefore needs to enter the force model.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Both normalized force surfaces use the same pressure colors and symbol conventions. The legend identifies measured points, fitted curves, and manufacturer predictions. Multiplying normalized force by the resting-length force scale gives the complete model. The next slide shows its practical effect at 112 mm.</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measured force is 350.9 N, compared with 335.3 N from the new model and 498.6 N from the manufacturer. Bars use the force axis; diamonds use the right error axis. The published errors are 4.5% and 42.1%. These are prediction errors, not uncertainty intervals.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Actuator force depends on usable muscle length. Chi-zero corrects an unloaded length offset. Chi-one and chi-two represent effective system stiffness, including fixtures and the loading path. Chi-three scales wrapping-related length loss. Held-out torque curves test the resulting model.</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Length correction and effective attachment mechanics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These are the held-out 46 cm and 40 cm-tendon flexor tests. The full model uses the shared effective stiffness pair. Its validation mean RMSE is 1.490 N m. With a better transmission model, we can redesign the route against a human torque target.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adopted cam route predicts at least 30.83% margin above the required envelope, which includes 5% overshoot. The predicted pressure requirement is 269–507 kPa. The next comparison tests the built route.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All nine extensor measurements exceed the selected human target. Keep the measured blue points separate from the pressure-specific and 620 kPa predictions. The point near −86.5° remains above the human target; its 2.06 N m discrepancy concerns the pressure-specific prediction.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Physical extensor tests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All fifteen flexor measurements meet or exceed the selected human target from −119° to +5°. Flexion torque is negative, so compare magnitudes. The points establish isometric capacity, while the variable-pressure measurements and nominal prediction curve describe different conditions.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SADb retains experimental context when searching sensory evidence. Demonstrate search, record details, citation navigation, and pivot drill-through. The embedded walkthrough works offline. The link opens the full app. Table contains 1,393 records; Pivot and Bubble map use the 943-entry Papers category. External links and online search need a connection.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SADb Explorer · Offline snapshot: 1,393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Compare the original walker while suspended and after release. Leg motion alone does not establish weight-bearing behavior. This motivates tools that separate neural activity, sensory feedback, and mechanical support. Continue with the W2L feedback comparison.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AnimatLab walker · Original model and controller</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With controller, drive, and support held fixed, sensory feedback changes median bilateral loading phase from 0.223 to 0.498 cycles. The supported-stepping criterion is 0.35–0.65. The result identifies a role for feedback in coordination.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 Fixed-controller sensory comparison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Gait2392 reference provides a second model comparison. Hip and knee traces expose differences that rhythmic cycles alone would miss. Preserve the source alignment and compare waveform, excursion, and timing. The complete eight-panel comparison is on question slide 39.</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graphical library supplies the components for a sensory pathway: spindle output, synaptic current, a motoneuron, activation, and BPA force. The coupled mechanical model returns muscle length and velocity. The loaded-arm example tests whether such feedback changes a mechanical response.</a:t>
            </a:r>
          </a:p>
          <a:p>
            <a:pPr marL="0" lvl="0" indent="0" algn="l" rtl="0">
              <a:spcBef>
                <a:spcPts val="0"/>
              </a:spcBef>
              <a:spcAft>
                <a:spcPts val="0"/>
              </a:spcAft>
              <a:buNone/>
            </a:pPr>
            <a:endParaRPr lang="en-US"/>
          </a:p>
          <a:p>
            <a:pPr marL="0" lvl="0" indent="0" algn="l" rtl="0">
              <a:spcBef>
                <a:spcPts val="0"/>
              </a:spcBef>
              <a:spcAft>
                <a:spcPts val="0"/>
              </a:spcAft>
              <a:buNone/>
            </a:pPr>
            <a:r>
              <a:rPr lang="en-US"/>
              <a:t>Sources: SNS-Simscape library · Dissertation Table 6.1, third contribution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With feedback, the loaded arm sags 2.00°, compared with 7.85° without it. Biceps Ia excites its own motoneuron and inhibits the antagonist; own-muscle Ib is inhibitory. The circuit and the matched traces show the implemented feedback effect.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 the supported AH001 comparison, extra abductor control removes crossed states and increases minimum separation. The model uses reference tensions, 80% vertical assistance, lateral/angular support, and an MN clamp that cancels PF/reflex currents. This diagnostic does not establish accepted regular stepping. Question slide 33 collects the model assumptions.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bridge exchanges activation commands and sensory measurements. In the saved interface test, all five sensor channels match the Python reference bit for bit over 80 scored steps. The displayed muscle-length traces show that agreement over 0.4 s. Controlled experiments then test the coupled behavior.</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 Saved bridge sensor-readback test</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Hunt’s four steps specify where training acts: intrinsic rhythm, feedback to the CPG, CPG/PF output to motoneurons, and Ia/Ib feedback to motoneurons. The tools expose the activity and mechanical response needed to assess each step.</a:t>
            </a:r>
          </a:p>
          <a:p>
            <a:pPr marL="0" lvl="0" indent="0" algn="l" rtl="0">
              <a:spcBef>
                <a:spcPts val="0"/>
              </a:spcBef>
              <a:spcAft>
                <a:spcPts val="0"/>
              </a:spcAft>
              <a:buNone/>
            </a:pPr>
            <a:endParaRPr lang="en-US"/>
          </a:p>
          <a:p>
            <a:pPr marL="0" lvl="0" indent="0" algn="l" rtl="0">
              <a:spcBef>
                <a:spcPts val="0"/>
              </a:spcBef>
              <a:spcAft>
                <a:spcPts val="0"/>
              </a:spcAft>
              <a:buNone/>
            </a:pPr>
            <a:r>
              <a:rPr lang="en-US"/>
              <a:t>Sources: Hunt, INRC presentation (2019), slide 44 · Dissertation Ch. 6</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reduced Deng-derived circuit suppresses two expected motor bursts at each tested layer. RG stimulation shifts the clock by 0.211 cycle. PF and MN stimulation suppress output without resetting the RG clock. Read neural timing and motor output together when interpreting a deletion.</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These contributions enable research decisions: select an actuator, test a route against a target, recover the context for a sensory hypothesis, and test the corresponding pathway. Each step has an identifiable source and an observable outcome.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Chs. 3–7</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next experiments add dynamic loading to the hardware, reduce support in controlled stages, and transfer specified feedback mechanisms to the robot. These experiments address movement in unstructured environments and the use of robots to study biological hypotheses.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Discussion · Future work enabled</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dissertation makes actuator, route, and feedback choices testable. It supplies force characterization, joint design factors with physical target comparisons, a sensory evidence resource, and tools for controlled neural–mechanical experiments. Thank the committee and audience.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Conclusion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One SADb record keeps source context beside the proposed robot interpretation. The interpretation is a hypothesis to test. Connected sources help check that interpretation before selecting a pathway or parameter.</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5 · Focus record and connected sources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Torque follows the cross product of the attachment position and tensile force. Its magnitude is force times perpendicular moment arm. Changing a route also changes actuator excursion, so moment arm alone is insufficient.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workflow separates CAD/Simscape construction from OpenSim/MuJoCo conversion. Controllers can use graphical SNS blocks or SNS-Toolbox. Each implementation needs component, interface, and coupled-model checks.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Model construction and neural-controller interfaces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curriculum introduces feedback, perturbations, and mechanical demands in stages. Each stage asks a different question. Passing a rhythm test does not establish performance at the later mechanical stages.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curriculum Table 6.2</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Under the matched phasic-drive protocol, both implementations produce the ten expected bursts with a 1.000 s period and correlation of at least 0.99996. Removing those phasic inputs latches both. The result establishes agreement for this defined core and protocol.</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knee example applies 2 nA for 30 ms after settling. The response peaks at 1.09° at 111 ms and meets the recovery thresholds at 6.355 s. Six neural saturation widths changed. This is an engineering demonstration of the implemented blocks.</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hardware demonstrates isometric capacity. Neural interventions demonstrate responses under their specified protocols. Supported models test coupling and coordination. AH001 retains the stated support, reference tensions, provisional feet, ideal brackets, and hybrid clamp. No harness-free walking has been demonstrated.</a:t>
            </a:r>
          </a:p>
          <a:p>
            <a:pPr marL="0" lvl="0" indent="0" algn="l" rtl="0">
              <a:spcBef>
                <a:spcPts val="0"/>
              </a:spcBef>
              <a:spcAft>
                <a:spcPts val="0"/>
              </a:spcAft>
              <a:buNone/>
            </a:pPr>
            <a:endParaRPr lang="en-US"/>
          </a:p>
          <a:p>
            <a:pPr marL="0" lvl="0" indent="0" algn="l" rtl="0">
              <a:spcBef>
                <a:spcPts val="0"/>
              </a:spcBef>
              <a:spcAft>
                <a:spcPts val="0"/>
              </a:spcAft>
              <a:buNone/>
            </a:pPr>
            <a:r>
              <a:rPr lang="en-US"/>
              <a:t>Sources: Current manuscript Ch. 6 / Appendix D · Session 1 AH001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adopted flexor fold has two training tests, two held-out tests, and one unused test. The extensor fold has three in each category. Both configurations share the effective stiffness pair. These fitted terms aggregate system compliance.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4 · Current knee-torque manuscript, §§3–4</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These rows contain measured resting and tendon lengths. Prediction settings differ and remain identified separately. In particular, retain the nominal 562 mm prediction label rather than replacing it with a measured length.</a:t>
            </a:r>
          </a:p>
          <a:p>
            <a:pPr marL="0" lvl="0" indent="0" algn="l" rtl="0">
              <a:spcBef>
                <a:spcPts val="0"/>
              </a:spcBef>
              <a:spcAft>
                <a:spcPts val="0"/>
              </a:spcAft>
              <a:buNone/>
            </a:pPr>
            <a:endParaRPr lang="en-US"/>
          </a:p>
          <a:p>
            <a:pPr marL="0" lvl="0" indent="0" algn="l" rtl="0">
              <a:spcBef>
                <a:spcPts val="0"/>
              </a:spcBef>
              <a:spcAft>
                <a:spcPts val="0"/>
              </a:spcAft>
              <a:buNone/>
            </a:pPr>
            <a:r>
              <a:rPr lang="en-US"/>
              <a:t>Sources: Torque manuscript, Physical Tests · Dissertation Appendix C dimensions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Stimulus duration matters. The two-period PF pulse gives a non-resetting deletion, while a one-second PF control shifts motor timing by 0.208 cycle with no RG shift. Motor phase alone cannot identify an RG reset.</a:t>
            </a:r>
          </a:p>
          <a:p>
            <a:pPr marL="0" lvl="0" indent="0" algn="l" rtl="0">
              <a:spcBef>
                <a:spcPts val="0"/>
              </a:spcBef>
              <a:spcAft>
                <a:spcPts val="0"/>
              </a:spcAft>
              <a:buNone/>
            </a:pPr>
            <a:endParaRPr lang="en-US"/>
          </a:p>
          <a:p>
            <a:pPr marL="0" lvl="0" indent="0" algn="l" rtl="0">
              <a:spcBef>
                <a:spcPts val="0"/>
              </a:spcBef>
              <a:spcAft>
                <a:spcPts val="0"/>
              </a:spcAft>
              <a:buNone/>
            </a:pPr>
            <a:r>
              <a:rPr lang="en-US"/>
              <a:t>Sources: stimulus_results_all.csv · Current Appendix D layer-stimulus protocols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matched AH001 interval is 15–40 s. The control bundle changes separation feedback and the activation floor on currently abducting routes. Reversed ankle ordering and sampled opposite-leg penetration are distinct measurements. Support remains the same.</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AH001_20261028/PLACEMENT_RECOMMENDATION.md · asset_provenance.json</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diagonal indicates equality between measured and predicted force. Preserve the model identities and the two tested lengths. These source panels compare the reported cases.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Bolen et al. (2026), Actuators 15(5):230 · Dissertation Ch. 3</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full IK figure adds ankle and stance comparisons. Each leg is aligned independently to loading onset, without fitted phase or amplitude adjustments. Separate leg alignment does not establish bilateral phase agreement.</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Ch. 6 and Appendix D · Current saved verification records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Play the saved 20–32 s AH001 interval if useful. It illustrates the same supported hybrid-control condition. Use slide 33 for its assumptions and slide 37 for the matched diagnostic measures.</a:t>
            </a:r>
          </a:p>
          <a:p>
            <a:pPr marL="0" lvl="0" indent="0" algn="l" rtl="0">
              <a:spcBef>
                <a:spcPts val="0"/>
              </a:spcBef>
              <a:spcAft>
                <a:spcPts val="0"/>
              </a:spcAft>
              <a:buNone/>
            </a:pPr>
            <a:endParaRPr lang="en-US"/>
          </a:p>
          <a:p>
            <a:pPr marL="0" lvl="0" indent="0" algn="l" rtl="0">
              <a:spcBef>
                <a:spcPts val="0"/>
              </a:spcBef>
              <a:spcAft>
                <a:spcPts val="0"/>
              </a:spcAft>
              <a:buNone/>
            </a:pPr>
            <a:r>
              <a:rPr lang="en-US"/>
              <a:t>Sources: AH001_20261028/asset_provenance.json · saved 20–32 s interval</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c393c13c9c_2_7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the saved constant-drive comparison, changing from non-spiking to spiking encoding increases the period from 0.399 s to 0.621 s, or 55.6%. The panels use different readouts. The comparison shows timing sensitivity to encoding choice.</a:t>
            </a:r>
          </a:p>
          <a:p>
            <a:pPr marL="0" lvl="0" indent="0" algn="l" rtl="0">
              <a:spcBef>
                <a:spcPts val="0"/>
              </a:spcBef>
              <a:spcAft>
                <a:spcPts val="0"/>
              </a:spcAft>
              <a:buNone/>
            </a:pPr>
            <a:endParaRPr lang="en-US"/>
          </a:p>
          <a:p>
            <a:pPr marL="0" lvl="0" indent="0" algn="l" rtl="0">
              <a:spcBef>
                <a:spcPts val="0"/>
              </a:spcBef>
              <a:spcAft>
                <a:spcPts val="0"/>
              </a:spcAft>
              <a:buNone/>
            </a:pPr>
            <a:r>
              <a:rPr lang="en-US"/>
              <a:t>Sources: Dissertation Appendix D · Graded and spiking comparisons</a:t>
            </a:r>
            <a:endParaRPr/>
          </a:p>
        </p:txBody>
      </p:sp>
      <p:sp>
        <p:nvSpPr>
          <p:cNvPr id="128" name="Google Shape;128;gc393c13c9c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218116" y="1408844"/>
            <a:ext cx="4889205"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500"/>
              <a:buFont typeface="Calibri"/>
              <a:buNone/>
              <a:defRPr sz="4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3218116" y="3310271"/>
            <a:ext cx="4889205" cy="342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28650" y="273844"/>
            <a:ext cx="726567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2" name="Google Shape;62;p1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68" name="Google Shape;68;p17"/>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7"/>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3" name="Google Shape;73;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18"/>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8"/>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79" name="Google Shape;79;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0" name="Google Shape;80;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81" name="Google Shape;81;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2" name="Google Shape;82;p19"/>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0"/>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
        <p:cNvGrpSpPr/>
        <p:nvPr/>
      </p:nvGrpSpPr>
      <p:grpSpPr>
        <a:xfrm>
          <a:off x="0" y="0"/>
          <a:ext cx="0" cy="0"/>
          <a:chOff x="0" y="0"/>
          <a:chExt cx="0" cy="0"/>
        </a:xfrm>
      </p:grpSpPr>
      <p:sp>
        <p:nvSpPr>
          <p:cNvPr id="89" name="Google Shape;89;p21"/>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1"/>
          <p:cNvSpPr txBox="1">
            <a:spLocks noGrp="1"/>
          </p:cNvSpPr>
          <p:nvPr>
            <p:ph type="sldNum" idx="12"/>
          </p:nvPr>
        </p:nvSpPr>
        <p:spPr>
          <a:xfrm>
            <a:off x="8740942" y="4767263"/>
            <a:ext cx="403058" cy="3762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sz="1200">
                <a:solidFill>
                  <a:schemeClr val="lt1"/>
                </a:solidFill>
                <a:latin typeface="Times New Roman"/>
                <a:ea typeface="Times New Roman"/>
                <a:cs typeface="Times New Roman"/>
                <a:sym typeface="Times New Roman"/>
              </a:defRPr>
            </a:lvl1pPr>
            <a:lvl2pPr marL="0" lvl="1" indent="0" algn="r">
              <a:spcBef>
                <a:spcPts val="0"/>
              </a:spcBef>
              <a:buNone/>
              <a:defRPr sz="1200">
                <a:solidFill>
                  <a:schemeClr val="lt1"/>
                </a:solidFill>
                <a:latin typeface="Times New Roman"/>
                <a:ea typeface="Times New Roman"/>
                <a:cs typeface="Times New Roman"/>
                <a:sym typeface="Times New Roman"/>
              </a:defRPr>
            </a:lvl2pPr>
            <a:lvl3pPr marL="0" lvl="2" indent="0" algn="r">
              <a:spcBef>
                <a:spcPts val="0"/>
              </a:spcBef>
              <a:buNone/>
              <a:defRPr sz="1200">
                <a:solidFill>
                  <a:schemeClr val="lt1"/>
                </a:solidFill>
                <a:latin typeface="Times New Roman"/>
                <a:ea typeface="Times New Roman"/>
                <a:cs typeface="Times New Roman"/>
                <a:sym typeface="Times New Roman"/>
              </a:defRPr>
            </a:lvl3pPr>
            <a:lvl4pPr marL="0" lvl="3" indent="0" algn="r">
              <a:spcBef>
                <a:spcPts val="0"/>
              </a:spcBef>
              <a:buNone/>
              <a:defRPr sz="1200">
                <a:solidFill>
                  <a:schemeClr val="lt1"/>
                </a:solidFill>
                <a:latin typeface="Times New Roman"/>
                <a:ea typeface="Times New Roman"/>
                <a:cs typeface="Times New Roman"/>
                <a:sym typeface="Times New Roman"/>
              </a:defRPr>
            </a:lvl4pPr>
            <a:lvl5pPr marL="0" lvl="4" indent="0" algn="r">
              <a:spcBef>
                <a:spcPts val="0"/>
              </a:spcBef>
              <a:buNone/>
              <a:defRPr sz="1200">
                <a:solidFill>
                  <a:schemeClr val="lt1"/>
                </a:solidFill>
                <a:latin typeface="Times New Roman"/>
                <a:ea typeface="Times New Roman"/>
                <a:cs typeface="Times New Roman"/>
                <a:sym typeface="Times New Roman"/>
              </a:defRPr>
            </a:lvl5pPr>
            <a:lvl6pPr marL="0" lvl="5" indent="0" algn="r">
              <a:spcBef>
                <a:spcPts val="0"/>
              </a:spcBef>
              <a:buNone/>
              <a:defRPr sz="1200">
                <a:solidFill>
                  <a:schemeClr val="lt1"/>
                </a:solidFill>
                <a:latin typeface="Times New Roman"/>
                <a:ea typeface="Times New Roman"/>
                <a:cs typeface="Times New Roman"/>
                <a:sym typeface="Times New Roman"/>
              </a:defRPr>
            </a:lvl6pPr>
            <a:lvl7pPr marL="0" lvl="6" indent="0" algn="r">
              <a:spcBef>
                <a:spcPts val="0"/>
              </a:spcBef>
              <a:buNone/>
              <a:defRPr sz="1200">
                <a:solidFill>
                  <a:schemeClr val="lt1"/>
                </a:solidFill>
                <a:latin typeface="Times New Roman"/>
                <a:ea typeface="Times New Roman"/>
                <a:cs typeface="Times New Roman"/>
                <a:sym typeface="Times New Roman"/>
              </a:defRPr>
            </a:lvl7pPr>
            <a:lvl8pPr marL="0" lvl="7" indent="0" algn="r">
              <a:spcBef>
                <a:spcPts val="0"/>
              </a:spcBef>
              <a:buNone/>
              <a:defRPr sz="1200">
                <a:solidFill>
                  <a:schemeClr val="lt1"/>
                </a:solidFill>
                <a:latin typeface="Times New Roman"/>
                <a:ea typeface="Times New Roman"/>
                <a:cs typeface="Times New Roman"/>
                <a:sym typeface="Times New Roman"/>
              </a:defRPr>
            </a:lvl8pPr>
            <a:lvl9pPr marL="0" lvl="8" indent="0" algn="r">
              <a:spcBef>
                <a:spcPts val="0"/>
              </a:spcBef>
              <a:buNone/>
              <a:defRPr sz="1200">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1"/>
        <p:cNvGrpSpPr/>
        <p:nvPr/>
      </p:nvGrpSpPr>
      <p:grpSpPr>
        <a:xfrm>
          <a:off x="0" y="0"/>
          <a:ext cx="0" cy="0"/>
          <a:chOff x="0" y="0"/>
          <a:chExt cx="0" cy="0"/>
        </a:xfrm>
      </p:grpSpPr>
      <p:sp>
        <p:nvSpPr>
          <p:cNvPr id="92" name="Google Shape;92;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22"/>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94" name="Google Shape;94;p22"/>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95" name="Google Shape;95;p22"/>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2"/>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7"/>
        <p:cNvGrpSpPr/>
        <p:nvPr/>
      </p:nvGrpSpPr>
      <p:grpSpPr>
        <a:xfrm>
          <a:off x="0" y="0"/>
          <a:ext cx="0" cy="0"/>
          <a:chOff x="0" y="0"/>
          <a:chExt cx="0" cy="0"/>
        </a:xfrm>
      </p:grpSpPr>
      <p:sp>
        <p:nvSpPr>
          <p:cNvPr id="98" name="Google Shape;98;p2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23"/>
          <p:cNvSpPr>
            <a:spLocks noGrp="1"/>
          </p:cNvSpPr>
          <p:nvPr>
            <p:ph type="pic" idx="2"/>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01" name="Google Shape;101;p2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24"/>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4"/>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8"/>
        <p:cNvGrpSpPr/>
        <p:nvPr/>
      </p:nvGrpSpPr>
      <p:grpSpPr>
        <a:xfrm>
          <a:off x="0" y="0"/>
          <a:ext cx="0" cy="0"/>
          <a:chOff x="0" y="0"/>
          <a:chExt cx="0" cy="0"/>
        </a:xfrm>
      </p:grpSpPr>
      <p:sp>
        <p:nvSpPr>
          <p:cNvPr id="109" name="Google Shape;109;p25"/>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5"/>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1" name="Google Shape;111;p25"/>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5"/>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31139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3543300" y="4799409"/>
            <a:ext cx="2057400" cy="273844"/>
          </a:xfrm>
          <a:prstGeom prst="rect">
            <a:avLst/>
          </a:prstGeom>
          <a:noFill/>
          <a:ln>
            <a:noFill/>
          </a:ln>
        </p:spPr>
        <p:txBody>
          <a:bodyPr spcFirstLastPara="1" wrap="square" lIns="91425" tIns="45700" rIns="91425" bIns="45700" anchor="ctr" anchorCtr="1">
            <a:noAutofit/>
          </a:bodyPr>
          <a:lstStyle>
            <a:lvl1pPr marR="0" lvl="0" algn="l" rtl="0">
              <a:spcBef>
                <a:spcPts val="0"/>
              </a:spcBef>
              <a:spcAft>
                <a:spcPts val="0"/>
              </a:spcAft>
              <a:buSzPts val="1400"/>
              <a:buNone/>
              <a:defRPr sz="1200" b="0" i="0" u="none" strike="noStrike" cap="none">
                <a:solidFill>
                  <a:schemeClr val="lt1"/>
                </a:solidFill>
                <a:latin typeface="Times New Roman"/>
                <a:ea typeface="Times New Roman"/>
                <a:cs typeface="Times New Roman"/>
                <a:sym typeface="Times New Roman"/>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sldNum" idx="12"/>
          </p:nvPr>
        </p:nvSpPr>
        <p:spPr>
          <a:xfrm>
            <a:off x="8747760" y="4729163"/>
            <a:ext cx="396240" cy="414336"/>
          </a:xfrm>
          <a:prstGeom prst="rect">
            <a:avLst/>
          </a:prstGeom>
          <a:noFill/>
          <a:ln>
            <a:noFill/>
          </a:ln>
        </p:spPr>
        <p:txBody>
          <a:bodyPr spcFirstLastPara="1" wrap="square" lIns="91425" tIns="45700" rIns="91425" bIns="45700" anchor="ctr" anchorCtr="1">
            <a:noAutofit/>
          </a:bodyPr>
          <a:lstStyle>
            <a:lvl1pPr marL="0" marR="0" lvl="0" indent="0" algn="r" rtl="0">
              <a:spcBef>
                <a:spcPts val="0"/>
              </a:spcBef>
              <a:buNone/>
              <a:defRPr sz="1200" b="0" i="0" u="none" strike="noStrike" cap="none">
                <a:solidFill>
                  <a:schemeClr val="lt1"/>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chemeClr val="lt1"/>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chemeClr val="lt1"/>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chemeClr val="lt1"/>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chemeClr val="lt1"/>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chemeClr val="lt1"/>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chemeClr val="lt1"/>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chemeClr val="lt1"/>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chemeClr val="lt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4">
            <a:alphaModFix/>
          </a:blip>
          <a:srcRect/>
          <a:stretch/>
        </p:blipFill>
        <p:spPr>
          <a:xfrm>
            <a:off x="8042034" y="65483"/>
            <a:ext cx="1070877" cy="10775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sadb_app.html" TargetMode="External"/><Relationship Id="rId5" Type="http://schemas.openxmlformats.org/officeDocument/2006/relationships/image" Target="../media/image2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ctrTitle"/>
          </p:nvPr>
        </p:nvSpPr>
        <p:spPr>
          <a:xfrm>
            <a:off x="3218116" y="1615756"/>
            <a:ext cx="4889205" cy="1790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ct val="100000"/>
              <a:buFont typeface="Calibri"/>
              <a:buNone/>
            </a:pPr>
            <a:r>
              <a:rPr lang="en"/>
              <a:t>Movement and Control of Biomimetic Humanoid Robots</a:t>
            </a:r>
            <a:endParaRPr/>
          </a:p>
        </p:txBody>
      </p:sp>
      <p:pic>
        <p:nvPicPr>
          <p:cNvPr id="118" name="Google Shape;118;p26"/>
          <p:cNvPicPr preferRelativeResize="0"/>
          <p:nvPr/>
        </p:nvPicPr>
        <p:blipFill rotWithShape="1">
          <a:blip r:embed="rId3">
            <a:alphaModFix/>
          </a:blip>
          <a:srcRect/>
          <a:stretch/>
        </p:blipFill>
        <p:spPr>
          <a:xfrm>
            <a:off x="1891731" y="4021432"/>
            <a:ext cx="3681170" cy="1122068"/>
          </a:xfrm>
          <a:prstGeom prst="rect">
            <a:avLst/>
          </a:prstGeom>
          <a:noFill/>
          <a:ln>
            <a:noFill/>
          </a:ln>
        </p:spPr>
      </p:pic>
      <p:sp>
        <p:nvSpPr>
          <p:cNvPr id="2" name="TextBox 1">
            <a:extLst>
              <a:ext uri="{FF2B5EF4-FFF2-40B4-BE49-F238E27FC236}">
                <a16:creationId xmlns:a16="http://schemas.microsoft.com/office/drawing/2014/main" id="{7737592A-DBDC-BECA-7615-00465568E531}"/>
              </a:ext>
            </a:extLst>
          </p:cNvPr>
          <p:cNvSpPr txBox="1"/>
          <p:nvPr/>
        </p:nvSpPr>
        <p:spPr>
          <a:xfrm>
            <a:off x="3937000" y="3454400"/>
            <a:ext cx="4572000" cy="523220"/>
          </a:xfrm>
          <a:prstGeom prst="rect">
            <a:avLst/>
          </a:prstGeom>
          <a:noFill/>
        </p:spPr>
        <p:txBody>
          <a:bodyPr vert="horz" rtlCol="0">
            <a:spAutoFit/>
          </a:bodyPr>
          <a:lstStyle/>
          <a:p>
            <a:r>
              <a:rPr lang="en-US">
                <a:solidFill>
                  <a:srgbClr val="FFFFFF"/>
                </a:solidFill>
              </a:rPr>
              <a:t>Ben P. Bolen · PhD Defense</a:t>
            </a:r>
          </a:p>
          <a:p>
            <a:r>
              <a:rPr lang="en-US">
                <a:solidFill>
                  <a:srgbClr val="FFFFFF"/>
                </a:solidFill>
              </a:rPr>
              <a:t>November 6, 2026</a:t>
            </a:r>
          </a:p>
        </p:txBody>
      </p:sp>
    </p:spTree>
    <p:extLst>
      <p:ext uri="{BB962C8B-B14F-4D97-AF65-F5344CB8AC3E}">
        <p14:creationId xmlns:p14="http://schemas.microsoft.com/office/powerpoint/2010/main" val="3458959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5584DA62-BDE0-EC64-BE40-4B44A089546D}"/>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Robots on warehouse floors face different challenges from robots on rubble</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FE27FE2F-59B8-2CCF-7A82-C2E98D0DB67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Amazon Robotics; DARPA Robotics Challenge (2015)</a:t>
            </a:r>
          </a:p>
        </p:txBody>
      </p:sp>
      <p:pic>
        <p:nvPicPr>
          <p:cNvPr id="9" name="Picture 8">
            <a:extLst>
              <a:ext uri="{FF2B5EF4-FFF2-40B4-BE49-F238E27FC236}">
                <a16:creationId xmlns:a16="http://schemas.microsoft.com/office/drawing/2014/main" id="{65E55BE9-C347-64C0-0A45-BBB12D48D040}"/>
              </a:ext>
            </a:extLst>
          </p:cNvPr>
          <p:cNvPicPr>
            <a:picLocks/>
          </p:cNvPicPr>
          <p:nvPr/>
        </p:nvPicPr>
        <p:blipFill>
          <a:blip r:embed="rId3"/>
          <a:stretch/>
        </p:blipFill>
        <p:spPr>
          <a:xfrm>
            <a:off x="250032" y="1236884"/>
            <a:ext cx="4214813" cy="2812608"/>
          </a:xfrm>
          <a:prstGeom prst="rect">
            <a:avLst/>
          </a:prstGeom>
        </p:spPr>
      </p:pic>
      <p:pic>
        <p:nvPicPr>
          <p:cNvPr id="10" name="Picture 9">
            <a:extLst>
              <a:ext uri="{FF2B5EF4-FFF2-40B4-BE49-F238E27FC236}">
                <a16:creationId xmlns:a16="http://schemas.microsoft.com/office/drawing/2014/main" id="{59DADA68-98AB-5E0B-CF05-8D6EA37B7B3D}"/>
              </a:ext>
            </a:extLst>
          </p:cNvPr>
          <p:cNvPicPr>
            <a:picLocks/>
          </p:cNvPicPr>
          <p:nvPr/>
        </p:nvPicPr>
        <p:blipFill>
          <a:blip r:embed="rId4"/>
          <a:stretch/>
        </p:blipFill>
        <p:spPr>
          <a:xfrm>
            <a:off x="4679157" y="1470845"/>
            <a:ext cx="4214813" cy="2344684"/>
          </a:xfrm>
          <a:prstGeom prst="rect">
            <a:avLst/>
          </a:prstGeom>
        </p:spPr>
      </p:pic>
      <p:sp>
        <p:nvSpPr>
          <p:cNvPr id="11" name="Rectangle 10">
            <a:extLst>
              <a:ext uri="{FF2B5EF4-FFF2-40B4-BE49-F238E27FC236}">
                <a16:creationId xmlns:a16="http://schemas.microsoft.com/office/drawing/2014/main" id="{5335C1F8-01E1-4B27-FC2B-07EF72DA81BC}"/>
              </a:ext>
            </a:extLst>
          </p:cNvPr>
          <p:cNvSpPr>
            <a:spLocks noGrp="1"/>
          </p:cNvSpPr>
          <p:nvPr/>
        </p:nvSpPr>
        <p:spPr>
          <a:xfrm>
            <a:off x="535782" y="4243389"/>
            <a:ext cx="3571875" cy="271463"/>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Predictable contact</a:t>
            </a:r>
          </a:p>
        </p:txBody>
      </p:sp>
      <p:sp>
        <p:nvSpPr>
          <p:cNvPr id="12" name="Rectangle 11">
            <a:extLst>
              <a:ext uri="{FF2B5EF4-FFF2-40B4-BE49-F238E27FC236}">
                <a16:creationId xmlns:a16="http://schemas.microsoft.com/office/drawing/2014/main" id="{05266B82-E8E6-13BD-DB92-8EA7CD9C0714}"/>
              </a:ext>
            </a:extLst>
          </p:cNvPr>
          <p:cNvSpPr>
            <a:spLocks noGrp="1"/>
          </p:cNvSpPr>
          <p:nvPr/>
        </p:nvSpPr>
        <p:spPr>
          <a:xfrm>
            <a:off x="4893470" y="4243389"/>
            <a:ext cx="3929063" cy="271463"/>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Changing contact and balance</a:t>
            </a:r>
          </a:p>
        </p:txBody>
      </p:sp>
      <p:sp>
        <p:nvSpPr>
          <p:cNvPr id="13" name="TextBox 12">
            <a:extLst>
              <a:ext uri="{FF2B5EF4-FFF2-40B4-BE49-F238E27FC236}">
                <a16:creationId xmlns:a16="http://schemas.microsoft.com/office/drawing/2014/main" id="{775AE73E-5074-2432-0AD1-84E51F0BA983}"/>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a:t>
            </a:r>
          </a:p>
        </p:txBody>
      </p:sp>
    </p:spTree>
    <p:extLst>
      <p:ext uri="{BB962C8B-B14F-4D97-AF65-F5344CB8AC3E}">
        <p14:creationId xmlns:p14="http://schemas.microsoft.com/office/powerpoint/2010/main" val="3783607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89FE0D26-CC14-5EE6-7888-75B3E17AEE89}"/>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Biomimetic robots let us test mechanics and neural control</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238E584F-6ED7-44D5-598B-5D527DE64CC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Asano et al. (2016); Bolen and Hunt (2019); Dissertation Ch. 1</a:t>
            </a:r>
          </a:p>
        </p:txBody>
      </p:sp>
      <p:pic>
        <p:nvPicPr>
          <p:cNvPr id="9" name="Picture 8">
            <a:extLst>
              <a:ext uri="{FF2B5EF4-FFF2-40B4-BE49-F238E27FC236}">
                <a16:creationId xmlns:a16="http://schemas.microsoft.com/office/drawing/2014/main" id="{993F43A5-E9F2-ACCA-100F-632D634979EC}"/>
              </a:ext>
            </a:extLst>
          </p:cNvPr>
          <p:cNvPicPr>
            <a:picLocks/>
          </p:cNvPicPr>
          <p:nvPr/>
        </p:nvPicPr>
        <p:blipFill>
          <a:blip r:embed="rId3"/>
          <a:stretch/>
        </p:blipFill>
        <p:spPr>
          <a:xfrm>
            <a:off x="321470" y="1550210"/>
            <a:ext cx="4143375" cy="2328829"/>
          </a:xfrm>
          <a:prstGeom prst="rect">
            <a:avLst/>
          </a:prstGeom>
        </p:spPr>
      </p:pic>
      <p:pic>
        <p:nvPicPr>
          <p:cNvPr id="10" name="Picture 9">
            <a:extLst>
              <a:ext uri="{FF2B5EF4-FFF2-40B4-BE49-F238E27FC236}">
                <a16:creationId xmlns:a16="http://schemas.microsoft.com/office/drawing/2014/main" id="{71AD5138-BEDC-A85D-5034-B637210788EF}"/>
              </a:ext>
            </a:extLst>
          </p:cNvPr>
          <p:cNvPicPr>
            <a:picLocks/>
          </p:cNvPicPr>
          <p:nvPr/>
        </p:nvPicPr>
        <p:blipFill>
          <a:blip r:embed="rId4"/>
          <a:stretch/>
        </p:blipFill>
        <p:spPr>
          <a:xfrm>
            <a:off x="5754321" y="1107281"/>
            <a:ext cx="1707296" cy="3214688"/>
          </a:xfrm>
          <a:prstGeom prst="rect">
            <a:avLst/>
          </a:prstGeom>
        </p:spPr>
      </p:pic>
      <p:sp>
        <p:nvSpPr>
          <p:cNvPr id="11" name="Rectangle 10">
            <a:extLst>
              <a:ext uri="{FF2B5EF4-FFF2-40B4-BE49-F238E27FC236}">
                <a16:creationId xmlns:a16="http://schemas.microsoft.com/office/drawing/2014/main" id="{DEB80408-ECFB-9CD5-EEE3-00E814483EF2}"/>
              </a:ext>
            </a:extLst>
          </p:cNvPr>
          <p:cNvSpPr>
            <a:spLocks noGrp="1"/>
          </p:cNvSpPr>
          <p:nvPr/>
        </p:nvSpPr>
        <p:spPr>
          <a:xfrm>
            <a:off x="535781" y="4314825"/>
            <a:ext cx="4000500" cy="228600"/>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Biological mechanisms</a:t>
            </a:r>
          </a:p>
        </p:txBody>
      </p:sp>
      <p:sp>
        <p:nvSpPr>
          <p:cNvPr id="12" name="Rectangle 11">
            <a:extLst>
              <a:ext uri="{FF2B5EF4-FFF2-40B4-BE49-F238E27FC236}">
                <a16:creationId xmlns:a16="http://schemas.microsoft.com/office/drawing/2014/main" id="{8B2ED73B-4275-2B37-27DF-9E3D347EEFBB}"/>
              </a:ext>
            </a:extLst>
          </p:cNvPr>
          <p:cNvSpPr>
            <a:spLocks noGrp="1"/>
          </p:cNvSpPr>
          <p:nvPr/>
        </p:nvSpPr>
        <p:spPr>
          <a:xfrm>
            <a:off x="4857750" y="4314825"/>
            <a:ext cx="4000500" cy="228600"/>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Controlled robot experiments</a:t>
            </a:r>
          </a:p>
        </p:txBody>
      </p:sp>
      <p:sp>
        <p:nvSpPr>
          <p:cNvPr id="13" name="TextBox 12">
            <a:extLst>
              <a:ext uri="{FF2B5EF4-FFF2-40B4-BE49-F238E27FC236}">
                <a16:creationId xmlns:a16="http://schemas.microsoft.com/office/drawing/2014/main" id="{5B5F762C-BE85-616F-A65C-94C9F3E22290}"/>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a:t>
            </a:r>
          </a:p>
        </p:txBody>
      </p:sp>
    </p:spTree>
    <p:extLst>
      <p:ext uri="{BB962C8B-B14F-4D97-AF65-F5344CB8AC3E}">
        <p14:creationId xmlns:p14="http://schemas.microsoft.com/office/powerpoint/2010/main" val="1953365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C2055639-53A4-C36D-0853-44CE928B8967}"/>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Four knowledge and tool gaps for biomimetic robot research</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43100E4D-7C9F-FB1E-2716-2E39DF06D9C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Chs. 3–6</a:t>
            </a:r>
          </a:p>
        </p:txBody>
      </p:sp>
      <p:pic>
        <p:nvPicPr>
          <p:cNvPr id="9" name="Picture 8">
            <a:extLst>
              <a:ext uri="{FF2B5EF4-FFF2-40B4-BE49-F238E27FC236}">
                <a16:creationId xmlns:a16="http://schemas.microsoft.com/office/drawing/2014/main" id="{EB2CCC17-BB65-4602-DBE5-E971B6009E9E}"/>
              </a:ext>
            </a:extLst>
          </p:cNvPr>
          <p:cNvPicPr>
            <a:picLocks/>
          </p:cNvPicPr>
          <p:nvPr/>
        </p:nvPicPr>
        <p:blipFill>
          <a:blip r:embed="rId3"/>
          <a:stretch/>
        </p:blipFill>
        <p:spPr>
          <a:xfrm>
            <a:off x="1842067" y="1214438"/>
            <a:ext cx="887866" cy="1035844"/>
          </a:xfrm>
          <a:prstGeom prst="rect">
            <a:avLst/>
          </a:prstGeom>
        </p:spPr>
      </p:pic>
      <p:sp>
        <p:nvSpPr>
          <p:cNvPr id="10" name="Rectangle 9">
            <a:extLst>
              <a:ext uri="{FF2B5EF4-FFF2-40B4-BE49-F238E27FC236}">
                <a16:creationId xmlns:a16="http://schemas.microsoft.com/office/drawing/2014/main" id="{7E229A88-559A-FA52-5726-E3E9A0371A0F}"/>
              </a:ext>
            </a:extLst>
          </p:cNvPr>
          <p:cNvSpPr>
            <a:spLocks noGrp="1"/>
          </p:cNvSpPr>
          <p:nvPr/>
        </p:nvSpPr>
        <p:spPr>
          <a:xfrm>
            <a:off x="321470" y="2264569"/>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BPA characterization</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How does length change force?</a:t>
            </a:r>
          </a:p>
        </p:txBody>
      </p:sp>
      <p:pic>
        <p:nvPicPr>
          <p:cNvPr id="11" name="Picture 10">
            <a:extLst>
              <a:ext uri="{FF2B5EF4-FFF2-40B4-BE49-F238E27FC236}">
                <a16:creationId xmlns:a16="http://schemas.microsoft.com/office/drawing/2014/main" id="{83ADC0AE-EE62-259A-8B1B-6BF718233AAF}"/>
              </a:ext>
            </a:extLst>
          </p:cNvPr>
          <p:cNvPicPr>
            <a:picLocks/>
          </p:cNvPicPr>
          <p:nvPr/>
        </p:nvPicPr>
        <p:blipFill>
          <a:blip r:embed="rId4"/>
          <a:stretch/>
        </p:blipFill>
        <p:spPr>
          <a:xfrm>
            <a:off x="6033014" y="1214438"/>
            <a:ext cx="1292785" cy="1035844"/>
          </a:xfrm>
          <a:prstGeom prst="rect">
            <a:avLst/>
          </a:prstGeom>
        </p:spPr>
      </p:pic>
      <p:sp>
        <p:nvSpPr>
          <p:cNvPr id="12" name="Rectangle 11">
            <a:extLst>
              <a:ext uri="{FF2B5EF4-FFF2-40B4-BE49-F238E27FC236}">
                <a16:creationId xmlns:a16="http://schemas.microsoft.com/office/drawing/2014/main" id="{DB72FF16-72DA-7996-48E7-9B1C94E36B2A}"/>
              </a:ext>
            </a:extLst>
          </p:cNvPr>
          <p:cNvSpPr>
            <a:spLocks noGrp="1"/>
          </p:cNvSpPr>
          <p:nvPr/>
        </p:nvSpPr>
        <p:spPr>
          <a:xfrm>
            <a:off x="4714876" y="2264569"/>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Joint design factors</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What torque reaches the joint?</a:t>
            </a:r>
          </a:p>
        </p:txBody>
      </p:sp>
      <p:pic>
        <p:nvPicPr>
          <p:cNvPr id="13" name="Picture 12">
            <a:extLst>
              <a:ext uri="{FF2B5EF4-FFF2-40B4-BE49-F238E27FC236}">
                <a16:creationId xmlns:a16="http://schemas.microsoft.com/office/drawing/2014/main" id="{47398823-0621-FC40-F657-9213F65F73FC}"/>
              </a:ext>
            </a:extLst>
          </p:cNvPr>
          <p:cNvPicPr>
            <a:picLocks/>
          </p:cNvPicPr>
          <p:nvPr/>
        </p:nvPicPr>
        <p:blipFill>
          <a:blip r:embed="rId5"/>
          <a:stretch/>
        </p:blipFill>
        <p:spPr>
          <a:xfrm>
            <a:off x="1431206" y="2893219"/>
            <a:ext cx="1709588" cy="1035844"/>
          </a:xfrm>
          <a:prstGeom prst="rect">
            <a:avLst/>
          </a:prstGeom>
        </p:spPr>
      </p:pic>
      <p:sp>
        <p:nvSpPr>
          <p:cNvPr id="14" name="Rectangle 13">
            <a:extLst>
              <a:ext uri="{FF2B5EF4-FFF2-40B4-BE49-F238E27FC236}">
                <a16:creationId xmlns:a16="http://schemas.microsoft.com/office/drawing/2014/main" id="{5278C5AA-BA82-2F9B-36DB-6B2C2E88489D}"/>
              </a:ext>
            </a:extLst>
          </p:cNvPr>
          <p:cNvSpPr>
            <a:spLocks noGrp="1"/>
          </p:cNvSpPr>
          <p:nvPr/>
        </p:nvSpPr>
        <p:spPr>
          <a:xfrm>
            <a:off x="321470" y="3943350"/>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SADb</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Which sensory evidence applies?</a:t>
            </a:r>
          </a:p>
        </p:txBody>
      </p:sp>
      <p:pic>
        <p:nvPicPr>
          <p:cNvPr id="15" name="Picture 14">
            <a:extLst>
              <a:ext uri="{FF2B5EF4-FFF2-40B4-BE49-F238E27FC236}">
                <a16:creationId xmlns:a16="http://schemas.microsoft.com/office/drawing/2014/main" id="{AF1B5CCD-FFF1-046F-1F6D-8574E865FF09}"/>
              </a:ext>
            </a:extLst>
          </p:cNvPr>
          <p:cNvPicPr>
            <a:picLocks/>
          </p:cNvPicPr>
          <p:nvPr/>
        </p:nvPicPr>
        <p:blipFill>
          <a:blip r:embed="rId6"/>
          <a:stretch/>
        </p:blipFill>
        <p:spPr>
          <a:xfrm>
            <a:off x="6304777" y="2893219"/>
            <a:ext cx="749261" cy="1035844"/>
          </a:xfrm>
          <a:prstGeom prst="rect">
            <a:avLst/>
          </a:prstGeom>
        </p:spPr>
      </p:pic>
      <p:sp>
        <p:nvSpPr>
          <p:cNvPr id="16" name="Rectangle 15">
            <a:extLst>
              <a:ext uri="{FF2B5EF4-FFF2-40B4-BE49-F238E27FC236}">
                <a16:creationId xmlns:a16="http://schemas.microsoft.com/office/drawing/2014/main" id="{A585139F-EB4F-A3B3-C37B-0B2A7676CE1D}"/>
              </a:ext>
            </a:extLst>
          </p:cNvPr>
          <p:cNvSpPr>
            <a:spLocks noGrp="1"/>
          </p:cNvSpPr>
          <p:nvPr/>
        </p:nvSpPr>
        <p:spPr>
          <a:xfrm>
            <a:off x="4714876" y="3943350"/>
            <a:ext cx="3929063" cy="464344"/>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SNS tools</a:t>
            </a:r>
          </a:p>
          <a:p>
            <a:pPr>
              <a:defRPr sz="1875" b="1">
                <a:solidFill>
                  <a:srgbClr val="006D77"/>
                </a:solidFill>
                <a:latin typeface="Calibri"/>
                <a:ea typeface="Calibri"/>
                <a:cs typeface="Calibri"/>
              </a:defRPr>
            </a:pPr>
            <a:r>
              <a:rPr sz="1406" b="1">
                <a:solidFill>
                  <a:srgbClr val="006D77"/>
                </a:solidFill>
                <a:latin typeface="Calibri"/>
                <a:ea typeface="Calibri"/>
                <a:cs typeface="Calibri"/>
              </a:rPr>
              <a:t>Which pathway causes the behavior?</a:t>
            </a:r>
          </a:p>
        </p:txBody>
      </p:sp>
      <p:sp>
        <p:nvSpPr>
          <p:cNvPr id="17" name="TextBox 16">
            <a:extLst>
              <a:ext uri="{FF2B5EF4-FFF2-40B4-BE49-F238E27FC236}">
                <a16:creationId xmlns:a16="http://schemas.microsoft.com/office/drawing/2014/main" id="{3CCFB677-1F4A-F203-875F-4874DBBB707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a:t>
            </a:r>
          </a:p>
        </p:txBody>
      </p:sp>
    </p:spTree>
    <p:extLst>
      <p:ext uri="{BB962C8B-B14F-4D97-AF65-F5344CB8AC3E}">
        <p14:creationId xmlns:p14="http://schemas.microsoft.com/office/powerpoint/2010/main" val="137464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21E0784-D5B7-3025-0FF8-862868153495}"/>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BPA force depends on length, pressure, and contraction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410ABAF1-8873-9EE4-4921-71325CC74440}"/>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Actuators 15(5):230 · Hunt, INRC (2019), slide 49</a:t>
            </a:r>
          </a:p>
        </p:txBody>
      </p:sp>
      <p:pic>
        <p:nvPicPr>
          <p:cNvPr id="4" name="Picture 3">
            <a:extLst>
              <a:ext uri="{FF2B5EF4-FFF2-40B4-BE49-F238E27FC236}">
                <a16:creationId xmlns:a16="http://schemas.microsoft.com/office/drawing/2014/main" id="{10398087-B124-54F0-6A3D-4D324DF0458C}"/>
              </a:ext>
            </a:extLst>
          </p:cNvPr>
          <p:cNvPicPr>
            <a:picLocks/>
          </p:cNvPicPr>
          <p:nvPr/>
        </p:nvPicPr>
        <p:blipFill>
          <a:blip r:embed="rId3"/>
          <a:stretch/>
        </p:blipFill>
        <p:spPr>
          <a:xfrm>
            <a:off x="989920" y="1107282"/>
            <a:ext cx="2877910" cy="3357563"/>
          </a:xfrm>
          <a:prstGeom prst="rect">
            <a:avLst/>
          </a:prstGeom>
        </p:spPr>
      </p:pic>
      <p:pic>
        <p:nvPicPr>
          <p:cNvPr id="5" name="Picture 4">
            <a:extLst>
              <a:ext uri="{FF2B5EF4-FFF2-40B4-BE49-F238E27FC236}">
                <a16:creationId xmlns:a16="http://schemas.microsoft.com/office/drawing/2014/main" id="{358002AE-74AF-DC9A-F9A5-B8F0AEAD97A7}"/>
              </a:ext>
            </a:extLst>
          </p:cNvPr>
          <p:cNvPicPr>
            <a:picLocks/>
          </p:cNvPicPr>
          <p:nvPr/>
        </p:nvPicPr>
        <p:blipFill>
          <a:blip r:embed="rId4"/>
          <a:stretch/>
        </p:blipFill>
        <p:spPr>
          <a:xfrm>
            <a:off x="4714876" y="1785830"/>
            <a:ext cx="3857625" cy="1536120"/>
          </a:xfrm>
          <a:prstGeom prst="rect">
            <a:avLst/>
          </a:prstGeom>
        </p:spPr>
      </p:pic>
      <p:sp>
        <p:nvSpPr>
          <p:cNvPr id="6" name="Rectangle 5">
            <a:extLst>
              <a:ext uri="{FF2B5EF4-FFF2-40B4-BE49-F238E27FC236}">
                <a16:creationId xmlns:a16="http://schemas.microsoft.com/office/drawing/2014/main" id="{984E33C2-382C-B24A-E9E2-9EAC86ADE7A3}"/>
              </a:ext>
            </a:extLst>
          </p:cNvPr>
          <p:cNvSpPr>
            <a:spLocks noGrp="1"/>
          </p:cNvSpPr>
          <p:nvPr/>
        </p:nvSpPr>
        <p:spPr>
          <a:xfrm>
            <a:off x="4822032" y="1357313"/>
            <a:ext cx="3571875"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Contracted</a:t>
            </a:r>
          </a:p>
        </p:txBody>
      </p:sp>
      <p:sp>
        <p:nvSpPr>
          <p:cNvPr id="14" name="Rectangle 13">
            <a:extLst>
              <a:ext uri="{FF2B5EF4-FFF2-40B4-BE49-F238E27FC236}">
                <a16:creationId xmlns:a16="http://schemas.microsoft.com/office/drawing/2014/main" id="{EDF459E9-095D-C5D2-5A02-716BA970FAEE}"/>
              </a:ext>
            </a:extLst>
          </p:cNvPr>
          <p:cNvSpPr>
            <a:spLocks noGrp="1"/>
          </p:cNvSpPr>
          <p:nvPr/>
        </p:nvSpPr>
        <p:spPr>
          <a:xfrm>
            <a:off x="4822032" y="3550444"/>
            <a:ext cx="3571875"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Uncontracted</a:t>
            </a:r>
          </a:p>
        </p:txBody>
      </p:sp>
      <p:sp>
        <p:nvSpPr>
          <p:cNvPr id="15" name="TextBox 14">
            <a:extLst>
              <a:ext uri="{FF2B5EF4-FFF2-40B4-BE49-F238E27FC236}">
                <a16:creationId xmlns:a16="http://schemas.microsoft.com/office/drawing/2014/main" id="{021E48EE-66E8-3DE9-08BF-5398BF795336}"/>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5</a:t>
            </a:r>
          </a:p>
        </p:txBody>
      </p:sp>
    </p:spTree>
    <p:extLst>
      <p:ext uri="{BB962C8B-B14F-4D97-AF65-F5344CB8AC3E}">
        <p14:creationId xmlns:p14="http://schemas.microsoft.com/office/powerpoint/2010/main" val="4156256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31B1F8-06AC-16C1-D7CA-C215A72D24B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Shorter BPAs deliver less maximum isometric force</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4F0D8B9C-74D1-431E-EB98-D6D6F7F24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1033D70F-48B1-1B82-CD94-0D5076DB2AC1}"/>
              </a:ext>
            </a:extLst>
          </p:cNvPr>
          <p:cNvPicPr>
            <a:picLocks/>
          </p:cNvPicPr>
          <p:nvPr/>
        </p:nvPicPr>
        <p:blipFill>
          <a:blip r:embed="rId3"/>
          <a:stretch/>
        </p:blipFill>
        <p:spPr>
          <a:xfrm>
            <a:off x="622612" y="1285876"/>
            <a:ext cx="3612526" cy="2930524"/>
          </a:xfrm>
          <a:prstGeom prst="rect">
            <a:avLst/>
          </a:prstGeom>
        </p:spPr>
      </p:pic>
      <p:pic>
        <p:nvPicPr>
          <p:cNvPr id="5" name="Picture 4">
            <a:extLst>
              <a:ext uri="{FF2B5EF4-FFF2-40B4-BE49-F238E27FC236}">
                <a16:creationId xmlns:a16="http://schemas.microsoft.com/office/drawing/2014/main" id="{5846438D-CC7B-2D7C-F2DF-4CD6CF5D3165}"/>
              </a:ext>
            </a:extLst>
          </p:cNvPr>
          <p:cNvPicPr>
            <a:picLocks/>
          </p:cNvPicPr>
          <p:nvPr/>
        </p:nvPicPr>
        <p:blipFill>
          <a:blip r:embed="rId4"/>
          <a:stretch/>
        </p:blipFill>
        <p:spPr>
          <a:xfrm>
            <a:off x="4793645" y="1311212"/>
            <a:ext cx="3842959" cy="2905188"/>
          </a:xfrm>
          <a:prstGeom prst="rect">
            <a:avLst/>
          </a:prstGeom>
        </p:spPr>
      </p:pic>
      <p:sp>
        <p:nvSpPr>
          <p:cNvPr id="6" name="Rectangle 5">
            <a:extLst>
              <a:ext uri="{FF2B5EF4-FFF2-40B4-BE49-F238E27FC236}">
                <a16:creationId xmlns:a16="http://schemas.microsoft.com/office/drawing/2014/main" id="{6CD0CC07-2DA5-01DE-5AE7-92CE9EBBD7A8}"/>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Resting length changes the force available to a robot design</a:t>
            </a:r>
          </a:p>
        </p:txBody>
      </p:sp>
      <p:sp>
        <p:nvSpPr>
          <p:cNvPr id="7" name="TextBox 6">
            <a:extLst>
              <a:ext uri="{FF2B5EF4-FFF2-40B4-BE49-F238E27FC236}">
                <a16:creationId xmlns:a16="http://schemas.microsoft.com/office/drawing/2014/main" id="{563A8993-842F-37AF-533A-E46D485B065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6</a:t>
            </a:r>
          </a:p>
        </p:txBody>
      </p:sp>
    </p:spTree>
    <p:extLst>
      <p:ext uri="{BB962C8B-B14F-4D97-AF65-F5344CB8AC3E}">
        <p14:creationId xmlns:p14="http://schemas.microsoft.com/office/powerpoint/2010/main" val="745614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23C5D4E-BAD9-7FE2-130A-F8D5F29165D1}"/>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Resting-length scaling completes the normalized force model</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6812AFF9-2745-8FBC-BB3A-DF2FAB6FBC0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Actuators 15(5):230 · Dissertation Ch. 3</a:t>
            </a:r>
          </a:p>
        </p:txBody>
      </p:sp>
      <p:pic>
        <p:nvPicPr>
          <p:cNvPr id="4" name="Picture 3">
            <a:extLst>
              <a:ext uri="{FF2B5EF4-FFF2-40B4-BE49-F238E27FC236}">
                <a16:creationId xmlns:a16="http://schemas.microsoft.com/office/drawing/2014/main" id="{F86392E6-F62C-E69E-9934-21D83A213218}"/>
              </a:ext>
            </a:extLst>
          </p:cNvPr>
          <p:cNvPicPr>
            <a:picLocks/>
          </p:cNvPicPr>
          <p:nvPr/>
        </p:nvPicPr>
        <p:blipFill>
          <a:blip r:embed="rId3"/>
          <a:stretch/>
        </p:blipFill>
        <p:spPr>
          <a:xfrm>
            <a:off x="642939" y="1055023"/>
            <a:ext cx="7858125" cy="547429"/>
          </a:xfrm>
          <a:prstGeom prst="rect">
            <a:avLst/>
          </a:prstGeom>
        </p:spPr>
      </p:pic>
      <p:pic>
        <p:nvPicPr>
          <p:cNvPr id="5" name="Picture 4">
            <a:extLst>
              <a:ext uri="{FF2B5EF4-FFF2-40B4-BE49-F238E27FC236}">
                <a16:creationId xmlns:a16="http://schemas.microsoft.com/office/drawing/2014/main" id="{3B3F0B49-AADB-0BDC-FCBE-81F8AA44928C}"/>
              </a:ext>
            </a:extLst>
          </p:cNvPr>
          <p:cNvPicPr>
            <a:picLocks/>
          </p:cNvPicPr>
          <p:nvPr/>
        </p:nvPicPr>
        <p:blipFill>
          <a:blip r:embed="rId4"/>
          <a:stretch/>
        </p:blipFill>
        <p:spPr>
          <a:xfrm>
            <a:off x="923881" y="1714500"/>
            <a:ext cx="2902832" cy="2678906"/>
          </a:xfrm>
          <a:prstGeom prst="rect">
            <a:avLst/>
          </a:prstGeom>
        </p:spPr>
      </p:pic>
      <p:pic>
        <p:nvPicPr>
          <p:cNvPr id="6" name="Picture 5">
            <a:extLst>
              <a:ext uri="{FF2B5EF4-FFF2-40B4-BE49-F238E27FC236}">
                <a16:creationId xmlns:a16="http://schemas.microsoft.com/office/drawing/2014/main" id="{F0270F83-989E-C282-571D-015D67C003F7}"/>
              </a:ext>
            </a:extLst>
          </p:cNvPr>
          <p:cNvPicPr>
            <a:picLocks/>
          </p:cNvPicPr>
          <p:nvPr/>
        </p:nvPicPr>
        <p:blipFill>
          <a:blip r:embed="rId5"/>
          <a:stretch/>
        </p:blipFill>
        <p:spPr>
          <a:xfrm>
            <a:off x="5358251" y="1714500"/>
            <a:ext cx="2820907" cy="2678906"/>
          </a:xfrm>
          <a:prstGeom prst="rect">
            <a:avLst/>
          </a:prstGeom>
        </p:spPr>
      </p:pic>
      <p:sp>
        <p:nvSpPr>
          <p:cNvPr id="14" name="TextBox 13">
            <a:extLst>
              <a:ext uri="{FF2B5EF4-FFF2-40B4-BE49-F238E27FC236}">
                <a16:creationId xmlns:a16="http://schemas.microsoft.com/office/drawing/2014/main" id="{4E5967DD-D747-CFB2-7820-4AF0A85685FD}"/>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7</a:t>
            </a:r>
          </a:p>
        </p:txBody>
      </p:sp>
    </p:spTree>
    <p:extLst>
      <p:ext uri="{BB962C8B-B14F-4D97-AF65-F5344CB8AC3E}">
        <p14:creationId xmlns:p14="http://schemas.microsoft.com/office/powerpoint/2010/main" val="3714379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E25AF-843F-1EB0-4B4C-783409CBE092}"/>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At 112 mm, the new model reduces force error to 4.5%</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99CDD3AA-E0E2-B412-DA3C-9CB7D967745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graphicFrame>
        <p:nvGraphicFramePr>
          <p:cNvPr id="4" name="Chart">
            <a:extLst>
              <a:ext uri="{FF2B5EF4-FFF2-40B4-BE49-F238E27FC236}">
                <a16:creationId xmlns:a16="http://schemas.microsoft.com/office/drawing/2014/main" id="{727C68CF-9FCA-2EC0-858D-D70DABAF7CEE}"/>
              </a:ext>
            </a:extLst>
          </p:cNvPr>
          <p:cNvGraphicFramePr>
            <a:graphicFrameLocks/>
          </p:cNvGraphicFramePr>
          <p:nvPr>
            <p:extLst>
              <p:ext uri="{D42A27DB-BD31-4B8C-83A1-F6EECF244321}">
                <p14:modId xmlns:p14="http://schemas.microsoft.com/office/powerpoint/2010/main" val="753289437"/>
              </p:ext>
            </p:extLst>
          </p:nvPr>
        </p:nvGraphicFramePr>
        <p:xfrm>
          <a:off x="642939" y="1285876"/>
          <a:ext cx="7858125"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ACC435F-311E-ECB1-97A4-61833737BD47}"/>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 mm BPA · 112 mm resting length · 620 kPa</a:t>
            </a:r>
          </a:p>
        </p:txBody>
      </p:sp>
      <p:sp>
        <p:nvSpPr>
          <p:cNvPr id="6" name="TextBox 5">
            <a:extLst>
              <a:ext uri="{FF2B5EF4-FFF2-40B4-BE49-F238E27FC236}">
                <a16:creationId xmlns:a16="http://schemas.microsoft.com/office/drawing/2014/main" id="{17F159F3-B4AF-22B7-87CF-DECD4475DD6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8</a:t>
            </a:r>
          </a:p>
        </p:txBody>
      </p:sp>
    </p:spTree>
    <p:extLst>
      <p:ext uri="{BB962C8B-B14F-4D97-AF65-F5344CB8AC3E}">
        <p14:creationId xmlns:p14="http://schemas.microsoft.com/office/powerpoint/2010/main" val="816443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3CF16D5-F3FB-4D16-59FB-ADBBE8540194}"/>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Length offsets, compliance, and wrapping change predicted joint torque</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6A1928DF-FFB7-206A-499C-07222A09B5B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Length correction and effective attachment mechanics</a:t>
            </a:r>
          </a:p>
        </p:txBody>
      </p:sp>
      <p:pic>
        <p:nvPicPr>
          <p:cNvPr id="4" name="Picture 3">
            <a:extLst>
              <a:ext uri="{FF2B5EF4-FFF2-40B4-BE49-F238E27FC236}">
                <a16:creationId xmlns:a16="http://schemas.microsoft.com/office/drawing/2014/main" id="{04FC63EB-2BD3-A5DC-6B9D-A413F601F4E5}"/>
              </a:ext>
            </a:extLst>
          </p:cNvPr>
          <p:cNvPicPr>
            <a:picLocks/>
          </p:cNvPicPr>
          <p:nvPr/>
        </p:nvPicPr>
        <p:blipFill>
          <a:blip r:embed="rId3"/>
          <a:stretch/>
        </p:blipFill>
        <p:spPr>
          <a:xfrm>
            <a:off x="561379" y="1178720"/>
            <a:ext cx="1841897" cy="2500313"/>
          </a:xfrm>
          <a:prstGeom prst="rect">
            <a:avLst/>
          </a:prstGeom>
        </p:spPr>
      </p:pic>
      <p:pic>
        <p:nvPicPr>
          <p:cNvPr id="5" name="Picture 4">
            <a:extLst>
              <a:ext uri="{FF2B5EF4-FFF2-40B4-BE49-F238E27FC236}">
                <a16:creationId xmlns:a16="http://schemas.microsoft.com/office/drawing/2014/main" id="{4D306562-974F-4775-97E4-A3926B16D3D4}"/>
              </a:ext>
            </a:extLst>
          </p:cNvPr>
          <p:cNvPicPr>
            <a:picLocks/>
          </p:cNvPicPr>
          <p:nvPr/>
        </p:nvPicPr>
        <p:blipFill>
          <a:blip r:embed="rId4"/>
          <a:stretch/>
        </p:blipFill>
        <p:spPr>
          <a:xfrm>
            <a:off x="3000376" y="1429893"/>
            <a:ext cx="2786063" cy="1997963"/>
          </a:xfrm>
          <a:prstGeom prst="rect">
            <a:avLst/>
          </a:prstGeom>
        </p:spPr>
      </p:pic>
      <p:pic>
        <p:nvPicPr>
          <p:cNvPr id="6" name="Picture 5">
            <a:extLst>
              <a:ext uri="{FF2B5EF4-FFF2-40B4-BE49-F238E27FC236}">
                <a16:creationId xmlns:a16="http://schemas.microsoft.com/office/drawing/2014/main" id="{AB6CC5F0-A372-35CA-6381-F78902947149}"/>
              </a:ext>
            </a:extLst>
          </p:cNvPr>
          <p:cNvPicPr>
            <a:picLocks/>
          </p:cNvPicPr>
          <p:nvPr/>
        </p:nvPicPr>
        <p:blipFill>
          <a:blip r:embed="rId5"/>
          <a:stretch/>
        </p:blipFill>
        <p:spPr>
          <a:xfrm>
            <a:off x="6335501" y="1143000"/>
            <a:ext cx="2045123" cy="2536031"/>
          </a:xfrm>
          <a:prstGeom prst="rect">
            <a:avLst/>
          </a:prstGeom>
        </p:spPr>
      </p:pic>
      <p:sp>
        <p:nvSpPr>
          <p:cNvPr id="14" name="Rectangle 13">
            <a:extLst>
              <a:ext uri="{FF2B5EF4-FFF2-40B4-BE49-F238E27FC236}">
                <a16:creationId xmlns:a16="http://schemas.microsoft.com/office/drawing/2014/main" id="{5CC5107E-2B49-2EA9-FA40-B742899822E5}"/>
              </a:ext>
            </a:extLst>
          </p:cNvPr>
          <p:cNvSpPr>
            <a:spLocks noGrp="1"/>
          </p:cNvSpPr>
          <p:nvPr/>
        </p:nvSpPr>
        <p:spPr>
          <a:xfrm>
            <a:off x="321470" y="3786188"/>
            <a:ext cx="2428875" cy="321469"/>
          </a:xfrm>
          <a:prstGeom prst="rect">
            <a:avLst/>
          </a:prstGeom>
          <a:noFill/>
          <a:ln w="0">
            <a:noFill/>
          </a:ln>
        </p:spPr>
        <p:txBody>
          <a:bodyPr lIns="0" tIns="0" rIns="0" bIns="0" anchor="t"/>
          <a:lstStyle>
            <a:defPPr>
              <a:defRPr sz="2700" b="1">
                <a:solidFill>
                  <a:srgbClr val="006D77"/>
                </a:solidFill>
                <a:latin typeface="Calibri"/>
                <a:ea typeface="Calibri"/>
                <a:cs typeface="Calibri"/>
              </a:defRPr>
            </a:defPPr>
            <a:lvl1pPr>
              <a:defRPr sz="2700" b="1">
                <a:solidFill>
                  <a:srgbClr val="006D77"/>
                </a:solidFill>
                <a:latin typeface="Calibri"/>
                <a:ea typeface="Calibri"/>
                <a:cs typeface="Calibri"/>
              </a:defRPr>
            </a:lvl1pPr>
            <a:lvl2pPr>
              <a:defRPr sz="2700" b="1">
                <a:solidFill>
                  <a:srgbClr val="006D77"/>
                </a:solidFill>
                <a:latin typeface="Calibri"/>
                <a:ea typeface="Calibri"/>
                <a:cs typeface="Calibri"/>
              </a:defRPr>
            </a:lvl2pPr>
            <a:lvl3pPr>
              <a:defRPr sz="2700" b="1">
                <a:solidFill>
                  <a:srgbClr val="006D77"/>
                </a:solidFill>
                <a:latin typeface="Calibri"/>
                <a:ea typeface="Calibri"/>
                <a:cs typeface="Calibri"/>
              </a:defRPr>
            </a:lvl3pPr>
            <a:lvl4pPr>
              <a:defRPr sz="2700" b="1">
                <a:solidFill>
                  <a:srgbClr val="006D77"/>
                </a:solidFill>
                <a:latin typeface="Calibri"/>
                <a:ea typeface="Calibri"/>
                <a:cs typeface="Calibri"/>
              </a:defRPr>
            </a:lvl4pPr>
            <a:lvl5pPr>
              <a:defRPr sz="2700" b="1">
                <a:solidFill>
                  <a:srgbClr val="006D77"/>
                </a:solidFill>
                <a:latin typeface="Calibri"/>
                <a:ea typeface="Calibri"/>
                <a:cs typeface="Calibri"/>
              </a:defRPr>
            </a:lvl5pPr>
            <a:lvl6pPr>
              <a:defRPr sz="2700" b="1">
                <a:solidFill>
                  <a:srgbClr val="006D77"/>
                </a:solidFill>
                <a:latin typeface="Calibri"/>
                <a:ea typeface="Calibri"/>
                <a:cs typeface="Calibri"/>
              </a:defRPr>
            </a:lvl6pPr>
            <a:lvl7pPr>
              <a:defRPr sz="2700" b="1">
                <a:solidFill>
                  <a:srgbClr val="006D77"/>
                </a:solidFill>
                <a:latin typeface="Calibri"/>
                <a:ea typeface="Calibri"/>
                <a:cs typeface="Calibri"/>
              </a:defRPr>
            </a:lvl7pPr>
            <a:lvl8pPr>
              <a:defRPr sz="2700" b="1">
                <a:solidFill>
                  <a:srgbClr val="006D77"/>
                </a:solidFill>
                <a:latin typeface="Calibri"/>
                <a:ea typeface="Calibri"/>
                <a:cs typeface="Calibri"/>
              </a:defRPr>
            </a:lvl8pPr>
            <a:lvl9pPr>
              <a:defRPr sz="2700" b="1">
                <a:solidFill>
                  <a:srgbClr val="006D77"/>
                </a:solidFill>
                <a:latin typeface="Calibri"/>
                <a:ea typeface="Calibri"/>
                <a:cs typeface="Calibri"/>
              </a:defRPr>
            </a:lvl9pPr>
          </a:lstStyle>
          <a:p>
            <a:pPr>
              <a:defRPr sz="2700" b="1">
                <a:solidFill>
                  <a:srgbClr val="006D77"/>
                </a:solidFill>
                <a:latin typeface="Calibri"/>
                <a:ea typeface="Calibri"/>
                <a:cs typeface="Calibri"/>
              </a:defRPr>
            </a:pPr>
            <a:r>
              <a:rPr sz="2025" b="1">
                <a:solidFill>
                  <a:srgbClr val="006D77"/>
                </a:solidFill>
                <a:latin typeface="Calibri"/>
                <a:ea typeface="Calibri"/>
                <a:cs typeface="Calibri"/>
              </a:rPr>
              <a:t>χ₀</a:t>
            </a:r>
          </a:p>
        </p:txBody>
      </p:sp>
      <p:sp>
        <p:nvSpPr>
          <p:cNvPr id="15" name="Rectangle 14">
            <a:extLst>
              <a:ext uri="{FF2B5EF4-FFF2-40B4-BE49-F238E27FC236}">
                <a16:creationId xmlns:a16="http://schemas.microsoft.com/office/drawing/2014/main" id="{E9F853AE-2CB7-95F9-C5D6-E0E2643B086A}"/>
              </a:ext>
            </a:extLst>
          </p:cNvPr>
          <p:cNvSpPr>
            <a:spLocks noGrp="1"/>
          </p:cNvSpPr>
          <p:nvPr/>
        </p:nvSpPr>
        <p:spPr>
          <a:xfrm>
            <a:off x="321469" y="4107656"/>
            <a:ext cx="2536031" cy="392906"/>
          </a:xfrm>
          <a:prstGeom prst="rect">
            <a:avLst/>
          </a:prstGeom>
          <a:noFill/>
          <a:ln w="0">
            <a:noFill/>
          </a:ln>
        </p:spPr>
        <p:txBody>
          <a:bodyPr lIns="0" tIns="0" rIns="0" bIns="0" anchor="t"/>
          <a:lstStyle>
            <a:defPPr>
              <a:defRPr sz="2025" b="0">
                <a:solidFill>
                  <a:srgbClr val="202C33"/>
                </a:solidFill>
                <a:latin typeface="Calibri"/>
                <a:ea typeface="Calibri"/>
                <a:cs typeface="Calibri"/>
              </a:defRPr>
            </a:defPPr>
            <a:lvl1pPr>
              <a:defRPr sz="2025" b="0">
                <a:solidFill>
                  <a:srgbClr val="202C33"/>
                </a:solidFill>
                <a:latin typeface="Calibri"/>
                <a:ea typeface="Calibri"/>
                <a:cs typeface="Calibri"/>
              </a:defRPr>
            </a:lvl1pPr>
            <a:lvl2pPr>
              <a:defRPr sz="2025" b="0">
                <a:solidFill>
                  <a:srgbClr val="202C33"/>
                </a:solidFill>
                <a:latin typeface="Calibri"/>
                <a:ea typeface="Calibri"/>
                <a:cs typeface="Calibri"/>
              </a:defRPr>
            </a:lvl2pPr>
            <a:lvl3pPr>
              <a:defRPr sz="2025" b="0">
                <a:solidFill>
                  <a:srgbClr val="202C33"/>
                </a:solidFill>
                <a:latin typeface="Calibri"/>
                <a:ea typeface="Calibri"/>
                <a:cs typeface="Calibri"/>
              </a:defRPr>
            </a:lvl3pPr>
            <a:lvl4pPr>
              <a:defRPr sz="2025" b="0">
                <a:solidFill>
                  <a:srgbClr val="202C33"/>
                </a:solidFill>
                <a:latin typeface="Calibri"/>
                <a:ea typeface="Calibri"/>
                <a:cs typeface="Calibri"/>
              </a:defRPr>
            </a:lvl4pPr>
            <a:lvl5pPr>
              <a:defRPr sz="2025" b="0">
                <a:solidFill>
                  <a:srgbClr val="202C33"/>
                </a:solidFill>
                <a:latin typeface="Calibri"/>
                <a:ea typeface="Calibri"/>
                <a:cs typeface="Calibri"/>
              </a:defRPr>
            </a:lvl5pPr>
            <a:lvl6pPr>
              <a:defRPr sz="2025" b="0">
                <a:solidFill>
                  <a:srgbClr val="202C33"/>
                </a:solidFill>
                <a:latin typeface="Calibri"/>
                <a:ea typeface="Calibri"/>
                <a:cs typeface="Calibri"/>
              </a:defRPr>
            </a:lvl6pPr>
            <a:lvl7pPr>
              <a:defRPr sz="2025" b="0">
                <a:solidFill>
                  <a:srgbClr val="202C33"/>
                </a:solidFill>
                <a:latin typeface="Calibri"/>
                <a:ea typeface="Calibri"/>
                <a:cs typeface="Calibri"/>
              </a:defRPr>
            </a:lvl7pPr>
            <a:lvl8pPr>
              <a:defRPr sz="2025" b="0">
                <a:solidFill>
                  <a:srgbClr val="202C33"/>
                </a:solidFill>
                <a:latin typeface="Calibri"/>
                <a:ea typeface="Calibri"/>
                <a:cs typeface="Calibri"/>
              </a:defRPr>
            </a:lvl8pPr>
            <a:lvl9pPr>
              <a:defRPr sz="2025" b="0">
                <a:solidFill>
                  <a:srgbClr val="202C33"/>
                </a:solidFill>
                <a:latin typeface="Calibri"/>
                <a:ea typeface="Calibri"/>
                <a:cs typeface="Calibri"/>
              </a:defRPr>
            </a:lvl9pPr>
          </a:lstStyle>
          <a:p>
            <a:pPr>
              <a:defRPr sz="2025" b="0">
                <a:solidFill>
                  <a:srgbClr val="202C33"/>
                </a:solidFill>
                <a:latin typeface="Calibri"/>
                <a:ea typeface="Calibri"/>
                <a:cs typeface="Calibri"/>
              </a:defRPr>
            </a:pPr>
            <a:r>
              <a:rPr sz="1519" b="0">
                <a:solidFill>
                  <a:srgbClr val="202C33"/>
                </a:solidFill>
                <a:latin typeface="Calibri"/>
                <a:ea typeface="Calibri"/>
                <a:cs typeface="Calibri"/>
              </a:rPr>
              <a:t>Unloaded length offset</a:t>
            </a:r>
          </a:p>
        </p:txBody>
      </p:sp>
      <p:sp>
        <p:nvSpPr>
          <p:cNvPr id="16" name="Rectangle 15">
            <a:extLst>
              <a:ext uri="{FF2B5EF4-FFF2-40B4-BE49-F238E27FC236}">
                <a16:creationId xmlns:a16="http://schemas.microsoft.com/office/drawing/2014/main" id="{9C2E6D6B-FB5B-0076-CC8C-5E0A004D7CDC}"/>
              </a:ext>
            </a:extLst>
          </p:cNvPr>
          <p:cNvSpPr>
            <a:spLocks noGrp="1"/>
          </p:cNvSpPr>
          <p:nvPr/>
        </p:nvSpPr>
        <p:spPr>
          <a:xfrm>
            <a:off x="3071813" y="3786188"/>
            <a:ext cx="2536031" cy="321469"/>
          </a:xfrm>
          <a:prstGeom prst="rect">
            <a:avLst/>
          </a:prstGeom>
          <a:noFill/>
          <a:ln w="0">
            <a:noFill/>
          </a:ln>
        </p:spPr>
        <p:txBody>
          <a:bodyPr lIns="0" tIns="0" rIns="0" bIns="0" anchor="t"/>
          <a:lstStyle>
            <a:defPPr>
              <a:defRPr sz="2700" b="1">
                <a:solidFill>
                  <a:srgbClr val="006D77"/>
                </a:solidFill>
                <a:latin typeface="Calibri"/>
                <a:ea typeface="Calibri"/>
                <a:cs typeface="Calibri"/>
              </a:defRPr>
            </a:defPPr>
            <a:lvl1pPr>
              <a:defRPr sz="2700" b="1">
                <a:solidFill>
                  <a:srgbClr val="006D77"/>
                </a:solidFill>
                <a:latin typeface="Calibri"/>
                <a:ea typeface="Calibri"/>
                <a:cs typeface="Calibri"/>
              </a:defRPr>
            </a:lvl1pPr>
            <a:lvl2pPr>
              <a:defRPr sz="2700" b="1">
                <a:solidFill>
                  <a:srgbClr val="006D77"/>
                </a:solidFill>
                <a:latin typeface="Calibri"/>
                <a:ea typeface="Calibri"/>
                <a:cs typeface="Calibri"/>
              </a:defRPr>
            </a:lvl2pPr>
            <a:lvl3pPr>
              <a:defRPr sz="2700" b="1">
                <a:solidFill>
                  <a:srgbClr val="006D77"/>
                </a:solidFill>
                <a:latin typeface="Calibri"/>
                <a:ea typeface="Calibri"/>
                <a:cs typeface="Calibri"/>
              </a:defRPr>
            </a:lvl3pPr>
            <a:lvl4pPr>
              <a:defRPr sz="2700" b="1">
                <a:solidFill>
                  <a:srgbClr val="006D77"/>
                </a:solidFill>
                <a:latin typeface="Calibri"/>
                <a:ea typeface="Calibri"/>
                <a:cs typeface="Calibri"/>
              </a:defRPr>
            </a:lvl4pPr>
            <a:lvl5pPr>
              <a:defRPr sz="2700" b="1">
                <a:solidFill>
                  <a:srgbClr val="006D77"/>
                </a:solidFill>
                <a:latin typeface="Calibri"/>
                <a:ea typeface="Calibri"/>
                <a:cs typeface="Calibri"/>
              </a:defRPr>
            </a:lvl5pPr>
            <a:lvl6pPr>
              <a:defRPr sz="2700" b="1">
                <a:solidFill>
                  <a:srgbClr val="006D77"/>
                </a:solidFill>
                <a:latin typeface="Calibri"/>
                <a:ea typeface="Calibri"/>
                <a:cs typeface="Calibri"/>
              </a:defRPr>
            </a:lvl6pPr>
            <a:lvl7pPr>
              <a:defRPr sz="2700" b="1">
                <a:solidFill>
                  <a:srgbClr val="006D77"/>
                </a:solidFill>
                <a:latin typeface="Calibri"/>
                <a:ea typeface="Calibri"/>
                <a:cs typeface="Calibri"/>
              </a:defRPr>
            </a:lvl7pPr>
            <a:lvl8pPr>
              <a:defRPr sz="2700" b="1">
                <a:solidFill>
                  <a:srgbClr val="006D77"/>
                </a:solidFill>
                <a:latin typeface="Calibri"/>
                <a:ea typeface="Calibri"/>
                <a:cs typeface="Calibri"/>
              </a:defRPr>
            </a:lvl8pPr>
            <a:lvl9pPr>
              <a:defRPr sz="2700" b="1">
                <a:solidFill>
                  <a:srgbClr val="006D77"/>
                </a:solidFill>
                <a:latin typeface="Calibri"/>
                <a:ea typeface="Calibri"/>
                <a:cs typeface="Calibri"/>
              </a:defRPr>
            </a:lvl9pPr>
          </a:lstStyle>
          <a:p>
            <a:pPr>
              <a:defRPr sz="2700" b="1">
                <a:solidFill>
                  <a:srgbClr val="006D77"/>
                </a:solidFill>
                <a:latin typeface="Calibri"/>
                <a:ea typeface="Calibri"/>
                <a:cs typeface="Calibri"/>
              </a:defRPr>
            </a:pPr>
            <a:r>
              <a:rPr sz="2025" b="1">
                <a:solidFill>
                  <a:srgbClr val="006D77"/>
                </a:solidFill>
                <a:latin typeface="Calibri"/>
                <a:ea typeface="Calibri"/>
                <a:cs typeface="Calibri"/>
              </a:rPr>
              <a:t>χ₁, χ₂</a:t>
            </a:r>
          </a:p>
        </p:txBody>
      </p:sp>
      <p:sp>
        <p:nvSpPr>
          <p:cNvPr id="17" name="Rectangle 16">
            <a:extLst>
              <a:ext uri="{FF2B5EF4-FFF2-40B4-BE49-F238E27FC236}">
                <a16:creationId xmlns:a16="http://schemas.microsoft.com/office/drawing/2014/main" id="{B2BB59D2-6E1D-22DB-A478-EF509320DA30}"/>
              </a:ext>
            </a:extLst>
          </p:cNvPr>
          <p:cNvSpPr>
            <a:spLocks noGrp="1"/>
          </p:cNvSpPr>
          <p:nvPr/>
        </p:nvSpPr>
        <p:spPr>
          <a:xfrm>
            <a:off x="3071813" y="4107656"/>
            <a:ext cx="2536031" cy="392906"/>
          </a:xfrm>
          <a:prstGeom prst="rect">
            <a:avLst/>
          </a:prstGeom>
          <a:noFill/>
          <a:ln w="0">
            <a:noFill/>
          </a:ln>
        </p:spPr>
        <p:txBody>
          <a:bodyPr lIns="0" tIns="0" rIns="0" bIns="0" anchor="t"/>
          <a:lstStyle>
            <a:defPPr>
              <a:defRPr sz="2025" b="0">
                <a:solidFill>
                  <a:srgbClr val="202C33"/>
                </a:solidFill>
                <a:latin typeface="Calibri"/>
                <a:ea typeface="Calibri"/>
                <a:cs typeface="Calibri"/>
              </a:defRPr>
            </a:defPPr>
            <a:lvl1pPr>
              <a:defRPr sz="2025" b="0">
                <a:solidFill>
                  <a:srgbClr val="202C33"/>
                </a:solidFill>
                <a:latin typeface="Calibri"/>
                <a:ea typeface="Calibri"/>
                <a:cs typeface="Calibri"/>
              </a:defRPr>
            </a:lvl1pPr>
            <a:lvl2pPr>
              <a:defRPr sz="2025" b="0">
                <a:solidFill>
                  <a:srgbClr val="202C33"/>
                </a:solidFill>
                <a:latin typeface="Calibri"/>
                <a:ea typeface="Calibri"/>
                <a:cs typeface="Calibri"/>
              </a:defRPr>
            </a:lvl2pPr>
            <a:lvl3pPr>
              <a:defRPr sz="2025" b="0">
                <a:solidFill>
                  <a:srgbClr val="202C33"/>
                </a:solidFill>
                <a:latin typeface="Calibri"/>
                <a:ea typeface="Calibri"/>
                <a:cs typeface="Calibri"/>
              </a:defRPr>
            </a:lvl3pPr>
            <a:lvl4pPr>
              <a:defRPr sz="2025" b="0">
                <a:solidFill>
                  <a:srgbClr val="202C33"/>
                </a:solidFill>
                <a:latin typeface="Calibri"/>
                <a:ea typeface="Calibri"/>
                <a:cs typeface="Calibri"/>
              </a:defRPr>
            </a:lvl4pPr>
            <a:lvl5pPr>
              <a:defRPr sz="2025" b="0">
                <a:solidFill>
                  <a:srgbClr val="202C33"/>
                </a:solidFill>
                <a:latin typeface="Calibri"/>
                <a:ea typeface="Calibri"/>
                <a:cs typeface="Calibri"/>
              </a:defRPr>
            </a:lvl5pPr>
            <a:lvl6pPr>
              <a:defRPr sz="2025" b="0">
                <a:solidFill>
                  <a:srgbClr val="202C33"/>
                </a:solidFill>
                <a:latin typeface="Calibri"/>
                <a:ea typeface="Calibri"/>
                <a:cs typeface="Calibri"/>
              </a:defRPr>
            </a:lvl6pPr>
            <a:lvl7pPr>
              <a:defRPr sz="2025" b="0">
                <a:solidFill>
                  <a:srgbClr val="202C33"/>
                </a:solidFill>
                <a:latin typeface="Calibri"/>
                <a:ea typeface="Calibri"/>
                <a:cs typeface="Calibri"/>
              </a:defRPr>
            </a:lvl7pPr>
            <a:lvl8pPr>
              <a:defRPr sz="2025" b="0">
                <a:solidFill>
                  <a:srgbClr val="202C33"/>
                </a:solidFill>
                <a:latin typeface="Calibri"/>
                <a:ea typeface="Calibri"/>
                <a:cs typeface="Calibri"/>
              </a:defRPr>
            </a:lvl8pPr>
            <a:lvl9pPr>
              <a:defRPr sz="2025" b="0">
                <a:solidFill>
                  <a:srgbClr val="202C33"/>
                </a:solidFill>
                <a:latin typeface="Calibri"/>
                <a:ea typeface="Calibri"/>
                <a:cs typeface="Calibri"/>
              </a:defRPr>
            </a:lvl9pPr>
          </a:lstStyle>
          <a:p>
            <a:pPr>
              <a:defRPr sz="2025" b="0">
                <a:solidFill>
                  <a:srgbClr val="202C33"/>
                </a:solidFill>
                <a:latin typeface="Calibri"/>
                <a:ea typeface="Calibri"/>
                <a:cs typeface="Calibri"/>
              </a:defRPr>
            </a:pPr>
            <a:r>
              <a:rPr sz="1519" b="0">
                <a:solidFill>
                  <a:srgbClr val="202C33"/>
                </a:solidFill>
                <a:latin typeface="Calibri"/>
                <a:ea typeface="Calibri"/>
                <a:cs typeface="Calibri"/>
              </a:rPr>
              <a:t>Effective system stiffness</a:t>
            </a:r>
          </a:p>
        </p:txBody>
      </p:sp>
      <p:sp>
        <p:nvSpPr>
          <p:cNvPr id="18" name="Rectangle 17">
            <a:extLst>
              <a:ext uri="{FF2B5EF4-FFF2-40B4-BE49-F238E27FC236}">
                <a16:creationId xmlns:a16="http://schemas.microsoft.com/office/drawing/2014/main" id="{771E1B22-97FD-AAD8-3CF1-78A5B259FEA0}"/>
              </a:ext>
            </a:extLst>
          </p:cNvPr>
          <p:cNvSpPr>
            <a:spLocks noGrp="1"/>
          </p:cNvSpPr>
          <p:nvPr/>
        </p:nvSpPr>
        <p:spPr>
          <a:xfrm>
            <a:off x="6072189" y="3786188"/>
            <a:ext cx="2500313" cy="321469"/>
          </a:xfrm>
          <a:prstGeom prst="rect">
            <a:avLst/>
          </a:prstGeom>
          <a:noFill/>
          <a:ln w="0">
            <a:noFill/>
          </a:ln>
        </p:spPr>
        <p:txBody>
          <a:bodyPr lIns="0" tIns="0" rIns="0" bIns="0" anchor="t"/>
          <a:lstStyle>
            <a:defPPr>
              <a:defRPr sz="2700" b="1">
                <a:solidFill>
                  <a:srgbClr val="006D77"/>
                </a:solidFill>
                <a:latin typeface="Calibri"/>
                <a:ea typeface="Calibri"/>
                <a:cs typeface="Calibri"/>
              </a:defRPr>
            </a:defPPr>
            <a:lvl1pPr>
              <a:defRPr sz="2700" b="1">
                <a:solidFill>
                  <a:srgbClr val="006D77"/>
                </a:solidFill>
                <a:latin typeface="Calibri"/>
                <a:ea typeface="Calibri"/>
                <a:cs typeface="Calibri"/>
              </a:defRPr>
            </a:lvl1pPr>
            <a:lvl2pPr>
              <a:defRPr sz="2700" b="1">
                <a:solidFill>
                  <a:srgbClr val="006D77"/>
                </a:solidFill>
                <a:latin typeface="Calibri"/>
                <a:ea typeface="Calibri"/>
                <a:cs typeface="Calibri"/>
              </a:defRPr>
            </a:lvl2pPr>
            <a:lvl3pPr>
              <a:defRPr sz="2700" b="1">
                <a:solidFill>
                  <a:srgbClr val="006D77"/>
                </a:solidFill>
                <a:latin typeface="Calibri"/>
                <a:ea typeface="Calibri"/>
                <a:cs typeface="Calibri"/>
              </a:defRPr>
            </a:lvl3pPr>
            <a:lvl4pPr>
              <a:defRPr sz="2700" b="1">
                <a:solidFill>
                  <a:srgbClr val="006D77"/>
                </a:solidFill>
                <a:latin typeface="Calibri"/>
                <a:ea typeface="Calibri"/>
                <a:cs typeface="Calibri"/>
              </a:defRPr>
            </a:lvl4pPr>
            <a:lvl5pPr>
              <a:defRPr sz="2700" b="1">
                <a:solidFill>
                  <a:srgbClr val="006D77"/>
                </a:solidFill>
                <a:latin typeface="Calibri"/>
                <a:ea typeface="Calibri"/>
                <a:cs typeface="Calibri"/>
              </a:defRPr>
            </a:lvl5pPr>
            <a:lvl6pPr>
              <a:defRPr sz="2700" b="1">
                <a:solidFill>
                  <a:srgbClr val="006D77"/>
                </a:solidFill>
                <a:latin typeface="Calibri"/>
                <a:ea typeface="Calibri"/>
                <a:cs typeface="Calibri"/>
              </a:defRPr>
            </a:lvl6pPr>
            <a:lvl7pPr>
              <a:defRPr sz="2700" b="1">
                <a:solidFill>
                  <a:srgbClr val="006D77"/>
                </a:solidFill>
                <a:latin typeface="Calibri"/>
                <a:ea typeface="Calibri"/>
                <a:cs typeface="Calibri"/>
              </a:defRPr>
            </a:lvl7pPr>
            <a:lvl8pPr>
              <a:defRPr sz="2700" b="1">
                <a:solidFill>
                  <a:srgbClr val="006D77"/>
                </a:solidFill>
                <a:latin typeface="Calibri"/>
                <a:ea typeface="Calibri"/>
                <a:cs typeface="Calibri"/>
              </a:defRPr>
            </a:lvl8pPr>
            <a:lvl9pPr>
              <a:defRPr sz="2700" b="1">
                <a:solidFill>
                  <a:srgbClr val="006D77"/>
                </a:solidFill>
                <a:latin typeface="Calibri"/>
                <a:ea typeface="Calibri"/>
                <a:cs typeface="Calibri"/>
              </a:defRPr>
            </a:lvl9pPr>
          </a:lstStyle>
          <a:p>
            <a:pPr>
              <a:defRPr sz="2700" b="1">
                <a:solidFill>
                  <a:srgbClr val="006D77"/>
                </a:solidFill>
                <a:latin typeface="Calibri"/>
                <a:ea typeface="Calibri"/>
                <a:cs typeface="Calibri"/>
              </a:defRPr>
            </a:pPr>
            <a:r>
              <a:rPr sz="2025" b="1">
                <a:solidFill>
                  <a:srgbClr val="006D77"/>
                </a:solidFill>
                <a:latin typeface="Calibri"/>
                <a:ea typeface="Calibri"/>
                <a:cs typeface="Calibri"/>
              </a:rPr>
              <a:t>χ₃</a:t>
            </a:r>
          </a:p>
        </p:txBody>
      </p:sp>
      <p:sp>
        <p:nvSpPr>
          <p:cNvPr id="19" name="Rectangle 18">
            <a:extLst>
              <a:ext uri="{FF2B5EF4-FFF2-40B4-BE49-F238E27FC236}">
                <a16:creationId xmlns:a16="http://schemas.microsoft.com/office/drawing/2014/main" id="{5CA2C65D-6BC7-84DE-825C-7F30F3D9B0B5}"/>
              </a:ext>
            </a:extLst>
          </p:cNvPr>
          <p:cNvSpPr>
            <a:spLocks noGrp="1"/>
          </p:cNvSpPr>
          <p:nvPr/>
        </p:nvSpPr>
        <p:spPr>
          <a:xfrm>
            <a:off x="6072189" y="4107656"/>
            <a:ext cx="2500313" cy="392906"/>
          </a:xfrm>
          <a:prstGeom prst="rect">
            <a:avLst/>
          </a:prstGeom>
          <a:noFill/>
          <a:ln w="0">
            <a:noFill/>
          </a:ln>
        </p:spPr>
        <p:txBody>
          <a:bodyPr lIns="0" tIns="0" rIns="0" bIns="0" anchor="t"/>
          <a:lstStyle>
            <a:defPPr>
              <a:defRPr sz="2025" b="0">
                <a:solidFill>
                  <a:srgbClr val="202C33"/>
                </a:solidFill>
                <a:latin typeface="Calibri"/>
                <a:ea typeface="Calibri"/>
                <a:cs typeface="Calibri"/>
              </a:defRPr>
            </a:defPPr>
            <a:lvl1pPr>
              <a:defRPr sz="2025" b="0">
                <a:solidFill>
                  <a:srgbClr val="202C33"/>
                </a:solidFill>
                <a:latin typeface="Calibri"/>
                <a:ea typeface="Calibri"/>
                <a:cs typeface="Calibri"/>
              </a:defRPr>
            </a:lvl1pPr>
            <a:lvl2pPr>
              <a:defRPr sz="2025" b="0">
                <a:solidFill>
                  <a:srgbClr val="202C33"/>
                </a:solidFill>
                <a:latin typeface="Calibri"/>
                <a:ea typeface="Calibri"/>
                <a:cs typeface="Calibri"/>
              </a:defRPr>
            </a:lvl2pPr>
            <a:lvl3pPr>
              <a:defRPr sz="2025" b="0">
                <a:solidFill>
                  <a:srgbClr val="202C33"/>
                </a:solidFill>
                <a:latin typeface="Calibri"/>
                <a:ea typeface="Calibri"/>
                <a:cs typeface="Calibri"/>
              </a:defRPr>
            </a:lvl3pPr>
            <a:lvl4pPr>
              <a:defRPr sz="2025" b="0">
                <a:solidFill>
                  <a:srgbClr val="202C33"/>
                </a:solidFill>
                <a:latin typeface="Calibri"/>
                <a:ea typeface="Calibri"/>
                <a:cs typeface="Calibri"/>
              </a:defRPr>
            </a:lvl4pPr>
            <a:lvl5pPr>
              <a:defRPr sz="2025" b="0">
                <a:solidFill>
                  <a:srgbClr val="202C33"/>
                </a:solidFill>
                <a:latin typeface="Calibri"/>
                <a:ea typeface="Calibri"/>
                <a:cs typeface="Calibri"/>
              </a:defRPr>
            </a:lvl5pPr>
            <a:lvl6pPr>
              <a:defRPr sz="2025" b="0">
                <a:solidFill>
                  <a:srgbClr val="202C33"/>
                </a:solidFill>
                <a:latin typeface="Calibri"/>
                <a:ea typeface="Calibri"/>
                <a:cs typeface="Calibri"/>
              </a:defRPr>
            </a:lvl6pPr>
            <a:lvl7pPr>
              <a:defRPr sz="2025" b="0">
                <a:solidFill>
                  <a:srgbClr val="202C33"/>
                </a:solidFill>
                <a:latin typeface="Calibri"/>
                <a:ea typeface="Calibri"/>
                <a:cs typeface="Calibri"/>
              </a:defRPr>
            </a:lvl7pPr>
            <a:lvl8pPr>
              <a:defRPr sz="2025" b="0">
                <a:solidFill>
                  <a:srgbClr val="202C33"/>
                </a:solidFill>
                <a:latin typeface="Calibri"/>
                <a:ea typeface="Calibri"/>
                <a:cs typeface="Calibri"/>
              </a:defRPr>
            </a:lvl8pPr>
            <a:lvl9pPr>
              <a:defRPr sz="2025" b="0">
                <a:solidFill>
                  <a:srgbClr val="202C33"/>
                </a:solidFill>
                <a:latin typeface="Calibri"/>
                <a:ea typeface="Calibri"/>
                <a:cs typeface="Calibri"/>
              </a:defRPr>
            </a:lvl9pPr>
          </a:lstStyle>
          <a:p>
            <a:pPr>
              <a:defRPr sz="2025" b="0">
                <a:solidFill>
                  <a:srgbClr val="202C33"/>
                </a:solidFill>
                <a:latin typeface="Calibri"/>
                <a:ea typeface="Calibri"/>
                <a:cs typeface="Calibri"/>
              </a:defRPr>
            </a:pPr>
            <a:r>
              <a:rPr sz="1519" b="0">
                <a:solidFill>
                  <a:srgbClr val="202C33"/>
                </a:solidFill>
                <a:latin typeface="Calibri"/>
                <a:ea typeface="Calibri"/>
                <a:cs typeface="Calibri"/>
              </a:rPr>
              <a:t>Wrapping length loss</a:t>
            </a:r>
          </a:p>
        </p:txBody>
      </p:sp>
      <p:sp>
        <p:nvSpPr>
          <p:cNvPr id="20" name="TextBox 19">
            <a:extLst>
              <a:ext uri="{FF2B5EF4-FFF2-40B4-BE49-F238E27FC236}">
                <a16:creationId xmlns:a16="http://schemas.microsoft.com/office/drawing/2014/main" id="{3C474280-20C8-9815-9A3F-E439E202DDF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9</a:t>
            </a:r>
          </a:p>
        </p:txBody>
      </p:sp>
    </p:spTree>
    <p:extLst>
      <p:ext uri="{BB962C8B-B14F-4D97-AF65-F5344CB8AC3E}">
        <p14:creationId xmlns:p14="http://schemas.microsoft.com/office/powerpoint/2010/main" val="3740852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97B1583-5362-F650-0E41-EA4673D3AE1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Design corrections reduce error on held-out knee tests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B9C6123F-0943-512C-FCE0-64D4899D2FB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82088F97-A72D-121B-962A-9D8966B2B856}"/>
              </a:ext>
            </a:extLst>
          </p:cNvPr>
          <p:cNvPicPr>
            <a:picLocks/>
          </p:cNvPicPr>
          <p:nvPr/>
        </p:nvPicPr>
        <p:blipFill>
          <a:blip r:embed="rId3"/>
          <a:stretch/>
        </p:blipFill>
        <p:spPr>
          <a:xfrm>
            <a:off x="990346" y="1464470"/>
            <a:ext cx="2948496" cy="2751930"/>
          </a:xfrm>
          <a:prstGeom prst="rect">
            <a:avLst/>
          </a:prstGeom>
        </p:spPr>
      </p:pic>
      <p:pic>
        <p:nvPicPr>
          <p:cNvPr id="5" name="Picture 4">
            <a:extLst>
              <a:ext uri="{FF2B5EF4-FFF2-40B4-BE49-F238E27FC236}">
                <a16:creationId xmlns:a16="http://schemas.microsoft.com/office/drawing/2014/main" id="{D9667095-63D2-4852-A87D-01806F858040}"/>
              </a:ext>
            </a:extLst>
          </p:cNvPr>
          <p:cNvPicPr>
            <a:picLocks/>
          </p:cNvPicPr>
          <p:nvPr/>
        </p:nvPicPr>
        <p:blipFill>
          <a:blip r:embed="rId4"/>
          <a:stretch/>
        </p:blipFill>
        <p:spPr>
          <a:xfrm>
            <a:off x="5023153" y="1464470"/>
            <a:ext cx="3169633" cy="2751930"/>
          </a:xfrm>
          <a:prstGeom prst="rect">
            <a:avLst/>
          </a:prstGeom>
        </p:spPr>
      </p:pic>
      <p:sp>
        <p:nvSpPr>
          <p:cNvPr id="6" name="Rectangle 5">
            <a:extLst>
              <a:ext uri="{FF2B5EF4-FFF2-40B4-BE49-F238E27FC236}">
                <a16:creationId xmlns:a16="http://schemas.microsoft.com/office/drawing/2014/main" id="{6EFEA9B4-C8B2-2D24-96B8-E2AA6B70BD0D}"/>
              </a:ext>
            </a:extLst>
          </p:cNvPr>
          <p:cNvSpPr>
            <a:spLocks noGrp="1"/>
          </p:cNvSpPr>
          <p:nvPr/>
        </p:nvSpPr>
        <p:spPr>
          <a:xfrm>
            <a:off x="428626" y="1228725"/>
            <a:ext cx="2143125" cy="250031"/>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Torque, N m</a:t>
            </a:r>
          </a:p>
        </p:txBody>
      </p:sp>
      <p:sp>
        <p:nvSpPr>
          <p:cNvPr id="7" name="Rectangle 6">
            <a:extLst>
              <a:ext uri="{FF2B5EF4-FFF2-40B4-BE49-F238E27FC236}">
                <a16:creationId xmlns:a16="http://schemas.microsoft.com/office/drawing/2014/main" id="{FF5B649C-85D7-12FA-B5D5-2C116EA84778}"/>
              </a:ext>
            </a:extLst>
          </p:cNvPr>
          <p:cNvSpPr>
            <a:spLocks noGrp="1"/>
          </p:cNvSpPr>
          <p:nvPr/>
        </p:nvSpPr>
        <p:spPr>
          <a:xfrm>
            <a:off x="571501"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(C)</a:t>
            </a:r>
          </a:p>
        </p:txBody>
      </p:sp>
      <p:sp>
        <p:nvSpPr>
          <p:cNvPr id="8" name="Rectangle 7">
            <a:extLst>
              <a:ext uri="{FF2B5EF4-FFF2-40B4-BE49-F238E27FC236}">
                <a16:creationId xmlns:a16="http://schemas.microsoft.com/office/drawing/2014/main" id="{5A66BEC6-AEF0-4F10-DE65-4C03A647C731}"/>
              </a:ext>
            </a:extLst>
          </p:cNvPr>
          <p:cNvSpPr>
            <a:spLocks noGrp="1"/>
          </p:cNvSpPr>
          <p:nvPr/>
        </p:nvSpPr>
        <p:spPr>
          <a:xfrm>
            <a:off x="4643439" y="1464469"/>
            <a:ext cx="428625" cy="285750"/>
          </a:xfrm>
          <a:prstGeom prst="rect">
            <a:avLst/>
          </a:prstGeom>
          <a:noFill/>
          <a:ln w="0">
            <a:noFill/>
          </a:ln>
        </p:spPr>
        <p:txBody>
          <a:bodyPr lIns="0" tIns="0" rIns="0" bIns="0" anchor="t"/>
          <a:lstStyle>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a:pPr>
              <a:defRPr sz="1800" b="1">
                <a:solidFill>
                  <a:srgbClr val="202C33"/>
                </a:solidFill>
                <a:latin typeface="Calibri"/>
                <a:ea typeface="Calibri"/>
                <a:cs typeface="Calibri"/>
              </a:defRPr>
            </a:pPr>
            <a:r>
              <a:rPr sz="1350" b="1">
                <a:solidFill>
                  <a:srgbClr val="202C33"/>
                </a:solidFill>
                <a:latin typeface="Calibri"/>
                <a:ea typeface="Calibri"/>
                <a:cs typeface="Calibri"/>
              </a:rPr>
              <a:t>(D)</a:t>
            </a:r>
          </a:p>
        </p:txBody>
      </p:sp>
      <p:sp>
        <p:nvSpPr>
          <p:cNvPr id="9" name="Rectangle 8">
            <a:extLst>
              <a:ext uri="{FF2B5EF4-FFF2-40B4-BE49-F238E27FC236}">
                <a16:creationId xmlns:a16="http://schemas.microsoft.com/office/drawing/2014/main" id="{3DAAC364-AE04-C053-E187-9C5B9ABE3A34}"/>
              </a:ext>
            </a:extLst>
          </p:cNvPr>
          <p:cNvSpPr>
            <a:spLocks noGrp="1"/>
          </p:cNvSpPr>
          <p:nvPr/>
        </p:nvSpPr>
        <p:spPr>
          <a:xfrm>
            <a:off x="3393281" y="4140200"/>
            <a:ext cx="2857500" cy="152400"/>
          </a:xfrm>
          <a:prstGeom prst="rect">
            <a:avLst/>
          </a:prstGeom>
          <a:noFill/>
          <a:ln w="0">
            <a:noFill/>
          </a:ln>
        </p:spPr>
        <p:txBody>
          <a:bodyPr lIns="0" tIns="0" rIns="0" bIns="0" anchor="t"/>
          <a:lstStyle>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a:pPr>
              <a:defRPr sz="1800" b="0">
                <a:solidFill>
                  <a:srgbClr val="202C33"/>
                </a:solidFill>
                <a:latin typeface="Calibri"/>
                <a:ea typeface="Calibri"/>
                <a:cs typeface="Calibri"/>
              </a:defRPr>
            </a:pPr>
            <a:r>
              <a:rPr sz="1000" b="0">
                <a:solidFill>
                  <a:srgbClr val="202C33"/>
                </a:solidFill>
                <a:latin typeface="Calibri"/>
                <a:ea typeface="Calibri"/>
                <a:cs typeface="Calibri"/>
              </a:rPr>
              <a:t>Knee angle, deg</a:t>
            </a:r>
          </a:p>
        </p:txBody>
      </p:sp>
      <p:sp>
        <p:nvSpPr>
          <p:cNvPr id="10" name="Rectangle 9">
            <a:extLst>
              <a:ext uri="{FF2B5EF4-FFF2-40B4-BE49-F238E27FC236}">
                <a16:creationId xmlns:a16="http://schemas.microsoft.com/office/drawing/2014/main" id="{FF54B4BB-D904-23B0-7810-4AF77312381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Held-out mean RMSE: 7.588 to 1.490 N m</a:t>
            </a:r>
          </a:p>
        </p:txBody>
      </p:sp>
      <p:sp>
        <p:nvSpPr>
          <p:cNvPr id="11" name="TextBox 10">
            <a:extLst>
              <a:ext uri="{FF2B5EF4-FFF2-40B4-BE49-F238E27FC236}">
                <a16:creationId xmlns:a16="http://schemas.microsoft.com/office/drawing/2014/main" id="{D3497FF0-FC15-E48D-0941-6A91D5D620B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10</a:t>
            </a:r>
          </a:p>
        </p:txBody>
      </p:sp>
    </p:spTree>
    <p:extLst>
      <p:ext uri="{BB962C8B-B14F-4D97-AF65-F5344CB8AC3E}">
        <p14:creationId xmlns:p14="http://schemas.microsoft.com/office/powerpoint/2010/main" val="1535880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3F2AA6E-AA0E-AB3A-A264-03458B30A8F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corrected model predicts a cam route with torque headroom</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1D485140-F707-55A7-3FAD-1967D0B9983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44A12F39-AEAF-000F-D308-2B97270DA923}"/>
              </a:ext>
            </a:extLst>
          </p:cNvPr>
          <p:cNvPicPr>
            <a:picLocks/>
          </p:cNvPicPr>
          <p:nvPr/>
        </p:nvPicPr>
        <p:blipFill>
          <a:blip r:embed="rId3"/>
          <a:stretch/>
        </p:blipFill>
        <p:spPr>
          <a:xfrm>
            <a:off x="2546199" y="1143001"/>
            <a:ext cx="4051601" cy="3000375"/>
          </a:xfrm>
          <a:prstGeom prst="rect">
            <a:avLst/>
          </a:prstGeom>
        </p:spPr>
      </p:pic>
      <p:sp>
        <p:nvSpPr>
          <p:cNvPr id="5" name="Rectangle 4">
            <a:extLst>
              <a:ext uri="{FF2B5EF4-FFF2-40B4-BE49-F238E27FC236}">
                <a16:creationId xmlns:a16="http://schemas.microsoft.com/office/drawing/2014/main" id="{6C1312F7-C8F3-C93A-6E9A-25925FAF2A2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+30.83% above required envelope · 269–507 kPa predicted pressure</a:t>
            </a:r>
          </a:p>
        </p:txBody>
      </p:sp>
      <p:sp>
        <p:nvSpPr>
          <p:cNvPr id="6" name="TextBox 5">
            <a:extLst>
              <a:ext uri="{FF2B5EF4-FFF2-40B4-BE49-F238E27FC236}">
                <a16:creationId xmlns:a16="http://schemas.microsoft.com/office/drawing/2014/main" id="{223FA60E-444E-4E01-6612-13949026216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11</a:t>
            </a:r>
          </a:p>
        </p:txBody>
      </p:sp>
    </p:spTree>
    <p:extLst>
      <p:ext uri="{BB962C8B-B14F-4D97-AF65-F5344CB8AC3E}">
        <p14:creationId xmlns:p14="http://schemas.microsoft.com/office/powerpoint/2010/main" val="3787815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43170C72-FBB7-A522-F07A-1D3D6EF54704}"/>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All nine cam-route measurements exceed the selected human target</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C1283DF3-DA3D-5B17-F79B-E348D293224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Physical extensor tests</a:t>
            </a:r>
          </a:p>
        </p:txBody>
      </p:sp>
      <p:pic>
        <p:nvPicPr>
          <p:cNvPr id="9" name="Picture 8">
            <a:extLst>
              <a:ext uri="{FF2B5EF4-FFF2-40B4-BE49-F238E27FC236}">
                <a16:creationId xmlns:a16="http://schemas.microsoft.com/office/drawing/2014/main" id="{FF01F3EE-B4CB-B8C9-E0CA-F177E963DF15}"/>
              </a:ext>
            </a:extLst>
          </p:cNvPr>
          <p:cNvPicPr>
            <a:picLocks/>
          </p:cNvPicPr>
          <p:nvPr/>
        </p:nvPicPr>
        <p:blipFill>
          <a:blip r:embed="rId3"/>
          <a:stretch/>
        </p:blipFill>
        <p:spPr>
          <a:xfrm>
            <a:off x="335168" y="1107281"/>
            <a:ext cx="1829979" cy="3250406"/>
          </a:xfrm>
          <a:prstGeom prst="rect">
            <a:avLst/>
          </a:prstGeom>
        </p:spPr>
      </p:pic>
      <p:pic>
        <p:nvPicPr>
          <p:cNvPr id="10" name="Picture 9">
            <a:extLst>
              <a:ext uri="{FF2B5EF4-FFF2-40B4-BE49-F238E27FC236}">
                <a16:creationId xmlns:a16="http://schemas.microsoft.com/office/drawing/2014/main" id="{827934F6-244B-03CE-ADFD-984285079442}"/>
              </a:ext>
            </a:extLst>
          </p:cNvPr>
          <p:cNvPicPr>
            <a:picLocks/>
          </p:cNvPicPr>
          <p:nvPr/>
        </p:nvPicPr>
        <p:blipFill>
          <a:blip r:embed="rId4"/>
          <a:stretch/>
        </p:blipFill>
        <p:spPr>
          <a:xfrm>
            <a:off x="3646516" y="1071564"/>
            <a:ext cx="4101248" cy="3286125"/>
          </a:xfrm>
          <a:prstGeom prst="rect">
            <a:avLst/>
          </a:prstGeom>
        </p:spPr>
      </p:pic>
      <p:sp>
        <p:nvSpPr>
          <p:cNvPr id="11" name="Rectangle 10">
            <a:extLst>
              <a:ext uri="{FF2B5EF4-FFF2-40B4-BE49-F238E27FC236}">
                <a16:creationId xmlns:a16="http://schemas.microsoft.com/office/drawing/2014/main" id="{07E8C45C-C3ED-7351-613B-3280F79EEE11}"/>
              </a:ext>
            </a:extLst>
          </p:cNvPr>
          <p:cNvSpPr>
            <a:spLocks noGrp="1"/>
          </p:cNvSpPr>
          <p:nvPr/>
        </p:nvSpPr>
        <p:spPr>
          <a:xfrm>
            <a:off x="321470" y="4343400"/>
            <a:ext cx="2428875" cy="250031"/>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Two 20 mm BPAs</a:t>
            </a:r>
          </a:p>
        </p:txBody>
      </p:sp>
      <p:sp>
        <p:nvSpPr>
          <p:cNvPr id="12" name="Rectangle 11">
            <a:extLst>
              <a:ext uri="{FF2B5EF4-FFF2-40B4-BE49-F238E27FC236}">
                <a16:creationId xmlns:a16="http://schemas.microsoft.com/office/drawing/2014/main" id="{2A564788-E107-1457-49EB-7231DC32B090}"/>
              </a:ext>
            </a:extLst>
          </p:cNvPr>
          <p:cNvSpPr>
            <a:spLocks noGrp="1"/>
          </p:cNvSpPr>
          <p:nvPr/>
        </p:nvSpPr>
        <p:spPr>
          <a:xfrm>
            <a:off x="4214813" y="4343400"/>
            <a:ext cx="4643438"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9 of 9 human targets met</a:t>
            </a:r>
          </a:p>
        </p:txBody>
      </p:sp>
      <p:sp>
        <p:nvSpPr>
          <p:cNvPr id="13" name="TextBox 12">
            <a:extLst>
              <a:ext uri="{FF2B5EF4-FFF2-40B4-BE49-F238E27FC236}">
                <a16:creationId xmlns:a16="http://schemas.microsoft.com/office/drawing/2014/main" id="{1F1AED54-3544-6488-B27E-E2EE278EBD0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12</a:t>
            </a:r>
          </a:p>
        </p:txBody>
      </p:sp>
    </p:spTree>
    <p:extLst>
      <p:ext uri="{BB962C8B-B14F-4D97-AF65-F5344CB8AC3E}">
        <p14:creationId xmlns:p14="http://schemas.microsoft.com/office/powerpoint/2010/main" val="2669483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0A1F3074-7449-F41A-8FAF-EC21C663FFB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All fifteen flexor measurements meet the human target</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EC2BB54-451D-4D84-9096-A083046D08F8}"/>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pic>
        <p:nvPicPr>
          <p:cNvPr id="4" name="Picture 3">
            <a:extLst>
              <a:ext uri="{FF2B5EF4-FFF2-40B4-BE49-F238E27FC236}">
                <a16:creationId xmlns:a16="http://schemas.microsoft.com/office/drawing/2014/main" id="{B878215B-7D91-B379-F493-639CCE35A4C3}"/>
              </a:ext>
            </a:extLst>
          </p:cNvPr>
          <p:cNvPicPr>
            <a:picLocks/>
          </p:cNvPicPr>
          <p:nvPr/>
        </p:nvPicPr>
        <p:blipFill>
          <a:blip r:embed="rId3"/>
          <a:stretch/>
        </p:blipFill>
        <p:spPr>
          <a:xfrm>
            <a:off x="2168495" y="1143001"/>
            <a:ext cx="4807010" cy="3000375"/>
          </a:xfrm>
          <a:prstGeom prst="rect">
            <a:avLst/>
          </a:prstGeom>
        </p:spPr>
      </p:pic>
      <p:sp>
        <p:nvSpPr>
          <p:cNvPr id="5" name="Rectangle 4">
            <a:extLst>
              <a:ext uri="{FF2B5EF4-FFF2-40B4-BE49-F238E27FC236}">
                <a16:creationId xmlns:a16="http://schemas.microsoft.com/office/drawing/2014/main" id="{AB6E593C-7E80-FFEC-A0C3-6934A7BF8FC5}"/>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15 of 15 targets met · 226.5–638 kPa · negative torque denotes flexion</a:t>
            </a:r>
          </a:p>
        </p:txBody>
      </p:sp>
      <p:sp>
        <p:nvSpPr>
          <p:cNvPr id="6" name="TextBox 5">
            <a:extLst>
              <a:ext uri="{FF2B5EF4-FFF2-40B4-BE49-F238E27FC236}">
                <a16:creationId xmlns:a16="http://schemas.microsoft.com/office/drawing/2014/main" id="{78BEFCBD-C001-0C1E-CDB2-F44886D3759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13</a:t>
            </a:r>
          </a:p>
        </p:txBody>
      </p:sp>
    </p:spTree>
    <p:extLst>
      <p:ext uri="{BB962C8B-B14F-4D97-AF65-F5344CB8AC3E}">
        <p14:creationId xmlns:p14="http://schemas.microsoft.com/office/powerpoint/2010/main" val="1006918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5" name="SADb offline walkthrough">
            <a:hlinkClick action="ppaction://media"/>
            <a:extLst>
              <a:ext uri="{FF2B5EF4-FFF2-40B4-BE49-F238E27FC236}">
                <a16:creationId xmlns:a16="http://schemas.microsoft.com/office/drawing/2014/main" id="{94CF42B2-94E1-21A2-26AF-C1B83ECE0BA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48458" y="1035844"/>
            <a:ext cx="6447087" cy="3250406"/>
          </a:xfrm>
          <a:prstGeom prst="rect">
            <a:avLst/>
          </a:prstGeom>
        </p:spPr>
      </p:pic>
      <p:sp>
        <p:nvSpPr>
          <p:cNvPr id="2" name="Rectangle 1">
            <a:extLst>
              <a:ext uri="{FF2B5EF4-FFF2-40B4-BE49-F238E27FC236}">
                <a16:creationId xmlns:a16="http://schemas.microsoft.com/office/drawing/2014/main" id="{0D5B41F4-B3E7-8D60-E0E8-4F8A46291AF5}"/>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SADb makes sensory evidence searchable and traceable</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3E9EBC6A-64C2-BF41-0ABD-2A476A550741}"/>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SADb Explorer · Offline snapshot: 1,393 records</a:t>
            </a:r>
          </a:p>
        </p:txBody>
      </p:sp>
      <p:sp>
        <p:nvSpPr>
          <p:cNvPr id="5" name="Rectangle 4">
            <a:hlinkClick r:id="rId6" action="ppaction://hlinkfile" tooltip="Open the self-contained offline SADb app"/>
            <a:extLst>
              <a:ext uri="{FF2B5EF4-FFF2-40B4-BE49-F238E27FC236}">
                <a16:creationId xmlns:a16="http://schemas.microsoft.com/office/drawing/2014/main" id="{2FD1B89B-DE46-0E7A-189C-8D180198D84E}"/>
              </a:ext>
            </a:extLst>
          </p:cNvPr>
          <p:cNvSpPr>
            <a:spLocks noGrp="1"/>
          </p:cNvSpPr>
          <p:nvPr/>
        </p:nvSpPr>
        <p:spPr>
          <a:xfrm>
            <a:off x="392906" y="4286250"/>
            <a:ext cx="4357688"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Open offline SADb</a:t>
            </a:r>
          </a:p>
        </p:txBody>
      </p:sp>
      <p:sp>
        <p:nvSpPr>
          <p:cNvPr id="6" name="Rectangle 5">
            <a:extLst>
              <a:ext uri="{FF2B5EF4-FFF2-40B4-BE49-F238E27FC236}">
                <a16:creationId xmlns:a16="http://schemas.microsoft.com/office/drawing/2014/main" id="{FF2E0335-6D68-3135-2C12-8ACDE88C16C8}"/>
              </a:ext>
            </a:extLst>
          </p:cNvPr>
          <p:cNvSpPr>
            <a:spLocks noGrp="1"/>
          </p:cNvSpPr>
          <p:nvPr/>
        </p:nvSpPr>
        <p:spPr>
          <a:xfrm>
            <a:off x="4643438" y="4286250"/>
            <a:ext cx="4357688" cy="250031"/>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Search · inspect · follow · compare</a:t>
            </a:r>
          </a:p>
        </p:txBody>
      </p:sp>
      <p:sp>
        <p:nvSpPr>
          <p:cNvPr id="14" name="TextBox 13">
            <a:extLst>
              <a:ext uri="{FF2B5EF4-FFF2-40B4-BE49-F238E27FC236}">
                <a16:creationId xmlns:a16="http://schemas.microsoft.com/office/drawing/2014/main" id="{3B54FA8C-6CA7-4D3B-C8D8-FF70B3E3ED5B}"/>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14</a:t>
            </a:r>
          </a:p>
        </p:txBody>
      </p:sp>
    </p:spTree>
    <p:extLst>
      <p:ext uri="{BB962C8B-B14F-4D97-AF65-F5344CB8AC3E}">
        <p14:creationId xmlns:p14="http://schemas.microsoft.com/office/powerpoint/2010/main" val="4229178864"/>
      </p:ext>
    </p:extLst>
  </p:cSld>
  <p:clrMapOvr>
    <a:masterClrMapping/>
  </p:clrMapOvr>
  <p:timing>
    <p:tnLst>
      <p:par>
        <p:cTn id="1" dur="indefinite" restart="never" nodeType="tmRoot">
          <p:childTnLst>
            <p:video>
              <p:cMediaNode vol="80000">
                <p:cTn id="2" fill="hold" display="0">
                  <p:stCondLst>
                    <p:cond delay="indefinite"/>
                  </p:stCondLst>
                </p:cTn>
                <p:tgtEl>
                  <p:spTgt spid="1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58FF7669-464E-41FD-C64E-4001C0C0228C}"/>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Suspended leg motion does not establish weight-bearing walking</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816506EA-4C25-91E0-9EC6-5CE59034F015}"/>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1 · W2L walker and controller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15A5F336-1AD1-5CD9-2C76-2B0E451FC9CE}"/>
              </a:ext>
            </a:extLst>
          </p:cNvPr>
          <p:cNvPicPr>
            <a:picLocks/>
          </p:cNvPicPr>
          <p:nvPr/>
        </p:nvPicPr>
        <p:blipFill>
          <a:blip r:embed="rId3"/>
          <a:stretch/>
        </p:blipFill>
        <p:spPr>
          <a:xfrm>
            <a:off x="867405" y="1357313"/>
            <a:ext cx="2980064" cy="2643188"/>
          </a:xfrm>
          <a:prstGeom prst="rect">
            <a:avLst/>
          </a:prstGeom>
        </p:spPr>
      </p:pic>
      <p:sp>
        <p:nvSpPr>
          <p:cNvPr id="5" name="Rectangle 4">
            <a:extLst>
              <a:ext uri="{FF2B5EF4-FFF2-40B4-BE49-F238E27FC236}">
                <a16:creationId xmlns:a16="http://schemas.microsoft.com/office/drawing/2014/main" id="{EA1F354A-BF90-AF35-B1B5-C2478288150B}"/>
              </a:ext>
            </a:extLst>
          </p:cNvPr>
          <p:cNvSpPr>
            <a:spLocks noGrp="1"/>
          </p:cNvSpPr>
          <p:nvPr/>
        </p:nvSpPr>
        <p:spPr>
          <a:xfrm>
            <a:off x="321469" y="4036219"/>
            <a:ext cx="4071938" cy="228600"/>
          </a:xfrm>
          <a:prstGeom prst="rect">
            <a:avLst/>
          </a:prstGeom>
          <a:noFill/>
          <a:ln w="0">
            <a:noFill/>
          </a:ln>
        </p:spPr>
        <p:txBody>
          <a:bodyPr lIns="0" tIns="0" rIns="0" bIns="0" anchor="t"/>
          <a:lstStyle>
            <a:defPPr>
              <a:defRPr sz="1800" b="0">
                <a:solidFill>
                  <a:srgbClr val="53616A"/>
                </a:solidFill>
                <a:latin typeface="Calibri"/>
                <a:ea typeface="Calibri"/>
                <a:cs typeface="Calibri"/>
              </a:defRPr>
            </a:defPPr>
            <a:lvl1pPr>
              <a:defRPr sz="1800" b="0">
                <a:solidFill>
                  <a:srgbClr val="53616A"/>
                </a:solidFill>
                <a:latin typeface="Calibri"/>
                <a:ea typeface="Calibri"/>
                <a:cs typeface="Calibri"/>
              </a:defRPr>
            </a:lvl1pPr>
            <a:lvl2pPr>
              <a:defRPr sz="1800" b="0">
                <a:solidFill>
                  <a:srgbClr val="53616A"/>
                </a:solidFill>
                <a:latin typeface="Calibri"/>
                <a:ea typeface="Calibri"/>
                <a:cs typeface="Calibri"/>
              </a:defRPr>
            </a:lvl2pPr>
            <a:lvl3pPr>
              <a:defRPr sz="1800" b="0">
                <a:solidFill>
                  <a:srgbClr val="53616A"/>
                </a:solidFill>
                <a:latin typeface="Calibri"/>
                <a:ea typeface="Calibri"/>
                <a:cs typeface="Calibri"/>
              </a:defRPr>
            </a:lvl3pPr>
            <a:lvl4pPr>
              <a:defRPr sz="1800" b="0">
                <a:solidFill>
                  <a:srgbClr val="53616A"/>
                </a:solidFill>
                <a:latin typeface="Calibri"/>
                <a:ea typeface="Calibri"/>
                <a:cs typeface="Calibri"/>
              </a:defRPr>
            </a:lvl4pPr>
            <a:lvl5pPr>
              <a:defRPr sz="1800" b="0">
                <a:solidFill>
                  <a:srgbClr val="53616A"/>
                </a:solidFill>
                <a:latin typeface="Calibri"/>
                <a:ea typeface="Calibri"/>
                <a:cs typeface="Calibri"/>
              </a:defRPr>
            </a:lvl5pPr>
            <a:lvl6pPr>
              <a:defRPr sz="1800" b="0">
                <a:solidFill>
                  <a:srgbClr val="53616A"/>
                </a:solidFill>
                <a:latin typeface="Calibri"/>
                <a:ea typeface="Calibri"/>
                <a:cs typeface="Calibri"/>
              </a:defRPr>
            </a:lvl6pPr>
            <a:lvl7pPr>
              <a:defRPr sz="1800" b="0">
                <a:solidFill>
                  <a:srgbClr val="53616A"/>
                </a:solidFill>
                <a:latin typeface="Calibri"/>
                <a:ea typeface="Calibri"/>
                <a:cs typeface="Calibri"/>
              </a:defRPr>
            </a:lvl7pPr>
            <a:lvl8pPr>
              <a:defRPr sz="1800" b="0">
                <a:solidFill>
                  <a:srgbClr val="53616A"/>
                </a:solidFill>
                <a:latin typeface="Calibri"/>
                <a:ea typeface="Calibri"/>
                <a:cs typeface="Calibri"/>
              </a:defRPr>
            </a:lvl8pPr>
            <a:lvl9pPr>
              <a:defRPr sz="1800" b="0">
                <a:solidFill>
                  <a:srgbClr val="53616A"/>
                </a:solidFill>
                <a:latin typeface="Calibri"/>
                <a:ea typeface="Calibri"/>
                <a:cs typeface="Calibri"/>
              </a:defRPr>
            </a:lvl9pPr>
          </a:lstStyle>
          <a:p>
            <a:pPr>
              <a:defRPr sz="1800" b="0">
                <a:solidFill>
                  <a:srgbClr val="53616A"/>
                </a:solidFill>
                <a:latin typeface="Calibri"/>
                <a:ea typeface="Calibri"/>
                <a:cs typeface="Calibri"/>
              </a:defRPr>
            </a:pPr>
            <a:r>
              <a:rPr sz="1350" b="0">
                <a:solidFill>
                  <a:srgbClr val="53616A"/>
                </a:solidFill>
                <a:latin typeface="Calibri"/>
                <a:ea typeface="Calibri"/>
                <a:cs typeface="Calibri"/>
              </a:rPr>
              <a:t>Native recording pending</a:t>
            </a:r>
          </a:p>
        </p:txBody>
      </p:sp>
      <p:sp>
        <p:nvSpPr>
          <p:cNvPr id="6" name="Rectangle 5">
            <a:extLst>
              <a:ext uri="{FF2B5EF4-FFF2-40B4-BE49-F238E27FC236}">
                <a16:creationId xmlns:a16="http://schemas.microsoft.com/office/drawing/2014/main" id="{619E748C-5B40-523E-A74A-8DBA88799BCF}"/>
              </a:ext>
            </a:extLst>
          </p:cNvPr>
          <p:cNvSpPr>
            <a:spLocks noGrp="1"/>
          </p:cNvSpPr>
          <p:nvPr/>
        </p:nvSpPr>
        <p:spPr>
          <a:xfrm>
            <a:off x="321469" y="1035844"/>
            <a:ext cx="4071938" cy="285750"/>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Suspended</a:t>
            </a:r>
          </a:p>
        </p:txBody>
      </p:sp>
      <p:pic>
        <p:nvPicPr>
          <p:cNvPr id="14" name="Picture 13">
            <a:extLst>
              <a:ext uri="{FF2B5EF4-FFF2-40B4-BE49-F238E27FC236}">
                <a16:creationId xmlns:a16="http://schemas.microsoft.com/office/drawing/2014/main" id="{32FAB6A3-FFD2-68D0-E290-CD5EF1ECE71C}"/>
              </a:ext>
            </a:extLst>
          </p:cNvPr>
          <p:cNvPicPr>
            <a:picLocks/>
          </p:cNvPicPr>
          <p:nvPr/>
        </p:nvPicPr>
        <p:blipFill>
          <a:blip r:embed="rId3"/>
          <a:stretch/>
        </p:blipFill>
        <p:spPr>
          <a:xfrm>
            <a:off x="5296530" y="1357313"/>
            <a:ext cx="2980064" cy="2643188"/>
          </a:xfrm>
          <a:prstGeom prst="rect">
            <a:avLst/>
          </a:prstGeom>
        </p:spPr>
      </p:pic>
      <p:sp>
        <p:nvSpPr>
          <p:cNvPr id="15" name="Rectangle 14">
            <a:extLst>
              <a:ext uri="{FF2B5EF4-FFF2-40B4-BE49-F238E27FC236}">
                <a16:creationId xmlns:a16="http://schemas.microsoft.com/office/drawing/2014/main" id="{8E059B9E-0E4C-E10C-072B-A455C540F26B}"/>
              </a:ext>
            </a:extLst>
          </p:cNvPr>
          <p:cNvSpPr>
            <a:spLocks noGrp="1"/>
          </p:cNvSpPr>
          <p:nvPr/>
        </p:nvSpPr>
        <p:spPr>
          <a:xfrm>
            <a:off x="4750594" y="4036219"/>
            <a:ext cx="4071938" cy="228600"/>
          </a:xfrm>
          <a:prstGeom prst="rect">
            <a:avLst/>
          </a:prstGeom>
          <a:noFill/>
          <a:ln w="0">
            <a:noFill/>
          </a:ln>
        </p:spPr>
        <p:txBody>
          <a:bodyPr lIns="0" tIns="0" rIns="0" bIns="0" anchor="t"/>
          <a:lstStyle>
            <a:defPPr>
              <a:defRPr sz="1800" b="0">
                <a:solidFill>
                  <a:srgbClr val="53616A"/>
                </a:solidFill>
                <a:latin typeface="Calibri"/>
                <a:ea typeface="Calibri"/>
                <a:cs typeface="Calibri"/>
              </a:defRPr>
            </a:defPPr>
            <a:lvl1pPr>
              <a:defRPr sz="1800" b="0">
                <a:solidFill>
                  <a:srgbClr val="53616A"/>
                </a:solidFill>
                <a:latin typeface="Calibri"/>
                <a:ea typeface="Calibri"/>
                <a:cs typeface="Calibri"/>
              </a:defRPr>
            </a:lvl1pPr>
            <a:lvl2pPr>
              <a:defRPr sz="1800" b="0">
                <a:solidFill>
                  <a:srgbClr val="53616A"/>
                </a:solidFill>
                <a:latin typeface="Calibri"/>
                <a:ea typeface="Calibri"/>
                <a:cs typeface="Calibri"/>
              </a:defRPr>
            </a:lvl2pPr>
            <a:lvl3pPr>
              <a:defRPr sz="1800" b="0">
                <a:solidFill>
                  <a:srgbClr val="53616A"/>
                </a:solidFill>
                <a:latin typeface="Calibri"/>
                <a:ea typeface="Calibri"/>
                <a:cs typeface="Calibri"/>
              </a:defRPr>
            </a:lvl3pPr>
            <a:lvl4pPr>
              <a:defRPr sz="1800" b="0">
                <a:solidFill>
                  <a:srgbClr val="53616A"/>
                </a:solidFill>
                <a:latin typeface="Calibri"/>
                <a:ea typeface="Calibri"/>
                <a:cs typeface="Calibri"/>
              </a:defRPr>
            </a:lvl4pPr>
            <a:lvl5pPr>
              <a:defRPr sz="1800" b="0">
                <a:solidFill>
                  <a:srgbClr val="53616A"/>
                </a:solidFill>
                <a:latin typeface="Calibri"/>
                <a:ea typeface="Calibri"/>
                <a:cs typeface="Calibri"/>
              </a:defRPr>
            </a:lvl5pPr>
            <a:lvl6pPr>
              <a:defRPr sz="1800" b="0">
                <a:solidFill>
                  <a:srgbClr val="53616A"/>
                </a:solidFill>
                <a:latin typeface="Calibri"/>
                <a:ea typeface="Calibri"/>
                <a:cs typeface="Calibri"/>
              </a:defRPr>
            </a:lvl6pPr>
            <a:lvl7pPr>
              <a:defRPr sz="1800" b="0">
                <a:solidFill>
                  <a:srgbClr val="53616A"/>
                </a:solidFill>
                <a:latin typeface="Calibri"/>
                <a:ea typeface="Calibri"/>
                <a:cs typeface="Calibri"/>
              </a:defRPr>
            </a:lvl7pPr>
            <a:lvl8pPr>
              <a:defRPr sz="1800" b="0">
                <a:solidFill>
                  <a:srgbClr val="53616A"/>
                </a:solidFill>
                <a:latin typeface="Calibri"/>
                <a:ea typeface="Calibri"/>
                <a:cs typeface="Calibri"/>
              </a:defRPr>
            </a:lvl8pPr>
            <a:lvl9pPr>
              <a:defRPr sz="1800" b="0">
                <a:solidFill>
                  <a:srgbClr val="53616A"/>
                </a:solidFill>
                <a:latin typeface="Calibri"/>
                <a:ea typeface="Calibri"/>
                <a:cs typeface="Calibri"/>
              </a:defRPr>
            </a:lvl9pPr>
          </a:lstStyle>
          <a:p>
            <a:pPr>
              <a:defRPr sz="1800" b="0">
                <a:solidFill>
                  <a:srgbClr val="53616A"/>
                </a:solidFill>
                <a:latin typeface="Calibri"/>
                <a:ea typeface="Calibri"/>
                <a:cs typeface="Calibri"/>
              </a:defRPr>
            </a:pPr>
            <a:r>
              <a:rPr sz="1350" b="0">
                <a:solidFill>
                  <a:srgbClr val="53616A"/>
                </a:solidFill>
                <a:latin typeface="Calibri"/>
                <a:ea typeface="Calibri"/>
                <a:cs typeface="Calibri"/>
              </a:rPr>
              <a:t>Native recording pending</a:t>
            </a:r>
          </a:p>
        </p:txBody>
      </p:sp>
      <p:sp>
        <p:nvSpPr>
          <p:cNvPr id="16" name="Rectangle 15">
            <a:extLst>
              <a:ext uri="{FF2B5EF4-FFF2-40B4-BE49-F238E27FC236}">
                <a16:creationId xmlns:a16="http://schemas.microsoft.com/office/drawing/2014/main" id="{51C19080-A090-BEE0-F161-A799F8055CF1}"/>
              </a:ext>
            </a:extLst>
          </p:cNvPr>
          <p:cNvSpPr>
            <a:spLocks noGrp="1"/>
          </p:cNvSpPr>
          <p:nvPr/>
        </p:nvSpPr>
        <p:spPr>
          <a:xfrm>
            <a:off x="4750594" y="1035844"/>
            <a:ext cx="4071938" cy="285750"/>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Released</a:t>
            </a:r>
          </a:p>
        </p:txBody>
      </p:sp>
      <p:sp>
        <p:nvSpPr>
          <p:cNvPr id="17" name="TextBox 16">
            <a:extLst>
              <a:ext uri="{FF2B5EF4-FFF2-40B4-BE49-F238E27FC236}">
                <a16:creationId xmlns:a16="http://schemas.microsoft.com/office/drawing/2014/main" id="{4A0B561D-76A1-AD8B-69DE-B89838F8716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15</a:t>
            </a:r>
          </a:p>
        </p:txBody>
      </p:sp>
    </p:spTree>
    <p:extLst>
      <p:ext uri="{BB962C8B-B14F-4D97-AF65-F5344CB8AC3E}">
        <p14:creationId xmlns:p14="http://schemas.microsoft.com/office/powerpoint/2010/main" val="271850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E4FBB342-D12E-1B7A-DBB6-A7AD5158EAD5}"/>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Sensory feedback changes bilateral foot-loading timing</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4CA19120-63AE-FF66-3341-BD1E6AEA830E}"/>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1 · W2L walker and controller · Dissertation Table 6.1</a:t>
            </a:r>
            <a:endParaRPr sz="788" b="0">
              <a:solidFill>
                <a:srgbClr val="53616A"/>
              </a:solidFill>
              <a:latin typeface="Calibri"/>
              <a:ea typeface="Calibri"/>
              <a:cs typeface="Calibri"/>
            </a:endParaRPr>
          </a:p>
        </p:txBody>
      </p:sp>
      <p:pic>
        <p:nvPicPr>
          <p:cNvPr id="9" name="Picture 8">
            <a:extLst>
              <a:ext uri="{FF2B5EF4-FFF2-40B4-BE49-F238E27FC236}">
                <a16:creationId xmlns:a16="http://schemas.microsoft.com/office/drawing/2014/main" id="{2DE8DDD7-E2D0-8317-566C-B6B2AC7EA181}"/>
              </a:ext>
            </a:extLst>
          </p:cNvPr>
          <p:cNvPicPr>
            <a:picLocks/>
          </p:cNvPicPr>
          <p:nvPr/>
        </p:nvPicPr>
        <p:blipFill>
          <a:blip r:embed="rId3"/>
          <a:stretch/>
        </p:blipFill>
        <p:spPr>
          <a:xfrm>
            <a:off x="250031" y="1701657"/>
            <a:ext cx="8643938" cy="1811625"/>
          </a:xfrm>
          <a:prstGeom prst="rect">
            <a:avLst/>
          </a:prstGeom>
        </p:spPr>
      </p:pic>
      <p:sp>
        <p:nvSpPr>
          <p:cNvPr id="10" name="Rectangle 9">
            <a:extLst>
              <a:ext uri="{FF2B5EF4-FFF2-40B4-BE49-F238E27FC236}">
                <a16:creationId xmlns:a16="http://schemas.microsoft.com/office/drawing/2014/main" id="{1D89A576-434D-63C8-7164-85A1EDAD77C2}"/>
              </a:ext>
            </a:extLst>
          </p:cNvPr>
          <p:cNvSpPr>
            <a:spLocks noGrp="1"/>
          </p:cNvSpPr>
          <p:nvPr/>
        </p:nvSpPr>
        <p:spPr>
          <a:xfrm>
            <a:off x="392907" y="1178719"/>
            <a:ext cx="7858125" cy="250031"/>
          </a:xfrm>
          <a:prstGeom prst="rect">
            <a:avLst/>
          </a:prstGeom>
          <a:noFill/>
          <a:ln w="0">
            <a:noFill/>
          </a:ln>
        </p:spPr>
        <p:txBody>
          <a:bodyPr lIns="0" tIns="0" rIns="0" bIns="0" anchor="t"/>
          <a:lstStyle>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a:pPr>
              <a:defRPr sz="1800" b="0">
                <a:solidFill>
                  <a:srgbClr val="202C33"/>
                </a:solidFill>
                <a:latin typeface="Calibri"/>
                <a:ea typeface="Calibri"/>
                <a:cs typeface="Calibri"/>
              </a:defRPr>
            </a:pPr>
            <a:r>
              <a:rPr sz="1350" b="0">
                <a:solidFill>
                  <a:srgbClr val="202C33"/>
                </a:solidFill>
                <a:latin typeface="Calibri"/>
                <a:ea typeface="Calibri"/>
                <a:cs typeface="Calibri"/>
              </a:rPr>
              <a:t>Left leg: solid · Right leg: dashed</a:t>
            </a:r>
          </a:p>
        </p:txBody>
      </p:sp>
      <p:sp>
        <p:nvSpPr>
          <p:cNvPr id="11" name="Rectangle 10">
            <a:extLst>
              <a:ext uri="{FF2B5EF4-FFF2-40B4-BE49-F238E27FC236}">
                <a16:creationId xmlns:a16="http://schemas.microsoft.com/office/drawing/2014/main" id="{59B009C0-ABD4-D2E4-EDCE-0570241F67F7}"/>
              </a:ext>
            </a:extLst>
          </p:cNvPr>
          <p:cNvSpPr>
            <a:spLocks noGrp="1"/>
          </p:cNvSpPr>
          <p:nvPr/>
        </p:nvSpPr>
        <p:spPr>
          <a:xfrm>
            <a:off x="913328"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5</a:t>
            </a:r>
          </a:p>
        </p:txBody>
      </p:sp>
      <p:sp>
        <p:nvSpPr>
          <p:cNvPr id="12" name="Rectangle 11">
            <a:extLst>
              <a:ext uri="{FF2B5EF4-FFF2-40B4-BE49-F238E27FC236}">
                <a16:creationId xmlns:a16="http://schemas.microsoft.com/office/drawing/2014/main" id="{EDBE4FA7-53F3-7FA6-D3BB-9F695D4D3AD8}"/>
              </a:ext>
            </a:extLst>
          </p:cNvPr>
          <p:cNvSpPr>
            <a:spLocks noGrp="1"/>
          </p:cNvSpPr>
          <p:nvPr/>
        </p:nvSpPr>
        <p:spPr>
          <a:xfrm>
            <a:off x="1586835"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10</a:t>
            </a:r>
          </a:p>
        </p:txBody>
      </p:sp>
      <p:sp>
        <p:nvSpPr>
          <p:cNvPr id="13" name="Rectangle 12">
            <a:extLst>
              <a:ext uri="{FF2B5EF4-FFF2-40B4-BE49-F238E27FC236}">
                <a16:creationId xmlns:a16="http://schemas.microsoft.com/office/drawing/2014/main" id="{2C39A401-3325-DC7D-3D2B-B6F8E606E4F6}"/>
              </a:ext>
            </a:extLst>
          </p:cNvPr>
          <p:cNvSpPr>
            <a:spLocks noGrp="1"/>
          </p:cNvSpPr>
          <p:nvPr/>
        </p:nvSpPr>
        <p:spPr>
          <a:xfrm>
            <a:off x="2260342"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15</a:t>
            </a:r>
          </a:p>
        </p:txBody>
      </p:sp>
      <p:sp>
        <p:nvSpPr>
          <p:cNvPr id="14" name="Rectangle 13">
            <a:extLst>
              <a:ext uri="{FF2B5EF4-FFF2-40B4-BE49-F238E27FC236}">
                <a16:creationId xmlns:a16="http://schemas.microsoft.com/office/drawing/2014/main" id="{C3DC01A8-CF2A-3BD7-B129-3EFEC477B90C}"/>
              </a:ext>
            </a:extLst>
          </p:cNvPr>
          <p:cNvSpPr>
            <a:spLocks noGrp="1"/>
          </p:cNvSpPr>
          <p:nvPr/>
        </p:nvSpPr>
        <p:spPr>
          <a:xfrm>
            <a:off x="2933848"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20</a:t>
            </a:r>
          </a:p>
        </p:txBody>
      </p:sp>
      <p:sp>
        <p:nvSpPr>
          <p:cNvPr id="15" name="Rectangle 14">
            <a:extLst>
              <a:ext uri="{FF2B5EF4-FFF2-40B4-BE49-F238E27FC236}">
                <a16:creationId xmlns:a16="http://schemas.microsoft.com/office/drawing/2014/main" id="{A447D094-01DE-95FA-A31A-86C3524E0EFE}"/>
              </a:ext>
            </a:extLst>
          </p:cNvPr>
          <p:cNvSpPr>
            <a:spLocks noGrp="1"/>
          </p:cNvSpPr>
          <p:nvPr/>
        </p:nvSpPr>
        <p:spPr>
          <a:xfrm>
            <a:off x="3607356"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25</a:t>
            </a:r>
          </a:p>
        </p:txBody>
      </p:sp>
      <p:sp>
        <p:nvSpPr>
          <p:cNvPr id="16" name="Rectangle 15">
            <a:extLst>
              <a:ext uri="{FF2B5EF4-FFF2-40B4-BE49-F238E27FC236}">
                <a16:creationId xmlns:a16="http://schemas.microsoft.com/office/drawing/2014/main" id="{E54AC9B9-D828-D958-BB74-1058E1A6C907}"/>
              </a:ext>
            </a:extLst>
          </p:cNvPr>
          <p:cNvSpPr>
            <a:spLocks noGrp="1"/>
          </p:cNvSpPr>
          <p:nvPr/>
        </p:nvSpPr>
        <p:spPr>
          <a:xfrm>
            <a:off x="4280863"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30</a:t>
            </a:r>
          </a:p>
        </p:txBody>
      </p:sp>
      <p:sp>
        <p:nvSpPr>
          <p:cNvPr id="17" name="Rectangle 16">
            <a:extLst>
              <a:ext uri="{FF2B5EF4-FFF2-40B4-BE49-F238E27FC236}">
                <a16:creationId xmlns:a16="http://schemas.microsoft.com/office/drawing/2014/main" id="{930A675E-C6E6-266A-69DD-ED4CF9715007}"/>
              </a:ext>
            </a:extLst>
          </p:cNvPr>
          <p:cNvSpPr>
            <a:spLocks noGrp="1"/>
          </p:cNvSpPr>
          <p:nvPr/>
        </p:nvSpPr>
        <p:spPr>
          <a:xfrm>
            <a:off x="5210085"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5</a:t>
            </a:r>
          </a:p>
        </p:txBody>
      </p:sp>
      <p:sp>
        <p:nvSpPr>
          <p:cNvPr id="18" name="Rectangle 17">
            <a:extLst>
              <a:ext uri="{FF2B5EF4-FFF2-40B4-BE49-F238E27FC236}">
                <a16:creationId xmlns:a16="http://schemas.microsoft.com/office/drawing/2014/main" id="{5938B134-306D-8D4F-99B9-B1BE55EB025B}"/>
              </a:ext>
            </a:extLst>
          </p:cNvPr>
          <p:cNvSpPr>
            <a:spLocks noGrp="1"/>
          </p:cNvSpPr>
          <p:nvPr/>
        </p:nvSpPr>
        <p:spPr>
          <a:xfrm>
            <a:off x="5883593"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10</a:t>
            </a:r>
          </a:p>
        </p:txBody>
      </p:sp>
      <p:sp>
        <p:nvSpPr>
          <p:cNvPr id="19" name="Rectangle 18">
            <a:extLst>
              <a:ext uri="{FF2B5EF4-FFF2-40B4-BE49-F238E27FC236}">
                <a16:creationId xmlns:a16="http://schemas.microsoft.com/office/drawing/2014/main" id="{A2D84147-BA05-2F9F-402C-966886C21B20}"/>
              </a:ext>
            </a:extLst>
          </p:cNvPr>
          <p:cNvSpPr>
            <a:spLocks noGrp="1"/>
          </p:cNvSpPr>
          <p:nvPr/>
        </p:nvSpPr>
        <p:spPr>
          <a:xfrm>
            <a:off x="6557099"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15</a:t>
            </a:r>
          </a:p>
        </p:txBody>
      </p:sp>
      <p:sp>
        <p:nvSpPr>
          <p:cNvPr id="20" name="Rectangle 19">
            <a:extLst>
              <a:ext uri="{FF2B5EF4-FFF2-40B4-BE49-F238E27FC236}">
                <a16:creationId xmlns:a16="http://schemas.microsoft.com/office/drawing/2014/main" id="{5E4ED66A-9016-7813-58C5-B0BC82F8CC13}"/>
              </a:ext>
            </a:extLst>
          </p:cNvPr>
          <p:cNvSpPr>
            <a:spLocks noGrp="1"/>
          </p:cNvSpPr>
          <p:nvPr/>
        </p:nvSpPr>
        <p:spPr>
          <a:xfrm>
            <a:off x="7230606"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20</a:t>
            </a:r>
          </a:p>
        </p:txBody>
      </p:sp>
      <p:sp>
        <p:nvSpPr>
          <p:cNvPr id="21" name="Rectangle 20">
            <a:extLst>
              <a:ext uri="{FF2B5EF4-FFF2-40B4-BE49-F238E27FC236}">
                <a16:creationId xmlns:a16="http://schemas.microsoft.com/office/drawing/2014/main" id="{7B5E091D-01BE-B5E2-C753-F40F67475F40}"/>
              </a:ext>
            </a:extLst>
          </p:cNvPr>
          <p:cNvSpPr>
            <a:spLocks noGrp="1"/>
          </p:cNvSpPr>
          <p:nvPr/>
        </p:nvSpPr>
        <p:spPr>
          <a:xfrm>
            <a:off x="7904113"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25</a:t>
            </a:r>
          </a:p>
        </p:txBody>
      </p:sp>
      <p:sp>
        <p:nvSpPr>
          <p:cNvPr id="22" name="Rectangle 21">
            <a:extLst>
              <a:ext uri="{FF2B5EF4-FFF2-40B4-BE49-F238E27FC236}">
                <a16:creationId xmlns:a16="http://schemas.microsoft.com/office/drawing/2014/main" id="{7833CA84-9597-0CC5-7CBC-44AEB7426958}"/>
              </a:ext>
            </a:extLst>
          </p:cNvPr>
          <p:cNvSpPr>
            <a:spLocks noGrp="1"/>
          </p:cNvSpPr>
          <p:nvPr/>
        </p:nvSpPr>
        <p:spPr>
          <a:xfrm>
            <a:off x="8577619" y="3500438"/>
            <a:ext cx="285750" cy="178594"/>
          </a:xfrm>
          <a:prstGeom prst="rect">
            <a:avLst/>
          </a:prstGeom>
          <a:noFill/>
          <a:ln w="0">
            <a:noFill/>
          </a:ln>
        </p:spPr>
        <p:txBody>
          <a:bodyPr lIns="0" tIns="0" rIns="0" bIns="0" anchor="t"/>
          <a:lstStyle>
            <a:defPPr>
              <a:defRPr sz="1500" b="0">
                <a:solidFill>
                  <a:srgbClr val="202C33"/>
                </a:solidFill>
                <a:latin typeface="Calibri"/>
                <a:ea typeface="Calibri"/>
                <a:cs typeface="Calibri"/>
              </a:defRPr>
            </a:defPPr>
            <a:lvl1pPr>
              <a:defRPr sz="1500" b="0">
                <a:solidFill>
                  <a:srgbClr val="202C33"/>
                </a:solidFill>
                <a:latin typeface="Calibri"/>
                <a:ea typeface="Calibri"/>
                <a:cs typeface="Calibri"/>
              </a:defRPr>
            </a:lvl1pPr>
            <a:lvl2pPr>
              <a:defRPr sz="1500" b="0">
                <a:solidFill>
                  <a:srgbClr val="202C33"/>
                </a:solidFill>
                <a:latin typeface="Calibri"/>
                <a:ea typeface="Calibri"/>
                <a:cs typeface="Calibri"/>
              </a:defRPr>
            </a:lvl2pPr>
            <a:lvl3pPr>
              <a:defRPr sz="1500" b="0">
                <a:solidFill>
                  <a:srgbClr val="202C33"/>
                </a:solidFill>
                <a:latin typeface="Calibri"/>
                <a:ea typeface="Calibri"/>
                <a:cs typeface="Calibri"/>
              </a:defRPr>
            </a:lvl3pPr>
            <a:lvl4pPr>
              <a:defRPr sz="1500" b="0">
                <a:solidFill>
                  <a:srgbClr val="202C33"/>
                </a:solidFill>
                <a:latin typeface="Calibri"/>
                <a:ea typeface="Calibri"/>
                <a:cs typeface="Calibri"/>
              </a:defRPr>
            </a:lvl4pPr>
            <a:lvl5pPr>
              <a:defRPr sz="1500" b="0">
                <a:solidFill>
                  <a:srgbClr val="202C33"/>
                </a:solidFill>
                <a:latin typeface="Calibri"/>
                <a:ea typeface="Calibri"/>
                <a:cs typeface="Calibri"/>
              </a:defRPr>
            </a:lvl5pPr>
            <a:lvl6pPr>
              <a:defRPr sz="1500" b="0">
                <a:solidFill>
                  <a:srgbClr val="202C33"/>
                </a:solidFill>
                <a:latin typeface="Calibri"/>
                <a:ea typeface="Calibri"/>
                <a:cs typeface="Calibri"/>
              </a:defRPr>
            </a:lvl6pPr>
            <a:lvl7pPr>
              <a:defRPr sz="1500" b="0">
                <a:solidFill>
                  <a:srgbClr val="202C33"/>
                </a:solidFill>
                <a:latin typeface="Calibri"/>
                <a:ea typeface="Calibri"/>
                <a:cs typeface="Calibri"/>
              </a:defRPr>
            </a:lvl7pPr>
            <a:lvl8pPr>
              <a:defRPr sz="1500" b="0">
                <a:solidFill>
                  <a:srgbClr val="202C33"/>
                </a:solidFill>
                <a:latin typeface="Calibri"/>
                <a:ea typeface="Calibri"/>
                <a:cs typeface="Calibri"/>
              </a:defRPr>
            </a:lvl8pPr>
            <a:lvl9pPr>
              <a:defRPr sz="1500" b="0">
                <a:solidFill>
                  <a:srgbClr val="202C33"/>
                </a:solidFill>
                <a:latin typeface="Calibri"/>
                <a:ea typeface="Calibri"/>
                <a:cs typeface="Calibri"/>
              </a:defRPr>
            </a:lvl9pPr>
          </a:lstStyle>
          <a:p>
            <a:pPr>
              <a:defRPr sz="1500" b="0">
                <a:solidFill>
                  <a:srgbClr val="202C33"/>
                </a:solidFill>
                <a:latin typeface="Calibri"/>
                <a:ea typeface="Calibri"/>
                <a:cs typeface="Calibri"/>
              </a:defRPr>
            </a:pPr>
            <a:r>
              <a:rPr sz="1125" b="0">
                <a:solidFill>
                  <a:srgbClr val="202C33"/>
                </a:solidFill>
                <a:latin typeface="Calibri"/>
                <a:ea typeface="Calibri"/>
                <a:cs typeface="Calibri"/>
              </a:rPr>
              <a:t>30</a:t>
            </a:r>
          </a:p>
        </p:txBody>
      </p:sp>
      <p:sp>
        <p:nvSpPr>
          <p:cNvPr id="23" name="Rectangle 22">
            <a:extLst>
              <a:ext uri="{FF2B5EF4-FFF2-40B4-BE49-F238E27FC236}">
                <a16:creationId xmlns:a16="http://schemas.microsoft.com/office/drawing/2014/main" id="{B8EDFE51-25DB-3552-816E-D67E93867B0D}"/>
              </a:ext>
            </a:extLst>
          </p:cNvPr>
          <p:cNvSpPr>
            <a:spLocks noGrp="1"/>
          </p:cNvSpPr>
          <p:nvPr/>
        </p:nvSpPr>
        <p:spPr>
          <a:xfrm>
            <a:off x="2107406" y="3736181"/>
            <a:ext cx="1500188" cy="250031"/>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Time (s)</a:t>
            </a:r>
          </a:p>
        </p:txBody>
      </p:sp>
      <p:sp>
        <p:nvSpPr>
          <p:cNvPr id="24" name="Rectangle 23">
            <a:extLst>
              <a:ext uri="{FF2B5EF4-FFF2-40B4-BE49-F238E27FC236}">
                <a16:creationId xmlns:a16="http://schemas.microsoft.com/office/drawing/2014/main" id="{473F5E6C-0C54-5D31-790B-03CA8C3E47EC}"/>
              </a:ext>
            </a:extLst>
          </p:cNvPr>
          <p:cNvSpPr>
            <a:spLocks noGrp="1"/>
          </p:cNvSpPr>
          <p:nvPr/>
        </p:nvSpPr>
        <p:spPr>
          <a:xfrm>
            <a:off x="6465094" y="3736181"/>
            <a:ext cx="1500188" cy="250031"/>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Time (s)</a:t>
            </a:r>
          </a:p>
        </p:txBody>
      </p:sp>
      <p:sp>
        <p:nvSpPr>
          <p:cNvPr id="25" name="Rectangle 24">
            <a:extLst>
              <a:ext uri="{FF2B5EF4-FFF2-40B4-BE49-F238E27FC236}">
                <a16:creationId xmlns:a16="http://schemas.microsoft.com/office/drawing/2014/main" id="{FBD0798A-ADA5-5A63-1A69-67F4105E890C}"/>
              </a:ext>
            </a:extLst>
          </p:cNvPr>
          <p:cNvSpPr>
            <a:spLocks noGrp="1"/>
          </p:cNvSpPr>
          <p:nvPr/>
        </p:nvSpPr>
        <p:spPr>
          <a:xfrm>
            <a:off x="392907" y="4114800"/>
            <a:ext cx="4143375" cy="321469"/>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Feedback intact: 0.498 cycle</a:t>
            </a:r>
          </a:p>
        </p:txBody>
      </p:sp>
      <p:sp>
        <p:nvSpPr>
          <p:cNvPr id="26" name="Rectangle 25">
            <a:extLst>
              <a:ext uri="{FF2B5EF4-FFF2-40B4-BE49-F238E27FC236}">
                <a16:creationId xmlns:a16="http://schemas.microsoft.com/office/drawing/2014/main" id="{207628AE-A2D8-B7C9-E985-E2F153111948}"/>
              </a:ext>
            </a:extLst>
          </p:cNvPr>
          <p:cNvSpPr>
            <a:spLocks noGrp="1"/>
          </p:cNvSpPr>
          <p:nvPr/>
        </p:nvSpPr>
        <p:spPr>
          <a:xfrm>
            <a:off x="4714876" y="4114800"/>
            <a:ext cx="4214813" cy="321469"/>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Feedback disabled: 0.223 cycle</a:t>
            </a:r>
          </a:p>
        </p:txBody>
      </p:sp>
      <p:sp>
        <p:nvSpPr>
          <p:cNvPr id="27" name="TextBox 26">
            <a:extLst>
              <a:ext uri="{FF2B5EF4-FFF2-40B4-BE49-F238E27FC236}">
                <a16:creationId xmlns:a16="http://schemas.microsoft.com/office/drawing/2014/main" id="{217E2FDE-8A70-A70F-4482-80B33537795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16</a:t>
            </a:r>
          </a:p>
        </p:txBody>
      </p:sp>
    </p:spTree>
    <p:extLst>
      <p:ext uri="{BB962C8B-B14F-4D97-AF65-F5344CB8AC3E}">
        <p14:creationId xmlns:p14="http://schemas.microsoft.com/office/powerpoint/2010/main" val="3910185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20F5E3E-6C87-49DF-DEC6-1A976A4990C6}"/>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Rhythmic Gait2392 cycles retain hip and knee errors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25D0E642-3639-66A1-7613-236EF2B75B9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2 · Gait2392-based models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4262121D-115B-DCED-27B3-B108E1CB0F03}"/>
              </a:ext>
            </a:extLst>
          </p:cNvPr>
          <p:cNvPicPr>
            <a:picLocks/>
          </p:cNvPicPr>
          <p:nvPr/>
        </p:nvPicPr>
        <p:blipFill>
          <a:blip r:embed="rId3"/>
          <a:stretch/>
        </p:blipFill>
        <p:spPr>
          <a:xfrm>
            <a:off x="965505" y="1228726"/>
            <a:ext cx="4998429" cy="2987675"/>
          </a:xfrm>
          <a:prstGeom prst="rect">
            <a:avLst/>
          </a:prstGeom>
        </p:spPr>
      </p:pic>
      <p:sp>
        <p:nvSpPr>
          <p:cNvPr id="5" name="Rectangle 4">
            <a:extLst>
              <a:ext uri="{FF2B5EF4-FFF2-40B4-BE49-F238E27FC236}">
                <a16:creationId xmlns:a16="http://schemas.microsoft.com/office/drawing/2014/main" id="{E5D775C6-358E-53FC-89FA-8E76F611F506}"/>
              </a:ext>
            </a:extLst>
          </p:cNvPr>
          <p:cNvSpPr>
            <a:spLocks noGrp="1"/>
          </p:cNvSpPr>
          <p:nvPr/>
        </p:nvSpPr>
        <p:spPr>
          <a:xfrm>
            <a:off x="6786563" y="1785938"/>
            <a:ext cx="2000250" cy="2000250"/>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Hip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Knee timing differs</a:t>
            </a:r>
          </a:p>
          <a:p>
            <a:endParaRPr sz="1631" b="0">
              <a:solidFill>
                <a:srgbClr val="202C33"/>
              </a:solidFill>
              <a:latin typeface="Calibri"/>
              <a:ea typeface="Calibri"/>
              <a:cs typeface="Calibri"/>
            </a:endParaRPr>
          </a:p>
          <a:p>
            <a:pPr>
              <a:defRPr sz="2175" b="0">
                <a:solidFill>
                  <a:srgbClr val="202C33"/>
                </a:solidFill>
                <a:latin typeface="Calibri"/>
                <a:ea typeface="Calibri"/>
                <a:cs typeface="Calibri"/>
              </a:defRPr>
            </a:pPr>
            <a:r>
              <a:rPr sz="1631" b="0">
                <a:solidFill>
                  <a:srgbClr val="202C33"/>
                </a:solidFill>
                <a:latin typeface="Calibri"/>
                <a:ea typeface="Calibri"/>
                <a:cs typeface="Calibri"/>
              </a:rPr>
              <a:t>No fitted phase shift</a:t>
            </a:r>
          </a:p>
          <a:p>
            <a:pPr>
              <a:defRPr sz="2175" b="0">
                <a:solidFill>
                  <a:srgbClr val="202C33"/>
                </a:solidFill>
                <a:latin typeface="Calibri"/>
                <a:ea typeface="Calibri"/>
                <a:cs typeface="Calibri"/>
              </a:defRPr>
            </a:pPr>
            <a:r>
              <a:rPr sz="1631" b="0">
                <a:solidFill>
                  <a:srgbClr val="202C33"/>
                </a:solidFill>
                <a:latin typeface="Calibri"/>
                <a:ea typeface="Calibri"/>
                <a:cs typeface="Calibri"/>
              </a:rPr>
              <a:t>or amplitude scaling</a:t>
            </a:r>
          </a:p>
        </p:txBody>
      </p:sp>
      <p:sp>
        <p:nvSpPr>
          <p:cNvPr id="6" name="Rectangle 5">
            <a:extLst>
              <a:ext uri="{FF2B5EF4-FFF2-40B4-BE49-F238E27FC236}">
                <a16:creationId xmlns:a16="http://schemas.microsoft.com/office/drawing/2014/main" id="{1164F498-77C7-9B91-F97C-6A057116FE57}"/>
              </a:ext>
            </a:extLst>
          </p:cNvPr>
          <p:cNvSpPr>
            <a:spLocks noGrp="1"/>
          </p:cNvSpPr>
          <p:nvPr/>
        </p:nvSpPr>
        <p:spPr>
          <a:xfrm>
            <a:off x="2143125" y="4140200"/>
            <a:ext cx="4286250" cy="152400"/>
          </a:xfrm>
          <a:prstGeom prst="rect">
            <a:avLst/>
          </a:prstGeom>
          <a:noFill/>
          <a:ln w="0">
            <a:noFill/>
          </a:ln>
        </p:spPr>
        <p:txBody>
          <a:bodyPr lIns="0" tIns="0" rIns="0" bIns="0" anchor="t"/>
          <a:lstStyle>
            <a:defPPr>
              <a:defRPr sz="1650" b="0">
                <a:solidFill>
                  <a:srgbClr val="53616A"/>
                </a:solidFill>
                <a:latin typeface="Calibri"/>
                <a:ea typeface="Calibri"/>
                <a:cs typeface="Calibri"/>
              </a:defRPr>
            </a:defPPr>
            <a:lvl1pPr>
              <a:defRPr sz="1650" b="0">
                <a:solidFill>
                  <a:srgbClr val="53616A"/>
                </a:solidFill>
                <a:latin typeface="Calibri"/>
                <a:ea typeface="Calibri"/>
                <a:cs typeface="Calibri"/>
              </a:defRPr>
            </a:lvl1pPr>
            <a:lvl2pPr>
              <a:defRPr sz="1650" b="0">
                <a:solidFill>
                  <a:srgbClr val="53616A"/>
                </a:solidFill>
                <a:latin typeface="Calibri"/>
                <a:ea typeface="Calibri"/>
                <a:cs typeface="Calibri"/>
              </a:defRPr>
            </a:lvl2pPr>
            <a:lvl3pPr>
              <a:defRPr sz="1650" b="0">
                <a:solidFill>
                  <a:srgbClr val="53616A"/>
                </a:solidFill>
                <a:latin typeface="Calibri"/>
                <a:ea typeface="Calibri"/>
                <a:cs typeface="Calibri"/>
              </a:defRPr>
            </a:lvl3pPr>
            <a:lvl4pPr>
              <a:defRPr sz="1650" b="0">
                <a:solidFill>
                  <a:srgbClr val="53616A"/>
                </a:solidFill>
                <a:latin typeface="Calibri"/>
                <a:ea typeface="Calibri"/>
                <a:cs typeface="Calibri"/>
              </a:defRPr>
            </a:lvl4pPr>
            <a:lvl5pPr>
              <a:defRPr sz="1650" b="0">
                <a:solidFill>
                  <a:srgbClr val="53616A"/>
                </a:solidFill>
                <a:latin typeface="Calibri"/>
                <a:ea typeface="Calibri"/>
                <a:cs typeface="Calibri"/>
              </a:defRPr>
            </a:lvl5pPr>
            <a:lvl6pPr>
              <a:defRPr sz="1650" b="0">
                <a:solidFill>
                  <a:srgbClr val="53616A"/>
                </a:solidFill>
                <a:latin typeface="Calibri"/>
                <a:ea typeface="Calibri"/>
                <a:cs typeface="Calibri"/>
              </a:defRPr>
            </a:lvl6pPr>
            <a:lvl7pPr>
              <a:defRPr sz="1650" b="0">
                <a:solidFill>
                  <a:srgbClr val="53616A"/>
                </a:solidFill>
                <a:latin typeface="Calibri"/>
                <a:ea typeface="Calibri"/>
                <a:cs typeface="Calibri"/>
              </a:defRPr>
            </a:lvl7pPr>
            <a:lvl8pPr>
              <a:defRPr sz="1650" b="0">
                <a:solidFill>
                  <a:srgbClr val="53616A"/>
                </a:solidFill>
                <a:latin typeface="Calibri"/>
                <a:ea typeface="Calibri"/>
                <a:cs typeface="Calibri"/>
              </a:defRPr>
            </a:lvl8pPr>
            <a:lvl9pPr>
              <a:defRPr sz="1650" b="0">
                <a:solidFill>
                  <a:srgbClr val="53616A"/>
                </a:solidFill>
                <a:latin typeface="Calibri"/>
                <a:ea typeface="Calibri"/>
                <a:cs typeface="Calibri"/>
              </a:defRPr>
            </a:lvl9pPr>
          </a:lstStyle>
          <a:p>
            <a:pPr>
              <a:defRPr sz="1650" b="0">
                <a:solidFill>
                  <a:srgbClr val="53616A"/>
                </a:solidFill>
                <a:latin typeface="Calibri"/>
                <a:ea typeface="Calibri"/>
                <a:cs typeface="Calibri"/>
              </a:defRPr>
            </a:pPr>
            <a:r>
              <a:rPr sz="1000" b="0">
                <a:solidFill>
                  <a:srgbClr val="53616A"/>
                </a:solidFill>
                <a:latin typeface="Calibri"/>
                <a:ea typeface="Calibri"/>
                <a:cs typeface="Calibri"/>
              </a:rPr>
              <a:t>Gait cycle, %</a:t>
            </a:r>
          </a:p>
        </p:txBody>
      </p:sp>
      <p:sp>
        <p:nvSpPr>
          <p:cNvPr id="7" name="Rectangle 6">
            <a:extLst>
              <a:ext uri="{FF2B5EF4-FFF2-40B4-BE49-F238E27FC236}">
                <a16:creationId xmlns:a16="http://schemas.microsoft.com/office/drawing/2014/main" id="{8D03C4C6-AFE8-C45C-7293-6C9A58B1333F}"/>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 cycles per leg · stance fractions 0.71 / 0.65 versus reference 0.61</a:t>
            </a:r>
          </a:p>
        </p:txBody>
      </p:sp>
      <p:sp>
        <p:nvSpPr>
          <p:cNvPr id="8" name="TextBox 7">
            <a:extLst>
              <a:ext uri="{FF2B5EF4-FFF2-40B4-BE49-F238E27FC236}">
                <a16:creationId xmlns:a16="http://schemas.microsoft.com/office/drawing/2014/main" id="{4A501F09-3CD7-6272-7B6A-BFA6D7394A4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17</a:t>
            </a:r>
          </a:p>
        </p:txBody>
      </p:sp>
    </p:spTree>
    <p:extLst>
      <p:ext uri="{BB962C8B-B14F-4D97-AF65-F5344CB8AC3E}">
        <p14:creationId xmlns:p14="http://schemas.microsoft.com/office/powerpoint/2010/main" val="889095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59ECEAA-56D9-1F7F-759A-737A75395715}"/>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Graphical blocks close the loop between muscle mechanics and neurons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0D167343-9E47-B5D4-38B3-6A0CF7B53DF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3 · SNS-Simscape blocks and editor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90B2FB58-9FC0-3500-7709-7ED0E13D1ED5}"/>
              </a:ext>
            </a:extLst>
          </p:cNvPr>
          <p:cNvPicPr>
            <a:picLocks/>
          </p:cNvPicPr>
          <p:nvPr/>
        </p:nvPicPr>
        <p:blipFill>
          <a:blip r:embed="rId3"/>
          <a:stretch/>
        </p:blipFill>
        <p:spPr>
          <a:xfrm>
            <a:off x="250032" y="1905000"/>
            <a:ext cx="1571625" cy="1047750"/>
          </a:xfrm>
          <a:prstGeom prst="rect">
            <a:avLst/>
          </a:prstGeom>
        </p:spPr>
      </p:pic>
      <p:sp>
        <p:nvSpPr>
          <p:cNvPr id="5" name="Rectangle 4">
            <a:extLst>
              <a:ext uri="{FF2B5EF4-FFF2-40B4-BE49-F238E27FC236}">
                <a16:creationId xmlns:a16="http://schemas.microsoft.com/office/drawing/2014/main" id="{041C6F8F-4AFF-664C-E40C-21578FCC89AD}"/>
              </a:ext>
            </a:extLst>
          </p:cNvPr>
          <p:cNvSpPr>
            <a:spLocks noGrp="1"/>
          </p:cNvSpPr>
          <p:nvPr/>
        </p:nvSpPr>
        <p:spPr>
          <a:xfrm>
            <a:off x="250032" y="3357564"/>
            <a:ext cx="1643063" cy="500063"/>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Ia feedback</a:t>
            </a:r>
          </a:p>
        </p:txBody>
      </p:sp>
      <p:sp>
        <p:nvSpPr>
          <p:cNvPr id="6" name="Arrow: Right 5">
            <a:extLst>
              <a:ext uri="{FF2B5EF4-FFF2-40B4-BE49-F238E27FC236}">
                <a16:creationId xmlns:a16="http://schemas.microsoft.com/office/drawing/2014/main" id="{90DBB413-5689-CA3C-DA91-3354C0E77AF0}"/>
              </a:ext>
            </a:extLst>
          </p:cNvPr>
          <p:cNvSpPr>
            <a:spLocks noGrp="1"/>
          </p:cNvSpPr>
          <p:nvPr/>
        </p:nvSpPr>
        <p:spPr>
          <a:xfrm>
            <a:off x="1785938" y="2307431"/>
            <a:ext cx="250031" cy="128588"/>
          </a:xfrm>
          <a:prstGeom prst="rightArrow">
            <a:avLst/>
          </a:prstGeom>
          <a:solidFill>
            <a:srgbClr val="006D77"/>
          </a:solidFill>
          <a:ln w="0">
            <a:noFill/>
          </a:ln>
        </p:spPr>
      </p:sp>
      <p:pic>
        <p:nvPicPr>
          <p:cNvPr id="14" name="Picture 13">
            <a:extLst>
              <a:ext uri="{FF2B5EF4-FFF2-40B4-BE49-F238E27FC236}">
                <a16:creationId xmlns:a16="http://schemas.microsoft.com/office/drawing/2014/main" id="{7E9939EA-9FD0-4C1D-0B2E-5A9655163231}"/>
              </a:ext>
            </a:extLst>
          </p:cNvPr>
          <p:cNvPicPr>
            <a:picLocks/>
          </p:cNvPicPr>
          <p:nvPr/>
        </p:nvPicPr>
        <p:blipFill>
          <a:blip r:embed="rId4"/>
          <a:stretch/>
        </p:blipFill>
        <p:spPr>
          <a:xfrm>
            <a:off x="2000251" y="1898452"/>
            <a:ext cx="1571625" cy="1060847"/>
          </a:xfrm>
          <a:prstGeom prst="rect">
            <a:avLst/>
          </a:prstGeom>
        </p:spPr>
      </p:pic>
      <p:sp>
        <p:nvSpPr>
          <p:cNvPr id="15" name="Rectangle 14">
            <a:extLst>
              <a:ext uri="{FF2B5EF4-FFF2-40B4-BE49-F238E27FC236}">
                <a16:creationId xmlns:a16="http://schemas.microsoft.com/office/drawing/2014/main" id="{796AC485-68C1-1648-C528-0CAF3F03763A}"/>
              </a:ext>
            </a:extLst>
          </p:cNvPr>
          <p:cNvSpPr>
            <a:spLocks noGrp="1"/>
          </p:cNvSpPr>
          <p:nvPr/>
        </p:nvSpPr>
        <p:spPr>
          <a:xfrm>
            <a:off x="2000251" y="3357564"/>
            <a:ext cx="1643063" cy="500063"/>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Synaptic current</a:t>
            </a:r>
          </a:p>
        </p:txBody>
      </p:sp>
      <p:sp>
        <p:nvSpPr>
          <p:cNvPr id="16" name="Arrow: Right 15">
            <a:extLst>
              <a:ext uri="{FF2B5EF4-FFF2-40B4-BE49-F238E27FC236}">
                <a16:creationId xmlns:a16="http://schemas.microsoft.com/office/drawing/2014/main" id="{A3445715-2DBB-29F4-9E64-6FA2BF62C5EC}"/>
              </a:ext>
            </a:extLst>
          </p:cNvPr>
          <p:cNvSpPr>
            <a:spLocks noGrp="1"/>
          </p:cNvSpPr>
          <p:nvPr/>
        </p:nvSpPr>
        <p:spPr>
          <a:xfrm>
            <a:off x="3536156" y="2307431"/>
            <a:ext cx="250031" cy="128588"/>
          </a:xfrm>
          <a:prstGeom prst="rightArrow">
            <a:avLst/>
          </a:prstGeom>
          <a:solidFill>
            <a:srgbClr val="006D77"/>
          </a:solidFill>
          <a:ln w="0">
            <a:noFill/>
          </a:ln>
        </p:spPr>
      </p:sp>
      <p:pic>
        <p:nvPicPr>
          <p:cNvPr id="17" name="Picture 16">
            <a:extLst>
              <a:ext uri="{FF2B5EF4-FFF2-40B4-BE49-F238E27FC236}">
                <a16:creationId xmlns:a16="http://schemas.microsoft.com/office/drawing/2014/main" id="{B3BBFE8B-F42E-8904-6DAC-F61429476110}"/>
              </a:ext>
            </a:extLst>
          </p:cNvPr>
          <p:cNvPicPr>
            <a:picLocks/>
          </p:cNvPicPr>
          <p:nvPr/>
        </p:nvPicPr>
        <p:blipFill>
          <a:blip r:embed="rId5"/>
          <a:stretch/>
        </p:blipFill>
        <p:spPr>
          <a:xfrm>
            <a:off x="3750470" y="1930631"/>
            <a:ext cx="1571625" cy="996491"/>
          </a:xfrm>
          <a:prstGeom prst="rect">
            <a:avLst/>
          </a:prstGeom>
        </p:spPr>
      </p:pic>
      <p:sp>
        <p:nvSpPr>
          <p:cNvPr id="18" name="Rectangle 17">
            <a:extLst>
              <a:ext uri="{FF2B5EF4-FFF2-40B4-BE49-F238E27FC236}">
                <a16:creationId xmlns:a16="http://schemas.microsoft.com/office/drawing/2014/main" id="{AD35DB73-95B7-335A-54BB-1939D8605DDB}"/>
              </a:ext>
            </a:extLst>
          </p:cNvPr>
          <p:cNvSpPr>
            <a:spLocks noGrp="1"/>
          </p:cNvSpPr>
          <p:nvPr/>
        </p:nvSpPr>
        <p:spPr>
          <a:xfrm>
            <a:off x="3750470" y="3357564"/>
            <a:ext cx="1643063" cy="500063"/>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Motoneuron</a:t>
            </a:r>
          </a:p>
        </p:txBody>
      </p:sp>
      <p:sp>
        <p:nvSpPr>
          <p:cNvPr id="19" name="Arrow: Right 18">
            <a:extLst>
              <a:ext uri="{FF2B5EF4-FFF2-40B4-BE49-F238E27FC236}">
                <a16:creationId xmlns:a16="http://schemas.microsoft.com/office/drawing/2014/main" id="{476C7288-8F8F-A68E-EAF1-9219056E9534}"/>
              </a:ext>
            </a:extLst>
          </p:cNvPr>
          <p:cNvSpPr>
            <a:spLocks noGrp="1"/>
          </p:cNvSpPr>
          <p:nvPr/>
        </p:nvSpPr>
        <p:spPr>
          <a:xfrm>
            <a:off x="5286375" y="2307431"/>
            <a:ext cx="250031" cy="128588"/>
          </a:xfrm>
          <a:prstGeom prst="rightArrow">
            <a:avLst/>
          </a:prstGeom>
          <a:solidFill>
            <a:srgbClr val="006D77"/>
          </a:solidFill>
          <a:ln w="0">
            <a:noFill/>
          </a:ln>
        </p:spPr>
      </p:sp>
      <p:pic>
        <p:nvPicPr>
          <p:cNvPr id="20" name="Picture 19">
            <a:extLst>
              <a:ext uri="{FF2B5EF4-FFF2-40B4-BE49-F238E27FC236}">
                <a16:creationId xmlns:a16="http://schemas.microsoft.com/office/drawing/2014/main" id="{CEFA441A-C556-220D-100B-4E5F360B2BA6}"/>
              </a:ext>
            </a:extLst>
          </p:cNvPr>
          <p:cNvPicPr>
            <a:picLocks/>
          </p:cNvPicPr>
          <p:nvPr/>
        </p:nvPicPr>
        <p:blipFill>
          <a:blip r:embed="rId6"/>
          <a:stretch/>
        </p:blipFill>
        <p:spPr>
          <a:xfrm>
            <a:off x="5500689" y="1898452"/>
            <a:ext cx="1571625" cy="1060847"/>
          </a:xfrm>
          <a:prstGeom prst="rect">
            <a:avLst/>
          </a:prstGeom>
        </p:spPr>
      </p:pic>
      <p:sp>
        <p:nvSpPr>
          <p:cNvPr id="21" name="Rectangle 20">
            <a:extLst>
              <a:ext uri="{FF2B5EF4-FFF2-40B4-BE49-F238E27FC236}">
                <a16:creationId xmlns:a16="http://schemas.microsoft.com/office/drawing/2014/main" id="{02888794-4EC8-B0BE-55A9-C61EF5AB2083}"/>
              </a:ext>
            </a:extLst>
          </p:cNvPr>
          <p:cNvSpPr>
            <a:spLocks noGrp="1"/>
          </p:cNvSpPr>
          <p:nvPr/>
        </p:nvSpPr>
        <p:spPr>
          <a:xfrm>
            <a:off x="5500689" y="3357564"/>
            <a:ext cx="1643063" cy="500063"/>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Activation</a:t>
            </a:r>
          </a:p>
        </p:txBody>
      </p:sp>
      <p:sp>
        <p:nvSpPr>
          <p:cNvPr id="22" name="Arrow: Right 21">
            <a:extLst>
              <a:ext uri="{FF2B5EF4-FFF2-40B4-BE49-F238E27FC236}">
                <a16:creationId xmlns:a16="http://schemas.microsoft.com/office/drawing/2014/main" id="{0B1E4E1C-518A-AD8D-6F43-123DB1FF4223}"/>
              </a:ext>
            </a:extLst>
          </p:cNvPr>
          <p:cNvSpPr>
            <a:spLocks noGrp="1"/>
          </p:cNvSpPr>
          <p:nvPr/>
        </p:nvSpPr>
        <p:spPr>
          <a:xfrm>
            <a:off x="7036594" y="2307431"/>
            <a:ext cx="250031" cy="128588"/>
          </a:xfrm>
          <a:prstGeom prst="rightArrow">
            <a:avLst/>
          </a:prstGeom>
          <a:solidFill>
            <a:srgbClr val="006D77"/>
          </a:solidFill>
          <a:ln w="0">
            <a:noFill/>
          </a:ln>
        </p:spPr>
      </p:sp>
      <p:pic>
        <p:nvPicPr>
          <p:cNvPr id="23" name="Picture 22">
            <a:extLst>
              <a:ext uri="{FF2B5EF4-FFF2-40B4-BE49-F238E27FC236}">
                <a16:creationId xmlns:a16="http://schemas.microsoft.com/office/drawing/2014/main" id="{7FF0C69A-928F-C9E4-F610-242337C48497}"/>
              </a:ext>
            </a:extLst>
          </p:cNvPr>
          <p:cNvPicPr>
            <a:picLocks/>
          </p:cNvPicPr>
          <p:nvPr/>
        </p:nvPicPr>
        <p:blipFill>
          <a:blip r:embed="rId7"/>
          <a:stretch/>
        </p:blipFill>
        <p:spPr>
          <a:xfrm>
            <a:off x="7250907" y="1878806"/>
            <a:ext cx="1571625" cy="1100138"/>
          </a:xfrm>
          <a:prstGeom prst="rect">
            <a:avLst/>
          </a:prstGeom>
        </p:spPr>
      </p:pic>
      <p:sp>
        <p:nvSpPr>
          <p:cNvPr id="24" name="Rectangle 23">
            <a:extLst>
              <a:ext uri="{FF2B5EF4-FFF2-40B4-BE49-F238E27FC236}">
                <a16:creationId xmlns:a16="http://schemas.microsoft.com/office/drawing/2014/main" id="{DA10AC9A-0B5C-3321-C1B2-47B1D80324B2}"/>
              </a:ext>
            </a:extLst>
          </p:cNvPr>
          <p:cNvSpPr>
            <a:spLocks noGrp="1"/>
          </p:cNvSpPr>
          <p:nvPr/>
        </p:nvSpPr>
        <p:spPr>
          <a:xfrm>
            <a:off x="7250907" y="3357564"/>
            <a:ext cx="1643063" cy="500063"/>
          </a:xfrm>
          <a:prstGeom prst="rect">
            <a:avLst/>
          </a:prstGeom>
          <a:noFill/>
          <a:ln w="0">
            <a:noFill/>
          </a:ln>
        </p:spPr>
        <p:txBody>
          <a:bodyPr lIns="0" tIns="0" rIns="0" bIns="0" anchor="t"/>
          <a:lstStyle>
            <a:defPPr>
              <a:defRPr sz="1875" b="1">
                <a:solidFill>
                  <a:srgbClr val="006D77"/>
                </a:solidFill>
                <a:latin typeface="Calibri"/>
                <a:ea typeface="Calibri"/>
                <a:cs typeface="Calibri"/>
              </a:defRPr>
            </a:defPPr>
            <a:lvl1pPr>
              <a:defRPr sz="1875" b="1">
                <a:solidFill>
                  <a:srgbClr val="006D77"/>
                </a:solidFill>
                <a:latin typeface="Calibri"/>
                <a:ea typeface="Calibri"/>
                <a:cs typeface="Calibri"/>
              </a:defRPr>
            </a:lvl1pPr>
            <a:lvl2pPr>
              <a:defRPr sz="1875" b="1">
                <a:solidFill>
                  <a:srgbClr val="006D77"/>
                </a:solidFill>
                <a:latin typeface="Calibri"/>
                <a:ea typeface="Calibri"/>
                <a:cs typeface="Calibri"/>
              </a:defRPr>
            </a:lvl2pPr>
            <a:lvl3pPr>
              <a:defRPr sz="1875" b="1">
                <a:solidFill>
                  <a:srgbClr val="006D77"/>
                </a:solidFill>
                <a:latin typeface="Calibri"/>
                <a:ea typeface="Calibri"/>
                <a:cs typeface="Calibri"/>
              </a:defRPr>
            </a:lvl3pPr>
            <a:lvl4pPr>
              <a:defRPr sz="1875" b="1">
                <a:solidFill>
                  <a:srgbClr val="006D77"/>
                </a:solidFill>
                <a:latin typeface="Calibri"/>
                <a:ea typeface="Calibri"/>
                <a:cs typeface="Calibri"/>
              </a:defRPr>
            </a:lvl4pPr>
            <a:lvl5pPr>
              <a:defRPr sz="1875" b="1">
                <a:solidFill>
                  <a:srgbClr val="006D77"/>
                </a:solidFill>
                <a:latin typeface="Calibri"/>
                <a:ea typeface="Calibri"/>
                <a:cs typeface="Calibri"/>
              </a:defRPr>
            </a:lvl5pPr>
            <a:lvl6pPr>
              <a:defRPr sz="1875" b="1">
                <a:solidFill>
                  <a:srgbClr val="006D77"/>
                </a:solidFill>
                <a:latin typeface="Calibri"/>
                <a:ea typeface="Calibri"/>
                <a:cs typeface="Calibri"/>
              </a:defRPr>
            </a:lvl6pPr>
            <a:lvl7pPr>
              <a:defRPr sz="1875" b="1">
                <a:solidFill>
                  <a:srgbClr val="006D77"/>
                </a:solidFill>
                <a:latin typeface="Calibri"/>
                <a:ea typeface="Calibri"/>
                <a:cs typeface="Calibri"/>
              </a:defRPr>
            </a:lvl7pPr>
            <a:lvl8pPr>
              <a:defRPr sz="1875" b="1">
                <a:solidFill>
                  <a:srgbClr val="006D77"/>
                </a:solidFill>
                <a:latin typeface="Calibri"/>
                <a:ea typeface="Calibri"/>
                <a:cs typeface="Calibri"/>
              </a:defRPr>
            </a:lvl8pPr>
            <a:lvl9pPr>
              <a:defRPr sz="1875" b="1">
                <a:solidFill>
                  <a:srgbClr val="006D77"/>
                </a:solidFill>
                <a:latin typeface="Calibri"/>
                <a:ea typeface="Calibri"/>
                <a:cs typeface="Calibri"/>
              </a:defRPr>
            </a:lvl9pPr>
          </a:lstStyle>
          <a:p>
            <a:pPr>
              <a:defRPr sz="1875" b="1">
                <a:solidFill>
                  <a:srgbClr val="006D77"/>
                </a:solidFill>
                <a:latin typeface="Calibri"/>
                <a:ea typeface="Calibri"/>
                <a:cs typeface="Calibri"/>
              </a:defRPr>
            </a:pPr>
            <a:r>
              <a:rPr sz="1406" b="1">
                <a:solidFill>
                  <a:srgbClr val="006D77"/>
                </a:solidFill>
                <a:latin typeface="Calibri"/>
                <a:ea typeface="Calibri"/>
                <a:cs typeface="Calibri"/>
              </a:rPr>
              <a:t>BPA force</a:t>
            </a:r>
          </a:p>
        </p:txBody>
      </p:sp>
      <p:sp>
        <p:nvSpPr>
          <p:cNvPr id="25" name="Rectangle 24">
            <a:extLst>
              <a:ext uri="{FF2B5EF4-FFF2-40B4-BE49-F238E27FC236}">
                <a16:creationId xmlns:a16="http://schemas.microsoft.com/office/drawing/2014/main" id="{0C159CE3-6737-0382-51CE-2B055C1903F4}"/>
              </a:ext>
            </a:extLst>
          </p:cNvPr>
          <p:cNvSpPr>
            <a:spLocks noGrp="1"/>
          </p:cNvSpPr>
          <p:nvPr/>
        </p:nvSpPr>
        <p:spPr>
          <a:xfrm>
            <a:off x="464345" y="4186238"/>
            <a:ext cx="8215313" cy="300038"/>
          </a:xfrm>
          <a:prstGeom prst="rect">
            <a:avLst/>
          </a:prstGeom>
          <a:noFill/>
          <a:ln w="0">
            <a:noFill/>
          </a:ln>
        </p:spPr>
        <p:txBody>
          <a:bodyPr lIns="0" tIns="0" rIns="0" bIns="0" anchor="t"/>
          <a:lstStyle>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a:pPr>
              <a:defRPr sz="2175" b="0">
                <a:solidFill>
                  <a:srgbClr val="202C33"/>
                </a:solidFill>
                <a:latin typeface="Calibri"/>
                <a:ea typeface="Calibri"/>
                <a:cs typeface="Calibri"/>
              </a:defRPr>
            </a:pPr>
            <a:r>
              <a:rPr sz="1631" b="0">
                <a:solidFill>
                  <a:srgbClr val="202C33"/>
                </a:solidFill>
                <a:latin typeface="Calibri"/>
                <a:ea typeface="Calibri"/>
                <a:cs typeface="Calibri"/>
              </a:rPr>
              <a:t>Muscle length and velocity return through the coupled model</a:t>
            </a:r>
          </a:p>
        </p:txBody>
      </p:sp>
      <p:sp>
        <p:nvSpPr>
          <p:cNvPr id="26" name="TextBox 25">
            <a:extLst>
              <a:ext uri="{FF2B5EF4-FFF2-40B4-BE49-F238E27FC236}">
                <a16:creationId xmlns:a16="http://schemas.microsoft.com/office/drawing/2014/main" id="{E3EB66BD-75AD-281B-5F12-BC5FF389B84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18</a:t>
            </a:r>
          </a:p>
        </p:txBody>
      </p:sp>
    </p:spTree>
    <p:extLst>
      <p:ext uri="{BB962C8B-B14F-4D97-AF65-F5344CB8AC3E}">
        <p14:creationId xmlns:p14="http://schemas.microsoft.com/office/powerpoint/2010/main" val="2311203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D7E0599A-1124-BFC8-E7C2-238E85F103CC}"/>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Sensory feedback reduces sag in the loaded-arm model</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8D10B107-5283-2DAC-9382-912CEA0FD0DB}"/>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3 · SNS-Simscape blocks and editor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C07FEC47-3FBF-05AD-516E-988BC7AFBC41}"/>
              </a:ext>
            </a:extLst>
          </p:cNvPr>
          <p:cNvPicPr>
            <a:picLocks/>
          </p:cNvPicPr>
          <p:nvPr/>
        </p:nvPicPr>
        <p:blipFill>
          <a:blip r:embed="rId3"/>
          <a:stretch/>
        </p:blipFill>
        <p:spPr>
          <a:xfrm>
            <a:off x="838933" y="1271588"/>
            <a:ext cx="3179884" cy="1143000"/>
          </a:xfrm>
          <a:prstGeom prst="rect">
            <a:avLst/>
          </a:prstGeom>
        </p:spPr>
      </p:pic>
      <p:pic>
        <p:nvPicPr>
          <p:cNvPr id="5" name="Picture 4">
            <a:extLst>
              <a:ext uri="{FF2B5EF4-FFF2-40B4-BE49-F238E27FC236}">
                <a16:creationId xmlns:a16="http://schemas.microsoft.com/office/drawing/2014/main" id="{04D3EBA9-FF4F-F50A-DF0D-3860B60767F0}"/>
              </a:ext>
            </a:extLst>
          </p:cNvPr>
          <p:cNvPicPr>
            <a:picLocks/>
          </p:cNvPicPr>
          <p:nvPr/>
        </p:nvPicPr>
        <p:blipFill>
          <a:blip r:embed="rId4"/>
          <a:stretch/>
        </p:blipFill>
        <p:spPr>
          <a:xfrm>
            <a:off x="641424" y="2536032"/>
            <a:ext cx="3574902" cy="1680369"/>
          </a:xfrm>
          <a:prstGeom prst="rect">
            <a:avLst/>
          </a:prstGeom>
        </p:spPr>
      </p:pic>
      <p:pic>
        <p:nvPicPr>
          <p:cNvPr id="6" name="Picture 5">
            <a:extLst>
              <a:ext uri="{FF2B5EF4-FFF2-40B4-BE49-F238E27FC236}">
                <a16:creationId xmlns:a16="http://schemas.microsoft.com/office/drawing/2014/main" id="{38099BDC-2C1E-B901-721E-74137E320471}"/>
              </a:ext>
            </a:extLst>
          </p:cNvPr>
          <p:cNvPicPr>
            <a:picLocks/>
          </p:cNvPicPr>
          <p:nvPr/>
        </p:nvPicPr>
        <p:blipFill>
          <a:blip r:embed="rId5"/>
          <a:stretch/>
        </p:blipFill>
        <p:spPr>
          <a:xfrm>
            <a:off x="5208749" y="1535906"/>
            <a:ext cx="3048470" cy="2680494"/>
          </a:xfrm>
          <a:prstGeom prst="rect">
            <a:avLst/>
          </a:prstGeom>
        </p:spPr>
      </p:pic>
      <p:sp>
        <p:nvSpPr>
          <p:cNvPr id="7" name="Rectangle 6">
            <a:extLst>
              <a:ext uri="{FF2B5EF4-FFF2-40B4-BE49-F238E27FC236}">
                <a16:creationId xmlns:a16="http://schemas.microsoft.com/office/drawing/2014/main" id="{1900F5B4-FB2B-42D4-95F6-D6F479E4A1D9}"/>
              </a:ext>
            </a:extLst>
          </p:cNvPr>
          <p:cNvSpPr>
            <a:spLocks noGrp="1"/>
          </p:cNvSpPr>
          <p:nvPr/>
        </p:nvSpPr>
        <p:spPr>
          <a:xfrm>
            <a:off x="4929189" y="1228725"/>
            <a:ext cx="3571875" cy="300038"/>
          </a:xfrm>
          <a:prstGeom prst="rect">
            <a:avLst/>
          </a:prstGeom>
          <a:noFill/>
          <a:ln w="0">
            <a:noFill/>
          </a:ln>
        </p:spPr>
        <p:txBody>
          <a:bodyPr lIns="0" tIns="0" rIns="0" bIns="0" anchor="t"/>
          <a:lstStyle>
            <a:defPPr>
              <a:defRPr sz="1950" b="1">
                <a:solidFill>
                  <a:srgbClr val="202C33"/>
                </a:solidFill>
                <a:latin typeface="Calibri"/>
                <a:ea typeface="Calibri"/>
                <a:cs typeface="Calibri"/>
              </a:defRPr>
            </a:defPPr>
            <a:lvl1pPr>
              <a:defRPr sz="1950" b="1">
                <a:solidFill>
                  <a:srgbClr val="202C33"/>
                </a:solidFill>
                <a:latin typeface="Calibri"/>
                <a:ea typeface="Calibri"/>
                <a:cs typeface="Calibri"/>
              </a:defRPr>
            </a:lvl1pPr>
            <a:lvl2pPr>
              <a:defRPr sz="1950" b="1">
                <a:solidFill>
                  <a:srgbClr val="202C33"/>
                </a:solidFill>
                <a:latin typeface="Calibri"/>
                <a:ea typeface="Calibri"/>
                <a:cs typeface="Calibri"/>
              </a:defRPr>
            </a:lvl2pPr>
            <a:lvl3pPr>
              <a:defRPr sz="1950" b="1">
                <a:solidFill>
                  <a:srgbClr val="202C33"/>
                </a:solidFill>
                <a:latin typeface="Calibri"/>
                <a:ea typeface="Calibri"/>
                <a:cs typeface="Calibri"/>
              </a:defRPr>
            </a:lvl3pPr>
            <a:lvl4pPr>
              <a:defRPr sz="1950" b="1">
                <a:solidFill>
                  <a:srgbClr val="202C33"/>
                </a:solidFill>
                <a:latin typeface="Calibri"/>
                <a:ea typeface="Calibri"/>
                <a:cs typeface="Calibri"/>
              </a:defRPr>
            </a:lvl4pPr>
            <a:lvl5pPr>
              <a:defRPr sz="1950" b="1">
                <a:solidFill>
                  <a:srgbClr val="202C33"/>
                </a:solidFill>
                <a:latin typeface="Calibri"/>
                <a:ea typeface="Calibri"/>
                <a:cs typeface="Calibri"/>
              </a:defRPr>
            </a:lvl5pPr>
            <a:lvl6pPr>
              <a:defRPr sz="1950" b="1">
                <a:solidFill>
                  <a:srgbClr val="202C33"/>
                </a:solidFill>
                <a:latin typeface="Calibri"/>
                <a:ea typeface="Calibri"/>
                <a:cs typeface="Calibri"/>
              </a:defRPr>
            </a:lvl6pPr>
            <a:lvl7pPr>
              <a:defRPr sz="1950" b="1">
                <a:solidFill>
                  <a:srgbClr val="202C33"/>
                </a:solidFill>
                <a:latin typeface="Calibri"/>
                <a:ea typeface="Calibri"/>
                <a:cs typeface="Calibri"/>
              </a:defRPr>
            </a:lvl7pPr>
            <a:lvl8pPr>
              <a:defRPr sz="1950" b="1">
                <a:solidFill>
                  <a:srgbClr val="202C33"/>
                </a:solidFill>
                <a:latin typeface="Calibri"/>
                <a:ea typeface="Calibri"/>
                <a:cs typeface="Calibri"/>
              </a:defRPr>
            </a:lvl8pPr>
            <a:lvl9pPr>
              <a:defRPr sz="1950" b="1">
                <a:solidFill>
                  <a:srgbClr val="202C33"/>
                </a:solidFill>
                <a:latin typeface="Calibri"/>
                <a:ea typeface="Calibri"/>
                <a:cs typeface="Calibri"/>
              </a:defRPr>
            </a:lvl9pPr>
          </a:lstStyle>
          <a:p>
            <a:pPr>
              <a:defRPr sz="1950" b="1">
                <a:solidFill>
                  <a:srgbClr val="202C33"/>
                </a:solidFill>
                <a:latin typeface="Calibri"/>
                <a:ea typeface="Calibri"/>
                <a:cs typeface="Calibri"/>
              </a:defRPr>
            </a:pPr>
            <a:r>
              <a:rPr sz="1463" b="1">
                <a:solidFill>
                  <a:srgbClr val="202C33"/>
                </a:solidFill>
                <a:latin typeface="Calibri"/>
                <a:ea typeface="Calibri"/>
                <a:cs typeface="Calibri"/>
              </a:rPr>
              <a:t>B  Feedback on/off</a:t>
            </a:r>
          </a:p>
        </p:txBody>
      </p:sp>
      <p:sp>
        <p:nvSpPr>
          <p:cNvPr id="8" name="Rectangle 7">
            <a:extLst>
              <a:ext uri="{FF2B5EF4-FFF2-40B4-BE49-F238E27FC236}">
                <a16:creationId xmlns:a16="http://schemas.microsoft.com/office/drawing/2014/main" id="{897F99CC-ACD8-7333-6F29-FE1401D40B9A}"/>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Sag: 2.00° with feedback · 7.85° without feedback</a:t>
            </a:r>
          </a:p>
        </p:txBody>
      </p:sp>
      <p:sp>
        <p:nvSpPr>
          <p:cNvPr id="9" name="TextBox 8">
            <a:extLst>
              <a:ext uri="{FF2B5EF4-FFF2-40B4-BE49-F238E27FC236}">
                <a16:creationId xmlns:a16="http://schemas.microsoft.com/office/drawing/2014/main" id="{791AEEEB-0358-7A87-ED00-70B544A94C93}"/>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19</a:t>
            </a:r>
          </a:p>
        </p:txBody>
      </p:sp>
    </p:spTree>
    <p:extLst>
      <p:ext uri="{BB962C8B-B14F-4D97-AF65-F5344CB8AC3E}">
        <p14:creationId xmlns:p14="http://schemas.microsoft.com/office/powerpoint/2010/main" val="3578114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7EACCBC-F2CE-63FB-F154-CC46EA65C54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Extra abductor control prevents crossing in the AH001 test</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93A5155A-3462-CC36-4AE2-CC7AFA8D8D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4 · CAD-derived robot model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DCA50E5A-19D4-FF1F-9E6F-06C82358207A}"/>
              </a:ext>
            </a:extLst>
          </p:cNvPr>
          <p:cNvPicPr>
            <a:picLocks/>
          </p:cNvPicPr>
          <p:nvPr/>
        </p:nvPicPr>
        <p:blipFill>
          <a:blip r:embed="rId3"/>
          <a:stretch/>
        </p:blipFill>
        <p:spPr>
          <a:xfrm>
            <a:off x="756387" y="1285876"/>
            <a:ext cx="5023757" cy="2930525"/>
          </a:xfrm>
          <a:prstGeom prst="rect">
            <a:avLst/>
          </a:prstGeom>
        </p:spPr>
      </p:pic>
      <p:graphicFrame>
        <p:nvGraphicFramePr>
          <p:cNvPr id="5" name="Table 4">
            <a:extLst>
              <a:ext uri="{FF2B5EF4-FFF2-40B4-BE49-F238E27FC236}">
                <a16:creationId xmlns:a16="http://schemas.microsoft.com/office/drawing/2014/main" id="{B7B4782E-29AF-15F4-5636-AB5F023FB781}"/>
              </a:ext>
            </a:extLst>
          </p:cNvPr>
          <p:cNvGraphicFramePr>
            <a:graphicFrameLocks/>
          </p:cNvGraphicFramePr>
          <p:nvPr>
            <p:extLst>
              <p:ext uri="{D42A27DB-BD31-4B8C-83A1-F6EECF244321}">
                <p14:modId xmlns:p14="http://schemas.microsoft.com/office/powerpoint/2010/main" val="4060222099"/>
              </p:ext>
            </p:extLst>
          </p:nvPr>
        </p:nvGraphicFramePr>
        <p:xfrm>
          <a:off x="6179344" y="1643063"/>
          <a:ext cx="2607469" cy="2071688"/>
        </p:xfrm>
        <a:graphic>
          <a:graphicData uri="http://schemas.openxmlformats.org/drawingml/2006/table">
            <a:tbl>
              <a:tblPr/>
              <a:tblGrid>
                <a:gridCol w="869156">
                  <a:extLst>
                    <a:ext uri="{9D8B030D-6E8A-4147-A177-3AD203B41FA5}">
                      <a16:colId xmlns:a16="http://schemas.microsoft.com/office/drawing/2014/main" val="20000"/>
                    </a:ext>
                  </a:extLst>
                </a:gridCol>
                <a:gridCol w="869156">
                  <a:extLst>
                    <a:ext uri="{9D8B030D-6E8A-4147-A177-3AD203B41FA5}">
                      <a16:colId xmlns:a16="http://schemas.microsoft.com/office/drawing/2014/main" val="20001"/>
                    </a:ext>
                  </a:extLst>
                </a:gridCol>
                <a:gridCol w="869156">
                  <a:extLst>
                    <a:ext uri="{9D8B030D-6E8A-4147-A177-3AD203B41FA5}">
                      <a16:colId xmlns:a16="http://schemas.microsoft.com/office/drawing/2014/main" val="20002"/>
                    </a:ext>
                  </a:extLst>
                </a:gridCol>
              </a:tblGrid>
              <a:tr h="690563">
                <a:tc>
                  <a:txBody>
                    <a:bodyPr/>
                    <a:lstStyle/>
                    <a:p>
                      <a:r>
                        <a:rPr sz="1294" b="1">
                          <a:solidFill>
                            <a:srgbClr val="006D77"/>
                          </a:solidFill>
                          <a:latin typeface="Calibri"/>
                          <a:ea typeface="Calibri"/>
                          <a:cs typeface="Calibri"/>
                        </a:rPr>
                        <a:t>15–40 s</a:t>
                      </a:r>
                    </a:p>
                  </a:txBody>
                  <a:tcPr>
                    <a:solidFill>
                      <a:srgbClr val="FFFFFF"/>
                    </a:solidFill>
                  </a:tcPr>
                </a:tc>
                <a:tc>
                  <a:txBody>
                    <a:bodyPr/>
                    <a:lstStyle/>
                    <a:p>
                      <a:r>
                        <a:rPr sz="1294" b="1">
                          <a:solidFill>
                            <a:srgbClr val="006D77"/>
                          </a:solidFill>
                          <a:latin typeface="Calibri"/>
                          <a:ea typeface="Calibri"/>
                          <a:cs typeface="Calibri"/>
                        </a:rPr>
                        <a:t>Off</a:t>
                      </a:r>
                    </a:p>
                  </a:txBody>
                  <a:tcPr>
                    <a:solidFill>
                      <a:srgbClr val="FFFFFF"/>
                    </a:solidFill>
                  </a:tcPr>
                </a:tc>
                <a:tc>
                  <a:txBody>
                    <a:bodyPr/>
                    <a:lstStyle/>
                    <a:p>
                      <a:r>
                        <a:rPr sz="1294" b="1">
                          <a:solidFill>
                            <a:srgbClr val="006D77"/>
                          </a:solidFill>
                          <a:latin typeface="Calibri"/>
                          <a:ea typeface="Calibri"/>
                          <a:cs typeface="Calibri"/>
                        </a:rPr>
                        <a:t>On</a:t>
                      </a:r>
                    </a:p>
                  </a:txBody>
                  <a:tcPr>
                    <a:solidFill>
                      <a:srgbClr val="FFFFFF"/>
                    </a:solidFill>
                  </a:tcPr>
                </a:tc>
                <a:extLst>
                  <a:ext uri="{0D108BD9-81ED-4DB2-BD59-A6C34878D82A}">
                    <a16:rowId xmlns:a16="http://schemas.microsoft.com/office/drawing/2014/main" val="10000"/>
                  </a:ext>
                </a:extLst>
              </a:tr>
              <a:tr h="690563">
                <a:tc>
                  <a:txBody>
                    <a:bodyPr/>
                    <a:lstStyle/>
                    <a:p>
                      <a:r>
                        <a:rPr sz="1294" b="0">
                          <a:solidFill>
                            <a:srgbClr val="202C33"/>
                          </a:solidFill>
                          <a:latin typeface="Calibri"/>
                          <a:ea typeface="Calibri"/>
                          <a:cs typeface="Calibri"/>
                        </a:rPr>
                        <a:t>Crossed states</a:t>
                      </a:r>
                    </a:p>
                  </a:txBody>
                  <a:tcPr>
                    <a:solidFill>
                      <a:srgbClr val="FFFFFF"/>
                    </a:solidFill>
                  </a:tcPr>
                </a:tc>
                <a:tc>
                  <a:txBody>
                    <a:bodyPr/>
                    <a:lstStyle/>
                    <a:p>
                      <a:r>
                        <a:rPr sz="1294" b="0">
                          <a:solidFill>
                            <a:srgbClr val="202C33"/>
                          </a:solidFill>
                          <a:latin typeface="Calibri"/>
                          <a:ea typeface="Calibri"/>
                          <a:cs typeface="Calibri"/>
                        </a:rPr>
                        <a:t>67%</a:t>
                      </a:r>
                    </a:p>
                  </a:txBody>
                  <a:tcPr>
                    <a:solidFill>
                      <a:srgbClr val="FFFFFF"/>
                    </a:solidFill>
                  </a:tcPr>
                </a:tc>
                <a:tc>
                  <a:txBody>
                    <a:bodyPr/>
                    <a:lstStyle/>
                    <a:p>
                      <a:r>
                        <a:rPr sz="1294"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690563">
                <a:tc>
                  <a:txBody>
                    <a:bodyPr/>
                    <a:lstStyle/>
                    <a:p>
                      <a:r>
                        <a:rPr sz="1294" b="0">
                          <a:solidFill>
                            <a:srgbClr val="202C33"/>
                          </a:solidFill>
                          <a:latin typeface="Calibri"/>
                          <a:ea typeface="Calibri"/>
                          <a:cs typeface="Calibri"/>
                        </a:rPr>
                        <a:t>Min. spacing</a:t>
                      </a:r>
                    </a:p>
                  </a:txBody>
                  <a:tcPr>
                    <a:solidFill>
                      <a:srgbClr val="FFFFFF"/>
                    </a:solidFill>
                  </a:tcPr>
                </a:tc>
                <a:tc>
                  <a:txBody>
                    <a:bodyPr/>
                    <a:lstStyle/>
                    <a:p>
                      <a:r>
                        <a:rPr sz="1294" b="0">
                          <a:solidFill>
                            <a:srgbClr val="202C33"/>
                          </a:solidFill>
                          <a:latin typeface="Calibri"/>
                          <a:ea typeface="Calibri"/>
                          <a:cs typeface="Calibri"/>
                        </a:rPr>
                        <a:t>−38.3 mm</a:t>
                      </a:r>
                    </a:p>
                  </a:txBody>
                  <a:tcPr>
                    <a:solidFill>
                      <a:srgbClr val="FFFFFF"/>
                    </a:solidFill>
                  </a:tcPr>
                </a:tc>
                <a:tc>
                  <a:txBody>
                    <a:bodyPr/>
                    <a:lstStyle/>
                    <a:p>
                      <a:r>
                        <a:rPr sz="1294"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A2E4E3E-A356-8E6C-4C74-4ABC55A08A12}"/>
              </a:ext>
            </a:extLst>
          </p:cNvPr>
          <p:cNvSpPr>
            <a:spLocks noGrp="1"/>
          </p:cNvSpPr>
          <p:nvPr/>
        </p:nvSpPr>
        <p:spPr>
          <a:xfrm>
            <a:off x="428625" y="4203700"/>
            <a:ext cx="8286750" cy="3175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lang="en-US" sz="1050" b="1">
                <a:solidFill>
                  <a:srgbClr val="006D77"/>
                </a:solidFill>
                <a:latin typeface="Calibri"/>
                <a:ea typeface="Calibri"/>
                <a:cs typeface="Calibri"/>
              </a:rPr>
              <a:t>54 reference-tension actuators; 80% vertical + lateral/angular assistance</a:t>
            </a:r>
          </a:p>
          <a:p>
            <a:pPr>
              <a:defRPr sz="2100" b="1">
                <a:solidFill>
                  <a:srgbClr val="006D77"/>
                </a:solidFill>
                <a:latin typeface="Calibri"/>
                <a:ea typeface="Calibri"/>
                <a:cs typeface="Calibri"/>
              </a:defRPr>
            </a:pPr>
            <a:r>
              <a:rPr lang="en-US" sz="1050" b="1">
                <a:solidFill>
                  <a:srgbClr val="006D77"/>
                </a:solidFill>
                <a:latin typeface="Calibri"/>
                <a:ea typeface="Calibri"/>
                <a:cs typeface="Calibri"/>
              </a:rPr>
              <a:t>MN clamp cancels PF/reflex currents; regular stepping unverified</a:t>
            </a:r>
            <a:endParaRPr sz="1050" b="1">
              <a:solidFill>
                <a:srgbClr val="006D77"/>
              </a:solidFill>
              <a:latin typeface="Calibri"/>
              <a:ea typeface="Calibri"/>
              <a:cs typeface="Calibri"/>
            </a:endParaRPr>
          </a:p>
        </p:txBody>
      </p:sp>
      <p:sp>
        <p:nvSpPr>
          <p:cNvPr id="7" name="TextBox 6">
            <a:extLst>
              <a:ext uri="{FF2B5EF4-FFF2-40B4-BE49-F238E27FC236}">
                <a16:creationId xmlns:a16="http://schemas.microsoft.com/office/drawing/2014/main" id="{E3A69C0C-0A85-8F02-61C8-A508C587CD0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20</a:t>
            </a:r>
          </a:p>
        </p:txBody>
      </p:sp>
    </p:spTree>
    <p:extLst>
      <p:ext uri="{BB962C8B-B14F-4D97-AF65-F5344CB8AC3E}">
        <p14:creationId xmlns:p14="http://schemas.microsoft.com/office/powerpoint/2010/main" val="372464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26751A8-A6F1-98F2-E9B6-BEBFC6809CAC}"/>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MuJoCo–Simulink bridge preserves measured signals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95242790-39B2-97BD-47DD-FD2AD82EA3B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5 · MuJoCo–Simulink integration · Dissertation Table 6.1</a:t>
            </a:r>
            <a:endParaRPr sz="788" b="0">
              <a:solidFill>
                <a:srgbClr val="53616A"/>
              </a:solidFill>
              <a:latin typeface="Calibri"/>
              <a:ea typeface="Calibri"/>
              <a:cs typeface="Calibri"/>
            </a:endParaRPr>
          </a:p>
        </p:txBody>
      </p:sp>
      <p:sp>
        <p:nvSpPr>
          <p:cNvPr id="4" name="Rectangle 3">
            <a:extLst>
              <a:ext uri="{FF2B5EF4-FFF2-40B4-BE49-F238E27FC236}">
                <a16:creationId xmlns:a16="http://schemas.microsoft.com/office/drawing/2014/main" id="{0F8EB9F0-09DB-B91B-16A9-E267480C631B}"/>
              </a:ext>
            </a:extLst>
          </p:cNvPr>
          <p:cNvSpPr>
            <a:spLocks noGrp="1"/>
          </p:cNvSpPr>
          <p:nvPr/>
        </p:nvSpPr>
        <p:spPr>
          <a:xfrm>
            <a:off x="392907" y="1285875"/>
            <a:ext cx="3071813" cy="892969"/>
          </a:xfrm>
          <a:prstGeom prst="rect">
            <a:avLst/>
          </a:prstGeom>
          <a:solidFill>
            <a:srgbClr val="F3F6F7"/>
          </a:solidFill>
          <a:ln w="14288">
            <a:solidFill>
              <a:srgbClr val="006D77"/>
            </a:solidFill>
          </a:ln>
        </p:spPr>
      </p:sp>
      <p:sp>
        <p:nvSpPr>
          <p:cNvPr id="5" name="Rectangle 4">
            <a:extLst>
              <a:ext uri="{FF2B5EF4-FFF2-40B4-BE49-F238E27FC236}">
                <a16:creationId xmlns:a16="http://schemas.microsoft.com/office/drawing/2014/main" id="{67BACDA3-105E-F56D-5AE9-40B112112A2B}"/>
              </a:ext>
            </a:extLst>
          </p:cNvPr>
          <p:cNvSpPr>
            <a:spLocks noGrp="1"/>
          </p:cNvSpPr>
          <p:nvPr/>
        </p:nvSpPr>
        <p:spPr>
          <a:xfrm>
            <a:off x="607220" y="1443038"/>
            <a:ext cx="2714625" cy="642938"/>
          </a:xfrm>
          <a:prstGeom prst="rect">
            <a:avLst/>
          </a:prstGeom>
          <a:noFill/>
          <a:ln w="0">
            <a:noFill/>
          </a:ln>
        </p:spPr>
        <p:txBody>
          <a:bodyPr lIns="0" tIns="0" rIns="0" bIns="0" anchor="t"/>
          <a:lstStyle>
            <a:defPPr>
              <a:defRPr sz="2250" b="1">
                <a:solidFill>
                  <a:srgbClr val="202C33"/>
                </a:solidFill>
                <a:latin typeface="Calibri"/>
                <a:ea typeface="Calibri"/>
                <a:cs typeface="Calibri"/>
              </a:defRPr>
            </a:defPPr>
            <a:lvl1pPr>
              <a:defRPr sz="2250" b="1">
                <a:solidFill>
                  <a:srgbClr val="202C33"/>
                </a:solidFill>
                <a:latin typeface="Calibri"/>
                <a:ea typeface="Calibri"/>
                <a:cs typeface="Calibri"/>
              </a:defRPr>
            </a:lvl1pPr>
            <a:lvl2pPr>
              <a:defRPr sz="2250" b="1">
                <a:solidFill>
                  <a:srgbClr val="202C33"/>
                </a:solidFill>
                <a:latin typeface="Calibri"/>
                <a:ea typeface="Calibri"/>
                <a:cs typeface="Calibri"/>
              </a:defRPr>
            </a:lvl2pPr>
            <a:lvl3pPr>
              <a:defRPr sz="2250" b="1">
                <a:solidFill>
                  <a:srgbClr val="202C33"/>
                </a:solidFill>
                <a:latin typeface="Calibri"/>
                <a:ea typeface="Calibri"/>
                <a:cs typeface="Calibri"/>
              </a:defRPr>
            </a:lvl3pPr>
            <a:lvl4pPr>
              <a:defRPr sz="2250" b="1">
                <a:solidFill>
                  <a:srgbClr val="202C33"/>
                </a:solidFill>
                <a:latin typeface="Calibri"/>
                <a:ea typeface="Calibri"/>
                <a:cs typeface="Calibri"/>
              </a:defRPr>
            </a:lvl4pPr>
            <a:lvl5pPr>
              <a:defRPr sz="2250" b="1">
                <a:solidFill>
                  <a:srgbClr val="202C33"/>
                </a:solidFill>
                <a:latin typeface="Calibri"/>
                <a:ea typeface="Calibri"/>
                <a:cs typeface="Calibri"/>
              </a:defRPr>
            </a:lvl5pPr>
            <a:lvl6pPr>
              <a:defRPr sz="2250" b="1">
                <a:solidFill>
                  <a:srgbClr val="202C33"/>
                </a:solidFill>
                <a:latin typeface="Calibri"/>
                <a:ea typeface="Calibri"/>
                <a:cs typeface="Calibri"/>
              </a:defRPr>
            </a:lvl6pPr>
            <a:lvl7pPr>
              <a:defRPr sz="2250" b="1">
                <a:solidFill>
                  <a:srgbClr val="202C33"/>
                </a:solidFill>
                <a:latin typeface="Calibri"/>
                <a:ea typeface="Calibri"/>
                <a:cs typeface="Calibri"/>
              </a:defRPr>
            </a:lvl7pPr>
            <a:lvl8pPr>
              <a:defRPr sz="2250" b="1">
                <a:solidFill>
                  <a:srgbClr val="202C33"/>
                </a:solidFill>
                <a:latin typeface="Calibri"/>
                <a:ea typeface="Calibri"/>
                <a:cs typeface="Calibri"/>
              </a:defRPr>
            </a:lvl8pPr>
            <a:lvl9pPr>
              <a:defRPr sz="2250" b="1">
                <a:solidFill>
                  <a:srgbClr val="202C33"/>
                </a:solidFill>
                <a:latin typeface="Calibri"/>
                <a:ea typeface="Calibri"/>
                <a:cs typeface="Calibri"/>
              </a:defRPr>
            </a:lvl9pPr>
          </a:lstStyle>
          <a:p>
            <a:pPr>
              <a:defRPr sz="2250" b="1">
                <a:solidFill>
                  <a:srgbClr val="202C33"/>
                </a:solidFill>
                <a:latin typeface="Calibri"/>
                <a:ea typeface="Calibri"/>
                <a:cs typeface="Calibri"/>
              </a:defRPr>
            </a:pPr>
            <a:r>
              <a:rPr sz="1688" b="1">
                <a:solidFill>
                  <a:srgbClr val="202C33"/>
                </a:solidFill>
                <a:latin typeface="Calibri"/>
                <a:ea typeface="Calibri"/>
                <a:cs typeface="Calibri"/>
              </a:rPr>
              <a:t>SNS-Simscape</a:t>
            </a:r>
          </a:p>
          <a:p>
            <a:pPr>
              <a:defRPr sz="2250" b="1">
                <a:solidFill>
                  <a:srgbClr val="202C33"/>
                </a:solidFill>
                <a:latin typeface="Calibri"/>
                <a:ea typeface="Calibri"/>
                <a:cs typeface="Calibri"/>
              </a:defRPr>
            </a:pPr>
            <a:r>
              <a:rPr sz="1688" b="1">
                <a:solidFill>
                  <a:srgbClr val="202C33"/>
                </a:solidFill>
                <a:latin typeface="Calibri"/>
                <a:ea typeface="Calibri"/>
                <a:cs typeface="Calibri"/>
              </a:rPr>
              <a:t>controller</a:t>
            </a:r>
          </a:p>
        </p:txBody>
      </p:sp>
      <p:sp>
        <p:nvSpPr>
          <p:cNvPr id="6" name="Rectangle 5">
            <a:extLst>
              <a:ext uri="{FF2B5EF4-FFF2-40B4-BE49-F238E27FC236}">
                <a16:creationId xmlns:a16="http://schemas.microsoft.com/office/drawing/2014/main" id="{D459BA35-D0A9-8F5A-A72E-36DD4B2FBAD0}"/>
              </a:ext>
            </a:extLst>
          </p:cNvPr>
          <p:cNvSpPr>
            <a:spLocks noGrp="1"/>
          </p:cNvSpPr>
          <p:nvPr/>
        </p:nvSpPr>
        <p:spPr>
          <a:xfrm>
            <a:off x="392907" y="3214688"/>
            <a:ext cx="3071813" cy="892969"/>
          </a:xfrm>
          <a:prstGeom prst="rect">
            <a:avLst/>
          </a:prstGeom>
          <a:solidFill>
            <a:srgbClr val="F3F6F7"/>
          </a:solidFill>
          <a:ln w="14288">
            <a:solidFill>
              <a:srgbClr val="006D77"/>
            </a:solidFill>
          </a:ln>
        </p:spPr>
      </p:sp>
      <p:sp>
        <p:nvSpPr>
          <p:cNvPr id="14" name="Rectangle 13">
            <a:extLst>
              <a:ext uri="{FF2B5EF4-FFF2-40B4-BE49-F238E27FC236}">
                <a16:creationId xmlns:a16="http://schemas.microsoft.com/office/drawing/2014/main" id="{57FD9F53-E0D9-9829-1C3C-02E917FEC064}"/>
              </a:ext>
            </a:extLst>
          </p:cNvPr>
          <p:cNvSpPr>
            <a:spLocks noGrp="1"/>
          </p:cNvSpPr>
          <p:nvPr/>
        </p:nvSpPr>
        <p:spPr>
          <a:xfrm>
            <a:off x="607220" y="3371850"/>
            <a:ext cx="2714625" cy="642938"/>
          </a:xfrm>
          <a:prstGeom prst="rect">
            <a:avLst/>
          </a:prstGeom>
          <a:noFill/>
          <a:ln w="0">
            <a:noFill/>
          </a:ln>
        </p:spPr>
        <p:txBody>
          <a:bodyPr lIns="0" tIns="0" rIns="0" bIns="0" anchor="t"/>
          <a:lstStyle>
            <a:defPPr>
              <a:defRPr sz="2250" b="1">
                <a:solidFill>
                  <a:srgbClr val="202C33"/>
                </a:solidFill>
                <a:latin typeface="Calibri"/>
                <a:ea typeface="Calibri"/>
                <a:cs typeface="Calibri"/>
              </a:defRPr>
            </a:defPPr>
            <a:lvl1pPr>
              <a:defRPr sz="2250" b="1">
                <a:solidFill>
                  <a:srgbClr val="202C33"/>
                </a:solidFill>
                <a:latin typeface="Calibri"/>
                <a:ea typeface="Calibri"/>
                <a:cs typeface="Calibri"/>
              </a:defRPr>
            </a:lvl1pPr>
            <a:lvl2pPr>
              <a:defRPr sz="2250" b="1">
                <a:solidFill>
                  <a:srgbClr val="202C33"/>
                </a:solidFill>
                <a:latin typeface="Calibri"/>
                <a:ea typeface="Calibri"/>
                <a:cs typeface="Calibri"/>
              </a:defRPr>
            </a:lvl2pPr>
            <a:lvl3pPr>
              <a:defRPr sz="2250" b="1">
                <a:solidFill>
                  <a:srgbClr val="202C33"/>
                </a:solidFill>
                <a:latin typeface="Calibri"/>
                <a:ea typeface="Calibri"/>
                <a:cs typeface="Calibri"/>
              </a:defRPr>
            </a:lvl3pPr>
            <a:lvl4pPr>
              <a:defRPr sz="2250" b="1">
                <a:solidFill>
                  <a:srgbClr val="202C33"/>
                </a:solidFill>
                <a:latin typeface="Calibri"/>
                <a:ea typeface="Calibri"/>
                <a:cs typeface="Calibri"/>
              </a:defRPr>
            </a:lvl4pPr>
            <a:lvl5pPr>
              <a:defRPr sz="2250" b="1">
                <a:solidFill>
                  <a:srgbClr val="202C33"/>
                </a:solidFill>
                <a:latin typeface="Calibri"/>
                <a:ea typeface="Calibri"/>
                <a:cs typeface="Calibri"/>
              </a:defRPr>
            </a:lvl5pPr>
            <a:lvl6pPr>
              <a:defRPr sz="2250" b="1">
                <a:solidFill>
                  <a:srgbClr val="202C33"/>
                </a:solidFill>
                <a:latin typeface="Calibri"/>
                <a:ea typeface="Calibri"/>
                <a:cs typeface="Calibri"/>
              </a:defRPr>
            </a:lvl6pPr>
            <a:lvl7pPr>
              <a:defRPr sz="2250" b="1">
                <a:solidFill>
                  <a:srgbClr val="202C33"/>
                </a:solidFill>
                <a:latin typeface="Calibri"/>
                <a:ea typeface="Calibri"/>
                <a:cs typeface="Calibri"/>
              </a:defRPr>
            </a:lvl7pPr>
            <a:lvl8pPr>
              <a:defRPr sz="2250" b="1">
                <a:solidFill>
                  <a:srgbClr val="202C33"/>
                </a:solidFill>
                <a:latin typeface="Calibri"/>
                <a:ea typeface="Calibri"/>
                <a:cs typeface="Calibri"/>
              </a:defRPr>
            </a:lvl8pPr>
            <a:lvl9pPr>
              <a:defRPr sz="2250" b="1">
                <a:solidFill>
                  <a:srgbClr val="202C33"/>
                </a:solidFill>
                <a:latin typeface="Calibri"/>
                <a:ea typeface="Calibri"/>
                <a:cs typeface="Calibri"/>
              </a:defRPr>
            </a:lvl9pPr>
          </a:lstStyle>
          <a:p>
            <a:pPr>
              <a:defRPr sz="2250" b="1">
                <a:solidFill>
                  <a:srgbClr val="202C33"/>
                </a:solidFill>
                <a:latin typeface="Calibri"/>
                <a:ea typeface="Calibri"/>
                <a:cs typeface="Calibri"/>
              </a:defRPr>
            </a:pPr>
            <a:r>
              <a:rPr sz="1688" b="1">
                <a:solidFill>
                  <a:srgbClr val="202C33"/>
                </a:solidFill>
                <a:latin typeface="Calibri"/>
                <a:ea typeface="Calibri"/>
                <a:cs typeface="Calibri"/>
              </a:rPr>
              <a:t>MuJoCo</a:t>
            </a:r>
          </a:p>
          <a:p>
            <a:pPr>
              <a:defRPr sz="2250" b="1">
                <a:solidFill>
                  <a:srgbClr val="202C33"/>
                </a:solidFill>
                <a:latin typeface="Calibri"/>
                <a:ea typeface="Calibri"/>
                <a:cs typeface="Calibri"/>
              </a:defRPr>
            </a:pPr>
            <a:r>
              <a:rPr sz="1688" b="1">
                <a:solidFill>
                  <a:srgbClr val="202C33"/>
                </a:solidFill>
                <a:latin typeface="Calibri"/>
                <a:ea typeface="Calibri"/>
                <a:cs typeface="Calibri"/>
              </a:rPr>
              <a:t>mechanical model</a:t>
            </a:r>
          </a:p>
        </p:txBody>
      </p:sp>
      <p:sp>
        <p:nvSpPr>
          <p:cNvPr id="15" name="Arrow: Down 14">
            <a:extLst>
              <a:ext uri="{FF2B5EF4-FFF2-40B4-BE49-F238E27FC236}">
                <a16:creationId xmlns:a16="http://schemas.microsoft.com/office/drawing/2014/main" id="{41343F4B-0218-6355-8D64-7D05316D7E97}"/>
              </a:ext>
            </a:extLst>
          </p:cNvPr>
          <p:cNvSpPr>
            <a:spLocks noGrp="1"/>
          </p:cNvSpPr>
          <p:nvPr/>
        </p:nvSpPr>
        <p:spPr>
          <a:xfrm>
            <a:off x="1464470" y="2321720"/>
            <a:ext cx="200025" cy="714375"/>
          </a:xfrm>
          <a:prstGeom prst="downArrow">
            <a:avLst/>
          </a:prstGeom>
          <a:solidFill>
            <a:srgbClr val="006D77"/>
          </a:solidFill>
          <a:ln w="0">
            <a:noFill/>
          </a:ln>
        </p:spPr>
      </p:sp>
      <p:sp>
        <p:nvSpPr>
          <p:cNvPr id="16" name="Arrow: Up 15">
            <a:extLst>
              <a:ext uri="{FF2B5EF4-FFF2-40B4-BE49-F238E27FC236}">
                <a16:creationId xmlns:a16="http://schemas.microsoft.com/office/drawing/2014/main" id="{FC985D06-BA10-DEB8-55D4-6509EA9F5E22}"/>
              </a:ext>
            </a:extLst>
          </p:cNvPr>
          <p:cNvSpPr>
            <a:spLocks noGrp="1"/>
          </p:cNvSpPr>
          <p:nvPr/>
        </p:nvSpPr>
        <p:spPr>
          <a:xfrm>
            <a:off x="2035970" y="2321720"/>
            <a:ext cx="200025" cy="714375"/>
          </a:xfrm>
          <a:prstGeom prst="upArrow">
            <a:avLst/>
          </a:prstGeom>
          <a:solidFill>
            <a:srgbClr val="006D77"/>
          </a:solidFill>
          <a:ln w="0">
            <a:noFill/>
          </a:ln>
        </p:spPr>
      </p:sp>
      <p:sp>
        <p:nvSpPr>
          <p:cNvPr id="17" name="Rectangle 16">
            <a:extLst>
              <a:ext uri="{FF2B5EF4-FFF2-40B4-BE49-F238E27FC236}">
                <a16:creationId xmlns:a16="http://schemas.microsoft.com/office/drawing/2014/main" id="{5C2E00B1-658C-9713-3048-623552B819BA}"/>
              </a:ext>
            </a:extLst>
          </p:cNvPr>
          <p:cNvSpPr>
            <a:spLocks noGrp="1"/>
          </p:cNvSpPr>
          <p:nvPr/>
        </p:nvSpPr>
        <p:spPr>
          <a:xfrm>
            <a:off x="392907" y="2464594"/>
            <a:ext cx="1285875" cy="535781"/>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Activation</a:t>
            </a:r>
          </a:p>
          <a:p>
            <a:pPr>
              <a:defRPr sz="1725" b="0">
                <a:solidFill>
                  <a:srgbClr val="202C33"/>
                </a:solidFill>
                <a:latin typeface="Calibri"/>
                <a:ea typeface="Calibri"/>
                <a:cs typeface="Calibri"/>
              </a:defRPr>
            </a:pPr>
            <a:r>
              <a:rPr sz="1294" b="0">
                <a:solidFill>
                  <a:srgbClr val="202C33"/>
                </a:solidFill>
                <a:latin typeface="Calibri"/>
                <a:ea typeface="Calibri"/>
                <a:cs typeface="Calibri"/>
              </a:rPr>
              <a:t>commands</a:t>
            </a:r>
          </a:p>
        </p:txBody>
      </p:sp>
      <p:sp>
        <p:nvSpPr>
          <p:cNvPr id="18" name="Rectangle 17">
            <a:extLst>
              <a:ext uri="{FF2B5EF4-FFF2-40B4-BE49-F238E27FC236}">
                <a16:creationId xmlns:a16="http://schemas.microsoft.com/office/drawing/2014/main" id="{361D2126-CEDE-69A8-752D-C93213961540}"/>
              </a:ext>
            </a:extLst>
          </p:cNvPr>
          <p:cNvSpPr>
            <a:spLocks noGrp="1"/>
          </p:cNvSpPr>
          <p:nvPr/>
        </p:nvSpPr>
        <p:spPr>
          <a:xfrm>
            <a:off x="2357439" y="2464594"/>
            <a:ext cx="1357313" cy="535781"/>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Sensory</a:t>
            </a:r>
          </a:p>
          <a:p>
            <a:pPr>
              <a:defRPr sz="1725" b="0">
                <a:solidFill>
                  <a:srgbClr val="202C33"/>
                </a:solidFill>
                <a:latin typeface="Calibri"/>
                <a:ea typeface="Calibri"/>
                <a:cs typeface="Calibri"/>
              </a:defRPr>
            </a:pPr>
            <a:r>
              <a:rPr sz="1294" b="0">
                <a:solidFill>
                  <a:srgbClr val="202C33"/>
                </a:solidFill>
                <a:latin typeface="Calibri"/>
                <a:ea typeface="Calibri"/>
                <a:cs typeface="Calibri"/>
              </a:rPr>
              <a:t>measurements</a:t>
            </a:r>
          </a:p>
        </p:txBody>
      </p:sp>
      <p:pic>
        <p:nvPicPr>
          <p:cNvPr id="19" name="Picture 18">
            <a:extLst>
              <a:ext uri="{FF2B5EF4-FFF2-40B4-BE49-F238E27FC236}">
                <a16:creationId xmlns:a16="http://schemas.microsoft.com/office/drawing/2014/main" id="{95670A2F-F1A7-B12D-EF6D-9BD05D0EBEDA}"/>
              </a:ext>
            </a:extLst>
          </p:cNvPr>
          <p:cNvPicPr>
            <a:picLocks/>
          </p:cNvPicPr>
          <p:nvPr/>
        </p:nvPicPr>
        <p:blipFill>
          <a:blip r:embed="rId3"/>
          <a:stretch/>
        </p:blipFill>
        <p:spPr>
          <a:xfrm>
            <a:off x="3958531" y="1285875"/>
            <a:ext cx="4655939" cy="2821781"/>
          </a:xfrm>
          <a:prstGeom prst="rect">
            <a:avLst/>
          </a:prstGeom>
        </p:spPr>
      </p:pic>
      <p:sp>
        <p:nvSpPr>
          <p:cNvPr id="20" name="Rectangle 19">
            <a:extLst>
              <a:ext uri="{FF2B5EF4-FFF2-40B4-BE49-F238E27FC236}">
                <a16:creationId xmlns:a16="http://schemas.microsoft.com/office/drawing/2014/main" id="{E3B954B5-6DF4-3368-951C-2E6CF99E4565}"/>
              </a:ext>
            </a:extLst>
          </p:cNvPr>
          <p:cNvSpPr>
            <a:spLocks noGrp="1"/>
          </p:cNvSpPr>
          <p:nvPr/>
        </p:nvSpPr>
        <p:spPr>
          <a:xfrm>
            <a:off x="392906" y="4264819"/>
            <a:ext cx="8358188"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5 sensor channels · 80 scored steps · maximum deviation 0</a:t>
            </a:r>
          </a:p>
        </p:txBody>
      </p:sp>
      <p:sp>
        <p:nvSpPr>
          <p:cNvPr id="21" name="TextBox 20">
            <a:extLst>
              <a:ext uri="{FF2B5EF4-FFF2-40B4-BE49-F238E27FC236}">
                <a16:creationId xmlns:a16="http://schemas.microsoft.com/office/drawing/2014/main" id="{DCA17A90-EB62-FA35-9375-6EC5D9E121C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21</a:t>
            </a:r>
          </a:p>
        </p:txBody>
      </p:sp>
    </p:spTree>
    <p:extLst>
      <p:ext uri="{BB962C8B-B14F-4D97-AF65-F5344CB8AC3E}">
        <p14:creationId xmlns:p14="http://schemas.microsoft.com/office/powerpoint/2010/main" val="3968640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45BF2932-5523-6683-0348-3636C6DB71C1}"/>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tools make each of Hunt’s four training steps observable</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BC9AAACD-FEAA-06FD-E00A-B1B4B3A9483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6 · Curriculum and experiment drivers · Dissertation Table 6.1</a:t>
            </a:r>
            <a:endParaRPr sz="788" b="0">
              <a:solidFill>
                <a:srgbClr val="53616A"/>
              </a:solidFill>
              <a:latin typeface="Calibri"/>
              <a:ea typeface="Calibri"/>
              <a:cs typeface="Calibri"/>
            </a:endParaRPr>
          </a:p>
        </p:txBody>
      </p:sp>
      <p:pic>
        <p:nvPicPr>
          <p:cNvPr id="9" name="Picture 8">
            <a:extLst>
              <a:ext uri="{FF2B5EF4-FFF2-40B4-BE49-F238E27FC236}">
                <a16:creationId xmlns:a16="http://schemas.microsoft.com/office/drawing/2014/main" id="{8E900C7C-393D-8753-3270-15E726798E37}"/>
              </a:ext>
            </a:extLst>
          </p:cNvPr>
          <p:cNvPicPr>
            <a:picLocks/>
          </p:cNvPicPr>
          <p:nvPr/>
        </p:nvPicPr>
        <p:blipFill>
          <a:blip r:embed="rId3"/>
          <a:stretch/>
        </p:blipFill>
        <p:spPr>
          <a:xfrm>
            <a:off x="895049" y="1071564"/>
            <a:ext cx="4210652" cy="3286125"/>
          </a:xfrm>
          <a:prstGeom prst="rect">
            <a:avLst/>
          </a:prstGeom>
        </p:spPr>
      </p:pic>
      <p:sp>
        <p:nvSpPr>
          <p:cNvPr id="10" name="Rectangle 9">
            <a:extLst>
              <a:ext uri="{FF2B5EF4-FFF2-40B4-BE49-F238E27FC236}">
                <a16:creationId xmlns:a16="http://schemas.microsoft.com/office/drawing/2014/main" id="{AC8384D1-640A-A15E-BEC5-60F93939A5D7}"/>
              </a:ext>
            </a:extLst>
          </p:cNvPr>
          <p:cNvSpPr>
            <a:spLocks noGrp="1"/>
          </p:cNvSpPr>
          <p:nvPr/>
        </p:nvSpPr>
        <p:spPr>
          <a:xfrm>
            <a:off x="6000750" y="1178719"/>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1</a:t>
            </a:r>
          </a:p>
        </p:txBody>
      </p:sp>
      <p:sp>
        <p:nvSpPr>
          <p:cNvPr id="11" name="Rectangle 10">
            <a:extLst>
              <a:ext uri="{FF2B5EF4-FFF2-40B4-BE49-F238E27FC236}">
                <a16:creationId xmlns:a16="http://schemas.microsoft.com/office/drawing/2014/main" id="{19F2D0F0-3B17-D834-C95F-F9D5DF8A4C12}"/>
              </a:ext>
            </a:extLst>
          </p:cNvPr>
          <p:cNvSpPr>
            <a:spLocks noGrp="1"/>
          </p:cNvSpPr>
          <p:nvPr/>
        </p:nvSpPr>
        <p:spPr>
          <a:xfrm>
            <a:off x="6357939" y="1178720"/>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Set intrinsic CPG rhythm</a:t>
            </a:r>
          </a:p>
        </p:txBody>
      </p:sp>
      <p:sp>
        <p:nvSpPr>
          <p:cNvPr id="12" name="Rectangle 11">
            <a:extLst>
              <a:ext uri="{FF2B5EF4-FFF2-40B4-BE49-F238E27FC236}">
                <a16:creationId xmlns:a16="http://schemas.microsoft.com/office/drawing/2014/main" id="{6CC08A80-821F-F4D2-1803-CD3F9EBABB8F}"/>
              </a:ext>
            </a:extLst>
          </p:cNvPr>
          <p:cNvSpPr>
            <a:spLocks noGrp="1"/>
          </p:cNvSpPr>
          <p:nvPr/>
        </p:nvSpPr>
        <p:spPr>
          <a:xfrm>
            <a:off x="6357939" y="1607344"/>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SNS blocks and open-loop traces</a:t>
            </a:r>
          </a:p>
        </p:txBody>
      </p:sp>
      <p:sp>
        <p:nvSpPr>
          <p:cNvPr id="13" name="Rectangle 12">
            <a:extLst>
              <a:ext uri="{FF2B5EF4-FFF2-40B4-BE49-F238E27FC236}">
                <a16:creationId xmlns:a16="http://schemas.microsoft.com/office/drawing/2014/main" id="{1DB8C0F7-6EDD-15FA-049D-CE78CD6118E3}"/>
              </a:ext>
            </a:extLst>
          </p:cNvPr>
          <p:cNvSpPr>
            <a:spLocks noGrp="1"/>
          </p:cNvSpPr>
          <p:nvPr/>
        </p:nvSpPr>
        <p:spPr>
          <a:xfrm>
            <a:off x="6000750" y="1964531"/>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2</a:t>
            </a:r>
          </a:p>
        </p:txBody>
      </p:sp>
      <p:sp>
        <p:nvSpPr>
          <p:cNvPr id="14" name="Rectangle 13">
            <a:extLst>
              <a:ext uri="{FF2B5EF4-FFF2-40B4-BE49-F238E27FC236}">
                <a16:creationId xmlns:a16="http://schemas.microsoft.com/office/drawing/2014/main" id="{90BDC205-FE78-D385-909B-5E18C7FBB06B}"/>
              </a:ext>
            </a:extLst>
          </p:cNvPr>
          <p:cNvSpPr>
            <a:spLocks noGrp="1"/>
          </p:cNvSpPr>
          <p:nvPr/>
        </p:nvSpPr>
        <p:spPr>
          <a:xfrm>
            <a:off x="6357939" y="1964532"/>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Train feedback → CPG</a:t>
            </a:r>
          </a:p>
        </p:txBody>
      </p:sp>
      <p:sp>
        <p:nvSpPr>
          <p:cNvPr id="15" name="Rectangle 14">
            <a:extLst>
              <a:ext uri="{FF2B5EF4-FFF2-40B4-BE49-F238E27FC236}">
                <a16:creationId xmlns:a16="http://schemas.microsoft.com/office/drawing/2014/main" id="{7A083EAC-5497-022C-8320-3452F5A261A5}"/>
              </a:ext>
            </a:extLst>
          </p:cNvPr>
          <p:cNvSpPr>
            <a:spLocks noGrp="1"/>
          </p:cNvSpPr>
          <p:nvPr/>
        </p:nvSpPr>
        <p:spPr>
          <a:xfrm>
            <a:off x="6357939" y="2393156"/>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Afferent playback and timing</a:t>
            </a:r>
          </a:p>
        </p:txBody>
      </p:sp>
      <p:sp>
        <p:nvSpPr>
          <p:cNvPr id="16" name="Rectangle 15">
            <a:extLst>
              <a:ext uri="{FF2B5EF4-FFF2-40B4-BE49-F238E27FC236}">
                <a16:creationId xmlns:a16="http://schemas.microsoft.com/office/drawing/2014/main" id="{689F4E9A-7FD9-CB40-F85B-B4A149C58659}"/>
              </a:ext>
            </a:extLst>
          </p:cNvPr>
          <p:cNvSpPr>
            <a:spLocks noGrp="1"/>
          </p:cNvSpPr>
          <p:nvPr/>
        </p:nvSpPr>
        <p:spPr>
          <a:xfrm>
            <a:off x="6000750" y="2750344"/>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3</a:t>
            </a:r>
          </a:p>
        </p:txBody>
      </p:sp>
      <p:sp>
        <p:nvSpPr>
          <p:cNvPr id="17" name="Rectangle 16">
            <a:extLst>
              <a:ext uri="{FF2B5EF4-FFF2-40B4-BE49-F238E27FC236}">
                <a16:creationId xmlns:a16="http://schemas.microsoft.com/office/drawing/2014/main" id="{880FFB45-261B-F28F-E060-88622C9BC1EF}"/>
              </a:ext>
            </a:extLst>
          </p:cNvPr>
          <p:cNvSpPr>
            <a:spLocks noGrp="1"/>
          </p:cNvSpPr>
          <p:nvPr/>
        </p:nvSpPr>
        <p:spPr>
          <a:xfrm>
            <a:off x="6357939" y="2750345"/>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Train CPG/PF → MN</a:t>
            </a:r>
          </a:p>
        </p:txBody>
      </p:sp>
      <p:sp>
        <p:nvSpPr>
          <p:cNvPr id="18" name="Rectangle 17">
            <a:extLst>
              <a:ext uri="{FF2B5EF4-FFF2-40B4-BE49-F238E27FC236}">
                <a16:creationId xmlns:a16="http://schemas.microsoft.com/office/drawing/2014/main" id="{D3A4C4DF-1FE3-BE22-9566-C9D548A26B12}"/>
              </a:ext>
            </a:extLst>
          </p:cNvPr>
          <p:cNvSpPr>
            <a:spLocks noGrp="1"/>
          </p:cNvSpPr>
          <p:nvPr/>
        </p:nvSpPr>
        <p:spPr>
          <a:xfrm>
            <a:off x="6357939" y="3178969"/>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Motor-neuron peak comparisons</a:t>
            </a:r>
          </a:p>
        </p:txBody>
      </p:sp>
      <p:sp>
        <p:nvSpPr>
          <p:cNvPr id="19" name="Rectangle 18">
            <a:extLst>
              <a:ext uri="{FF2B5EF4-FFF2-40B4-BE49-F238E27FC236}">
                <a16:creationId xmlns:a16="http://schemas.microsoft.com/office/drawing/2014/main" id="{7845E190-DBDE-3BFE-8078-2D138C9BF7B1}"/>
              </a:ext>
            </a:extLst>
          </p:cNvPr>
          <p:cNvSpPr>
            <a:spLocks noGrp="1"/>
          </p:cNvSpPr>
          <p:nvPr/>
        </p:nvSpPr>
        <p:spPr>
          <a:xfrm>
            <a:off x="6000750" y="3536156"/>
            <a:ext cx="285750" cy="285750"/>
          </a:xfrm>
          <a:prstGeom prst="rect">
            <a:avLst/>
          </a:prstGeom>
          <a:noFill/>
          <a:ln w="0">
            <a:noFill/>
          </a:ln>
        </p:spPr>
        <p:txBody>
          <a:bodyPr lIns="0" tIns="0" rIns="0" bIns="0" anchor="t"/>
          <a:lstStyle>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a:pPr>
              <a:defRPr sz="2475" b="1">
                <a:solidFill>
                  <a:srgbClr val="006D77"/>
                </a:solidFill>
                <a:latin typeface="Calibri"/>
                <a:ea typeface="Calibri"/>
                <a:cs typeface="Calibri"/>
              </a:defRPr>
            </a:pPr>
            <a:r>
              <a:rPr sz="1856" b="1">
                <a:solidFill>
                  <a:srgbClr val="006D77"/>
                </a:solidFill>
                <a:latin typeface="Calibri"/>
                <a:ea typeface="Calibri"/>
                <a:cs typeface="Calibri"/>
              </a:rPr>
              <a:t>4</a:t>
            </a:r>
          </a:p>
        </p:txBody>
      </p:sp>
      <p:sp>
        <p:nvSpPr>
          <p:cNvPr id="20" name="Rectangle 19">
            <a:extLst>
              <a:ext uri="{FF2B5EF4-FFF2-40B4-BE49-F238E27FC236}">
                <a16:creationId xmlns:a16="http://schemas.microsoft.com/office/drawing/2014/main" id="{0CAAD0E0-CFA9-5B42-C9AD-C2E2D060788F}"/>
              </a:ext>
            </a:extLst>
          </p:cNvPr>
          <p:cNvSpPr>
            <a:spLocks noGrp="1"/>
          </p:cNvSpPr>
          <p:nvPr/>
        </p:nvSpPr>
        <p:spPr>
          <a:xfrm>
            <a:off x="6357939" y="3536157"/>
            <a:ext cx="2500313" cy="428625"/>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Refine Ia/Ib → MN</a:t>
            </a:r>
          </a:p>
        </p:txBody>
      </p:sp>
      <p:sp>
        <p:nvSpPr>
          <p:cNvPr id="21" name="Rectangle 20">
            <a:extLst>
              <a:ext uri="{FF2B5EF4-FFF2-40B4-BE49-F238E27FC236}">
                <a16:creationId xmlns:a16="http://schemas.microsoft.com/office/drawing/2014/main" id="{FA0B1932-E84F-019D-6EC1-EA8EE02191ED}"/>
              </a:ext>
            </a:extLst>
          </p:cNvPr>
          <p:cNvSpPr>
            <a:spLocks noGrp="1"/>
          </p:cNvSpPr>
          <p:nvPr/>
        </p:nvSpPr>
        <p:spPr>
          <a:xfrm>
            <a:off x="6357939" y="3964781"/>
            <a:ext cx="2500313" cy="321469"/>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294" b="0">
                <a:solidFill>
                  <a:srgbClr val="202C33"/>
                </a:solidFill>
                <a:latin typeface="Calibri"/>
                <a:ea typeface="Calibri"/>
                <a:cs typeface="Calibri"/>
              </a:rPr>
              <a:t>Closed-loop pathway tests</a:t>
            </a:r>
          </a:p>
        </p:txBody>
      </p:sp>
      <p:sp>
        <p:nvSpPr>
          <p:cNvPr id="22" name="TextBox 21">
            <a:extLst>
              <a:ext uri="{FF2B5EF4-FFF2-40B4-BE49-F238E27FC236}">
                <a16:creationId xmlns:a16="http://schemas.microsoft.com/office/drawing/2014/main" id="{1F15099D-70DD-BA8C-B90F-B3472E75B584}"/>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22</a:t>
            </a:r>
          </a:p>
        </p:txBody>
      </p:sp>
    </p:spTree>
    <p:extLst>
      <p:ext uri="{BB962C8B-B14F-4D97-AF65-F5344CB8AC3E}">
        <p14:creationId xmlns:p14="http://schemas.microsoft.com/office/powerpoint/2010/main" val="1767119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CA2ABFC-8C58-1404-AB9D-80EA6D82CB70}"/>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Two deleted bursts can preserve or reset the rhythm</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B06E074B-23BB-4AF5-B04F-CDC03E4B8C9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7 · Literature circuits and variants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234E9584-7382-259F-7355-4CF35035656D}"/>
              </a:ext>
            </a:extLst>
          </p:cNvPr>
          <p:cNvPicPr>
            <a:picLocks/>
          </p:cNvPicPr>
          <p:nvPr/>
        </p:nvPicPr>
        <p:blipFill>
          <a:blip r:embed="rId3"/>
          <a:stretch/>
        </p:blipFill>
        <p:spPr>
          <a:xfrm>
            <a:off x="1701128" y="1214439"/>
            <a:ext cx="2955681" cy="3001961"/>
          </a:xfrm>
          <a:prstGeom prst="rect">
            <a:avLst/>
          </a:prstGeom>
        </p:spPr>
      </p:pic>
      <p:graphicFrame>
        <p:nvGraphicFramePr>
          <p:cNvPr id="5" name="Table 4">
            <a:extLst>
              <a:ext uri="{FF2B5EF4-FFF2-40B4-BE49-F238E27FC236}">
                <a16:creationId xmlns:a16="http://schemas.microsoft.com/office/drawing/2014/main" id="{9079608D-6D34-3185-0BD4-40544567FDE9}"/>
              </a:ext>
            </a:extLst>
          </p:cNvPr>
          <p:cNvGraphicFramePr>
            <a:graphicFrameLocks/>
          </p:cNvGraphicFramePr>
          <p:nvPr>
            <p:extLst>
              <p:ext uri="{D42A27DB-BD31-4B8C-83A1-F6EECF244321}">
                <p14:modId xmlns:p14="http://schemas.microsoft.com/office/powerpoint/2010/main" val="417576051"/>
              </p:ext>
            </p:extLst>
          </p:nvPr>
        </p:nvGraphicFramePr>
        <p:xfrm>
          <a:off x="6107906" y="1714501"/>
          <a:ext cx="2643188" cy="2143125"/>
        </p:xfrm>
        <a:graphic>
          <a:graphicData uri="http://schemas.openxmlformats.org/drawingml/2006/table">
            <a:tbl>
              <a:tblPr/>
              <a:tblGrid>
                <a:gridCol w="1321594">
                  <a:extLst>
                    <a:ext uri="{9D8B030D-6E8A-4147-A177-3AD203B41FA5}">
                      <a16:colId xmlns:a16="http://schemas.microsoft.com/office/drawing/2014/main" val="20000"/>
                    </a:ext>
                  </a:extLst>
                </a:gridCol>
                <a:gridCol w="1321594">
                  <a:extLst>
                    <a:ext uri="{9D8B030D-6E8A-4147-A177-3AD203B41FA5}">
                      <a16:colId xmlns:a16="http://schemas.microsoft.com/office/drawing/2014/main" val="20001"/>
                    </a:ext>
                  </a:extLst>
                </a:gridCol>
              </a:tblGrid>
              <a:tr h="535781">
                <a:tc>
                  <a:txBody>
                    <a:bodyPr/>
                    <a:lstStyle/>
                    <a:p>
                      <a:r>
                        <a:rPr sz="1406" b="1">
                          <a:solidFill>
                            <a:srgbClr val="006D77"/>
                          </a:solidFill>
                          <a:latin typeface="Calibri"/>
                          <a:ea typeface="Calibri"/>
                          <a:cs typeface="Calibri"/>
                        </a:rPr>
                        <a:t>Stimulated layer</a:t>
                      </a:r>
                    </a:p>
                  </a:txBody>
                  <a:tcPr>
                    <a:solidFill>
                      <a:srgbClr val="FFFFFF"/>
                    </a:solidFill>
                  </a:tcPr>
                </a:tc>
                <a:tc>
                  <a:txBody>
                    <a:bodyPr/>
                    <a:lstStyle/>
                    <a:p>
                      <a:r>
                        <a:rPr sz="1406" b="1">
                          <a:solidFill>
                            <a:srgbClr val="006D77"/>
                          </a:solidFill>
                          <a:latin typeface="Calibri"/>
                          <a:ea typeface="Calibri"/>
                          <a:cs typeface="Calibri"/>
                        </a:rPr>
                        <a:t>RG shift, cycles</a:t>
                      </a:r>
                    </a:p>
                  </a:txBody>
                  <a:tcPr>
                    <a:solidFill>
                      <a:srgbClr val="FFFFFF"/>
                    </a:solidFill>
                  </a:tcPr>
                </a:tc>
                <a:extLst>
                  <a:ext uri="{0D108BD9-81ED-4DB2-BD59-A6C34878D82A}">
                    <a16:rowId xmlns:a16="http://schemas.microsoft.com/office/drawing/2014/main" val="10000"/>
                  </a:ext>
                </a:extLst>
              </a:tr>
              <a:tr h="535781">
                <a:tc>
                  <a:txBody>
                    <a:bodyPr/>
                    <a:lstStyle/>
                    <a:p>
                      <a:r>
                        <a:rPr sz="1406" b="0">
                          <a:solidFill>
                            <a:srgbClr val="202C33"/>
                          </a:solidFill>
                          <a:latin typeface="Calibri"/>
                          <a:ea typeface="Calibri"/>
                          <a:cs typeface="Calibri"/>
                        </a:rPr>
                        <a:t>RG</a:t>
                      </a:r>
                    </a:p>
                  </a:txBody>
                  <a:tcPr>
                    <a:solidFill>
                      <a:srgbClr val="FFFFFF"/>
                    </a:solidFill>
                  </a:tcPr>
                </a:tc>
                <a:tc>
                  <a:txBody>
                    <a:bodyPr/>
                    <a:lstStyle/>
                    <a:p>
                      <a:r>
                        <a:rPr sz="1406"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35781">
                <a:tc>
                  <a:txBody>
                    <a:bodyPr/>
                    <a:lstStyle/>
                    <a:p>
                      <a:r>
                        <a:rPr sz="1406" b="0">
                          <a:solidFill>
                            <a:srgbClr val="202C33"/>
                          </a:solidFill>
                          <a:latin typeface="Calibri"/>
                          <a:ea typeface="Calibri"/>
                          <a:cs typeface="Calibri"/>
                        </a:rPr>
                        <a:t>PF</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35781">
                <a:tc>
                  <a:txBody>
                    <a:bodyPr/>
                    <a:lstStyle/>
                    <a:p>
                      <a:r>
                        <a:rPr sz="1406" b="0">
                          <a:solidFill>
                            <a:srgbClr val="202C33"/>
                          </a:solidFill>
                          <a:latin typeface="Calibri"/>
                          <a:ea typeface="Calibri"/>
                          <a:cs typeface="Calibri"/>
                        </a:rPr>
                        <a:t>MN</a:t>
                      </a:r>
                    </a:p>
                  </a:txBody>
                  <a:tcPr>
                    <a:solidFill>
                      <a:srgbClr val="FFFFFF"/>
                    </a:solidFill>
                  </a:tcPr>
                </a:tc>
                <a:tc>
                  <a:txBody>
                    <a:bodyPr/>
                    <a:lstStyle/>
                    <a:p>
                      <a:r>
                        <a:rPr sz="1406"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3FE9573-1D3B-9011-1670-D84CA040AAC2}"/>
              </a:ext>
            </a:extLst>
          </p:cNvPr>
          <p:cNvSpPr>
            <a:spLocks noGrp="1"/>
          </p:cNvSpPr>
          <p:nvPr/>
        </p:nvSpPr>
        <p:spPr>
          <a:xfrm>
            <a:off x="6107906" y="3873500"/>
            <a:ext cx="2643188" cy="444500"/>
          </a:xfrm>
          <a:prstGeom prst="rect">
            <a:avLst/>
          </a:prstGeom>
          <a:noFill/>
          <a:ln w="0">
            <a:noFill/>
          </a:ln>
        </p:spPr>
        <p:txBody>
          <a:bodyPr lIns="0" tIns="0" rIns="0" bIns="0" anchor="t"/>
          <a:lstStyle>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a:pPr>
              <a:defRPr sz="1725" b="0">
                <a:solidFill>
                  <a:srgbClr val="202C33"/>
                </a:solidFill>
                <a:latin typeface="Calibri"/>
                <a:ea typeface="Calibri"/>
                <a:cs typeface="Calibri"/>
              </a:defRPr>
            </a:pPr>
            <a:r>
              <a:rPr sz="1000" b="0">
                <a:solidFill>
                  <a:srgbClr val="202C33"/>
                </a:solidFill>
                <a:latin typeface="Calibri"/>
                <a:ea typeface="Calibri"/>
                <a:cs typeface="Calibri"/>
              </a:rPr>
              <a:t>RG: rhythm generator</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PF: pattern formation</a:t>
            </a:r>
          </a:p>
          <a:p>
            <a:pPr>
              <a:defRPr sz="1725" b="0">
                <a:solidFill>
                  <a:srgbClr val="202C33"/>
                </a:solidFill>
                <a:latin typeface="Calibri"/>
                <a:ea typeface="Calibri"/>
                <a:cs typeface="Calibri"/>
              </a:defRPr>
            </a:pPr>
            <a:r>
              <a:rPr sz="1000" b="0">
                <a:solidFill>
                  <a:srgbClr val="202C33"/>
                </a:solidFill>
                <a:latin typeface="Calibri"/>
                <a:ea typeface="Calibri"/>
                <a:cs typeface="Calibri"/>
              </a:rPr>
              <a:t>MN: motor neuron</a:t>
            </a:r>
          </a:p>
        </p:txBody>
      </p:sp>
      <p:sp>
        <p:nvSpPr>
          <p:cNvPr id="7" name="Rectangle 6">
            <a:extLst>
              <a:ext uri="{FF2B5EF4-FFF2-40B4-BE49-F238E27FC236}">
                <a16:creationId xmlns:a16="http://schemas.microsoft.com/office/drawing/2014/main" id="{76061A90-8F9D-F94A-4C28-B7F8456C4DD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Reduced Deng-derived circuit · two baseline periods · suspended model</a:t>
            </a:r>
          </a:p>
        </p:txBody>
      </p:sp>
      <p:sp>
        <p:nvSpPr>
          <p:cNvPr id="8" name="TextBox 7">
            <a:extLst>
              <a:ext uri="{FF2B5EF4-FFF2-40B4-BE49-F238E27FC236}">
                <a16:creationId xmlns:a16="http://schemas.microsoft.com/office/drawing/2014/main" id="{7D5AA481-C504-1D4D-EC8A-696C30B7C52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23</a:t>
            </a:r>
          </a:p>
        </p:txBody>
      </p:sp>
    </p:spTree>
    <p:extLst>
      <p:ext uri="{BB962C8B-B14F-4D97-AF65-F5344CB8AC3E}">
        <p14:creationId xmlns:p14="http://schemas.microsoft.com/office/powerpoint/2010/main" val="4241691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4945BFC7-BC33-379A-A3AB-F687D407B02B}"/>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Researchers can connect source evidence to a tested actuator or pathway</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B6DF6153-97F0-F717-3EA8-5C1FC917E7F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Chs. 3–7</a:t>
            </a:r>
          </a:p>
        </p:txBody>
      </p:sp>
      <p:pic>
        <p:nvPicPr>
          <p:cNvPr id="9" name="Picture 8">
            <a:extLst>
              <a:ext uri="{FF2B5EF4-FFF2-40B4-BE49-F238E27FC236}">
                <a16:creationId xmlns:a16="http://schemas.microsoft.com/office/drawing/2014/main" id="{CC4A89F5-F97E-DC3B-E8DD-004BF2504266}"/>
              </a:ext>
            </a:extLst>
          </p:cNvPr>
          <p:cNvPicPr>
            <a:picLocks/>
          </p:cNvPicPr>
          <p:nvPr/>
        </p:nvPicPr>
        <p:blipFill>
          <a:blip r:embed="rId3"/>
          <a:stretch/>
        </p:blipFill>
        <p:spPr>
          <a:xfrm>
            <a:off x="1482777" y="1214438"/>
            <a:ext cx="1606447" cy="1214438"/>
          </a:xfrm>
          <a:prstGeom prst="rect">
            <a:avLst/>
          </a:prstGeom>
        </p:spPr>
      </p:pic>
      <p:sp>
        <p:nvSpPr>
          <p:cNvPr id="10" name="Rectangle 9">
            <a:extLst>
              <a:ext uri="{FF2B5EF4-FFF2-40B4-BE49-F238E27FC236}">
                <a16:creationId xmlns:a16="http://schemas.microsoft.com/office/drawing/2014/main" id="{5B529DEF-E09C-35CF-EB59-D5C93DAC90B5}"/>
              </a:ext>
            </a:extLst>
          </p:cNvPr>
          <p:cNvSpPr>
            <a:spLocks noGrp="1"/>
          </p:cNvSpPr>
          <p:nvPr/>
        </p:nvSpPr>
        <p:spPr>
          <a:xfrm>
            <a:off x="321470" y="246459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Select an actuator</a:t>
            </a:r>
          </a:p>
        </p:txBody>
      </p:sp>
      <p:pic>
        <p:nvPicPr>
          <p:cNvPr id="11" name="Picture 10">
            <a:extLst>
              <a:ext uri="{FF2B5EF4-FFF2-40B4-BE49-F238E27FC236}">
                <a16:creationId xmlns:a16="http://schemas.microsoft.com/office/drawing/2014/main" id="{C8DEF70D-3CE0-7A5D-E87A-7DD279B0B665}"/>
              </a:ext>
            </a:extLst>
          </p:cNvPr>
          <p:cNvPicPr>
            <a:picLocks/>
          </p:cNvPicPr>
          <p:nvPr/>
        </p:nvPicPr>
        <p:blipFill>
          <a:blip r:embed="rId4"/>
          <a:stretch/>
        </p:blipFill>
        <p:spPr>
          <a:xfrm>
            <a:off x="5921567" y="1214438"/>
            <a:ext cx="1515679" cy="1214438"/>
          </a:xfrm>
          <a:prstGeom prst="rect">
            <a:avLst/>
          </a:prstGeom>
        </p:spPr>
      </p:pic>
      <p:sp>
        <p:nvSpPr>
          <p:cNvPr id="12" name="Rectangle 11">
            <a:extLst>
              <a:ext uri="{FF2B5EF4-FFF2-40B4-BE49-F238E27FC236}">
                <a16:creationId xmlns:a16="http://schemas.microsoft.com/office/drawing/2014/main" id="{C377D2A9-F001-4330-5365-6E7F482856BA}"/>
              </a:ext>
            </a:extLst>
          </p:cNvPr>
          <p:cNvSpPr>
            <a:spLocks noGrp="1"/>
          </p:cNvSpPr>
          <p:nvPr/>
        </p:nvSpPr>
        <p:spPr>
          <a:xfrm>
            <a:off x="4714876" y="246459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Test a route</a:t>
            </a:r>
          </a:p>
        </p:txBody>
      </p:sp>
      <p:pic>
        <p:nvPicPr>
          <p:cNvPr id="13" name="Picture 12">
            <a:extLst>
              <a:ext uri="{FF2B5EF4-FFF2-40B4-BE49-F238E27FC236}">
                <a16:creationId xmlns:a16="http://schemas.microsoft.com/office/drawing/2014/main" id="{19B393D5-FA69-8121-275A-5B60EDFE6C7F}"/>
              </a:ext>
            </a:extLst>
          </p:cNvPr>
          <p:cNvPicPr>
            <a:picLocks/>
          </p:cNvPicPr>
          <p:nvPr/>
        </p:nvPicPr>
        <p:blipFill>
          <a:blip r:embed="rId5"/>
          <a:stretch/>
        </p:blipFill>
        <p:spPr>
          <a:xfrm>
            <a:off x="1283828" y="2893219"/>
            <a:ext cx="2004344" cy="1214438"/>
          </a:xfrm>
          <a:prstGeom prst="rect">
            <a:avLst/>
          </a:prstGeom>
        </p:spPr>
      </p:pic>
      <p:sp>
        <p:nvSpPr>
          <p:cNvPr id="14" name="Rectangle 13">
            <a:extLst>
              <a:ext uri="{FF2B5EF4-FFF2-40B4-BE49-F238E27FC236}">
                <a16:creationId xmlns:a16="http://schemas.microsoft.com/office/drawing/2014/main" id="{5FEB130F-4160-F986-6D82-728D993FE871}"/>
              </a:ext>
            </a:extLst>
          </p:cNvPr>
          <p:cNvSpPr>
            <a:spLocks noGrp="1"/>
          </p:cNvSpPr>
          <p:nvPr/>
        </p:nvSpPr>
        <p:spPr>
          <a:xfrm>
            <a:off x="321470" y="4143375"/>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Trace a sensory hypothesis</a:t>
            </a:r>
          </a:p>
        </p:txBody>
      </p:sp>
      <p:pic>
        <p:nvPicPr>
          <p:cNvPr id="15" name="Picture 14">
            <a:extLst>
              <a:ext uri="{FF2B5EF4-FFF2-40B4-BE49-F238E27FC236}">
                <a16:creationId xmlns:a16="http://schemas.microsoft.com/office/drawing/2014/main" id="{D9D656FF-537E-468A-2F45-4A02D464CE53}"/>
              </a:ext>
            </a:extLst>
          </p:cNvPr>
          <p:cNvPicPr>
            <a:picLocks/>
          </p:cNvPicPr>
          <p:nvPr/>
        </p:nvPicPr>
        <p:blipFill>
          <a:blip r:embed="rId6"/>
          <a:stretch/>
        </p:blipFill>
        <p:spPr>
          <a:xfrm>
            <a:off x="6081549" y="2893219"/>
            <a:ext cx="1195715" cy="1214438"/>
          </a:xfrm>
          <a:prstGeom prst="rect">
            <a:avLst/>
          </a:prstGeom>
        </p:spPr>
      </p:pic>
      <p:sp>
        <p:nvSpPr>
          <p:cNvPr id="16" name="Rectangle 15">
            <a:extLst>
              <a:ext uri="{FF2B5EF4-FFF2-40B4-BE49-F238E27FC236}">
                <a16:creationId xmlns:a16="http://schemas.microsoft.com/office/drawing/2014/main" id="{37909A49-0D11-9029-51C6-076FC808BF86}"/>
              </a:ext>
            </a:extLst>
          </p:cNvPr>
          <p:cNvSpPr>
            <a:spLocks noGrp="1"/>
          </p:cNvSpPr>
          <p:nvPr/>
        </p:nvSpPr>
        <p:spPr>
          <a:xfrm>
            <a:off x="4714876" y="4143375"/>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Test a pathway</a:t>
            </a:r>
          </a:p>
        </p:txBody>
      </p:sp>
      <p:sp>
        <p:nvSpPr>
          <p:cNvPr id="17" name="TextBox 16">
            <a:extLst>
              <a:ext uri="{FF2B5EF4-FFF2-40B4-BE49-F238E27FC236}">
                <a16:creationId xmlns:a16="http://schemas.microsoft.com/office/drawing/2014/main" id="{0D6C43EE-4250-D824-7281-5CFF533E96A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24</a:t>
            </a:r>
          </a:p>
        </p:txBody>
      </p:sp>
    </p:spTree>
    <p:extLst>
      <p:ext uri="{BB962C8B-B14F-4D97-AF65-F5344CB8AC3E}">
        <p14:creationId xmlns:p14="http://schemas.microsoft.com/office/powerpoint/2010/main" val="2627428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874C817A-B266-58D3-28E9-42E4B0468897}"/>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next experiments must transfer the models to loaded robot movement</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1C634BFA-BFB6-F86B-3209-FE41D84E085A}"/>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Discussion · Future work enabled</a:t>
            </a:r>
          </a:p>
        </p:txBody>
      </p:sp>
      <p:pic>
        <p:nvPicPr>
          <p:cNvPr id="9" name="Picture 8">
            <a:extLst>
              <a:ext uri="{FF2B5EF4-FFF2-40B4-BE49-F238E27FC236}">
                <a16:creationId xmlns:a16="http://schemas.microsoft.com/office/drawing/2014/main" id="{4B830159-5CBE-E0A5-9853-CA4BB63C6807}"/>
              </a:ext>
            </a:extLst>
          </p:cNvPr>
          <p:cNvPicPr>
            <a:picLocks/>
          </p:cNvPicPr>
          <p:nvPr/>
        </p:nvPicPr>
        <p:blipFill>
          <a:blip r:embed="rId3"/>
          <a:stretch/>
        </p:blipFill>
        <p:spPr>
          <a:xfrm>
            <a:off x="968009" y="1071563"/>
            <a:ext cx="1707296" cy="3214688"/>
          </a:xfrm>
          <a:prstGeom prst="rect">
            <a:avLst/>
          </a:prstGeom>
        </p:spPr>
      </p:pic>
      <p:pic>
        <p:nvPicPr>
          <p:cNvPr id="10" name="Picture 9">
            <a:extLst>
              <a:ext uri="{FF2B5EF4-FFF2-40B4-BE49-F238E27FC236}">
                <a16:creationId xmlns:a16="http://schemas.microsoft.com/office/drawing/2014/main" id="{84D6310B-2B63-6B6C-2442-3D855F1F76AC}"/>
              </a:ext>
            </a:extLst>
          </p:cNvPr>
          <p:cNvPicPr>
            <a:picLocks/>
          </p:cNvPicPr>
          <p:nvPr/>
        </p:nvPicPr>
        <p:blipFill>
          <a:blip r:embed="rId4"/>
          <a:stretch/>
        </p:blipFill>
        <p:spPr>
          <a:xfrm>
            <a:off x="3393282" y="1116212"/>
            <a:ext cx="5357813" cy="3125391"/>
          </a:xfrm>
          <a:prstGeom prst="rect">
            <a:avLst/>
          </a:prstGeom>
        </p:spPr>
      </p:pic>
      <p:sp>
        <p:nvSpPr>
          <p:cNvPr id="11" name="Rectangle 10">
            <a:extLst>
              <a:ext uri="{FF2B5EF4-FFF2-40B4-BE49-F238E27FC236}">
                <a16:creationId xmlns:a16="http://schemas.microsoft.com/office/drawing/2014/main" id="{628B5DF3-9FD4-5D1E-B9BF-1D83DB3989F0}"/>
              </a:ext>
            </a:extLst>
          </p:cNvPr>
          <p:cNvSpPr>
            <a:spLocks noGrp="1"/>
          </p:cNvSpPr>
          <p:nvPr/>
        </p:nvSpPr>
        <p:spPr>
          <a:xfrm>
            <a:off x="392906" y="4321969"/>
            <a:ext cx="4536281"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Dynamic loading and physical transfer</a:t>
            </a:r>
          </a:p>
        </p:txBody>
      </p:sp>
      <p:sp>
        <p:nvSpPr>
          <p:cNvPr id="12" name="Rectangle 11">
            <a:extLst>
              <a:ext uri="{FF2B5EF4-FFF2-40B4-BE49-F238E27FC236}">
                <a16:creationId xmlns:a16="http://schemas.microsoft.com/office/drawing/2014/main" id="{6DDB6F8F-2D46-4AE2-A8FD-5877BFDCA016}"/>
              </a:ext>
            </a:extLst>
          </p:cNvPr>
          <p:cNvSpPr>
            <a:spLocks noGrp="1"/>
          </p:cNvSpPr>
          <p:nvPr/>
        </p:nvSpPr>
        <p:spPr>
          <a:xfrm>
            <a:off x="5250656" y="4321969"/>
            <a:ext cx="3714750"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Graded support reduction</a:t>
            </a:r>
          </a:p>
        </p:txBody>
      </p:sp>
      <p:sp>
        <p:nvSpPr>
          <p:cNvPr id="13" name="TextBox 12">
            <a:extLst>
              <a:ext uri="{FF2B5EF4-FFF2-40B4-BE49-F238E27FC236}">
                <a16:creationId xmlns:a16="http://schemas.microsoft.com/office/drawing/2014/main" id="{B9B334D2-F3BA-48B4-EBC8-6AD9DF15E98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25</a:t>
            </a:r>
          </a:p>
        </p:txBody>
      </p:sp>
    </p:spTree>
    <p:extLst>
      <p:ext uri="{BB962C8B-B14F-4D97-AF65-F5344CB8AC3E}">
        <p14:creationId xmlns:p14="http://schemas.microsoft.com/office/powerpoint/2010/main" val="3072064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903F4296-5184-34C3-3398-B8E314ED9382}"/>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dissertation makes actuator, route, and feedback choices testable</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7DFBDE3E-1CEB-D713-9DAD-4F7AB989B8C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Conclusion</a:t>
            </a:r>
          </a:p>
        </p:txBody>
      </p:sp>
      <p:pic>
        <p:nvPicPr>
          <p:cNvPr id="9" name="Picture 8">
            <a:extLst>
              <a:ext uri="{FF2B5EF4-FFF2-40B4-BE49-F238E27FC236}">
                <a16:creationId xmlns:a16="http://schemas.microsoft.com/office/drawing/2014/main" id="{E670D789-D5B2-1201-CC0A-16E9D109344E}"/>
              </a:ext>
            </a:extLst>
          </p:cNvPr>
          <p:cNvPicPr>
            <a:picLocks/>
          </p:cNvPicPr>
          <p:nvPr/>
        </p:nvPicPr>
        <p:blipFill>
          <a:blip r:embed="rId3"/>
          <a:stretch/>
        </p:blipFill>
        <p:spPr>
          <a:xfrm>
            <a:off x="1553649" y="1214438"/>
            <a:ext cx="1464703" cy="1107281"/>
          </a:xfrm>
          <a:prstGeom prst="rect">
            <a:avLst/>
          </a:prstGeom>
        </p:spPr>
      </p:pic>
      <p:sp>
        <p:nvSpPr>
          <p:cNvPr id="10" name="Rectangle 9">
            <a:extLst>
              <a:ext uri="{FF2B5EF4-FFF2-40B4-BE49-F238E27FC236}">
                <a16:creationId xmlns:a16="http://schemas.microsoft.com/office/drawing/2014/main" id="{DB4511D6-9CB9-D0EF-A1E1-7DC1758B8362}"/>
              </a:ext>
            </a:extLst>
          </p:cNvPr>
          <p:cNvSpPr>
            <a:spLocks noGrp="1"/>
          </p:cNvSpPr>
          <p:nvPr/>
        </p:nvSpPr>
        <p:spPr>
          <a:xfrm>
            <a:off x="321470" y="2321719"/>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Predict force</a:t>
            </a:r>
          </a:p>
        </p:txBody>
      </p:sp>
      <p:pic>
        <p:nvPicPr>
          <p:cNvPr id="11" name="Picture 10">
            <a:extLst>
              <a:ext uri="{FF2B5EF4-FFF2-40B4-BE49-F238E27FC236}">
                <a16:creationId xmlns:a16="http://schemas.microsoft.com/office/drawing/2014/main" id="{5D80BEDA-413D-04C7-A28D-E48B0A53169D}"/>
              </a:ext>
            </a:extLst>
          </p:cNvPr>
          <p:cNvPicPr>
            <a:picLocks/>
          </p:cNvPicPr>
          <p:nvPr/>
        </p:nvPicPr>
        <p:blipFill>
          <a:blip r:embed="rId4"/>
          <a:stretch/>
        </p:blipFill>
        <p:spPr>
          <a:xfrm>
            <a:off x="5988436" y="1214438"/>
            <a:ext cx="1381943" cy="1107281"/>
          </a:xfrm>
          <a:prstGeom prst="rect">
            <a:avLst/>
          </a:prstGeom>
        </p:spPr>
      </p:pic>
      <p:sp>
        <p:nvSpPr>
          <p:cNvPr id="12" name="Rectangle 11">
            <a:extLst>
              <a:ext uri="{FF2B5EF4-FFF2-40B4-BE49-F238E27FC236}">
                <a16:creationId xmlns:a16="http://schemas.microsoft.com/office/drawing/2014/main" id="{B75CC4F7-8B3D-234A-C2E1-12BB0C050773}"/>
              </a:ext>
            </a:extLst>
          </p:cNvPr>
          <p:cNvSpPr>
            <a:spLocks noGrp="1"/>
          </p:cNvSpPr>
          <p:nvPr/>
        </p:nvSpPr>
        <p:spPr>
          <a:xfrm>
            <a:off x="4714876" y="2321719"/>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Meet selected torque targets</a:t>
            </a:r>
          </a:p>
        </p:txBody>
      </p:sp>
      <p:pic>
        <p:nvPicPr>
          <p:cNvPr id="13" name="Picture 12">
            <a:extLst>
              <a:ext uri="{FF2B5EF4-FFF2-40B4-BE49-F238E27FC236}">
                <a16:creationId xmlns:a16="http://schemas.microsoft.com/office/drawing/2014/main" id="{30B86328-4300-6954-5A43-CD655CF8EAAE}"/>
              </a:ext>
            </a:extLst>
          </p:cNvPr>
          <p:cNvPicPr>
            <a:picLocks/>
          </p:cNvPicPr>
          <p:nvPr/>
        </p:nvPicPr>
        <p:blipFill>
          <a:blip r:embed="rId5"/>
          <a:stretch/>
        </p:blipFill>
        <p:spPr>
          <a:xfrm>
            <a:off x="1372255" y="2786063"/>
            <a:ext cx="1827490" cy="1107281"/>
          </a:xfrm>
          <a:prstGeom prst="rect">
            <a:avLst/>
          </a:prstGeom>
        </p:spPr>
      </p:pic>
      <p:sp>
        <p:nvSpPr>
          <p:cNvPr id="14" name="Rectangle 13">
            <a:extLst>
              <a:ext uri="{FF2B5EF4-FFF2-40B4-BE49-F238E27FC236}">
                <a16:creationId xmlns:a16="http://schemas.microsoft.com/office/drawing/2014/main" id="{BDB5D7A1-E10C-9836-EC09-9B4154EA6547}"/>
              </a:ext>
            </a:extLst>
          </p:cNvPr>
          <p:cNvSpPr>
            <a:spLocks noGrp="1"/>
          </p:cNvSpPr>
          <p:nvPr/>
        </p:nvSpPr>
        <p:spPr>
          <a:xfrm>
            <a:off x="321470" y="389334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Ground sensory hypotheses</a:t>
            </a:r>
          </a:p>
        </p:txBody>
      </p:sp>
      <p:pic>
        <p:nvPicPr>
          <p:cNvPr id="15" name="Picture 14">
            <a:extLst>
              <a:ext uri="{FF2B5EF4-FFF2-40B4-BE49-F238E27FC236}">
                <a16:creationId xmlns:a16="http://schemas.microsoft.com/office/drawing/2014/main" id="{5160CCD3-58EC-3234-8DE4-076BECC6DFD5}"/>
              </a:ext>
            </a:extLst>
          </p:cNvPr>
          <p:cNvPicPr>
            <a:picLocks/>
          </p:cNvPicPr>
          <p:nvPr/>
        </p:nvPicPr>
        <p:blipFill>
          <a:blip r:embed="rId6"/>
          <a:stretch/>
        </p:blipFill>
        <p:spPr>
          <a:xfrm>
            <a:off x="6278939" y="2786063"/>
            <a:ext cx="800933" cy="1107281"/>
          </a:xfrm>
          <a:prstGeom prst="rect">
            <a:avLst/>
          </a:prstGeom>
        </p:spPr>
      </p:pic>
      <p:sp>
        <p:nvSpPr>
          <p:cNvPr id="16" name="Rectangle 15">
            <a:extLst>
              <a:ext uri="{FF2B5EF4-FFF2-40B4-BE49-F238E27FC236}">
                <a16:creationId xmlns:a16="http://schemas.microsoft.com/office/drawing/2014/main" id="{DF651409-8192-14B9-D724-3DD9293807A4}"/>
              </a:ext>
            </a:extLst>
          </p:cNvPr>
          <p:cNvSpPr>
            <a:spLocks noGrp="1"/>
          </p:cNvSpPr>
          <p:nvPr/>
        </p:nvSpPr>
        <p:spPr>
          <a:xfrm>
            <a:off x="4714876" y="3893344"/>
            <a:ext cx="3929063" cy="250031"/>
          </a:xfrm>
          <a:prstGeom prst="rect">
            <a:avLst/>
          </a:prstGeom>
          <a:noFill/>
          <a:ln w="0">
            <a:noFill/>
          </a:ln>
        </p:spPr>
        <p:txBody>
          <a:bodyPr lIns="0" tIns="0" rIns="0" bIns="0" anchor="t"/>
          <a:lstStyle>
            <a:defPPr>
              <a:defRPr sz="2175" b="1">
                <a:solidFill>
                  <a:srgbClr val="006D77"/>
                </a:solidFill>
                <a:latin typeface="Calibri"/>
                <a:ea typeface="Calibri"/>
                <a:cs typeface="Calibri"/>
              </a:defRPr>
            </a:defPPr>
            <a:lvl1pPr>
              <a:defRPr sz="2175" b="1">
                <a:solidFill>
                  <a:srgbClr val="006D77"/>
                </a:solidFill>
                <a:latin typeface="Calibri"/>
                <a:ea typeface="Calibri"/>
                <a:cs typeface="Calibri"/>
              </a:defRPr>
            </a:lvl1pPr>
            <a:lvl2pPr>
              <a:defRPr sz="2175" b="1">
                <a:solidFill>
                  <a:srgbClr val="006D77"/>
                </a:solidFill>
                <a:latin typeface="Calibri"/>
                <a:ea typeface="Calibri"/>
                <a:cs typeface="Calibri"/>
              </a:defRPr>
            </a:lvl2pPr>
            <a:lvl3pPr>
              <a:defRPr sz="2175" b="1">
                <a:solidFill>
                  <a:srgbClr val="006D77"/>
                </a:solidFill>
                <a:latin typeface="Calibri"/>
                <a:ea typeface="Calibri"/>
                <a:cs typeface="Calibri"/>
              </a:defRPr>
            </a:lvl3pPr>
            <a:lvl4pPr>
              <a:defRPr sz="2175" b="1">
                <a:solidFill>
                  <a:srgbClr val="006D77"/>
                </a:solidFill>
                <a:latin typeface="Calibri"/>
                <a:ea typeface="Calibri"/>
                <a:cs typeface="Calibri"/>
              </a:defRPr>
            </a:lvl4pPr>
            <a:lvl5pPr>
              <a:defRPr sz="2175" b="1">
                <a:solidFill>
                  <a:srgbClr val="006D77"/>
                </a:solidFill>
                <a:latin typeface="Calibri"/>
                <a:ea typeface="Calibri"/>
                <a:cs typeface="Calibri"/>
              </a:defRPr>
            </a:lvl5pPr>
            <a:lvl6pPr>
              <a:defRPr sz="2175" b="1">
                <a:solidFill>
                  <a:srgbClr val="006D77"/>
                </a:solidFill>
                <a:latin typeface="Calibri"/>
                <a:ea typeface="Calibri"/>
                <a:cs typeface="Calibri"/>
              </a:defRPr>
            </a:lvl6pPr>
            <a:lvl7pPr>
              <a:defRPr sz="2175" b="1">
                <a:solidFill>
                  <a:srgbClr val="006D77"/>
                </a:solidFill>
                <a:latin typeface="Calibri"/>
                <a:ea typeface="Calibri"/>
                <a:cs typeface="Calibri"/>
              </a:defRPr>
            </a:lvl7pPr>
            <a:lvl8pPr>
              <a:defRPr sz="2175" b="1">
                <a:solidFill>
                  <a:srgbClr val="006D77"/>
                </a:solidFill>
                <a:latin typeface="Calibri"/>
                <a:ea typeface="Calibri"/>
                <a:cs typeface="Calibri"/>
              </a:defRPr>
            </a:lvl8pPr>
            <a:lvl9pPr>
              <a:defRPr sz="2175" b="1">
                <a:solidFill>
                  <a:srgbClr val="006D77"/>
                </a:solidFill>
                <a:latin typeface="Calibri"/>
                <a:ea typeface="Calibri"/>
                <a:cs typeface="Calibri"/>
              </a:defRPr>
            </a:lvl9pPr>
          </a:lstStyle>
          <a:p>
            <a:pPr>
              <a:defRPr sz="2175" b="1">
                <a:solidFill>
                  <a:srgbClr val="006D77"/>
                </a:solidFill>
                <a:latin typeface="Calibri"/>
                <a:ea typeface="Calibri"/>
                <a:cs typeface="Calibri"/>
              </a:defRPr>
            </a:pPr>
            <a:r>
              <a:rPr sz="1631" b="1">
                <a:solidFill>
                  <a:srgbClr val="006D77"/>
                </a:solidFill>
                <a:latin typeface="Calibri"/>
                <a:ea typeface="Calibri"/>
                <a:cs typeface="Calibri"/>
              </a:rPr>
              <a:t>Test neural mechanisms</a:t>
            </a:r>
          </a:p>
        </p:txBody>
      </p:sp>
      <p:sp>
        <p:nvSpPr>
          <p:cNvPr id="17" name="Rectangle 16">
            <a:extLst>
              <a:ext uri="{FF2B5EF4-FFF2-40B4-BE49-F238E27FC236}">
                <a16:creationId xmlns:a16="http://schemas.microsoft.com/office/drawing/2014/main" id="{B421486A-AB43-3EF4-0241-7205A29B25FD}"/>
              </a:ext>
            </a:extLst>
          </p:cNvPr>
          <p:cNvSpPr>
            <a:spLocks noGrp="1"/>
          </p:cNvSpPr>
          <p:nvPr/>
        </p:nvSpPr>
        <p:spPr>
          <a:xfrm>
            <a:off x="321469" y="4314825"/>
            <a:ext cx="7143750" cy="264319"/>
          </a:xfrm>
          <a:prstGeom prst="rect">
            <a:avLst/>
          </a:prstGeom>
          <a:noFill/>
          <a:ln w="0">
            <a:noFill/>
          </a:ln>
        </p:spPr>
        <p:txBody>
          <a:bodyPr lIns="0" tIns="0" rIns="0" bIns="0" anchor="t"/>
          <a:lstStyle>
            <a:defPPr>
              <a:defRPr sz="2250" b="1">
                <a:solidFill>
                  <a:srgbClr val="B57C50"/>
                </a:solidFill>
                <a:latin typeface="Calibri"/>
                <a:ea typeface="Calibri"/>
                <a:cs typeface="Calibri"/>
              </a:defRPr>
            </a:defPPr>
            <a:lvl1pPr>
              <a:defRPr sz="2250" b="1">
                <a:solidFill>
                  <a:srgbClr val="B57C50"/>
                </a:solidFill>
                <a:latin typeface="Calibri"/>
                <a:ea typeface="Calibri"/>
                <a:cs typeface="Calibri"/>
              </a:defRPr>
            </a:lvl1pPr>
            <a:lvl2pPr>
              <a:defRPr sz="2250" b="1">
                <a:solidFill>
                  <a:srgbClr val="B57C50"/>
                </a:solidFill>
                <a:latin typeface="Calibri"/>
                <a:ea typeface="Calibri"/>
                <a:cs typeface="Calibri"/>
              </a:defRPr>
            </a:lvl2pPr>
            <a:lvl3pPr>
              <a:defRPr sz="2250" b="1">
                <a:solidFill>
                  <a:srgbClr val="B57C50"/>
                </a:solidFill>
                <a:latin typeface="Calibri"/>
                <a:ea typeface="Calibri"/>
                <a:cs typeface="Calibri"/>
              </a:defRPr>
            </a:lvl3pPr>
            <a:lvl4pPr>
              <a:defRPr sz="2250" b="1">
                <a:solidFill>
                  <a:srgbClr val="B57C50"/>
                </a:solidFill>
                <a:latin typeface="Calibri"/>
                <a:ea typeface="Calibri"/>
                <a:cs typeface="Calibri"/>
              </a:defRPr>
            </a:lvl4pPr>
            <a:lvl5pPr>
              <a:defRPr sz="2250" b="1">
                <a:solidFill>
                  <a:srgbClr val="B57C50"/>
                </a:solidFill>
                <a:latin typeface="Calibri"/>
                <a:ea typeface="Calibri"/>
                <a:cs typeface="Calibri"/>
              </a:defRPr>
            </a:lvl5pPr>
            <a:lvl6pPr>
              <a:defRPr sz="2250" b="1">
                <a:solidFill>
                  <a:srgbClr val="B57C50"/>
                </a:solidFill>
                <a:latin typeface="Calibri"/>
                <a:ea typeface="Calibri"/>
                <a:cs typeface="Calibri"/>
              </a:defRPr>
            </a:lvl6pPr>
            <a:lvl7pPr>
              <a:defRPr sz="2250" b="1">
                <a:solidFill>
                  <a:srgbClr val="B57C50"/>
                </a:solidFill>
                <a:latin typeface="Calibri"/>
                <a:ea typeface="Calibri"/>
                <a:cs typeface="Calibri"/>
              </a:defRPr>
            </a:lvl7pPr>
            <a:lvl8pPr>
              <a:defRPr sz="2250" b="1">
                <a:solidFill>
                  <a:srgbClr val="B57C50"/>
                </a:solidFill>
                <a:latin typeface="Calibri"/>
                <a:ea typeface="Calibri"/>
                <a:cs typeface="Calibri"/>
              </a:defRPr>
            </a:lvl8pPr>
            <a:lvl9pPr>
              <a:defRPr sz="2250" b="1">
                <a:solidFill>
                  <a:srgbClr val="B57C50"/>
                </a:solidFill>
                <a:latin typeface="Calibri"/>
                <a:ea typeface="Calibri"/>
                <a:cs typeface="Calibri"/>
              </a:defRPr>
            </a:lvl9pPr>
          </a:lstStyle>
          <a:p>
            <a:pPr>
              <a:defRPr sz="2250" b="1">
                <a:solidFill>
                  <a:srgbClr val="B57C50"/>
                </a:solidFill>
                <a:latin typeface="Calibri"/>
                <a:ea typeface="Calibri"/>
                <a:cs typeface="Calibri"/>
              </a:defRPr>
            </a:pPr>
            <a:r>
              <a:rPr sz="1688" b="1">
                <a:solidFill>
                  <a:srgbClr val="B57C50"/>
                </a:solidFill>
                <a:latin typeface="Calibri"/>
                <a:ea typeface="Calibri"/>
                <a:cs typeface="Calibri"/>
              </a:rPr>
              <a:t>Thank you · Questions</a:t>
            </a:r>
          </a:p>
        </p:txBody>
      </p:sp>
      <p:sp>
        <p:nvSpPr>
          <p:cNvPr id="18" name="TextBox 17">
            <a:extLst>
              <a:ext uri="{FF2B5EF4-FFF2-40B4-BE49-F238E27FC236}">
                <a16:creationId xmlns:a16="http://schemas.microsoft.com/office/drawing/2014/main" id="{A559C376-DE4C-569F-EE36-C5EA2AAF42F5}"/>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26</a:t>
            </a:r>
          </a:p>
        </p:txBody>
      </p:sp>
    </p:spTree>
    <p:extLst>
      <p:ext uri="{BB962C8B-B14F-4D97-AF65-F5344CB8AC3E}">
        <p14:creationId xmlns:p14="http://schemas.microsoft.com/office/powerpoint/2010/main" val="562983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7" name="Rectangle 6">
            <a:extLst>
              <a:ext uri="{FF2B5EF4-FFF2-40B4-BE49-F238E27FC236}">
                <a16:creationId xmlns:a16="http://schemas.microsoft.com/office/drawing/2014/main" id="{EF754F8F-A8C3-BF4B-5956-B2C4B0EB5F93}"/>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SADb keeps experimental context beside the proposed robot interpretation</a:t>
            </a:r>
            <a:endParaRPr sz="2419" b="1">
              <a:solidFill>
                <a:srgbClr val="B57C50"/>
              </a:solidFill>
              <a:latin typeface="Calibri"/>
              <a:ea typeface="Calibri"/>
              <a:cs typeface="Calibri"/>
            </a:endParaRPr>
          </a:p>
        </p:txBody>
      </p:sp>
      <p:sp>
        <p:nvSpPr>
          <p:cNvPr id="8" name="Rectangle 7">
            <a:extLst>
              <a:ext uri="{FF2B5EF4-FFF2-40B4-BE49-F238E27FC236}">
                <a16:creationId xmlns:a16="http://schemas.microsoft.com/office/drawing/2014/main" id="{7871FBFF-B119-D68F-1BAE-04B32CD64D85}"/>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5 · Focus record and connected sources</a:t>
            </a:r>
          </a:p>
        </p:txBody>
      </p:sp>
      <p:pic>
        <p:nvPicPr>
          <p:cNvPr id="9" name="Picture 8">
            <a:extLst>
              <a:ext uri="{FF2B5EF4-FFF2-40B4-BE49-F238E27FC236}">
                <a16:creationId xmlns:a16="http://schemas.microsoft.com/office/drawing/2014/main" id="{2F4EA2CA-3766-CB7C-8A24-1E34278DA1B7}"/>
              </a:ext>
            </a:extLst>
          </p:cNvPr>
          <p:cNvPicPr>
            <a:picLocks/>
          </p:cNvPicPr>
          <p:nvPr/>
        </p:nvPicPr>
        <p:blipFill>
          <a:blip r:embed="rId3"/>
          <a:stretch/>
        </p:blipFill>
        <p:spPr>
          <a:xfrm>
            <a:off x="1029707" y="1071564"/>
            <a:ext cx="1298151" cy="3357563"/>
          </a:xfrm>
          <a:prstGeom prst="rect">
            <a:avLst/>
          </a:prstGeom>
        </p:spPr>
      </p:pic>
      <p:pic>
        <p:nvPicPr>
          <p:cNvPr id="10" name="Picture 9">
            <a:extLst>
              <a:ext uri="{FF2B5EF4-FFF2-40B4-BE49-F238E27FC236}">
                <a16:creationId xmlns:a16="http://schemas.microsoft.com/office/drawing/2014/main" id="{7462BC92-23D4-AD1D-8293-A411FE779247}"/>
              </a:ext>
            </a:extLst>
          </p:cNvPr>
          <p:cNvPicPr>
            <a:picLocks/>
          </p:cNvPicPr>
          <p:nvPr/>
        </p:nvPicPr>
        <p:blipFill>
          <a:blip r:embed="rId4"/>
          <a:stretch/>
        </p:blipFill>
        <p:spPr>
          <a:xfrm>
            <a:off x="6744707" y="1071564"/>
            <a:ext cx="1298151" cy="3357563"/>
          </a:xfrm>
          <a:prstGeom prst="rect">
            <a:avLst/>
          </a:prstGeom>
        </p:spPr>
      </p:pic>
      <p:sp>
        <p:nvSpPr>
          <p:cNvPr id="11" name="Rectangle 10">
            <a:extLst>
              <a:ext uri="{FF2B5EF4-FFF2-40B4-BE49-F238E27FC236}">
                <a16:creationId xmlns:a16="http://schemas.microsoft.com/office/drawing/2014/main" id="{EE51FE9A-1522-C489-8C4D-89B8144A779C}"/>
              </a:ext>
            </a:extLst>
          </p:cNvPr>
          <p:cNvSpPr>
            <a:spLocks noGrp="1"/>
          </p:cNvSpPr>
          <p:nvPr/>
        </p:nvSpPr>
        <p:spPr>
          <a:xfrm>
            <a:off x="3071813" y="1464470"/>
            <a:ext cx="2857500" cy="71437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Source and</a:t>
            </a:r>
          </a:p>
          <a:p>
            <a:pPr>
              <a:defRPr sz="2250" b="1">
                <a:solidFill>
                  <a:srgbClr val="006D77"/>
                </a:solidFill>
                <a:latin typeface="Calibri"/>
                <a:ea typeface="Calibri"/>
                <a:cs typeface="Calibri"/>
              </a:defRPr>
            </a:pPr>
            <a:r>
              <a:rPr sz="1688" b="1">
                <a:solidFill>
                  <a:srgbClr val="006D77"/>
                </a:solidFill>
                <a:latin typeface="Calibri"/>
                <a:ea typeface="Calibri"/>
                <a:cs typeface="Calibri"/>
              </a:rPr>
              <a:t>experimental context</a:t>
            </a:r>
          </a:p>
        </p:txBody>
      </p:sp>
      <p:sp>
        <p:nvSpPr>
          <p:cNvPr id="12" name="Straight Connector 11">
            <a:extLst>
              <a:ext uri="{FF2B5EF4-FFF2-40B4-BE49-F238E27FC236}">
                <a16:creationId xmlns:a16="http://schemas.microsoft.com/office/drawing/2014/main" id="{F478E03A-57C4-EED2-04C4-45F867AC00E0}"/>
              </a:ext>
            </a:extLst>
          </p:cNvPr>
          <p:cNvSpPr>
            <a:spLocks noGrp="1"/>
          </p:cNvSpPr>
          <p:nvPr/>
        </p:nvSpPr>
        <p:spPr>
          <a:xfrm>
            <a:off x="2428875" y="2143126"/>
            <a:ext cx="628650" cy="214313"/>
          </a:xfrm>
          <a:prstGeom prst="line">
            <a:avLst/>
          </a:prstGeom>
          <a:ln w="19050">
            <a:solidFill>
              <a:srgbClr val="006D77"/>
            </a:solidFill>
          </a:ln>
        </p:spPr>
      </p:sp>
      <p:sp>
        <p:nvSpPr>
          <p:cNvPr id="13" name="Rectangle 12">
            <a:extLst>
              <a:ext uri="{FF2B5EF4-FFF2-40B4-BE49-F238E27FC236}">
                <a16:creationId xmlns:a16="http://schemas.microsoft.com/office/drawing/2014/main" id="{FAD3D0CB-AE1B-D3D8-517B-8D1447886D59}"/>
              </a:ext>
            </a:extLst>
          </p:cNvPr>
          <p:cNvSpPr>
            <a:spLocks noGrp="1"/>
          </p:cNvSpPr>
          <p:nvPr/>
        </p:nvSpPr>
        <p:spPr>
          <a:xfrm>
            <a:off x="3071813" y="3071814"/>
            <a:ext cx="2857500" cy="71437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Robot interpretation</a:t>
            </a:r>
          </a:p>
          <a:p>
            <a:pPr>
              <a:defRPr sz="2250" b="1">
                <a:solidFill>
                  <a:srgbClr val="006D77"/>
                </a:solidFill>
                <a:latin typeface="Calibri"/>
                <a:ea typeface="Calibri"/>
                <a:cs typeface="Calibri"/>
              </a:defRPr>
            </a:pPr>
            <a:r>
              <a:rPr sz="1688" b="1">
                <a:solidFill>
                  <a:srgbClr val="006D77"/>
                </a:solidFill>
                <a:latin typeface="Calibri"/>
                <a:ea typeface="Calibri"/>
                <a:cs typeface="Calibri"/>
              </a:rPr>
              <a:t>to test</a:t>
            </a:r>
          </a:p>
        </p:txBody>
      </p:sp>
      <p:sp>
        <p:nvSpPr>
          <p:cNvPr id="14" name="Straight Connector 13">
            <a:extLst>
              <a:ext uri="{FF2B5EF4-FFF2-40B4-BE49-F238E27FC236}">
                <a16:creationId xmlns:a16="http://schemas.microsoft.com/office/drawing/2014/main" id="{4B897AFE-A16B-D1B9-94CC-A02137EC1EDA}"/>
              </a:ext>
            </a:extLst>
          </p:cNvPr>
          <p:cNvSpPr>
            <a:spLocks noGrp="1"/>
          </p:cNvSpPr>
          <p:nvPr/>
        </p:nvSpPr>
        <p:spPr>
          <a:xfrm>
            <a:off x="2428875" y="3786189"/>
            <a:ext cx="628650" cy="142875"/>
          </a:xfrm>
          <a:prstGeom prst="line">
            <a:avLst/>
          </a:prstGeom>
          <a:ln w="19050">
            <a:solidFill>
              <a:srgbClr val="006D77"/>
            </a:solidFill>
          </a:ln>
        </p:spPr>
      </p:sp>
      <p:sp>
        <p:nvSpPr>
          <p:cNvPr id="15" name="TextBox 14">
            <a:extLst>
              <a:ext uri="{FF2B5EF4-FFF2-40B4-BE49-F238E27FC236}">
                <a16:creationId xmlns:a16="http://schemas.microsoft.com/office/drawing/2014/main" id="{AC873877-420B-A449-A761-66A0BC5EC9E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27</a:t>
            </a:r>
          </a:p>
        </p:txBody>
      </p:sp>
    </p:spTree>
    <p:extLst>
      <p:ext uri="{BB962C8B-B14F-4D97-AF65-F5344CB8AC3E}">
        <p14:creationId xmlns:p14="http://schemas.microsoft.com/office/powerpoint/2010/main" val="1040931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A3C3C8F-04A0-BAD9-19A3-3AE2A3E52A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Joint torque depends on force direction and moment arm</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8427D2CE-1DEA-2C9B-8F20-5F68CED0535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sp>
        <p:nvSpPr>
          <p:cNvPr id="4" name="Oval 3">
            <a:extLst>
              <a:ext uri="{FF2B5EF4-FFF2-40B4-BE49-F238E27FC236}">
                <a16:creationId xmlns:a16="http://schemas.microsoft.com/office/drawing/2014/main" id="{6520FC98-9821-6043-D1D8-B52D0843160E}"/>
              </a:ext>
            </a:extLst>
          </p:cNvPr>
          <p:cNvSpPr>
            <a:spLocks noGrp="1"/>
          </p:cNvSpPr>
          <p:nvPr/>
        </p:nvSpPr>
        <p:spPr>
          <a:xfrm>
            <a:off x="1214438" y="3214688"/>
            <a:ext cx="185738" cy="185738"/>
          </a:xfrm>
          <a:prstGeom prst="ellipse">
            <a:avLst/>
          </a:prstGeom>
          <a:solidFill>
            <a:srgbClr val="B57C50"/>
          </a:solidFill>
          <a:ln w="9525">
            <a:solidFill>
              <a:srgbClr val="B57C50"/>
            </a:solidFill>
          </a:ln>
        </p:spPr>
      </p:sp>
      <p:sp>
        <p:nvSpPr>
          <p:cNvPr id="5" name="Oval 4">
            <a:extLst>
              <a:ext uri="{FF2B5EF4-FFF2-40B4-BE49-F238E27FC236}">
                <a16:creationId xmlns:a16="http://schemas.microsoft.com/office/drawing/2014/main" id="{86816185-B30E-9A19-902F-B866195A99B5}"/>
              </a:ext>
            </a:extLst>
          </p:cNvPr>
          <p:cNvSpPr>
            <a:spLocks noGrp="1"/>
          </p:cNvSpPr>
          <p:nvPr/>
        </p:nvSpPr>
        <p:spPr>
          <a:xfrm>
            <a:off x="3429001" y="1714501"/>
            <a:ext cx="157163" cy="157163"/>
          </a:xfrm>
          <a:prstGeom prst="ellipse">
            <a:avLst/>
          </a:prstGeom>
          <a:solidFill>
            <a:srgbClr val="006D77"/>
          </a:solidFill>
          <a:ln w="9525">
            <a:solidFill>
              <a:srgbClr val="006D77"/>
            </a:solidFill>
          </a:ln>
        </p:spPr>
      </p:sp>
      <p:sp>
        <p:nvSpPr>
          <p:cNvPr id="6" name="Straight Connector 5">
            <a:extLst>
              <a:ext uri="{FF2B5EF4-FFF2-40B4-BE49-F238E27FC236}">
                <a16:creationId xmlns:a16="http://schemas.microsoft.com/office/drawing/2014/main" id="{081A4B27-9C7C-9639-AD96-3D35E07C2722}"/>
              </a:ext>
            </a:extLst>
          </p:cNvPr>
          <p:cNvSpPr>
            <a:spLocks noGrp="1"/>
          </p:cNvSpPr>
          <p:nvPr/>
        </p:nvSpPr>
        <p:spPr>
          <a:xfrm flipV="1">
            <a:off x="1307307" y="1793082"/>
            <a:ext cx="2200275" cy="1514475"/>
          </a:xfrm>
          <a:prstGeom prst="line">
            <a:avLst/>
          </a:prstGeom>
          <a:ln w="28575">
            <a:solidFill>
              <a:srgbClr val="B57C50"/>
            </a:solidFill>
          </a:ln>
        </p:spPr>
      </p:sp>
      <p:sp>
        <p:nvSpPr>
          <p:cNvPr id="7" name="Arrow: Right 6">
            <a:extLst>
              <a:ext uri="{FF2B5EF4-FFF2-40B4-BE49-F238E27FC236}">
                <a16:creationId xmlns:a16="http://schemas.microsoft.com/office/drawing/2014/main" id="{7A376C15-83B2-428E-BE15-D4647F1A40F2}"/>
              </a:ext>
            </a:extLst>
          </p:cNvPr>
          <p:cNvSpPr>
            <a:spLocks noGrp="1"/>
          </p:cNvSpPr>
          <p:nvPr/>
        </p:nvSpPr>
        <p:spPr>
          <a:xfrm>
            <a:off x="3571876" y="1685926"/>
            <a:ext cx="1857375" cy="200025"/>
          </a:xfrm>
          <a:prstGeom prst="rightArrow">
            <a:avLst/>
          </a:prstGeom>
          <a:solidFill>
            <a:srgbClr val="B65C25"/>
          </a:solidFill>
          <a:ln w="9525">
            <a:solidFill>
              <a:srgbClr val="B65C25"/>
            </a:solidFill>
          </a:ln>
        </p:spPr>
      </p:sp>
      <p:sp>
        <p:nvSpPr>
          <p:cNvPr id="8" name="Straight Connector 7">
            <a:extLst>
              <a:ext uri="{FF2B5EF4-FFF2-40B4-BE49-F238E27FC236}">
                <a16:creationId xmlns:a16="http://schemas.microsoft.com/office/drawing/2014/main" id="{0DCD805D-F568-24F9-D41A-9D45BC73AC72}"/>
              </a:ext>
            </a:extLst>
          </p:cNvPr>
          <p:cNvSpPr>
            <a:spLocks noGrp="1"/>
          </p:cNvSpPr>
          <p:nvPr/>
        </p:nvSpPr>
        <p:spPr>
          <a:xfrm>
            <a:off x="1300163" y="1785938"/>
            <a:ext cx="4000500" cy="0"/>
          </a:xfrm>
          <a:prstGeom prst="line">
            <a:avLst/>
          </a:prstGeom>
          <a:ln w="19050">
            <a:solidFill>
              <a:srgbClr val="53616A"/>
            </a:solidFill>
            <a:prstDash val="dash"/>
          </a:ln>
        </p:spPr>
      </p:sp>
      <p:sp>
        <p:nvSpPr>
          <p:cNvPr id="9" name="Straight Connector 8">
            <a:extLst>
              <a:ext uri="{FF2B5EF4-FFF2-40B4-BE49-F238E27FC236}">
                <a16:creationId xmlns:a16="http://schemas.microsoft.com/office/drawing/2014/main" id="{60651107-66B5-0750-E853-D99261CCF79E}"/>
              </a:ext>
            </a:extLst>
          </p:cNvPr>
          <p:cNvSpPr>
            <a:spLocks noGrp="1"/>
          </p:cNvSpPr>
          <p:nvPr/>
        </p:nvSpPr>
        <p:spPr>
          <a:xfrm>
            <a:off x="1300163" y="1785938"/>
            <a:ext cx="0" cy="1500188"/>
          </a:xfrm>
          <a:prstGeom prst="line">
            <a:avLst/>
          </a:prstGeom>
          <a:ln w="28575">
            <a:solidFill>
              <a:srgbClr val="006D77"/>
            </a:solidFill>
          </a:ln>
        </p:spPr>
      </p:sp>
      <p:sp>
        <p:nvSpPr>
          <p:cNvPr id="10" name="Rectangle 9">
            <a:extLst>
              <a:ext uri="{FF2B5EF4-FFF2-40B4-BE49-F238E27FC236}">
                <a16:creationId xmlns:a16="http://schemas.microsoft.com/office/drawing/2014/main" id="{2750D8B9-2C49-5A61-7B37-4C10350799D1}"/>
              </a:ext>
            </a:extLst>
          </p:cNvPr>
          <p:cNvSpPr>
            <a:spLocks noGrp="1"/>
          </p:cNvSpPr>
          <p:nvPr/>
        </p:nvSpPr>
        <p:spPr>
          <a:xfrm>
            <a:off x="964407" y="3343275"/>
            <a:ext cx="428625" cy="357188"/>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O</a:t>
            </a:r>
          </a:p>
        </p:txBody>
      </p:sp>
      <p:sp>
        <p:nvSpPr>
          <p:cNvPr id="11" name="Rectangle 10">
            <a:extLst>
              <a:ext uri="{FF2B5EF4-FFF2-40B4-BE49-F238E27FC236}">
                <a16:creationId xmlns:a16="http://schemas.microsoft.com/office/drawing/2014/main" id="{B00BFCD7-1653-035C-CFAA-1F4770867F60}"/>
              </a:ext>
            </a:extLst>
          </p:cNvPr>
          <p:cNvSpPr>
            <a:spLocks noGrp="1"/>
          </p:cNvSpPr>
          <p:nvPr/>
        </p:nvSpPr>
        <p:spPr>
          <a:xfrm>
            <a:off x="3243264" y="1428750"/>
            <a:ext cx="428625" cy="321469"/>
          </a:xfrm>
          <a:prstGeom prst="rect">
            <a:avLst/>
          </a:prstGeom>
          <a:noFill/>
          <a:ln w="0">
            <a:noFill/>
          </a:ln>
        </p:spPr>
        <p:txBody>
          <a:bodyPr lIns="0" tIns="0" rIns="0" bIns="0" anchor="t"/>
          <a:lstStyle>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a:pPr>
              <a:defRPr sz="2400" b="0">
                <a:solidFill>
                  <a:srgbClr val="202C33"/>
                </a:solidFill>
                <a:latin typeface="Calibri"/>
                <a:ea typeface="Calibri"/>
                <a:cs typeface="Calibri"/>
              </a:defRPr>
            </a:pPr>
            <a:r>
              <a:rPr sz="1800" b="0">
                <a:solidFill>
                  <a:srgbClr val="202C33"/>
                </a:solidFill>
                <a:latin typeface="Calibri"/>
                <a:ea typeface="Calibri"/>
                <a:cs typeface="Calibri"/>
              </a:rPr>
              <a:t>p</a:t>
            </a:r>
          </a:p>
        </p:txBody>
      </p:sp>
      <p:sp>
        <p:nvSpPr>
          <p:cNvPr id="12" name="Rectangle 11">
            <a:extLst>
              <a:ext uri="{FF2B5EF4-FFF2-40B4-BE49-F238E27FC236}">
                <a16:creationId xmlns:a16="http://schemas.microsoft.com/office/drawing/2014/main" id="{65384A86-F8EE-8E3B-83EB-1E2BB0F5FE26}"/>
              </a:ext>
            </a:extLst>
          </p:cNvPr>
          <p:cNvSpPr>
            <a:spLocks noGrp="1"/>
          </p:cNvSpPr>
          <p:nvPr/>
        </p:nvSpPr>
        <p:spPr>
          <a:xfrm>
            <a:off x="2250281" y="2500313"/>
            <a:ext cx="571500" cy="321469"/>
          </a:xfrm>
          <a:prstGeom prst="rect">
            <a:avLst/>
          </a:prstGeom>
          <a:noFill/>
          <a:ln w="0">
            <a:noFill/>
          </a:ln>
        </p:spPr>
        <p:txBody>
          <a:bodyPr lIns="0" tIns="0" rIns="0" bIns="0" anchor="t"/>
          <a:lstStyle>
            <a:defPPr>
              <a:defRPr sz="2700" b="0">
                <a:solidFill>
                  <a:srgbClr val="202C33"/>
                </a:solidFill>
                <a:latin typeface="Calibri"/>
                <a:ea typeface="Calibri"/>
                <a:cs typeface="Calibri"/>
              </a:defRPr>
            </a:defPPr>
            <a:lvl1pPr>
              <a:defRPr sz="2700" b="0">
                <a:solidFill>
                  <a:srgbClr val="202C33"/>
                </a:solidFill>
                <a:latin typeface="Calibri"/>
                <a:ea typeface="Calibri"/>
                <a:cs typeface="Calibri"/>
              </a:defRPr>
            </a:lvl1pPr>
            <a:lvl2pPr>
              <a:defRPr sz="2700" b="0">
                <a:solidFill>
                  <a:srgbClr val="202C33"/>
                </a:solidFill>
                <a:latin typeface="Calibri"/>
                <a:ea typeface="Calibri"/>
                <a:cs typeface="Calibri"/>
              </a:defRPr>
            </a:lvl2pPr>
            <a:lvl3pPr>
              <a:defRPr sz="2700" b="0">
                <a:solidFill>
                  <a:srgbClr val="202C33"/>
                </a:solidFill>
                <a:latin typeface="Calibri"/>
                <a:ea typeface="Calibri"/>
                <a:cs typeface="Calibri"/>
              </a:defRPr>
            </a:lvl3pPr>
            <a:lvl4pPr>
              <a:defRPr sz="2700" b="0">
                <a:solidFill>
                  <a:srgbClr val="202C33"/>
                </a:solidFill>
                <a:latin typeface="Calibri"/>
                <a:ea typeface="Calibri"/>
                <a:cs typeface="Calibri"/>
              </a:defRPr>
            </a:lvl4pPr>
            <a:lvl5pPr>
              <a:defRPr sz="2700" b="0">
                <a:solidFill>
                  <a:srgbClr val="202C33"/>
                </a:solidFill>
                <a:latin typeface="Calibri"/>
                <a:ea typeface="Calibri"/>
                <a:cs typeface="Calibri"/>
              </a:defRPr>
            </a:lvl5pPr>
            <a:lvl6pPr>
              <a:defRPr sz="2700" b="0">
                <a:solidFill>
                  <a:srgbClr val="202C33"/>
                </a:solidFill>
                <a:latin typeface="Calibri"/>
                <a:ea typeface="Calibri"/>
                <a:cs typeface="Calibri"/>
              </a:defRPr>
            </a:lvl6pPr>
            <a:lvl7pPr>
              <a:defRPr sz="2700" b="0">
                <a:solidFill>
                  <a:srgbClr val="202C33"/>
                </a:solidFill>
                <a:latin typeface="Calibri"/>
                <a:ea typeface="Calibri"/>
                <a:cs typeface="Calibri"/>
              </a:defRPr>
            </a:lvl7pPr>
            <a:lvl8pPr>
              <a:defRPr sz="2700" b="0">
                <a:solidFill>
                  <a:srgbClr val="202C33"/>
                </a:solidFill>
                <a:latin typeface="Calibri"/>
                <a:ea typeface="Calibri"/>
                <a:cs typeface="Calibri"/>
              </a:defRPr>
            </a:lvl8pPr>
            <a:lvl9pPr>
              <a:defRPr sz="2700" b="0">
                <a:solidFill>
                  <a:srgbClr val="202C33"/>
                </a:solidFill>
                <a:latin typeface="Calibri"/>
                <a:ea typeface="Calibri"/>
                <a:cs typeface="Calibri"/>
              </a:defRPr>
            </a:lvl9pPr>
          </a:lstStyle>
          <a:p>
            <a:pPr>
              <a:defRPr sz="2700" b="0">
                <a:solidFill>
                  <a:srgbClr val="202C33"/>
                </a:solidFill>
                <a:latin typeface="Calibri"/>
                <a:ea typeface="Calibri"/>
                <a:cs typeface="Calibri"/>
              </a:defRPr>
            </a:pPr>
            <a:r>
              <a:rPr sz="2025" b="0">
                <a:solidFill>
                  <a:srgbClr val="202C33"/>
                </a:solidFill>
                <a:latin typeface="Calibri"/>
                <a:ea typeface="Calibri"/>
                <a:cs typeface="Calibri"/>
              </a:rPr>
              <a:t>r</a:t>
            </a:r>
          </a:p>
        </p:txBody>
      </p:sp>
      <p:sp>
        <p:nvSpPr>
          <p:cNvPr id="13" name="Rectangle 12">
            <a:extLst>
              <a:ext uri="{FF2B5EF4-FFF2-40B4-BE49-F238E27FC236}">
                <a16:creationId xmlns:a16="http://schemas.microsoft.com/office/drawing/2014/main" id="{5CE7A526-C6D2-AD1F-A1DA-970C015C9C8C}"/>
              </a:ext>
            </a:extLst>
          </p:cNvPr>
          <p:cNvSpPr>
            <a:spLocks noGrp="1"/>
          </p:cNvSpPr>
          <p:nvPr/>
        </p:nvSpPr>
        <p:spPr>
          <a:xfrm>
            <a:off x="4536281" y="1357313"/>
            <a:ext cx="642938" cy="321469"/>
          </a:xfrm>
          <a:prstGeom prst="rect">
            <a:avLst/>
          </a:prstGeom>
          <a:noFill/>
          <a:ln w="0">
            <a:noFill/>
          </a:ln>
        </p:spPr>
        <p:txBody>
          <a:bodyPr lIns="0" tIns="0" rIns="0" bIns="0" anchor="t"/>
          <a:lstStyle>
            <a:defPPr>
              <a:defRPr sz="2700" b="1">
                <a:solidFill>
                  <a:srgbClr val="B65C25"/>
                </a:solidFill>
                <a:latin typeface="Calibri"/>
                <a:ea typeface="Calibri"/>
                <a:cs typeface="Calibri"/>
              </a:defRPr>
            </a:defPPr>
            <a:lvl1pPr>
              <a:defRPr sz="2700" b="1">
                <a:solidFill>
                  <a:srgbClr val="B65C25"/>
                </a:solidFill>
                <a:latin typeface="Calibri"/>
                <a:ea typeface="Calibri"/>
                <a:cs typeface="Calibri"/>
              </a:defRPr>
            </a:lvl1pPr>
            <a:lvl2pPr>
              <a:defRPr sz="2700" b="1">
                <a:solidFill>
                  <a:srgbClr val="B65C25"/>
                </a:solidFill>
                <a:latin typeface="Calibri"/>
                <a:ea typeface="Calibri"/>
                <a:cs typeface="Calibri"/>
              </a:defRPr>
            </a:lvl2pPr>
            <a:lvl3pPr>
              <a:defRPr sz="2700" b="1">
                <a:solidFill>
                  <a:srgbClr val="B65C25"/>
                </a:solidFill>
                <a:latin typeface="Calibri"/>
                <a:ea typeface="Calibri"/>
                <a:cs typeface="Calibri"/>
              </a:defRPr>
            </a:lvl3pPr>
            <a:lvl4pPr>
              <a:defRPr sz="2700" b="1">
                <a:solidFill>
                  <a:srgbClr val="B65C25"/>
                </a:solidFill>
                <a:latin typeface="Calibri"/>
                <a:ea typeface="Calibri"/>
                <a:cs typeface="Calibri"/>
              </a:defRPr>
            </a:lvl4pPr>
            <a:lvl5pPr>
              <a:defRPr sz="2700" b="1">
                <a:solidFill>
                  <a:srgbClr val="B65C25"/>
                </a:solidFill>
                <a:latin typeface="Calibri"/>
                <a:ea typeface="Calibri"/>
                <a:cs typeface="Calibri"/>
              </a:defRPr>
            </a:lvl5pPr>
            <a:lvl6pPr>
              <a:defRPr sz="2700" b="1">
                <a:solidFill>
                  <a:srgbClr val="B65C25"/>
                </a:solidFill>
                <a:latin typeface="Calibri"/>
                <a:ea typeface="Calibri"/>
                <a:cs typeface="Calibri"/>
              </a:defRPr>
            </a:lvl6pPr>
            <a:lvl7pPr>
              <a:defRPr sz="2700" b="1">
                <a:solidFill>
                  <a:srgbClr val="B65C25"/>
                </a:solidFill>
                <a:latin typeface="Calibri"/>
                <a:ea typeface="Calibri"/>
                <a:cs typeface="Calibri"/>
              </a:defRPr>
            </a:lvl7pPr>
            <a:lvl8pPr>
              <a:defRPr sz="2700" b="1">
                <a:solidFill>
                  <a:srgbClr val="B65C25"/>
                </a:solidFill>
                <a:latin typeface="Calibri"/>
                <a:ea typeface="Calibri"/>
                <a:cs typeface="Calibri"/>
              </a:defRPr>
            </a:lvl8pPr>
            <a:lvl9pPr>
              <a:defRPr sz="2700" b="1">
                <a:solidFill>
                  <a:srgbClr val="B65C25"/>
                </a:solidFill>
                <a:latin typeface="Calibri"/>
                <a:ea typeface="Calibri"/>
                <a:cs typeface="Calibri"/>
              </a:defRPr>
            </a:lvl9pPr>
          </a:lstStyle>
          <a:p>
            <a:pPr>
              <a:defRPr sz="2700" b="1">
                <a:solidFill>
                  <a:srgbClr val="B65C25"/>
                </a:solidFill>
                <a:latin typeface="Calibri"/>
                <a:ea typeface="Calibri"/>
                <a:cs typeface="Calibri"/>
              </a:defRPr>
            </a:pPr>
            <a:r>
              <a:rPr sz="2025" b="1">
                <a:solidFill>
                  <a:srgbClr val="B65C25"/>
                </a:solidFill>
                <a:latin typeface="Calibri"/>
                <a:ea typeface="Calibri"/>
                <a:cs typeface="Calibri"/>
              </a:rPr>
              <a:t>F</a:t>
            </a:r>
          </a:p>
        </p:txBody>
      </p:sp>
      <p:sp>
        <p:nvSpPr>
          <p:cNvPr id="14" name="Rectangle 13">
            <a:extLst>
              <a:ext uri="{FF2B5EF4-FFF2-40B4-BE49-F238E27FC236}">
                <a16:creationId xmlns:a16="http://schemas.microsoft.com/office/drawing/2014/main" id="{4768ACA7-1F16-016A-A678-6D8A60BE147F}"/>
              </a:ext>
            </a:extLst>
          </p:cNvPr>
          <p:cNvSpPr>
            <a:spLocks noGrp="1"/>
          </p:cNvSpPr>
          <p:nvPr/>
        </p:nvSpPr>
        <p:spPr>
          <a:xfrm>
            <a:off x="678656" y="2357438"/>
            <a:ext cx="571500" cy="392906"/>
          </a:xfrm>
          <a:prstGeom prst="rect">
            <a:avLst/>
          </a:prstGeom>
          <a:noFill/>
          <a:ln w="0">
            <a:noFill/>
          </a:ln>
        </p:spPr>
        <p:txBody>
          <a:bodyPr lIns="0" tIns="0" rIns="0" bIns="0" anchor="t"/>
          <a:lstStyle>
            <a:defPPr>
              <a:defRPr sz="2550" b="1">
                <a:solidFill>
                  <a:srgbClr val="006D77"/>
                </a:solidFill>
                <a:latin typeface="Calibri"/>
                <a:ea typeface="Calibri"/>
                <a:cs typeface="Calibri"/>
              </a:defRPr>
            </a:defPPr>
            <a:lvl1pPr>
              <a:defRPr sz="2550" b="1">
                <a:solidFill>
                  <a:srgbClr val="006D77"/>
                </a:solidFill>
                <a:latin typeface="Calibri"/>
                <a:ea typeface="Calibri"/>
                <a:cs typeface="Calibri"/>
              </a:defRPr>
            </a:lvl1pPr>
            <a:lvl2pPr>
              <a:defRPr sz="2550" b="1">
                <a:solidFill>
                  <a:srgbClr val="006D77"/>
                </a:solidFill>
                <a:latin typeface="Calibri"/>
                <a:ea typeface="Calibri"/>
                <a:cs typeface="Calibri"/>
              </a:defRPr>
            </a:lvl2pPr>
            <a:lvl3pPr>
              <a:defRPr sz="2550" b="1">
                <a:solidFill>
                  <a:srgbClr val="006D77"/>
                </a:solidFill>
                <a:latin typeface="Calibri"/>
                <a:ea typeface="Calibri"/>
                <a:cs typeface="Calibri"/>
              </a:defRPr>
            </a:lvl3pPr>
            <a:lvl4pPr>
              <a:defRPr sz="2550" b="1">
                <a:solidFill>
                  <a:srgbClr val="006D77"/>
                </a:solidFill>
                <a:latin typeface="Calibri"/>
                <a:ea typeface="Calibri"/>
                <a:cs typeface="Calibri"/>
              </a:defRPr>
            </a:lvl4pPr>
            <a:lvl5pPr>
              <a:defRPr sz="2550" b="1">
                <a:solidFill>
                  <a:srgbClr val="006D77"/>
                </a:solidFill>
                <a:latin typeface="Calibri"/>
                <a:ea typeface="Calibri"/>
                <a:cs typeface="Calibri"/>
              </a:defRPr>
            </a:lvl5pPr>
            <a:lvl6pPr>
              <a:defRPr sz="2550" b="1">
                <a:solidFill>
                  <a:srgbClr val="006D77"/>
                </a:solidFill>
                <a:latin typeface="Calibri"/>
                <a:ea typeface="Calibri"/>
                <a:cs typeface="Calibri"/>
              </a:defRPr>
            </a:lvl6pPr>
            <a:lvl7pPr>
              <a:defRPr sz="2550" b="1">
                <a:solidFill>
                  <a:srgbClr val="006D77"/>
                </a:solidFill>
                <a:latin typeface="Calibri"/>
                <a:ea typeface="Calibri"/>
                <a:cs typeface="Calibri"/>
              </a:defRPr>
            </a:lvl7pPr>
            <a:lvl8pPr>
              <a:defRPr sz="2550" b="1">
                <a:solidFill>
                  <a:srgbClr val="006D77"/>
                </a:solidFill>
                <a:latin typeface="Calibri"/>
                <a:ea typeface="Calibri"/>
                <a:cs typeface="Calibri"/>
              </a:defRPr>
            </a:lvl8pPr>
            <a:lvl9pPr>
              <a:defRPr sz="2550" b="1">
                <a:solidFill>
                  <a:srgbClr val="006D77"/>
                </a:solidFill>
                <a:latin typeface="Calibri"/>
                <a:ea typeface="Calibri"/>
                <a:cs typeface="Calibri"/>
              </a:defRPr>
            </a:lvl9pPr>
          </a:lstStyle>
          <a:p>
            <a:pPr>
              <a:defRPr sz="2550" b="1">
                <a:solidFill>
                  <a:srgbClr val="006D77"/>
                </a:solidFill>
                <a:latin typeface="Calibri"/>
                <a:ea typeface="Calibri"/>
                <a:cs typeface="Calibri"/>
              </a:defRPr>
            </a:pPr>
            <a:r>
              <a:rPr sz="1913" b="1">
                <a:solidFill>
                  <a:srgbClr val="006D77"/>
                </a:solidFill>
                <a:latin typeface="Calibri"/>
                <a:ea typeface="Calibri"/>
                <a:cs typeface="Calibri"/>
              </a:rPr>
              <a:t>r⊥</a:t>
            </a:r>
          </a:p>
        </p:txBody>
      </p:sp>
      <p:sp>
        <p:nvSpPr>
          <p:cNvPr id="15" name="Rectangle 14">
            <a:extLst>
              <a:ext uri="{FF2B5EF4-FFF2-40B4-BE49-F238E27FC236}">
                <a16:creationId xmlns:a16="http://schemas.microsoft.com/office/drawing/2014/main" id="{06D47587-0456-99EC-ACC4-9C838116BEC2}"/>
              </a:ext>
            </a:extLst>
          </p:cNvPr>
          <p:cNvSpPr>
            <a:spLocks noGrp="1"/>
          </p:cNvSpPr>
          <p:nvPr/>
        </p:nvSpPr>
        <p:spPr>
          <a:xfrm>
            <a:off x="5857875" y="1785939"/>
            <a:ext cx="2857500" cy="500063"/>
          </a:xfrm>
          <a:prstGeom prst="rect">
            <a:avLst/>
          </a:prstGeom>
          <a:noFill/>
          <a:ln w="0">
            <a:noFill/>
          </a:ln>
        </p:spPr>
        <p:txBody>
          <a:bodyPr lIns="0" tIns="0" rIns="0" bIns="0" anchor="t"/>
          <a:lstStyle>
            <a:defPPr>
              <a:defRPr sz="2850" b="1">
                <a:solidFill>
                  <a:srgbClr val="B57C50"/>
                </a:solidFill>
                <a:latin typeface="Calibri"/>
                <a:ea typeface="Calibri"/>
                <a:cs typeface="Calibri"/>
              </a:defRPr>
            </a:defPPr>
            <a:lvl1pPr>
              <a:defRPr sz="2850" b="1">
                <a:solidFill>
                  <a:srgbClr val="B57C50"/>
                </a:solidFill>
                <a:latin typeface="Calibri"/>
                <a:ea typeface="Calibri"/>
                <a:cs typeface="Calibri"/>
              </a:defRPr>
            </a:lvl1pPr>
            <a:lvl2pPr>
              <a:defRPr sz="2850" b="1">
                <a:solidFill>
                  <a:srgbClr val="B57C50"/>
                </a:solidFill>
                <a:latin typeface="Calibri"/>
                <a:ea typeface="Calibri"/>
                <a:cs typeface="Calibri"/>
              </a:defRPr>
            </a:lvl2pPr>
            <a:lvl3pPr>
              <a:defRPr sz="2850" b="1">
                <a:solidFill>
                  <a:srgbClr val="B57C50"/>
                </a:solidFill>
                <a:latin typeface="Calibri"/>
                <a:ea typeface="Calibri"/>
                <a:cs typeface="Calibri"/>
              </a:defRPr>
            </a:lvl3pPr>
            <a:lvl4pPr>
              <a:defRPr sz="2850" b="1">
                <a:solidFill>
                  <a:srgbClr val="B57C50"/>
                </a:solidFill>
                <a:latin typeface="Calibri"/>
                <a:ea typeface="Calibri"/>
                <a:cs typeface="Calibri"/>
              </a:defRPr>
            </a:lvl4pPr>
            <a:lvl5pPr>
              <a:defRPr sz="2850" b="1">
                <a:solidFill>
                  <a:srgbClr val="B57C50"/>
                </a:solidFill>
                <a:latin typeface="Calibri"/>
                <a:ea typeface="Calibri"/>
                <a:cs typeface="Calibri"/>
              </a:defRPr>
            </a:lvl5pPr>
            <a:lvl6pPr>
              <a:defRPr sz="2850" b="1">
                <a:solidFill>
                  <a:srgbClr val="B57C50"/>
                </a:solidFill>
                <a:latin typeface="Calibri"/>
                <a:ea typeface="Calibri"/>
                <a:cs typeface="Calibri"/>
              </a:defRPr>
            </a:lvl6pPr>
            <a:lvl7pPr>
              <a:defRPr sz="2850" b="1">
                <a:solidFill>
                  <a:srgbClr val="B57C50"/>
                </a:solidFill>
                <a:latin typeface="Calibri"/>
                <a:ea typeface="Calibri"/>
                <a:cs typeface="Calibri"/>
              </a:defRPr>
            </a:lvl7pPr>
            <a:lvl8pPr>
              <a:defRPr sz="2850" b="1">
                <a:solidFill>
                  <a:srgbClr val="B57C50"/>
                </a:solidFill>
                <a:latin typeface="Calibri"/>
                <a:ea typeface="Calibri"/>
                <a:cs typeface="Calibri"/>
              </a:defRPr>
            </a:lvl8pPr>
            <a:lvl9pPr>
              <a:defRPr sz="2850" b="1">
                <a:solidFill>
                  <a:srgbClr val="B57C50"/>
                </a:solidFill>
                <a:latin typeface="Calibri"/>
                <a:ea typeface="Calibri"/>
                <a:cs typeface="Calibri"/>
              </a:defRPr>
            </a:lvl9pPr>
          </a:lstStyle>
          <a:p>
            <a:pPr>
              <a:defRPr sz="2850" b="1">
                <a:solidFill>
                  <a:srgbClr val="B57C50"/>
                </a:solidFill>
                <a:latin typeface="Calibri"/>
                <a:ea typeface="Calibri"/>
                <a:cs typeface="Calibri"/>
              </a:defRPr>
            </a:pPr>
            <a:r>
              <a:rPr sz="2138" b="1">
                <a:solidFill>
                  <a:srgbClr val="B57C50"/>
                </a:solidFill>
                <a:latin typeface="Calibri"/>
                <a:ea typeface="Calibri"/>
                <a:cs typeface="Calibri"/>
              </a:rPr>
              <a:t>τz = (r × F) · ẑ</a:t>
            </a:r>
          </a:p>
        </p:txBody>
      </p:sp>
      <p:sp>
        <p:nvSpPr>
          <p:cNvPr id="16" name="Rectangle 15">
            <a:extLst>
              <a:ext uri="{FF2B5EF4-FFF2-40B4-BE49-F238E27FC236}">
                <a16:creationId xmlns:a16="http://schemas.microsoft.com/office/drawing/2014/main" id="{F304D917-5054-C45F-E195-0AD1AF14C18C}"/>
              </a:ext>
            </a:extLst>
          </p:cNvPr>
          <p:cNvSpPr>
            <a:spLocks noGrp="1"/>
          </p:cNvSpPr>
          <p:nvPr/>
        </p:nvSpPr>
        <p:spPr>
          <a:xfrm>
            <a:off x="5857875" y="2500314"/>
            <a:ext cx="2857500" cy="500063"/>
          </a:xfrm>
          <a:prstGeom prst="rect">
            <a:avLst/>
          </a:prstGeom>
          <a:noFill/>
          <a:ln w="0">
            <a:noFill/>
          </a:ln>
        </p:spPr>
        <p:txBody>
          <a:bodyPr lIns="0" tIns="0" rIns="0" bIns="0" anchor="t"/>
          <a:lstStyle>
            <a:defPPr>
              <a:defRPr sz="2850" b="1">
                <a:solidFill>
                  <a:srgbClr val="006D77"/>
                </a:solidFill>
                <a:latin typeface="Calibri"/>
                <a:ea typeface="Calibri"/>
                <a:cs typeface="Calibri"/>
              </a:defRPr>
            </a:defPPr>
            <a:lvl1pPr>
              <a:defRPr sz="2850" b="1">
                <a:solidFill>
                  <a:srgbClr val="006D77"/>
                </a:solidFill>
                <a:latin typeface="Calibri"/>
                <a:ea typeface="Calibri"/>
                <a:cs typeface="Calibri"/>
              </a:defRPr>
            </a:lvl1pPr>
            <a:lvl2pPr>
              <a:defRPr sz="2850" b="1">
                <a:solidFill>
                  <a:srgbClr val="006D77"/>
                </a:solidFill>
                <a:latin typeface="Calibri"/>
                <a:ea typeface="Calibri"/>
                <a:cs typeface="Calibri"/>
              </a:defRPr>
            </a:lvl2pPr>
            <a:lvl3pPr>
              <a:defRPr sz="2850" b="1">
                <a:solidFill>
                  <a:srgbClr val="006D77"/>
                </a:solidFill>
                <a:latin typeface="Calibri"/>
                <a:ea typeface="Calibri"/>
                <a:cs typeface="Calibri"/>
              </a:defRPr>
            </a:lvl3pPr>
            <a:lvl4pPr>
              <a:defRPr sz="2850" b="1">
                <a:solidFill>
                  <a:srgbClr val="006D77"/>
                </a:solidFill>
                <a:latin typeface="Calibri"/>
                <a:ea typeface="Calibri"/>
                <a:cs typeface="Calibri"/>
              </a:defRPr>
            </a:lvl4pPr>
            <a:lvl5pPr>
              <a:defRPr sz="2850" b="1">
                <a:solidFill>
                  <a:srgbClr val="006D77"/>
                </a:solidFill>
                <a:latin typeface="Calibri"/>
                <a:ea typeface="Calibri"/>
                <a:cs typeface="Calibri"/>
              </a:defRPr>
            </a:lvl5pPr>
            <a:lvl6pPr>
              <a:defRPr sz="2850" b="1">
                <a:solidFill>
                  <a:srgbClr val="006D77"/>
                </a:solidFill>
                <a:latin typeface="Calibri"/>
                <a:ea typeface="Calibri"/>
                <a:cs typeface="Calibri"/>
              </a:defRPr>
            </a:lvl6pPr>
            <a:lvl7pPr>
              <a:defRPr sz="2850" b="1">
                <a:solidFill>
                  <a:srgbClr val="006D77"/>
                </a:solidFill>
                <a:latin typeface="Calibri"/>
                <a:ea typeface="Calibri"/>
                <a:cs typeface="Calibri"/>
              </a:defRPr>
            </a:lvl7pPr>
            <a:lvl8pPr>
              <a:defRPr sz="2850" b="1">
                <a:solidFill>
                  <a:srgbClr val="006D77"/>
                </a:solidFill>
                <a:latin typeface="Calibri"/>
                <a:ea typeface="Calibri"/>
                <a:cs typeface="Calibri"/>
              </a:defRPr>
            </a:lvl8pPr>
            <a:lvl9pPr>
              <a:defRPr sz="2850" b="1">
                <a:solidFill>
                  <a:srgbClr val="006D77"/>
                </a:solidFill>
                <a:latin typeface="Calibri"/>
                <a:ea typeface="Calibri"/>
                <a:cs typeface="Calibri"/>
              </a:defRPr>
            </a:lvl9pPr>
          </a:lstStyle>
          <a:p>
            <a:pPr>
              <a:defRPr sz="2850" b="1">
                <a:solidFill>
                  <a:srgbClr val="006D77"/>
                </a:solidFill>
                <a:latin typeface="Calibri"/>
                <a:ea typeface="Calibri"/>
                <a:cs typeface="Calibri"/>
              </a:defRPr>
            </a:pPr>
            <a:r>
              <a:rPr sz="2138" b="1">
                <a:solidFill>
                  <a:srgbClr val="006D77"/>
                </a:solidFill>
                <a:latin typeface="Calibri"/>
                <a:ea typeface="Calibri"/>
                <a:cs typeface="Calibri"/>
              </a:rPr>
              <a:t>|τz| = F r⊥</a:t>
            </a:r>
          </a:p>
        </p:txBody>
      </p:sp>
      <p:sp>
        <p:nvSpPr>
          <p:cNvPr id="17" name="Rectangle 16">
            <a:extLst>
              <a:ext uri="{FF2B5EF4-FFF2-40B4-BE49-F238E27FC236}">
                <a16:creationId xmlns:a16="http://schemas.microsoft.com/office/drawing/2014/main" id="{20AAC654-5EA1-ED5A-4764-E514E348D296}"/>
              </a:ext>
            </a:extLst>
          </p:cNvPr>
          <p:cNvSpPr>
            <a:spLocks noGrp="1"/>
          </p:cNvSpPr>
          <p:nvPr/>
        </p:nvSpPr>
        <p:spPr>
          <a:xfrm>
            <a:off x="5822157" y="3321844"/>
            <a:ext cx="2786063" cy="678656"/>
          </a:xfrm>
          <a:prstGeom prst="rect">
            <a:avLst/>
          </a:prstGeom>
          <a:noFill/>
          <a:ln w="0">
            <a:noFill/>
          </a:ln>
        </p:spPr>
        <p:txBody>
          <a:bodyPr lIns="0" tIns="0" rIns="0" bIns="0" anchor="t"/>
          <a:lstStyle>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a:pPr>
              <a:defRPr sz="2250" b="0">
                <a:solidFill>
                  <a:srgbClr val="202C33"/>
                </a:solidFill>
                <a:latin typeface="Calibri"/>
                <a:ea typeface="Calibri"/>
                <a:cs typeface="Calibri"/>
              </a:defRPr>
            </a:pPr>
            <a:r>
              <a:rPr sz="1688" b="0">
                <a:solidFill>
                  <a:srgbClr val="202C33"/>
                </a:solidFill>
                <a:latin typeface="Calibri"/>
                <a:ea typeface="Calibri"/>
                <a:cs typeface="Calibri"/>
              </a:rPr>
              <a:t>Routing also changes</a:t>
            </a:r>
          </a:p>
          <a:p>
            <a:pPr>
              <a:defRPr sz="2250" b="0">
                <a:solidFill>
                  <a:srgbClr val="202C33"/>
                </a:solidFill>
                <a:latin typeface="Calibri"/>
                <a:ea typeface="Calibri"/>
                <a:cs typeface="Calibri"/>
              </a:defRPr>
            </a:pPr>
            <a:r>
              <a:rPr sz="1688" b="0">
                <a:solidFill>
                  <a:srgbClr val="202C33"/>
                </a:solidFill>
                <a:latin typeface="Calibri"/>
                <a:ea typeface="Calibri"/>
                <a:cs typeface="Calibri"/>
              </a:rPr>
              <a:t>actuator length</a:t>
            </a:r>
          </a:p>
        </p:txBody>
      </p:sp>
      <p:sp>
        <p:nvSpPr>
          <p:cNvPr id="18" name="Rectangle 17">
            <a:extLst>
              <a:ext uri="{FF2B5EF4-FFF2-40B4-BE49-F238E27FC236}">
                <a16:creationId xmlns:a16="http://schemas.microsoft.com/office/drawing/2014/main" id="{BB99560A-F41F-C567-11B3-76D670752682}"/>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A force model needs a transmission model to predict delivered torque</a:t>
            </a:r>
          </a:p>
        </p:txBody>
      </p:sp>
      <p:sp>
        <p:nvSpPr>
          <p:cNvPr id="19" name="TextBox 18">
            <a:extLst>
              <a:ext uri="{FF2B5EF4-FFF2-40B4-BE49-F238E27FC236}">
                <a16:creationId xmlns:a16="http://schemas.microsoft.com/office/drawing/2014/main" id="{FE02B914-61E9-8C10-0889-D8DB5B828522}"/>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28</a:t>
            </a:r>
          </a:p>
        </p:txBody>
      </p:sp>
    </p:spTree>
    <p:extLst>
      <p:ext uri="{BB962C8B-B14F-4D97-AF65-F5344CB8AC3E}">
        <p14:creationId xmlns:p14="http://schemas.microsoft.com/office/powerpoint/2010/main" val="182112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EC0F9EC5-C6B0-D721-B6E7-A5A3E4C2AEA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model workflow supports distinct mechanical implementations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49FB50E7-ABC4-4B3D-D799-4F01A24C68C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Model construction and neural-controller interfaces</a:t>
            </a:r>
          </a:p>
        </p:txBody>
      </p:sp>
      <p:pic>
        <p:nvPicPr>
          <p:cNvPr id="4" name="Picture 3">
            <a:extLst>
              <a:ext uri="{FF2B5EF4-FFF2-40B4-BE49-F238E27FC236}">
                <a16:creationId xmlns:a16="http://schemas.microsoft.com/office/drawing/2014/main" id="{F9FF9A28-C85C-E9BC-0C55-0055E4A0DB4D}"/>
              </a:ext>
            </a:extLst>
          </p:cNvPr>
          <p:cNvPicPr>
            <a:picLocks/>
          </p:cNvPicPr>
          <p:nvPr/>
        </p:nvPicPr>
        <p:blipFill>
          <a:blip r:embed="rId3"/>
          <a:stretch/>
        </p:blipFill>
        <p:spPr>
          <a:xfrm>
            <a:off x="3024750" y="1143001"/>
            <a:ext cx="3094499" cy="3000375"/>
          </a:xfrm>
          <a:prstGeom prst="rect">
            <a:avLst/>
          </a:prstGeom>
        </p:spPr>
      </p:pic>
      <p:sp>
        <p:nvSpPr>
          <p:cNvPr id="5" name="Rectangle 4">
            <a:extLst>
              <a:ext uri="{FF2B5EF4-FFF2-40B4-BE49-F238E27FC236}">
                <a16:creationId xmlns:a16="http://schemas.microsoft.com/office/drawing/2014/main" id="{D83F4AE5-221F-C89C-58F1-2C6930CED002}"/>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Command exchange, circuit agreement, and motion each require their own check</a:t>
            </a:r>
          </a:p>
        </p:txBody>
      </p:sp>
      <p:sp>
        <p:nvSpPr>
          <p:cNvPr id="6" name="TextBox 5">
            <a:extLst>
              <a:ext uri="{FF2B5EF4-FFF2-40B4-BE49-F238E27FC236}">
                <a16:creationId xmlns:a16="http://schemas.microsoft.com/office/drawing/2014/main" id="{5D768DB4-AD62-4A9A-97EE-AA3A24619AD0}"/>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29</a:t>
            </a:r>
          </a:p>
        </p:txBody>
      </p:sp>
    </p:spTree>
    <p:extLst>
      <p:ext uri="{BB962C8B-B14F-4D97-AF65-F5344CB8AC3E}">
        <p14:creationId xmlns:p14="http://schemas.microsoft.com/office/powerpoint/2010/main" val="2270072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4958018-5342-D37D-70D0-724D12F1D25B}"/>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Staged tests separate rhythm, feedback, and mechanical support</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ADEB28D9-F2E3-D8C5-C5AD-E4992446CB23}"/>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curriculum Table 6.2</a:t>
            </a:r>
          </a:p>
        </p:txBody>
      </p:sp>
      <p:graphicFrame>
        <p:nvGraphicFramePr>
          <p:cNvPr id="4" name="Table 3">
            <a:extLst>
              <a:ext uri="{FF2B5EF4-FFF2-40B4-BE49-F238E27FC236}">
                <a16:creationId xmlns:a16="http://schemas.microsoft.com/office/drawing/2014/main" id="{C0C09BFF-950D-B657-63AB-3F95C9AE9818}"/>
              </a:ext>
            </a:extLst>
          </p:cNvPr>
          <p:cNvGraphicFramePr>
            <a:graphicFrameLocks/>
          </p:cNvGraphicFramePr>
          <p:nvPr>
            <p:extLst>
              <p:ext uri="{D42A27DB-BD31-4B8C-83A1-F6EECF244321}">
                <p14:modId xmlns:p14="http://schemas.microsoft.com/office/powerpoint/2010/main" val="3571063070"/>
              </p:ext>
            </p:extLst>
          </p:nvPr>
        </p:nvGraphicFramePr>
        <p:xfrm>
          <a:off x="428625" y="1250156"/>
          <a:ext cx="8286750" cy="3078480"/>
        </p:xfrm>
        <a:graphic>
          <a:graphicData uri="http://schemas.openxmlformats.org/drawingml/2006/table">
            <a:tbl>
              <a:tblPr/>
              <a:tblGrid>
                <a:gridCol w="4143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476250">
                <a:tc>
                  <a:txBody>
                    <a:bodyPr/>
                    <a:lstStyle/>
                    <a:p>
                      <a:r>
                        <a:rPr sz="1519" b="1">
                          <a:solidFill>
                            <a:srgbClr val="006D77"/>
                          </a:solidFill>
                          <a:latin typeface="Calibri"/>
                          <a:ea typeface="Calibri"/>
                          <a:cs typeface="Calibri"/>
                        </a:rPr>
                        <a:t>Condition introduced</a:t>
                      </a:r>
                    </a:p>
                  </a:txBody>
                  <a:tcPr>
                    <a:solidFill>
                      <a:srgbClr val="FFFFFF"/>
                    </a:solidFill>
                  </a:tcPr>
                </a:tc>
                <a:tc>
                  <a:txBody>
                    <a:bodyPr/>
                    <a:lstStyle/>
                    <a:p>
                      <a:r>
                        <a:rPr sz="1519" b="1">
                          <a:solidFill>
                            <a:srgbClr val="006D77"/>
                          </a:solidFill>
                          <a:latin typeface="Calibri"/>
                          <a:ea typeface="Calibri"/>
                          <a:cs typeface="Calibri"/>
                        </a:rPr>
                        <a:t>Question tested</a:t>
                      </a:r>
                    </a:p>
                  </a:txBody>
                  <a:tcPr>
                    <a:solidFill>
                      <a:srgbClr val="FFFFFF"/>
                    </a:solidFill>
                  </a:tcPr>
                </a:tc>
                <a:extLst>
                  <a:ext uri="{0D108BD9-81ED-4DB2-BD59-A6C34878D82A}">
                    <a16:rowId xmlns:a16="http://schemas.microsoft.com/office/drawing/2014/main" val="10000"/>
                  </a:ext>
                </a:extLst>
              </a:tr>
              <a:tr h="531495">
                <a:tc>
                  <a:txBody>
                    <a:bodyPr/>
                    <a:lstStyle/>
                    <a:p>
                      <a:r>
                        <a:rPr sz="1519" b="0">
                          <a:solidFill>
                            <a:srgbClr val="202C33"/>
                          </a:solidFill>
                          <a:latin typeface="Calibri"/>
                          <a:ea typeface="Calibri"/>
                          <a:cs typeface="Calibri"/>
                        </a:rPr>
                        <a:t>Suspended, without sensory feedback</a:t>
                      </a:r>
                    </a:p>
                  </a:txBody>
                  <a:tcPr>
                    <a:solidFill>
                      <a:srgbClr val="FFFFFF"/>
                    </a:solidFill>
                  </a:tcPr>
                </a:tc>
                <a:tc>
                  <a:txBody>
                    <a:bodyPr/>
                    <a:lstStyle/>
                    <a:p>
                      <a:r>
                        <a:rPr sz="1519" b="0">
                          <a:solidFill>
                            <a:srgbClr val="202C33"/>
                          </a:solidFill>
                          <a:latin typeface="Calibri"/>
                          <a:ea typeface="Calibri"/>
                          <a:cs typeface="Calibri"/>
                        </a:rPr>
                        <a:t>Can the circuit generate activity?</a:t>
                      </a:r>
                    </a:p>
                  </a:txBody>
                  <a:tcPr>
                    <a:solidFill>
                      <a:srgbClr val="FFFFFF"/>
                    </a:solidFill>
                  </a:tcPr>
                </a:tc>
                <a:extLst>
                  <a:ext uri="{0D108BD9-81ED-4DB2-BD59-A6C34878D82A}">
                    <a16:rowId xmlns:a16="http://schemas.microsoft.com/office/drawing/2014/main" val="10001"/>
                  </a:ext>
                </a:extLst>
              </a:tr>
              <a:tr h="531495">
                <a:tc>
                  <a:txBody>
                    <a:bodyPr/>
                    <a:lstStyle/>
                    <a:p>
                      <a:r>
                        <a:rPr sz="1519" b="0">
                          <a:solidFill>
                            <a:srgbClr val="202C33"/>
                          </a:solidFill>
                          <a:latin typeface="Calibri"/>
                          <a:ea typeface="Calibri"/>
                          <a:cs typeface="Calibri"/>
                        </a:rPr>
                        <a:t>Sensory feedback</a:t>
                      </a:r>
                    </a:p>
                  </a:txBody>
                  <a:tcPr>
                    <a:solidFill>
                      <a:srgbClr val="FFFFFF"/>
                    </a:solidFill>
                  </a:tcPr>
                </a:tc>
                <a:tc>
                  <a:txBody>
                    <a:bodyPr/>
                    <a:lstStyle/>
                    <a:p>
                      <a:r>
                        <a:rPr sz="1519" b="0">
                          <a:solidFill>
                            <a:srgbClr val="202C33"/>
                          </a:solidFill>
                          <a:latin typeface="Calibri"/>
                          <a:ea typeface="Calibri"/>
                          <a:cs typeface="Calibri"/>
                        </a:rPr>
                        <a:t>How does feedback reshape the output?</a:t>
                      </a:r>
                    </a:p>
                  </a:txBody>
                  <a:tcPr>
                    <a:solidFill>
                      <a:srgbClr val="FFFFFF"/>
                    </a:solidFill>
                  </a:tcPr>
                </a:tc>
                <a:extLst>
                  <a:ext uri="{0D108BD9-81ED-4DB2-BD59-A6C34878D82A}">
                    <a16:rowId xmlns:a16="http://schemas.microsoft.com/office/drawing/2014/main" val="10002"/>
                  </a:ext>
                </a:extLst>
              </a:tr>
              <a:tr h="476250">
                <a:tc>
                  <a:txBody>
                    <a:bodyPr/>
                    <a:lstStyle/>
                    <a:p>
                      <a:r>
                        <a:rPr sz="1519" b="0">
                          <a:solidFill>
                            <a:srgbClr val="202C33"/>
                          </a:solidFill>
                          <a:latin typeface="Calibri"/>
                          <a:ea typeface="Calibri"/>
                          <a:cs typeface="Calibri"/>
                        </a:rPr>
                        <a:t>Standing and perturbations</a:t>
                      </a:r>
                    </a:p>
                  </a:txBody>
                  <a:tcPr>
                    <a:solidFill>
                      <a:srgbClr val="FFFFFF"/>
                    </a:solidFill>
                  </a:tcPr>
                </a:tc>
                <a:tc>
                  <a:txBody>
                    <a:bodyPr/>
                    <a:lstStyle/>
                    <a:p>
                      <a:r>
                        <a:rPr sz="1519" b="0">
                          <a:solidFill>
                            <a:srgbClr val="202C33"/>
                          </a:solidFill>
                          <a:latin typeface="Calibri"/>
                          <a:ea typeface="Calibri"/>
                          <a:cs typeface="Calibri"/>
                        </a:rPr>
                        <a:t>Can the model maintain posture?</a:t>
                      </a:r>
                    </a:p>
                  </a:txBody>
                  <a:tcPr>
                    <a:solidFill>
                      <a:srgbClr val="FFFFFF"/>
                    </a:solidFill>
                  </a:tcPr>
                </a:tc>
                <a:extLst>
                  <a:ext uri="{0D108BD9-81ED-4DB2-BD59-A6C34878D82A}">
                    <a16:rowId xmlns:a16="http://schemas.microsoft.com/office/drawing/2014/main" val="10003"/>
                  </a:ext>
                </a:extLst>
              </a:tr>
              <a:tr h="531495">
                <a:tc>
                  <a:txBody>
                    <a:bodyPr/>
                    <a:lstStyle/>
                    <a:p>
                      <a:r>
                        <a:rPr sz="1519" b="0">
                          <a:solidFill>
                            <a:srgbClr val="202C33"/>
                          </a:solidFill>
                          <a:latin typeface="Calibri"/>
                          <a:ea typeface="Calibri"/>
                          <a:cs typeface="Calibri"/>
                        </a:rPr>
                        <a:t>Supported ground contact</a:t>
                      </a:r>
                    </a:p>
                  </a:txBody>
                  <a:tcPr>
                    <a:solidFill>
                      <a:srgbClr val="FFFFFF"/>
                    </a:solidFill>
                  </a:tcPr>
                </a:tc>
                <a:tc>
                  <a:txBody>
                    <a:bodyPr/>
                    <a:lstStyle/>
                    <a:p>
                      <a:r>
                        <a:rPr sz="1519" b="0">
                          <a:solidFill>
                            <a:srgbClr val="202C33"/>
                          </a:solidFill>
                          <a:latin typeface="Calibri"/>
                          <a:ea typeface="Calibri"/>
                          <a:cs typeface="Calibri"/>
                        </a:rPr>
                        <a:t>Does physical coordination meet the criterion?</a:t>
                      </a:r>
                    </a:p>
                  </a:txBody>
                  <a:tcPr>
                    <a:solidFill>
                      <a:srgbClr val="FFFFFF"/>
                    </a:solidFill>
                  </a:tcPr>
                </a:tc>
                <a:extLst>
                  <a:ext uri="{0D108BD9-81ED-4DB2-BD59-A6C34878D82A}">
                    <a16:rowId xmlns:a16="http://schemas.microsoft.com/office/drawing/2014/main" val="10004"/>
                  </a:ext>
                </a:extLst>
              </a:tr>
              <a:tr h="531495">
                <a:tc>
                  <a:txBody>
                    <a:bodyPr/>
                    <a:lstStyle/>
                    <a:p>
                      <a:r>
                        <a:rPr sz="1519" b="0">
                          <a:solidFill>
                            <a:srgbClr val="202C33"/>
                          </a:solidFill>
                          <a:latin typeface="Calibri"/>
                          <a:ea typeface="Calibri"/>
                          <a:cs typeface="Calibri"/>
                        </a:rPr>
                        <a:t>Reference and intervention comparisons</a:t>
                      </a:r>
                    </a:p>
                  </a:txBody>
                  <a:tcPr>
                    <a:solidFill>
                      <a:srgbClr val="FFFFFF"/>
                    </a:solidFill>
                  </a:tcPr>
                </a:tc>
                <a:tc>
                  <a:txBody>
                    <a:bodyPr/>
                    <a:lstStyle/>
                    <a:p>
                      <a:r>
                        <a:rPr sz="1519" b="0">
                          <a:solidFill>
                            <a:srgbClr val="202C33"/>
                          </a:solidFill>
                          <a:latin typeface="Calibri"/>
                          <a:ea typeface="Calibri"/>
                          <a:cs typeface="Calibri"/>
                        </a:rPr>
                        <a:t>Which mechanism or mismatch explains the result?</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8CCE2981-B57A-E013-0A44-BAAA290C009D}"/>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30</a:t>
            </a:r>
          </a:p>
        </p:txBody>
      </p:sp>
    </p:spTree>
    <p:extLst>
      <p:ext uri="{BB962C8B-B14F-4D97-AF65-F5344CB8AC3E}">
        <p14:creationId xmlns:p14="http://schemas.microsoft.com/office/powerpoint/2010/main" val="2251952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A291358F-338A-4C59-7346-8177B99FB877}"/>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Matched rhythm cores reproduce the same driven bursts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399D7D6A-B756-30FE-4A29-67BAB86ECF2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6DFE0527-1A33-E3F6-B63B-32DA8EAA6DD9}"/>
              </a:ext>
            </a:extLst>
          </p:cNvPr>
          <p:cNvPicPr>
            <a:picLocks/>
          </p:cNvPicPr>
          <p:nvPr/>
        </p:nvPicPr>
        <p:blipFill>
          <a:blip r:embed="rId3"/>
          <a:stretch/>
        </p:blipFill>
        <p:spPr>
          <a:xfrm>
            <a:off x="2643189" y="1143001"/>
            <a:ext cx="3857625" cy="3000375"/>
          </a:xfrm>
          <a:prstGeom prst="rect">
            <a:avLst/>
          </a:prstGeom>
        </p:spPr>
      </p:pic>
      <p:sp>
        <p:nvSpPr>
          <p:cNvPr id="5" name="Rectangle 4">
            <a:extLst>
              <a:ext uri="{FF2B5EF4-FFF2-40B4-BE49-F238E27FC236}">
                <a16:creationId xmlns:a16="http://schemas.microsoft.com/office/drawing/2014/main" id="{C10C3C0D-603A-FD04-F7E9-D155D4C7D104}"/>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1.000 s period · 10 expected bursts · correlation ≥ 0.99996</a:t>
            </a:r>
          </a:p>
        </p:txBody>
      </p:sp>
      <p:sp>
        <p:nvSpPr>
          <p:cNvPr id="6" name="TextBox 5">
            <a:extLst>
              <a:ext uri="{FF2B5EF4-FFF2-40B4-BE49-F238E27FC236}">
                <a16:creationId xmlns:a16="http://schemas.microsoft.com/office/drawing/2014/main" id="{C713C925-C671-0738-4988-B55B23F826A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31</a:t>
            </a:r>
          </a:p>
        </p:txBody>
      </p:sp>
    </p:spTree>
    <p:extLst>
      <p:ext uri="{BB962C8B-B14F-4D97-AF65-F5344CB8AC3E}">
        <p14:creationId xmlns:p14="http://schemas.microsoft.com/office/powerpoint/2010/main" val="962565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8BAFFD7-C8EE-F248-2ACB-8DBDDEAD684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knee model produces a transient sensory response</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CA30FBF4-3553-F8D8-5FCB-2638E5162367}"/>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7624FC55-0FF4-7A11-ED04-77DD86953919}"/>
              </a:ext>
            </a:extLst>
          </p:cNvPr>
          <p:cNvPicPr>
            <a:picLocks/>
          </p:cNvPicPr>
          <p:nvPr/>
        </p:nvPicPr>
        <p:blipFill>
          <a:blip r:embed="rId3"/>
          <a:stretch/>
        </p:blipFill>
        <p:spPr>
          <a:xfrm>
            <a:off x="405992" y="1262344"/>
            <a:ext cx="5224483" cy="2954056"/>
          </a:xfrm>
          <a:prstGeom prst="rect">
            <a:avLst/>
          </a:prstGeom>
        </p:spPr>
      </p:pic>
      <p:pic>
        <p:nvPicPr>
          <p:cNvPr id="5" name="Picture 4">
            <a:extLst>
              <a:ext uri="{FF2B5EF4-FFF2-40B4-BE49-F238E27FC236}">
                <a16:creationId xmlns:a16="http://schemas.microsoft.com/office/drawing/2014/main" id="{3F84E85E-8FA6-338D-37B7-34A03D596A76}"/>
              </a:ext>
            </a:extLst>
          </p:cNvPr>
          <p:cNvPicPr>
            <a:picLocks/>
          </p:cNvPicPr>
          <p:nvPr/>
        </p:nvPicPr>
        <p:blipFill>
          <a:blip r:embed="rId4"/>
          <a:stretch/>
        </p:blipFill>
        <p:spPr>
          <a:xfrm>
            <a:off x="5893594" y="1727648"/>
            <a:ext cx="2821781" cy="1116705"/>
          </a:xfrm>
          <a:prstGeom prst="rect">
            <a:avLst/>
          </a:prstGeom>
        </p:spPr>
      </p:pic>
      <p:sp>
        <p:nvSpPr>
          <p:cNvPr id="6" name="Rectangle 5">
            <a:extLst>
              <a:ext uri="{FF2B5EF4-FFF2-40B4-BE49-F238E27FC236}">
                <a16:creationId xmlns:a16="http://schemas.microsoft.com/office/drawing/2014/main" id="{C511674E-0E14-88BF-55AD-212760F26D5F}"/>
              </a:ext>
            </a:extLst>
          </p:cNvPr>
          <p:cNvSpPr>
            <a:spLocks noGrp="1"/>
          </p:cNvSpPr>
          <p:nvPr/>
        </p:nvSpPr>
        <p:spPr>
          <a:xfrm>
            <a:off x="5965031" y="3214688"/>
            <a:ext cx="2750344" cy="114300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2 nA for 30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1.09° at 111 ms</a:t>
            </a:r>
          </a:p>
          <a:p>
            <a:endParaRPr sz="1519" b="1">
              <a:solidFill>
                <a:srgbClr val="006D77"/>
              </a:solidFill>
              <a:latin typeface="Calibri"/>
              <a:ea typeface="Calibri"/>
              <a:cs typeface="Calibri"/>
            </a:endParaRPr>
          </a:p>
          <a:p>
            <a:pPr>
              <a:defRPr sz="2025" b="1">
                <a:solidFill>
                  <a:srgbClr val="006D77"/>
                </a:solidFill>
                <a:latin typeface="Calibri"/>
                <a:ea typeface="Calibri"/>
                <a:cs typeface="Calibri"/>
              </a:defRPr>
            </a:pPr>
            <a:r>
              <a:rPr sz="1519" b="1">
                <a:solidFill>
                  <a:srgbClr val="006D77"/>
                </a:solidFill>
                <a:latin typeface="Calibri"/>
                <a:ea typeface="Calibri"/>
                <a:cs typeface="Calibri"/>
              </a:rPr>
              <a:t>Recovery at 6.355 s</a:t>
            </a:r>
          </a:p>
        </p:txBody>
      </p:sp>
      <p:sp>
        <p:nvSpPr>
          <p:cNvPr id="7" name="Rectangle 6">
            <a:extLst>
              <a:ext uri="{FF2B5EF4-FFF2-40B4-BE49-F238E27FC236}">
                <a16:creationId xmlns:a16="http://schemas.microsoft.com/office/drawing/2014/main" id="{D28F184C-57C6-6F35-6BA0-EA223F231213}"/>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Six neural saturation widths changed in this configuration</a:t>
            </a:r>
          </a:p>
        </p:txBody>
      </p:sp>
      <p:sp>
        <p:nvSpPr>
          <p:cNvPr id="8" name="TextBox 7">
            <a:extLst>
              <a:ext uri="{FF2B5EF4-FFF2-40B4-BE49-F238E27FC236}">
                <a16:creationId xmlns:a16="http://schemas.microsoft.com/office/drawing/2014/main" id="{254DF148-D38C-3C68-B177-FDC1AD01046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32</a:t>
            </a:r>
          </a:p>
        </p:txBody>
      </p:sp>
    </p:spTree>
    <p:extLst>
      <p:ext uri="{BB962C8B-B14F-4D97-AF65-F5344CB8AC3E}">
        <p14:creationId xmlns:p14="http://schemas.microsoft.com/office/powerpoint/2010/main" val="707500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9048B53C-4ED2-830A-68E5-60F61B3CDBE4}"/>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evidence establishes specific capabilities within clear limits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7B2D53E2-C37C-6BD2-413F-881224FCBAF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Current manuscript Ch. 6 / Appendix D · Session 1 AH001 records</a:t>
            </a:r>
          </a:p>
        </p:txBody>
      </p:sp>
      <p:graphicFrame>
        <p:nvGraphicFramePr>
          <p:cNvPr id="4" name="Table 3">
            <a:extLst>
              <a:ext uri="{FF2B5EF4-FFF2-40B4-BE49-F238E27FC236}">
                <a16:creationId xmlns:a16="http://schemas.microsoft.com/office/drawing/2014/main" id="{032F16C0-1E08-4280-1D5E-9B58DFDDEFFD}"/>
              </a:ext>
            </a:extLst>
          </p:cNvPr>
          <p:cNvGraphicFramePr>
            <a:graphicFrameLocks/>
          </p:cNvGraphicFramePr>
          <p:nvPr>
            <p:extLst>
              <p:ext uri="{D42A27DB-BD31-4B8C-83A1-F6EECF244321}">
                <p14:modId xmlns:p14="http://schemas.microsoft.com/office/powerpoint/2010/main" val="3719093431"/>
              </p:ext>
            </p:extLst>
          </p:nvPr>
        </p:nvGraphicFramePr>
        <p:xfrm>
          <a:off x="428625" y="1321595"/>
          <a:ext cx="8286750" cy="2428875"/>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85775">
                <a:tc>
                  <a:txBody>
                    <a:bodyPr/>
                    <a:lstStyle/>
                    <a:p>
                      <a:r>
                        <a:rPr sz="1350" b="1">
                          <a:solidFill>
                            <a:srgbClr val="006D77"/>
                          </a:solidFill>
                          <a:latin typeface="Calibri"/>
                          <a:ea typeface="Calibri"/>
                          <a:cs typeface="Calibri"/>
                        </a:rPr>
                        <a:t>Evidence level</a:t>
                      </a:r>
                    </a:p>
                  </a:txBody>
                  <a:tcPr>
                    <a:solidFill>
                      <a:srgbClr val="FFFFFF"/>
                    </a:solidFill>
                  </a:tcPr>
                </a:tc>
                <a:tc>
                  <a:txBody>
                    <a:bodyPr/>
                    <a:lstStyle/>
                    <a:p>
                      <a:r>
                        <a:rPr sz="1350" b="1">
                          <a:solidFill>
                            <a:srgbClr val="006D77"/>
                          </a:solidFill>
                          <a:latin typeface="Calibri"/>
                          <a:ea typeface="Calibri"/>
                          <a:cs typeface="Calibri"/>
                        </a:rPr>
                        <a:t>What the result establishes</a:t>
                      </a:r>
                    </a:p>
                  </a:txBody>
                  <a:tcPr>
                    <a:solidFill>
                      <a:srgbClr val="FFFFFF"/>
                    </a:solidFill>
                  </a:tcPr>
                </a:tc>
                <a:tc>
                  <a:txBody>
                    <a:bodyPr/>
                    <a:lstStyle/>
                    <a:p>
                      <a:r>
                        <a:rPr sz="1350" b="1">
                          <a:solidFill>
                            <a:srgbClr val="006D77"/>
                          </a:solidFill>
                          <a:latin typeface="Calibri"/>
                          <a:ea typeface="Calibri"/>
                          <a:cs typeface="Calibri"/>
                        </a:rPr>
                        <a:t>Remaining boundary</a:t>
                      </a:r>
                    </a:p>
                  </a:txBody>
                  <a:tcPr>
                    <a:solidFill>
                      <a:srgbClr val="FFFFFF"/>
                    </a:solidFill>
                  </a:tcPr>
                </a:tc>
                <a:extLst>
                  <a:ext uri="{0D108BD9-81ED-4DB2-BD59-A6C34878D82A}">
                    <a16:rowId xmlns:a16="http://schemas.microsoft.com/office/drawing/2014/main" val="10000"/>
                  </a:ext>
                </a:extLst>
              </a:tr>
              <a:tr h="485775">
                <a:tc>
                  <a:txBody>
                    <a:bodyPr/>
                    <a:lstStyle/>
                    <a:p>
                      <a:r>
                        <a:rPr sz="1350" b="0">
                          <a:solidFill>
                            <a:srgbClr val="202C33"/>
                          </a:solidFill>
                          <a:latin typeface="Calibri"/>
                          <a:ea typeface="Calibri"/>
                          <a:cs typeface="Calibri"/>
                        </a:rPr>
                        <a:t>Measured hardware</a:t>
                      </a:r>
                    </a:p>
                  </a:txBody>
                  <a:tcPr>
                    <a:solidFill>
                      <a:srgbClr val="FFFFFF"/>
                    </a:solidFill>
                  </a:tcPr>
                </a:tc>
                <a:tc>
                  <a:txBody>
                    <a:bodyPr/>
                    <a:lstStyle/>
                    <a:p>
                      <a:r>
                        <a:rPr sz="1350" b="0">
                          <a:solidFill>
                            <a:srgbClr val="202C33"/>
                          </a:solidFill>
                          <a:latin typeface="Calibri"/>
                          <a:ea typeface="Calibri"/>
                          <a:cs typeface="Calibri"/>
                        </a:rPr>
                        <a:t>Isometric torque capacity</a:t>
                      </a:r>
                    </a:p>
                  </a:txBody>
                  <a:tcPr>
                    <a:solidFill>
                      <a:srgbClr val="FFFFFF"/>
                    </a:solidFill>
                  </a:tcPr>
                </a:tc>
                <a:tc>
                  <a:txBody>
                    <a:bodyPr/>
                    <a:lstStyle/>
                    <a:p>
                      <a:r>
                        <a:rPr sz="1350" b="0">
                          <a:solidFill>
                            <a:srgbClr val="202C33"/>
                          </a:solidFill>
                          <a:latin typeface="Calibri"/>
                          <a:ea typeface="Calibri"/>
                          <a:cs typeface="Calibri"/>
                        </a:rPr>
                        <a:t>Dynamic response and transfer</a:t>
                      </a:r>
                    </a:p>
                  </a:txBody>
                  <a:tcPr>
                    <a:solidFill>
                      <a:srgbClr val="FFFFFF"/>
                    </a:solidFill>
                  </a:tcPr>
                </a:tc>
                <a:extLst>
                  <a:ext uri="{0D108BD9-81ED-4DB2-BD59-A6C34878D82A}">
                    <a16:rowId xmlns:a16="http://schemas.microsoft.com/office/drawing/2014/main" val="10001"/>
                  </a:ext>
                </a:extLst>
              </a:tr>
              <a:tr h="485775">
                <a:tc>
                  <a:txBody>
                    <a:bodyPr/>
                    <a:lstStyle/>
                    <a:p>
                      <a:r>
                        <a:rPr sz="1350" b="0">
                          <a:solidFill>
                            <a:srgbClr val="202C33"/>
                          </a:solidFill>
                          <a:latin typeface="Calibri"/>
                          <a:ea typeface="Calibri"/>
                          <a:cs typeface="Calibri"/>
                        </a:rPr>
                        <a:t>Neural demonstrations</a:t>
                      </a:r>
                    </a:p>
                  </a:txBody>
                  <a:tcPr>
                    <a:solidFill>
                      <a:srgbClr val="FFFFFF"/>
                    </a:solidFill>
                  </a:tcPr>
                </a:tc>
                <a:tc>
                  <a:txBody>
                    <a:bodyPr/>
                    <a:lstStyle/>
                    <a:p>
                      <a:r>
                        <a:rPr sz="1350" b="0">
                          <a:solidFill>
                            <a:srgbClr val="202C33"/>
                          </a:solidFill>
                          <a:latin typeface="Calibri"/>
                          <a:ea typeface="Calibri"/>
                          <a:cs typeface="Calibri"/>
                        </a:rPr>
                        <a:t>Specified response and intervention effect</a:t>
                      </a:r>
                    </a:p>
                  </a:txBody>
                  <a:tcPr>
                    <a:solidFill>
                      <a:srgbClr val="FFFFFF"/>
                    </a:solidFill>
                  </a:tcPr>
                </a:tc>
                <a:tc>
                  <a:txBody>
                    <a:bodyPr/>
                    <a:lstStyle/>
                    <a:p>
                      <a:r>
                        <a:rPr sz="1350" b="0">
                          <a:solidFill>
                            <a:srgbClr val="202C33"/>
                          </a:solidFill>
                          <a:latin typeface="Calibri"/>
                          <a:ea typeface="Calibri"/>
                          <a:cs typeface="Calibri"/>
                        </a:rPr>
                        <a:t>Circuit- and protocol-specific</a:t>
                      </a:r>
                    </a:p>
                  </a:txBody>
                  <a:tcPr>
                    <a:solidFill>
                      <a:srgbClr val="FFFFFF"/>
                    </a:solidFill>
                  </a:tcPr>
                </a:tc>
                <a:extLst>
                  <a:ext uri="{0D108BD9-81ED-4DB2-BD59-A6C34878D82A}">
                    <a16:rowId xmlns:a16="http://schemas.microsoft.com/office/drawing/2014/main" val="10002"/>
                  </a:ext>
                </a:extLst>
              </a:tr>
              <a:tr h="485775">
                <a:tc>
                  <a:txBody>
                    <a:bodyPr/>
                    <a:lstStyle/>
                    <a:p>
                      <a:r>
                        <a:rPr sz="1350" b="0">
                          <a:solidFill>
                            <a:srgbClr val="202C33"/>
                          </a:solidFill>
                          <a:latin typeface="Calibri"/>
                          <a:ea typeface="Calibri"/>
                          <a:cs typeface="Calibri"/>
                        </a:rPr>
                        <a:t>Supported W2L / human models</a:t>
                      </a:r>
                    </a:p>
                  </a:txBody>
                  <a:tcPr>
                    <a:solidFill>
                      <a:srgbClr val="FFFFFF"/>
                    </a:solidFill>
                  </a:tcPr>
                </a:tc>
                <a:tc>
                  <a:txBody>
                    <a:bodyPr/>
                    <a:lstStyle/>
                    <a:p>
                      <a:r>
                        <a:rPr sz="1350" b="0">
                          <a:solidFill>
                            <a:srgbClr val="202C33"/>
                          </a:solidFill>
                          <a:latin typeface="Calibri"/>
                          <a:ea typeface="Calibri"/>
                          <a:cs typeface="Calibri"/>
                        </a:rPr>
                        <a:t>Coupling and coordination tests</a:t>
                      </a:r>
                    </a:p>
                  </a:txBody>
                  <a:tcPr>
                    <a:solidFill>
                      <a:srgbClr val="FFFFFF"/>
                    </a:solidFill>
                  </a:tcPr>
                </a:tc>
                <a:tc>
                  <a:txBody>
                    <a:bodyPr/>
                    <a:lstStyle/>
                    <a:p>
                      <a:r>
                        <a:rPr sz="1350" b="0">
                          <a:solidFill>
                            <a:srgbClr val="202C33"/>
                          </a:solidFill>
                          <a:latin typeface="Calibri"/>
                          <a:ea typeface="Calibri"/>
                          <a:cs typeface="Calibri"/>
                        </a:rPr>
                        <a:t>External support remains</a:t>
                      </a:r>
                    </a:p>
                  </a:txBody>
                  <a:tcPr>
                    <a:solidFill>
                      <a:srgbClr val="FFFFFF"/>
                    </a:solidFill>
                  </a:tcPr>
                </a:tc>
                <a:extLst>
                  <a:ext uri="{0D108BD9-81ED-4DB2-BD59-A6C34878D82A}">
                    <a16:rowId xmlns:a16="http://schemas.microsoft.com/office/drawing/2014/main" val="10003"/>
                  </a:ext>
                </a:extLst>
              </a:tr>
              <a:tr h="485775">
                <a:tc>
                  <a:txBody>
                    <a:bodyPr/>
                    <a:lstStyle/>
                    <a:p>
                      <a:r>
                        <a:rPr sz="1350" b="0">
                          <a:solidFill>
                            <a:srgbClr val="202C33"/>
                          </a:solidFill>
                          <a:latin typeface="Calibri"/>
                          <a:ea typeface="Calibri"/>
                          <a:cs typeface="Calibri"/>
                        </a:rPr>
                        <a:t>AH001 integration</a:t>
                      </a:r>
                    </a:p>
                  </a:txBody>
                  <a:tcPr>
                    <a:solidFill>
                      <a:srgbClr val="FFFFFF"/>
                    </a:solidFill>
                  </a:tcPr>
                </a:tc>
                <a:tc>
                  <a:txBody>
                    <a:bodyPr/>
                    <a:lstStyle/>
                    <a:p>
                      <a:r>
                        <a:rPr sz="1350" b="0">
                          <a:solidFill>
                            <a:srgbClr val="202C33"/>
                          </a:solidFill>
                          <a:latin typeface="Calibri"/>
                          <a:ea typeface="Calibri"/>
                          <a:cs typeface="Calibri"/>
                        </a:rPr>
                        <a:t>Hybrid allocation; PF/reflex currents cancelled</a:t>
                      </a:r>
                    </a:p>
                  </a:txBody>
                  <a:tcPr>
                    <a:solidFill>
                      <a:srgbClr val="FFFFFF"/>
                    </a:solidFill>
                  </a:tcPr>
                </a:tc>
                <a:tc>
                  <a:txBody>
                    <a:bodyPr/>
                    <a:lstStyle/>
                    <a:p>
                      <a:r>
                        <a:rPr sz="1350" b="0">
                          <a:solidFill>
                            <a:srgbClr val="202C33"/>
                          </a:solidFill>
                          <a:latin typeface="Calibri"/>
                          <a:ea typeface="Calibri"/>
                          <a:cs typeface="Calibri"/>
                        </a:rPr>
                        <a:t>80% vertical + lateral/angular support</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0B26C038-B5E0-882D-375F-183BADD46417}"/>
              </a:ext>
            </a:extLst>
          </p:cNvPr>
          <p:cNvSpPr>
            <a:spLocks noGrp="1"/>
          </p:cNvSpPr>
          <p:nvPr/>
        </p:nvSpPr>
        <p:spPr>
          <a:xfrm>
            <a:off x="428625" y="3971925"/>
            <a:ext cx="8286750" cy="400050"/>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AH001: reference tensions, MN clamp, provisional feet, and ideal brackets</a:t>
            </a:r>
          </a:p>
        </p:txBody>
      </p:sp>
      <p:sp>
        <p:nvSpPr>
          <p:cNvPr id="6" name="Rectangle 5">
            <a:extLst>
              <a:ext uri="{FF2B5EF4-FFF2-40B4-BE49-F238E27FC236}">
                <a16:creationId xmlns:a16="http://schemas.microsoft.com/office/drawing/2014/main" id="{0D63B3DF-3268-C34D-550C-EAF6700CA677}"/>
              </a:ext>
            </a:extLst>
          </p:cNvPr>
          <p:cNvSpPr>
            <a:spLocks noGrp="1"/>
          </p:cNvSpPr>
          <p:nvPr/>
        </p:nvSpPr>
        <p:spPr>
          <a:xfrm>
            <a:off x="428625" y="4368800"/>
            <a:ext cx="8286750" cy="177800"/>
          </a:xfrm>
          <a:prstGeom prst="rect">
            <a:avLst/>
          </a:prstGeom>
          <a:noFill/>
          <a:ln w="0">
            <a:noFill/>
          </a:ln>
        </p:spPr>
        <p:txBody>
          <a:bodyPr lIns="0" tIns="0" rIns="0" bIns="0" anchor="t"/>
          <a:lstStyle>
            <a:defPPr>
              <a:defRPr sz="2175" b="1">
                <a:solidFill>
                  <a:srgbClr val="B57C50"/>
                </a:solidFill>
                <a:latin typeface="Calibri"/>
                <a:ea typeface="Calibri"/>
                <a:cs typeface="Calibri"/>
              </a:defRPr>
            </a:defPPr>
            <a:lvl1pPr>
              <a:defRPr sz="2175" b="1">
                <a:solidFill>
                  <a:srgbClr val="B57C50"/>
                </a:solidFill>
                <a:latin typeface="Calibri"/>
                <a:ea typeface="Calibri"/>
                <a:cs typeface="Calibri"/>
              </a:defRPr>
            </a:lvl1pPr>
            <a:lvl2pPr>
              <a:defRPr sz="2175" b="1">
                <a:solidFill>
                  <a:srgbClr val="B57C50"/>
                </a:solidFill>
                <a:latin typeface="Calibri"/>
                <a:ea typeface="Calibri"/>
                <a:cs typeface="Calibri"/>
              </a:defRPr>
            </a:lvl2pPr>
            <a:lvl3pPr>
              <a:defRPr sz="2175" b="1">
                <a:solidFill>
                  <a:srgbClr val="B57C50"/>
                </a:solidFill>
                <a:latin typeface="Calibri"/>
                <a:ea typeface="Calibri"/>
                <a:cs typeface="Calibri"/>
              </a:defRPr>
            </a:lvl3pPr>
            <a:lvl4pPr>
              <a:defRPr sz="2175" b="1">
                <a:solidFill>
                  <a:srgbClr val="B57C50"/>
                </a:solidFill>
                <a:latin typeface="Calibri"/>
                <a:ea typeface="Calibri"/>
                <a:cs typeface="Calibri"/>
              </a:defRPr>
            </a:lvl4pPr>
            <a:lvl5pPr>
              <a:defRPr sz="2175" b="1">
                <a:solidFill>
                  <a:srgbClr val="B57C50"/>
                </a:solidFill>
                <a:latin typeface="Calibri"/>
                <a:ea typeface="Calibri"/>
                <a:cs typeface="Calibri"/>
              </a:defRPr>
            </a:lvl5pPr>
            <a:lvl6pPr>
              <a:defRPr sz="2175" b="1">
                <a:solidFill>
                  <a:srgbClr val="B57C50"/>
                </a:solidFill>
                <a:latin typeface="Calibri"/>
                <a:ea typeface="Calibri"/>
                <a:cs typeface="Calibri"/>
              </a:defRPr>
            </a:lvl6pPr>
            <a:lvl7pPr>
              <a:defRPr sz="2175" b="1">
                <a:solidFill>
                  <a:srgbClr val="B57C50"/>
                </a:solidFill>
                <a:latin typeface="Calibri"/>
                <a:ea typeface="Calibri"/>
                <a:cs typeface="Calibri"/>
              </a:defRPr>
            </a:lvl7pPr>
            <a:lvl8pPr>
              <a:defRPr sz="2175" b="1">
                <a:solidFill>
                  <a:srgbClr val="B57C50"/>
                </a:solidFill>
                <a:latin typeface="Calibri"/>
                <a:ea typeface="Calibri"/>
                <a:cs typeface="Calibri"/>
              </a:defRPr>
            </a:lvl8pPr>
            <a:lvl9pPr>
              <a:defRPr sz="2175" b="1">
                <a:solidFill>
                  <a:srgbClr val="B57C50"/>
                </a:solidFill>
                <a:latin typeface="Calibri"/>
                <a:ea typeface="Calibri"/>
                <a:cs typeface="Calibri"/>
              </a:defRPr>
            </a:lvl9pPr>
          </a:lstStyle>
          <a:p>
            <a:pPr>
              <a:defRPr sz="2175" b="1">
                <a:solidFill>
                  <a:srgbClr val="B57C50"/>
                </a:solidFill>
                <a:latin typeface="Calibri"/>
                <a:ea typeface="Calibri"/>
                <a:cs typeface="Calibri"/>
              </a:defRPr>
            </a:pPr>
            <a:r>
              <a:rPr sz="1150" b="1">
                <a:solidFill>
                  <a:srgbClr val="B57C50"/>
                </a:solidFill>
                <a:latin typeface="Calibri"/>
                <a:ea typeface="Calibri"/>
                <a:cs typeface="Calibri"/>
              </a:rPr>
              <a:t>No harness-free walking has been demonstrated</a:t>
            </a:r>
          </a:p>
        </p:txBody>
      </p:sp>
      <p:sp>
        <p:nvSpPr>
          <p:cNvPr id="7" name="TextBox 6">
            <a:extLst>
              <a:ext uri="{FF2B5EF4-FFF2-40B4-BE49-F238E27FC236}">
                <a16:creationId xmlns:a16="http://schemas.microsoft.com/office/drawing/2014/main" id="{0C60DCF7-D6C0-20DE-272A-ABC57FF248E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33</a:t>
            </a:r>
          </a:p>
        </p:txBody>
      </p:sp>
    </p:spTree>
    <p:extLst>
      <p:ext uri="{BB962C8B-B14F-4D97-AF65-F5344CB8AC3E}">
        <p14:creationId xmlns:p14="http://schemas.microsoft.com/office/powerpoint/2010/main" val="2325047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8EA335F-8A22-7519-A6E2-F881BD012651}"/>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adopted identification reserves tests in each configuration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7CC7ABD0-96BE-E13C-07C3-0FCC70CFB9A0}"/>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4 · Current knee-torque manuscript, §§3–4</a:t>
            </a:r>
          </a:p>
        </p:txBody>
      </p:sp>
      <p:graphicFrame>
        <p:nvGraphicFramePr>
          <p:cNvPr id="4" name="Table 3">
            <a:extLst>
              <a:ext uri="{FF2B5EF4-FFF2-40B4-BE49-F238E27FC236}">
                <a16:creationId xmlns:a16="http://schemas.microsoft.com/office/drawing/2014/main" id="{85DD8A44-915C-5997-1CE0-93E518C54E56}"/>
              </a:ext>
            </a:extLst>
          </p:cNvPr>
          <p:cNvGraphicFramePr>
            <a:graphicFrameLocks/>
          </p:cNvGraphicFramePr>
          <p:nvPr>
            <p:extLst>
              <p:ext uri="{D42A27DB-BD31-4B8C-83A1-F6EECF244321}">
                <p14:modId xmlns:p14="http://schemas.microsoft.com/office/powerpoint/2010/main" val="2409087631"/>
              </p:ext>
            </p:extLst>
          </p:nvPr>
        </p:nvGraphicFramePr>
        <p:xfrm>
          <a:off x="428625" y="1571625"/>
          <a:ext cx="8286750" cy="1785938"/>
        </p:xfrm>
        <a:graphic>
          <a:graphicData uri="http://schemas.openxmlformats.org/drawingml/2006/table">
            <a:tbl>
              <a:tblPr/>
              <a:tblGrid>
                <a:gridCol w="2071688">
                  <a:extLst>
                    <a:ext uri="{9D8B030D-6E8A-4147-A177-3AD203B41FA5}">
                      <a16:colId xmlns:a16="http://schemas.microsoft.com/office/drawing/2014/main" val="20000"/>
                    </a:ext>
                  </a:extLst>
                </a:gridCol>
                <a:gridCol w="2071688">
                  <a:extLst>
                    <a:ext uri="{9D8B030D-6E8A-4147-A177-3AD203B41FA5}">
                      <a16:colId xmlns:a16="http://schemas.microsoft.com/office/drawing/2014/main" val="20001"/>
                    </a:ext>
                  </a:extLst>
                </a:gridCol>
                <a:gridCol w="2071688">
                  <a:extLst>
                    <a:ext uri="{9D8B030D-6E8A-4147-A177-3AD203B41FA5}">
                      <a16:colId xmlns:a16="http://schemas.microsoft.com/office/drawing/2014/main" val="20002"/>
                    </a:ext>
                  </a:extLst>
                </a:gridCol>
                <a:gridCol w="2071688">
                  <a:extLst>
                    <a:ext uri="{9D8B030D-6E8A-4147-A177-3AD203B41FA5}">
                      <a16:colId xmlns:a16="http://schemas.microsoft.com/office/drawing/2014/main" val="20003"/>
                    </a:ext>
                  </a:extLst>
                </a:gridCol>
              </a:tblGrid>
              <a:tr h="595313">
                <a:tc>
                  <a:txBody>
                    <a:bodyPr/>
                    <a:lstStyle/>
                    <a:p>
                      <a:r>
                        <a:rPr sz="1688" b="1">
                          <a:solidFill>
                            <a:srgbClr val="006D77"/>
                          </a:solidFill>
                          <a:latin typeface="Calibri"/>
                          <a:ea typeface="Calibri"/>
                          <a:cs typeface="Calibri"/>
                        </a:rPr>
                        <a:t>Configuration</a:t>
                      </a:r>
                    </a:p>
                  </a:txBody>
                  <a:tcPr>
                    <a:solidFill>
                      <a:srgbClr val="FFFFFF"/>
                    </a:solidFill>
                  </a:tcPr>
                </a:tc>
                <a:tc>
                  <a:txBody>
                    <a:bodyPr/>
                    <a:lstStyle/>
                    <a:p>
                      <a:r>
                        <a:rPr sz="1688" b="1">
                          <a:solidFill>
                            <a:srgbClr val="006D77"/>
                          </a:solidFill>
                          <a:latin typeface="Calibri"/>
                          <a:ea typeface="Calibri"/>
                          <a:cs typeface="Calibri"/>
                        </a:rPr>
                        <a:t>Training</a:t>
                      </a:r>
                    </a:p>
                  </a:txBody>
                  <a:tcPr>
                    <a:solidFill>
                      <a:srgbClr val="FFFFFF"/>
                    </a:solidFill>
                  </a:tcPr>
                </a:tc>
                <a:tc>
                  <a:txBody>
                    <a:bodyPr/>
                    <a:lstStyle/>
                    <a:p>
                      <a:r>
                        <a:rPr sz="1688" b="1">
                          <a:solidFill>
                            <a:srgbClr val="006D77"/>
                          </a:solidFill>
                          <a:latin typeface="Calibri"/>
                          <a:ea typeface="Calibri"/>
                          <a:cs typeface="Calibri"/>
                        </a:rPr>
                        <a:t>Held out</a:t>
                      </a:r>
                    </a:p>
                  </a:txBody>
                  <a:tcPr>
                    <a:solidFill>
                      <a:srgbClr val="FFFFFF"/>
                    </a:solidFill>
                  </a:tcPr>
                </a:tc>
                <a:tc>
                  <a:txBody>
                    <a:bodyPr/>
                    <a:lstStyle/>
                    <a:p>
                      <a:r>
                        <a:rPr sz="1688" b="1">
                          <a:solidFill>
                            <a:srgbClr val="006D77"/>
                          </a:solidFill>
                          <a:latin typeface="Calibri"/>
                          <a:ea typeface="Calibri"/>
                          <a:cs typeface="Calibri"/>
                        </a:rPr>
                        <a:t>Not used</a:t>
                      </a:r>
                    </a:p>
                  </a:txBody>
                  <a:tcPr>
                    <a:solidFill>
                      <a:srgbClr val="FFFFFF"/>
                    </a:solidFill>
                  </a:tcPr>
                </a:tc>
                <a:extLst>
                  <a:ext uri="{0D108BD9-81ED-4DB2-BD59-A6C34878D82A}">
                    <a16:rowId xmlns:a16="http://schemas.microsoft.com/office/drawing/2014/main" val="10000"/>
                  </a:ext>
                </a:extLst>
              </a:tr>
              <a:tr h="595313">
                <a:tc>
                  <a:txBody>
                    <a:bodyPr/>
                    <a:lstStyle/>
                    <a:p>
                      <a:r>
                        <a:rPr sz="1688" b="0">
                          <a:solidFill>
                            <a:srgbClr val="202C33"/>
                          </a:solidFill>
                          <a:latin typeface="Calibri"/>
                          <a:ea typeface="Calibri"/>
                          <a:cs typeface="Calibri"/>
                        </a:rPr>
                        <a:t>Pinned flexor</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2</a:t>
                      </a:r>
                    </a:p>
                  </a:txBody>
                  <a:tcPr>
                    <a:solidFill>
                      <a:srgbClr val="FFFFFF"/>
                    </a:solidFill>
                  </a:tcPr>
                </a:tc>
                <a:tc>
                  <a:txBody>
                    <a:bodyPr/>
                    <a:lstStyle/>
                    <a:p>
                      <a:r>
                        <a:rPr sz="1688" b="0">
                          <a:solidFill>
                            <a:srgbClr val="202C33"/>
                          </a:solidFill>
                          <a:latin typeface="Calibri"/>
                          <a:ea typeface="Calibri"/>
                          <a:cs typeface="Calibri"/>
                        </a:rPr>
                        <a:t>1</a:t>
                      </a:r>
                    </a:p>
                  </a:txBody>
                  <a:tcPr>
                    <a:solidFill>
                      <a:srgbClr val="FFFFFF"/>
                    </a:solidFill>
                  </a:tcPr>
                </a:tc>
                <a:extLst>
                  <a:ext uri="{0D108BD9-81ED-4DB2-BD59-A6C34878D82A}">
                    <a16:rowId xmlns:a16="http://schemas.microsoft.com/office/drawing/2014/main" val="10001"/>
                  </a:ext>
                </a:extLst>
              </a:tr>
              <a:tr h="595313">
                <a:tc>
                  <a:txBody>
                    <a:bodyPr/>
                    <a:lstStyle/>
                    <a:p>
                      <a:r>
                        <a:rPr sz="1688" b="0">
                          <a:solidFill>
                            <a:srgbClr val="202C33"/>
                          </a:solidFill>
                          <a:latin typeface="Calibri"/>
                          <a:ea typeface="Calibri"/>
                          <a:cs typeface="Calibri"/>
                        </a:rPr>
                        <a:t>Pinned extensor</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tc>
                  <a:txBody>
                    <a:bodyPr/>
                    <a:lstStyle/>
                    <a:p>
                      <a:r>
                        <a:rPr sz="1688" b="0">
                          <a:solidFill>
                            <a:srgbClr val="202C33"/>
                          </a:solidFill>
                          <a:latin typeface="Calibri"/>
                          <a:ea typeface="Calibri"/>
                          <a:cs typeface="Calibri"/>
                        </a:rPr>
                        <a:t>3</a:t>
                      </a:r>
                    </a:p>
                  </a:txBody>
                  <a:tcPr>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C8294D1C-28B9-F106-DC23-F5AC7B3CB8DA}"/>
              </a:ext>
            </a:extLst>
          </p:cNvPr>
          <p:cNvSpPr>
            <a:spLocks noGrp="1"/>
          </p:cNvSpPr>
          <p:nvPr/>
        </p:nvSpPr>
        <p:spPr>
          <a:xfrm>
            <a:off x="428625" y="3786189"/>
            <a:ext cx="8286750" cy="428625"/>
          </a:xfrm>
          <a:prstGeom prst="rect">
            <a:avLst/>
          </a:prstGeom>
          <a:noFill/>
          <a:ln w="0">
            <a:noFill/>
          </a:ln>
        </p:spPr>
        <p:txBody>
          <a:bodyPr lIns="0" tIns="0" rIns="0" bIns="0" anchor="t"/>
          <a:lstStyle>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a:pPr>
              <a:defRPr sz="2250" b="1">
                <a:solidFill>
                  <a:srgbClr val="006D77"/>
                </a:solidFill>
                <a:latin typeface="Calibri"/>
                <a:ea typeface="Calibri"/>
                <a:cs typeface="Calibri"/>
              </a:defRPr>
            </a:pPr>
            <a:r>
              <a:rPr sz="1688" b="1">
                <a:solidFill>
                  <a:srgbClr val="006D77"/>
                </a:solidFill>
                <a:latin typeface="Calibri"/>
                <a:ea typeface="Calibri"/>
                <a:cs typeface="Calibri"/>
              </a:rPr>
              <a:t>Shared effective stiffness pair: χ₁ = 39.98, χ₂ = 14.73 kN/m</a:t>
            </a:r>
          </a:p>
        </p:txBody>
      </p:sp>
      <p:sp>
        <p:nvSpPr>
          <p:cNvPr id="6" name="TextBox 5">
            <a:extLst>
              <a:ext uri="{FF2B5EF4-FFF2-40B4-BE49-F238E27FC236}">
                <a16:creationId xmlns:a16="http://schemas.microsoft.com/office/drawing/2014/main" id="{92616C21-A97A-92EF-D07E-32F430564328}"/>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34</a:t>
            </a:r>
          </a:p>
        </p:txBody>
      </p:sp>
    </p:spTree>
    <p:extLst>
      <p:ext uri="{BB962C8B-B14F-4D97-AF65-F5344CB8AC3E}">
        <p14:creationId xmlns:p14="http://schemas.microsoft.com/office/powerpoint/2010/main" val="1302943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F0B3181D-C0EB-1131-50F2-E79345E3887E}"/>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Physical dimensions differ from prediction settings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CC26B3C8-68CC-B6D8-E9E4-44EAF8244B6F}"/>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Torque manuscript, Physical Tests · Dissertation Appendix C dimensions</a:t>
            </a:r>
          </a:p>
        </p:txBody>
      </p:sp>
      <p:graphicFrame>
        <p:nvGraphicFramePr>
          <p:cNvPr id="4" name="Table 3">
            <a:extLst>
              <a:ext uri="{FF2B5EF4-FFF2-40B4-BE49-F238E27FC236}">
                <a16:creationId xmlns:a16="http://schemas.microsoft.com/office/drawing/2014/main" id="{5C6F3C09-7667-8A5A-243D-B16CCF85F0FC}"/>
              </a:ext>
            </a:extLst>
          </p:cNvPr>
          <p:cNvGraphicFramePr>
            <a:graphicFrameLocks/>
          </p:cNvGraphicFramePr>
          <p:nvPr>
            <p:extLst>
              <p:ext uri="{D42A27DB-BD31-4B8C-83A1-F6EECF244321}">
                <p14:modId xmlns:p14="http://schemas.microsoft.com/office/powerpoint/2010/main" val="649929261"/>
              </p:ext>
            </p:extLst>
          </p:nvPr>
        </p:nvGraphicFramePr>
        <p:xfrm>
          <a:off x="428625" y="1357313"/>
          <a:ext cx="8286750" cy="2393156"/>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78631">
                <a:tc>
                  <a:txBody>
                    <a:bodyPr/>
                    <a:lstStyle/>
                    <a:p>
                      <a:r>
                        <a:rPr sz="1575" b="1">
                          <a:solidFill>
                            <a:srgbClr val="006D77"/>
                          </a:solidFill>
                          <a:latin typeface="Calibri"/>
                          <a:ea typeface="Calibri"/>
                          <a:cs typeface="Calibri"/>
                        </a:rPr>
                        <a:t>Actuator</a:t>
                      </a:r>
                    </a:p>
                  </a:txBody>
                  <a:tcPr>
                    <a:solidFill>
                      <a:srgbClr val="FFFFFF"/>
                    </a:solidFill>
                  </a:tcPr>
                </a:tc>
                <a:tc>
                  <a:txBody>
                    <a:bodyPr/>
                    <a:lstStyle/>
                    <a:p>
                      <a:r>
                        <a:rPr sz="1575" b="1">
                          <a:solidFill>
                            <a:srgbClr val="006D77"/>
                          </a:solidFill>
                          <a:latin typeface="Calibri"/>
                          <a:ea typeface="Calibri"/>
                          <a:cs typeface="Calibri"/>
                        </a:rPr>
                        <a:t>Resting length, mm</a:t>
                      </a:r>
                    </a:p>
                  </a:txBody>
                  <a:tcPr>
                    <a:solidFill>
                      <a:srgbClr val="FFFFFF"/>
                    </a:solidFill>
                  </a:tcPr>
                </a:tc>
                <a:tc>
                  <a:txBody>
                    <a:bodyPr/>
                    <a:lstStyle/>
                    <a:p>
                      <a:r>
                        <a:rPr sz="1575" b="1">
                          <a:solidFill>
                            <a:srgbClr val="006D77"/>
                          </a:solidFill>
                          <a:latin typeface="Calibri"/>
                          <a:ea typeface="Calibri"/>
                          <a:cs typeface="Calibri"/>
                        </a:rPr>
                        <a:t>Tendon length, mm</a:t>
                      </a:r>
                    </a:p>
                  </a:txBody>
                  <a:tcPr>
                    <a:solidFill>
                      <a:srgbClr val="FFFFFF"/>
                    </a:solidFill>
                  </a:tcPr>
                </a:tc>
                <a:extLst>
                  <a:ext uri="{0D108BD9-81ED-4DB2-BD59-A6C34878D82A}">
                    <a16:rowId xmlns:a16="http://schemas.microsoft.com/office/drawing/2014/main" val="10000"/>
                  </a:ext>
                </a:extLst>
              </a:tr>
              <a:tr h="478631">
                <a:tc>
                  <a:txBody>
                    <a:bodyPr/>
                    <a:lstStyle/>
                    <a:p>
                      <a:r>
                        <a:rPr sz="1575" b="0">
                          <a:solidFill>
                            <a:srgbClr val="202C33"/>
                          </a:solidFill>
                          <a:latin typeface="Calibri"/>
                          <a:ea typeface="Calibri"/>
                          <a:cs typeface="Calibri"/>
                        </a:rPr>
                        <a:t>Flexor 1</a:t>
                      </a:r>
                    </a:p>
                  </a:txBody>
                  <a:tcPr>
                    <a:solidFill>
                      <a:srgbClr val="FFFFFF"/>
                    </a:solidFill>
                  </a:tcPr>
                </a:tc>
                <a:tc>
                  <a:txBody>
                    <a:bodyPr/>
                    <a:lstStyle/>
                    <a:p>
                      <a:r>
                        <a:rPr sz="1575" b="0">
                          <a:solidFill>
                            <a:srgbClr val="202C33"/>
                          </a:solidFill>
                          <a:latin typeface="Calibri"/>
                          <a:ea typeface="Calibri"/>
                          <a:cs typeface="Calibri"/>
                        </a:rPr>
                        <a:t>561</a:t>
                      </a:r>
                    </a:p>
                  </a:txBody>
                  <a:tcPr>
                    <a:solidFill>
                      <a:srgbClr val="FFFFFF"/>
                    </a:solidFill>
                  </a:tcPr>
                </a:tc>
                <a:tc>
                  <a:txBody>
                    <a:bodyPr/>
                    <a:lstStyle/>
                    <a:p>
                      <a:r>
                        <a:rPr sz="1575" b="0">
                          <a:solidFill>
                            <a:srgbClr val="202C33"/>
                          </a:solidFill>
                          <a:latin typeface="Calibri"/>
                          <a:ea typeface="Calibri"/>
                          <a:cs typeface="Calibri"/>
                        </a:rPr>
                        <a:t>28</a:t>
                      </a:r>
                    </a:p>
                  </a:txBody>
                  <a:tcPr>
                    <a:solidFill>
                      <a:srgbClr val="FFFFFF"/>
                    </a:solidFill>
                  </a:tcPr>
                </a:tc>
                <a:extLst>
                  <a:ext uri="{0D108BD9-81ED-4DB2-BD59-A6C34878D82A}">
                    <a16:rowId xmlns:a16="http://schemas.microsoft.com/office/drawing/2014/main" val="10001"/>
                  </a:ext>
                </a:extLst>
              </a:tr>
              <a:tr h="478631">
                <a:tc>
                  <a:txBody>
                    <a:bodyPr/>
                    <a:lstStyle/>
                    <a:p>
                      <a:r>
                        <a:rPr sz="1575" b="0">
                          <a:solidFill>
                            <a:srgbClr val="202C33"/>
                          </a:solidFill>
                          <a:latin typeface="Calibri"/>
                          <a:ea typeface="Calibri"/>
                          <a:cs typeface="Calibri"/>
                        </a:rPr>
                        <a:t>Flexor 2</a:t>
                      </a:r>
                    </a:p>
                  </a:txBody>
                  <a:tcPr>
                    <a:solidFill>
                      <a:srgbClr val="FFFFFF"/>
                    </a:solidFill>
                  </a:tcPr>
                </a:tc>
                <a:tc>
                  <a:txBody>
                    <a:bodyPr/>
                    <a:lstStyle/>
                    <a:p>
                      <a:r>
                        <a:rPr sz="1575" b="0">
                          <a:solidFill>
                            <a:srgbClr val="202C33"/>
                          </a:solidFill>
                          <a:latin typeface="Calibri"/>
                          <a:ea typeface="Calibri"/>
                          <a:cs typeface="Calibri"/>
                        </a:rPr>
                        <a:t>560</a:t>
                      </a:r>
                    </a:p>
                  </a:txBody>
                  <a:tcPr>
                    <a:solidFill>
                      <a:srgbClr val="FFFFFF"/>
                    </a:solidFill>
                  </a:tcPr>
                </a:tc>
                <a:tc>
                  <a:txBody>
                    <a:bodyPr/>
                    <a:lstStyle/>
                    <a:p>
                      <a:r>
                        <a:rPr sz="1575" b="0">
                          <a:solidFill>
                            <a:srgbClr val="202C33"/>
                          </a:solidFill>
                          <a:latin typeface="Calibri"/>
                          <a:ea typeface="Calibri"/>
                          <a:cs typeface="Calibri"/>
                        </a:rPr>
                        <a:t>30</a:t>
                      </a:r>
                    </a:p>
                  </a:txBody>
                  <a:tcPr>
                    <a:solidFill>
                      <a:srgbClr val="FFFFFF"/>
                    </a:solidFill>
                  </a:tcPr>
                </a:tc>
                <a:extLst>
                  <a:ext uri="{0D108BD9-81ED-4DB2-BD59-A6C34878D82A}">
                    <a16:rowId xmlns:a16="http://schemas.microsoft.com/office/drawing/2014/main" val="10002"/>
                  </a:ext>
                </a:extLst>
              </a:tr>
              <a:tr h="478631">
                <a:tc>
                  <a:txBody>
                    <a:bodyPr/>
                    <a:lstStyle/>
                    <a:p>
                      <a:r>
                        <a:rPr sz="1575" b="0">
                          <a:solidFill>
                            <a:srgbClr val="202C33"/>
                          </a:solidFill>
                          <a:latin typeface="Calibri"/>
                          <a:ea typeface="Calibri"/>
                          <a:cs typeface="Calibri"/>
                        </a:rPr>
                        <a:t>Extensor 1</a:t>
                      </a:r>
                    </a:p>
                  </a:txBody>
                  <a:tcPr>
                    <a:solidFill>
                      <a:srgbClr val="FFFFFF"/>
                    </a:solidFill>
                  </a:tcPr>
                </a:tc>
                <a:tc>
                  <a:txBody>
                    <a:bodyPr/>
                    <a:lstStyle/>
                    <a:p>
                      <a:r>
                        <a:rPr sz="1575" b="0">
                          <a:solidFill>
                            <a:srgbClr val="202C33"/>
                          </a:solidFill>
                          <a:latin typeface="Calibri"/>
                          <a:ea typeface="Calibri"/>
                          <a:cs typeface="Calibri"/>
                        </a:rPr>
                        <a:t>828</a:t>
                      </a:r>
                    </a:p>
                  </a:txBody>
                  <a:tcPr>
                    <a:solidFill>
                      <a:srgbClr val="FFFFFF"/>
                    </a:solidFill>
                  </a:tcPr>
                </a:tc>
                <a:tc>
                  <a:txBody>
                    <a:bodyPr/>
                    <a:lstStyle/>
                    <a:p>
                      <a:r>
                        <a:rPr sz="1575" b="0">
                          <a:solidFill>
                            <a:srgbClr val="202C33"/>
                          </a:solidFill>
                          <a:latin typeface="Calibri"/>
                          <a:ea typeface="Calibri"/>
                          <a:cs typeface="Calibri"/>
                        </a:rPr>
                        <a:t>92</a:t>
                      </a:r>
                    </a:p>
                  </a:txBody>
                  <a:tcPr>
                    <a:solidFill>
                      <a:srgbClr val="FFFFFF"/>
                    </a:solidFill>
                  </a:tcPr>
                </a:tc>
                <a:extLst>
                  <a:ext uri="{0D108BD9-81ED-4DB2-BD59-A6C34878D82A}">
                    <a16:rowId xmlns:a16="http://schemas.microsoft.com/office/drawing/2014/main" val="10003"/>
                  </a:ext>
                </a:extLst>
              </a:tr>
              <a:tr h="478631">
                <a:tc>
                  <a:txBody>
                    <a:bodyPr/>
                    <a:lstStyle/>
                    <a:p>
                      <a:r>
                        <a:rPr sz="1575" b="0">
                          <a:solidFill>
                            <a:srgbClr val="202C33"/>
                          </a:solidFill>
                          <a:latin typeface="Calibri"/>
                          <a:ea typeface="Calibri"/>
                          <a:cs typeface="Calibri"/>
                        </a:rPr>
                        <a:t>Extensor 2</a:t>
                      </a:r>
                    </a:p>
                  </a:txBody>
                  <a:tcPr>
                    <a:solidFill>
                      <a:srgbClr val="FFFFFF"/>
                    </a:solidFill>
                  </a:tcPr>
                </a:tc>
                <a:tc>
                  <a:txBody>
                    <a:bodyPr/>
                    <a:lstStyle/>
                    <a:p>
                      <a:r>
                        <a:rPr sz="1575" b="0">
                          <a:solidFill>
                            <a:srgbClr val="202C33"/>
                          </a:solidFill>
                          <a:latin typeface="Calibri"/>
                          <a:ea typeface="Calibri"/>
                          <a:cs typeface="Calibri"/>
                        </a:rPr>
                        <a:t>826</a:t>
                      </a:r>
                    </a:p>
                  </a:txBody>
                  <a:tcPr>
                    <a:solidFill>
                      <a:srgbClr val="FFFFFF"/>
                    </a:solidFill>
                  </a:tcPr>
                </a:tc>
                <a:tc>
                  <a:txBody>
                    <a:bodyPr/>
                    <a:lstStyle/>
                    <a:p>
                      <a:r>
                        <a:rPr sz="1575" b="0">
                          <a:solidFill>
                            <a:srgbClr val="202C33"/>
                          </a:solidFill>
                          <a:latin typeface="Calibri"/>
                          <a:ea typeface="Calibri"/>
                          <a:cs typeface="Calibri"/>
                        </a:rPr>
                        <a:t>85</a:t>
                      </a: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FC01FDB3-EE82-7A14-D085-2B969B8B0CA5}"/>
              </a:ext>
            </a:extLst>
          </p:cNvPr>
          <p:cNvSpPr>
            <a:spLocks noGrp="1"/>
          </p:cNvSpPr>
          <p:nvPr/>
        </p:nvSpPr>
        <p:spPr>
          <a:xfrm>
            <a:off x="428625" y="4043364"/>
            <a:ext cx="8286750" cy="442913"/>
          </a:xfrm>
          <a:prstGeom prst="rect">
            <a:avLst/>
          </a:prstGeom>
          <a:noFill/>
          <a:ln w="0">
            <a:noFill/>
          </a:ln>
        </p:spPr>
        <p:txBody>
          <a:bodyPr lIns="0" tIns="0" rIns="0" bIns="0" anchor="t"/>
          <a:lstStyle>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a:pPr>
              <a:defRPr sz="2025" b="1">
                <a:solidFill>
                  <a:srgbClr val="006D77"/>
                </a:solidFill>
                <a:latin typeface="Calibri"/>
                <a:ea typeface="Calibri"/>
                <a:cs typeface="Calibri"/>
              </a:defRPr>
            </a:pPr>
            <a:r>
              <a:rPr sz="1519" b="1">
                <a:solidFill>
                  <a:srgbClr val="006D77"/>
                </a:solidFill>
                <a:latin typeface="Calibri"/>
                <a:ea typeface="Calibri"/>
                <a:cs typeface="Calibri"/>
              </a:rPr>
              <a:t>Prediction inputs: flexor 561.49 / 5.00 mm; extensor 827.74 / ≈92.49 mm</a:t>
            </a:r>
          </a:p>
        </p:txBody>
      </p:sp>
      <p:sp>
        <p:nvSpPr>
          <p:cNvPr id="6" name="TextBox 5">
            <a:extLst>
              <a:ext uri="{FF2B5EF4-FFF2-40B4-BE49-F238E27FC236}">
                <a16:creationId xmlns:a16="http://schemas.microsoft.com/office/drawing/2014/main" id="{BA63B937-49B7-A3F1-2089-BAD3BF3ABAD4}"/>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35</a:t>
            </a:r>
          </a:p>
        </p:txBody>
      </p:sp>
    </p:spTree>
    <p:extLst>
      <p:ext uri="{BB962C8B-B14F-4D97-AF65-F5344CB8AC3E}">
        <p14:creationId xmlns:p14="http://schemas.microsoft.com/office/powerpoint/2010/main" val="180562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4D5C2263-E43A-11A3-CCF9-393418222C4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Stimulation duration changes the deletion interpretation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88E24B3-B384-7728-7815-660F96EEBFA9}"/>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stimulus_results_all.csv · Current Appendix D layer-stimulus protocols</a:t>
            </a:r>
          </a:p>
        </p:txBody>
      </p:sp>
      <p:graphicFrame>
        <p:nvGraphicFramePr>
          <p:cNvPr id="4" name="Table 3">
            <a:extLst>
              <a:ext uri="{FF2B5EF4-FFF2-40B4-BE49-F238E27FC236}">
                <a16:creationId xmlns:a16="http://schemas.microsoft.com/office/drawing/2014/main" id="{F07776B1-1CF7-C19D-FEAF-88F11E55B98A}"/>
              </a:ext>
            </a:extLst>
          </p:cNvPr>
          <p:cNvGraphicFramePr>
            <a:graphicFrameLocks/>
          </p:cNvGraphicFramePr>
          <p:nvPr>
            <p:extLst>
              <p:ext uri="{D42A27DB-BD31-4B8C-83A1-F6EECF244321}">
                <p14:modId xmlns:p14="http://schemas.microsoft.com/office/powerpoint/2010/main" val="2208130148"/>
              </p:ext>
            </p:extLst>
          </p:nvPr>
        </p:nvGraphicFramePr>
        <p:xfrm>
          <a:off x="428625" y="1393031"/>
          <a:ext cx="8286750" cy="25717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14350">
                <a:tc>
                  <a:txBody>
                    <a:bodyPr/>
                    <a:lstStyle/>
                    <a:p>
                      <a:r>
                        <a:rPr sz="1575" b="1">
                          <a:solidFill>
                            <a:srgbClr val="006D77"/>
                          </a:solidFill>
                          <a:latin typeface="Calibri"/>
                          <a:ea typeface="Calibri"/>
                          <a:cs typeface="Calibri"/>
                        </a:rPr>
                        <a:t>Protocol</a:t>
                      </a:r>
                    </a:p>
                  </a:txBody>
                  <a:tcPr>
                    <a:solidFill>
                      <a:srgbClr val="FFFFFF"/>
                    </a:solidFill>
                  </a:tcPr>
                </a:tc>
                <a:tc>
                  <a:txBody>
                    <a:bodyPr/>
                    <a:lstStyle/>
                    <a:p>
                      <a:r>
                        <a:rPr sz="1575" b="1">
                          <a:solidFill>
                            <a:srgbClr val="006D77"/>
                          </a:solidFill>
                          <a:latin typeface="Calibri"/>
                          <a:ea typeface="Calibri"/>
                          <a:cs typeface="Calibri"/>
                        </a:rPr>
                        <a:t>RG shift, cycles</a:t>
                      </a:r>
                    </a:p>
                  </a:txBody>
                  <a:tcPr>
                    <a:solidFill>
                      <a:srgbClr val="FFFFFF"/>
                    </a:solidFill>
                  </a:tcPr>
                </a:tc>
                <a:tc>
                  <a:txBody>
                    <a:bodyPr/>
                    <a:lstStyle/>
                    <a:p>
                      <a:r>
                        <a:rPr sz="1575" b="1">
                          <a:solidFill>
                            <a:srgbClr val="006D77"/>
                          </a:solidFill>
                          <a:latin typeface="Calibri"/>
                          <a:ea typeface="Calibri"/>
                          <a:cs typeface="Calibri"/>
                        </a:rPr>
                        <a:t>Motor shift, cycles</a:t>
                      </a:r>
                    </a:p>
                  </a:txBody>
                  <a:tcPr>
                    <a:solidFill>
                      <a:srgbClr val="FFFFFF"/>
                    </a:solidFill>
                  </a:tcPr>
                </a:tc>
                <a:extLst>
                  <a:ext uri="{0D108BD9-81ED-4DB2-BD59-A6C34878D82A}">
                    <a16:rowId xmlns:a16="http://schemas.microsoft.com/office/drawing/2014/main" val="10000"/>
                  </a:ext>
                </a:extLst>
              </a:tr>
              <a:tr h="514350">
                <a:tc>
                  <a:txBody>
                    <a:bodyPr/>
                    <a:lstStyle/>
                    <a:p>
                      <a:r>
                        <a:rPr sz="1575" b="0">
                          <a:solidFill>
                            <a:srgbClr val="202C33"/>
                          </a:solidFill>
                          <a:latin typeface="Calibri"/>
                          <a:ea typeface="Calibri"/>
                          <a:cs typeface="Calibri"/>
                        </a:rPr>
                        <a:t>RG, two periods</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tc>
                  <a:txBody>
                    <a:bodyPr/>
                    <a:lstStyle/>
                    <a:p>
                      <a:r>
                        <a:rPr sz="1575" b="0">
                          <a:solidFill>
                            <a:srgbClr val="202C33"/>
                          </a:solidFill>
                          <a:latin typeface="Calibri"/>
                          <a:ea typeface="Calibri"/>
                          <a:cs typeface="Calibri"/>
                        </a:rPr>
                        <a:t>0.211</a:t>
                      </a:r>
                    </a:p>
                  </a:txBody>
                  <a:tcPr>
                    <a:solidFill>
                      <a:srgbClr val="FFFFFF"/>
                    </a:solidFill>
                  </a:tcPr>
                </a:tc>
                <a:extLst>
                  <a:ext uri="{0D108BD9-81ED-4DB2-BD59-A6C34878D82A}">
                    <a16:rowId xmlns:a16="http://schemas.microsoft.com/office/drawing/2014/main" val="10001"/>
                  </a:ext>
                </a:extLst>
              </a:tr>
              <a:tr h="514350">
                <a:tc>
                  <a:txBody>
                    <a:bodyPr/>
                    <a:lstStyle/>
                    <a:p>
                      <a:r>
                        <a:rPr sz="1575" b="0">
                          <a:solidFill>
                            <a:srgbClr val="202C33"/>
                          </a:solidFill>
                          <a:latin typeface="Calibri"/>
                          <a:ea typeface="Calibri"/>
                          <a:cs typeface="Calibri"/>
                        </a:rPr>
                        <a:t>PF,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2"/>
                  </a:ext>
                </a:extLst>
              </a:tr>
              <a:tr h="514350">
                <a:tc>
                  <a:txBody>
                    <a:bodyPr/>
                    <a:lstStyle/>
                    <a:p>
                      <a:r>
                        <a:rPr sz="1575" b="0">
                          <a:solidFill>
                            <a:srgbClr val="202C33"/>
                          </a:solidFill>
                          <a:latin typeface="Calibri"/>
                          <a:ea typeface="Calibri"/>
                          <a:cs typeface="Calibri"/>
                        </a:rPr>
                        <a:t>MN, two periods</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extLst>
                  <a:ext uri="{0D108BD9-81ED-4DB2-BD59-A6C34878D82A}">
                    <a16:rowId xmlns:a16="http://schemas.microsoft.com/office/drawing/2014/main" val="10003"/>
                  </a:ext>
                </a:extLst>
              </a:tr>
              <a:tr h="514350">
                <a:tc>
                  <a:txBody>
                    <a:bodyPr/>
                    <a:lstStyle/>
                    <a:p>
                      <a:r>
                        <a:rPr sz="1575" b="0">
                          <a:solidFill>
                            <a:srgbClr val="202C33"/>
                          </a:solidFill>
                          <a:latin typeface="Calibri"/>
                          <a:ea typeface="Calibri"/>
                          <a:cs typeface="Calibri"/>
                        </a:rPr>
                        <a:t>PF, one second</a:t>
                      </a:r>
                    </a:p>
                  </a:txBody>
                  <a:tcPr>
                    <a:solidFill>
                      <a:srgbClr val="FFFFFF"/>
                    </a:solidFill>
                  </a:tcPr>
                </a:tc>
                <a:tc>
                  <a:txBody>
                    <a:bodyPr/>
                    <a:lstStyle/>
                    <a:p>
                      <a:r>
                        <a:rPr sz="1575" b="0">
                          <a:solidFill>
                            <a:srgbClr val="202C33"/>
                          </a:solidFill>
                          <a:latin typeface="Calibri"/>
                          <a:ea typeface="Calibri"/>
                          <a:cs typeface="Calibri"/>
                        </a:rPr>
                        <a:t>0.000</a:t>
                      </a:r>
                    </a:p>
                  </a:txBody>
                  <a:tcPr>
                    <a:solidFill>
                      <a:srgbClr val="FFFFFF"/>
                    </a:solidFill>
                  </a:tcPr>
                </a:tc>
                <a:tc>
                  <a:txBody>
                    <a:bodyPr/>
                    <a:lstStyle/>
                    <a:p>
                      <a:r>
                        <a:rPr sz="1575" b="0">
                          <a:solidFill>
                            <a:srgbClr val="202C33"/>
                          </a:solidFill>
                          <a:latin typeface="Calibri"/>
                          <a:ea typeface="Calibri"/>
                          <a:cs typeface="Calibri"/>
                        </a:rPr>
                        <a:t>0.208</a:t>
                      </a:r>
                    </a:p>
                  </a:txBody>
                  <a:tcPr>
                    <a:solidFill>
                      <a:srgbClr val="FFFFFF"/>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5DD4E211-6D85-445B-1010-4677D5AE82C7}"/>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36</a:t>
            </a:r>
          </a:p>
        </p:txBody>
      </p:sp>
    </p:spTree>
    <p:extLst>
      <p:ext uri="{BB962C8B-B14F-4D97-AF65-F5344CB8AC3E}">
        <p14:creationId xmlns:p14="http://schemas.microsoft.com/office/powerpoint/2010/main" val="2234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6FC9BBA0-2F57-BDB9-86DC-72F4F51CB4F3}"/>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AH001 separation control changes a matched diagnostic</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E314D473-5087-F562-893D-F38CAC7C12DC}"/>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AH001_20261028/PLACEMENT_RECOMMENDATION.md · asset_provenance.json</a:t>
            </a:r>
          </a:p>
        </p:txBody>
      </p:sp>
      <p:graphicFrame>
        <p:nvGraphicFramePr>
          <p:cNvPr id="4" name="Table 3">
            <a:extLst>
              <a:ext uri="{FF2B5EF4-FFF2-40B4-BE49-F238E27FC236}">
                <a16:creationId xmlns:a16="http://schemas.microsoft.com/office/drawing/2014/main" id="{826BC2B9-4084-86B2-CA07-08834F8BD6B0}"/>
              </a:ext>
            </a:extLst>
          </p:cNvPr>
          <p:cNvGraphicFramePr>
            <a:graphicFrameLocks/>
          </p:cNvGraphicFramePr>
          <p:nvPr>
            <p:extLst>
              <p:ext uri="{D42A27DB-BD31-4B8C-83A1-F6EECF244321}">
                <p14:modId xmlns:p14="http://schemas.microsoft.com/office/powerpoint/2010/main" val="4161895051"/>
              </p:ext>
            </p:extLst>
          </p:nvPr>
        </p:nvGraphicFramePr>
        <p:xfrm>
          <a:off x="428625" y="1321594"/>
          <a:ext cx="8286750" cy="302895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500063">
                <a:tc>
                  <a:txBody>
                    <a:bodyPr/>
                    <a:lstStyle/>
                    <a:p>
                      <a:r>
                        <a:rPr sz="1463" b="1">
                          <a:solidFill>
                            <a:srgbClr val="006D77"/>
                          </a:solidFill>
                          <a:latin typeface="Calibri"/>
                          <a:ea typeface="Calibri"/>
                          <a:cs typeface="Calibri"/>
                        </a:rPr>
                        <a:t>15–40 s measure</a:t>
                      </a:r>
                    </a:p>
                  </a:txBody>
                  <a:tcPr>
                    <a:solidFill>
                      <a:srgbClr val="FFFFFF"/>
                    </a:solidFill>
                  </a:tcPr>
                </a:tc>
                <a:tc>
                  <a:txBody>
                    <a:bodyPr/>
                    <a:lstStyle/>
                    <a:p>
                      <a:r>
                        <a:rPr sz="1463" b="1">
                          <a:solidFill>
                            <a:srgbClr val="006D77"/>
                          </a:solidFill>
                          <a:latin typeface="Calibri"/>
                          <a:ea typeface="Calibri"/>
                          <a:cs typeface="Calibri"/>
                        </a:rPr>
                        <a:t>Control off</a:t>
                      </a:r>
                    </a:p>
                  </a:txBody>
                  <a:tcPr>
                    <a:solidFill>
                      <a:srgbClr val="FFFFFF"/>
                    </a:solidFill>
                  </a:tcPr>
                </a:tc>
                <a:tc>
                  <a:txBody>
                    <a:bodyPr/>
                    <a:lstStyle/>
                    <a:p>
                      <a:r>
                        <a:rPr sz="1463" b="1">
                          <a:solidFill>
                            <a:srgbClr val="006D77"/>
                          </a:solidFill>
                          <a:latin typeface="Calibri"/>
                          <a:ea typeface="Calibri"/>
                          <a:cs typeface="Calibri"/>
                        </a:rPr>
                        <a:t>Control on</a:t>
                      </a:r>
                    </a:p>
                  </a:txBody>
                  <a:tcPr>
                    <a:solidFill>
                      <a:srgbClr val="FFFFFF"/>
                    </a:solidFill>
                  </a:tcPr>
                </a:tc>
                <a:extLst>
                  <a:ext uri="{0D108BD9-81ED-4DB2-BD59-A6C34878D82A}">
                    <a16:rowId xmlns:a16="http://schemas.microsoft.com/office/drawing/2014/main" val="10000"/>
                  </a:ext>
                </a:extLst>
              </a:tr>
              <a:tr h="500063">
                <a:tc>
                  <a:txBody>
                    <a:bodyPr/>
                    <a:lstStyle/>
                    <a:p>
                      <a:r>
                        <a:rPr sz="1463" b="0">
                          <a:solidFill>
                            <a:srgbClr val="202C33"/>
                          </a:solidFill>
                          <a:latin typeface="Calibri"/>
                          <a:ea typeface="Calibri"/>
                          <a:cs typeface="Calibri"/>
                        </a:rPr>
                        <a:t>Reversed ankle ordering</a:t>
                      </a:r>
                    </a:p>
                  </a:txBody>
                  <a:tcPr>
                    <a:solidFill>
                      <a:srgbClr val="FFFFFF"/>
                    </a:solidFill>
                  </a:tcPr>
                </a:tc>
                <a:tc>
                  <a:txBody>
                    <a:bodyPr/>
                    <a:lstStyle/>
                    <a:p>
                      <a:r>
                        <a:rPr sz="1463" b="0">
                          <a:solidFill>
                            <a:srgbClr val="202C33"/>
                          </a:solidFill>
                          <a:latin typeface="Calibri"/>
                          <a:ea typeface="Calibri"/>
                          <a:cs typeface="Calibri"/>
                        </a:rPr>
                        <a:t>67%</a:t>
                      </a:r>
                    </a:p>
                  </a:txBody>
                  <a:tcPr>
                    <a:solidFill>
                      <a:srgbClr val="FFFFFF"/>
                    </a:solidFill>
                  </a:tcPr>
                </a:tc>
                <a:tc>
                  <a:txBody>
                    <a:bodyPr/>
                    <a:lstStyle/>
                    <a:p>
                      <a:r>
                        <a:rPr sz="1463" b="0">
                          <a:solidFill>
                            <a:srgbClr val="202C33"/>
                          </a:solidFill>
                          <a:latin typeface="Calibri"/>
                          <a:ea typeface="Calibri"/>
                          <a:cs typeface="Calibri"/>
                        </a:rPr>
                        <a:t>0%</a:t>
                      </a:r>
                    </a:p>
                  </a:txBody>
                  <a:tcPr>
                    <a:solidFill>
                      <a:srgbClr val="FFFFFF"/>
                    </a:solidFill>
                  </a:tcPr>
                </a:tc>
                <a:extLst>
                  <a:ext uri="{0D108BD9-81ED-4DB2-BD59-A6C34878D82A}">
                    <a16:rowId xmlns:a16="http://schemas.microsoft.com/office/drawing/2014/main" val="10001"/>
                  </a:ext>
                </a:extLst>
              </a:tr>
              <a:tr h="500063">
                <a:tc>
                  <a:txBody>
                    <a:bodyPr/>
                    <a:lstStyle/>
                    <a:p>
                      <a:r>
                        <a:rPr sz="1463" b="0">
                          <a:solidFill>
                            <a:srgbClr val="202C33"/>
                          </a:solidFill>
                          <a:latin typeface="Calibri"/>
                          <a:ea typeface="Calibri"/>
                          <a:cs typeface="Calibri"/>
                        </a:rPr>
                        <a:t>Minimum separation</a:t>
                      </a:r>
                    </a:p>
                  </a:txBody>
                  <a:tcPr>
                    <a:solidFill>
                      <a:srgbClr val="FFFFFF"/>
                    </a:solidFill>
                  </a:tcPr>
                </a:tc>
                <a:tc>
                  <a:txBody>
                    <a:bodyPr/>
                    <a:lstStyle/>
                    <a:p>
                      <a:r>
                        <a:rPr sz="1463" b="0">
                          <a:solidFill>
                            <a:srgbClr val="202C33"/>
                          </a:solidFill>
                          <a:latin typeface="Calibri"/>
                          <a:ea typeface="Calibri"/>
                          <a:cs typeface="Calibri"/>
                        </a:rPr>
                        <a:t>−38.3 mm</a:t>
                      </a:r>
                    </a:p>
                  </a:txBody>
                  <a:tcPr>
                    <a:solidFill>
                      <a:srgbClr val="FFFFFF"/>
                    </a:solidFill>
                  </a:tcPr>
                </a:tc>
                <a:tc>
                  <a:txBody>
                    <a:bodyPr/>
                    <a:lstStyle/>
                    <a:p>
                      <a:r>
                        <a:rPr sz="1463" b="0">
                          <a:solidFill>
                            <a:srgbClr val="202C33"/>
                          </a:solidFill>
                          <a:latin typeface="Calibri"/>
                          <a:ea typeface="Calibri"/>
                          <a:cs typeface="Calibri"/>
                        </a:rPr>
                        <a:t>142.4 mm</a:t>
                      </a:r>
                    </a:p>
                  </a:txBody>
                  <a:tcPr>
                    <a:solidFill>
                      <a:srgbClr val="FFFFFF"/>
                    </a:solidFill>
                  </a:tcPr>
                </a:tc>
                <a:extLst>
                  <a:ext uri="{0D108BD9-81ED-4DB2-BD59-A6C34878D82A}">
                    <a16:rowId xmlns:a16="http://schemas.microsoft.com/office/drawing/2014/main" val="10002"/>
                  </a:ext>
                </a:extLst>
              </a:tr>
              <a:tr h="514350">
                <a:tc>
                  <a:txBody>
                    <a:bodyPr/>
                    <a:lstStyle/>
                    <a:p>
                      <a:r>
                        <a:rPr sz="1463" b="0">
                          <a:solidFill>
                            <a:srgbClr val="202C33"/>
                          </a:solidFill>
                          <a:latin typeface="Calibri"/>
                          <a:ea typeface="Calibri"/>
                          <a:cs typeface="Calibri"/>
                        </a:rPr>
                        <a:t>Right TFL mean activation</a:t>
                      </a:r>
                    </a:p>
                  </a:txBody>
                  <a:tcPr>
                    <a:solidFill>
                      <a:srgbClr val="FFFFFF"/>
                    </a:solidFill>
                  </a:tcPr>
                </a:tc>
                <a:tc>
                  <a:txBody>
                    <a:bodyPr/>
                    <a:lstStyle/>
                    <a:p>
                      <a:r>
                        <a:rPr sz="1463" b="0">
                          <a:solidFill>
                            <a:srgbClr val="202C33"/>
                          </a:solidFill>
                          <a:latin typeface="Calibri"/>
                          <a:ea typeface="Calibri"/>
                          <a:cs typeface="Calibri"/>
                        </a:rPr>
                        <a:t>22.3%</a:t>
                      </a:r>
                    </a:p>
                  </a:txBody>
                  <a:tcPr>
                    <a:solidFill>
                      <a:srgbClr val="FFFFFF"/>
                    </a:solidFill>
                  </a:tcPr>
                </a:tc>
                <a:tc>
                  <a:txBody>
                    <a:bodyPr/>
                    <a:lstStyle/>
                    <a:p>
                      <a:r>
                        <a:rPr sz="1463" b="0">
                          <a:solidFill>
                            <a:srgbClr val="202C33"/>
                          </a:solidFill>
                          <a:latin typeface="Calibri"/>
                          <a:ea typeface="Calibri"/>
                          <a:cs typeface="Calibri"/>
                        </a:rPr>
                        <a:t>81.8%</a:t>
                      </a:r>
                    </a:p>
                  </a:txBody>
                  <a:tcPr>
                    <a:solidFill>
                      <a:srgbClr val="FFFFFF"/>
                    </a:solidFill>
                  </a:tcPr>
                </a:tc>
                <a:extLst>
                  <a:ext uri="{0D108BD9-81ED-4DB2-BD59-A6C34878D82A}">
                    <a16:rowId xmlns:a16="http://schemas.microsoft.com/office/drawing/2014/main" val="10003"/>
                  </a:ext>
                </a:extLst>
              </a:tr>
              <a:tr h="500063">
                <a:tc>
                  <a:txBody>
                    <a:bodyPr/>
                    <a:lstStyle/>
                    <a:p>
                      <a:r>
                        <a:rPr sz="1463" b="0">
                          <a:solidFill>
                            <a:srgbClr val="202C33"/>
                          </a:solidFill>
                          <a:latin typeface="Calibri"/>
                          <a:ea typeface="Calibri"/>
                          <a:cs typeface="Calibri"/>
                        </a:rPr>
                        <a:t>Vertical assistance</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tc>
                  <a:txBody>
                    <a:bodyPr/>
                    <a:lstStyle/>
                    <a:p>
                      <a:r>
                        <a:rPr sz="1463" b="0">
                          <a:solidFill>
                            <a:srgbClr val="202C33"/>
                          </a:solidFill>
                          <a:latin typeface="Calibri"/>
                          <a:ea typeface="Calibri"/>
                          <a:cs typeface="Calibri"/>
                        </a:rPr>
                        <a:t>80% BW</a:t>
                      </a:r>
                    </a:p>
                  </a:txBody>
                  <a:tcPr>
                    <a:solidFill>
                      <a:srgbClr val="FFFFFF"/>
                    </a:solidFill>
                  </a:tcPr>
                </a:tc>
                <a:extLst>
                  <a:ext uri="{0D108BD9-81ED-4DB2-BD59-A6C34878D82A}">
                    <a16:rowId xmlns:a16="http://schemas.microsoft.com/office/drawing/2014/main" val="10004"/>
                  </a:ext>
                </a:extLst>
              </a:tr>
              <a:tr h="514350">
                <a:tc>
                  <a:txBody>
                    <a:bodyPr/>
                    <a:lstStyle/>
                    <a:p>
                      <a:r>
                        <a:rPr sz="1463" b="0">
                          <a:solidFill>
                            <a:srgbClr val="202C33"/>
                          </a:solidFill>
                          <a:latin typeface="Calibri"/>
                          <a:ea typeface="Calibri"/>
                          <a:cs typeface="Calibri"/>
                        </a:rPr>
                        <a:t>Sampled opposite-leg penetration</a:t>
                      </a:r>
                    </a:p>
                  </a:txBody>
                  <a:tcPr>
                    <a:solidFill>
                      <a:srgbClr val="FFFFFF"/>
                    </a:solidFill>
                  </a:tcPr>
                </a:tc>
                <a:tc>
                  <a:txBody>
                    <a:bodyPr/>
                    <a:lstStyle/>
                    <a:p>
                      <a:r>
                        <a:rPr sz="1463" b="0">
                          <a:solidFill>
                            <a:srgbClr val="202C33"/>
                          </a:solidFill>
                          <a:latin typeface="Calibri"/>
                          <a:ea typeface="Calibri"/>
                          <a:cs typeface="Calibri"/>
                        </a:rPr>
                        <a:t>2.700 mm</a:t>
                      </a:r>
                    </a:p>
                  </a:txBody>
                  <a:tcPr>
                    <a:solidFill>
                      <a:srgbClr val="FFFFFF"/>
                    </a:solidFill>
                  </a:tcPr>
                </a:tc>
                <a:tc>
                  <a:txBody>
                    <a:bodyPr/>
                    <a:lstStyle/>
                    <a:p>
                      <a:r>
                        <a:rPr sz="1463" b="0">
                          <a:solidFill>
                            <a:srgbClr val="202C33"/>
                          </a:solidFill>
                          <a:latin typeface="Calibri"/>
                          <a:ea typeface="Calibri"/>
                          <a:cs typeface="Calibri"/>
                        </a:rPr>
                        <a:t>0 mm</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A050956-66C5-DB7D-A4FF-38C540FA867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37</a:t>
            </a:r>
          </a:p>
        </p:txBody>
      </p:sp>
    </p:spTree>
    <p:extLst>
      <p:ext uri="{BB962C8B-B14F-4D97-AF65-F5344CB8AC3E}">
        <p14:creationId xmlns:p14="http://schemas.microsoft.com/office/powerpoint/2010/main" val="1226109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51FF8C8B-DDB3-1C56-0981-6C3209B3E4DF}"/>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Reported force comparisons favor the model in the shown cases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18FA923-36EA-63F3-0697-C952F567B19D}"/>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Bolen et al. (2026), Actuators 15(5):230 · Dissertation Ch. 3</a:t>
            </a:r>
          </a:p>
        </p:txBody>
      </p:sp>
      <p:pic>
        <p:nvPicPr>
          <p:cNvPr id="4" name="Picture 3">
            <a:extLst>
              <a:ext uri="{FF2B5EF4-FFF2-40B4-BE49-F238E27FC236}">
                <a16:creationId xmlns:a16="http://schemas.microsoft.com/office/drawing/2014/main" id="{D72FBAF6-D432-707A-5BDD-1773BAF6D413}"/>
              </a:ext>
            </a:extLst>
          </p:cNvPr>
          <p:cNvPicPr>
            <a:picLocks/>
          </p:cNvPicPr>
          <p:nvPr/>
        </p:nvPicPr>
        <p:blipFill>
          <a:blip r:embed="rId3"/>
          <a:stretch/>
        </p:blipFill>
        <p:spPr>
          <a:xfrm>
            <a:off x="976951" y="1117599"/>
            <a:ext cx="7190098" cy="3098800"/>
          </a:xfrm>
          <a:prstGeom prst="rect">
            <a:avLst/>
          </a:prstGeom>
        </p:spPr>
      </p:pic>
      <p:sp>
        <p:nvSpPr>
          <p:cNvPr id="5" name="Rectangle 4">
            <a:extLst>
              <a:ext uri="{FF2B5EF4-FFF2-40B4-BE49-F238E27FC236}">
                <a16:creationId xmlns:a16="http://schemas.microsoft.com/office/drawing/2014/main" id="{358DDF94-FBE8-EE12-48E7-B3E4FA2FF071}"/>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Measured-versus-predicted force at the two displayed actuator lengths</a:t>
            </a:r>
          </a:p>
        </p:txBody>
      </p:sp>
      <p:sp>
        <p:nvSpPr>
          <p:cNvPr id="6" name="TextBox 5">
            <a:extLst>
              <a:ext uri="{FF2B5EF4-FFF2-40B4-BE49-F238E27FC236}">
                <a16:creationId xmlns:a16="http://schemas.microsoft.com/office/drawing/2014/main" id="{427BEE17-FE5A-F172-A124-CB07E026ED7F}"/>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38</a:t>
            </a:r>
          </a:p>
        </p:txBody>
      </p:sp>
    </p:spTree>
    <p:extLst>
      <p:ext uri="{BB962C8B-B14F-4D97-AF65-F5344CB8AC3E}">
        <p14:creationId xmlns:p14="http://schemas.microsoft.com/office/powerpoint/2010/main" val="3682036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2F007D47-371C-41CA-E893-ACDC6B9188A8}"/>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complete IK overlay also exposes contact differences</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71E27241-EA35-F1AA-1BB1-CB3C5C456346}"/>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Dissertation Ch. 6 and Appendix D · Current saved verification records</a:t>
            </a:r>
          </a:p>
        </p:txBody>
      </p:sp>
      <p:pic>
        <p:nvPicPr>
          <p:cNvPr id="4" name="Picture 3">
            <a:extLst>
              <a:ext uri="{FF2B5EF4-FFF2-40B4-BE49-F238E27FC236}">
                <a16:creationId xmlns:a16="http://schemas.microsoft.com/office/drawing/2014/main" id="{496F1C95-4318-22EB-C998-FE7547E2313C}"/>
              </a:ext>
            </a:extLst>
          </p:cNvPr>
          <p:cNvPicPr>
            <a:picLocks/>
          </p:cNvPicPr>
          <p:nvPr/>
        </p:nvPicPr>
        <p:blipFill>
          <a:blip r:embed="rId3"/>
          <a:stretch/>
        </p:blipFill>
        <p:spPr>
          <a:xfrm>
            <a:off x="3254335" y="1143001"/>
            <a:ext cx="2635330" cy="3000375"/>
          </a:xfrm>
          <a:prstGeom prst="rect">
            <a:avLst/>
          </a:prstGeom>
        </p:spPr>
      </p:pic>
      <p:sp>
        <p:nvSpPr>
          <p:cNvPr id="5" name="Rectangle 4">
            <a:extLst>
              <a:ext uri="{FF2B5EF4-FFF2-40B4-BE49-F238E27FC236}">
                <a16:creationId xmlns:a16="http://schemas.microsoft.com/office/drawing/2014/main" id="{7AAD3204-5D7E-F9AF-00B3-04CD6F29260A}"/>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Model mean and standard deviation · OpenSim IK reference</a:t>
            </a:r>
          </a:p>
        </p:txBody>
      </p:sp>
      <p:sp>
        <p:nvSpPr>
          <p:cNvPr id="6" name="TextBox 5">
            <a:extLst>
              <a:ext uri="{FF2B5EF4-FFF2-40B4-BE49-F238E27FC236}">
                <a16:creationId xmlns:a16="http://schemas.microsoft.com/office/drawing/2014/main" id="{62FDBBC5-B0B1-48C7-3E02-E30849E0DACA}"/>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39</a:t>
            </a:r>
          </a:p>
        </p:txBody>
      </p:sp>
    </p:spTree>
    <p:extLst>
      <p:ext uri="{BB962C8B-B14F-4D97-AF65-F5344CB8AC3E}">
        <p14:creationId xmlns:p14="http://schemas.microsoft.com/office/powerpoint/2010/main" val="24716063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3D3F469-CE48-FDEE-FE4F-88633C662E5A}"/>
              </a:ext>
            </a:extLst>
          </p:cNvPr>
          <p:cNvSpPr>
            <a:spLocks noGrp="1"/>
          </p:cNvSpPr>
          <p:nvPr/>
        </p:nvSpPr>
        <p:spPr>
          <a:xfrm>
            <a:off x="107156" y="214313"/>
            <a:ext cx="7715250"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The saved AH001 replay shows supported hybrid motion</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D4389EAC-D37A-B521-95A0-4F14AE05F914}"/>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sz="788" b="0">
                <a:solidFill>
                  <a:srgbClr val="53616A"/>
                </a:solidFill>
                <a:latin typeface="Calibri"/>
                <a:ea typeface="Calibri"/>
                <a:cs typeface="Calibri"/>
              </a:rPr>
              <a:t>AH001_20261028/asset_provenance.json · saved 20–32 s interval</a:t>
            </a:r>
          </a:p>
        </p:txBody>
      </p:sp>
      <p:pic>
        <p:nvPicPr>
          <p:cNvPr id="4" name="Picture 3">
            <a:extLst>
              <a:ext uri="{FF2B5EF4-FFF2-40B4-BE49-F238E27FC236}">
                <a16:creationId xmlns:a16="http://schemas.microsoft.com/office/drawing/2014/main" id="{77B7CDD6-FBAA-0700-BCDF-0AEF6D233DF2}"/>
              </a:ext>
            </a:extLst>
          </p:cNvPr>
          <p:cNvPicPr>
            <a:picLocks/>
          </p:cNvPicPr>
          <p:nvPr/>
        </p:nvPicPr>
        <p:blipFill>
          <a:blip r:embed="rId3"/>
          <a:stretch/>
        </p:blipFill>
        <p:spPr>
          <a:xfrm>
            <a:off x="2347319" y="1250156"/>
            <a:ext cx="4449366" cy="2966244"/>
          </a:xfrm>
          <a:prstGeom prst="rect">
            <a:avLst/>
          </a:prstGeom>
        </p:spPr>
      </p:pic>
      <p:sp>
        <p:nvSpPr>
          <p:cNvPr id="5" name="Rectangle 4">
            <a:extLst>
              <a:ext uri="{FF2B5EF4-FFF2-40B4-BE49-F238E27FC236}">
                <a16:creationId xmlns:a16="http://schemas.microsoft.com/office/drawing/2014/main" id="{08E328AB-E311-CD04-C5AE-12FD66A276DD}"/>
              </a:ext>
            </a:extLst>
          </p:cNvPr>
          <p:cNvSpPr>
            <a:spLocks noGrp="1"/>
          </p:cNvSpPr>
          <p:nvPr/>
        </p:nvSpPr>
        <p:spPr>
          <a:xfrm>
            <a:off x="428625" y="4279900"/>
            <a:ext cx="8286750" cy="254000"/>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350" b="1">
                <a:solidFill>
                  <a:srgbClr val="006D77"/>
                </a:solidFill>
                <a:latin typeface="Calibri"/>
                <a:ea typeface="Calibri"/>
                <a:cs typeface="Calibri"/>
              </a:rPr>
              <a:t>Optional 12-second replay · same supported-control diagnostic</a:t>
            </a:r>
          </a:p>
        </p:txBody>
      </p:sp>
      <p:sp>
        <p:nvSpPr>
          <p:cNvPr id="6" name="TextBox 5">
            <a:extLst>
              <a:ext uri="{FF2B5EF4-FFF2-40B4-BE49-F238E27FC236}">
                <a16:creationId xmlns:a16="http://schemas.microsoft.com/office/drawing/2014/main" id="{D1C094C8-D71D-2766-A144-FA6FDD7C38BC}"/>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40</a:t>
            </a:r>
          </a:p>
        </p:txBody>
      </p:sp>
    </p:spTree>
    <p:extLst>
      <p:ext uri="{BB962C8B-B14F-4D97-AF65-F5344CB8AC3E}">
        <p14:creationId xmlns:p14="http://schemas.microsoft.com/office/powerpoint/2010/main" val="1718106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2" name="Rectangle 1">
            <a:extLst>
              <a:ext uri="{FF2B5EF4-FFF2-40B4-BE49-F238E27FC236}">
                <a16:creationId xmlns:a16="http://schemas.microsoft.com/office/drawing/2014/main" id="{8D628C7B-F8E0-7503-1898-3863AE557674}"/>
              </a:ext>
            </a:extLst>
          </p:cNvPr>
          <p:cNvSpPr>
            <a:spLocks noGrp="1"/>
          </p:cNvSpPr>
          <p:nvPr/>
        </p:nvSpPr>
        <p:spPr>
          <a:xfrm>
            <a:off x="128589" y="178594"/>
            <a:ext cx="7572375" cy="800100"/>
          </a:xfrm>
          <a:prstGeom prst="rect">
            <a:avLst/>
          </a:prstGeom>
          <a:noFill/>
          <a:ln w="0">
            <a:noFill/>
          </a:ln>
        </p:spPr>
        <p:txBody>
          <a:bodyPr lIns="0" tIns="0" rIns="0" bIns="0" anchor="t"/>
          <a:lstStyle>
            <a:defPPr>
              <a:defRPr sz="3225" b="0">
                <a:solidFill>
                  <a:srgbClr val="B57C50"/>
                </a:solidFill>
                <a:latin typeface="Calibri"/>
                <a:ea typeface="Calibri"/>
                <a:cs typeface="Calibri"/>
              </a:defRPr>
            </a:defPPr>
            <a:lvl1pPr>
              <a:defRPr sz="3225" b="0">
                <a:solidFill>
                  <a:srgbClr val="B57C50"/>
                </a:solidFill>
                <a:latin typeface="Calibri"/>
                <a:ea typeface="Calibri"/>
                <a:cs typeface="Calibri"/>
              </a:defRPr>
            </a:lvl1pPr>
            <a:lvl2pPr>
              <a:defRPr sz="3225" b="0">
                <a:solidFill>
                  <a:srgbClr val="B57C50"/>
                </a:solidFill>
                <a:latin typeface="Calibri"/>
                <a:ea typeface="Calibri"/>
                <a:cs typeface="Calibri"/>
              </a:defRPr>
            </a:lvl2pPr>
            <a:lvl3pPr>
              <a:defRPr sz="3225" b="0">
                <a:solidFill>
                  <a:srgbClr val="B57C50"/>
                </a:solidFill>
                <a:latin typeface="Calibri"/>
                <a:ea typeface="Calibri"/>
                <a:cs typeface="Calibri"/>
              </a:defRPr>
            </a:lvl3pPr>
            <a:lvl4pPr>
              <a:defRPr sz="3225" b="0">
                <a:solidFill>
                  <a:srgbClr val="B57C50"/>
                </a:solidFill>
                <a:latin typeface="Calibri"/>
                <a:ea typeface="Calibri"/>
                <a:cs typeface="Calibri"/>
              </a:defRPr>
            </a:lvl4pPr>
            <a:lvl5pPr>
              <a:defRPr sz="3225" b="0">
                <a:solidFill>
                  <a:srgbClr val="B57C50"/>
                </a:solidFill>
                <a:latin typeface="Calibri"/>
                <a:ea typeface="Calibri"/>
                <a:cs typeface="Calibri"/>
              </a:defRPr>
            </a:lvl5pPr>
            <a:lvl6pPr>
              <a:defRPr sz="3225" b="0">
                <a:solidFill>
                  <a:srgbClr val="B57C50"/>
                </a:solidFill>
                <a:latin typeface="Calibri"/>
                <a:ea typeface="Calibri"/>
                <a:cs typeface="Calibri"/>
              </a:defRPr>
            </a:lvl6pPr>
            <a:lvl7pPr>
              <a:defRPr sz="3225" b="0">
                <a:solidFill>
                  <a:srgbClr val="B57C50"/>
                </a:solidFill>
                <a:latin typeface="Calibri"/>
                <a:ea typeface="Calibri"/>
                <a:cs typeface="Calibri"/>
              </a:defRPr>
            </a:lvl7pPr>
            <a:lvl8pPr>
              <a:defRPr sz="3225" b="0">
                <a:solidFill>
                  <a:srgbClr val="B57C50"/>
                </a:solidFill>
                <a:latin typeface="Calibri"/>
                <a:ea typeface="Calibri"/>
                <a:cs typeface="Calibri"/>
              </a:defRPr>
            </a:lvl8pPr>
            <a:lvl9pPr>
              <a:defRPr sz="3225" b="0">
                <a:solidFill>
                  <a:srgbClr val="B57C50"/>
                </a:solidFill>
                <a:latin typeface="Calibri"/>
                <a:ea typeface="Calibri"/>
                <a:cs typeface="Calibri"/>
              </a:defRPr>
            </a:lvl9pPr>
          </a:lstStyle>
          <a:p>
            <a:pPr>
              <a:defRPr sz="3225" b="0">
                <a:solidFill>
                  <a:srgbClr val="B57C50"/>
                </a:solidFill>
                <a:latin typeface="Calibri"/>
                <a:ea typeface="Calibri"/>
                <a:cs typeface="Calibri"/>
              </a:defRPr>
            </a:pPr>
            <a:r>
              <a:rPr lang="en-US" sz="2419" b="1">
                <a:solidFill>
                  <a:srgbClr val="B57C50"/>
                </a:solidFill>
                <a:latin typeface="Calibri"/>
                <a:ea typeface="Calibri"/>
                <a:cs typeface="Calibri"/>
              </a:rPr>
              <a:t>Changing neural encoding changes rhythm timing</a:t>
            </a:r>
            <a:endParaRPr sz="2419" b="1">
              <a:solidFill>
                <a:srgbClr val="B57C50"/>
              </a:solidFill>
              <a:latin typeface="Calibri"/>
              <a:ea typeface="Calibri"/>
              <a:cs typeface="Calibri"/>
            </a:endParaRPr>
          </a:p>
        </p:txBody>
      </p:sp>
      <p:sp>
        <p:nvSpPr>
          <p:cNvPr id="3" name="Rectangle 2">
            <a:extLst>
              <a:ext uri="{FF2B5EF4-FFF2-40B4-BE49-F238E27FC236}">
                <a16:creationId xmlns:a16="http://schemas.microsoft.com/office/drawing/2014/main" id="{58DB76AB-50D8-6D67-E827-89F4F786C2C0}"/>
              </a:ext>
            </a:extLst>
          </p:cNvPr>
          <p:cNvSpPr>
            <a:spLocks noGrp="1"/>
          </p:cNvSpPr>
          <p:nvPr/>
        </p:nvSpPr>
        <p:spPr>
          <a:xfrm>
            <a:off x="321470" y="4579145"/>
            <a:ext cx="8429625" cy="142875"/>
          </a:xfrm>
          <a:prstGeom prst="rect">
            <a:avLst/>
          </a:prstGeom>
          <a:noFill/>
          <a:ln w="0">
            <a:noFill/>
          </a:ln>
        </p:spPr>
        <p:txBody>
          <a:bodyPr lIns="0" tIns="0" rIns="0" bIns="0" anchor="t"/>
          <a:lstStyle>
            <a:defPPr>
              <a:defRPr sz="1050" b="0">
                <a:solidFill>
                  <a:srgbClr val="53616A"/>
                </a:solidFill>
                <a:latin typeface="Calibri"/>
                <a:ea typeface="Calibri"/>
                <a:cs typeface="Calibri"/>
              </a:defRPr>
            </a:defPPr>
            <a:lvl1pPr>
              <a:defRPr sz="1050" b="0">
                <a:solidFill>
                  <a:srgbClr val="53616A"/>
                </a:solidFill>
                <a:latin typeface="Calibri"/>
                <a:ea typeface="Calibri"/>
                <a:cs typeface="Calibri"/>
              </a:defRPr>
            </a:lvl1pPr>
            <a:lvl2pPr>
              <a:defRPr sz="1050" b="0">
                <a:solidFill>
                  <a:srgbClr val="53616A"/>
                </a:solidFill>
                <a:latin typeface="Calibri"/>
                <a:ea typeface="Calibri"/>
                <a:cs typeface="Calibri"/>
              </a:defRPr>
            </a:lvl2pPr>
            <a:lvl3pPr>
              <a:defRPr sz="1050" b="0">
                <a:solidFill>
                  <a:srgbClr val="53616A"/>
                </a:solidFill>
                <a:latin typeface="Calibri"/>
                <a:ea typeface="Calibri"/>
                <a:cs typeface="Calibri"/>
              </a:defRPr>
            </a:lvl3pPr>
            <a:lvl4pPr>
              <a:defRPr sz="1050" b="0">
                <a:solidFill>
                  <a:srgbClr val="53616A"/>
                </a:solidFill>
                <a:latin typeface="Calibri"/>
                <a:ea typeface="Calibri"/>
                <a:cs typeface="Calibri"/>
              </a:defRPr>
            </a:lvl4pPr>
            <a:lvl5pPr>
              <a:defRPr sz="1050" b="0">
                <a:solidFill>
                  <a:srgbClr val="53616A"/>
                </a:solidFill>
                <a:latin typeface="Calibri"/>
                <a:ea typeface="Calibri"/>
                <a:cs typeface="Calibri"/>
              </a:defRPr>
            </a:lvl5pPr>
            <a:lvl6pPr>
              <a:defRPr sz="1050" b="0">
                <a:solidFill>
                  <a:srgbClr val="53616A"/>
                </a:solidFill>
                <a:latin typeface="Calibri"/>
                <a:ea typeface="Calibri"/>
                <a:cs typeface="Calibri"/>
              </a:defRPr>
            </a:lvl6pPr>
            <a:lvl7pPr>
              <a:defRPr sz="1050" b="0">
                <a:solidFill>
                  <a:srgbClr val="53616A"/>
                </a:solidFill>
                <a:latin typeface="Calibri"/>
                <a:ea typeface="Calibri"/>
                <a:cs typeface="Calibri"/>
              </a:defRPr>
            </a:lvl7pPr>
            <a:lvl8pPr>
              <a:defRPr sz="1050" b="0">
                <a:solidFill>
                  <a:srgbClr val="53616A"/>
                </a:solidFill>
                <a:latin typeface="Calibri"/>
                <a:ea typeface="Calibri"/>
                <a:cs typeface="Calibri"/>
              </a:defRPr>
            </a:lvl8pPr>
            <a:lvl9pPr>
              <a:defRPr sz="1050" b="0">
                <a:solidFill>
                  <a:srgbClr val="53616A"/>
                </a:solidFill>
                <a:latin typeface="Calibri"/>
                <a:ea typeface="Calibri"/>
                <a:cs typeface="Calibri"/>
              </a:defRPr>
            </a:lvl9pPr>
          </a:lstStyle>
          <a:p>
            <a:pPr>
              <a:defRPr sz="1050" b="0">
                <a:solidFill>
                  <a:srgbClr val="53616A"/>
                </a:solidFill>
                <a:latin typeface="Calibri"/>
                <a:ea typeface="Calibri"/>
                <a:cs typeface="Calibri"/>
              </a:defRPr>
            </a:pPr>
            <a:r>
              <a:rPr lang="en-US" sz="788" b="0">
                <a:solidFill>
                  <a:srgbClr val="53616A"/>
                </a:solidFill>
                <a:latin typeface="Calibri"/>
                <a:ea typeface="Calibri"/>
                <a:cs typeface="Calibri"/>
              </a:rPr>
              <a:t>7 · Literature circuits and variants · Dissertation Table 6.1</a:t>
            </a:r>
            <a:endParaRPr sz="788" b="0">
              <a:solidFill>
                <a:srgbClr val="53616A"/>
              </a:solidFill>
              <a:latin typeface="Calibri"/>
              <a:ea typeface="Calibri"/>
              <a:cs typeface="Calibri"/>
            </a:endParaRPr>
          </a:p>
        </p:txBody>
      </p:sp>
      <p:pic>
        <p:nvPicPr>
          <p:cNvPr id="4" name="Picture 3">
            <a:extLst>
              <a:ext uri="{FF2B5EF4-FFF2-40B4-BE49-F238E27FC236}">
                <a16:creationId xmlns:a16="http://schemas.microsoft.com/office/drawing/2014/main" id="{8D4B558D-A266-79E4-6858-0D8BB2FE8A09}"/>
              </a:ext>
            </a:extLst>
          </p:cNvPr>
          <p:cNvPicPr>
            <a:picLocks/>
          </p:cNvPicPr>
          <p:nvPr/>
        </p:nvPicPr>
        <p:blipFill>
          <a:blip r:embed="rId3"/>
          <a:stretch/>
        </p:blipFill>
        <p:spPr>
          <a:xfrm>
            <a:off x="2253716" y="1035844"/>
            <a:ext cx="4636568" cy="3214688"/>
          </a:xfrm>
          <a:prstGeom prst="rect">
            <a:avLst/>
          </a:prstGeom>
        </p:spPr>
      </p:pic>
      <p:sp>
        <p:nvSpPr>
          <p:cNvPr id="5" name="Rectangle 4">
            <a:extLst>
              <a:ext uri="{FF2B5EF4-FFF2-40B4-BE49-F238E27FC236}">
                <a16:creationId xmlns:a16="http://schemas.microsoft.com/office/drawing/2014/main" id="{D072BC9C-890B-32F6-8931-352D9AA0968B}"/>
              </a:ext>
            </a:extLst>
          </p:cNvPr>
          <p:cNvSpPr>
            <a:spLocks noGrp="1"/>
          </p:cNvSpPr>
          <p:nvPr/>
        </p:nvSpPr>
        <p:spPr>
          <a:xfrm>
            <a:off x="392907" y="4307681"/>
            <a:ext cx="8429625" cy="250031"/>
          </a:xfrm>
          <a:prstGeom prst="rect">
            <a:avLst/>
          </a:prstGeom>
          <a:noFill/>
          <a:ln w="0">
            <a:noFill/>
          </a:ln>
        </p:spPr>
        <p:txBody>
          <a:bodyPr lIns="0" tIns="0" rIns="0" bIns="0" anchor="t"/>
          <a:lstStyle>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a:pPr>
              <a:defRPr sz="2100" b="1">
                <a:solidFill>
                  <a:srgbClr val="006D77"/>
                </a:solidFill>
                <a:latin typeface="Calibri"/>
                <a:ea typeface="Calibri"/>
                <a:cs typeface="Calibri"/>
              </a:defRPr>
            </a:pPr>
            <a:r>
              <a:rPr sz="1575" b="1">
                <a:solidFill>
                  <a:srgbClr val="006D77"/>
                </a:solidFill>
                <a:latin typeface="Calibri"/>
                <a:ea typeface="Calibri"/>
                <a:cs typeface="Calibri"/>
              </a:rPr>
              <a:t>0.399 s non-spiking → 0.621 s spiking · 55.6% longer</a:t>
            </a:r>
          </a:p>
        </p:txBody>
      </p:sp>
      <p:sp>
        <p:nvSpPr>
          <p:cNvPr id="6" name="TextBox 5">
            <a:extLst>
              <a:ext uri="{FF2B5EF4-FFF2-40B4-BE49-F238E27FC236}">
                <a16:creationId xmlns:a16="http://schemas.microsoft.com/office/drawing/2014/main" id="{5DAFD30E-6CD8-A6C1-4BD4-885FCB9602E1}"/>
              </a:ext>
            </a:extLst>
          </p:cNvPr>
          <p:cNvSpPr txBox="1"/>
          <p:nvPr/>
        </p:nvSpPr>
        <p:spPr>
          <a:xfrm>
            <a:off x="8877300" y="4762500"/>
            <a:ext cx="266700" cy="215444"/>
          </a:xfrm>
          <a:prstGeom prst="rect">
            <a:avLst/>
          </a:prstGeom>
          <a:noFill/>
        </p:spPr>
        <p:txBody>
          <a:bodyPr vert="horz" lIns="0" tIns="0" rIns="0" rtlCol="0">
            <a:spAutoFit/>
          </a:bodyPr>
          <a:lstStyle/>
          <a:p>
            <a:r>
              <a:rPr lang="en-US" sz="1100">
                <a:solidFill>
                  <a:srgbClr val="FFFFFF"/>
                </a:solidFill>
              </a:rPr>
              <a:t>41</a:t>
            </a:r>
          </a:p>
        </p:txBody>
      </p:sp>
    </p:spTree>
    <p:extLst>
      <p:ext uri="{BB962C8B-B14F-4D97-AF65-F5344CB8AC3E}">
        <p14:creationId xmlns:p14="http://schemas.microsoft.com/office/powerpoint/2010/main" val="360044456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3958</Words>
  <Application>Microsoft Office PowerPoint</Application>
  <PresentationFormat>On-screen Show (16:9)</PresentationFormat>
  <Paragraphs>492</Paragraphs>
  <Slides>41</Slides>
  <Notes>41</Notes>
  <HiddenSlides>15</HiddenSlides>
  <MMClips>1</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41</vt:i4>
      </vt:variant>
    </vt:vector>
  </HeadingPairs>
  <TitlesOfParts>
    <vt:vector size="46" baseType="lpstr">
      <vt:lpstr>Calibri</vt:lpstr>
      <vt:lpstr>Times New Roman</vt:lpstr>
      <vt:lpstr>Arial</vt:lpstr>
      <vt:lpstr>Simple Light</vt:lpstr>
      <vt:lpstr>Office Theme</vt:lpstr>
      <vt:lpstr>Movement and Control of Biomimetic Humanoid Robots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Ben Bolen</cp:lastModifiedBy>
  <cp:revision>6</cp:revision>
  <dcterms:modified xsi:type="dcterms:W3CDTF">2026-10-30T06:46:16Z</dcterms:modified>
</cp:coreProperties>
</file>