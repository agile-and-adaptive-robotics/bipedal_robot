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solidFill>
                  <a:srgbClr val="595959"/>
                </a:solidFill>
                <a:latin typeface="Calibri"/>
              </a:rPr>
              <a:t>φ10 mm at l₀ = 112 mm, 620 kPa:  isometric force (N)</a:t>
            </a:r>
          </a:p>
        </c:rich>
      </c:tx>
      <c:layout/>
      <c:overlay val="0"/>
    </c:title>
    <c:autoTitleDeleted val="0"/>
    <c:plotArea>
      <c:barChart>
        <c:barDir val="col"/>
        <c:grouping val="clustered"/>
        <c:varyColors val="0"/>
        <c:ser>
          <c:idx val="0"/>
          <c:order val="0"/>
          <c:tx>
            <c:strRef>
              <c:f>Sheet1!$B$1</c:f>
              <c:strCache>
                <c:ptCount val="1"/>
                <c:pt idx="0">
                  <c:v>s</c:v>
                </c:pt>
              </c:strCache>
            </c:strRef>
          </c:tx>
          <c:dPt>
            <c:idx val="0"/>
            <c:spPr>
              <a:solidFill>
                <a:srgbClr val="00796B"/>
              </a:solidFill>
            </c:spPr>
          </c:dPt>
          <c:dPt>
            <c:idx val="1"/>
            <c:spPr>
              <a:solidFill>
                <a:srgbClr val="38761D"/>
              </a:solidFill>
            </c:spPr>
          </c:dPt>
          <c:dPt>
            <c:idx val="2"/>
            <c:spPr>
              <a:solidFill>
                <a:srgbClr val="C00000"/>
              </a:solidFill>
            </c:spPr>
          </c:dPt>
          <c:cat>
            <c:strRef>
              <c:f>Sheet1!$A$2:$A$4</c:f>
              <c:strCache>
                <c:ptCount val="3"/>
                <c:pt idx="0">
                  <c:v>Measured</c:v>
                </c:pt>
                <c:pt idx="1">
                  <c:v>Our model</c:v>
                </c:pt>
                <c:pt idx="2">
                  <c:v>Festo tool</c:v>
                </c:pt>
              </c:strCache>
            </c:strRef>
          </c:cat>
          <c:val>
            <c:numRef>
              <c:f>Sheet1!$B$2:$B$4</c:f>
              <c:numCache>
                <c:formatCode>General</c:formatCode>
                <c:ptCount val="3"/>
                <c:pt idx="0">
                  <c:v>350.9</c:v>
                </c:pt>
                <c:pt idx="1">
                  <c:v>335.3</c:v>
                </c:pt>
                <c:pt idx="2">
                  <c:v>498.6</c:v>
                </c:pt>
              </c:numCache>
            </c:numRef>
          </c:val>
        </c:ser>
        <c:dLbls>
          <c:numFmt formatCode="0.0" sourceLinked="0"/>
          <c:txPr>
            <a:bodyPr/>
            <a:lstStyle/>
            <a:p>
              <a:pPr>
                <a:defRPr sz="1300" b="1">
                  <a:solidFill>
                    <a:srgbClr val="222222"/>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D9D4CE"/>
            </a:solidFill>
          </a:ln>
        </c:spPr>
        <c:txPr>
          <a:bodyPr/>
          <a:lstStyle/>
          <a:p>
            <a:pPr>
              <a:defRPr sz="1300">
                <a:solidFill>
                  <a:srgbClr val="222222"/>
                </a:solidFill>
                <a:latin typeface="Calibri"/>
              </a:defRPr>
            </a:pPr>
          </a:p>
        </c:txPr>
        <c:crossAx val="-2113994440"/>
        <c:crosses val="autoZero"/>
        <c:auto val="1"/>
        <c:lblAlgn val="ctr"/>
        <c:lblOffset val="100"/>
        <c:noMultiLvlLbl val="0"/>
      </c:catAx>
      <c:valAx>
        <c:axId val="-2113994440"/>
        <c:scaling>
          <c:max val="600.0"/>
        </c:scaling>
        <c:delete/>
        <c:axPos val="l"/>
        <c:majorTickMark val="none"/>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solidFill>
                  <a:srgbClr val="595959"/>
                </a:solidFill>
                <a:latin typeface="Calibri"/>
              </a:rPr>
              <a:t>per-test torque RMSE at adopted χ values (N·m)</a:t>
            </a:r>
          </a:p>
        </c:rich>
      </c:tx>
      <c:layout/>
      <c:overlay val="0"/>
    </c:title>
    <c:autoTitleDeleted val="0"/>
    <c:plotArea>
      <c:barChart>
        <c:barDir val="col"/>
        <c:grouping val="clustered"/>
        <c:varyColors val="0"/>
        <c:ser>
          <c:idx val="0"/>
          <c:order val="0"/>
          <c:tx>
            <c:strRef>
              <c:f>Sheet1!$B$1</c:f>
              <c:strCache>
                <c:ptCount val="1"/>
                <c:pt idx="0">
                  <c:v>s</c:v>
                </c:pt>
              </c:strCache>
            </c:strRef>
          </c:tx>
          <c:dPt>
            <c:idx val="0"/>
            <c:spPr>
              <a:solidFill>
                <a:srgbClr val="38761D"/>
              </a:solidFill>
            </c:spPr>
          </c:dPt>
          <c:dPt>
            <c:idx val="1"/>
            <c:spPr>
              <a:solidFill>
                <a:srgbClr val="38761D"/>
              </a:solidFill>
            </c:spPr>
          </c:dPt>
          <c:dPt>
            <c:idx val="2"/>
            <c:spPr>
              <a:solidFill>
                <a:srgbClr val="00796B"/>
              </a:solidFill>
            </c:spPr>
          </c:dPt>
          <c:dPt>
            <c:idx val="3"/>
            <c:spPr>
              <a:solidFill>
                <a:srgbClr val="00796B"/>
              </a:solidFill>
            </c:spPr>
          </c:dPt>
          <c:cat>
            <c:strRef>
              <c:f>Sheet1!$A$2:$A$5</c:f>
              <c:strCache>
                <c:ptCount val="4"/>
                <c:pt idx="0">
                  <c:v>48.5 cm (train)</c:v>
                </c:pt>
                <c:pt idx="1">
                  <c:v>41.0 cm (train)</c:v>
                </c:pt>
                <c:pt idx="2">
                  <c:v>45.7 cm (val)</c:v>
                </c:pt>
                <c:pt idx="3">
                  <c:v>40.6 cm-t (val)</c:v>
                </c:pt>
              </c:strCache>
            </c:strRef>
          </c:cat>
          <c:val>
            <c:numRef>
              <c:f>Sheet1!$B$2:$B$5</c:f>
              <c:numCache>
                <c:formatCode>General</c:formatCode>
                <c:ptCount val="4"/>
                <c:pt idx="0">
                  <c:v>2.165</c:v>
                </c:pt>
                <c:pt idx="1">
                  <c:v>1.084</c:v>
                </c:pt>
                <c:pt idx="2">
                  <c:v>1.368</c:v>
                </c:pt>
                <c:pt idx="3">
                  <c:v>1.611</c:v>
                </c:pt>
              </c:numCache>
            </c:numRef>
          </c:val>
        </c:ser>
        <c:dLbls>
          <c:numFmt formatCode="0.000" sourceLinked="0"/>
          <c:txPr>
            <a:bodyPr/>
            <a:lstStyle/>
            <a:p>
              <a:pPr>
                <a:defRPr sz="1300" b="1">
                  <a:solidFill>
                    <a:srgbClr val="222222"/>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D9D4CE"/>
            </a:solidFill>
          </a:ln>
        </c:spPr>
        <c:txPr>
          <a:bodyPr/>
          <a:lstStyle/>
          <a:p>
            <a:pPr>
              <a:defRPr sz="1300">
                <a:solidFill>
                  <a:srgbClr val="222222"/>
                </a:solidFill>
                <a:latin typeface="Calibri"/>
              </a:defRPr>
            </a:pPr>
          </a:p>
        </c:txPr>
        <c:crossAx val="-2113994440"/>
        <c:crosses val="autoZero"/>
        <c:auto val="1"/>
        <c:lblAlgn val="ctr"/>
        <c:lblOffset val="100"/>
        <c:noMultiLvlLbl val="0"/>
      </c:catAx>
      <c:valAx>
        <c:axId val="-2113994440"/>
        <c:scaling>
          <c:max val="2.6"/>
        </c:scaling>
        <c:delete/>
        <c:axPos val="l"/>
        <c:majorTickMark val="none"/>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solidFill>
                  <a:srgbClr val="595959"/>
                </a:solidFill>
                <a:latin typeface="Calibri"/>
              </a:rPr>
              <a:t>coverage of the 561 retained papers (records carrying each field)</a:t>
            </a:r>
          </a:p>
        </c:rich>
      </c:tx>
      <c:layout/>
      <c:overlay val="0"/>
    </c:title>
    <c:autoTitleDeleted val="0"/>
    <c:plotArea>
      <c:barChart>
        <c:barDir val="col"/>
        <c:grouping val="clustered"/>
        <c:varyColors val="0"/>
        <c:ser>
          <c:idx val="0"/>
          <c:order val="0"/>
          <c:tx>
            <c:strRef>
              <c:f>Sheet1!$B$1</c:f>
              <c:strCache>
                <c:ptCount val="1"/>
                <c:pt idx="0">
                  <c:v>s</c:v>
                </c:pt>
              </c:strCache>
            </c:strRef>
          </c:tx>
          <c:dPt>
            <c:idx val="0"/>
            <c:spPr>
              <a:solidFill>
                <a:srgbClr val="38761D"/>
              </a:solidFill>
            </c:spPr>
          </c:dPt>
          <c:dPt>
            <c:idx val="1"/>
            <c:spPr>
              <a:solidFill>
                <a:srgbClr val="38761D"/>
              </a:solidFill>
            </c:spPr>
          </c:dPt>
          <c:dPt>
            <c:idx val="2"/>
            <c:spPr>
              <a:solidFill>
                <a:srgbClr val="38761D"/>
              </a:solidFill>
            </c:spPr>
          </c:dPt>
          <c:dPt>
            <c:idx val="3"/>
            <c:spPr>
              <a:solidFill>
                <a:srgbClr val="6AA84F"/>
              </a:solidFill>
            </c:spPr>
          </c:dPt>
          <c:dPt>
            <c:idx val="4"/>
            <c:spPr>
              <a:solidFill>
                <a:srgbClr val="6AA84F"/>
              </a:solidFill>
            </c:spPr>
          </c:dPt>
          <c:dPt>
            <c:idx val="5"/>
            <c:spPr>
              <a:solidFill>
                <a:srgbClr val="6AA84F"/>
              </a:solidFill>
            </c:spPr>
          </c:dPt>
          <c:cat>
            <c:strRef>
              <c:f>Sheet1!$A$2:$A$7</c:f>
              <c:strCache>
                <c:ptCount val="6"/>
                <c:pt idx="0">
                  <c:v>notes</c:v>
                </c:pt>
                <c:pt idx="1">
                  <c:v>animal-
prep</c:v>
                </c:pt>
                <c:pt idx="2">
                  <c:v>transla-
tion</c:v>
                </c:pt>
                <c:pt idx="3">
                  <c:v>animal-
study</c:v>
                </c:pt>
                <c:pt idx="4">
                  <c:v>pathway-
linked</c:v>
                </c:pt>
                <c:pt idx="5">
                  <c:v>afferent
class</c:v>
                </c:pt>
              </c:strCache>
            </c:strRef>
          </c:cat>
          <c:val>
            <c:numRef>
              <c:f>Sheet1!$B$2:$B$7</c:f>
              <c:numCache>
                <c:formatCode>General</c:formatCode>
                <c:ptCount val="6"/>
                <c:pt idx="0">
                  <c:v>523</c:v>
                </c:pt>
                <c:pt idx="1">
                  <c:v>426</c:v>
                </c:pt>
                <c:pt idx="2">
                  <c:v>258</c:v>
                </c:pt>
                <c:pt idx="3">
                  <c:v>240</c:v>
                </c:pt>
                <c:pt idx="4">
                  <c:v>118</c:v>
                </c:pt>
                <c:pt idx="5">
                  <c:v>86</c:v>
                </c:pt>
              </c:numCache>
            </c:numRef>
          </c:val>
        </c:ser>
        <c:dLbls>
          <c:numFmt formatCode="0" sourceLinked="0"/>
          <c:txPr>
            <a:bodyPr/>
            <a:lstStyle/>
            <a:p>
              <a:pPr>
                <a:defRPr sz="1200" b="1">
                  <a:solidFill>
                    <a:srgbClr val="222222"/>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D9D4CE"/>
            </a:solidFill>
          </a:ln>
        </c:spPr>
        <c:txPr>
          <a:bodyPr/>
          <a:lstStyle/>
          <a:p>
            <a:pPr>
              <a:defRPr sz="1100">
                <a:solidFill>
                  <a:srgbClr val="222222"/>
                </a:solidFill>
                <a:latin typeface="Calibri"/>
              </a:defRPr>
            </a:pPr>
          </a:p>
        </c:txPr>
        <c:crossAx val="-2113994440"/>
        <c:crosses val="autoZero"/>
        <c:auto val="1"/>
        <c:lblAlgn val="ctr"/>
        <c:lblOffset val="100"/>
        <c:noMultiLvlLbl val="0"/>
      </c:catAx>
      <c:valAx>
        <c:axId val="-2113994440"/>
        <c:scaling>
          <c:max val="561.0"/>
        </c:scaling>
        <c:delete/>
        <c:axPos val="l"/>
        <c:majorTickMark val="none"/>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Committee members, thank you for reading the dissertation. Today: four objectives - characterize the actuator, validate and correct the joint torque prediction, consolidate the afferent literature, and build the verified control toolchain - connecting one actuator to a walking, neurally controlled robot. Anticipated question: why does the title say 'movement and control' rather than a single topic? Answer: the dissertation spans actuator to controller, and the title follows the program it serves (Ch. 1, sec.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per objective, mirroring Ch. 1 sec 1.3: objective 1 (Ch. 3) is published as Bolen et al. 2026, Actuators; objective 2 (Ch. 4) stands on the isometric torque manuscript; objective 3 (Ch. 5) is the Sensory Afferent Database; objective 4 (Ch. 6-7) is the simulation toolchain with its cross-engine verification. Anticipated question: which objectives are experimental? Answer: objectives 1-2 are hardware experiments on the jig and the knee stands; objective 3 is literature curation; objective 4 is simulation tooling - the same split the introduction states (first two gaps addressed experimentally, the fourth resolved by the database, the third closed by the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committee: this dissertation is the actuator-and-joint foundation of the AARL humanoid program (Ch. 1, sec. 1.2). The converted model shown carries all 92 muscle-tendon actuators (Ch. 6). Anticipated question: what did the master's work establish? Answer: Gait2392-matched kinematics and muscle-routing tools - and the finding that transplanting human attachments onto a BPA robot does not reproduce human torque profiles, which motivates the placement optimization completed in Ch.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biology professor on the committee will recognize this loop: model, perturb, understand. The experiments listed are the ones the introduction names (Ch. 1, sec. 1.1). Anticipated question: why physical robots rather than simulation-only studies? Answer: musculoskeletal humanoids and limb systems support experiments on internal force transmission and hardware realities that simulation assumes away; the two are complementary.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Sets up gap 1. Force peaks AT resting length - unlike a biological muscle whose optimum is mid-range (Ch. 3, biomimetic-analogy discussion). Anticipated question: why BPAs rather than electric actuators? Answer: low mass, high force-to-weight, intrinsic compliance, tension-only operation, and a qualitatively muscle-like force-length curve (Ch. 1, sec. 1.1) - the costs are the modeling issues on the right, which Ch. 3 quantifies.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gaps are the introduction's own summary (Ch. 1, sec. 1.1, closing paragraph). Anticipated question: why is gap 4 in the literature rather than in methods? Answer: the physiological properties of the Ia, Ib, and group II afferents that should inform feedback design are scattered across hundreds of primary papers and reviews with no structured resource - the dissertation resolves it by consolidation (the SADb) and closes gap 3 with the tools, while gaps 1-2 are addressed experimentally.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slide - one breath. The point: wide l0 range, both diameters, 537 pairs. Anticipated question: how is contraction set? Answer: the distance between the jig crossmembers is controlled to obtain each contraction, then the muscle is inflated and the contractile force recorded at the pressure-contraction pairs (Ch. 3, sec. 3.1).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slide. Festo's own tool predicts the OPPOSITE trend - force rising as length shrinks. Anticipated question: is the length effect truly unreported? Answer: the chapter states it is a previously unreported characteristic of these artificial muscles; the Festo tool does predict a length dependence, but with the wrong sign (force increasing at shorter lengths).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 committee: arctan form, bounded asymptote, physical offset from end-cap contact in CAD. Anticipated question: why an arctan? Answer: the measured F620 vs l0 saturates, and the arctan is the bounded curve that matches it; the l0 offsets (7.5 mm and 13 mm) are the lengths at which solid modeling shows the end caps contacting, where no contractile stroke remains.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design-relevant failure: anyone specifying BPAs under 300 mm gets burned by the tool. Anticipated question: is 42% within Festo's tolerance? Answer: no - Festo states roughly 10% manufacturing variability; 42.1% is roughly four times that, at a length a knee design actually uses, and the error direction (over-prediction) is the unsafe one for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Normalization by each muscle's own F620 and eps620 is what makes one surface fit all lengths. Anticipated question: does eps620 need to be measured per actuator? Answer: yes - the chapter found no conclusive relationship between eps620 and l0 (linear fit adj. R2 = 0.4124), so each muscle's maximum contraction is recorded for use on the robot.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validation is 20% held out, and max error under ~11% everywhere - at ANY length. Anticipated question: what do the max errors mean? Answer: on the held-out set the 10 mm surface reaches a 10.6% maximum residual (RMSE 0.0245 normalized) and the 20 mm reaches 5.7% (RMSE 0.0231); adjusted R2 stays at 0.9994 and 0.9943 respectively.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Sarosi params come from specific lengths - extrapolation is where they fail. Martens is geometry-sensitive. Anticipated question: why does Martens and Boblan blow up at 450 mm? Answer: geometric sensitivity - the chapter shows its F_PE dD/DL term grows dominant off its fitted geometry, to the point of predicting negative force at 20 mm, 450 mm.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map = feedforward actuator model inside the controller (lookup table). Valve-airflow dynamics are the Elzein layer. Anticipated question: can a static isometric map really support control? Answer: the chapter cites Martens and Boblan - BPA dynamics are dominated by valve air dynamics and mass flow, so the static force characteristic is the crucial piece for torque control accuracy; the model is computationally inexpensive online and suits lookup tables.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Bone geometry from scans of a 6 ft (1.83 m) person. Both joints share the same center of rotation in the femur frame at 0 deg, and the knee axis is co-axial with gravity so measurements stay isometric. Q: why two stands? A: the pinned stand isolates one DoF for identification; the four-bar validates transfer to the moving-ICR joint the robot 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Yellow = hybrid (measured Lm and rk + model force). It tracks measurement, so the validated force model is not the problem; the kinematics were. Q: is the hybrid a fit? A: no; it substitutes measured Lm and rk into the same M = rF physics, isolating which model term was wrong.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chi1/chi2 are EFFECTIVE system stiffness terms (bracket, fixtures, winch, and tendon lumped together), not literal beam stiffness; every stiffness value quoted is an optimizer output. Q: why not model the bracket by FEA? A: printed anisotropic parts, braided sleeve, and construction-dependent tendon stiffness are unmeasured; the lumped terms are identified from the measured torque itself. Moved off-slide: chi0 - measured muscle length is consistently shorter than predicted at every angle, including at ε = 1, F = 0; that is a constant offset. chi1/chi2 - Hooke law in bracket principal directions; compliance projected on the force direction û; artificial tendon added in series. chi3 - a BPA bent over the joint loses usable arc length: the wall on the inside of the bend carries less tension; loss grows with the complement of strain, ζ = 1 − ε*. All three terms are solved together by nonlinear force balance: Fₘₐₓ · F*(ε*(δ), P*) − kₑₔ δ = 0 → δ (bracketed fzero), then length, path, moment arm, and torque are recomputed at the deflected geometry.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gamultiobj: flexor two-bracket fit evolves 150 for up to 600 generations, extensor refit 50 for 150; parameters searched normalized (cm, log stiffness). The encoder-corrected 47.9 cm test was not used in the two-bracket identification at all. Q: why hold tests out? A: the pinned-flexor data admit a family of stiffness pairs of comparable fit, so the adopted set is selected by held-out prediction, not residual minimization.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C (left) and D (right) of Fig. FlxPin_group. Panel C: fit on the 48.5 cm BPA (the panel title reads 48.0 cm; the chapter caption and text use 48.5 cm). Panel D: 45.7 cm, never used in the fit. GoF: 48.5 cm RMSE 1.616, FVU 0.0958, max 3.2527; 45.7 cm validation RMSE 2.1214, FVU 0.0878, max 5.1690. Q: why does the corrected model capture the dip? A: series compliance relieves contraction where force is high and contraction is low, exactly the small-angle regime.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Zero-correction per-test RMSE spans 6.37-9.69 N-m (improved BPA characterization alone); corrected FVU stays at or below 0.18 on the four identification tests, the worst case being the 48.5 cm training test at 0.172. Training pair: 48.5 + 41.0 cm (zero-correction mean 8.66); validation pair: 45.7 + 40.6-tendon (mean 7.59). Q: what about the fifth test? A: the encoder-corrected 47.9 cm test was not used in the identification; its post hoc evaluation improves from 7.67 to 2.29 N-m (Appendix 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45.7 cm test trained the extensor fit (RMSE 2.178 to 0.490 N-m); the validation trio is 40.0, 40.0-tendon, and 46.5 cm (triple mean 2.55 to 1.10 N-m). The stiffness pair is locked to the flexor-identified values and never searched. Initial single-bracket extensor values were chi0 = -10.9 mm, chi3 = 0.123 (Table OptCoeff). Q: why does chi0 flip sign? A: wrapping consumes usable length, so the extensor behaves as if longer; its zero point shifts opposite to the flexor's.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Mats of record: minimizeFlxPin10_results.mat row 77, and minimizeExt10mmX3_results.mat row 32 (pair locked to row 77). Initial single-bracket values (Table OptCoeff): flexor 11.9 mm / 1.02e5 / 1.06e4 N/m; extensor -10.9 mm / 0.123. Q: how sensitive is the redesign to the pair choice? A: the adoption screen chose the pair meeting both targets simultaneously: +5.00% flexor and +5.043% extensor at adoption, refined to +5.01% and +5.02% (Appendix 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Pinned-flexor chi values transferred unchanged. Panel A: ⌀10 mm, l0 = 41.5 cm, 21 mm tendon, 604 kPa, RMSE 0.3007, FVU 0.0102, max 0.4647. Panel B: ⌀20 mm, l0 = 42.0 cm, 15 mm tendon, 620 kPa, RMSE 1.8024, FVU 0.0499, max 3.5678. Note: the chapter text gives 42.0 cm for the ⌀20 test while its summary table row lists 41.5 cm; the slide follows the text. Q: is the 60-100 deg shortfall fixable? A: yes by route redesign: the two-BPA flexor route exceeds the human envelope at every angle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torque is significantly smaller than both the original and the hybrid predictions; the corrected prediction more closely matches but remains higher than measurement, so level validation is not claimed. With the pinned-extensor chi values (the figure): RMSE 0.8920, FVU 0.3396, max 1.4188. At the values of record: max residual 2.21 N-m against a rigid baseline of 5.59. Q: why does extensor validation lag the flexor? A: the route wraps the joint through sequential contacts and passes between the femoral condyles near the ICR; the path model itself is the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flexor: predicted knee-axis torque -81.23 to -3.86 N-m vs human-scaled requirement -23.16 to -2.46 N-m (peak 23.16), exceeded at every angle; margin fraction 0.0501 vs required 0.05. Direct extensor: 35.45-109.4 N-m vs 20.25-50.32 N-m, zero shortfall points. Solver budgets: surrogateopt 3,000 evals (direct extensor), 1,000 (flexor), 1,000 + 1,500 refinement (cam), then patternsearch 15,000. Q: why is the flexor margin also about 5%? A: the adoption rule for the stiffness pair required both configurations to clear the +5% envelope, and the flexor model still assumes both actuators share one attachment route; making the mirrored pair explicit is the next refinement. Moved off-slide: shared plan - two ⌀20 mm BPAs per route, a 620 kPa pressure ceiling, and maximum usable contraction 0.255; the direct routes were later superseded by the cam extensor (step 2 of the ladder); flexor route −81.23 to −3.86 N·m vs human-scaled −23.16 to −2.46 N·m, direct extensor 35.45–109.4 vs 20.25–50.32 N·m, envelope exceeded at every angle.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geometry folds the optimizer winner together with a verified adjustment of the distal route point and tendon length; the winner alone carried +31.30% and +42.34% at the same checks. Envelope pressures sit comfortably above the 150 kPa regulated floor of the VTUG valve manifold that supplies the hardware. Hardware: the first and third points sit at essentially the same knee angle and span a twentyfold range of held torque; the full sweep and the flexor measurements are pending. Q: is the cam margin sensitive to the adopted chi pair? A: margins are evaluated under the values of record, whose adoption rule already required both routes to clear +5%.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Pulley run: collision-feasible, zero bound violations, pattern-search exit flag 1; objective values are not commensurable across families (0.08465 pulley vs 74.47 direct). Insertion-side measure of the pulley peak: 85.56 N-m. Bi-pulley: the medial-gastrocnemius run records no finite clearance (worst constraint 10, exit flag -2); rectus femoris worst constraint 0.2423. These are optimizer-stage results, not yet propagated into the OpenSim or MuJoCo model trees. Q: why 25 mm clearance? A: two 10 mm actuator radii plus a 5 mm bundle margin. Q: does the bi-pulley failure kill the concept? A: no; it redirects design toward clearance-relaxed attachment sites. Moved off-slide: the mono-pulley is a single tackle-line part at 1:1 gain; peak predicted flexion torque at the knee axis 81.23 → 85.74 N·m; the +4.51 N·m (+5.6%) gain comes from the redirect alone, with no mechanical advantage; off-axis torque ≤ 0.803 N·m is under 1% of peak; the human flexor scale of 23.16 N·m is exceeded ×3.51 (direct) / ×3.70 (pulley); minimum route-to-route clearances 4.26–19.14 mm vs the 25 mm requirement of two ⌀10 mm actuator radii plus a 5 mm bundle margin - geometry binds, not torque.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the database's three homes did not agree, so the 2026 campaign opened with a record-by-record reconciliation on DOI and normalized title (Ch. 5, line 14). No record was destroyed in the prune: every deletion was snapshotted, and the packaged explorer carries the 382 cut papers under an archived flag (line 20). Anticipated question: why build your own explorer app? Answer: an off-the-shelf bibliometric viewer was tried and retired within weeks - one crowded picture, no drill-through from cluster to papers, mega-cited classics dominating every view; this corpus needs filter-by-afferent-class, pathway-to-papers walks, and two-dimensional pivots (line 22).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374 papers machine-drafted in fifteen batches, each batch passing automated vocabulary, abstract-paste, and duplicate gates before anything was written, and every record verified against its grounding text after the write (Ch. 5, line 18). Grounding stayed the binding constraint: a PDF-first rule recovered 47 of 55 flagged papers, an authenticated browser session recovered abstracts for 24 of 70, and the rest stayed bare by rule (line 18). The 2024 comparative study found AI tools accelerate triage but still require substantial human oversight; the 2026 campaign is that finding made operational (lines 39-41). Anticipated question: what did the AI actually do? Answer: batch drafting from grounded text plus the gates; the human held the vocabulary, the 164 flagged judgment calls, and every single deletion, each prune stage waiting for explicit approval (lines 20, 41).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Feedback table's naming grammar (afferent, action, side, joint, phase) is the same grammar a circuit edge needs, so translating a record into a controller connection is a lookup rather than a literature search (Ch. 5, line 45). Linked-paper counts are unchanged between the full audited corpus of 943 and the retained 561 (Table 5.2 caption, line 64). The 39 records reach beyond the mammalian core - chordotonal organs, trochanteral hair plates, campaniform sensilla, group III/IV fatigue, and one paper each for somatosensory, vestibular, and visual postural contributions (line 83). Anticipated question: did the database actually wire the Ch. 6 controller? Answer: the afferent classes monitored, the signal each channel carries, and the connection rules all trace to records held here; the controller implements the mammalian subset (lines 12, 45, 83).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nine rigid bodies, sagittal-plane hinges, antagonistic Hill-type pairs at the hip, knee, and ankle, and the author's passive-spring toe; the two-layer CPG plus a sensorimotor layer with Renshaw-like recurrent inhibition received Ia and Ib feedback, but the gains were never systematically tuned, no ground-contact signals were modeled, and every current, weight, and tension parameter was set by hand, one at a time (Ch. 6, lines 18-20). Suspended alternating stepping ran at approximately 4 Hz against roughly 1 Hz for human gait, and was presented at the 2021 NIH BRAIN Initiative Investigators Meeting (Ch. 7, line 26). Lowered onto a ground plane, the same patterns could not support the body or generate forward motion (Ch. 7, line 28). The current instrumented model records a 10 s phase-1 run - 50,001 samples at a uniform 0.2 ms interval - demonstrating acquisition, not validated walking (Ch. 6, line 135). Anticipated question: why keep AnimatLab around? Answer: the lineage's reference models are archived there and re-run headless by the verification harness, and new circuit organizations are prototyped in the same format (Ch. 6, line 28).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no physics engine carried the robot's custom muscle routing together with the BPA force model and an SNS, so the pipeline is itself a series of tools (Ch. 6, line 12). MyoConverter performs the base conversion; repair scripts correct mirroring and sign defects and re-audit against the OpenSim source, in a recorded, re-runnable environment (line 71). All 92 muscle-tendon actuators carried, attachment geometry audited, joint signs verified dynamically - each actuator activated alone, the sign of its torque identifying its action (line 73). The Simulink library runs in base Simulink without toolboxes (line 91). Anticipated question: why two engines? Answer: MuJoCo is the physical engine with the custom routing; Simulink assembles the same component models in a standard controls-engineering environment - and the rhythm core had to reproduce itself across both before any result was trusted (lines 91, 113).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harness is defined around the W2L contact-driven core - four rhythm-generator half-centers built from spiking neurons whose persistent sodium current terminates each burst, plus graded pattern-formation and sensory cells - implemented twice from one connectivity specification and driven with an identical protocol (Ch. 6, line 113). The residual minus 2 ms lag is consistent with the one-step delay of the discrete Simulink solver (line 146). The headless reruns extract eleven targetable metrics automatically; all eleven pass (line 159); in the modern W2L model the flexor half-centers peak at minus 56.4 mV and never cross the minus 55 mV threshold, so the rhythm rides graded extensor-flexor antiphase rather than flexor spiking. Anticipated question: why does cross-engine agreement matter? Answer: an SNS is a mathematical object that must survive translation between the tools it is built, verified, and deployed in - the formalism carries the dynamics, not any particular simulator (Ch. 7, line 14). Removed from slide, kept here: archived bilateral contact-driven model 0.450 s / 0.467 s at 0.529 cycle lag (r = 0.976); modern W2L 2.25 Hz, flexor peaks -56.4 mV never crossing the -55 mV threshold, graded antiphase r = -0.996; Li walker 0.637 m/s, steps 1.299+-0.024 / 1.333+-0.080 s, duty 0.443 / 0.555.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walker geometry of the prior AnimatLab model exported to MuJoCo and driven by antagonistic BPA pairs under the split contact-driven network, with actuator forces computed by the Chapter 3 force model (Ch. 6, line 163). The harness carries 70% of the 411 N body weight; peak BPA forces of 880 N and 1372 N arrive at 372 kPa, 60% of the 620 kPa ceiling, so actuator sizing operates inside the characterized pressure range. Ground negatives: the W2L gate model stands in full support but does not walk - heel duty zero, forward displacement plus 0.001 m - and the MuJoCo Li re-implementation produced no stance episodes in any of seven drop-protocol variants (line 165). Together with the latch result these localize the open problem in the balance and weight-bearing layers, not the rhythm, the actuators, or the engines (lines 148, 165). Anticipated question: is this walking? Answer: no - it is marching in a harness that unloads 70% of the body; the chapter reports the ground failures with the same weight as the air gate. Figure provenance: both knee panels are regenerated from the run artifacts with the column order fixed by the campaign code (w2l_mujoco/_curriculum_bpa.py JNTS = hip_L, knee_L, ankle_L, hip_R, knee_R, ankle_R), with knee ranges asserted against each run's own metrics.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library holds 32 running trials from eight subjects at four speeds, ten walking references (seven prescribed, 0.5-2.0 m/s, plus three self-selected), and Case_40_motion, the Falisse predicted-walking cycle (period 1.11 s, duty 0.57). The score is the production pipeline's cycle-shape kinematic score: 0 is perfect agreement and minus 25 is the fixed no-cycle fallback (Ch. 6, line 169). The gap is not an artifact of the running trials - the production configuration's walking-only mean of minus 8816 is slightly more negative than its running-only mean of minus 8761 - and all four configurations produce right-leg-only or asymmetric gait (line 187). For three of four configurations the most negative single reference is Case_40_motion; the W2L-layout variant's is subject08_Run_20002 (Table 6.1). Anticipated question: why present a mostly negative result? Answer: it quantifies, honestly, how far single-reference tuning transfers; the family-level signal - the robot-lineage configuration closest, the most human-derived farthest - is consistent across both evaluations, and closing that gap is a tuning question, not a tool question (line 187).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sweep removes one pathway class at a time and re-evaluates the tuning-reference score; minus 25 is the fixed no-cycle fallback (Ch. 6, lines 191-193). Read against the reference literature: deleting all afferent classes from the production configuration degrades gait without abolishing it, matching the deafferentation outcome of Akay 2014 - and the six-synergy variant is the network that matches that picture most closely, keeping a bilateral gait with every afferent class removed. The Ia-only freeze is a stronger dependence than the animal experiments show and marks that network's tuning as built around its length feedback; the equally large Renshaw degradation indicates the recurrent-inhibition loop carries weight in the tuned network (line 222). Motoneuron-level deletion phenomena of the two-level models are not yet reproduced - those and the pattern-formation stimulation series are future verification tests (lines 191, 222). Anticipated question: which deletion surprised you? Answer: Renshaw removal hurting as much as group-II removal - recurrent inhibition is usually treated as a footnote.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non-spiking baselines were re-established first - all three production configurations reproduce their documented scores exactly, including minus 161.56754173676563 for the default build, and after the mirror's selector was added the defaults gate of 410 populations, 376 inputs, and 1186 connections reproduces digit for digit (Ch. 6, line 232). The topology gate passes exactly under three gain configurations (lines 234). Spikes onto the non-spiking motor neurons are calibrated by mean conductance with residuals at or below 3e-4 mV (line 121). The untuned ground gait is a single run with no statistics, claimed only as a lead for the tuning campaign (line 246). Anticipated question: why does the 55.6% slower rhythm not doom spiking? Answer: the campaign traced the period to two identifiable knobs - the threshold-increment magnitude and the adaptation time constant - so a period-matched spiking controller is a short tuning campaign away, and the mapped parameters are the correct starting point (line 355).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with only the sensory interneuron layer converted, the knee-reflex transient is identical - both read 15.79 degrees at 0.05 s - the settle band moves by 0.9 degrees, and the beverage-holding reflex modulation moves by 0.02 degrees; to the musculoskeletal model a calibrated 40 Hz train and the graded voltage it replaces are the same command (Ch. 6, lines 277, 353). The AnimatLab family is the clear negative: no spiking copy preserves the rhythm, and the thresholds-only ablation isolates the synapse conversion as the change that breaks it - per-spike conductances at the graded amplitude starve or saturate the reciprocal loop, while the 2023 spiking reference works because it was tuned as a rate code from birth (lines 327, 359). Anticipated question: do the actuator and torque conclusions of Chapters 3 and 4 depend on the coding choice? Answer: no - the motor-neuron layer stays non-spiking and the spikes onto it are calibrated by mean conductance, so the continuous activation interface is unchanged by construction (line 353). Removed from slide, kept here: settle band +0.9 deg; pour-reflex modulation 5.85 vs 5.83 deg (sag 2.00 vs 7.85 without reflex); bilateral conversion latches at 442-450 Hz; reorganized copy co-bursts at 11.8 Hz (r = 1.000); thresholds-only keeps oscillating (hip -15.1 to +23.2 deg); timing traced to two knobs (threshold increment, adaptation constant); unit level: conductance transient matches the exact exponential to 6.2e-07 uS, hybrid circuit 62 / 62 spikes within 11.75 us, mean ISI within 0.19 us of the toolbox backend.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force model supplies the actuator terms of the torque model; the torque model supplies the biomechanical model for designing joint controllers; the validated biomimetic knee shows the architecture reproduces human joint-level force capability; the database supplies the afferent organization the controller's sensory channels mirror; and the simulation framework joins the converted model to a synthetic nervous system so closed-loop experiments can run before hardware exists (Ch. 7, lines 10-12). The cross-engine campaign adds the design constraint that runs through the chain: an SNS must survive translation between the tools in which it is built, verified, and deployed - portable primitives, tuned in whichever engine is fastest and trusted in whichever is most physical (line 14). Anticipated question: what is the single contribution? Answer: the actuator-to-joint design chain itself - characterize the actuator, correct for transmission compliance, validate against human biomechanics, and only then close the loop with a controller (Ch. 8, line 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stated by the dissertation itself. Actuator level: the models are static and isometric - hysteresis, thermodynamics, and airflow are deliberately set aside (a static model suffices for real-time control; dynamics come from the Elzein state-space model), and maximum contraction is not predictable a priori, so it is measured per actuator (Ch. 3, lines 318, 397; Ch. 7, line 6). Joint level: the pinned-flexor data admit a family of stiffness pairs - the adopted pair was fixed by an external requirement, not by the fit alone - and on the biomimetic extensor test the corrected prediction still sits above the measurements (FVU 4.49 to 0.67, RMSE 3.03 to 1.17 N m) (Ch. 4, lines 488, 502). Neural level: full-body co-simulation is blocked by non-finite leg-joint states; the archived walkers do not walk unsupported; tuned networks transfer poorly to diverse reference cycles; and the motoneuron-level deletion phenomena of the reference models are not yet reproduced (Ch. 6, lines 73, 165, 187, 363). The database is deeper than it is broad: the afferent classification covers 86 of 561 retained papers (Ch. 5, line 87). Anticipated question: which boundary worries you most? Answer: the balance layer - everything else is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detail: the nearest work is the closed loop itself - much of the pipeline is already in place and the remaining blocker is the non-finite leg-joint states, with the foot-contact meshes the primary suspect; once resolved, staged validation runs open-loop mechanics first, then a minimal sensor set (contact plus one proprioceptive channel), then the full Ia/Ib/II set, and only then tuning across walking speeds (Ch. 7, lines 20, 24). The sensorium adds vestibular (IMU) feedback, ocular feedback as a low-frequency correction to the vestibular estimate, and a cerebellar gateway between commands and the CPG (line 45). Hardware: Teensy microcontrollers for the per-joint loops, a Jetson-class companion for network evaluation, the static models as feedforward lookup, and the Elzein pulse-modulated pressure dynamics (lines 47, 49). Anticipated question: what is first? Answer: the closed loop - the pipeline is assembled and the blocker is specific.</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brief; thank by name. Committee members read the dissertation in full during the revision campaign - say so.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Anticipated questions route to the appendix: force-model coefficients and GoF decomposition (Appendices A-C), bracket geometry and adopted χ values (Appendix H), campaign protocol and route provenance (Appendix F), and the spiking calibration and AnimatLab conversion catalogues (Appendix J).</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card for the actuator force model of Chapter 3 (muscles). Chain: strain (3.1) normalized by the recorded free-load contraction (3.2)-(3.3); the F* surface (3.4) is fitted per diameter; F620 (3.5) carries the resting-length dependence; the product (3.6) is isometric force. Anticipated question: why can F* be clamped to zero? Answer: the zero-clamp is applied by the callers (e.g. festo4.m line 35), not inside f_festo.m itself - documented in App. A sect. A.3.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Coefficients of record. Fitted with fittype nonlinear least squares + least-absolute-residual robustness, lower bounds [0,0,0] (App. A sect. A.3, bpaFits.m). The 40 mm fit exists in code but is unused in the dissertation. Anticipated question: how tight are the CIs? Answer: b1 for the 10 mm actuator is 303.5 N with CI (300, 308) - roughly 1.3% of the value; c0 for the 10 mm surface is 0.5682 with CI (0.5584, 0.578).</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of record against Sarosi and Martens-and-Boblan. Fixed-parameter models degrade when moved off their fit length; Martens-Boblan starts to predict negative force at the 20 mm, 450 mm point. Anticipated question: why does Sarosi fail here? Answer: its parameters are length-specific (200 mm and 400 mm for the 20 mm actuator), and applying them at our 300 mm and 450 mm data over-predicts force at higher pressures and low contraction (Ch. 3, model-comparison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One-dimensional nonlinear root-find per configuration: fzero on [0, l_m - l_620], converged to machine precision by bracket collapse; safeguards return delta = 0 at saturated strain or when no sign change appears (App. A sect. A.5). Anticipated question: is the series reduction exact? Answer: only under the stated conditions - both elements carry the same force, displacements add kinematically along the line of action, u-hat is fixed within one iteration then updated, elements are linear and moment-free - each condition is listed in Ch. 4 (Improved Torque Model).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 enters only the force-producing strain; the kinematic (prediction) strain excludes it. Anticipated question: is the loss double-counted? Answer: no - the kinematic strain that predicts muscle length excludes delta-l, so the loss changes force, not recorded geometry (App. A sect. A.6).</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Protocol of record. Data rulings: the +5.3 degree encoder correction on the 47.9 cm flexor test (applied to experimental angles at load time), and the three extensor tests not used in the evaluation (3, 4, and 9). The stiffness pair is not unique - the adopted pair is the one for which both redesign configurations meet the required 5 percent overshoot simultaneously. Anticipated question: why gamultiobj? Answer: the Pareto front is required for holdout validation; settings of record - flexor: population 150, up to 600 generations, spread tolerance 4e-3; extensor: population 50, up to 150 generations, 1e-3.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Frame-convention invariance, proven in Ch. 4: a diagonal stiffness array is invariant under a rotation about y if and only if the two stiffnesses in the rotation plane are equal (k_x = k_z); with the y-symmetric array the pitch-only and two-rotation conventions give identical torque predictions to numerical precision. Anticipated question: where does this not apply? Answer: non-symmetric axis assignments - the extensor arch bracket sets chi-2 in X_br and chi-1 in Y_br/Z_br on physical grounds (the arch extends 75 mm in Z), a modeling choice carried, not derived.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Bracket data of record. Moving a reference point changes the identified stiffness values, so Appendix C records each point alongside the values it produced. Provenance: flexor values are pooled-front row 77 of the two-bracket CV (212 members); the extensor refit locked the pair and solved only (chi-0, chi-3) - flxr77 row 32. The pre-freeze lab study that compared the rib midpoint against the lower bolt hole is not part of the dissertation and is not shown. Anticipated question: how sensitive is the identification to the point choice? Answer: within the dissertation the points are fixed CAD interpretation choices recorded with the values they produced; the explicit sensitivity comparison predates the freeze.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Moment-arm conventions. The robot side uses the perpendicular-foot construction of App. A sect. A.4; the human targets are computed in OpenSim with the derivative definition r(theta_k) = d(l_MT)/d(theta_k) across the range of motion (App. A sect. A.1). Anticipated question: are the two equivalent? Answer: yes for a straight muscle path crossing a planar revolute joint; the derivative form remains correct for wrapping and moving-path-point geometry, which is why the human targets are computed in OpenSim rather than by the robot-side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parallel implementations: AnimatLab (prototyping and the archived reference models) and Simulink/MuJoCo (the pipeline). The Simulink library runs in base Simulink without extra toolboxes: seven core blocks, twelve before the spiking additions, fifteen after (Ch. 6 sect. 6.2). The spiking twin of the knee-reflex demonstration replaces only the sensory interneuron layer: transient identical (15.79 deg at 0.05 s in both), settle band +0.9 deg (Table 6.4). CAD coupling verified via SolidWorks-URDF-Simscape on a trial knee assembly; tendon hardware modeled in CAD, not yet inserted. Anticipated question: why maintain Simulink alongside MuJoCo? Answer: a standard controls-engineering environment for inspection and the hardware-transfer path, with unit-verified spiking blocks - single-spike conductance transient to 6.2e-07 uS, 62/62 spikes against the toolbox equations, and every committed demonstration reproducing exactly (two-neuron units test 6.07e-04 mV).</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Walker numbers of record for committee questions. Score is the cycle-shape kinematic score: 0 is perfect agreement, -25 the fixed no-cycle fallback. Library means sit one to two orders of magnitude beyond the tuning-reference scores - an honest transfer measurement, not an artifact of the 32 running trials (s3k walking-only mean -8816 vs running-only -8761). Anticipated question: which deletion matters most? Answer: removing the Ia pathway freezes the production configuration outright (no cycles detected), while the six-synergy variant keeps a bilateral gait with every afferent class removed (-190.5, ten cycles per leg, knee minimum -71.2 deg, 0.684 s period); the W2L-layout variant depends on Ia (-273.5) and on the weak rhythm-generator mutual excitation (-279.9).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chart" Target="../charts/char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jpg"/><Relationship Id="rId4"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33.png"/><Relationship Id="rId5"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2.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5.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21.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4.png"/><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arl_logo_0.png"/>
          <p:cNvPicPr>
            <a:picLocks noChangeAspect="1"/>
          </p:cNvPicPr>
          <p:nvPr/>
        </p:nvPicPr>
        <p:blipFill>
          <a:blip r:embed="rId2"/>
          <a:stretch>
            <a:fillRect/>
          </a:stretch>
        </p:blipFill>
        <p:spPr>
          <a:xfrm>
            <a:off x="4089132" y="685800"/>
            <a:ext cx="4019830" cy="1225296"/>
          </a:xfrm>
          <a:prstGeom prst="rect">
            <a:avLst/>
          </a:prstGeom>
        </p:spPr>
      </p:pic>
      <p:sp>
        <p:nvSpPr>
          <p:cNvPr id="3" name="TextBox 2"/>
          <p:cNvSpPr txBox="1"/>
          <p:nvPr/>
        </p:nvSpPr>
        <p:spPr>
          <a:xfrm>
            <a:off x="640080" y="2331720"/>
            <a:ext cx="10908792" cy="1737360"/>
          </a:xfrm>
          <a:prstGeom prst="rect">
            <a:avLst/>
          </a:prstGeom>
          <a:noFill/>
        </p:spPr>
        <p:txBody>
          <a:bodyPr wrap="square" anchor="t" lIns="0" rIns="0" tIns="0" bIns="0">
            <a:spAutoFit/>
          </a:bodyPr>
          <a:lstStyle/>
          <a:p>
            <a:pPr algn="ctr">
              <a:lnSpc>
                <a:spcPct val="100000"/>
              </a:lnSpc>
            </a:pPr>
            <a:r>
              <a:rPr sz="4000" b="1" i="0">
                <a:solidFill>
                  <a:srgbClr val="AF7B51"/>
                </a:solidFill>
                <a:latin typeface="Calibri"/>
              </a:rPr>
              <a:t>Movement and Control of</a:t>
            </a:r>
          </a:p>
          <a:p>
            <a:pPr algn="ctr">
              <a:lnSpc>
                <a:spcPct val="100000"/>
              </a:lnSpc>
            </a:pPr>
            <a:r>
              <a:rPr sz="4000" b="1" i="0">
                <a:solidFill>
                  <a:srgbClr val="AF7B51"/>
                </a:solidFill>
                <a:latin typeface="Calibri"/>
              </a:rPr>
              <a:t>Biomimetic Humanoid Robots</a:t>
            </a:r>
          </a:p>
        </p:txBody>
      </p:sp>
      <p:sp>
        <p:nvSpPr>
          <p:cNvPr id="4" name="TextBox 3"/>
          <p:cNvSpPr txBox="1"/>
          <p:nvPr/>
        </p:nvSpPr>
        <p:spPr>
          <a:xfrm>
            <a:off x="640080" y="4069080"/>
            <a:ext cx="10908792" cy="411480"/>
          </a:xfrm>
          <a:prstGeom prst="rect">
            <a:avLst/>
          </a:prstGeom>
          <a:noFill/>
        </p:spPr>
        <p:txBody>
          <a:bodyPr wrap="square" anchor="t" lIns="0" rIns="0" tIns="0" bIns="0">
            <a:spAutoFit/>
          </a:bodyPr>
          <a:lstStyle/>
          <a:p>
            <a:pPr algn="ctr">
              <a:lnSpc>
                <a:spcPct val="100000"/>
              </a:lnSpc>
            </a:pPr>
            <a:r>
              <a:rPr sz="2000" b="0" i="0">
                <a:solidFill>
                  <a:srgbClr val="595959"/>
                </a:solidFill>
                <a:latin typeface="Calibri"/>
              </a:rPr>
              <a:t>Dissertation Defense</a:t>
            </a:r>
          </a:p>
        </p:txBody>
      </p:sp>
      <p:sp>
        <p:nvSpPr>
          <p:cNvPr id="5" name="TextBox 4"/>
          <p:cNvSpPr txBox="1"/>
          <p:nvPr/>
        </p:nvSpPr>
        <p:spPr>
          <a:xfrm>
            <a:off x="640080" y="4709160"/>
            <a:ext cx="10908792" cy="457200"/>
          </a:xfrm>
          <a:prstGeom prst="rect">
            <a:avLst/>
          </a:prstGeom>
          <a:noFill/>
        </p:spPr>
        <p:txBody>
          <a:bodyPr wrap="square" anchor="t" lIns="0" rIns="0" tIns="0" bIns="0">
            <a:spAutoFit/>
          </a:bodyPr>
          <a:lstStyle/>
          <a:p>
            <a:pPr algn="ctr">
              <a:lnSpc>
                <a:spcPct val="100000"/>
              </a:lnSpc>
            </a:pPr>
            <a:r>
              <a:rPr sz="2400" b="1" i="0">
                <a:solidFill>
                  <a:srgbClr val="222222"/>
                </a:solidFill>
                <a:latin typeface="Calibri"/>
              </a:rPr>
              <a:t>Ben P. Bolen</a:t>
            </a:r>
          </a:p>
        </p:txBody>
      </p:sp>
      <p:sp>
        <p:nvSpPr>
          <p:cNvPr id="6" name="TextBox 5"/>
          <p:cNvSpPr txBox="1"/>
          <p:nvPr/>
        </p:nvSpPr>
        <p:spPr>
          <a:xfrm>
            <a:off x="640080" y="5230368"/>
            <a:ext cx="10908792" cy="36576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Advisor: M. Anthony Hunt, Ph.D.</a:t>
            </a:r>
          </a:p>
        </p:txBody>
      </p:sp>
      <p:sp>
        <p:nvSpPr>
          <p:cNvPr id="7" name="TextBox 6"/>
          <p:cNvSpPr txBox="1"/>
          <p:nvPr/>
        </p:nvSpPr>
        <p:spPr>
          <a:xfrm>
            <a:off x="640080" y="5760720"/>
            <a:ext cx="10908792" cy="365760"/>
          </a:xfrm>
          <a:prstGeom prst="rect">
            <a:avLst/>
          </a:prstGeom>
          <a:noFill/>
        </p:spPr>
        <p:txBody>
          <a:bodyPr wrap="square" anchor="t" lIns="0" rIns="0" tIns="0" bIns="0">
            <a:spAutoFit/>
          </a:bodyPr>
          <a:lstStyle/>
          <a:p>
            <a:pPr algn="ctr">
              <a:lnSpc>
                <a:spcPct val="100000"/>
              </a:lnSpc>
            </a:pPr>
            <a:r>
              <a:rPr sz="1300" b="0" i="0">
                <a:solidFill>
                  <a:srgbClr val="595959"/>
                </a:solidFill>
                <a:latin typeface="Calibri"/>
              </a:rPr>
              <a:t>Agile &amp; Adaptive Robotics Laboratory  ·  Portland State University  ·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ROADMAP</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Four objectives connect one actuator to a robot that walks under neural control</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1 §1.3 (research objectives); outcomes in Ch. 3-7</a:t>
            </a:r>
          </a:p>
        </p:txBody>
      </p:sp>
      <p:sp>
        <p:nvSpPr>
          <p:cNvPr id="5" name="Rounded Rectangle 4"/>
          <p:cNvSpPr/>
          <p:nvPr/>
        </p:nvSpPr>
        <p:spPr>
          <a:xfrm>
            <a:off x="502920" y="1828800"/>
            <a:ext cx="2670048" cy="41605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93392"/>
            <a:ext cx="1463040" cy="640080"/>
          </a:xfrm>
          <a:prstGeom prst="rect">
            <a:avLst/>
          </a:prstGeom>
          <a:noFill/>
        </p:spPr>
        <p:txBody>
          <a:bodyPr wrap="square" anchor="t" lIns="0" rIns="0" tIns="0" bIns="0">
            <a:spAutoFit/>
          </a:bodyPr>
          <a:lstStyle/>
          <a:p>
            <a:pPr algn="l">
              <a:lnSpc>
                <a:spcPct val="100000"/>
              </a:lnSpc>
            </a:pPr>
            <a:r>
              <a:rPr sz="3000" b="1" i="0">
                <a:solidFill>
                  <a:srgbClr val="AF7B51"/>
                </a:solidFill>
                <a:latin typeface="Calibri"/>
              </a:rPr>
              <a:t>01</a:t>
            </a:r>
          </a:p>
        </p:txBody>
      </p:sp>
      <p:sp>
        <p:nvSpPr>
          <p:cNvPr id="7" name="TextBox 6"/>
          <p:cNvSpPr txBox="1"/>
          <p:nvPr/>
        </p:nvSpPr>
        <p:spPr>
          <a:xfrm>
            <a:off x="731520" y="2670048"/>
            <a:ext cx="2212848" cy="914400"/>
          </a:xfrm>
          <a:prstGeom prst="rect">
            <a:avLst/>
          </a:prstGeom>
          <a:noFill/>
        </p:spPr>
        <p:txBody>
          <a:bodyPr wrap="square" anchor="t" lIns="0" rIns="0" tIns="0" bIns="0">
            <a:spAutoFit/>
          </a:bodyPr>
          <a:lstStyle/>
          <a:p>
            <a:pPr algn="l">
              <a:lnSpc>
                <a:spcPct val="100000"/>
              </a:lnSpc>
            </a:pPr>
            <a:r>
              <a:rPr sz="1500" b="1" i="0">
                <a:solidFill>
                  <a:srgbClr val="222222"/>
                </a:solidFill>
                <a:latin typeface="Calibri"/>
              </a:rPr>
              <a:t>Characterize</a:t>
            </a:r>
          </a:p>
          <a:p>
            <a:pPr algn="l">
              <a:lnSpc>
                <a:spcPct val="100000"/>
              </a:lnSpc>
            </a:pPr>
            <a:r>
              <a:rPr sz="1500" b="1" i="0">
                <a:solidFill>
                  <a:srgbClr val="222222"/>
                </a:solidFill>
                <a:latin typeface="Calibri"/>
              </a:rPr>
              <a:t>BPA isometric force</a:t>
            </a:r>
          </a:p>
        </p:txBody>
      </p:sp>
      <p:sp>
        <p:nvSpPr>
          <p:cNvPr id="8" name="TextBox 7"/>
          <p:cNvSpPr txBox="1"/>
          <p:nvPr/>
        </p:nvSpPr>
        <p:spPr>
          <a:xfrm>
            <a:off x="731520" y="3730752"/>
            <a:ext cx="2212848" cy="1463040"/>
          </a:xfrm>
          <a:prstGeom prst="rect">
            <a:avLst/>
          </a:prstGeom>
          <a:noFill/>
        </p:spPr>
        <p:txBody>
          <a:bodyPr wrap="square" anchor="t" lIns="0" rIns="0" tIns="0" bIns="0">
            <a:spAutoFit/>
          </a:bodyPr>
          <a:lstStyle/>
          <a:p>
            <a:pPr algn="l">
              <a:lnSpc>
                <a:spcPct val="105000"/>
              </a:lnSpc>
            </a:pPr>
            <a:r>
              <a:rPr sz="1050" b="0" i="0">
                <a:solidFill>
                  <a:srgbClr val="595959"/>
                </a:solidFill>
                <a:latin typeface="Calibri"/>
              </a:rPr>
              <a:t>Festo 10 and 20 mm BPAs across resting length,</a:t>
            </a:r>
          </a:p>
          <a:p>
            <a:pPr algn="l">
              <a:lnSpc>
                <a:spcPct val="105000"/>
              </a:lnSpc>
            </a:pPr>
            <a:r>
              <a:rPr sz="1050" b="0" i="0">
                <a:solidFill>
                  <a:srgbClr val="595959"/>
                </a:solidFill>
                <a:latin typeface="Calibri"/>
              </a:rPr>
              <a:t>contraction, and pressure; improved maximum-force</a:t>
            </a:r>
          </a:p>
          <a:p>
            <a:pPr algn="l">
              <a:lnSpc>
                <a:spcPct val="105000"/>
              </a:lnSpc>
            </a:pPr>
            <a:r>
              <a:rPr sz="1050" b="0" i="0">
                <a:solidFill>
                  <a:srgbClr val="595959"/>
                </a:solidFill>
                <a:latin typeface="Calibri"/>
              </a:rPr>
              <a:t>and normalized force models vs. existing models</a:t>
            </a:r>
          </a:p>
          <a:p>
            <a:pPr algn="l">
              <a:lnSpc>
                <a:spcPct val="105000"/>
              </a:lnSpc>
            </a:pPr>
            <a:r>
              <a:rPr sz="1050" b="0" i="0">
                <a:solidFill>
                  <a:srgbClr val="595959"/>
                </a:solidFill>
                <a:latin typeface="Calibri"/>
              </a:rPr>
              <a:t>(Ch. 3)</a:t>
            </a:r>
          </a:p>
        </p:txBody>
      </p:sp>
      <p:sp>
        <p:nvSpPr>
          <p:cNvPr id="9" name="TextBox 8"/>
          <p:cNvSpPr txBox="1"/>
          <p:nvPr/>
        </p:nvSpPr>
        <p:spPr>
          <a:xfrm>
            <a:off x="731520" y="5285232"/>
            <a:ext cx="2212848" cy="658368"/>
          </a:xfrm>
          <a:prstGeom prst="rect">
            <a:avLst/>
          </a:prstGeom>
          <a:noFill/>
        </p:spPr>
        <p:txBody>
          <a:bodyPr wrap="square" anchor="t" lIns="0" rIns="0" tIns="0" bIns="0">
            <a:spAutoFit/>
          </a:bodyPr>
          <a:lstStyle/>
          <a:p>
            <a:pPr algn="l">
              <a:lnSpc>
                <a:spcPct val="100000"/>
              </a:lnSpc>
            </a:pPr>
            <a:r>
              <a:rPr sz="1200" b="1" i="0">
                <a:solidFill>
                  <a:srgbClr val="38761D"/>
                </a:solidFill>
                <a:latin typeface="Calibri"/>
              </a:rPr>
              <a:t>537 tests  ·  dimensionless</a:t>
            </a:r>
          </a:p>
          <a:p>
            <a:pPr algn="l">
              <a:lnSpc>
                <a:spcPct val="100000"/>
              </a:lnSpc>
            </a:pPr>
            <a:r>
              <a:rPr sz="1200" b="1" i="0">
                <a:solidFill>
                  <a:srgbClr val="38761D"/>
                </a:solidFill>
                <a:latin typeface="Calibri"/>
              </a:rPr>
              <a:t>force surface</a:t>
            </a:r>
          </a:p>
        </p:txBody>
      </p:sp>
      <p:cxnSp>
        <p:nvCxnSpPr>
          <p:cNvPr id="10" name="Connector 9"/>
          <p:cNvCxnSpPr/>
          <p:nvPr/>
        </p:nvCxnSpPr>
        <p:spPr>
          <a:xfrm>
            <a:off x="3186684" y="3886200"/>
            <a:ext cx="139903" cy="0"/>
          </a:xfrm>
          <a:prstGeom prst="line">
            <a:avLst/>
          </a:prstGeom>
          <a:ln w="2794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40303" y="1828800"/>
            <a:ext cx="2670048" cy="41605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8903" y="1993392"/>
            <a:ext cx="1463040" cy="640080"/>
          </a:xfrm>
          <a:prstGeom prst="rect">
            <a:avLst/>
          </a:prstGeom>
          <a:noFill/>
        </p:spPr>
        <p:txBody>
          <a:bodyPr wrap="square" anchor="t" lIns="0" rIns="0" tIns="0" bIns="0">
            <a:spAutoFit/>
          </a:bodyPr>
          <a:lstStyle/>
          <a:p>
            <a:pPr algn="l">
              <a:lnSpc>
                <a:spcPct val="100000"/>
              </a:lnSpc>
            </a:pPr>
            <a:r>
              <a:rPr sz="3000" b="1" i="0">
                <a:solidFill>
                  <a:srgbClr val="AF7B51"/>
                </a:solidFill>
                <a:latin typeface="Calibri"/>
              </a:rPr>
              <a:t>02</a:t>
            </a:r>
          </a:p>
        </p:txBody>
      </p:sp>
      <p:sp>
        <p:nvSpPr>
          <p:cNvPr id="13" name="TextBox 12"/>
          <p:cNvSpPr txBox="1"/>
          <p:nvPr/>
        </p:nvSpPr>
        <p:spPr>
          <a:xfrm>
            <a:off x="3568903" y="2670048"/>
            <a:ext cx="2212848" cy="914400"/>
          </a:xfrm>
          <a:prstGeom prst="rect">
            <a:avLst/>
          </a:prstGeom>
          <a:noFill/>
        </p:spPr>
        <p:txBody>
          <a:bodyPr wrap="square" anchor="t" lIns="0" rIns="0" tIns="0" bIns="0">
            <a:spAutoFit/>
          </a:bodyPr>
          <a:lstStyle/>
          <a:p>
            <a:pPr algn="l">
              <a:lnSpc>
                <a:spcPct val="100000"/>
              </a:lnSpc>
            </a:pPr>
            <a:r>
              <a:rPr sz="1500" b="1" i="0">
                <a:solidFill>
                  <a:srgbClr val="222222"/>
                </a:solidFill>
                <a:latin typeface="Calibri"/>
              </a:rPr>
              <a:t>Validate knee</a:t>
            </a:r>
          </a:p>
          <a:p>
            <a:pPr algn="l">
              <a:lnSpc>
                <a:spcPct val="100000"/>
              </a:lnSpc>
            </a:pPr>
            <a:r>
              <a:rPr sz="1500" b="1" i="0">
                <a:solidFill>
                  <a:srgbClr val="222222"/>
                </a:solidFill>
                <a:latin typeface="Calibri"/>
              </a:rPr>
              <a:t>torque prediction</a:t>
            </a:r>
          </a:p>
        </p:txBody>
      </p:sp>
      <p:sp>
        <p:nvSpPr>
          <p:cNvPr id="14" name="TextBox 13"/>
          <p:cNvSpPr txBox="1"/>
          <p:nvPr/>
        </p:nvSpPr>
        <p:spPr>
          <a:xfrm>
            <a:off x="3568903" y="3730752"/>
            <a:ext cx="2212848" cy="1463040"/>
          </a:xfrm>
          <a:prstGeom prst="rect">
            <a:avLst/>
          </a:prstGeom>
          <a:noFill/>
        </p:spPr>
        <p:txBody>
          <a:bodyPr wrap="square" anchor="t" lIns="0" rIns="0" tIns="0" bIns="0">
            <a:spAutoFit/>
          </a:bodyPr>
          <a:lstStyle/>
          <a:p>
            <a:pPr algn="l">
              <a:lnSpc>
                <a:spcPct val="105000"/>
              </a:lnSpc>
            </a:pPr>
            <a:r>
              <a:rPr sz="1050" b="0" i="0">
                <a:solidFill>
                  <a:srgbClr val="595959"/>
                </a:solidFill>
                <a:latin typeface="Calibri"/>
              </a:rPr>
              <a:t>Pinned and biomimetic four-bar knees; correction</a:t>
            </a:r>
          </a:p>
          <a:p>
            <a:pPr algn="l">
              <a:lnSpc>
                <a:spcPct val="105000"/>
              </a:lnSpc>
            </a:pPr>
            <a:r>
              <a:rPr sz="1050" b="0" i="0">
                <a:solidFill>
                  <a:srgbClr val="595959"/>
                </a:solidFill>
                <a:latin typeface="Calibri"/>
              </a:rPr>
              <a:t>terms for length offset, series compliance, and</a:t>
            </a:r>
          </a:p>
          <a:p>
            <a:pPr algn="l">
              <a:lnSpc>
                <a:spcPct val="105000"/>
              </a:lnSpc>
            </a:pPr>
            <a:r>
              <a:rPr sz="1050" b="0" i="0">
                <a:solidFill>
                  <a:srgbClr val="595959"/>
                </a:solidFill>
                <a:latin typeface="Calibri"/>
              </a:rPr>
              <a:t>wrapping; envelopes vs. human torque</a:t>
            </a:r>
          </a:p>
          <a:p>
            <a:pPr algn="l">
              <a:lnSpc>
                <a:spcPct val="105000"/>
              </a:lnSpc>
            </a:pPr>
            <a:r>
              <a:rPr sz="1050" b="0" i="0">
                <a:solidFill>
                  <a:srgbClr val="595959"/>
                </a:solidFill>
                <a:latin typeface="Calibri"/>
              </a:rPr>
              <a:t>(Ch. 4)</a:t>
            </a:r>
          </a:p>
        </p:txBody>
      </p:sp>
      <p:sp>
        <p:nvSpPr>
          <p:cNvPr id="15" name="TextBox 14"/>
          <p:cNvSpPr txBox="1"/>
          <p:nvPr/>
        </p:nvSpPr>
        <p:spPr>
          <a:xfrm>
            <a:off x="3568903" y="5285232"/>
            <a:ext cx="2212848" cy="658368"/>
          </a:xfrm>
          <a:prstGeom prst="rect">
            <a:avLst/>
          </a:prstGeom>
          <a:noFill/>
        </p:spPr>
        <p:txBody>
          <a:bodyPr wrap="square" anchor="t" lIns="0" rIns="0" tIns="0" bIns="0">
            <a:spAutoFit/>
          </a:bodyPr>
          <a:lstStyle/>
          <a:p>
            <a:pPr algn="l">
              <a:lnSpc>
                <a:spcPct val="100000"/>
              </a:lnSpc>
            </a:pPr>
            <a:r>
              <a:rPr sz="1200" b="1" i="0">
                <a:solidFill>
                  <a:srgbClr val="38761D"/>
                </a:solidFill>
                <a:latin typeface="Calibri"/>
              </a:rPr>
              <a:t>redesign meets / exceeds</a:t>
            </a:r>
          </a:p>
          <a:p>
            <a:pPr algn="l">
              <a:lnSpc>
                <a:spcPct val="100000"/>
              </a:lnSpc>
            </a:pPr>
            <a:r>
              <a:rPr sz="1200" b="1" i="0">
                <a:solidFill>
                  <a:srgbClr val="38761D"/>
                </a:solidFill>
                <a:latin typeface="Calibri"/>
              </a:rPr>
              <a:t>human targets</a:t>
            </a:r>
          </a:p>
        </p:txBody>
      </p:sp>
      <p:cxnSp>
        <p:nvCxnSpPr>
          <p:cNvPr id="16" name="Connector 15"/>
          <p:cNvCxnSpPr/>
          <p:nvPr/>
        </p:nvCxnSpPr>
        <p:spPr>
          <a:xfrm>
            <a:off x="6024067" y="3886200"/>
            <a:ext cx="139903" cy="0"/>
          </a:xfrm>
          <a:prstGeom prst="line">
            <a:avLst/>
          </a:prstGeom>
          <a:ln w="2794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77686" y="1828800"/>
            <a:ext cx="2670048" cy="41605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6286" y="1993392"/>
            <a:ext cx="1463040" cy="640080"/>
          </a:xfrm>
          <a:prstGeom prst="rect">
            <a:avLst/>
          </a:prstGeom>
          <a:noFill/>
        </p:spPr>
        <p:txBody>
          <a:bodyPr wrap="square" anchor="t" lIns="0" rIns="0" tIns="0" bIns="0">
            <a:spAutoFit/>
          </a:bodyPr>
          <a:lstStyle/>
          <a:p>
            <a:pPr algn="l">
              <a:lnSpc>
                <a:spcPct val="100000"/>
              </a:lnSpc>
            </a:pPr>
            <a:r>
              <a:rPr sz="3000" b="1" i="0">
                <a:solidFill>
                  <a:srgbClr val="AF7B51"/>
                </a:solidFill>
                <a:latin typeface="Calibri"/>
              </a:rPr>
              <a:t>03</a:t>
            </a:r>
          </a:p>
        </p:txBody>
      </p:sp>
      <p:sp>
        <p:nvSpPr>
          <p:cNvPr id="19" name="TextBox 18"/>
          <p:cNvSpPr txBox="1"/>
          <p:nvPr/>
        </p:nvSpPr>
        <p:spPr>
          <a:xfrm>
            <a:off x="6406286" y="2670048"/>
            <a:ext cx="2212848" cy="914400"/>
          </a:xfrm>
          <a:prstGeom prst="rect">
            <a:avLst/>
          </a:prstGeom>
          <a:noFill/>
        </p:spPr>
        <p:txBody>
          <a:bodyPr wrap="square" anchor="t" lIns="0" rIns="0" tIns="0" bIns="0">
            <a:spAutoFit/>
          </a:bodyPr>
          <a:lstStyle/>
          <a:p>
            <a:pPr algn="l">
              <a:lnSpc>
                <a:spcPct val="100000"/>
              </a:lnSpc>
            </a:pPr>
            <a:r>
              <a:rPr sz="1500" b="1" i="0">
                <a:solidFill>
                  <a:srgbClr val="222222"/>
                </a:solidFill>
                <a:latin typeface="Calibri"/>
              </a:rPr>
              <a:t>Consolidate the</a:t>
            </a:r>
          </a:p>
          <a:p>
            <a:pPr algn="l">
              <a:lnSpc>
                <a:spcPct val="100000"/>
              </a:lnSpc>
            </a:pPr>
            <a:r>
              <a:rPr sz="1500" b="1" i="0">
                <a:solidFill>
                  <a:srgbClr val="222222"/>
                </a:solidFill>
                <a:latin typeface="Calibri"/>
              </a:rPr>
              <a:t>afferent literature</a:t>
            </a:r>
          </a:p>
        </p:txBody>
      </p:sp>
      <p:sp>
        <p:nvSpPr>
          <p:cNvPr id="20" name="TextBox 19"/>
          <p:cNvSpPr txBox="1"/>
          <p:nvPr/>
        </p:nvSpPr>
        <p:spPr>
          <a:xfrm>
            <a:off x="6406286" y="3730752"/>
            <a:ext cx="2212848" cy="1463040"/>
          </a:xfrm>
          <a:prstGeom prst="rect">
            <a:avLst/>
          </a:prstGeom>
          <a:noFill/>
        </p:spPr>
        <p:txBody>
          <a:bodyPr wrap="square" anchor="t" lIns="0" rIns="0" tIns="0" bIns="0">
            <a:spAutoFit/>
          </a:bodyPr>
          <a:lstStyle/>
          <a:p>
            <a:pPr algn="l">
              <a:lnSpc>
                <a:spcPct val="105000"/>
              </a:lnSpc>
            </a:pPr>
            <a:r>
              <a:rPr sz="1050" b="0" i="0">
                <a:solidFill>
                  <a:srgbClr val="595959"/>
                </a:solidFill>
                <a:latin typeface="Calibri"/>
              </a:rPr>
              <a:t>Audit and curate the Ia, Ib, and group II afferent</a:t>
            </a:r>
          </a:p>
          <a:p>
            <a:pPr algn="l">
              <a:lnSpc>
                <a:spcPct val="105000"/>
              </a:lnSpc>
            </a:pPr>
            <a:r>
              <a:rPr sz="1050" b="0" i="0">
                <a:solidFill>
                  <a:srgbClr val="595959"/>
                </a:solidFill>
                <a:latin typeface="Calibri"/>
              </a:rPr>
              <a:t>record into the Sensory Afferent Database;</a:t>
            </a:r>
          </a:p>
          <a:p>
            <a:pPr algn="l">
              <a:lnSpc>
                <a:spcPct val="105000"/>
              </a:lnSpc>
            </a:pPr>
            <a:r>
              <a:rPr sz="1050" b="0" i="0">
                <a:solidFill>
                  <a:srgbClr val="595959"/>
                </a:solidFill>
                <a:latin typeface="Calibri"/>
              </a:rPr>
              <a:t>AI-assisted triage for expansion</a:t>
            </a:r>
          </a:p>
          <a:p>
            <a:pPr algn="l">
              <a:lnSpc>
                <a:spcPct val="105000"/>
              </a:lnSpc>
            </a:pPr>
            <a:r>
              <a:rPr sz="1050" b="0" i="0">
                <a:solidFill>
                  <a:srgbClr val="595959"/>
                </a:solidFill>
                <a:latin typeface="Calibri"/>
              </a:rPr>
              <a:t>(Ch. 5)</a:t>
            </a:r>
          </a:p>
        </p:txBody>
      </p:sp>
      <p:sp>
        <p:nvSpPr>
          <p:cNvPr id="21" name="TextBox 20"/>
          <p:cNvSpPr txBox="1"/>
          <p:nvPr/>
        </p:nvSpPr>
        <p:spPr>
          <a:xfrm>
            <a:off x="6406286" y="5285232"/>
            <a:ext cx="2212848" cy="658368"/>
          </a:xfrm>
          <a:prstGeom prst="rect">
            <a:avLst/>
          </a:prstGeom>
          <a:noFill/>
        </p:spPr>
        <p:txBody>
          <a:bodyPr wrap="square" anchor="t" lIns="0" rIns="0" tIns="0" bIns="0">
            <a:spAutoFit/>
          </a:bodyPr>
          <a:lstStyle/>
          <a:p>
            <a:pPr algn="l">
              <a:lnSpc>
                <a:spcPct val="100000"/>
              </a:lnSpc>
            </a:pPr>
            <a:r>
              <a:rPr sz="1200" b="1" i="0">
                <a:solidFill>
                  <a:srgbClr val="2E5A88"/>
                </a:solidFill>
                <a:latin typeface="Calibri"/>
              </a:rPr>
              <a:t>943-paper audited corpus</a:t>
            </a:r>
          </a:p>
        </p:txBody>
      </p:sp>
      <p:cxnSp>
        <p:nvCxnSpPr>
          <p:cNvPr id="22" name="Connector 21"/>
          <p:cNvCxnSpPr/>
          <p:nvPr/>
        </p:nvCxnSpPr>
        <p:spPr>
          <a:xfrm>
            <a:off x="8861450" y="3886200"/>
            <a:ext cx="139903" cy="0"/>
          </a:xfrm>
          <a:prstGeom prst="line">
            <a:avLst/>
          </a:prstGeom>
          <a:ln w="2794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15069" y="1828800"/>
            <a:ext cx="2670048" cy="41605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43669" y="1993392"/>
            <a:ext cx="1463040" cy="640080"/>
          </a:xfrm>
          <a:prstGeom prst="rect">
            <a:avLst/>
          </a:prstGeom>
          <a:noFill/>
        </p:spPr>
        <p:txBody>
          <a:bodyPr wrap="square" anchor="t" lIns="0" rIns="0" tIns="0" bIns="0">
            <a:spAutoFit/>
          </a:bodyPr>
          <a:lstStyle/>
          <a:p>
            <a:pPr algn="l">
              <a:lnSpc>
                <a:spcPct val="100000"/>
              </a:lnSpc>
            </a:pPr>
            <a:r>
              <a:rPr sz="3000" b="1" i="0">
                <a:solidFill>
                  <a:srgbClr val="AF7B51"/>
                </a:solidFill>
                <a:latin typeface="Calibri"/>
              </a:rPr>
              <a:t>04</a:t>
            </a:r>
          </a:p>
        </p:txBody>
      </p:sp>
      <p:sp>
        <p:nvSpPr>
          <p:cNvPr id="25" name="TextBox 24"/>
          <p:cNvSpPr txBox="1"/>
          <p:nvPr/>
        </p:nvSpPr>
        <p:spPr>
          <a:xfrm>
            <a:off x="9243669" y="2670048"/>
            <a:ext cx="2212848" cy="914400"/>
          </a:xfrm>
          <a:prstGeom prst="rect">
            <a:avLst/>
          </a:prstGeom>
          <a:noFill/>
        </p:spPr>
        <p:txBody>
          <a:bodyPr wrap="square" anchor="t" lIns="0" rIns="0" tIns="0" bIns="0">
            <a:spAutoFit/>
          </a:bodyPr>
          <a:lstStyle/>
          <a:p>
            <a:pPr algn="l">
              <a:lnSpc>
                <a:spcPct val="100000"/>
              </a:lnSpc>
            </a:pPr>
            <a:r>
              <a:rPr sz="1500" b="1" i="0">
                <a:solidFill>
                  <a:srgbClr val="222222"/>
                </a:solidFill>
                <a:latin typeface="Calibri"/>
              </a:rPr>
              <a:t>Build tools for</a:t>
            </a:r>
          </a:p>
          <a:p>
            <a:pPr algn="l">
              <a:lnSpc>
                <a:spcPct val="100000"/>
              </a:lnSpc>
            </a:pPr>
            <a:r>
              <a:rPr sz="1500" b="1" i="0">
                <a:solidFill>
                  <a:srgbClr val="222222"/>
                </a:solidFill>
                <a:latin typeface="Calibri"/>
              </a:rPr>
              <a:t>neural control</a:t>
            </a:r>
          </a:p>
        </p:txBody>
      </p:sp>
      <p:sp>
        <p:nvSpPr>
          <p:cNvPr id="26" name="TextBox 25"/>
          <p:cNvSpPr txBox="1"/>
          <p:nvPr/>
        </p:nvSpPr>
        <p:spPr>
          <a:xfrm>
            <a:off x="9243669" y="3730752"/>
            <a:ext cx="2212848" cy="1463040"/>
          </a:xfrm>
          <a:prstGeom prst="rect">
            <a:avLst/>
          </a:prstGeom>
          <a:noFill/>
        </p:spPr>
        <p:txBody>
          <a:bodyPr wrap="square" anchor="t" lIns="0" rIns="0" tIns="0" bIns="0">
            <a:spAutoFit/>
          </a:bodyPr>
          <a:lstStyle/>
          <a:p>
            <a:pPr algn="l">
              <a:lnSpc>
                <a:spcPct val="105000"/>
              </a:lnSpc>
            </a:pPr>
            <a:r>
              <a:rPr sz="1050" b="0" i="0">
                <a:solidFill>
                  <a:srgbClr val="595959"/>
                </a:solidFill>
                <a:latin typeface="Calibri"/>
              </a:rPr>
              <a:t>OpenSim to MuJoCo conversion; SNS-Toolbox two-level</a:t>
            </a:r>
          </a:p>
          <a:p>
            <a:pPr algn="l">
              <a:lnSpc>
                <a:spcPct val="105000"/>
              </a:lnSpc>
            </a:pPr>
            <a:r>
              <a:rPr sz="1050" b="0" i="0">
                <a:solidFill>
                  <a:srgbClr val="595959"/>
                </a:solidFill>
                <a:latin typeface="Calibri"/>
              </a:rPr>
              <a:t>spinal CPG with proprioceptive and heel/toe contact</a:t>
            </a:r>
          </a:p>
          <a:p>
            <a:pPr algn="l">
              <a:lnSpc>
                <a:spcPct val="105000"/>
              </a:lnSpc>
            </a:pPr>
            <a:r>
              <a:rPr sz="1050" b="0" i="0">
                <a:solidFill>
                  <a:srgbClr val="595959"/>
                </a:solidFill>
                <a:latin typeface="Calibri"/>
              </a:rPr>
              <a:t>feedback; staged tuning and verification</a:t>
            </a:r>
          </a:p>
          <a:p>
            <a:pPr algn="l">
              <a:lnSpc>
                <a:spcPct val="105000"/>
              </a:lnSpc>
            </a:pPr>
            <a:r>
              <a:rPr sz="1050" b="0" i="0">
                <a:solidFill>
                  <a:srgbClr val="595959"/>
                </a:solidFill>
                <a:latin typeface="Calibri"/>
              </a:rPr>
              <a:t>(Ch. 6-7)</a:t>
            </a:r>
          </a:p>
        </p:txBody>
      </p:sp>
      <p:sp>
        <p:nvSpPr>
          <p:cNvPr id="27" name="TextBox 26"/>
          <p:cNvSpPr txBox="1"/>
          <p:nvPr/>
        </p:nvSpPr>
        <p:spPr>
          <a:xfrm>
            <a:off x="9243669" y="5285232"/>
            <a:ext cx="2212848" cy="658368"/>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verified cross-engine</a:t>
            </a:r>
          </a:p>
          <a:p>
            <a:pPr algn="l">
              <a:lnSpc>
                <a:spcPct val="100000"/>
              </a:lnSpc>
            </a:pPr>
            <a:r>
              <a:rPr sz="1200" b="1" i="0">
                <a:solidFill>
                  <a:srgbClr val="00796B"/>
                </a:solidFill>
                <a:latin typeface="Calibri"/>
              </a:rPr>
              <a:t>toolchain</a:t>
            </a:r>
          </a:p>
        </p:txBody>
      </p:sp>
      <p:sp>
        <p:nvSpPr>
          <p:cNvPr id="28" name="TextBox 2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THE PROJECT</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A humanoid robot from the trunk down: human-like body plan, synthetic nervous system</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1 §1.2; Bolen &amp; Hunt 2019; Morrow et al. 2020; Steele 2018; Scharzenberger et al. 2019</a:t>
            </a:r>
          </a:p>
        </p:txBody>
      </p:sp>
      <p:pic>
        <p:nvPicPr>
          <p:cNvPr id="5" name="Picture 4" descr="mujoco_robot.png"/>
          <p:cNvPicPr>
            <a:picLocks noChangeAspect="1"/>
          </p:cNvPicPr>
          <p:nvPr/>
        </p:nvPicPr>
        <p:blipFill>
          <a:blip r:embed="rId3"/>
          <a:stretch>
            <a:fillRect/>
          </a:stretch>
        </p:blipFill>
        <p:spPr>
          <a:xfrm>
            <a:off x="411480" y="1600200"/>
            <a:ext cx="3108959" cy="4663440"/>
          </a:xfrm>
          <a:prstGeom prst="rect">
            <a:avLst/>
          </a:prstGeom>
        </p:spPr>
      </p:pic>
      <p:sp>
        <p:nvSpPr>
          <p:cNvPr id="6" name="TextBox 5"/>
          <p:cNvSpPr txBox="1"/>
          <p:nvPr/>
        </p:nvSpPr>
        <p:spPr>
          <a:xfrm>
            <a:off x="411480" y="5989320"/>
            <a:ext cx="3200400" cy="365760"/>
          </a:xfrm>
          <a:prstGeom prst="rect">
            <a:avLst/>
          </a:prstGeom>
          <a:noFill/>
        </p:spPr>
        <p:txBody>
          <a:bodyPr wrap="square" anchor="t" lIns="0" rIns="0" tIns="0" bIns="0">
            <a:spAutoFit/>
          </a:bodyPr>
          <a:lstStyle/>
          <a:p>
            <a:pPr algn="l">
              <a:lnSpc>
                <a:spcPct val="100000"/>
              </a:lnSpc>
            </a:pPr>
            <a:r>
              <a:rPr sz="1100" b="0" i="1">
                <a:solidFill>
                  <a:srgbClr val="7F7F7F"/>
                </a:solidFill>
                <a:latin typeface="Calibri"/>
              </a:rPr>
              <a:t>converted leg model, 92 muscle paths</a:t>
            </a:r>
          </a:p>
        </p:txBody>
      </p:sp>
      <p:sp>
        <p:nvSpPr>
          <p:cNvPr id="7" name="TextBox 6"/>
          <p:cNvSpPr txBox="1"/>
          <p:nvPr/>
        </p:nvSpPr>
        <p:spPr>
          <a:xfrm>
            <a:off x="3977639" y="1783080"/>
            <a:ext cx="4983480" cy="1371600"/>
          </a:xfrm>
          <a:prstGeom prst="rect">
            <a:avLst/>
          </a:prstGeom>
          <a:noFill/>
        </p:spPr>
        <p:txBody>
          <a:bodyPr wrap="square" anchor="t" lIns="0" rIns="0" tIns="0" bIns="0">
            <a:spAutoFit/>
          </a:bodyPr>
          <a:lstStyle/>
          <a:p>
            <a:pPr algn="l">
              <a:lnSpc>
                <a:spcPct val="100000"/>
              </a:lnSpc>
              <a:spcAft>
                <a:spcPts val="300"/>
              </a:spcAft>
            </a:pPr>
            <a:r>
              <a:rPr sz="1200" b="1" i="0">
                <a:solidFill>
                  <a:srgbClr val="00796B"/>
                </a:solidFill>
                <a:latin typeface="Calibri"/>
              </a:rPr>
              <a:t>GUIDING HYPOTHESIS</a:t>
            </a:r>
          </a:p>
          <a:p>
            <a:pPr algn="l">
              <a:lnSpc>
                <a:spcPct val="108000"/>
              </a:lnSpc>
            </a:pPr>
            <a:r>
              <a:rPr sz="1450" b="0" i="0">
                <a:solidFill>
                  <a:srgbClr val="222222"/>
                </a:solidFill>
                <a:latin typeface="Calibri"/>
              </a:rPr>
              <a:t>human-like muscle numbers, architecture, routing + human-like torque capability, controlled by a biologically grounded neural architecture  →  biomimetic movement</a:t>
            </a:r>
          </a:p>
        </p:txBody>
      </p:sp>
      <p:sp>
        <p:nvSpPr>
          <p:cNvPr id="8" name="TextBox 7"/>
          <p:cNvSpPr txBox="1"/>
          <p:nvPr/>
        </p:nvSpPr>
        <p:spPr>
          <a:xfrm>
            <a:off x="3977639" y="3264408"/>
            <a:ext cx="4983480" cy="1371600"/>
          </a:xfrm>
          <a:prstGeom prst="rect">
            <a:avLst/>
          </a:prstGeom>
          <a:noFill/>
        </p:spPr>
        <p:txBody>
          <a:bodyPr wrap="square" anchor="t" lIns="0" rIns="0" tIns="0" bIns="0">
            <a:spAutoFit/>
          </a:bodyPr>
          <a:lstStyle/>
          <a:p>
            <a:pPr algn="l">
              <a:lnSpc>
                <a:spcPct val="100000"/>
              </a:lnSpc>
              <a:spcAft>
                <a:spcPts val="300"/>
              </a:spcAft>
            </a:pPr>
            <a:r>
              <a:rPr sz="1200" b="1" i="0">
                <a:solidFill>
                  <a:srgbClr val="00796B"/>
                </a:solidFill>
                <a:latin typeface="Calibri"/>
              </a:rPr>
              <a:t>BUILT ON</a:t>
            </a:r>
          </a:p>
          <a:p>
            <a:pPr algn="l">
              <a:lnSpc>
                <a:spcPct val="108000"/>
              </a:lnSpc>
            </a:pPr>
            <a:r>
              <a:rPr sz="1450" b="0" i="0">
                <a:solidFill>
                  <a:srgbClr val="222222"/>
                </a:solidFill>
                <a:latin typeface="Calibri"/>
              </a:rPr>
              <a:t>my master's work: Gait2392-matched kinematics, muscle routing tools  ·  Morrow: optimized attachments  ·  Steele: biomimetic 4-bar knee  ·  Scharzenberger: BPA quadruped</a:t>
            </a:r>
          </a:p>
        </p:txBody>
      </p:sp>
      <p:sp>
        <p:nvSpPr>
          <p:cNvPr id="9" name="TextBox 8"/>
          <p:cNvSpPr txBox="1"/>
          <p:nvPr/>
        </p:nvSpPr>
        <p:spPr>
          <a:xfrm>
            <a:off x="3977639" y="4745736"/>
            <a:ext cx="4983480" cy="1371600"/>
          </a:xfrm>
          <a:prstGeom prst="rect">
            <a:avLst/>
          </a:prstGeom>
          <a:noFill/>
        </p:spPr>
        <p:txBody>
          <a:bodyPr wrap="square" anchor="t" lIns="0" rIns="0" tIns="0" bIns="0">
            <a:spAutoFit/>
          </a:bodyPr>
          <a:lstStyle/>
          <a:p>
            <a:pPr algn="l">
              <a:lnSpc>
                <a:spcPct val="100000"/>
              </a:lnSpc>
              <a:spcAft>
                <a:spcPts val="300"/>
              </a:spcAft>
            </a:pPr>
            <a:r>
              <a:rPr sz="1200" b="1" i="0">
                <a:solidFill>
                  <a:srgbClr val="38761D"/>
                </a:solidFill>
                <a:latin typeface="Calibri"/>
              </a:rPr>
              <a:t>THIS DISSERTATION</a:t>
            </a:r>
          </a:p>
          <a:p>
            <a:pPr algn="l">
              <a:lnSpc>
                <a:spcPct val="108000"/>
              </a:lnSpc>
            </a:pPr>
            <a:r>
              <a:rPr sz="1450" b="0" i="0">
                <a:solidFill>
                  <a:srgbClr val="222222"/>
                </a:solidFill>
                <a:latin typeface="Calibri"/>
              </a:rPr>
              <a:t>the quantitative basis: characterize the actuator, correct the joint model against experiment, compare with human torque, consolidate the afferent data, and define the control path</a:t>
            </a:r>
          </a:p>
        </p:txBody>
      </p:sp>
      <p:pic>
        <p:nvPicPr>
          <p:cNvPr id="10" name="Picture 9" descr="image44.jpg"/>
          <p:cNvPicPr>
            <a:picLocks noChangeAspect="1"/>
          </p:cNvPicPr>
          <p:nvPr/>
        </p:nvPicPr>
        <p:blipFill>
          <a:blip r:embed="rId4"/>
          <a:stretch>
            <a:fillRect/>
          </a:stretch>
        </p:blipFill>
        <p:spPr>
          <a:xfrm>
            <a:off x="9509760" y="4983480"/>
            <a:ext cx="1828800" cy="1371600"/>
          </a:xfrm>
          <a:prstGeom prst="rect">
            <a:avLst/>
          </a:prstGeom>
        </p:spPr>
      </p:pic>
      <p:sp>
        <p:nvSpPr>
          <p:cNvPr id="11" name="TextBox 10"/>
          <p:cNvSpPr txBox="1"/>
          <p:nvPr/>
        </p:nvSpPr>
        <p:spPr>
          <a:xfrm>
            <a:off x="3977639" y="5989320"/>
            <a:ext cx="4983480" cy="365760"/>
          </a:xfrm>
          <a:prstGeom prst="rect">
            <a:avLst/>
          </a:prstGeom>
          <a:noFill/>
        </p:spPr>
        <p:txBody>
          <a:bodyPr wrap="square" anchor="t" lIns="0" rIns="0" tIns="0" bIns="0">
            <a:spAutoFit/>
          </a:bodyPr>
          <a:lstStyle/>
          <a:p>
            <a:pPr algn="l">
              <a:lnSpc>
                <a:spcPct val="100000"/>
              </a:lnSpc>
            </a:pPr>
            <a:r>
              <a:rPr sz="1100" b="0" i="1">
                <a:solidFill>
                  <a:srgbClr val="7F7F7F"/>
                </a:solidFill>
                <a:latin typeface="Calibri"/>
              </a:rPr>
              <a:t>AARL quadruped: BPA actuators + SNS, already on a treadmill</a:t>
            </a:r>
          </a:p>
        </p:txBody>
      </p:sp>
      <p:sp>
        <p:nvSpPr>
          <p:cNvPr id="12" name="TextBox 11"/>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WHY BIOMIMETIC ROBOTS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Robots run neuromechanical experiments that are impossible in living subjects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1 §1.1; Ijspeert 2020; Shin et al. 2018; photo: Asano et al. 2016, Humanoids</a:t>
            </a:r>
          </a:p>
        </p:txBody>
      </p:sp>
      <p:sp>
        <p:nvSpPr>
          <p:cNvPr id="5" name="Rounded Rectangle 4"/>
          <p:cNvSpPr/>
          <p:nvPr/>
        </p:nvSpPr>
        <p:spPr>
          <a:xfrm>
            <a:off x="502920" y="1965960"/>
            <a:ext cx="3200400" cy="1051560"/>
          </a:xfrm>
          <a:prstGeom prst="roundRect">
            <a:avLst>
              <a:gd name="adj" fmla="val 12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400" b="0">
                <a:solidFill>
                  <a:srgbClr val="222222"/>
                </a:solidFill>
                <a:latin typeface="Calibri"/>
              </a:rPr>
              <a:t>Biology</a:t>
            </a:r>
          </a:p>
          <a:p>
            <a:pPr algn="ctr">
              <a:lnSpc>
                <a:spcPct val="95000"/>
              </a:lnSpc>
            </a:pPr>
            <a:r>
              <a:rPr sz="1400" b="0">
                <a:solidFill>
                  <a:srgbClr val="222222"/>
                </a:solidFill>
                <a:latin typeface="Calibri"/>
              </a:rPr>
              <a:t>anatomy · architecture · afferents</a:t>
            </a:r>
          </a:p>
        </p:txBody>
      </p:sp>
      <p:sp>
        <p:nvSpPr>
          <p:cNvPr id="6" name="Rounded Rectangle 5"/>
          <p:cNvSpPr/>
          <p:nvPr/>
        </p:nvSpPr>
        <p:spPr>
          <a:xfrm>
            <a:off x="502920" y="4480560"/>
            <a:ext cx="3200400" cy="105156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400" b="0">
                <a:solidFill>
                  <a:srgbClr val="222222"/>
                </a:solidFill>
                <a:latin typeface="Calibri"/>
              </a:rPr>
              <a:t>Robot</a:t>
            </a:r>
          </a:p>
          <a:p>
            <a:pPr algn="ctr">
              <a:lnSpc>
                <a:spcPct val="95000"/>
              </a:lnSpc>
            </a:pPr>
            <a:r>
              <a:rPr sz="1400" b="0">
                <a:solidFill>
                  <a:srgbClr val="222222"/>
                </a:solidFill>
                <a:latin typeface="Calibri"/>
              </a:rPr>
              <a:t>actuators · routing · controller</a:t>
            </a:r>
          </a:p>
        </p:txBody>
      </p:sp>
      <p:cxnSp>
        <p:nvCxnSpPr>
          <p:cNvPr id="7" name="Connector 6"/>
          <p:cNvCxnSpPr/>
          <p:nvPr/>
        </p:nvCxnSpPr>
        <p:spPr>
          <a:xfrm>
            <a:off x="1417320" y="3108960"/>
            <a:ext cx="0" cy="1280160"/>
          </a:xfrm>
          <a:prstGeom prst="line">
            <a:avLst/>
          </a:prstGeom>
          <a:ln w="31750">
            <a:solidFill>
              <a:srgbClr val="38761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554480" y="3520440"/>
            <a:ext cx="2377440" cy="457200"/>
          </a:xfrm>
          <a:prstGeom prst="rect">
            <a:avLst/>
          </a:prstGeom>
          <a:noFill/>
        </p:spPr>
        <p:txBody>
          <a:bodyPr wrap="square" anchor="t" lIns="0" rIns="0" tIns="0" bIns="0">
            <a:spAutoFit/>
          </a:bodyPr>
          <a:lstStyle/>
          <a:p>
            <a:pPr algn="l">
              <a:lnSpc>
                <a:spcPct val="100000"/>
              </a:lnSpc>
            </a:pPr>
            <a:r>
              <a:rPr sz="1200" b="1" i="0">
                <a:solidFill>
                  <a:srgbClr val="38761D"/>
                </a:solidFill>
                <a:latin typeface="Calibri"/>
              </a:rPr>
              <a:t>design principles</a:t>
            </a:r>
          </a:p>
        </p:txBody>
      </p:sp>
      <p:cxnSp>
        <p:nvCxnSpPr>
          <p:cNvPr id="9" name="Connector 8"/>
          <p:cNvCxnSpPr/>
          <p:nvPr/>
        </p:nvCxnSpPr>
        <p:spPr>
          <a:xfrm flipV="1">
            <a:off x="2880360" y="3108960"/>
            <a:ext cx="0" cy="1280160"/>
          </a:xfrm>
          <a:prstGeom prst="line">
            <a:avLst/>
          </a:prstGeom>
          <a:ln w="31750">
            <a:solidFill>
              <a:srgbClr val="AF7B5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990088" y="3520440"/>
            <a:ext cx="2377440" cy="457200"/>
          </a:xfrm>
          <a:prstGeom prst="rect">
            <a:avLst/>
          </a:prstGeom>
          <a:noFill/>
        </p:spPr>
        <p:txBody>
          <a:bodyPr wrap="square" anchor="t" lIns="0" rIns="0" tIns="0" bIns="0">
            <a:spAutoFit/>
          </a:bodyPr>
          <a:lstStyle/>
          <a:p>
            <a:pPr algn="l">
              <a:lnSpc>
                <a:spcPct val="100000"/>
              </a:lnSpc>
            </a:pPr>
            <a:r>
              <a:rPr sz="1200" b="1" i="0">
                <a:solidFill>
                  <a:srgbClr val="AF7B51"/>
                </a:solidFill>
                <a:latin typeface="Calibri"/>
              </a:rPr>
              <a:t>test hypotheses</a:t>
            </a:r>
          </a:p>
        </p:txBody>
      </p:sp>
      <p:pic>
        <p:nvPicPr>
          <p:cNvPr id="11" name="Picture 10" descr="image11.png"/>
          <p:cNvPicPr>
            <a:picLocks noChangeAspect="1"/>
          </p:cNvPicPr>
          <p:nvPr/>
        </p:nvPicPr>
        <p:blipFill>
          <a:blip r:embed="rId3"/>
          <a:stretch>
            <a:fillRect/>
          </a:stretch>
        </p:blipFill>
        <p:spPr>
          <a:xfrm>
            <a:off x="8138160" y="1806923"/>
            <a:ext cx="3566160" cy="4249993"/>
          </a:xfrm>
          <a:prstGeom prst="rect">
            <a:avLst/>
          </a:prstGeom>
        </p:spPr>
      </p:pic>
      <p:sp>
        <p:nvSpPr>
          <p:cNvPr id="12" name="TextBox 11"/>
          <p:cNvSpPr txBox="1"/>
          <p:nvPr/>
        </p:nvSpPr>
        <p:spPr>
          <a:xfrm>
            <a:off x="8138160" y="6144768"/>
            <a:ext cx="3566160" cy="320040"/>
          </a:xfrm>
          <a:prstGeom prst="rect">
            <a:avLst/>
          </a:prstGeom>
          <a:noFill/>
        </p:spPr>
        <p:txBody>
          <a:bodyPr wrap="square" anchor="t" lIns="0" rIns="0" tIns="0" bIns="0">
            <a:spAutoFit/>
          </a:bodyPr>
          <a:lstStyle/>
          <a:p>
            <a:pPr algn="ctr">
              <a:lnSpc>
                <a:spcPct val="100000"/>
              </a:lnSpc>
            </a:pPr>
            <a:r>
              <a:rPr sz="1100" b="0" i="1">
                <a:solidFill>
                  <a:srgbClr val="7F7F7F"/>
                </a:solidFill>
                <a:latin typeface="Calibri"/>
              </a:rPr>
              <a:t>human-mimetic musculoskeletal humanoid</a:t>
            </a:r>
          </a:p>
        </p:txBody>
      </p:sp>
      <p:sp>
        <p:nvSpPr>
          <p:cNvPr id="13" name="TextBox 12"/>
          <p:cNvSpPr txBox="1"/>
          <p:nvPr/>
        </p:nvSpPr>
        <p:spPr>
          <a:xfrm>
            <a:off x="4160520" y="1920240"/>
            <a:ext cx="3840480" cy="457200"/>
          </a:xfrm>
          <a:prstGeom prst="rect">
            <a:avLst/>
          </a:prstGeom>
          <a:noFill/>
        </p:spPr>
        <p:txBody>
          <a:bodyPr wrap="square" anchor="t" lIns="0" rIns="0" tIns="0" bIns="0">
            <a:spAutoFit/>
          </a:bodyPr>
          <a:lstStyle/>
          <a:p>
            <a:pPr algn="l">
              <a:lnSpc>
                <a:spcPct val="100000"/>
              </a:lnSpc>
            </a:pPr>
            <a:r>
              <a:rPr sz="1600" b="0" i="0">
                <a:solidFill>
                  <a:srgbClr val="222222"/>
                </a:solidFill>
                <a:latin typeface="Calibri"/>
              </a:rPr>
              <a:t>–  Remove one muscle from the system</a:t>
            </a:r>
          </a:p>
        </p:txBody>
      </p:sp>
      <p:sp>
        <p:nvSpPr>
          <p:cNvPr id="14" name="TextBox 13"/>
          <p:cNvSpPr txBox="1"/>
          <p:nvPr/>
        </p:nvSpPr>
        <p:spPr>
          <a:xfrm>
            <a:off x="4160520" y="2487168"/>
            <a:ext cx="3840480" cy="457200"/>
          </a:xfrm>
          <a:prstGeom prst="rect">
            <a:avLst/>
          </a:prstGeom>
          <a:noFill/>
        </p:spPr>
        <p:txBody>
          <a:bodyPr wrap="square" anchor="t" lIns="0" rIns="0" tIns="0" bIns="0">
            <a:spAutoFit/>
          </a:bodyPr>
          <a:lstStyle/>
          <a:p>
            <a:pPr algn="l">
              <a:lnSpc>
                <a:spcPct val="100000"/>
              </a:lnSpc>
            </a:pPr>
            <a:r>
              <a:rPr sz="1600" b="0" i="0">
                <a:solidFill>
                  <a:srgbClr val="222222"/>
                </a:solidFill>
                <a:latin typeface="Calibri"/>
              </a:rPr>
              <a:t>–  Block one sensory feedback pathway</a:t>
            </a:r>
          </a:p>
        </p:txBody>
      </p:sp>
      <p:sp>
        <p:nvSpPr>
          <p:cNvPr id="15" name="TextBox 14"/>
          <p:cNvSpPr txBox="1"/>
          <p:nvPr/>
        </p:nvSpPr>
        <p:spPr>
          <a:xfrm>
            <a:off x="4160520" y="3054096"/>
            <a:ext cx="3840480" cy="457200"/>
          </a:xfrm>
          <a:prstGeom prst="rect">
            <a:avLst/>
          </a:prstGeom>
          <a:noFill/>
        </p:spPr>
        <p:txBody>
          <a:bodyPr wrap="square" anchor="t" lIns="0" rIns="0" tIns="0" bIns="0">
            <a:spAutoFit/>
          </a:bodyPr>
          <a:lstStyle/>
          <a:p>
            <a:pPr algn="l">
              <a:lnSpc>
                <a:spcPct val="100000"/>
              </a:lnSpc>
            </a:pPr>
            <a:r>
              <a:rPr sz="1600" b="0" i="0">
                <a:solidFill>
                  <a:srgbClr val="222222"/>
                </a:solidFill>
                <a:latin typeface="Calibri"/>
              </a:rPr>
              <a:t>–  Stimulate a named neural pathway</a:t>
            </a:r>
          </a:p>
        </p:txBody>
      </p:sp>
      <p:sp>
        <p:nvSpPr>
          <p:cNvPr id="16" name="TextBox 15"/>
          <p:cNvSpPr txBox="1"/>
          <p:nvPr/>
        </p:nvSpPr>
        <p:spPr>
          <a:xfrm>
            <a:off x="4160520" y="3621024"/>
            <a:ext cx="3840480" cy="457200"/>
          </a:xfrm>
          <a:prstGeom prst="rect">
            <a:avLst/>
          </a:prstGeom>
          <a:noFill/>
        </p:spPr>
        <p:txBody>
          <a:bodyPr wrap="square" anchor="t" lIns="0" rIns="0" tIns="0" bIns="0">
            <a:spAutoFit/>
          </a:bodyPr>
          <a:lstStyle/>
          <a:p>
            <a:pPr algn="l">
              <a:lnSpc>
                <a:spcPct val="100000"/>
              </a:lnSpc>
            </a:pPr>
            <a:r>
              <a:rPr sz="1600" b="0" i="0">
                <a:solidFill>
                  <a:srgbClr val="222222"/>
                </a:solidFill>
                <a:latin typeface="Calibri"/>
              </a:rPr>
              <a:t>–  Identical copies - no individual variance</a:t>
            </a:r>
          </a:p>
        </p:txBody>
      </p:sp>
      <p:sp>
        <p:nvSpPr>
          <p:cNvPr id="17" name="TextBox 16"/>
          <p:cNvSpPr txBox="1"/>
          <p:nvPr/>
        </p:nvSpPr>
        <p:spPr>
          <a:xfrm>
            <a:off x="4160520" y="4187952"/>
            <a:ext cx="3840480" cy="457200"/>
          </a:xfrm>
          <a:prstGeom prst="rect">
            <a:avLst/>
          </a:prstGeom>
          <a:noFill/>
        </p:spPr>
        <p:txBody>
          <a:bodyPr wrap="square" anchor="t" lIns="0" rIns="0" tIns="0" bIns="0">
            <a:spAutoFit/>
          </a:bodyPr>
          <a:lstStyle/>
          <a:p>
            <a:pPr algn="l">
              <a:lnSpc>
                <a:spcPct val="100000"/>
              </a:lnSpc>
            </a:pPr>
            <a:r>
              <a:rPr sz="1600" b="0" i="0">
                <a:solidFill>
                  <a:srgbClr val="222222"/>
                </a:solidFill>
                <a:latin typeface="Calibri"/>
              </a:rPr>
              <a:t>–  Faster, cheaper, ethical vs. human studies</a:t>
            </a:r>
          </a:p>
        </p:txBody>
      </p:sp>
      <p:sp>
        <p:nvSpPr>
          <p:cNvPr id="18" name="TextBox 17"/>
          <p:cNvSpPr txBox="1"/>
          <p:nvPr/>
        </p:nvSpPr>
        <p:spPr>
          <a:xfrm>
            <a:off x="4160520" y="5074920"/>
            <a:ext cx="3840480" cy="1097280"/>
          </a:xfrm>
          <a:prstGeom prst="rect">
            <a:avLst/>
          </a:prstGeom>
          <a:noFill/>
        </p:spPr>
        <p:txBody>
          <a:bodyPr wrap="square" anchor="t" lIns="0" rIns="0" tIns="0" bIns="0">
            <a:spAutoFit/>
          </a:bodyPr>
          <a:lstStyle/>
          <a:p>
            <a:pPr algn="l">
              <a:lnSpc>
                <a:spcPct val="105000"/>
              </a:lnSpc>
            </a:pPr>
            <a:r>
              <a:rPr sz="1500" b="1" i="0">
                <a:solidFill>
                  <a:srgbClr val="AF7B51"/>
                </a:solidFill>
                <a:latin typeface="Calibri"/>
              </a:rPr>
              <a:t>Loss-of-function and stimulation experiments</a:t>
            </a:r>
          </a:p>
          <a:p>
            <a:pPr algn="l">
              <a:lnSpc>
                <a:spcPct val="105000"/>
              </a:lnSpc>
            </a:pPr>
            <a:r>
              <a:rPr sz="1500" b="1" i="0">
                <a:solidFill>
                  <a:srgbClr val="AF7B51"/>
                </a:solidFill>
                <a:latin typeface="Calibri"/>
              </a:rPr>
              <a:t>are the point of the platform.</a:t>
            </a:r>
          </a:p>
        </p:txBody>
      </p:sp>
      <p:sp>
        <p:nvSpPr>
          <p:cNvPr id="19" name="TextBox 1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THE ACTUATOR</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Braided pneumatic actuators: muscle-like strengths, and three modeling headaches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1 §1.1 + Ch. 2; Hunt et al. 2017; Sárosi et al. 2012-2017; Martens &amp; Boblan 2017; Festo DMSP datasheets</a:t>
            </a:r>
          </a:p>
        </p:txBody>
      </p:sp>
      <p:pic>
        <p:nvPicPr>
          <p:cNvPr id="5" name="Picture 4" descr="image5.png"/>
          <p:cNvPicPr>
            <a:picLocks noChangeAspect="1"/>
          </p:cNvPicPr>
          <p:nvPr/>
        </p:nvPicPr>
        <p:blipFill>
          <a:blip r:embed="rId3"/>
          <a:stretch>
            <a:fillRect/>
          </a:stretch>
        </p:blipFill>
        <p:spPr>
          <a:xfrm>
            <a:off x="669462" y="1783080"/>
            <a:ext cx="1587154" cy="4206240"/>
          </a:xfrm>
          <a:prstGeom prst="rect">
            <a:avLst/>
          </a:prstGeom>
        </p:spPr>
      </p:pic>
      <p:sp>
        <p:nvSpPr>
          <p:cNvPr id="6" name="TextBox 5"/>
          <p:cNvSpPr txBox="1"/>
          <p:nvPr/>
        </p:nvSpPr>
        <p:spPr>
          <a:xfrm>
            <a:off x="320040" y="6035040"/>
            <a:ext cx="2286000" cy="320040"/>
          </a:xfrm>
          <a:prstGeom prst="rect">
            <a:avLst/>
          </a:prstGeom>
          <a:noFill/>
        </p:spPr>
        <p:txBody>
          <a:bodyPr wrap="square" anchor="t" lIns="0" rIns="0" tIns="0" bIns="0">
            <a:spAutoFit/>
          </a:bodyPr>
          <a:lstStyle/>
          <a:p>
            <a:pPr algn="ctr">
              <a:lnSpc>
                <a:spcPct val="100000"/>
              </a:lnSpc>
            </a:pPr>
            <a:r>
              <a:rPr sz="1100" b="0" i="1">
                <a:solidFill>
                  <a:srgbClr val="7F7F7F"/>
                </a:solidFill>
                <a:latin typeface="Calibri"/>
              </a:rPr>
              <a:t>Festo DMSP-10/20</a:t>
            </a:r>
          </a:p>
        </p:txBody>
      </p:sp>
      <p:sp>
        <p:nvSpPr>
          <p:cNvPr id="7" name="TextBox 6"/>
          <p:cNvSpPr txBox="1"/>
          <p:nvPr/>
        </p:nvSpPr>
        <p:spPr>
          <a:xfrm>
            <a:off x="3017520" y="1783080"/>
            <a:ext cx="4206240" cy="365760"/>
          </a:xfrm>
          <a:prstGeom prst="rect">
            <a:avLst/>
          </a:prstGeom>
          <a:noFill/>
        </p:spPr>
        <p:txBody>
          <a:bodyPr wrap="square" anchor="t" lIns="0" rIns="0" tIns="0" bIns="0">
            <a:spAutoFit/>
          </a:bodyPr>
          <a:lstStyle/>
          <a:p>
            <a:pPr algn="l">
              <a:lnSpc>
                <a:spcPct val="100000"/>
              </a:lnSpc>
            </a:pPr>
            <a:r>
              <a:rPr sz="1300" b="1" i="0">
                <a:solidFill>
                  <a:srgbClr val="38761D"/>
                </a:solidFill>
                <a:latin typeface="Calibri"/>
              </a:rPr>
              <a:t>WHY WE USE THEM</a:t>
            </a:r>
          </a:p>
        </p:txBody>
      </p:sp>
      <p:sp>
        <p:nvSpPr>
          <p:cNvPr id="8" name="TextBox 7"/>
          <p:cNvSpPr txBox="1"/>
          <p:nvPr/>
        </p:nvSpPr>
        <p:spPr>
          <a:xfrm>
            <a:off x="3017520" y="2240280"/>
            <a:ext cx="420624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High force-to-weight, low mass</a:t>
            </a:r>
          </a:p>
        </p:txBody>
      </p:sp>
      <p:sp>
        <p:nvSpPr>
          <p:cNvPr id="9" name="TextBox 8"/>
          <p:cNvSpPr txBox="1"/>
          <p:nvPr/>
        </p:nvSpPr>
        <p:spPr>
          <a:xfrm>
            <a:off x="3017520" y="2862072"/>
            <a:ext cx="420624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Intrinsic compliance - safe, spring-like</a:t>
            </a:r>
          </a:p>
        </p:txBody>
      </p:sp>
      <p:sp>
        <p:nvSpPr>
          <p:cNvPr id="10" name="TextBox 9"/>
          <p:cNvSpPr txBox="1"/>
          <p:nvPr/>
        </p:nvSpPr>
        <p:spPr>
          <a:xfrm>
            <a:off x="3017520" y="3483864"/>
            <a:ext cx="420624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Tension-only, like biological muscle</a:t>
            </a:r>
          </a:p>
        </p:txBody>
      </p:sp>
      <p:sp>
        <p:nvSpPr>
          <p:cNvPr id="11" name="TextBox 10"/>
          <p:cNvSpPr txBox="1"/>
          <p:nvPr/>
        </p:nvSpPr>
        <p:spPr>
          <a:xfrm>
            <a:off x="3017520" y="4105656"/>
            <a:ext cx="420624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Force-length curve qualitatively muscle-like</a:t>
            </a:r>
          </a:p>
        </p:txBody>
      </p:sp>
      <p:sp>
        <p:nvSpPr>
          <p:cNvPr id="12" name="TextBox 11"/>
          <p:cNvSpPr txBox="1"/>
          <p:nvPr/>
        </p:nvSpPr>
        <p:spPr>
          <a:xfrm>
            <a:off x="7543800" y="1783080"/>
            <a:ext cx="4114800" cy="365760"/>
          </a:xfrm>
          <a:prstGeom prst="rect">
            <a:avLst/>
          </a:prstGeom>
          <a:noFill/>
        </p:spPr>
        <p:txBody>
          <a:bodyPr wrap="square" anchor="t" lIns="0" rIns="0" tIns="0" bIns="0">
            <a:spAutoFit/>
          </a:bodyPr>
          <a:lstStyle/>
          <a:p>
            <a:pPr algn="l">
              <a:lnSpc>
                <a:spcPct val="100000"/>
              </a:lnSpc>
            </a:pPr>
            <a:r>
              <a:rPr sz="1300" b="1" i="0">
                <a:solidFill>
                  <a:srgbClr val="C00000"/>
                </a:solidFill>
                <a:latin typeface="Calibri"/>
              </a:rPr>
              <a:t>WHY THEY ARE HARD</a:t>
            </a:r>
          </a:p>
        </p:txBody>
      </p:sp>
      <p:sp>
        <p:nvSpPr>
          <p:cNvPr id="13" name="TextBox 12"/>
          <p:cNvSpPr txBox="1"/>
          <p:nvPr/>
        </p:nvSpPr>
        <p:spPr>
          <a:xfrm>
            <a:off x="7543800" y="2240280"/>
            <a:ext cx="411480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Maximum force occurs AT resting length</a:t>
            </a:r>
          </a:p>
        </p:txBody>
      </p:sp>
      <p:sp>
        <p:nvSpPr>
          <p:cNvPr id="14" name="TextBox 13"/>
          <p:cNvSpPr txBox="1"/>
          <p:nvPr/>
        </p:nvSpPr>
        <p:spPr>
          <a:xfrm>
            <a:off x="7543800" y="2862072"/>
            <a:ext cx="411480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Contraction limited (max ≈ ε₆₂₀)</a:t>
            </a:r>
          </a:p>
        </p:txBody>
      </p:sp>
      <p:sp>
        <p:nvSpPr>
          <p:cNvPr id="15" name="TextBox 14"/>
          <p:cNvSpPr txBox="1"/>
          <p:nvPr/>
        </p:nvSpPr>
        <p:spPr>
          <a:xfrm>
            <a:off x="7543800" y="3483864"/>
            <a:ext cx="411480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F highly nonlinear in l₀, P, ε</a:t>
            </a:r>
          </a:p>
        </p:txBody>
      </p:sp>
      <p:sp>
        <p:nvSpPr>
          <p:cNvPr id="16" name="TextBox 15"/>
          <p:cNvSpPr txBox="1"/>
          <p:nvPr/>
        </p:nvSpPr>
        <p:spPr>
          <a:xfrm>
            <a:off x="7543800" y="4105656"/>
            <a:ext cx="4114800" cy="457200"/>
          </a:xfrm>
          <a:prstGeom prst="rect">
            <a:avLst/>
          </a:prstGeom>
          <a:noFill/>
        </p:spPr>
        <p:txBody>
          <a:bodyPr wrap="square" anchor="t" lIns="0" rIns="0" tIns="0" bIns="0">
            <a:spAutoFit/>
          </a:bodyPr>
          <a:lstStyle/>
          <a:p>
            <a:pPr algn="l">
              <a:lnSpc>
                <a:spcPct val="100000"/>
              </a:lnSpc>
            </a:pPr>
            <a:r>
              <a:rPr sz="1550" b="0" i="0">
                <a:solidFill>
                  <a:srgbClr val="222222"/>
                </a:solidFill>
                <a:latin typeface="Calibri"/>
              </a:rPr>
              <a:t>–  Manufacturer tool mis-predicts short BPAs</a:t>
            </a:r>
          </a:p>
        </p:txBody>
      </p:sp>
      <p:sp>
        <p:nvSpPr>
          <p:cNvPr id="17" name="Rounded Rectangle 16"/>
          <p:cNvSpPr/>
          <p:nvPr/>
        </p:nvSpPr>
        <p:spPr>
          <a:xfrm>
            <a:off x="3017520" y="4892040"/>
            <a:ext cx="8641080" cy="123444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5074920"/>
            <a:ext cx="8138160" cy="914400"/>
          </a:xfrm>
          <a:prstGeom prst="rect">
            <a:avLst/>
          </a:prstGeom>
          <a:noFill/>
        </p:spPr>
        <p:txBody>
          <a:bodyPr wrap="square" anchor="t" lIns="0" rIns="0" tIns="0" bIns="0">
            <a:spAutoFit/>
          </a:bodyPr>
          <a:lstStyle/>
          <a:p>
            <a:pPr algn="l">
              <a:lnSpc>
                <a:spcPct val="100000"/>
              </a:lnSpc>
              <a:spcAft>
                <a:spcPts val="300"/>
              </a:spcAft>
            </a:pPr>
            <a:r>
              <a:rPr sz="1450" b="0" i="0">
                <a:solidFill>
                  <a:srgbClr val="595959"/>
                </a:solidFill>
                <a:latin typeface="Calibri"/>
              </a:rPr>
              <a:t>Designing a biomimetic robot around BPAs needs quantitative, predictive models:</a:t>
            </a:r>
          </a:p>
          <a:p>
            <a:pPr algn="l">
              <a:lnSpc>
                <a:spcPct val="100000"/>
              </a:lnSpc>
            </a:pPr>
            <a:r>
              <a:rPr sz="1600" b="1" i="0">
                <a:solidFill>
                  <a:srgbClr val="AF7B51"/>
                </a:solidFill>
                <a:latin typeface="Calibri"/>
              </a:rPr>
              <a:t>actuator force  →  joint torque  →  comparison with human capability</a:t>
            </a:r>
          </a:p>
        </p:txBody>
      </p:sp>
      <p:sp>
        <p:nvSpPr>
          <p:cNvPr id="19" name="TextBox 1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PROBLEM STATEMENT</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Four gaps stood between the existing design and a robot that walks under neural control</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1 §1.1 (summary paragraph) + §1.3</a:t>
            </a:r>
          </a:p>
        </p:txBody>
      </p:sp>
      <p:sp>
        <p:nvSpPr>
          <p:cNvPr id="5" name="Rounded Rectangle 4"/>
          <p:cNvSpPr/>
          <p:nvPr/>
        </p:nvSpPr>
        <p:spPr>
          <a:xfrm>
            <a:off x="502920" y="1664208"/>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01368"/>
            <a:ext cx="1097280" cy="457200"/>
          </a:xfrm>
          <a:prstGeom prst="rect">
            <a:avLst/>
          </a:prstGeom>
          <a:noFill/>
        </p:spPr>
        <p:txBody>
          <a:bodyPr wrap="square" anchor="t" lIns="0" rIns="0" tIns="0" bIns="0">
            <a:spAutoFit/>
          </a:bodyPr>
          <a:lstStyle/>
          <a:p>
            <a:pPr algn="l">
              <a:lnSpc>
                <a:spcPct val="100000"/>
              </a:lnSpc>
            </a:pPr>
            <a:r>
              <a:rPr sz="1400" b="1" i="0">
                <a:solidFill>
                  <a:srgbClr val="38761D"/>
                </a:solidFill>
                <a:latin typeface="Calibri"/>
              </a:rPr>
              <a:t>GAP 1</a:t>
            </a:r>
          </a:p>
        </p:txBody>
      </p:sp>
      <p:sp>
        <p:nvSpPr>
          <p:cNvPr id="7" name="TextBox 6"/>
          <p:cNvSpPr txBox="1"/>
          <p:nvPr/>
        </p:nvSpPr>
        <p:spPr>
          <a:xfrm>
            <a:off x="1920240" y="1755648"/>
            <a:ext cx="9509760" cy="822960"/>
          </a:xfrm>
          <a:prstGeom prst="rect">
            <a:avLst/>
          </a:prstGeom>
          <a:noFill/>
        </p:spPr>
        <p:txBody>
          <a:bodyPr wrap="square" anchor="t" lIns="0" rIns="0" tIns="0" bIns="0">
            <a:spAutoFit/>
          </a:bodyPr>
          <a:lstStyle/>
          <a:p>
            <a:pPr algn="l">
              <a:lnSpc>
                <a:spcPct val="100000"/>
              </a:lnSpc>
              <a:spcAft>
                <a:spcPts val="100"/>
              </a:spcAft>
            </a:pPr>
            <a:r>
              <a:rPr sz="1500" b="1" i="0">
                <a:solidFill>
                  <a:srgbClr val="222222"/>
                </a:solidFill>
                <a:latin typeface="Calibri"/>
              </a:rPr>
              <a:t>No actuator force model valid at arbitrary resting length</a:t>
            </a:r>
          </a:p>
          <a:p>
            <a:pPr algn="l">
              <a:lnSpc>
                <a:spcPct val="100000"/>
              </a:lnSpc>
            </a:pPr>
            <a:r>
              <a:rPr sz="1250" b="0" i="0">
                <a:solidFill>
                  <a:srgbClr val="595959"/>
                </a:solidFill>
                <a:latin typeface="Calibri"/>
              </a:rPr>
              <a:t>Festo tool over-predicts short BPAs; published models fit a single length each</a:t>
            </a:r>
          </a:p>
        </p:txBody>
      </p:sp>
      <p:sp>
        <p:nvSpPr>
          <p:cNvPr id="8" name="Rounded Rectangle 7"/>
          <p:cNvSpPr/>
          <p:nvPr/>
        </p:nvSpPr>
        <p:spPr>
          <a:xfrm>
            <a:off x="502920" y="2734056"/>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871216"/>
            <a:ext cx="1097280" cy="457200"/>
          </a:xfrm>
          <a:prstGeom prst="rect">
            <a:avLst/>
          </a:prstGeom>
          <a:noFill/>
        </p:spPr>
        <p:txBody>
          <a:bodyPr wrap="square" anchor="t" lIns="0" rIns="0" tIns="0" bIns="0">
            <a:spAutoFit/>
          </a:bodyPr>
          <a:lstStyle/>
          <a:p>
            <a:pPr algn="l">
              <a:lnSpc>
                <a:spcPct val="100000"/>
              </a:lnSpc>
            </a:pPr>
            <a:r>
              <a:rPr sz="1400" b="1" i="0">
                <a:solidFill>
                  <a:srgbClr val="38761D"/>
                </a:solidFill>
                <a:latin typeface="Calibri"/>
              </a:rPr>
              <a:t>GAP 2</a:t>
            </a:r>
          </a:p>
        </p:txBody>
      </p:sp>
      <p:sp>
        <p:nvSpPr>
          <p:cNvPr id="10" name="TextBox 9"/>
          <p:cNvSpPr txBox="1"/>
          <p:nvPr/>
        </p:nvSpPr>
        <p:spPr>
          <a:xfrm>
            <a:off x="1920240" y="2825496"/>
            <a:ext cx="9509760" cy="822960"/>
          </a:xfrm>
          <a:prstGeom prst="rect">
            <a:avLst/>
          </a:prstGeom>
          <a:noFill/>
        </p:spPr>
        <p:txBody>
          <a:bodyPr wrap="square" anchor="t" lIns="0" rIns="0" tIns="0" bIns="0">
            <a:spAutoFit/>
          </a:bodyPr>
          <a:lstStyle/>
          <a:p>
            <a:pPr algn="l">
              <a:lnSpc>
                <a:spcPct val="100000"/>
              </a:lnSpc>
              <a:spcAft>
                <a:spcPts val="100"/>
              </a:spcAft>
            </a:pPr>
            <a:r>
              <a:rPr sz="1500" b="1" i="0">
                <a:solidFill>
                  <a:srgbClr val="222222"/>
                </a:solidFill>
                <a:latin typeface="Calibri"/>
              </a:rPr>
              <a:t>No quantified correction for torque lost through brackets, tendons, and wrapping</a:t>
            </a:r>
          </a:p>
          <a:p>
            <a:pPr algn="l">
              <a:lnSpc>
                <a:spcPct val="100000"/>
              </a:lnSpc>
            </a:pPr>
            <a:r>
              <a:rPr sz="1250" b="0" i="0">
                <a:solidFill>
                  <a:srgbClr val="595959"/>
                </a:solidFill>
                <a:latin typeface="Calibri"/>
              </a:rPr>
              <a:t>optimized biomimetic routing never validated against human isometric torque</a:t>
            </a:r>
          </a:p>
        </p:txBody>
      </p:sp>
      <p:sp>
        <p:nvSpPr>
          <p:cNvPr id="11" name="Rounded Rectangle 10"/>
          <p:cNvSpPr/>
          <p:nvPr/>
        </p:nvSpPr>
        <p:spPr>
          <a:xfrm>
            <a:off x="502920" y="3803904"/>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41064"/>
            <a:ext cx="1097280" cy="457200"/>
          </a:xfrm>
          <a:prstGeom prst="rect">
            <a:avLst/>
          </a:prstGeom>
          <a:noFill/>
        </p:spPr>
        <p:txBody>
          <a:bodyPr wrap="square" anchor="t" lIns="0" rIns="0" tIns="0" bIns="0">
            <a:spAutoFit/>
          </a:bodyPr>
          <a:lstStyle/>
          <a:p>
            <a:pPr algn="l">
              <a:lnSpc>
                <a:spcPct val="100000"/>
              </a:lnSpc>
            </a:pPr>
            <a:r>
              <a:rPr sz="1400" b="1" i="0">
                <a:solidFill>
                  <a:srgbClr val="2E5A88"/>
                </a:solidFill>
                <a:latin typeface="Calibri"/>
              </a:rPr>
              <a:t>GAP 3</a:t>
            </a:r>
          </a:p>
        </p:txBody>
      </p:sp>
      <p:sp>
        <p:nvSpPr>
          <p:cNvPr id="13" name="TextBox 12"/>
          <p:cNvSpPr txBox="1"/>
          <p:nvPr/>
        </p:nvSpPr>
        <p:spPr>
          <a:xfrm>
            <a:off x="1920240" y="3895344"/>
            <a:ext cx="9509760" cy="822960"/>
          </a:xfrm>
          <a:prstGeom prst="rect">
            <a:avLst/>
          </a:prstGeom>
          <a:noFill/>
        </p:spPr>
        <p:txBody>
          <a:bodyPr wrap="square" anchor="t" lIns="0" rIns="0" tIns="0" bIns="0">
            <a:spAutoFit/>
          </a:bodyPr>
          <a:lstStyle/>
          <a:p>
            <a:pPr algn="l">
              <a:lnSpc>
                <a:spcPct val="100000"/>
              </a:lnSpc>
              <a:spcAft>
                <a:spcPts val="100"/>
              </a:spcAft>
            </a:pPr>
            <a:r>
              <a:rPr sz="1500" b="1" i="0">
                <a:solidFill>
                  <a:srgbClr val="222222"/>
                </a:solidFill>
                <a:latin typeface="Calibri"/>
              </a:rPr>
              <a:t>No closed-loop pipeline from the robot model to a biologically realistic controller</a:t>
            </a:r>
          </a:p>
          <a:p>
            <a:pPr algn="l">
              <a:lnSpc>
                <a:spcPct val="100000"/>
              </a:lnSpc>
            </a:pPr>
            <a:r>
              <a:rPr sz="1250" b="0" i="0">
                <a:solidFill>
                  <a:srgbClr val="595959"/>
                </a:solidFill>
                <a:latin typeface="Calibri"/>
              </a:rPr>
              <a:t>two-level CPG ingredients existed, never assembled for a BPA biped with human-like routing</a:t>
            </a:r>
          </a:p>
        </p:txBody>
      </p:sp>
      <p:sp>
        <p:nvSpPr>
          <p:cNvPr id="14" name="Rounded Rectangle 13"/>
          <p:cNvSpPr/>
          <p:nvPr/>
        </p:nvSpPr>
        <p:spPr>
          <a:xfrm>
            <a:off x="502920" y="4873752"/>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5010912"/>
            <a:ext cx="1097280" cy="457200"/>
          </a:xfrm>
          <a:prstGeom prst="rect">
            <a:avLst/>
          </a:prstGeom>
          <a:noFill/>
        </p:spPr>
        <p:txBody>
          <a:bodyPr wrap="square" anchor="t" lIns="0" rIns="0" tIns="0" bIns="0">
            <a:spAutoFit/>
          </a:bodyPr>
          <a:lstStyle/>
          <a:p>
            <a:pPr algn="l">
              <a:lnSpc>
                <a:spcPct val="100000"/>
              </a:lnSpc>
            </a:pPr>
            <a:r>
              <a:rPr sz="1400" b="1" i="0">
                <a:solidFill>
                  <a:srgbClr val="00796B"/>
                </a:solidFill>
                <a:latin typeface="Calibri"/>
              </a:rPr>
              <a:t>GAP 4</a:t>
            </a:r>
          </a:p>
        </p:txBody>
      </p:sp>
      <p:sp>
        <p:nvSpPr>
          <p:cNvPr id="16" name="TextBox 15"/>
          <p:cNvSpPr txBox="1"/>
          <p:nvPr/>
        </p:nvSpPr>
        <p:spPr>
          <a:xfrm>
            <a:off x="1920240" y="4965192"/>
            <a:ext cx="9509760" cy="822960"/>
          </a:xfrm>
          <a:prstGeom prst="rect">
            <a:avLst/>
          </a:prstGeom>
          <a:noFill/>
        </p:spPr>
        <p:txBody>
          <a:bodyPr wrap="square" anchor="t" lIns="0" rIns="0" tIns="0" bIns="0">
            <a:spAutoFit/>
          </a:bodyPr>
          <a:lstStyle/>
          <a:p>
            <a:pPr algn="l">
              <a:lnSpc>
                <a:spcPct val="100000"/>
              </a:lnSpc>
              <a:spcAft>
                <a:spcPts val="100"/>
              </a:spcAft>
            </a:pPr>
            <a:r>
              <a:rPr sz="1500" b="1" i="0">
                <a:solidFill>
                  <a:srgbClr val="222222"/>
                </a:solidFill>
                <a:latin typeface="Calibri"/>
              </a:rPr>
              <a:t>No consolidated resource for the afferent data a controller requires</a:t>
            </a:r>
          </a:p>
          <a:p>
            <a:pPr algn="l">
              <a:lnSpc>
                <a:spcPct val="100000"/>
              </a:lnSpc>
            </a:pPr>
            <a:r>
              <a:rPr sz="1250" b="0" i="0">
                <a:solidFill>
                  <a:srgbClr val="595959"/>
                </a:solidFill>
                <a:latin typeface="Calibri"/>
              </a:rPr>
              <a:t>Ia, Ib, and group II properties scattered across hundreds of primary papers and reviews</a:t>
            </a:r>
          </a:p>
        </p:txBody>
      </p:sp>
      <p:sp>
        <p:nvSpPr>
          <p:cNvPr id="17" name="TextBox 16"/>
          <p:cNvSpPr txBox="1"/>
          <p:nvPr/>
        </p:nvSpPr>
        <p:spPr>
          <a:xfrm>
            <a:off x="502920" y="5961888"/>
            <a:ext cx="11155680" cy="365760"/>
          </a:xfrm>
          <a:prstGeom prst="rect">
            <a:avLst/>
          </a:prstGeom>
          <a:noFill/>
        </p:spPr>
        <p:txBody>
          <a:bodyPr wrap="square" anchor="t" lIns="0" rIns="0" tIns="0" bIns="0">
            <a:spAutoFit/>
          </a:bodyPr>
          <a:lstStyle/>
          <a:p>
            <a:pPr algn="l">
              <a:lnSpc>
                <a:spcPct val="100000"/>
              </a:lnSpc>
            </a:pPr>
            <a:r>
              <a:rPr sz="1400" b="1" i="0">
                <a:solidFill>
                  <a:srgbClr val="AF7B51"/>
                </a:solidFill>
                <a:latin typeface="Calibri"/>
              </a:rPr>
              <a:t>Objectives 1-2 address gaps 1-2 experimentally  ·  the SADb resolves gap 4  ·  the tools close gap 3</a:t>
            </a:r>
          </a:p>
        </p:txBody>
      </p:sp>
      <p:sp>
        <p:nvSpPr>
          <p:cNvPr id="18" name="TextBox 1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MUSCLES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A custom jig measured isometric force across resting length, pressure, and contraction</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§3.1 (test jig); Bolen, Elzein, Pang, and Hunt 2026, Actuators</a:t>
            </a:r>
          </a:p>
        </p:txBody>
      </p:sp>
      <p:pic>
        <p:nvPicPr>
          <p:cNvPr id="5" name="Picture 4" descr="testJigs_force.png"/>
          <p:cNvPicPr>
            <a:picLocks noChangeAspect="1"/>
          </p:cNvPicPr>
          <p:nvPr/>
        </p:nvPicPr>
        <p:blipFill>
          <a:blip r:embed="rId3"/>
          <a:stretch>
            <a:fillRect/>
          </a:stretch>
        </p:blipFill>
        <p:spPr>
          <a:xfrm>
            <a:off x="790302" y="1737360"/>
            <a:ext cx="3722914" cy="4343400"/>
          </a:xfrm>
          <a:prstGeom prst="rect">
            <a:avLst/>
          </a:prstGeom>
        </p:spPr>
      </p:pic>
      <p:sp>
        <p:nvSpPr>
          <p:cNvPr id="6" name="TextBox 5"/>
          <p:cNvSpPr txBox="1"/>
          <p:nvPr/>
        </p:nvSpPr>
        <p:spPr>
          <a:xfrm>
            <a:off x="5120640" y="1920240"/>
            <a:ext cx="6492240" cy="822960"/>
          </a:xfrm>
          <a:prstGeom prst="rect">
            <a:avLst/>
          </a:prstGeom>
          <a:noFill/>
        </p:spPr>
        <p:txBody>
          <a:bodyPr wrap="square" anchor="t" lIns="0" rIns="0" tIns="0" bIns="0">
            <a:spAutoFit/>
          </a:bodyPr>
          <a:lstStyle/>
          <a:p>
            <a:pPr algn="l">
              <a:lnSpc>
                <a:spcPct val="100000"/>
              </a:lnSpc>
              <a:spcAft>
                <a:spcPts val="100"/>
              </a:spcAft>
            </a:pPr>
            <a:r>
              <a:rPr sz="1150" b="1" i="0">
                <a:solidFill>
                  <a:srgbClr val="00796B"/>
                </a:solidFill>
                <a:latin typeface="Calibri"/>
              </a:rPr>
              <a:t>DIAMETERS</a:t>
            </a:r>
          </a:p>
          <a:p>
            <a:pPr algn="l">
              <a:lnSpc>
                <a:spcPct val="100000"/>
              </a:lnSpc>
            </a:pPr>
            <a:r>
              <a:rPr sz="1550" b="0" i="0">
                <a:solidFill>
                  <a:srgbClr val="222222"/>
                </a:solidFill>
                <a:latin typeface="Calibri"/>
              </a:rPr>
              <a:t>10 mm and 20 mm Festo DMSP</a:t>
            </a:r>
          </a:p>
        </p:txBody>
      </p:sp>
      <p:sp>
        <p:nvSpPr>
          <p:cNvPr id="7" name="TextBox 6"/>
          <p:cNvSpPr txBox="1"/>
          <p:nvPr/>
        </p:nvSpPr>
        <p:spPr>
          <a:xfrm>
            <a:off x="5120640" y="2788920"/>
            <a:ext cx="6492240" cy="822960"/>
          </a:xfrm>
          <a:prstGeom prst="rect">
            <a:avLst/>
          </a:prstGeom>
          <a:noFill/>
        </p:spPr>
        <p:txBody>
          <a:bodyPr wrap="square" anchor="t" lIns="0" rIns="0" tIns="0" bIns="0">
            <a:spAutoFit/>
          </a:bodyPr>
          <a:lstStyle/>
          <a:p>
            <a:pPr algn="l">
              <a:lnSpc>
                <a:spcPct val="100000"/>
              </a:lnSpc>
              <a:spcAft>
                <a:spcPts val="100"/>
              </a:spcAft>
            </a:pPr>
            <a:r>
              <a:rPr sz="1150" b="1" i="0">
                <a:solidFill>
                  <a:srgbClr val="00796B"/>
                </a:solidFill>
                <a:latin typeface="Calibri"/>
              </a:rPr>
              <a:t>RESTING LENGTHS</a:t>
            </a:r>
          </a:p>
          <a:p>
            <a:pPr algn="l">
              <a:lnSpc>
                <a:spcPct val="100000"/>
              </a:lnSpc>
            </a:pPr>
            <a:r>
              <a:rPr sz="1550" b="0" i="0">
                <a:solidFill>
                  <a:srgbClr val="222222"/>
                </a:solidFill>
                <a:latin typeface="Calibri"/>
              </a:rPr>
              <a:t>112-518 mm (10 mm)  ·  300-509 mm (20 mm)</a:t>
            </a:r>
          </a:p>
        </p:txBody>
      </p:sp>
      <p:sp>
        <p:nvSpPr>
          <p:cNvPr id="8" name="TextBox 7"/>
          <p:cNvSpPr txBox="1"/>
          <p:nvPr/>
        </p:nvSpPr>
        <p:spPr>
          <a:xfrm>
            <a:off x="5120640" y="3657600"/>
            <a:ext cx="6492240" cy="822960"/>
          </a:xfrm>
          <a:prstGeom prst="rect">
            <a:avLst/>
          </a:prstGeom>
          <a:noFill/>
        </p:spPr>
        <p:txBody>
          <a:bodyPr wrap="square" anchor="t" lIns="0" rIns="0" tIns="0" bIns="0">
            <a:spAutoFit/>
          </a:bodyPr>
          <a:lstStyle/>
          <a:p>
            <a:pPr algn="l">
              <a:lnSpc>
                <a:spcPct val="100000"/>
              </a:lnSpc>
              <a:spcAft>
                <a:spcPts val="100"/>
              </a:spcAft>
            </a:pPr>
            <a:r>
              <a:rPr sz="1150" b="1" i="0">
                <a:solidFill>
                  <a:srgbClr val="00796B"/>
                </a:solidFill>
                <a:latin typeface="Calibri"/>
              </a:rPr>
              <a:t>PRESSURE</a:t>
            </a:r>
          </a:p>
          <a:p>
            <a:pPr algn="l">
              <a:lnSpc>
                <a:spcPct val="100000"/>
              </a:lnSpc>
            </a:pPr>
            <a:r>
              <a:rPr sz="1550" b="0" i="0">
                <a:solidFill>
                  <a:srgbClr val="222222"/>
                </a:solidFill>
                <a:latin typeface="Calibri"/>
              </a:rPr>
              <a:t>up to P₆₂₀ = 620 kPa supply</a:t>
            </a:r>
          </a:p>
        </p:txBody>
      </p:sp>
      <p:sp>
        <p:nvSpPr>
          <p:cNvPr id="9" name="TextBox 8"/>
          <p:cNvSpPr txBox="1"/>
          <p:nvPr/>
        </p:nvSpPr>
        <p:spPr>
          <a:xfrm>
            <a:off x="5120640" y="4526280"/>
            <a:ext cx="6492240" cy="822960"/>
          </a:xfrm>
          <a:prstGeom prst="rect">
            <a:avLst/>
          </a:prstGeom>
          <a:noFill/>
        </p:spPr>
        <p:txBody>
          <a:bodyPr wrap="square" anchor="t" lIns="0" rIns="0" tIns="0" bIns="0">
            <a:spAutoFit/>
          </a:bodyPr>
          <a:lstStyle/>
          <a:p>
            <a:pPr algn="l">
              <a:lnSpc>
                <a:spcPct val="100000"/>
              </a:lnSpc>
              <a:spcAft>
                <a:spcPts val="100"/>
              </a:spcAft>
            </a:pPr>
            <a:r>
              <a:rPr sz="1150" b="1" i="0">
                <a:solidFill>
                  <a:srgbClr val="00796B"/>
                </a:solidFill>
                <a:latin typeface="Calibri"/>
              </a:rPr>
              <a:t>DATA</a:t>
            </a:r>
          </a:p>
          <a:p>
            <a:pPr algn="l">
              <a:lnSpc>
                <a:spcPct val="100000"/>
              </a:lnSpc>
            </a:pPr>
            <a:r>
              <a:rPr sz="1550" b="0" i="0">
                <a:solidFill>
                  <a:srgbClr val="222222"/>
                </a:solidFill>
                <a:latin typeface="Calibri"/>
              </a:rPr>
              <a:t>537 force-pressure-contraction pairs (321 + 216)</a:t>
            </a:r>
          </a:p>
        </p:txBody>
      </p:sp>
      <p:sp>
        <p:nvSpPr>
          <p:cNvPr id="10" name="TextBox 9"/>
          <p:cNvSpPr txBox="1"/>
          <p:nvPr/>
        </p:nvSpPr>
        <p:spPr>
          <a:xfrm>
            <a:off x="5120640" y="5394960"/>
            <a:ext cx="6492240" cy="822960"/>
          </a:xfrm>
          <a:prstGeom prst="rect">
            <a:avLst/>
          </a:prstGeom>
          <a:noFill/>
        </p:spPr>
        <p:txBody>
          <a:bodyPr wrap="square" anchor="t" lIns="0" rIns="0" tIns="0" bIns="0">
            <a:spAutoFit/>
          </a:bodyPr>
          <a:lstStyle/>
          <a:p>
            <a:pPr algn="l">
              <a:lnSpc>
                <a:spcPct val="100000"/>
              </a:lnSpc>
              <a:spcAft>
                <a:spcPts val="100"/>
              </a:spcAft>
            </a:pPr>
            <a:r>
              <a:rPr sz="1150" b="1" i="0">
                <a:solidFill>
                  <a:srgbClr val="00796B"/>
                </a:solidFill>
                <a:latin typeface="Calibri"/>
              </a:rPr>
              <a:t>INSTRUMENTATION</a:t>
            </a:r>
          </a:p>
          <a:p>
            <a:pPr algn="l">
              <a:lnSpc>
                <a:spcPct val="100000"/>
              </a:lnSpc>
            </a:pPr>
            <a:r>
              <a:rPr sz="1550" b="0" i="0">
                <a:solidFill>
                  <a:srgbClr val="222222"/>
                </a:solidFill>
                <a:latin typeface="Calibri"/>
              </a:rPr>
              <a:t>S-type load cells + HX711 · MPX5700 pressure · Arduino → MATLAB</a:t>
            </a:r>
          </a:p>
        </p:txBody>
      </p:sp>
      <p:sp>
        <p:nvSpPr>
          <p:cNvPr id="11" name="TextBox 10"/>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MUSCLES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Maximum isometric force depends on resting length - a previously unreported characteristic</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§3.2 (F₆₂₀ vs l₀); Bolen et al. 2026, Actuators, Figs. 2-3</a:t>
            </a:r>
          </a:p>
        </p:txBody>
      </p:sp>
      <p:pic>
        <p:nvPicPr>
          <p:cNvPr id="5" name="Picture 4" descr="MaxForce10.png"/>
          <p:cNvPicPr>
            <a:picLocks noChangeAspect="1"/>
          </p:cNvPicPr>
          <p:nvPr/>
        </p:nvPicPr>
        <p:blipFill>
          <a:blip r:embed="rId3"/>
          <a:stretch>
            <a:fillRect/>
          </a:stretch>
        </p:blipFill>
        <p:spPr>
          <a:xfrm>
            <a:off x="1111335" y="1737360"/>
            <a:ext cx="4452449" cy="3611880"/>
          </a:xfrm>
          <a:prstGeom prst="rect">
            <a:avLst/>
          </a:prstGeom>
        </p:spPr>
      </p:pic>
      <p:pic>
        <p:nvPicPr>
          <p:cNvPr id="6" name="Picture 5" descr="MaxForce20.png"/>
          <p:cNvPicPr>
            <a:picLocks noChangeAspect="1"/>
          </p:cNvPicPr>
          <p:nvPr/>
        </p:nvPicPr>
        <p:blipFill>
          <a:blip r:embed="rId4"/>
          <a:stretch>
            <a:fillRect/>
          </a:stretch>
        </p:blipFill>
        <p:spPr>
          <a:xfrm>
            <a:off x="6480797" y="1737360"/>
            <a:ext cx="4777764" cy="3611880"/>
          </a:xfrm>
          <a:prstGeom prst="rect">
            <a:avLst/>
          </a:prstGeom>
        </p:spPr>
      </p:pic>
      <p:sp>
        <p:nvSpPr>
          <p:cNvPr id="7" name="TextBox 6"/>
          <p:cNvSpPr txBox="1"/>
          <p:nvPr/>
        </p:nvSpPr>
        <p:spPr>
          <a:xfrm>
            <a:off x="640080" y="5413248"/>
            <a:ext cx="5394960" cy="365760"/>
          </a:xfrm>
          <a:prstGeom prst="rect">
            <a:avLst/>
          </a:prstGeom>
          <a:noFill/>
        </p:spPr>
        <p:txBody>
          <a:bodyPr wrap="square" anchor="t" lIns="0" rIns="0" tIns="0" bIns="0">
            <a:spAutoFit/>
          </a:bodyPr>
          <a:lstStyle/>
          <a:p>
            <a:pPr algn="ctr">
              <a:lnSpc>
                <a:spcPct val="100000"/>
              </a:lnSpc>
            </a:pPr>
            <a:r>
              <a:rPr sz="1300" b="0" i="0">
                <a:solidFill>
                  <a:srgbClr val="595959"/>
                </a:solidFill>
                <a:latin typeface="Calibri"/>
              </a:rPr>
              <a:t>φ 10 mm:  F₆₂₀ vs l₀</a:t>
            </a:r>
          </a:p>
        </p:txBody>
      </p:sp>
      <p:sp>
        <p:nvSpPr>
          <p:cNvPr id="8" name="TextBox 7"/>
          <p:cNvSpPr txBox="1"/>
          <p:nvPr/>
        </p:nvSpPr>
        <p:spPr>
          <a:xfrm>
            <a:off x="6172200" y="5413248"/>
            <a:ext cx="5394960" cy="365760"/>
          </a:xfrm>
          <a:prstGeom prst="rect">
            <a:avLst/>
          </a:prstGeom>
          <a:noFill/>
        </p:spPr>
        <p:txBody>
          <a:bodyPr wrap="square" anchor="t" lIns="0" rIns="0" tIns="0" bIns="0">
            <a:spAutoFit/>
          </a:bodyPr>
          <a:lstStyle/>
          <a:p>
            <a:pPr algn="ctr">
              <a:lnSpc>
                <a:spcPct val="100000"/>
              </a:lnSpc>
            </a:pPr>
            <a:r>
              <a:rPr sz="1300" b="0" i="0">
                <a:solidFill>
                  <a:srgbClr val="595959"/>
                </a:solidFill>
                <a:latin typeface="Calibri"/>
              </a:rPr>
              <a:t>φ 20 mm:  F₆₂₀ vs l₀</a:t>
            </a:r>
          </a:p>
        </p:txBody>
      </p:sp>
      <p:sp>
        <p:nvSpPr>
          <p:cNvPr id="9" name="Rounded Rectangle 8"/>
          <p:cNvSpPr/>
          <p:nvPr/>
        </p:nvSpPr>
        <p:spPr>
          <a:xfrm>
            <a:off x="640080" y="5833872"/>
            <a:ext cx="10972800" cy="475488"/>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925312"/>
            <a:ext cx="10515600" cy="365760"/>
          </a:xfrm>
          <a:prstGeom prst="rect">
            <a:avLst/>
          </a:prstGeom>
          <a:noFill/>
        </p:spPr>
        <p:txBody>
          <a:bodyPr wrap="square" anchor="t" lIns="0" rIns="0" tIns="0" bIns="0">
            <a:spAutoFit/>
          </a:bodyPr>
          <a:lstStyle/>
          <a:p>
            <a:pPr algn="ctr">
              <a:lnSpc>
                <a:spcPct val="100000"/>
              </a:lnSpc>
            </a:pPr>
            <a:r>
              <a:rPr sz="1350" b="1" i="0">
                <a:solidFill>
                  <a:srgbClr val="00796B"/>
                </a:solidFill>
                <a:latin typeface="Calibri"/>
              </a:rPr>
              <a:t>solid: our arctan fit (data-driven)  ·  dashed: Festo tool - predicts force INCREASING as l₀ shrinks</a:t>
            </a:r>
          </a:p>
        </p:txBody>
      </p:sp>
      <p:sp>
        <p:nvSpPr>
          <p:cNvPr id="11" name="TextBox 10"/>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MUSCLES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Two coefficients per diameter capture the resting-length effect</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§§3.1-3.2 (equations + coefficient table); Bolen et al. 2026, Actuators, Eqs. 4-6; fit: nonlinear least squares, least-absolute-residual</a:t>
            </a:r>
          </a:p>
        </p:txBody>
      </p:sp>
      <p:sp>
        <p:nvSpPr>
          <p:cNvPr id="5" name="Rounded Rectangle 4"/>
          <p:cNvSpPr/>
          <p:nvPr/>
        </p:nvSpPr>
        <p:spPr>
          <a:xfrm>
            <a:off x="502920" y="1783080"/>
            <a:ext cx="6400800" cy="13716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max.png"/>
          <p:cNvPicPr>
            <a:picLocks noChangeAspect="1"/>
          </p:cNvPicPr>
          <p:nvPr/>
        </p:nvPicPr>
        <p:blipFill>
          <a:blip r:embed="rId3"/>
          <a:stretch>
            <a:fillRect/>
          </a:stretch>
        </p:blipFill>
        <p:spPr>
          <a:xfrm>
            <a:off x="914400" y="2294444"/>
            <a:ext cx="5760720" cy="348870"/>
          </a:xfrm>
          <a:prstGeom prst="rect">
            <a:avLst/>
          </a:prstGeom>
        </p:spPr>
      </p:pic>
      <p:sp>
        <p:nvSpPr>
          <p:cNvPr id="7" name="Rounded Rectangle 6"/>
          <p:cNvSpPr/>
          <p:nvPr/>
        </p:nvSpPr>
        <p:spPr>
          <a:xfrm>
            <a:off x="502920" y="3291840"/>
            <a:ext cx="6400800" cy="13716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ax20.png"/>
          <p:cNvPicPr>
            <a:picLocks noChangeAspect="1"/>
          </p:cNvPicPr>
          <p:nvPr/>
        </p:nvPicPr>
        <p:blipFill>
          <a:blip r:embed="rId4"/>
          <a:stretch>
            <a:fillRect/>
          </a:stretch>
        </p:blipFill>
        <p:spPr>
          <a:xfrm>
            <a:off x="914400" y="3800930"/>
            <a:ext cx="5760720" cy="353418"/>
          </a:xfrm>
          <a:prstGeom prst="rect">
            <a:avLst/>
          </a:prstGeom>
        </p:spPr>
      </p:pic>
      <p:sp>
        <p:nvSpPr>
          <p:cNvPr id="9" name="Rounded Rectangle 8"/>
          <p:cNvSpPr/>
          <p:nvPr/>
        </p:nvSpPr>
        <p:spPr>
          <a:xfrm>
            <a:off x="502920" y="4800600"/>
            <a:ext cx="6400800" cy="132588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max3d.png"/>
          <p:cNvPicPr>
            <a:picLocks noChangeAspect="1"/>
          </p:cNvPicPr>
          <p:nvPr/>
        </p:nvPicPr>
        <p:blipFill>
          <a:blip r:embed="rId5"/>
          <a:stretch>
            <a:fillRect/>
          </a:stretch>
        </p:blipFill>
        <p:spPr>
          <a:xfrm>
            <a:off x="914400" y="5293610"/>
            <a:ext cx="5760720" cy="339858"/>
          </a:xfrm>
          <a:prstGeom prst="rect">
            <a:avLst/>
          </a:prstGeom>
        </p:spPr>
      </p:pic>
      <p:sp>
        <p:nvSpPr>
          <p:cNvPr id="11" name="TextBox 10"/>
          <p:cNvSpPr txBox="1"/>
          <p:nvPr/>
        </p:nvSpPr>
        <p:spPr>
          <a:xfrm>
            <a:off x="7315200" y="1828800"/>
            <a:ext cx="4343400" cy="4389120"/>
          </a:xfrm>
          <a:prstGeom prst="rect">
            <a:avLst/>
          </a:prstGeom>
          <a:noFill/>
        </p:spPr>
        <p:txBody>
          <a:bodyPr wrap="square" anchor="t" lIns="0" rIns="0" tIns="0" bIns="0">
            <a:spAutoFit/>
          </a:bodyPr>
          <a:lstStyle/>
          <a:p>
            <a:pPr algn="l">
              <a:lnSpc>
                <a:spcPct val="100000"/>
              </a:lnSpc>
              <a:spcAft>
                <a:spcPts val="500"/>
              </a:spcAft>
            </a:pPr>
            <a:r>
              <a:rPr sz="1200" b="1" i="0">
                <a:solidFill>
                  <a:srgbClr val="00796B"/>
                </a:solidFill>
                <a:latin typeface="Calibri"/>
              </a:rPr>
              <a:t>LIMITS BEHAVE</a:t>
            </a:r>
          </a:p>
          <a:p>
            <a:pPr algn="l">
              <a:lnSpc>
                <a:spcPct val="100000"/>
              </a:lnSpc>
              <a:spcAft>
                <a:spcPts val="100"/>
              </a:spcAft>
            </a:pPr>
            <a:r>
              <a:rPr sz="1550" b="0" i="0">
                <a:solidFill>
                  <a:srgbClr val="222222"/>
                </a:solidFill>
                <a:latin typeface="Calibri"/>
              </a:rPr>
              <a:t>l₀ → ∞:   470 N (10 mm) vs Festo 490 N</a:t>
            </a:r>
          </a:p>
          <a:p>
            <a:pPr algn="l">
              <a:lnSpc>
                <a:spcPct val="100000"/>
              </a:lnSpc>
              <a:spcAft>
                <a:spcPts val="1000"/>
              </a:spcAft>
            </a:pPr>
            <a:r>
              <a:rPr sz="1250" b="0" i="0">
                <a:solidFill>
                  <a:srgbClr val="595959"/>
                </a:solidFill>
                <a:latin typeface="Calibri"/>
              </a:rPr>
              <a:t>within Festo's stated 10% manufacturing tolerance (20 mm: 1460 vs 1570 N)</a:t>
            </a:r>
          </a:p>
          <a:p>
            <a:pPr algn="l">
              <a:lnSpc>
                <a:spcPct val="100000"/>
              </a:lnSpc>
              <a:spcAft>
                <a:spcPts val="500"/>
              </a:spcAft>
            </a:pPr>
            <a:r>
              <a:rPr sz="1200" b="1" i="0">
                <a:solidFill>
                  <a:srgbClr val="00796B"/>
                </a:solidFill>
                <a:latin typeface="Calibri"/>
              </a:rPr>
              <a:t>THE OFFSET IS PHYSICAL</a:t>
            </a:r>
          </a:p>
          <a:p>
            <a:pPr algn="l">
              <a:lnSpc>
                <a:spcPct val="110000"/>
              </a:lnSpc>
              <a:spcAft>
                <a:spcPts val="1000"/>
              </a:spcAft>
            </a:pPr>
            <a:r>
              <a:rPr sz="1450" b="0" i="0">
                <a:solidFill>
                  <a:srgbClr val="222222"/>
                </a:solidFill>
                <a:latin typeface="Calibri"/>
              </a:rPr>
              <a:t>7.5 mm / 13 mm = length at which the end caps contact each other in the CAD model - no contractile stroke remains</a:t>
            </a:r>
          </a:p>
          <a:p>
            <a:pPr algn="l">
              <a:lnSpc>
                <a:spcPct val="100000"/>
              </a:lnSpc>
            </a:pPr>
            <a:r>
              <a:rPr sz="1550" b="1" i="0">
                <a:solidFill>
                  <a:srgbClr val="AF7B51"/>
                </a:solidFill>
                <a:latin typeface="Calibri"/>
              </a:rPr>
              <a:t>As l₀ → 0, measured force → 0.</a:t>
            </a:r>
          </a:p>
        </p:txBody>
      </p:sp>
      <p:sp>
        <p:nvSpPr>
          <p:cNvPr id="12" name="TextBox 11"/>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MUSCLES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At short resting lengths the manufacturer's tool mis-predicts force by 42%</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§3.3 (discussion: effects of resting length); example: φ10 mm, l₀ = 112 mm, 620 kPa</a:t>
            </a:r>
          </a:p>
        </p:txBody>
      </p:sp>
      <p:graphicFrame>
        <p:nvGraphicFramePr>
          <p:cNvPr id="5" name="Chart 4"/>
          <p:cNvGraphicFramePr>
            <a:graphicFrameLocks noGrp="1"/>
          </p:cNvGraphicFramePr>
          <p:nvPr/>
        </p:nvGraphicFramePr>
        <p:xfrm>
          <a:off x="594360" y="1828800"/>
          <a:ext cx="5760720" cy="4206240"/>
        </p:xfrm>
        <a:graphic>
          <a:graphicData uri="http://schemas.openxmlformats.org/drawingml/2006/chart">
            <c:chart xmlns:c="http://schemas.openxmlformats.org/drawingml/2006/chart" r:id="rId3"/>
          </a:graphicData>
        </a:graphic>
      </p:graphicFrame>
      <p:sp>
        <p:nvSpPr>
          <p:cNvPr id="6" name="TextBox 5"/>
          <p:cNvSpPr txBox="1"/>
          <p:nvPr/>
        </p:nvSpPr>
        <p:spPr>
          <a:xfrm>
            <a:off x="594360" y="6080760"/>
            <a:ext cx="5760720" cy="365760"/>
          </a:xfrm>
          <a:prstGeom prst="rect">
            <a:avLst/>
          </a:prstGeom>
          <a:noFill/>
        </p:spPr>
        <p:txBody>
          <a:bodyPr wrap="square" anchor="t" lIns="0" rIns="0" tIns="0" bIns="0">
            <a:spAutoFit/>
          </a:bodyPr>
          <a:lstStyle/>
          <a:p>
            <a:pPr algn="ctr">
              <a:lnSpc>
                <a:spcPct val="100000"/>
              </a:lnSpc>
            </a:pPr>
            <a:r>
              <a:rPr sz="1500" b="1" i="0">
                <a:solidFill>
                  <a:srgbClr val="222222"/>
                </a:solidFill>
                <a:latin typeface="Calibri"/>
              </a:rPr>
              <a:t>error:  4.5% (ours)  vs  42.1% (Festo)</a:t>
            </a:r>
          </a:p>
        </p:txBody>
      </p:sp>
      <p:sp>
        <p:nvSpPr>
          <p:cNvPr id="7" name="Rounded Rectangle 6"/>
          <p:cNvSpPr/>
          <p:nvPr/>
        </p:nvSpPr>
        <p:spPr>
          <a:xfrm>
            <a:off x="6720840" y="1920240"/>
            <a:ext cx="4892040" cy="39319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0" y="2148840"/>
            <a:ext cx="4343400" cy="3566160"/>
          </a:xfrm>
          <a:prstGeom prst="rect">
            <a:avLst/>
          </a:prstGeom>
          <a:noFill/>
        </p:spPr>
        <p:txBody>
          <a:bodyPr wrap="square" anchor="t" lIns="0" rIns="0" tIns="0" bIns="0">
            <a:spAutoFit/>
          </a:bodyPr>
          <a:lstStyle/>
          <a:p>
            <a:pPr algn="l">
              <a:lnSpc>
                <a:spcPct val="100000"/>
              </a:lnSpc>
              <a:spcAft>
                <a:spcPts val="600"/>
              </a:spcAft>
            </a:pPr>
            <a:r>
              <a:rPr sz="1200" b="1" i="0">
                <a:solidFill>
                  <a:srgbClr val="00796B"/>
                </a:solidFill>
                <a:latin typeface="Calibri"/>
              </a:rPr>
              <a:t>WHY THE TOOL FAILS SHORT</a:t>
            </a:r>
          </a:p>
          <a:p>
            <a:pPr algn="l">
              <a:lnSpc>
                <a:spcPct val="112000"/>
              </a:lnSpc>
              <a:spcAft>
                <a:spcPts val="800"/>
              </a:spcAft>
            </a:pPr>
            <a:r>
              <a:rPr sz="1450" b="0" i="0">
                <a:solidFill>
                  <a:srgbClr val="222222"/>
                </a:solidFill>
                <a:latin typeface="Calibri"/>
              </a:rPr>
              <a:t>Ideal cylindrical models ignore end effects; the clamped ends force steep stress gradients.</a:t>
            </a:r>
          </a:p>
          <a:p>
            <a:pPr algn="l">
              <a:lnSpc>
                <a:spcPct val="112000"/>
              </a:lnSpc>
              <a:spcAft>
                <a:spcPts val="800"/>
              </a:spcAft>
            </a:pPr>
            <a:r>
              <a:rPr sz="1450" b="0" i="0">
                <a:solidFill>
                  <a:srgbClr val="222222"/>
                </a:solidFill>
                <a:latin typeface="Calibri"/>
              </a:rPr>
              <a:t>The end-effect zone has roughly fixed length - so as l₀ shrinks, it dominates.</a:t>
            </a:r>
          </a:p>
          <a:p>
            <a:pPr algn="l">
              <a:lnSpc>
                <a:spcPct val="112000"/>
              </a:lnSpc>
              <a:spcAft>
                <a:spcPts val="800"/>
              </a:spcAft>
            </a:pPr>
            <a:r>
              <a:rPr sz="1450" b="0" i="0">
                <a:solidFill>
                  <a:srgbClr val="C00000"/>
                </a:solidFill>
                <a:latin typeface="Calibri"/>
              </a:rPr>
              <a:t>Measured force → 0 as l₀ → 0.  The Festo tool instead predicts exponential growth.</a:t>
            </a:r>
          </a:p>
          <a:p>
            <a:pPr algn="l">
              <a:lnSpc>
                <a:spcPct val="110000"/>
              </a:lnSpc>
            </a:pPr>
            <a:r>
              <a:rPr sz="1400" b="1" i="1">
                <a:solidFill>
                  <a:srgbClr val="AF7B51"/>
                </a:solidFill>
                <a:latin typeface="Calibri"/>
              </a:rPr>
              <a:t>“Researchers using BPA resting lengths under 300 mm should take note.”</a:t>
            </a:r>
          </a:p>
        </p:txBody>
      </p:sp>
      <p:sp>
        <p:nvSpPr>
          <p:cNvPr id="9" name="TextBox 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MUSCLES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All 537 measurements collapse onto one dimensionless force surface</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§3.2 (normalized surface); ε* = ε/ε₆₂₀,  P* = P/620 kPa</a:t>
            </a:r>
          </a:p>
        </p:txBody>
      </p:sp>
      <p:sp>
        <p:nvSpPr>
          <p:cNvPr id="5" name="Rounded Rectangle 4"/>
          <p:cNvSpPr/>
          <p:nvPr/>
        </p:nvSpPr>
        <p:spPr>
          <a:xfrm>
            <a:off x="502920" y="1737360"/>
            <a:ext cx="11155680" cy="9601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star.png"/>
          <p:cNvPicPr>
            <a:picLocks noChangeAspect="1"/>
          </p:cNvPicPr>
          <p:nvPr/>
        </p:nvPicPr>
        <p:blipFill>
          <a:blip r:embed="rId3"/>
          <a:stretch>
            <a:fillRect/>
          </a:stretch>
        </p:blipFill>
        <p:spPr>
          <a:xfrm>
            <a:off x="914400" y="1938528"/>
            <a:ext cx="10871093" cy="566928"/>
          </a:xfrm>
          <a:prstGeom prst="rect">
            <a:avLst/>
          </a:prstGeom>
        </p:spPr>
      </p:pic>
      <p:pic>
        <p:nvPicPr>
          <p:cNvPr id="7" name="Picture 6" descr="FStar10.png"/>
          <p:cNvPicPr>
            <a:picLocks noChangeAspect="1"/>
          </p:cNvPicPr>
          <p:nvPr/>
        </p:nvPicPr>
        <p:blipFill>
          <a:blip r:embed="rId4"/>
          <a:stretch>
            <a:fillRect/>
          </a:stretch>
        </p:blipFill>
        <p:spPr>
          <a:xfrm>
            <a:off x="1441671" y="2880360"/>
            <a:ext cx="3517457" cy="3246120"/>
          </a:xfrm>
          <a:prstGeom prst="rect">
            <a:avLst/>
          </a:prstGeom>
        </p:spPr>
      </p:pic>
      <p:pic>
        <p:nvPicPr>
          <p:cNvPr id="8" name="Picture 7" descr="FStar20.png"/>
          <p:cNvPicPr>
            <a:picLocks noChangeAspect="1"/>
          </p:cNvPicPr>
          <p:nvPr/>
        </p:nvPicPr>
        <p:blipFill>
          <a:blip r:embed="rId5"/>
          <a:stretch>
            <a:fillRect/>
          </a:stretch>
        </p:blipFill>
        <p:spPr>
          <a:xfrm>
            <a:off x="6840546" y="2880360"/>
            <a:ext cx="3418187" cy="3246120"/>
          </a:xfrm>
          <a:prstGeom prst="rect">
            <a:avLst/>
          </a:prstGeom>
        </p:spPr>
      </p:pic>
      <p:sp>
        <p:nvSpPr>
          <p:cNvPr id="9" name="TextBox 8"/>
          <p:cNvSpPr txBox="1"/>
          <p:nvPr/>
        </p:nvSpPr>
        <p:spPr>
          <a:xfrm>
            <a:off x="685800" y="6172200"/>
            <a:ext cx="5029200" cy="32004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F*(ε*, P*) - φ10 mm, pressure isoclines</a:t>
            </a:r>
          </a:p>
        </p:txBody>
      </p:sp>
      <p:sp>
        <p:nvSpPr>
          <p:cNvPr id="10" name="TextBox 9"/>
          <p:cNvSpPr txBox="1"/>
          <p:nvPr/>
        </p:nvSpPr>
        <p:spPr>
          <a:xfrm>
            <a:off x="6035040" y="6172200"/>
            <a:ext cx="5029200" cy="32004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F*(ε*, P*) - φ20 mm</a:t>
            </a:r>
          </a:p>
        </p:txBody>
      </p:sp>
      <p:sp>
        <p:nvSpPr>
          <p:cNvPr id="11" name="TextBox 10"/>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MUSCLES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Three coefficients per diameter: force predicted out-of-sample to a few percent</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§3.2 (F* coefficient + goodness-of-fit table); 80/20 train/validation split</a:t>
            </a:r>
          </a:p>
        </p:txBody>
      </p:sp>
      <p:sp>
        <p:nvSpPr>
          <p:cNvPr id="5" name="TextBox 4"/>
          <p:cNvSpPr txBox="1"/>
          <p:nvPr/>
        </p:nvSpPr>
        <p:spPr>
          <a:xfrm>
            <a:off x="594360" y="1874519"/>
            <a:ext cx="1463040" cy="548640"/>
          </a:xfrm>
          <a:prstGeom prst="rect">
            <a:avLst/>
          </a:prstGeom>
          <a:noFill/>
        </p:spPr>
        <p:txBody>
          <a:bodyPr wrap="square" anchor="t" lIns="0" rIns="0" tIns="0" bIns="0">
            <a:spAutoFit/>
          </a:bodyPr>
          <a:lstStyle/>
          <a:p>
            <a:pPr algn="l">
              <a:lnSpc>
                <a:spcPct val="100000"/>
              </a:lnSpc>
            </a:pPr>
            <a:r>
              <a:rPr sz="1350" b="1" i="0">
                <a:solidFill>
                  <a:srgbClr val="00796B"/>
                </a:solidFill>
                <a:latin typeface="Calibri"/>
              </a:rPr>
              <a:t/>
            </a:r>
          </a:p>
        </p:txBody>
      </p:sp>
      <p:sp>
        <p:nvSpPr>
          <p:cNvPr id="6" name="TextBox 5"/>
          <p:cNvSpPr txBox="1"/>
          <p:nvPr/>
        </p:nvSpPr>
        <p:spPr>
          <a:xfrm>
            <a:off x="2240280" y="1874519"/>
            <a:ext cx="2194560" cy="548640"/>
          </a:xfrm>
          <a:prstGeom prst="rect">
            <a:avLst/>
          </a:prstGeom>
          <a:noFill/>
        </p:spPr>
        <p:txBody>
          <a:bodyPr wrap="square" anchor="t" lIns="0" rIns="0" tIns="0" bIns="0">
            <a:spAutoFit/>
          </a:bodyPr>
          <a:lstStyle/>
          <a:p>
            <a:pPr algn="ctr">
              <a:lnSpc>
                <a:spcPct val="100000"/>
              </a:lnSpc>
            </a:pPr>
            <a:r>
              <a:rPr sz="1350" b="1" i="0">
                <a:solidFill>
                  <a:srgbClr val="00796B"/>
                </a:solidFill>
                <a:latin typeface="Calibri"/>
              </a:rPr>
              <a:t>adj. R² (fit)</a:t>
            </a:r>
          </a:p>
        </p:txBody>
      </p:sp>
      <p:sp>
        <p:nvSpPr>
          <p:cNvPr id="7" name="TextBox 6"/>
          <p:cNvSpPr txBox="1"/>
          <p:nvPr/>
        </p:nvSpPr>
        <p:spPr>
          <a:xfrm>
            <a:off x="4617720" y="1874519"/>
            <a:ext cx="2468879" cy="548640"/>
          </a:xfrm>
          <a:prstGeom prst="rect">
            <a:avLst/>
          </a:prstGeom>
          <a:noFill/>
        </p:spPr>
        <p:txBody>
          <a:bodyPr wrap="square" anchor="t" lIns="0" rIns="0" tIns="0" bIns="0">
            <a:spAutoFit/>
          </a:bodyPr>
          <a:lstStyle/>
          <a:p>
            <a:pPr algn="ctr">
              <a:lnSpc>
                <a:spcPct val="100000"/>
              </a:lnSpc>
            </a:pPr>
            <a:r>
              <a:rPr sz="1350" b="1" i="0">
                <a:solidFill>
                  <a:srgbClr val="00796B"/>
                </a:solidFill>
                <a:latin typeface="Calibri"/>
              </a:rPr>
              <a:t>adj. R² (validation)</a:t>
            </a:r>
          </a:p>
        </p:txBody>
      </p:sp>
      <p:sp>
        <p:nvSpPr>
          <p:cNvPr id="8" name="TextBox 7"/>
          <p:cNvSpPr txBox="1"/>
          <p:nvPr/>
        </p:nvSpPr>
        <p:spPr>
          <a:xfrm>
            <a:off x="7269479" y="1874519"/>
            <a:ext cx="2011679" cy="548640"/>
          </a:xfrm>
          <a:prstGeom prst="rect">
            <a:avLst/>
          </a:prstGeom>
          <a:noFill/>
        </p:spPr>
        <p:txBody>
          <a:bodyPr wrap="square" anchor="t" lIns="0" rIns="0" tIns="0" bIns="0">
            <a:spAutoFit/>
          </a:bodyPr>
          <a:lstStyle/>
          <a:p>
            <a:pPr algn="ctr">
              <a:lnSpc>
                <a:spcPct val="100000"/>
              </a:lnSpc>
            </a:pPr>
            <a:r>
              <a:rPr sz="1350" b="1" i="0">
                <a:solidFill>
                  <a:srgbClr val="00796B"/>
                </a:solidFill>
                <a:latin typeface="Calibri"/>
              </a:rPr>
              <a:t>max err (fit)</a:t>
            </a:r>
          </a:p>
        </p:txBody>
      </p:sp>
      <p:sp>
        <p:nvSpPr>
          <p:cNvPr id="9" name="TextBox 8"/>
          <p:cNvSpPr txBox="1"/>
          <p:nvPr/>
        </p:nvSpPr>
        <p:spPr>
          <a:xfrm>
            <a:off x="9464040" y="1874519"/>
            <a:ext cx="2103120" cy="548640"/>
          </a:xfrm>
          <a:prstGeom prst="rect">
            <a:avLst/>
          </a:prstGeom>
          <a:noFill/>
        </p:spPr>
        <p:txBody>
          <a:bodyPr wrap="square" anchor="t" lIns="0" rIns="0" tIns="0" bIns="0">
            <a:spAutoFit/>
          </a:bodyPr>
          <a:lstStyle/>
          <a:p>
            <a:pPr algn="ctr">
              <a:lnSpc>
                <a:spcPct val="100000"/>
              </a:lnSpc>
            </a:pPr>
            <a:r>
              <a:rPr sz="1350" b="1" i="0">
                <a:solidFill>
                  <a:srgbClr val="00796B"/>
                </a:solidFill>
                <a:latin typeface="Calibri"/>
              </a:rPr>
              <a:t>max err (val.)</a:t>
            </a:r>
          </a:p>
        </p:txBody>
      </p:sp>
      <p:sp>
        <p:nvSpPr>
          <p:cNvPr id="10" name="TextBox 9"/>
          <p:cNvSpPr txBox="1"/>
          <p:nvPr/>
        </p:nvSpPr>
        <p:spPr>
          <a:xfrm>
            <a:off x="594360" y="2514600"/>
            <a:ext cx="1463040" cy="457200"/>
          </a:xfrm>
          <a:prstGeom prst="rect">
            <a:avLst/>
          </a:prstGeom>
          <a:noFill/>
        </p:spPr>
        <p:txBody>
          <a:bodyPr wrap="square" anchor="t" lIns="0" rIns="0" tIns="0" bIns="0">
            <a:spAutoFit/>
          </a:bodyPr>
          <a:lstStyle/>
          <a:p>
            <a:pPr algn="l">
              <a:lnSpc>
                <a:spcPct val="100000"/>
              </a:lnSpc>
            </a:pPr>
            <a:r>
              <a:rPr sz="1700" b="1" i="0">
                <a:solidFill>
                  <a:srgbClr val="AF7B51"/>
                </a:solidFill>
                <a:latin typeface="Calibri"/>
              </a:rPr>
              <a:t>φ 10 mm</a:t>
            </a:r>
          </a:p>
        </p:txBody>
      </p:sp>
      <p:sp>
        <p:nvSpPr>
          <p:cNvPr id="11" name="TextBox 10"/>
          <p:cNvSpPr txBox="1"/>
          <p:nvPr/>
        </p:nvSpPr>
        <p:spPr>
          <a:xfrm>
            <a:off x="2240280" y="2514600"/>
            <a:ext cx="2194560" cy="457200"/>
          </a:xfrm>
          <a:prstGeom prst="rect">
            <a:avLst/>
          </a:prstGeom>
          <a:noFill/>
        </p:spPr>
        <p:txBody>
          <a:bodyPr wrap="square" anchor="t" lIns="0" rIns="0" tIns="0" bIns="0">
            <a:spAutoFit/>
          </a:bodyPr>
          <a:lstStyle/>
          <a:p>
            <a:pPr algn="ctr">
              <a:lnSpc>
                <a:spcPct val="100000"/>
              </a:lnSpc>
            </a:pPr>
            <a:r>
              <a:rPr sz="1600" b="0" i="0">
                <a:solidFill>
                  <a:srgbClr val="222222"/>
                </a:solidFill>
                <a:latin typeface="Calibri"/>
              </a:rPr>
              <a:t>0.9998</a:t>
            </a:r>
          </a:p>
        </p:txBody>
      </p:sp>
      <p:sp>
        <p:nvSpPr>
          <p:cNvPr id="12" name="TextBox 11"/>
          <p:cNvSpPr txBox="1"/>
          <p:nvPr/>
        </p:nvSpPr>
        <p:spPr>
          <a:xfrm>
            <a:off x="4617720" y="2514600"/>
            <a:ext cx="2468879" cy="457200"/>
          </a:xfrm>
          <a:prstGeom prst="rect">
            <a:avLst/>
          </a:prstGeom>
          <a:noFill/>
        </p:spPr>
        <p:txBody>
          <a:bodyPr wrap="square" anchor="t" lIns="0" rIns="0" tIns="0" bIns="0">
            <a:spAutoFit/>
          </a:bodyPr>
          <a:lstStyle/>
          <a:p>
            <a:pPr algn="ctr">
              <a:lnSpc>
                <a:spcPct val="100000"/>
              </a:lnSpc>
            </a:pPr>
            <a:r>
              <a:rPr sz="1600" b="1" i="0">
                <a:solidFill>
                  <a:srgbClr val="222222"/>
                </a:solidFill>
                <a:latin typeface="Calibri"/>
              </a:rPr>
              <a:t>0.9994</a:t>
            </a:r>
          </a:p>
        </p:txBody>
      </p:sp>
      <p:sp>
        <p:nvSpPr>
          <p:cNvPr id="13" name="TextBox 12"/>
          <p:cNvSpPr txBox="1"/>
          <p:nvPr/>
        </p:nvSpPr>
        <p:spPr>
          <a:xfrm>
            <a:off x="7269479" y="2514600"/>
            <a:ext cx="2011679" cy="457200"/>
          </a:xfrm>
          <a:prstGeom prst="rect">
            <a:avLst/>
          </a:prstGeom>
          <a:noFill/>
        </p:spPr>
        <p:txBody>
          <a:bodyPr wrap="square" anchor="t" lIns="0" rIns="0" tIns="0" bIns="0">
            <a:spAutoFit/>
          </a:bodyPr>
          <a:lstStyle/>
          <a:p>
            <a:pPr algn="ctr">
              <a:lnSpc>
                <a:spcPct val="100000"/>
              </a:lnSpc>
            </a:pPr>
            <a:r>
              <a:rPr sz="1600" b="0" i="0">
                <a:solidFill>
                  <a:srgbClr val="222222"/>
                </a:solidFill>
                <a:latin typeface="Calibri"/>
              </a:rPr>
              <a:t>10.3%</a:t>
            </a:r>
          </a:p>
        </p:txBody>
      </p:sp>
      <p:sp>
        <p:nvSpPr>
          <p:cNvPr id="14" name="TextBox 13"/>
          <p:cNvSpPr txBox="1"/>
          <p:nvPr/>
        </p:nvSpPr>
        <p:spPr>
          <a:xfrm>
            <a:off x="9464040" y="2514600"/>
            <a:ext cx="2103120" cy="457200"/>
          </a:xfrm>
          <a:prstGeom prst="rect">
            <a:avLst/>
          </a:prstGeom>
          <a:noFill/>
        </p:spPr>
        <p:txBody>
          <a:bodyPr wrap="square" anchor="t" lIns="0" rIns="0" tIns="0" bIns="0">
            <a:spAutoFit/>
          </a:bodyPr>
          <a:lstStyle/>
          <a:p>
            <a:pPr algn="ctr">
              <a:lnSpc>
                <a:spcPct val="100000"/>
              </a:lnSpc>
            </a:pPr>
            <a:r>
              <a:rPr sz="1600" b="0" i="0">
                <a:solidFill>
                  <a:srgbClr val="222222"/>
                </a:solidFill>
                <a:latin typeface="Calibri"/>
              </a:rPr>
              <a:t>10.6%</a:t>
            </a:r>
          </a:p>
        </p:txBody>
      </p:sp>
      <p:sp>
        <p:nvSpPr>
          <p:cNvPr id="15" name="TextBox 14"/>
          <p:cNvSpPr txBox="1"/>
          <p:nvPr/>
        </p:nvSpPr>
        <p:spPr>
          <a:xfrm>
            <a:off x="594360" y="3081528"/>
            <a:ext cx="1463040" cy="457200"/>
          </a:xfrm>
          <a:prstGeom prst="rect">
            <a:avLst/>
          </a:prstGeom>
          <a:noFill/>
        </p:spPr>
        <p:txBody>
          <a:bodyPr wrap="square" anchor="t" lIns="0" rIns="0" tIns="0" bIns="0">
            <a:spAutoFit/>
          </a:bodyPr>
          <a:lstStyle/>
          <a:p>
            <a:pPr algn="l">
              <a:lnSpc>
                <a:spcPct val="100000"/>
              </a:lnSpc>
            </a:pPr>
            <a:r>
              <a:rPr sz="1700" b="1" i="0">
                <a:solidFill>
                  <a:srgbClr val="AF7B51"/>
                </a:solidFill>
                <a:latin typeface="Calibri"/>
              </a:rPr>
              <a:t>φ 20 mm</a:t>
            </a:r>
          </a:p>
        </p:txBody>
      </p:sp>
      <p:sp>
        <p:nvSpPr>
          <p:cNvPr id="16" name="TextBox 15"/>
          <p:cNvSpPr txBox="1"/>
          <p:nvPr/>
        </p:nvSpPr>
        <p:spPr>
          <a:xfrm>
            <a:off x="2240280" y="3081528"/>
            <a:ext cx="2194560" cy="457200"/>
          </a:xfrm>
          <a:prstGeom prst="rect">
            <a:avLst/>
          </a:prstGeom>
          <a:noFill/>
        </p:spPr>
        <p:txBody>
          <a:bodyPr wrap="square" anchor="t" lIns="0" rIns="0" tIns="0" bIns="0">
            <a:spAutoFit/>
          </a:bodyPr>
          <a:lstStyle/>
          <a:p>
            <a:pPr algn="ctr">
              <a:lnSpc>
                <a:spcPct val="100000"/>
              </a:lnSpc>
            </a:pPr>
            <a:r>
              <a:rPr sz="1600" b="0" i="0">
                <a:solidFill>
                  <a:srgbClr val="222222"/>
                </a:solidFill>
                <a:latin typeface="Calibri"/>
              </a:rPr>
              <a:t>0.992</a:t>
            </a:r>
          </a:p>
        </p:txBody>
      </p:sp>
      <p:sp>
        <p:nvSpPr>
          <p:cNvPr id="17" name="TextBox 16"/>
          <p:cNvSpPr txBox="1"/>
          <p:nvPr/>
        </p:nvSpPr>
        <p:spPr>
          <a:xfrm>
            <a:off x="4617720" y="3081528"/>
            <a:ext cx="2468879" cy="457200"/>
          </a:xfrm>
          <a:prstGeom prst="rect">
            <a:avLst/>
          </a:prstGeom>
          <a:noFill/>
        </p:spPr>
        <p:txBody>
          <a:bodyPr wrap="square" anchor="t" lIns="0" rIns="0" tIns="0" bIns="0">
            <a:spAutoFit/>
          </a:bodyPr>
          <a:lstStyle/>
          <a:p>
            <a:pPr algn="ctr">
              <a:lnSpc>
                <a:spcPct val="100000"/>
              </a:lnSpc>
            </a:pPr>
            <a:r>
              <a:rPr sz="1600" b="1" i="0">
                <a:solidFill>
                  <a:srgbClr val="222222"/>
                </a:solidFill>
                <a:latin typeface="Calibri"/>
              </a:rPr>
              <a:t>0.9943</a:t>
            </a:r>
          </a:p>
        </p:txBody>
      </p:sp>
      <p:sp>
        <p:nvSpPr>
          <p:cNvPr id="18" name="TextBox 17"/>
          <p:cNvSpPr txBox="1"/>
          <p:nvPr/>
        </p:nvSpPr>
        <p:spPr>
          <a:xfrm>
            <a:off x="7269479" y="3081528"/>
            <a:ext cx="2011679" cy="457200"/>
          </a:xfrm>
          <a:prstGeom prst="rect">
            <a:avLst/>
          </a:prstGeom>
          <a:noFill/>
        </p:spPr>
        <p:txBody>
          <a:bodyPr wrap="square" anchor="t" lIns="0" rIns="0" tIns="0" bIns="0">
            <a:spAutoFit/>
          </a:bodyPr>
          <a:lstStyle/>
          <a:p>
            <a:pPr algn="ctr">
              <a:lnSpc>
                <a:spcPct val="100000"/>
              </a:lnSpc>
            </a:pPr>
            <a:r>
              <a:rPr sz="1600" b="0" i="0">
                <a:solidFill>
                  <a:srgbClr val="222222"/>
                </a:solidFill>
                <a:latin typeface="Calibri"/>
              </a:rPr>
              <a:t>6.8%</a:t>
            </a:r>
          </a:p>
        </p:txBody>
      </p:sp>
      <p:sp>
        <p:nvSpPr>
          <p:cNvPr id="19" name="TextBox 18"/>
          <p:cNvSpPr txBox="1"/>
          <p:nvPr/>
        </p:nvSpPr>
        <p:spPr>
          <a:xfrm>
            <a:off x="9464040" y="3081528"/>
            <a:ext cx="2103120" cy="457200"/>
          </a:xfrm>
          <a:prstGeom prst="rect">
            <a:avLst/>
          </a:prstGeom>
          <a:noFill/>
        </p:spPr>
        <p:txBody>
          <a:bodyPr wrap="square" anchor="t" lIns="0" rIns="0" tIns="0" bIns="0">
            <a:spAutoFit/>
          </a:bodyPr>
          <a:lstStyle/>
          <a:p>
            <a:pPr algn="ctr">
              <a:lnSpc>
                <a:spcPct val="100000"/>
              </a:lnSpc>
            </a:pPr>
            <a:r>
              <a:rPr sz="1600" b="0" i="0">
                <a:solidFill>
                  <a:srgbClr val="222222"/>
                </a:solidFill>
                <a:latin typeface="Calibri"/>
              </a:rPr>
              <a:t>5.7%</a:t>
            </a:r>
          </a:p>
        </p:txBody>
      </p:sp>
      <p:sp>
        <p:nvSpPr>
          <p:cNvPr id="20" name="TextBox 19"/>
          <p:cNvSpPr txBox="1"/>
          <p:nvPr/>
        </p:nvSpPr>
        <p:spPr>
          <a:xfrm>
            <a:off x="502920" y="3794760"/>
            <a:ext cx="11155680" cy="365760"/>
          </a:xfrm>
          <a:prstGeom prst="rect">
            <a:avLst/>
          </a:prstGeom>
          <a:noFill/>
        </p:spPr>
        <p:txBody>
          <a:bodyPr wrap="square" anchor="t" lIns="0" rIns="0" tIns="0" bIns="0">
            <a:spAutoFit/>
          </a:bodyPr>
          <a:lstStyle/>
          <a:p>
            <a:pPr algn="l">
              <a:lnSpc>
                <a:spcPct val="100000"/>
              </a:lnSpc>
            </a:pPr>
            <a:r>
              <a:rPr sz="1400" b="0" i="0">
                <a:solidFill>
                  <a:srgbClr val="595959"/>
                </a:solidFill>
                <a:latin typeface="Calibri"/>
              </a:rPr>
              <a:t>RMSE (normalized):  0.005 (10 mm)  ·  0.023 (20 mm)</a:t>
            </a:r>
          </a:p>
        </p:txBody>
      </p:sp>
      <p:sp>
        <p:nvSpPr>
          <p:cNvPr id="21" name="Rounded Rectangle 20"/>
          <p:cNvSpPr/>
          <p:nvPr/>
        </p:nvSpPr>
        <p:spPr>
          <a:xfrm>
            <a:off x="502920" y="4389120"/>
            <a:ext cx="11155680" cy="155448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72000"/>
            <a:ext cx="10607040" cy="1280160"/>
          </a:xfrm>
          <a:prstGeom prst="rect">
            <a:avLst/>
          </a:prstGeom>
          <a:noFill/>
        </p:spPr>
        <p:txBody>
          <a:bodyPr wrap="square" anchor="t" lIns="0" rIns="0" tIns="0" bIns="0">
            <a:spAutoFit/>
          </a:bodyPr>
          <a:lstStyle/>
          <a:p>
            <a:pPr algn="l">
              <a:lnSpc>
                <a:spcPct val="100000"/>
              </a:lnSpc>
              <a:spcAft>
                <a:spcPts val="400"/>
              </a:spcAft>
            </a:pPr>
            <a:r>
              <a:rPr sz="1500" b="0" i="0">
                <a:solidFill>
                  <a:srgbClr val="595959"/>
                </a:solidFill>
                <a:latin typeface="Calibri"/>
              </a:rPr>
              <a:t>The whole actuator model a designer needs:</a:t>
            </a:r>
          </a:p>
          <a:p>
            <a:pPr algn="l">
              <a:lnSpc>
                <a:spcPct val="100000"/>
              </a:lnSpc>
            </a:pPr>
            <a:r>
              <a:rPr sz="1900" b="1" i="0">
                <a:solidFill>
                  <a:srgbClr val="AF7B51"/>
                </a:solidFill>
                <a:latin typeface="Calibri"/>
              </a:rPr>
              <a:t>F*  (3 coefficients, per diameter)   ×   F₆₂₀(l₀)  (2 coefficients, per diameter)</a:t>
            </a:r>
          </a:p>
        </p:txBody>
      </p:sp>
      <p:sp>
        <p:nvSpPr>
          <p:cNvPr id="23" name="TextBox 22"/>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MUSCLES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Lowest error of the compared models at every diameter and length tested</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§3.3 (comparison with published BPA models); Bolen et al. 2026, Actuators, Fig. 5 + Table 3</a:t>
            </a:r>
          </a:p>
        </p:txBody>
      </p:sp>
      <p:pic>
        <p:nvPicPr>
          <p:cNvPr id="5" name="Picture 4" descr="Comparison.png"/>
          <p:cNvPicPr>
            <a:picLocks noChangeAspect="1"/>
          </p:cNvPicPr>
          <p:nvPr/>
        </p:nvPicPr>
        <p:blipFill>
          <a:blip r:embed="rId3"/>
          <a:stretch>
            <a:fillRect/>
          </a:stretch>
        </p:blipFill>
        <p:spPr>
          <a:xfrm>
            <a:off x="502920" y="1792289"/>
            <a:ext cx="5120640" cy="4416421"/>
          </a:xfrm>
          <a:prstGeom prst="rect">
            <a:avLst/>
          </a:prstGeom>
        </p:spPr>
      </p:pic>
      <p:sp>
        <p:nvSpPr>
          <p:cNvPr id="6" name="TextBox 5"/>
          <p:cNvSpPr txBox="1"/>
          <p:nvPr/>
        </p:nvSpPr>
        <p:spPr>
          <a:xfrm>
            <a:off x="502920" y="6263640"/>
            <a:ext cx="5120640" cy="320040"/>
          </a:xfrm>
          <a:prstGeom prst="rect">
            <a:avLst/>
          </a:prstGeom>
          <a:noFill/>
        </p:spPr>
        <p:txBody>
          <a:bodyPr wrap="square" anchor="t" lIns="0" rIns="0" tIns="0" bIns="0">
            <a:spAutoFit/>
          </a:bodyPr>
          <a:lstStyle/>
          <a:p>
            <a:pPr algn="ctr">
              <a:lnSpc>
                <a:spcPct val="100000"/>
              </a:lnSpc>
            </a:pPr>
            <a:r>
              <a:rPr sz="1150" b="0" i="1">
                <a:solidFill>
                  <a:srgbClr val="7F7F7F"/>
                </a:solidFill>
                <a:latin typeface="Calibri"/>
              </a:rPr>
              <a:t>measured vs predicted; y = x is perfect fit</a:t>
            </a:r>
          </a:p>
        </p:txBody>
      </p:sp>
      <p:sp>
        <p:nvSpPr>
          <p:cNvPr id="7" name="TextBox 6"/>
          <p:cNvSpPr txBox="1"/>
          <p:nvPr/>
        </p:nvSpPr>
        <p:spPr>
          <a:xfrm>
            <a:off x="6035040" y="1783080"/>
            <a:ext cx="5669280" cy="365760"/>
          </a:xfrm>
          <a:prstGeom prst="rect">
            <a:avLst/>
          </a:prstGeom>
          <a:noFill/>
        </p:spPr>
        <p:txBody>
          <a:bodyPr wrap="square" anchor="t" lIns="0" rIns="0" tIns="0" bIns="0">
            <a:spAutoFit/>
          </a:bodyPr>
          <a:lstStyle/>
          <a:p>
            <a:pPr algn="l">
              <a:lnSpc>
                <a:spcPct val="100000"/>
              </a:lnSpc>
            </a:pPr>
            <a:r>
              <a:rPr sz="1350" b="1" i="0">
                <a:solidFill>
                  <a:srgbClr val="00796B"/>
                </a:solidFill>
                <a:latin typeface="Calibri"/>
              </a:rPr>
              <a:t>RMSE (N) at matched conditions</a:t>
            </a:r>
          </a:p>
        </p:txBody>
      </p:sp>
      <p:sp>
        <p:nvSpPr>
          <p:cNvPr id="8" name="TextBox 7"/>
          <p:cNvSpPr txBox="1"/>
          <p:nvPr/>
        </p:nvSpPr>
        <p:spPr>
          <a:xfrm>
            <a:off x="6035040" y="2194560"/>
            <a:ext cx="1920240" cy="365760"/>
          </a:xfrm>
          <a:prstGeom prst="rect">
            <a:avLst/>
          </a:prstGeom>
          <a:noFill/>
        </p:spPr>
        <p:txBody>
          <a:bodyPr wrap="square" anchor="t" lIns="0" rIns="0" tIns="0" bIns="0">
            <a:spAutoFit/>
          </a:bodyPr>
          <a:lstStyle/>
          <a:p>
            <a:pPr algn="l">
              <a:lnSpc>
                <a:spcPct val="100000"/>
              </a:lnSpc>
            </a:pPr>
            <a:r>
              <a:rPr sz="1350" b="1" i="0">
                <a:solidFill>
                  <a:srgbClr val="595959"/>
                </a:solidFill>
                <a:latin typeface="Calibri"/>
              </a:rPr>
              <a:t>l₀</a:t>
            </a:r>
          </a:p>
        </p:txBody>
      </p:sp>
      <p:sp>
        <p:nvSpPr>
          <p:cNvPr id="9" name="TextBox 8"/>
          <p:cNvSpPr txBox="1"/>
          <p:nvPr/>
        </p:nvSpPr>
        <p:spPr>
          <a:xfrm>
            <a:off x="7955279" y="2194560"/>
            <a:ext cx="1234440" cy="365760"/>
          </a:xfrm>
          <a:prstGeom prst="rect">
            <a:avLst/>
          </a:prstGeom>
          <a:noFill/>
        </p:spPr>
        <p:txBody>
          <a:bodyPr wrap="square" anchor="t" lIns="0" rIns="0" tIns="0" bIns="0">
            <a:spAutoFit/>
          </a:bodyPr>
          <a:lstStyle/>
          <a:p>
            <a:pPr algn="ctr">
              <a:lnSpc>
                <a:spcPct val="100000"/>
              </a:lnSpc>
            </a:pPr>
            <a:r>
              <a:rPr sz="1350" b="1" i="0">
                <a:solidFill>
                  <a:srgbClr val="595959"/>
                </a:solidFill>
                <a:latin typeface="Calibri"/>
              </a:rPr>
              <a:t>Bolen</a:t>
            </a:r>
          </a:p>
        </p:txBody>
      </p:sp>
      <p:sp>
        <p:nvSpPr>
          <p:cNvPr id="10" name="TextBox 9"/>
          <p:cNvSpPr txBox="1"/>
          <p:nvPr/>
        </p:nvSpPr>
        <p:spPr>
          <a:xfrm>
            <a:off x="9189719" y="2194560"/>
            <a:ext cx="1234440" cy="365760"/>
          </a:xfrm>
          <a:prstGeom prst="rect">
            <a:avLst/>
          </a:prstGeom>
          <a:noFill/>
        </p:spPr>
        <p:txBody>
          <a:bodyPr wrap="square" anchor="t" lIns="0" rIns="0" tIns="0" bIns="0">
            <a:spAutoFit/>
          </a:bodyPr>
          <a:lstStyle/>
          <a:p>
            <a:pPr algn="ctr">
              <a:lnSpc>
                <a:spcPct val="100000"/>
              </a:lnSpc>
            </a:pPr>
            <a:r>
              <a:rPr sz="1350" b="1" i="0">
                <a:solidFill>
                  <a:srgbClr val="595959"/>
                </a:solidFill>
                <a:latin typeface="Calibri"/>
              </a:rPr>
              <a:t>Sárosi</a:t>
            </a:r>
          </a:p>
        </p:txBody>
      </p:sp>
      <p:sp>
        <p:nvSpPr>
          <p:cNvPr id="11" name="TextBox 10"/>
          <p:cNvSpPr txBox="1"/>
          <p:nvPr/>
        </p:nvSpPr>
        <p:spPr>
          <a:xfrm>
            <a:off x="10424159" y="2194560"/>
            <a:ext cx="1554480" cy="365760"/>
          </a:xfrm>
          <a:prstGeom prst="rect">
            <a:avLst/>
          </a:prstGeom>
          <a:noFill/>
        </p:spPr>
        <p:txBody>
          <a:bodyPr wrap="square" anchor="t" lIns="0" rIns="0" tIns="0" bIns="0">
            <a:spAutoFit/>
          </a:bodyPr>
          <a:lstStyle/>
          <a:p>
            <a:pPr algn="ctr">
              <a:lnSpc>
                <a:spcPct val="100000"/>
              </a:lnSpc>
            </a:pPr>
            <a:r>
              <a:rPr sz="1350" b="1" i="0">
                <a:solidFill>
                  <a:srgbClr val="595959"/>
                </a:solidFill>
                <a:latin typeface="Calibri"/>
              </a:rPr>
              <a:t>M&amp;B</a:t>
            </a:r>
          </a:p>
        </p:txBody>
      </p:sp>
      <p:sp>
        <p:nvSpPr>
          <p:cNvPr id="12" name="TextBox 11"/>
          <p:cNvSpPr txBox="1"/>
          <p:nvPr/>
        </p:nvSpPr>
        <p:spPr>
          <a:xfrm>
            <a:off x="6035040" y="2633472"/>
            <a:ext cx="1920240" cy="411480"/>
          </a:xfrm>
          <a:prstGeom prst="rect">
            <a:avLst/>
          </a:prstGeom>
          <a:noFill/>
        </p:spPr>
        <p:txBody>
          <a:bodyPr wrap="square" anchor="t" lIns="0" rIns="0" tIns="0" bIns="0">
            <a:spAutoFit/>
          </a:bodyPr>
          <a:lstStyle/>
          <a:p>
            <a:pPr algn="l">
              <a:lnSpc>
                <a:spcPct val="100000"/>
              </a:lnSpc>
            </a:pPr>
            <a:r>
              <a:rPr sz="1400" b="0" i="0">
                <a:solidFill>
                  <a:srgbClr val="222222"/>
                </a:solidFill>
                <a:latin typeface="Calibri"/>
              </a:rPr>
              <a:t>10 mm, 257 mm</a:t>
            </a:r>
          </a:p>
        </p:txBody>
      </p:sp>
      <p:sp>
        <p:nvSpPr>
          <p:cNvPr id="13" name="TextBox 12"/>
          <p:cNvSpPr txBox="1"/>
          <p:nvPr/>
        </p:nvSpPr>
        <p:spPr>
          <a:xfrm>
            <a:off x="7955279" y="2606040"/>
            <a:ext cx="1234440" cy="411480"/>
          </a:xfrm>
          <a:prstGeom prst="rect">
            <a:avLst/>
          </a:prstGeom>
          <a:noFill/>
        </p:spPr>
        <p:txBody>
          <a:bodyPr wrap="square" anchor="t" lIns="0" rIns="0" tIns="0" bIns="0">
            <a:spAutoFit/>
          </a:bodyPr>
          <a:lstStyle/>
          <a:p>
            <a:pPr algn="ctr">
              <a:lnSpc>
                <a:spcPct val="100000"/>
              </a:lnSpc>
            </a:pPr>
            <a:r>
              <a:rPr sz="1600" b="1" i="0">
                <a:solidFill>
                  <a:srgbClr val="38761D"/>
                </a:solidFill>
                <a:latin typeface="Calibri"/>
              </a:rPr>
              <a:t>22.9</a:t>
            </a:r>
          </a:p>
        </p:txBody>
      </p:sp>
      <p:sp>
        <p:nvSpPr>
          <p:cNvPr id="14" name="TextBox 13"/>
          <p:cNvSpPr txBox="1"/>
          <p:nvPr/>
        </p:nvSpPr>
        <p:spPr>
          <a:xfrm>
            <a:off x="9189719" y="2606040"/>
            <a:ext cx="123444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143.8</a:t>
            </a:r>
          </a:p>
        </p:txBody>
      </p:sp>
      <p:sp>
        <p:nvSpPr>
          <p:cNvPr id="15" name="TextBox 14"/>
          <p:cNvSpPr txBox="1"/>
          <p:nvPr/>
        </p:nvSpPr>
        <p:spPr>
          <a:xfrm>
            <a:off x="10424159" y="2606040"/>
            <a:ext cx="155448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73.8</a:t>
            </a:r>
          </a:p>
        </p:txBody>
      </p:sp>
      <p:sp>
        <p:nvSpPr>
          <p:cNvPr id="16" name="TextBox 15"/>
          <p:cNvSpPr txBox="1"/>
          <p:nvPr/>
        </p:nvSpPr>
        <p:spPr>
          <a:xfrm>
            <a:off x="6035040" y="3163824"/>
            <a:ext cx="1920240" cy="411480"/>
          </a:xfrm>
          <a:prstGeom prst="rect">
            <a:avLst/>
          </a:prstGeom>
          <a:noFill/>
        </p:spPr>
        <p:txBody>
          <a:bodyPr wrap="square" anchor="t" lIns="0" rIns="0" tIns="0" bIns="0">
            <a:spAutoFit/>
          </a:bodyPr>
          <a:lstStyle/>
          <a:p>
            <a:pPr algn="l">
              <a:lnSpc>
                <a:spcPct val="100000"/>
              </a:lnSpc>
            </a:pPr>
            <a:r>
              <a:rPr sz="1400" b="0" i="0">
                <a:solidFill>
                  <a:srgbClr val="222222"/>
                </a:solidFill>
                <a:latin typeface="Calibri"/>
              </a:rPr>
              <a:t>10 mm, 233 mm</a:t>
            </a:r>
          </a:p>
        </p:txBody>
      </p:sp>
      <p:sp>
        <p:nvSpPr>
          <p:cNvPr id="17" name="TextBox 16"/>
          <p:cNvSpPr txBox="1"/>
          <p:nvPr/>
        </p:nvSpPr>
        <p:spPr>
          <a:xfrm>
            <a:off x="7955279" y="3136392"/>
            <a:ext cx="1234440" cy="411480"/>
          </a:xfrm>
          <a:prstGeom prst="rect">
            <a:avLst/>
          </a:prstGeom>
          <a:noFill/>
        </p:spPr>
        <p:txBody>
          <a:bodyPr wrap="square" anchor="t" lIns="0" rIns="0" tIns="0" bIns="0">
            <a:spAutoFit/>
          </a:bodyPr>
          <a:lstStyle/>
          <a:p>
            <a:pPr algn="ctr">
              <a:lnSpc>
                <a:spcPct val="100000"/>
              </a:lnSpc>
            </a:pPr>
            <a:r>
              <a:rPr sz="1600" b="1" i="0">
                <a:solidFill>
                  <a:srgbClr val="38761D"/>
                </a:solidFill>
                <a:latin typeface="Calibri"/>
              </a:rPr>
              <a:t>16.8</a:t>
            </a:r>
          </a:p>
        </p:txBody>
      </p:sp>
      <p:sp>
        <p:nvSpPr>
          <p:cNvPr id="18" name="TextBox 17"/>
          <p:cNvSpPr txBox="1"/>
          <p:nvPr/>
        </p:nvSpPr>
        <p:spPr>
          <a:xfrm>
            <a:off x="9189719" y="3136392"/>
            <a:ext cx="123444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132.7</a:t>
            </a:r>
          </a:p>
        </p:txBody>
      </p:sp>
      <p:sp>
        <p:nvSpPr>
          <p:cNvPr id="19" name="TextBox 18"/>
          <p:cNvSpPr txBox="1"/>
          <p:nvPr/>
        </p:nvSpPr>
        <p:spPr>
          <a:xfrm>
            <a:off x="10424159" y="3136392"/>
            <a:ext cx="155448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62.6</a:t>
            </a:r>
          </a:p>
        </p:txBody>
      </p:sp>
      <p:sp>
        <p:nvSpPr>
          <p:cNvPr id="20" name="TextBox 19"/>
          <p:cNvSpPr txBox="1"/>
          <p:nvPr/>
        </p:nvSpPr>
        <p:spPr>
          <a:xfrm>
            <a:off x="6035040" y="3694176"/>
            <a:ext cx="1920240" cy="411480"/>
          </a:xfrm>
          <a:prstGeom prst="rect">
            <a:avLst/>
          </a:prstGeom>
          <a:noFill/>
        </p:spPr>
        <p:txBody>
          <a:bodyPr wrap="square" anchor="t" lIns="0" rIns="0" tIns="0" bIns="0">
            <a:spAutoFit/>
          </a:bodyPr>
          <a:lstStyle/>
          <a:p>
            <a:pPr algn="l">
              <a:lnSpc>
                <a:spcPct val="100000"/>
              </a:lnSpc>
            </a:pPr>
            <a:r>
              <a:rPr sz="1400" b="0" i="0">
                <a:solidFill>
                  <a:srgbClr val="222222"/>
                </a:solidFill>
                <a:latin typeface="Calibri"/>
              </a:rPr>
              <a:t>20 mm, 300 mm</a:t>
            </a:r>
          </a:p>
        </p:txBody>
      </p:sp>
      <p:sp>
        <p:nvSpPr>
          <p:cNvPr id="21" name="TextBox 20"/>
          <p:cNvSpPr txBox="1"/>
          <p:nvPr/>
        </p:nvSpPr>
        <p:spPr>
          <a:xfrm>
            <a:off x="7955279" y="3666744"/>
            <a:ext cx="1234440" cy="411480"/>
          </a:xfrm>
          <a:prstGeom prst="rect">
            <a:avLst/>
          </a:prstGeom>
          <a:noFill/>
        </p:spPr>
        <p:txBody>
          <a:bodyPr wrap="square" anchor="t" lIns="0" rIns="0" tIns="0" bIns="0">
            <a:spAutoFit/>
          </a:bodyPr>
          <a:lstStyle/>
          <a:p>
            <a:pPr algn="ctr">
              <a:lnSpc>
                <a:spcPct val="100000"/>
              </a:lnSpc>
            </a:pPr>
            <a:r>
              <a:rPr sz="1600" b="1" i="0">
                <a:solidFill>
                  <a:srgbClr val="38761D"/>
                </a:solidFill>
                <a:latin typeface="Calibri"/>
              </a:rPr>
              <a:t>35.6</a:t>
            </a:r>
          </a:p>
        </p:txBody>
      </p:sp>
      <p:sp>
        <p:nvSpPr>
          <p:cNvPr id="22" name="TextBox 21"/>
          <p:cNvSpPr txBox="1"/>
          <p:nvPr/>
        </p:nvSpPr>
        <p:spPr>
          <a:xfrm>
            <a:off x="9189719" y="3666744"/>
            <a:ext cx="123444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132.1</a:t>
            </a:r>
          </a:p>
        </p:txBody>
      </p:sp>
      <p:sp>
        <p:nvSpPr>
          <p:cNvPr id="23" name="TextBox 22"/>
          <p:cNvSpPr txBox="1"/>
          <p:nvPr/>
        </p:nvSpPr>
        <p:spPr>
          <a:xfrm>
            <a:off x="10424159" y="3666744"/>
            <a:ext cx="155448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72.8</a:t>
            </a:r>
          </a:p>
        </p:txBody>
      </p:sp>
      <p:sp>
        <p:nvSpPr>
          <p:cNvPr id="24" name="TextBox 23"/>
          <p:cNvSpPr txBox="1"/>
          <p:nvPr/>
        </p:nvSpPr>
        <p:spPr>
          <a:xfrm>
            <a:off x="6035040" y="4224528"/>
            <a:ext cx="1920240" cy="411480"/>
          </a:xfrm>
          <a:prstGeom prst="rect">
            <a:avLst/>
          </a:prstGeom>
          <a:noFill/>
        </p:spPr>
        <p:txBody>
          <a:bodyPr wrap="square" anchor="t" lIns="0" rIns="0" tIns="0" bIns="0">
            <a:spAutoFit/>
          </a:bodyPr>
          <a:lstStyle/>
          <a:p>
            <a:pPr algn="l">
              <a:lnSpc>
                <a:spcPct val="100000"/>
              </a:lnSpc>
            </a:pPr>
            <a:r>
              <a:rPr sz="1400" b="0" i="0">
                <a:solidFill>
                  <a:srgbClr val="222222"/>
                </a:solidFill>
                <a:latin typeface="Calibri"/>
              </a:rPr>
              <a:t>20 mm, 450 mm</a:t>
            </a:r>
          </a:p>
        </p:txBody>
      </p:sp>
      <p:sp>
        <p:nvSpPr>
          <p:cNvPr id="25" name="TextBox 24"/>
          <p:cNvSpPr txBox="1"/>
          <p:nvPr/>
        </p:nvSpPr>
        <p:spPr>
          <a:xfrm>
            <a:off x="7955279" y="4197096"/>
            <a:ext cx="1234440" cy="411480"/>
          </a:xfrm>
          <a:prstGeom prst="rect">
            <a:avLst/>
          </a:prstGeom>
          <a:noFill/>
        </p:spPr>
        <p:txBody>
          <a:bodyPr wrap="square" anchor="t" lIns="0" rIns="0" tIns="0" bIns="0">
            <a:spAutoFit/>
          </a:bodyPr>
          <a:lstStyle/>
          <a:p>
            <a:pPr algn="ctr">
              <a:lnSpc>
                <a:spcPct val="100000"/>
              </a:lnSpc>
            </a:pPr>
            <a:r>
              <a:rPr sz="1600" b="1" i="0">
                <a:solidFill>
                  <a:srgbClr val="38761D"/>
                </a:solidFill>
                <a:latin typeface="Calibri"/>
              </a:rPr>
              <a:t>67.6</a:t>
            </a:r>
          </a:p>
        </p:txBody>
      </p:sp>
      <p:sp>
        <p:nvSpPr>
          <p:cNvPr id="26" name="TextBox 25"/>
          <p:cNvSpPr txBox="1"/>
          <p:nvPr/>
        </p:nvSpPr>
        <p:spPr>
          <a:xfrm>
            <a:off x="9189719" y="4197096"/>
            <a:ext cx="123444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177.7</a:t>
            </a:r>
          </a:p>
        </p:txBody>
      </p:sp>
      <p:sp>
        <p:nvSpPr>
          <p:cNvPr id="27" name="TextBox 26"/>
          <p:cNvSpPr txBox="1"/>
          <p:nvPr/>
        </p:nvSpPr>
        <p:spPr>
          <a:xfrm>
            <a:off x="10424159" y="4197096"/>
            <a:ext cx="1554480" cy="411480"/>
          </a:xfrm>
          <a:prstGeom prst="rect">
            <a:avLst/>
          </a:prstGeom>
          <a:noFill/>
        </p:spPr>
        <p:txBody>
          <a:bodyPr wrap="square" anchor="t" lIns="0" rIns="0" tIns="0" bIns="0">
            <a:spAutoFit/>
          </a:bodyPr>
          <a:lstStyle/>
          <a:p>
            <a:pPr algn="ctr">
              <a:lnSpc>
                <a:spcPct val="100000"/>
              </a:lnSpc>
            </a:pPr>
            <a:r>
              <a:rPr sz="1500" b="0" i="0">
                <a:solidFill>
                  <a:srgbClr val="595959"/>
                </a:solidFill>
                <a:latin typeface="Calibri"/>
              </a:rPr>
              <a:t>862.1</a:t>
            </a:r>
          </a:p>
        </p:txBody>
      </p:sp>
      <p:sp>
        <p:nvSpPr>
          <p:cNvPr id="28" name="Rounded Rectangle 27"/>
          <p:cNvSpPr/>
          <p:nvPr/>
        </p:nvSpPr>
        <p:spPr>
          <a:xfrm>
            <a:off x="6035040" y="4892040"/>
            <a:ext cx="5669280" cy="123444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5047488"/>
            <a:ext cx="5120640" cy="1005840"/>
          </a:xfrm>
          <a:prstGeom prst="rect">
            <a:avLst/>
          </a:prstGeom>
          <a:noFill/>
        </p:spPr>
        <p:txBody>
          <a:bodyPr wrap="square" anchor="t" lIns="0" rIns="0" tIns="0" bIns="0">
            <a:spAutoFit/>
          </a:bodyPr>
          <a:lstStyle/>
          <a:p>
            <a:pPr algn="l">
              <a:lnSpc>
                <a:spcPct val="110000"/>
              </a:lnSpc>
            </a:pPr>
            <a:r>
              <a:rPr sz="1400" b="0" i="0">
                <a:solidFill>
                  <a:srgbClr val="222222"/>
                </a:solidFill>
                <a:latin typeface="Calibri"/>
              </a:rPr>
              <a:t>Normalization travels: one fit per diameter works across lengths,</a:t>
            </a:r>
          </a:p>
          <a:p>
            <a:pPr algn="l">
              <a:lnSpc>
                <a:spcPct val="110000"/>
              </a:lnSpc>
            </a:pPr>
            <a:r>
              <a:rPr sz="1400" b="0" i="0">
                <a:solidFill>
                  <a:srgbClr val="222222"/>
                </a:solidFill>
                <a:latin typeface="Calibri"/>
              </a:rPr>
              <a:t>while fixed-parameter models fail when moved off their fit length.</a:t>
            </a:r>
          </a:p>
        </p:txBody>
      </p:sp>
      <p:sp>
        <p:nvSpPr>
          <p:cNvPr id="30" name="TextBox 29"/>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3 → CH. 4</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force model is two cheap maps - built to sit inside a real-time controller</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§3.3 (implications for real-time control and simulation); dynamics complement: Elzein et al. 2025</a:t>
            </a:r>
          </a:p>
        </p:txBody>
      </p:sp>
      <p:sp>
        <p:nvSpPr>
          <p:cNvPr id="5" name="Rounded Rectangle 4"/>
          <p:cNvSpPr/>
          <p:nvPr/>
        </p:nvSpPr>
        <p:spPr>
          <a:xfrm>
            <a:off x="1920240" y="1920240"/>
            <a:ext cx="3749039" cy="137160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2084831"/>
            <a:ext cx="3383280" cy="36576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MAP 1</a:t>
            </a:r>
          </a:p>
        </p:txBody>
      </p:sp>
      <p:sp>
        <p:nvSpPr>
          <p:cNvPr id="7" name="TextBox 6"/>
          <p:cNvSpPr txBox="1"/>
          <p:nvPr/>
        </p:nvSpPr>
        <p:spPr>
          <a:xfrm>
            <a:off x="2103120" y="2450592"/>
            <a:ext cx="3383280" cy="731520"/>
          </a:xfrm>
          <a:prstGeom prst="rect">
            <a:avLst/>
          </a:prstGeom>
          <a:noFill/>
        </p:spPr>
        <p:txBody>
          <a:bodyPr wrap="square" anchor="t" lIns="0" rIns="0" tIns="0" bIns="0">
            <a:spAutoFit/>
          </a:bodyPr>
          <a:lstStyle/>
          <a:p>
            <a:pPr algn="l">
              <a:lnSpc>
                <a:spcPct val="105000"/>
              </a:lnSpc>
            </a:pPr>
            <a:r>
              <a:rPr sz="1550" b="0" i="0">
                <a:solidFill>
                  <a:srgbClr val="222222"/>
                </a:solidFill>
                <a:latin typeface="Calibri"/>
              </a:rPr>
              <a:t>F₆₂₀(l₀)</a:t>
            </a:r>
          </a:p>
          <a:p>
            <a:pPr algn="l">
              <a:lnSpc>
                <a:spcPct val="105000"/>
              </a:lnSpc>
            </a:pPr>
            <a:r>
              <a:rPr sz="1550" b="0" i="0">
                <a:solidFill>
                  <a:srgbClr val="222222"/>
                </a:solidFill>
                <a:latin typeface="Calibri"/>
              </a:rPr>
              <a:t>resting length → max force</a:t>
            </a:r>
          </a:p>
        </p:txBody>
      </p:sp>
      <p:sp>
        <p:nvSpPr>
          <p:cNvPr id="8" name="Rounded Rectangle 7"/>
          <p:cNvSpPr/>
          <p:nvPr/>
        </p:nvSpPr>
        <p:spPr>
          <a:xfrm>
            <a:off x="6492240" y="1920240"/>
            <a:ext cx="3749039" cy="137160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084831"/>
            <a:ext cx="3383280" cy="36576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MAP 2</a:t>
            </a:r>
          </a:p>
        </p:txBody>
      </p:sp>
      <p:sp>
        <p:nvSpPr>
          <p:cNvPr id="10" name="TextBox 9"/>
          <p:cNvSpPr txBox="1"/>
          <p:nvPr/>
        </p:nvSpPr>
        <p:spPr>
          <a:xfrm>
            <a:off x="6675120" y="2450592"/>
            <a:ext cx="3383280" cy="731520"/>
          </a:xfrm>
          <a:prstGeom prst="rect">
            <a:avLst/>
          </a:prstGeom>
          <a:noFill/>
        </p:spPr>
        <p:txBody>
          <a:bodyPr wrap="square" anchor="t" lIns="0" rIns="0" tIns="0" bIns="0">
            <a:spAutoFit/>
          </a:bodyPr>
          <a:lstStyle/>
          <a:p>
            <a:pPr algn="l">
              <a:lnSpc>
                <a:spcPct val="105000"/>
              </a:lnSpc>
            </a:pPr>
            <a:r>
              <a:rPr sz="1550" b="0" i="0">
                <a:solidFill>
                  <a:srgbClr val="222222"/>
                </a:solidFill>
                <a:latin typeface="Calibri"/>
              </a:rPr>
              <a:t>F*(ε*, P*)</a:t>
            </a:r>
          </a:p>
          <a:p>
            <a:pPr algn="l">
              <a:lnSpc>
                <a:spcPct val="105000"/>
              </a:lnSpc>
            </a:pPr>
            <a:r>
              <a:rPr sz="1550" b="0" i="0">
                <a:solidFill>
                  <a:srgbClr val="222222"/>
                </a:solidFill>
                <a:latin typeface="Calibri"/>
              </a:rPr>
              <a:t>strain, pressure → fraction</a:t>
            </a:r>
          </a:p>
        </p:txBody>
      </p:sp>
      <p:cxnSp>
        <p:nvCxnSpPr>
          <p:cNvPr id="11" name="Connector 10"/>
          <p:cNvCxnSpPr/>
          <p:nvPr/>
        </p:nvCxnSpPr>
        <p:spPr>
          <a:xfrm>
            <a:off x="5742432" y="2606040"/>
            <a:ext cx="676656"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Picture 11" descr="force.png"/>
          <p:cNvPicPr>
            <a:picLocks noChangeAspect="1"/>
          </p:cNvPicPr>
          <p:nvPr/>
        </p:nvPicPr>
        <p:blipFill>
          <a:blip r:embed="rId3"/>
          <a:stretch>
            <a:fillRect/>
          </a:stretch>
        </p:blipFill>
        <p:spPr>
          <a:xfrm>
            <a:off x="3291840" y="3703320"/>
            <a:ext cx="8138030" cy="566928"/>
          </a:xfrm>
          <a:prstGeom prst="rect">
            <a:avLst/>
          </a:prstGeom>
        </p:spPr>
      </p:pic>
      <p:sp>
        <p:nvSpPr>
          <p:cNvPr id="13" name="Rounded Rectangle 12"/>
          <p:cNvSpPr/>
          <p:nvPr/>
        </p:nvSpPr>
        <p:spPr>
          <a:xfrm>
            <a:off x="1920240" y="4709160"/>
            <a:ext cx="8321040" cy="123444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94560" y="4864608"/>
            <a:ext cx="7863840" cy="960120"/>
          </a:xfrm>
          <a:prstGeom prst="rect">
            <a:avLst/>
          </a:prstGeom>
          <a:noFill/>
        </p:spPr>
        <p:txBody>
          <a:bodyPr wrap="square" anchor="t" lIns="0" rIns="0" tIns="0" bIns="0">
            <a:spAutoFit/>
          </a:bodyPr>
          <a:lstStyle/>
          <a:p>
            <a:pPr algn="l">
              <a:lnSpc>
                <a:spcPct val="100000"/>
              </a:lnSpc>
              <a:spcAft>
                <a:spcPts val="300"/>
              </a:spcAft>
            </a:pPr>
            <a:r>
              <a:rPr sz="1500" b="0" i="0">
                <a:solidFill>
                  <a:srgbClr val="222222"/>
                </a:solidFill>
                <a:latin typeface="Calibri"/>
              </a:rPr>
              <a:t>Closed form or lookup table; evaluated per timestep in the robot model.</a:t>
            </a:r>
          </a:p>
          <a:p>
            <a:pPr algn="l">
              <a:lnSpc>
                <a:spcPct val="100000"/>
              </a:lnSpc>
            </a:pPr>
            <a:r>
              <a:rPr sz="1500" b="1" i="0">
                <a:solidFill>
                  <a:srgbClr val="AF7B51"/>
                </a:solidFill>
                <a:latin typeface="Calibri"/>
              </a:rPr>
              <a:t>Next: multiply by geometry (moment arm) → joint torque.  Does it survive contact with the joint?</a:t>
            </a:r>
          </a:p>
        </p:txBody>
      </p:sp>
      <p:sp>
        <p:nvSpPr>
          <p:cNvPr id="15" name="TextBox 14"/>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ISOMETRIC KNEE TORQUE</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Two test stands: a pinned knee exposes the losses; the biomimetic four-bar validates them</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4 (Isometric Knee Torque), robot leg model and test stands; four-bar knee: Steele et al. 2018</a:t>
            </a:r>
          </a:p>
        </p:txBody>
      </p:sp>
      <p:pic>
        <p:nvPicPr>
          <p:cNvPr id="5" name="Picture 4" descr="testJigs_knee.png"/>
          <p:cNvPicPr>
            <a:picLocks noChangeAspect="1"/>
          </p:cNvPicPr>
          <p:nvPr/>
        </p:nvPicPr>
        <p:blipFill>
          <a:blip r:embed="rId3"/>
          <a:stretch>
            <a:fillRect/>
          </a:stretch>
        </p:blipFill>
        <p:spPr>
          <a:xfrm>
            <a:off x="587828" y="1737360"/>
            <a:ext cx="3762102" cy="4389120"/>
          </a:xfrm>
          <a:prstGeom prst="rect">
            <a:avLst/>
          </a:prstGeom>
        </p:spPr>
      </p:pic>
      <p:sp>
        <p:nvSpPr>
          <p:cNvPr id="6" name="TextBox 5"/>
          <p:cNvSpPr txBox="1"/>
          <p:nvPr/>
        </p:nvSpPr>
        <p:spPr>
          <a:xfrm>
            <a:off x="548640" y="6144768"/>
            <a:ext cx="3840480" cy="320040"/>
          </a:xfrm>
          <a:prstGeom prst="rect">
            <a:avLst/>
          </a:prstGeom>
          <a:noFill/>
        </p:spPr>
        <p:txBody>
          <a:bodyPr wrap="square" anchor="t" lIns="0" rIns="0" tIns="0" bIns="0">
            <a:spAutoFit/>
          </a:bodyPr>
          <a:lstStyle/>
          <a:p>
            <a:pPr algn="ctr">
              <a:lnSpc>
                <a:spcPct val="100000"/>
              </a:lnSpc>
            </a:pPr>
            <a:r>
              <a:rPr sz="1150" b="0" i="1">
                <a:solidFill>
                  <a:srgbClr val="7F7F7F"/>
                </a:solidFill>
                <a:latin typeface="Calibri"/>
              </a:rPr>
              <a:t>test stands: CAD (A) · labeled apparatus (B) · torque testing (C)</a:t>
            </a:r>
          </a:p>
        </p:txBody>
      </p:sp>
      <p:pic>
        <p:nvPicPr>
          <p:cNvPr id="7" name="Picture 6" descr="b_kneeicr_trim.png"/>
          <p:cNvPicPr>
            <a:picLocks noChangeAspect="1"/>
          </p:cNvPicPr>
          <p:nvPr/>
        </p:nvPicPr>
        <p:blipFill>
          <a:blip r:embed="rId4"/>
          <a:stretch>
            <a:fillRect/>
          </a:stretch>
        </p:blipFill>
        <p:spPr>
          <a:xfrm>
            <a:off x="4679721" y="1645920"/>
            <a:ext cx="4127956" cy="4590288"/>
          </a:xfrm>
          <a:prstGeom prst="rect">
            <a:avLst/>
          </a:prstGeom>
        </p:spPr>
      </p:pic>
      <p:sp>
        <p:nvSpPr>
          <p:cNvPr id="8" name="TextBox 7"/>
          <p:cNvSpPr txBox="1"/>
          <p:nvPr/>
        </p:nvSpPr>
        <p:spPr>
          <a:xfrm>
            <a:off x="4480560" y="6263640"/>
            <a:ext cx="4526280" cy="320040"/>
          </a:xfrm>
          <a:prstGeom prst="rect">
            <a:avLst/>
          </a:prstGeom>
          <a:noFill/>
        </p:spPr>
        <p:txBody>
          <a:bodyPr wrap="square" anchor="t" lIns="0" rIns="0" tIns="0" bIns="0">
            <a:spAutoFit/>
          </a:bodyPr>
          <a:lstStyle/>
          <a:p>
            <a:pPr algn="ctr">
              <a:lnSpc>
                <a:spcPct val="100000"/>
              </a:lnSpc>
            </a:pPr>
            <a:r>
              <a:rPr sz="1150" b="0" i="1">
                <a:solidFill>
                  <a:srgbClr val="7F7F7F"/>
                </a:solidFill>
                <a:latin typeface="Calibri"/>
              </a:rPr>
              <a:t>biomimetic knee: migrating ICR</a:t>
            </a:r>
          </a:p>
        </p:txBody>
      </p:sp>
      <p:sp>
        <p:nvSpPr>
          <p:cNvPr id="9" name="Rounded Rectangle 8"/>
          <p:cNvSpPr/>
          <p:nvPr/>
        </p:nvSpPr>
        <p:spPr>
          <a:xfrm>
            <a:off x="8732520" y="1920240"/>
            <a:ext cx="2926080" cy="402336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42832" y="2084831"/>
            <a:ext cx="2514600" cy="3749039"/>
          </a:xfrm>
          <a:prstGeom prst="rect">
            <a:avLst/>
          </a:prstGeom>
          <a:noFill/>
        </p:spPr>
        <p:txBody>
          <a:bodyPr wrap="square" anchor="t" lIns="0" rIns="0" tIns="0" bIns="0">
            <a:spAutoFit/>
          </a:bodyPr>
          <a:lstStyle/>
          <a:p>
            <a:pPr algn="l">
              <a:lnSpc>
                <a:spcPct val="100000"/>
              </a:lnSpc>
              <a:spcAft>
                <a:spcPts val="400"/>
              </a:spcAft>
            </a:pPr>
            <a:r>
              <a:rPr sz="1200" b="1" i="0">
                <a:solidFill>
                  <a:srgbClr val="00796B"/>
                </a:solidFill>
                <a:latin typeface="Calibri"/>
              </a:rPr>
              <a:t>FOUR-BAR KNEE</a:t>
            </a:r>
          </a:p>
          <a:p>
            <a:pPr algn="l">
              <a:lnSpc>
                <a:spcPct val="110000"/>
              </a:lnSpc>
              <a:spcAft>
                <a:spcPts val="800"/>
              </a:spcAft>
            </a:pPr>
            <a:r>
              <a:rPr sz="1250" b="0" i="0">
                <a:solidFill>
                  <a:srgbClr val="222222"/>
                </a:solidFill>
                <a:latin typeface="Calibri"/>
              </a:rPr>
              <a:t>Crossed links give a migrating instantaneous center of rotation - posterior and distal with flexion, like the human knee.</a:t>
            </a:r>
          </a:p>
          <a:p>
            <a:pPr algn="l">
              <a:lnSpc>
                <a:spcPct val="110000"/>
              </a:lnSpc>
              <a:spcAft>
                <a:spcPts val="800"/>
              </a:spcAft>
            </a:pPr>
            <a:r>
              <a:rPr sz="1250" b="0" i="0">
                <a:solidFill>
                  <a:srgbClr val="222222"/>
                </a:solidFill>
                <a:latin typeface="Calibri"/>
              </a:rPr>
              <a:t>Torque depends on the ICR: getting it right matters for both prediction and experiment.</a:t>
            </a:r>
          </a:p>
          <a:p>
            <a:pPr algn="l">
              <a:lnSpc>
                <a:spcPct val="110000"/>
              </a:lnSpc>
            </a:pPr>
            <a:r>
              <a:rPr sz="1250" b="0" i="0">
                <a:solidFill>
                  <a:srgbClr val="595959"/>
                </a:solidFill>
                <a:latin typeface="Calibri"/>
              </a:rPr>
              <a:t>Both stands tested with ⌀10 mm BPAs; the biomimetic knee also with a ⌀20 mm flexor, its routes mirrored about Z.</a:t>
            </a:r>
          </a:p>
        </p:txBody>
      </p:sp>
      <p:sp>
        <p:nvSpPr>
          <p:cNvPr id="11" name="TextBox 10"/>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HYBRID METHOD</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hybrid method shows the error is kinematic, not force</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Fig. FlxPin_group A-B (pre-optimized pinned flexor); manuscript bolen_isometric_2025 (in prep.)</a:t>
            </a:r>
          </a:p>
        </p:txBody>
      </p:sp>
      <p:pic>
        <p:nvPicPr>
          <p:cNvPr id="5" name="Picture 4" descr="b_flxpin_preopt.png"/>
          <p:cNvPicPr>
            <a:picLocks noChangeAspect="1"/>
          </p:cNvPicPr>
          <p:nvPr/>
        </p:nvPicPr>
        <p:blipFill>
          <a:blip r:embed="rId3"/>
          <a:stretch>
            <a:fillRect/>
          </a:stretch>
        </p:blipFill>
        <p:spPr>
          <a:xfrm>
            <a:off x="457200" y="2329961"/>
            <a:ext cx="6903720" cy="2655276"/>
          </a:xfrm>
          <a:prstGeom prst="rect">
            <a:avLst/>
          </a:prstGeom>
        </p:spPr>
      </p:pic>
      <p:sp>
        <p:nvSpPr>
          <p:cNvPr id="6" name="TextBox 5"/>
          <p:cNvSpPr txBox="1"/>
          <p:nvPr/>
        </p:nvSpPr>
        <p:spPr>
          <a:xfrm>
            <a:off x="457200" y="5577840"/>
            <a:ext cx="6903720" cy="731520"/>
          </a:xfrm>
          <a:prstGeom prst="rect">
            <a:avLst/>
          </a:prstGeom>
          <a:noFill/>
        </p:spPr>
        <p:txBody>
          <a:bodyPr wrap="square" anchor="t" lIns="0" rIns="0" tIns="0" bIns="0">
            <a:spAutoFit/>
          </a:bodyPr>
          <a:lstStyle/>
          <a:p>
            <a:pPr algn="l">
              <a:lnSpc>
                <a:spcPct val="105000"/>
              </a:lnSpc>
              <a:spcAft>
                <a:spcPts val="200"/>
              </a:spcAft>
            </a:pPr>
            <a:r>
              <a:rPr sz="1050" b="0" i="1">
                <a:solidFill>
                  <a:srgbClr val="7F7F7F"/>
                </a:solidFill>
                <a:latin typeface="Calibri"/>
              </a:rPr>
              <a:t>yellow = hybrid; it sits on the blue measured dots where they agree - that agreement is the result</a:t>
            </a:r>
          </a:p>
          <a:p>
            <a:pPr algn="l">
              <a:lnSpc>
                <a:spcPct val="105000"/>
              </a:lnSpc>
            </a:pPr>
            <a:r>
              <a:rPr sz="1050" b="0" i="1">
                <a:solidFill>
                  <a:srgbClr val="7F7F7F"/>
                </a:solidFill>
                <a:latin typeface="Calibri"/>
              </a:rPr>
              <a:t>blue = measured · black dashed = original model · dashed red = improved BPA characterization</a:t>
            </a:r>
          </a:p>
        </p:txBody>
      </p:sp>
      <p:sp>
        <p:nvSpPr>
          <p:cNvPr id="7" name="Rounded Rectangle 6"/>
          <p:cNvSpPr/>
          <p:nvPr/>
        </p:nvSpPr>
        <p:spPr>
          <a:xfrm>
            <a:off x="7498079" y="1920240"/>
            <a:ext cx="4114800" cy="361188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2121408"/>
            <a:ext cx="3611880" cy="3291840"/>
          </a:xfrm>
          <a:prstGeom prst="rect">
            <a:avLst/>
          </a:prstGeom>
          <a:noFill/>
        </p:spPr>
        <p:txBody>
          <a:bodyPr wrap="square" anchor="t" lIns="0" rIns="0" tIns="0" bIns="0">
            <a:spAutoFit/>
          </a:bodyPr>
          <a:lstStyle/>
          <a:p>
            <a:pPr algn="l">
              <a:lnSpc>
                <a:spcPct val="100000"/>
              </a:lnSpc>
              <a:spcAft>
                <a:spcPts val="400"/>
              </a:spcAft>
            </a:pPr>
            <a:r>
              <a:rPr sz="1200" b="1" i="0">
                <a:solidFill>
                  <a:srgbClr val="00796B"/>
                </a:solidFill>
                <a:latin typeface="Calibri"/>
              </a:rPr>
              <a:t>HYBRID TORQUE</a:t>
            </a:r>
          </a:p>
          <a:p>
            <a:pPr algn="l">
              <a:lnSpc>
                <a:spcPct val="110000"/>
              </a:lnSpc>
              <a:spcAft>
                <a:spcPts val="1000"/>
              </a:spcAft>
            </a:pPr>
            <a:r>
              <a:rPr sz="1450" b="0" i="0">
                <a:solidFill>
                  <a:srgbClr val="222222"/>
                </a:solidFill>
                <a:latin typeface="Calibri"/>
              </a:rPr>
              <a:t>M = r × F with measured muscle length and moment arm, model force</a:t>
            </a:r>
          </a:p>
          <a:p>
            <a:pPr algn="l">
              <a:lnSpc>
                <a:spcPct val="100000"/>
              </a:lnSpc>
              <a:spcAft>
                <a:spcPts val="200"/>
              </a:spcAft>
            </a:pPr>
            <a:r>
              <a:rPr sz="1600" b="1" i="0">
                <a:solidFill>
                  <a:srgbClr val="38761D"/>
                </a:solidFill>
                <a:latin typeface="Calibri"/>
              </a:rPr>
              <a:t>Hybrid ≈ measured  ✓</a:t>
            </a:r>
          </a:p>
          <a:p>
            <a:pPr algn="l">
              <a:lnSpc>
                <a:spcPct val="100000"/>
              </a:lnSpc>
              <a:spcAft>
                <a:spcPts val="1000"/>
              </a:spcAft>
            </a:pPr>
            <a:r>
              <a:rPr sz="1250" b="0" i="0">
                <a:solidFill>
                  <a:srgbClr val="595959"/>
                </a:solidFill>
                <a:latin typeface="Calibri"/>
              </a:rPr>
              <a:t>the validated force model is not the problem</a:t>
            </a:r>
          </a:p>
          <a:p>
            <a:pPr algn="l">
              <a:lnSpc>
                <a:spcPct val="100000"/>
              </a:lnSpc>
              <a:spcAft>
                <a:spcPts val="200"/>
              </a:spcAft>
            </a:pPr>
            <a:r>
              <a:rPr sz="1600" b="1" i="0">
                <a:solidFill>
                  <a:srgbClr val="C00000"/>
                </a:solidFill>
                <a:latin typeface="Calibri"/>
              </a:rPr>
              <a:t>Rigid prediction ≠ measured  ✗</a:t>
            </a:r>
          </a:p>
          <a:p>
            <a:pPr algn="l">
              <a:lnSpc>
                <a:spcPct val="105000"/>
              </a:lnSpc>
            </a:pPr>
            <a:r>
              <a:rPr sz="1300" b="0" i="0">
                <a:solidFill>
                  <a:srgbClr val="595959"/>
                </a:solidFill>
                <a:latin typeface="Calibri"/>
              </a:rPr>
              <a:t>the kinematics (Lₘ, rₖ) are what the model gets wrong</a:t>
            </a:r>
          </a:p>
        </p:txBody>
      </p:sp>
      <p:sp>
        <p:nvSpPr>
          <p:cNvPr id="9" name="TextBox 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IMPROVED MODEL</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Three physical effects close the gap: length offset, series compliance, wrap loss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improved torque model (Eqs. lm, K_br, delta-l); bracket frames: Fig. bktFrame; two-bracket projection: Fig. xiProjection</a:t>
            </a:r>
          </a:p>
        </p:txBody>
      </p:sp>
      <p:sp>
        <p:nvSpPr>
          <p:cNvPr id="5" name="Rounded Rectangle 4"/>
          <p:cNvSpPr/>
          <p:nvPr/>
        </p:nvSpPr>
        <p:spPr>
          <a:xfrm>
            <a:off x="502920" y="1755648"/>
            <a:ext cx="3611880" cy="169164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3154680" cy="365760"/>
          </a:xfrm>
          <a:prstGeom prst="rect">
            <a:avLst/>
          </a:prstGeom>
          <a:noFill/>
        </p:spPr>
        <p:txBody>
          <a:bodyPr wrap="square" anchor="t" lIns="0" rIns="0" tIns="0" bIns="0">
            <a:spAutoFit/>
          </a:bodyPr>
          <a:lstStyle/>
          <a:p>
            <a:pPr algn="l">
              <a:lnSpc>
                <a:spcPct val="100000"/>
              </a:lnSpc>
            </a:pPr>
            <a:r>
              <a:rPr sz="1500" b="1" i="0">
                <a:solidFill>
                  <a:srgbClr val="AF7B51"/>
                </a:solidFill>
                <a:latin typeface="Calibri"/>
              </a:rPr>
              <a:t>χ₀ · constant length offset</a:t>
            </a:r>
          </a:p>
        </p:txBody>
      </p:sp>
      <p:pic>
        <p:nvPicPr>
          <p:cNvPr id="7" name="Picture 6" descr="lm.png"/>
          <p:cNvPicPr>
            <a:picLocks noChangeAspect="1"/>
          </p:cNvPicPr>
          <p:nvPr/>
        </p:nvPicPr>
        <p:blipFill>
          <a:blip r:embed="rId3"/>
          <a:stretch>
            <a:fillRect/>
          </a:stretch>
        </p:blipFill>
        <p:spPr>
          <a:xfrm>
            <a:off x="731520" y="2354160"/>
            <a:ext cx="3154680" cy="266014"/>
          </a:xfrm>
          <a:prstGeom prst="rect">
            <a:avLst/>
          </a:prstGeom>
        </p:spPr>
      </p:pic>
      <p:sp>
        <p:nvSpPr>
          <p:cNvPr id="8" name="TextBox 7"/>
          <p:cNvSpPr txBox="1"/>
          <p:nvPr/>
        </p:nvSpPr>
        <p:spPr>
          <a:xfrm>
            <a:off x="731520" y="2779776"/>
            <a:ext cx="3154680" cy="566928"/>
          </a:xfrm>
          <a:prstGeom prst="rect">
            <a:avLst/>
          </a:prstGeom>
          <a:noFill/>
        </p:spPr>
        <p:txBody>
          <a:bodyPr wrap="square" anchor="t" lIns="0" rIns="0" tIns="0" bIns="0">
            <a:spAutoFit/>
          </a:bodyPr>
          <a:lstStyle/>
          <a:p>
            <a:pPr algn="l">
              <a:lnSpc>
                <a:spcPct val="105000"/>
              </a:lnSpc>
            </a:pPr>
            <a:r>
              <a:rPr sz="1250" b="0" i="0">
                <a:solidFill>
                  <a:srgbClr val="222222"/>
                </a:solidFill>
                <a:latin typeface="Calibri"/>
              </a:rPr>
              <a:t>measured shorter than predicted - even at ε = 1, F = 0</a:t>
            </a:r>
          </a:p>
        </p:txBody>
      </p:sp>
      <p:sp>
        <p:nvSpPr>
          <p:cNvPr id="9" name="Rounded Rectangle 8"/>
          <p:cNvSpPr/>
          <p:nvPr/>
        </p:nvSpPr>
        <p:spPr>
          <a:xfrm>
            <a:off x="4279392" y="1755648"/>
            <a:ext cx="3611880" cy="169164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883664"/>
            <a:ext cx="3154680" cy="365760"/>
          </a:xfrm>
          <a:prstGeom prst="rect">
            <a:avLst/>
          </a:prstGeom>
          <a:noFill/>
        </p:spPr>
        <p:txBody>
          <a:bodyPr wrap="square" anchor="t" lIns="0" rIns="0" tIns="0" bIns="0">
            <a:spAutoFit/>
          </a:bodyPr>
          <a:lstStyle/>
          <a:p>
            <a:pPr algn="l">
              <a:lnSpc>
                <a:spcPct val="100000"/>
              </a:lnSpc>
            </a:pPr>
            <a:r>
              <a:rPr sz="1500" b="1" i="0">
                <a:solidFill>
                  <a:srgbClr val="AF7B51"/>
                </a:solidFill>
                <a:latin typeface="Calibri"/>
              </a:rPr>
              <a:t>χ₁, χ₂ · bracket compliance</a:t>
            </a:r>
          </a:p>
        </p:txBody>
      </p:sp>
      <p:pic>
        <p:nvPicPr>
          <p:cNvPr id="11" name="Picture 10" descr="kbr.png"/>
          <p:cNvPicPr>
            <a:picLocks noChangeAspect="1"/>
          </p:cNvPicPr>
          <p:nvPr/>
        </p:nvPicPr>
        <p:blipFill>
          <a:blip r:embed="rId4"/>
          <a:stretch>
            <a:fillRect/>
          </a:stretch>
        </p:blipFill>
        <p:spPr>
          <a:xfrm>
            <a:off x="4507992" y="2382712"/>
            <a:ext cx="3154680" cy="208910"/>
          </a:xfrm>
          <a:prstGeom prst="rect">
            <a:avLst/>
          </a:prstGeom>
        </p:spPr>
      </p:pic>
      <p:sp>
        <p:nvSpPr>
          <p:cNvPr id="12" name="TextBox 11"/>
          <p:cNvSpPr txBox="1"/>
          <p:nvPr/>
        </p:nvSpPr>
        <p:spPr>
          <a:xfrm>
            <a:off x="4507992" y="2779776"/>
            <a:ext cx="3154680" cy="566928"/>
          </a:xfrm>
          <a:prstGeom prst="rect">
            <a:avLst/>
          </a:prstGeom>
          <a:noFill/>
        </p:spPr>
        <p:txBody>
          <a:bodyPr wrap="square" anchor="t" lIns="0" rIns="0" tIns="0" bIns="0">
            <a:spAutoFit/>
          </a:bodyPr>
          <a:lstStyle/>
          <a:p>
            <a:pPr algn="l">
              <a:lnSpc>
                <a:spcPct val="105000"/>
              </a:lnSpc>
            </a:pPr>
            <a:r>
              <a:rPr sz="1250" b="0" i="0">
                <a:solidFill>
                  <a:srgbClr val="222222"/>
                </a:solidFill>
                <a:latin typeface="Calibri"/>
              </a:rPr>
              <a:t>compliance projected on the force direction û · tendon in series</a:t>
            </a:r>
          </a:p>
        </p:txBody>
      </p:sp>
      <p:sp>
        <p:nvSpPr>
          <p:cNvPr id="13" name="Rounded Rectangle 12"/>
          <p:cNvSpPr/>
          <p:nvPr/>
        </p:nvSpPr>
        <p:spPr>
          <a:xfrm>
            <a:off x="8055864" y="1755648"/>
            <a:ext cx="3611880" cy="169164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4" y="1883664"/>
            <a:ext cx="3154680" cy="365760"/>
          </a:xfrm>
          <a:prstGeom prst="rect">
            <a:avLst/>
          </a:prstGeom>
          <a:noFill/>
        </p:spPr>
        <p:txBody>
          <a:bodyPr wrap="square" anchor="t" lIns="0" rIns="0" tIns="0" bIns="0">
            <a:spAutoFit/>
          </a:bodyPr>
          <a:lstStyle/>
          <a:p>
            <a:pPr algn="l">
              <a:lnSpc>
                <a:spcPct val="100000"/>
              </a:lnSpc>
            </a:pPr>
            <a:r>
              <a:rPr sz="1500" b="1" i="0">
                <a:solidFill>
                  <a:srgbClr val="AF7B51"/>
                </a:solidFill>
                <a:latin typeface="Calibri"/>
              </a:rPr>
              <a:t>χ₃ · wrapping loss (θₖ ≤ θ_wrap)</a:t>
            </a:r>
          </a:p>
        </p:txBody>
      </p:sp>
      <p:pic>
        <p:nvPicPr>
          <p:cNvPr id="15" name="Picture 14" descr="wrap.png"/>
          <p:cNvPicPr>
            <a:picLocks noChangeAspect="1"/>
          </p:cNvPicPr>
          <p:nvPr/>
        </p:nvPicPr>
        <p:blipFill>
          <a:blip r:embed="rId5"/>
          <a:stretch>
            <a:fillRect/>
          </a:stretch>
        </p:blipFill>
        <p:spPr>
          <a:xfrm>
            <a:off x="8393049" y="2304288"/>
            <a:ext cx="2937510" cy="365760"/>
          </a:xfrm>
          <a:prstGeom prst="rect">
            <a:avLst/>
          </a:prstGeom>
        </p:spPr>
      </p:pic>
      <p:sp>
        <p:nvSpPr>
          <p:cNvPr id="16" name="TextBox 15"/>
          <p:cNvSpPr txBox="1"/>
          <p:nvPr/>
        </p:nvSpPr>
        <p:spPr>
          <a:xfrm>
            <a:off x="8284464" y="2779776"/>
            <a:ext cx="3154680" cy="566928"/>
          </a:xfrm>
          <a:prstGeom prst="rect">
            <a:avLst/>
          </a:prstGeom>
          <a:noFill/>
        </p:spPr>
        <p:txBody>
          <a:bodyPr wrap="square" anchor="t" lIns="0" rIns="0" tIns="0" bIns="0">
            <a:spAutoFit/>
          </a:bodyPr>
          <a:lstStyle/>
          <a:p>
            <a:pPr algn="l">
              <a:lnSpc>
                <a:spcPct val="105000"/>
              </a:lnSpc>
            </a:pPr>
            <a:r>
              <a:rPr sz="1250" b="0" i="0">
                <a:solidFill>
                  <a:srgbClr val="222222"/>
                </a:solidFill>
                <a:latin typeface="Calibri"/>
              </a:rPr>
              <a:t>arc length lost to the bend · grows with ζ = 1 − ε*</a:t>
            </a:r>
          </a:p>
        </p:txBody>
      </p:sp>
      <p:sp>
        <p:nvSpPr>
          <p:cNvPr id="17" name="TextBox 16"/>
          <p:cNvSpPr txBox="1"/>
          <p:nvPr/>
        </p:nvSpPr>
        <p:spPr>
          <a:xfrm>
            <a:off x="502920" y="3630168"/>
            <a:ext cx="11183112" cy="237744"/>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bracket frames, pinned configurations (A, B)</a:t>
            </a:r>
          </a:p>
        </p:txBody>
      </p:sp>
      <p:pic>
        <p:nvPicPr>
          <p:cNvPr id="18" name="Picture 17" descr="b_bktframe_pin.png"/>
          <p:cNvPicPr>
            <a:picLocks noChangeAspect="1"/>
          </p:cNvPicPr>
          <p:nvPr/>
        </p:nvPicPr>
        <p:blipFill>
          <a:blip r:embed="rId6"/>
          <a:stretch>
            <a:fillRect/>
          </a:stretch>
        </p:blipFill>
        <p:spPr>
          <a:xfrm>
            <a:off x="2295910" y="3877056"/>
            <a:ext cx="7597130" cy="2450592"/>
          </a:xfrm>
          <a:prstGeom prst="rect">
            <a:avLst/>
          </a:prstGeom>
        </p:spPr>
      </p:pic>
      <p:sp>
        <p:nvSpPr>
          <p:cNvPr id="19" name="TextBox 1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IDENTIFICATION PROTOCOL</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Terms identified by multiobjective optimization, judged on held-out tests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identification (gamultiobj / NSGA-II, Deb 2002); bounds: Appendix C, Table C.3 (app_opt_bounds)</a:t>
            </a:r>
          </a:p>
        </p:txBody>
      </p:sp>
      <p:sp>
        <p:nvSpPr>
          <p:cNvPr id="5" name="Rounded Rectangle 4"/>
          <p:cNvSpPr/>
          <p:nvPr/>
        </p:nvSpPr>
        <p:spPr>
          <a:xfrm>
            <a:off x="502920" y="1828800"/>
            <a:ext cx="3017520" cy="914400"/>
          </a:xfrm>
          <a:prstGeom prst="roundRect">
            <a:avLst>
              <a:gd name="adj" fmla="val 12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250" b="0">
                <a:solidFill>
                  <a:srgbClr val="222222"/>
                </a:solidFill>
                <a:latin typeface="Calibri"/>
              </a:rPr>
              <a:t>4 pinned-flexor tests</a:t>
            </a:r>
          </a:p>
          <a:p>
            <a:pPr algn="ctr">
              <a:lnSpc>
                <a:spcPct val="95000"/>
              </a:lnSpc>
            </a:pPr>
            <a:r>
              <a:rPr sz="1250" b="0">
                <a:solidFill>
                  <a:srgbClr val="222222"/>
                </a:solidFill>
                <a:latin typeface="Calibri"/>
              </a:rPr>
              <a:t>(48.5 / 45.7 / 40.6-tendon / 41.0 cm)</a:t>
            </a:r>
          </a:p>
        </p:txBody>
      </p:sp>
      <p:sp>
        <p:nvSpPr>
          <p:cNvPr id="6" name="Rounded Rectangle 5"/>
          <p:cNvSpPr/>
          <p:nvPr/>
        </p:nvSpPr>
        <p:spPr>
          <a:xfrm>
            <a:off x="4069080" y="1828800"/>
            <a:ext cx="2377440" cy="91440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250" b="0">
                <a:solidFill>
                  <a:srgbClr val="222222"/>
                </a:solidFill>
                <a:latin typeface="Calibri"/>
              </a:rPr>
              <a:t>cross-validate:</a:t>
            </a:r>
          </a:p>
          <a:p>
            <a:pPr algn="ctr">
              <a:lnSpc>
                <a:spcPct val="95000"/>
              </a:lnSpc>
            </a:pPr>
            <a:r>
              <a:rPr sz="1250" b="0">
                <a:solidFill>
                  <a:srgbClr val="222222"/>
                </a:solidFill>
                <a:latin typeface="Calibri"/>
              </a:rPr>
              <a:t>2 train / 2 hold per fold</a:t>
            </a:r>
          </a:p>
        </p:txBody>
      </p:sp>
      <p:sp>
        <p:nvSpPr>
          <p:cNvPr id="7" name="Rounded Rectangle 6"/>
          <p:cNvSpPr/>
          <p:nvPr/>
        </p:nvSpPr>
        <p:spPr>
          <a:xfrm>
            <a:off x="6995159" y="1828800"/>
            <a:ext cx="2103120" cy="91440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250" b="0">
                <a:solidFill>
                  <a:srgbClr val="222222"/>
                </a:solidFill>
                <a:latin typeface="Calibri"/>
              </a:rPr>
              <a:t>Pareto front</a:t>
            </a:r>
          </a:p>
          <a:p>
            <a:pPr algn="ctr">
              <a:lnSpc>
                <a:spcPct val="95000"/>
              </a:lnSpc>
            </a:pPr>
            <a:r>
              <a:rPr sz="1250" b="0">
                <a:solidFill>
                  <a:srgbClr val="222222"/>
                </a:solidFill>
                <a:latin typeface="Calibri"/>
              </a:rPr>
              <a:t>{RMSE, FVU, max res.}</a:t>
            </a:r>
          </a:p>
        </p:txBody>
      </p:sp>
      <p:sp>
        <p:nvSpPr>
          <p:cNvPr id="8" name="Rounded Rectangle 7"/>
          <p:cNvSpPr/>
          <p:nvPr/>
        </p:nvSpPr>
        <p:spPr>
          <a:xfrm>
            <a:off x="9509760" y="1828800"/>
            <a:ext cx="2148840" cy="91440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250" b="0">
                <a:solidFill>
                  <a:srgbClr val="222222"/>
                </a:solidFill>
                <a:latin typeface="Calibri"/>
              </a:rPr>
              <a:t>pick: held-out fit +</a:t>
            </a:r>
          </a:p>
          <a:p>
            <a:pPr algn="ctr">
              <a:lnSpc>
                <a:spcPct val="95000"/>
              </a:lnSpc>
            </a:pPr>
            <a:r>
              <a:rPr sz="1250" b="0">
                <a:solidFill>
                  <a:srgbClr val="222222"/>
                </a:solidFill>
                <a:latin typeface="Calibri"/>
              </a:rPr>
              <a:t>cross-configuration</a:t>
            </a:r>
          </a:p>
        </p:txBody>
      </p:sp>
      <p:cxnSp>
        <p:nvCxnSpPr>
          <p:cNvPr id="9" name="Connector 8"/>
          <p:cNvCxnSpPr/>
          <p:nvPr/>
        </p:nvCxnSpPr>
        <p:spPr>
          <a:xfrm>
            <a:off x="3566160" y="2286000"/>
            <a:ext cx="45720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92240" y="2286000"/>
            <a:ext cx="45720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144000" y="2286000"/>
            <a:ext cx="32004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3246120"/>
            <a:ext cx="5120640" cy="86868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250" b="0">
                <a:solidFill>
                  <a:srgbClr val="222222"/>
                </a:solidFill>
                <a:latin typeface="Calibri"/>
              </a:rPr>
              <a:t>flexor fit solves (χ₀, χ₁, χ₂) with TWO brackets</a:t>
            </a:r>
          </a:p>
          <a:p>
            <a:pPr algn="ctr">
              <a:lnSpc>
                <a:spcPct val="95000"/>
              </a:lnSpc>
            </a:pPr>
            <a:r>
              <a:rPr sz="1250" b="0">
                <a:solidFill>
                  <a:srgbClr val="222222"/>
                </a:solidFill>
                <a:latin typeface="Calibri"/>
              </a:rPr>
              <a:t>(origin + insertion), shared stiffness pair</a:t>
            </a:r>
          </a:p>
        </p:txBody>
      </p:sp>
      <p:sp>
        <p:nvSpPr>
          <p:cNvPr id="13" name="Rounded Rectangle 12"/>
          <p:cNvSpPr/>
          <p:nvPr/>
        </p:nvSpPr>
        <p:spPr>
          <a:xfrm>
            <a:off x="6537959" y="3246120"/>
            <a:ext cx="5120640" cy="86868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250" b="0">
                <a:solidFill>
                  <a:srgbClr val="222222"/>
                </a:solidFill>
                <a:latin typeface="Calibri"/>
              </a:rPr>
              <a:t>extensor refit LOCKS (χ₁, χ₂) to the flexor-identified values,</a:t>
            </a:r>
          </a:p>
          <a:p>
            <a:pPr algn="ctr">
              <a:lnSpc>
                <a:spcPct val="95000"/>
              </a:lnSpc>
            </a:pPr>
            <a:r>
              <a:rPr sz="1250" b="0">
                <a:solidFill>
                  <a:srgbClr val="222222"/>
                </a:solidFill>
                <a:latin typeface="Calibri"/>
              </a:rPr>
              <a:t>solves only (χ₀, χ₃); χ₀ allowed negative</a:t>
            </a:r>
          </a:p>
        </p:txBody>
      </p:sp>
      <p:sp>
        <p:nvSpPr>
          <p:cNvPr id="14" name="Rounded Rectangle 13"/>
          <p:cNvSpPr/>
          <p:nvPr/>
        </p:nvSpPr>
        <p:spPr>
          <a:xfrm>
            <a:off x="502920" y="4480560"/>
            <a:ext cx="11155680" cy="150876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617720"/>
            <a:ext cx="10607040" cy="1280160"/>
          </a:xfrm>
          <a:prstGeom prst="rect">
            <a:avLst/>
          </a:prstGeom>
          <a:noFill/>
        </p:spPr>
        <p:txBody>
          <a:bodyPr wrap="square" anchor="t" lIns="0" rIns="0" tIns="0" bIns="0">
            <a:spAutoFit/>
          </a:bodyPr>
          <a:lstStyle/>
          <a:p>
            <a:pPr algn="l">
              <a:lnSpc>
                <a:spcPct val="100000"/>
              </a:lnSpc>
              <a:spcAft>
                <a:spcPts val="300"/>
              </a:spcAft>
            </a:pPr>
            <a:r>
              <a:rPr sz="1200" b="1" i="0">
                <a:solidFill>
                  <a:srgbClr val="00796B"/>
                </a:solidFill>
                <a:latin typeface="Calibri"/>
              </a:rPr>
              <a:t>Bounds of record (Appendix C)</a:t>
            </a:r>
          </a:p>
          <a:p>
            <a:pPr algn="l">
              <a:lnSpc>
                <a:spcPct val="100000"/>
              </a:lnSpc>
              <a:spcAft>
                <a:spcPts val="200"/>
              </a:spcAft>
            </a:pPr>
            <a:r>
              <a:rPr sz="1400" b="0" i="0">
                <a:solidFill>
                  <a:srgbClr val="222222"/>
                </a:solidFill>
                <a:latin typeface="Calibri"/>
              </a:rPr>
              <a:t>flexor:  χ₀ ∈ [0, 20] mm · χ₁ ∈ [3×10⁴, 10⁶] N/m · χ₂ ∈ [5×10³, 2×10⁴] N/m</a:t>
            </a:r>
          </a:p>
          <a:p>
            <a:pPr algn="l">
              <a:lnSpc>
                <a:spcPct val="100000"/>
              </a:lnSpc>
            </a:pPr>
            <a:r>
              <a:rPr sz="1400" b="0" i="0">
                <a:solidFill>
                  <a:srgbClr val="222222"/>
                </a:solidFill>
                <a:latin typeface="Calibri"/>
              </a:rPr>
              <a:t>extensor:  χ₀ ∈ [−20, +5] mm · χ₃ ∈ [0, 1] · (χ₁, χ₂) = flexor pair, never searched</a:t>
            </a:r>
          </a:p>
        </p:txBody>
      </p:sp>
      <p:sp>
        <p:nvSpPr>
          <p:cNvPr id="16" name="TextBox 15"/>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PINNED FLEXOR</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With corrections, prediction tracks measurement - including the dip at small angles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Fig. FlxPin_group C-D; Table TorqueFit rows 1-2 (initial single-bracket identification)</a:t>
            </a:r>
          </a:p>
        </p:txBody>
      </p:sp>
      <p:pic>
        <p:nvPicPr>
          <p:cNvPr id="5" name="Picture 4" descr="b_flxpin_opt.png"/>
          <p:cNvPicPr>
            <a:picLocks noChangeAspect="1"/>
          </p:cNvPicPr>
          <p:nvPr/>
        </p:nvPicPr>
        <p:blipFill>
          <a:blip r:embed="rId3"/>
          <a:stretch>
            <a:fillRect/>
          </a:stretch>
        </p:blipFill>
        <p:spPr>
          <a:xfrm>
            <a:off x="4160520" y="2274112"/>
            <a:ext cx="7040880" cy="2675534"/>
          </a:xfrm>
          <a:prstGeom prst="rect">
            <a:avLst/>
          </a:prstGeom>
        </p:spPr>
      </p:pic>
      <p:sp>
        <p:nvSpPr>
          <p:cNvPr id="6" name="TextBox 5"/>
          <p:cNvSpPr txBox="1"/>
          <p:nvPr/>
        </p:nvSpPr>
        <p:spPr>
          <a:xfrm>
            <a:off x="4160520" y="5212080"/>
            <a:ext cx="704088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blue = measured · dashed orange = BPA characterization alone · magenta = optimized prediction</a:t>
            </a:r>
          </a:p>
        </p:txBody>
      </p:sp>
      <p:sp>
        <p:nvSpPr>
          <p:cNvPr id="7" name="TextBox 6"/>
          <p:cNvSpPr txBox="1"/>
          <p:nvPr/>
        </p:nvSpPr>
        <p:spPr>
          <a:xfrm>
            <a:off x="502920" y="1920240"/>
            <a:ext cx="3566160" cy="4023360"/>
          </a:xfrm>
          <a:prstGeom prst="rect">
            <a:avLst/>
          </a:prstGeom>
          <a:noFill/>
        </p:spPr>
        <p:txBody>
          <a:bodyPr wrap="square" anchor="t" lIns="0" rIns="0" tIns="0" bIns="0">
            <a:spAutoFit/>
          </a:bodyPr>
          <a:lstStyle/>
          <a:p>
            <a:pPr algn="l">
              <a:lnSpc>
                <a:spcPct val="100000"/>
              </a:lnSpc>
              <a:spcAft>
                <a:spcPts val="400"/>
              </a:spcAft>
            </a:pPr>
            <a:r>
              <a:rPr sz="1200" b="1" i="0">
                <a:solidFill>
                  <a:srgbClr val="00796B"/>
                </a:solidFill>
                <a:latin typeface="Calibri"/>
              </a:rPr>
              <a:t>THE MISSING DIP</a:t>
            </a:r>
          </a:p>
          <a:p>
            <a:pPr algn="l">
              <a:lnSpc>
                <a:spcPct val="112000"/>
              </a:lnSpc>
              <a:spcAft>
                <a:spcPts val="1200"/>
              </a:spcAft>
            </a:pPr>
            <a:r>
              <a:rPr sz="1450" b="0" i="0">
                <a:solidFill>
                  <a:srgbClr val="222222"/>
                </a:solidFill>
                <a:latin typeface="Calibri"/>
              </a:rPr>
              <a:t>The rigid model completely missed the torque reduction at small flexion angles.</a:t>
            </a:r>
          </a:p>
          <a:p>
            <a:pPr algn="l">
              <a:lnSpc>
                <a:spcPct val="100000"/>
              </a:lnSpc>
              <a:spcAft>
                <a:spcPts val="1400"/>
              </a:spcAft>
            </a:pPr>
            <a:r>
              <a:rPr sz="1550" b="1" i="0">
                <a:solidFill>
                  <a:srgbClr val="38761D"/>
                </a:solidFill>
                <a:latin typeface="Calibri"/>
              </a:rPr>
              <a:t>The corrected model captures it.</a:t>
            </a:r>
          </a:p>
          <a:p>
            <a:pPr algn="l">
              <a:lnSpc>
                <a:spcPct val="100000"/>
              </a:lnSpc>
              <a:spcAft>
                <a:spcPts val="400"/>
              </a:spcAft>
            </a:pPr>
            <a:r>
              <a:rPr sz="1200" b="1" i="0">
                <a:solidFill>
                  <a:srgbClr val="00796B"/>
                </a:solidFill>
                <a:latin typeface="Calibri"/>
              </a:rPr>
              <a:t>VALIDATION</a:t>
            </a:r>
          </a:p>
          <a:p>
            <a:pPr algn="l">
              <a:lnSpc>
                <a:spcPct val="112000"/>
              </a:lnSpc>
            </a:pPr>
            <a:r>
              <a:rPr sz="1450" b="0" i="0">
                <a:solidFill>
                  <a:srgbClr val="222222"/>
                </a:solidFill>
                <a:latin typeface="Calibri"/>
              </a:rPr>
              <a:t>45.7 cm BPA: different length, different working range, never in the fit.</a:t>
            </a:r>
          </a:p>
        </p:txBody>
      </p:sp>
      <p:sp>
        <p:nvSpPr>
          <p:cNvPr id="8" name="TextBox 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PINNED FLEXOR</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Corrections cut flexor training-mean RMSE from 8.66 to 1.62 N·m; validation mean 7.59 → 1.49</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Table FlxPinGof (corrected model, adopted terms); Appendix C, Table app_gof</a:t>
            </a:r>
          </a:p>
        </p:txBody>
      </p:sp>
      <p:graphicFrame>
        <p:nvGraphicFramePr>
          <p:cNvPr id="5" name="Chart 4"/>
          <p:cNvGraphicFramePr>
            <a:graphicFrameLocks noGrp="1"/>
          </p:cNvGraphicFramePr>
          <p:nvPr/>
        </p:nvGraphicFramePr>
        <p:xfrm>
          <a:off x="640080" y="1828800"/>
          <a:ext cx="7406640" cy="4114800"/>
        </p:xfrm>
        <a:graphic>
          <a:graphicData uri="http://schemas.openxmlformats.org/drawingml/2006/chart">
            <c:chart xmlns:c="http://schemas.openxmlformats.org/drawingml/2006/chart" r:id="rId3"/>
          </a:graphicData>
        </a:graphic>
      </p:graphicFrame>
      <p:sp>
        <p:nvSpPr>
          <p:cNvPr id="6" name="Rounded Rectangle 5"/>
          <p:cNvSpPr/>
          <p:nvPr/>
        </p:nvSpPr>
        <p:spPr>
          <a:xfrm>
            <a:off x="8412480" y="2011680"/>
            <a:ext cx="3246120" cy="384048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2212848"/>
            <a:ext cx="2834640" cy="3566160"/>
          </a:xfrm>
          <a:prstGeom prst="rect">
            <a:avLst/>
          </a:prstGeom>
          <a:noFill/>
        </p:spPr>
        <p:txBody>
          <a:bodyPr wrap="square" anchor="t" lIns="0" rIns="0" tIns="0" bIns="0">
            <a:spAutoFit/>
          </a:bodyPr>
          <a:lstStyle/>
          <a:p>
            <a:pPr algn="l">
              <a:lnSpc>
                <a:spcPct val="100000"/>
              </a:lnSpc>
              <a:spcAft>
                <a:spcPts val="200"/>
              </a:spcAft>
            </a:pPr>
            <a:r>
              <a:rPr sz="1200" b="1" i="0">
                <a:solidFill>
                  <a:srgbClr val="00796B"/>
                </a:solidFill>
                <a:latin typeface="Calibri"/>
              </a:rPr>
              <a:t>FVU (4 identification tests)</a:t>
            </a:r>
          </a:p>
          <a:p>
            <a:pPr algn="l">
              <a:lnSpc>
                <a:spcPct val="110000"/>
              </a:lnSpc>
              <a:spcAft>
                <a:spcPts val="1200"/>
              </a:spcAft>
            </a:pPr>
            <a:r>
              <a:rPr sz="1450" b="0" i="0">
                <a:solidFill>
                  <a:srgbClr val="222222"/>
                </a:solidFill>
                <a:latin typeface="Calibri"/>
              </a:rPr>
              <a:t>0.17 / 0.03 / 0.05 / 0.04</a:t>
            </a:r>
          </a:p>
          <a:p>
            <a:pPr algn="l">
              <a:lnSpc>
                <a:spcPct val="100000"/>
              </a:lnSpc>
              <a:spcAft>
                <a:spcPts val="200"/>
              </a:spcAft>
            </a:pPr>
            <a:r>
              <a:rPr sz="1200" b="1" i="0">
                <a:solidFill>
                  <a:srgbClr val="00796B"/>
                </a:solidFill>
                <a:latin typeface="Calibri"/>
              </a:rPr>
              <a:t>47.9 cm test</a:t>
            </a:r>
          </a:p>
          <a:p>
            <a:pPr algn="l">
              <a:lnSpc>
                <a:spcPct val="112000"/>
              </a:lnSpc>
              <a:spcAft>
                <a:spcPts val="1200"/>
              </a:spcAft>
            </a:pPr>
            <a:r>
              <a:rPr sz="1350" b="0" i="0">
                <a:solidFill>
                  <a:srgbClr val="222222"/>
                </a:solidFill>
                <a:latin typeface="Calibri"/>
              </a:rPr>
              <a:t>encoder-corrected, not used in the identification; improves post hoc (App. C).</a:t>
            </a:r>
          </a:p>
          <a:p>
            <a:pPr algn="l">
              <a:lnSpc>
                <a:spcPct val="110000"/>
              </a:lnSpc>
            </a:pPr>
            <a:r>
              <a:rPr sz="1400" b="1" i="0">
                <a:solidFill>
                  <a:srgbClr val="AF7B51"/>
                </a:solidFill>
                <a:latin typeface="Calibri"/>
              </a:rPr>
              <a:t>Every test predicts.</a:t>
            </a:r>
          </a:p>
        </p:txBody>
      </p:sp>
      <p:sp>
        <p:nvSpPr>
          <p:cNvPr id="8" name="TextBox 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PINNED EXTENSOR</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extensor wraps the joint - and χ₃ recovers the length it loses there</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Table ExtPinGof + follow-up identification (adopted χ values); wrap loss: Eq. Δl = χ₃ R |Δθ| ζ²</a:t>
            </a:r>
          </a:p>
        </p:txBody>
      </p:sp>
      <p:pic>
        <p:nvPicPr>
          <p:cNvPr id="5" name="Picture 4" descr="ExtPin_group.png"/>
          <p:cNvPicPr>
            <a:picLocks noChangeAspect="1"/>
          </p:cNvPicPr>
          <p:nvPr/>
        </p:nvPicPr>
        <p:blipFill>
          <a:blip r:embed="rId3"/>
          <a:stretch>
            <a:fillRect/>
          </a:stretch>
        </p:blipFill>
        <p:spPr>
          <a:xfrm>
            <a:off x="828161" y="1737360"/>
            <a:ext cx="6024636" cy="4434840"/>
          </a:xfrm>
          <a:prstGeom prst="rect">
            <a:avLst/>
          </a:prstGeom>
        </p:spPr>
      </p:pic>
      <p:sp>
        <p:nvSpPr>
          <p:cNvPr id="6" name="Rounded Rectangle 5"/>
          <p:cNvSpPr/>
          <p:nvPr/>
        </p:nvSpPr>
        <p:spPr>
          <a:xfrm>
            <a:off x="7406640" y="1828800"/>
            <a:ext cx="4206240" cy="987552"/>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938528"/>
            <a:ext cx="3749039" cy="868680"/>
          </a:xfrm>
          <a:prstGeom prst="rect">
            <a:avLst/>
          </a:prstGeom>
          <a:noFill/>
        </p:spPr>
        <p:txBody>
          <a:bodyPr wrap="square" anchor="t" lIns="0" rIns="0" tIns="0" bIns="0">
            <a:spAutoFit/>
          </a:bodyPr>
          <a:lstStyle/>
          <a:p>
            <a:pPr algn="l">
              <a:lnSpc>
                <a:spcPct val="100000"/>
              </a:lnSpc>
              <a:spcAft>
                <a:spcPts val="100"/>
              </a:spcAft>
            </a:pPr>
            <a:r>
              <a:rPr sz="1650" b="1" i="0">
                <a:solidFill>
                  <a:srgbClr val="C00000"/>
                </a:solidFill>
                <a:latin typeface="Calibri"/>
              </a:rPr>
              <a:t>χ₀ = −6.38 mm</a:t>
            </a:r>
          </a:p>
          <a:p>
            <a:pPr algn="l">
              <a:lnSpc>
                <a:spcPct val="100000"/>
              </a:lnSpc>
            </a:pPr>
            <a:r>
              <a:rPr sz="1150" b="0" i="0">
                <a:solidFill>
                  <a:srgbClr val="595959"/>
                </a:solidFill>
                <a:latin typeface="Calibri"/>
              </a:rPr>
              <a:t>extensor length offset: OPPOSITE sign to the flexor's +3.94 mm</a:t>
            </a:r>
          </a:p>
        </p:txBody>
      </p:sp>
      <p:sp>
        <p:nvSpPr>
          <p:cNvPr id="8" name="Rounded Rectangle 7"/>
          <p:cNvSpPr/>
          <p:nvPr/>
        </p:nvSpPr>
        <p:spPr>
          <a:xfrm>
            <a:off x="7406640" y="2926080"/>
            <a:ext cx="4206240" cy="987552"/>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35240" y="3035808"/>
            <a:ext cx="3749039" cy="868680"/>
          </a:xfrm>
          <a:prstGeom prst="rect">
            <a:avLst/>
          </a:prstGeom>
          <a:noFill/>
        </p:spPr>
        <p:txBody>
          <a:bodyPr wrap="square" anchor="t" lIns="0" rIns="0" tIns="0" bIns="0">
            <a:spAutoFit/>
          </a:bodyPr>
          <a:lstStyle/>
          <a:p>
            <a:pPr algn="l">
              <a:lnSpc>
                <a:spcPct val="100000"/>
              </a:lnSpc>
              <a:spcAft>
                <a:spcPts val="100"/>
              </a:spcAft>
            </a:pPr>
            <a:r>
              <a:rPr sz="1650" b="1" i="0">
                <a:solidFill>
                  <a:srgbClr val="AF7B51"/>
                </a:solidFill>
                <a:latin typeface="Calibri"/>
              </a:rPr>
              <a:t>χ₃ = 0.158</a:t>
            </a:r>
          </a:p>
          <a:p>
            <a:pPr algn="l">
              <a:lnSpc>
                <a:spcPct val="100000"/>
              </a:lnSpc>
            </a:pPr>
            <a:r>
              <a:rPr sz="1150" b="0" i="0">
                <a:solidFill>
                  <a:srgbClr val="595959"/>
                </a:solidFill>
                <a:latin typeface="Calibri"/>
              </a:rPr>
              <a:t>fractional wrap loss acting on arc length × ζ²</a:t>
            </a:r>
          </a:p>
        </p:txBody>
      </p:sp>
      <p:sp>
        <p:nvSpPr>
          <p:cNvPr id="10" name="Rounded Rectangle 9"/>
          <p:cNvSpPr/>
          <p:nvPr/>
        </p:nvSpPr>
        <p:spPr>
          <a:xfrm>
            <a:off x="7406640" y="4023360"/>
            <a:ext cx="4206240" cy="987552"/>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4133088"/>
            <a:ext cx="3749039" cy="868680"/>
          </a:xfrm>
          <a:prstGeom prst="rect">
            <a:avLst/>
          </a:prstGeom>
          <a:noFill/>
        </p:spPr>
        <p:txBody>
          <a:bodyPr wrap="square" anchor="t" lIns="0" rIns="0" tIns="0" bIns="0">
            <a:spAutoFit/>
          </a:bodyPr>
          <a:lstStyle/>
          <a:p>
            <a:pPr algn="l">
              <a:lnSpc>
                <a:spcPct val="100000"/>
              </a:lnSpc>
              <a:spcAft>
                <a:spcPts val="100"/>
              </a:spcAft>
            </a:pPr>
            <a:r>
              <a:rPr sz="1650" b="1" i="0">
                <a:solidFill>
                  <a:srgbClr val="38761D"/>
                </a:solidFill>
                <a:latin typeface="Calibri"/>
              </a:rPr>
              <a:t>0.49–1.53 N·m</a:t>
            </a:r>
          </a:p>
          <a:p>
            <a:pPr algn="l">
              <a:lnSpc>
                <a:spcPct val="100000"/>
              </a:lnSpc>
            </a:pPr>
            <a:r>
              <a:rPr sz="1150" b="0" i="0">
                <a:solidFill>
                  <a:srgbClr val="595959"/>
                </a:solidFill>
                <a:latin typeface="Calibri"/>
              </a:rPr>
              <a:t>corrected RMSE, improved in every used test (6/6)</a:t>
            </a:r>
          </a:p>
        </p:txBody>
      </p:sp>
      <p:sp>
        <p:nvSpPr>
          <p:cNvPr id="12" name="Rounded Rectangle 11"/>
          <p:cNvSpPr/>
          <p:nvPr/>
        </p:nvSpPr>
        <p:spPr>
          <a:xfrm>
            <a:off x="7406640" y="5120640"/>
            <a:ext cx="4206240" cy="987552"/>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5230368"/>
            <a:ext cx="3749039" cy="868680"/>
          </a:xfrm>
          <a:prstGeom prst="rect">
            <a:avLst/>
          </a:prstGeom>
          <a:noFill/>
        </p:spPr>
        <p:txBody>
          <a:bodyPr wrap="square" anchor="t" lIns="0" rIns="0" tIns="0" bIns="0">
            <a:spAutoFit/>
          </a:bodyPr>
          <a:lstStyle/>
          <a:p>
            <a:pPr algn="l">
              <a:lnSpc>
                <a:spcPct val="100000"/>
              </a:lnSpc>
              <a:spcAft>
                <a:spcPts val="100"/>
              </a:spcAft>
            </a:pPr>
            <a:r>
              <a:rPr sz="1650" b="1" i="0">
                <a:solidFill>
                  <a:srgbClr val="00796B"/>
                </a:solidFill>
                <a:latin typeface="Calibri"/>
              </a:rPr>
              <a:t>2.50 → 1.00 / 2.55 → 1.10 N·m</a:t>
            </a:r>
          </a:p>
          <a:p>
            <a:pPr algn="l">
              <a:lnSpc>
                <a:spcPct val="100000"/>
              </a:lnSpc>
            </a:pPr>
            <a:r>
              <a:rPr sz="1150" b="0" i="0">
                <a:solidFill>
                  <a:srgbClr val="595959"/>
                </a:solidFill>
                <a:latin typeface="Calibri"/>
              </a:rPr>
              <a:t>training / validation triple means; FVU &lt; 1 on all but the 43.2 cm tendon test</a:t>
            </a:r>
          </a:p>
        </p:txBody>
      </p:sp>
      <p:sp>
        <p:nvSpPr>
          <p:cNvPr id="14" name="TextBox 13"/>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VALUES OF RECORD</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One stiffness pair of record spans the flexor and extensor configurations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Appendix C, Table app_xi_values; flexor front row 77 of 212, extensor front row 32 (pair locked to row 77)</a:t>
            </a:r>
          </a:p>
        </p:txBody>
      </p:sp>
      <p:sp>
        <p:nvSpPr>
          <p:cNvPr id="5" name="TextBox 4"/>
          <p:cNvSpPr txBox="1"/>
          <p:nvPr/>
        </p:nvSpPr>
        <p:spPr>
          <a:xfrm>
            <a:off x="822960" y="1783080"/>
            <a:ext cx="2377440" cy="365760"/>
          </a:xfrm>
          <a:prstGeom prst="rect">
            <a:avLst/>
          </a:prstGeom>
          <a:noFill/>
        </p:spPr>
        <p:txBody>
          <a:bodyPr wrap="square" anchor="t" lIns="0" rIns="0" tIns="0" bIns="0">
            <a:spAutoFit/>
          </a:bodyPr>
          <a:lstStyle/>
          <a:p>
            <a:pPr algn="l">
              <a:lnSpc>
                <a:spcPct val="100000"/>
              </a:lnSpc>
            </a:pPr>
            <a:r>
              <a:rPr sz="1300" b="1" i="0">
                <a:solidFill>
                  <a:srgbClr val="00796B"/>
                </a:solidFill>
                <a:latin typeface="Calibri"/>
              </a:rPr>
              <a:t>Term</a:t>
            </a:r>
          </a:p>
        </p:txBody>
      </p:sp>
      <p:sp>
        <p:nvSpPr>
          <p:cNvPr id="6" name="TextBox 5"/>
          <p:cNvSpPr txBox="1"/>
          <p:nvPr/>
        </p:nvSpPr>
        <p:spPr>
          <a:xfrm>
            <a:off x="3200400" y="1783080"/>
            <a:ext cx="2194560" cy="365760"/>
          </a:xfrm>
          <a:prstGeom prst="rect">
            <a:avLst/>
          </a:prstGeom>
          <a:noFill/>
        </p:spPr>
        <p:txBody>
          <a:bodyPr wrap="square" anchor="t" lIns="0" rIns="0" tIns="0" bIns="0">
            <a:spAutoFit/>
          </a:bodyPr>
          <a:lstStyle/>
          <a:p>
            <a:pPr algn="ctr">
              <a:lnSpc>
                <a:spcPct val="100000"/>
              </a:lnSpc>
            </a:pPr>
            <a:r>
              <a:rPr sz="1300" b="1" i="0">
                <a:solidFill>
                  <a:srgbClr val="00796B"/>
                </a:solidFill>
                <a:latin typeface="Calibri"/>
              </a:rPr>
              <a:t>Value</a:t>
            </a:r>
          </a:p>
        </p:txBody>
      </p:sp>
      <p:sp>
        <p:nvSpPr>
          <p:cNvPr id="7" name="TextBox 6"/>
          <p:cNvSpPr txBox="1"/>
          <p:nvPr/>
        </p:nvSpPr>
        <p:spPr>
          <a:xfrm>
            <a:off x="5394960" y="1783080"/>
            <a:ext cx="1737360" cy="365760"/>
          </a:xfrm>
          <a:prstGeom prst="rect">
            <a:avLst/>
          </a:prstGeom>
          <a:noFill/>
        </p:spPr>
        <p:txBody>
          <a:bodyPr wrap="square" anchor="t" lIns="0" rIns="0" tIns="0" bIns="0">
            <a:spAutoFit/>
          </a:bodyPr>
          <a:lstStyle/>
          <a:p>
            <a:pPr algn="ctr">
              <a:lnSpc>
                <a:spcPct val="100000"/>
              </a:lnSpc>
            </a:pPr>
            <a:r>
              <a:rPr sz="1300" b="1" i="0">
                <a:solidFill>
                  <a:srgbClr val="00796B"/>
                </a:solidFill>
                <a:latin typeface="Calibri"/>
              </a:rPr>
              <a:t>Source</a:t>
            </a:r>
          </a:p>
        </p:txBody>
      </p:sp>
      <p:sp>
        <p:nvSpPr>
          <p:cNvPr id="8" name="TextBox 7"/>
          <p:cNvSpPr txBox="1"/>
          <p:nvPr/>
        </p:nvSpPr>
        <p:spPr>
          <a:xfrm>
            <a:off x="7132320" y="1783080"/>
            <a:ext cx="731520" cy="365760"/>
          </a:xfrm>
          <a:prstGeom prst="rect">
            <a:avLst/>
          </a:prstGeom>
          <a:noFill/>
        </p:spPr>
        <p:txBody>
          <a:bodyPr wrap="square" anchor="t" lIns="0" rIns="0" tIns="0" bIns="0">
            <a:spAutoFit/>
          </a:bodyPr>
          <a:lstStyle/>
          <a:p>
            <a:pPr algn="ctr">
              <a:lnSpc>
                <a:spcPct val="100000"/>
              </a:lnSpc>
            </a:pPr>
            <a:r>
              <a:rPr sz="1300" b="1" i="0">
                <a:solidFill>
                  <a:srgbClr val="00796B"/>
                </a:solidFill>
                <a:latin typeface="Calibri"/>
              </a:rPr>
              <a:t>Row</a:t>
            </a:r>
          </a:p>
        </p:txBody>
      </p:sp>
      <p:sp>
        <p:nvSpPr>
          <p:cNvPr id="9" name="TextBox 8"/>
          <p:cNvSpPr txBox="1"/>
          <p:nvPr/>
        </p:nvSpPr>
        <p:spPr>
          <a:xfrm>
            <a:off x="822960" y="2194560"/>
            <a:ext cx="2377440" cy="365760"/>
          </a:xfrm>
          <a:prstGeom prst="rect">
            <a:avLst/>
          </a:prstGeom>
          <a:noFill/>
        </p:spPr>
        <p:txBody>
          <a:bodyPr wrap="square" anchor="t" lIns="0" rIns="0" tIns="0" bIns="0">
            <a:spAutoFit/>
          </a:bodyPr>
          <a:lstStyle/>
          <a:p>
            <a:pPr algn="l">
              <a:lnSpc>
                <a:spcPct val="100000"/>
              </a:lnSpc>
            </a:pPr>
            <a:r>
              <a:rPr sz="1400" b="1" i="0">
                <a:solidFill>
                  <a:srgbClr val="38761D"/>
                </a:solidFill>
                <a:latin typeface="Calibri"/>
              </a:rPr>
              <a:t>Flexor χ₀</a:t>
            </a:r>
          </a:p>
        </p:txBody>
      </p:sp>
      <p:sp>
        <p:nvSpPr>
          <p:cNvPr id="10" name="TextBox 9"/>
          <p:cNvSpPr txBox="1"/>
          <p:nvPr/>
        </p:nvSpPr>
        <p:spPr>
          <a:xfrm>
            <a:off x="3200400" y="2194560"/>
            <a:ext cx="2194560" cy="365760"/>
          </a:xfrm>
          <a:prstGeom prst="rect">
            <a:avLst/>
          </a:prstGeom>
          <a:noFill/>
        </p:spPr>
        <p:txBody>
          <a:bodyPr wrap="square" anchor="t" lIns="0" rIns="0" tIns="0" bIns="0">
            <a:spAutoFit/>
          </a:bodyPr>
          <a:lstStyle/>
          <a:p>
            <a:pPr algn="ctr">
              <a:lnSpc>
                <a:spcPct val="100000"/>
              </a:lnSpc>
            </a:pPr>
            <a:r>
              <a:rPr sz="1350" b="1" i="0">
                <a:solidFill>
                  <a:srgbClr val="38761D"/>
                </a:solidFill>
                <a:latin typeface="Calibri"/>
              </a:rPr>
              <a:t>+3.94 mm</a:t>
            </a:r>
          </a:p>
        </p:txBody>
      </p:sp>
      <p:sp>
        <p:nvSpPr>
          <p:cNvPr id="11" name="TextBox 10"/>
          <p:cNvSpPr txBox="1"/>
          <p:nvPr/>
        </p:nvSpPr>
        <p:spPr>
          <a:xfrm>
            <a:off x="5394960" y="2194560"/>
            <a:ext cx="173736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App. C</a:t>
            </a:r>
          </a:p>
        </p:txBody>
      </p:sp>
      <p:sp>
        <p:nvSpPr>
          <p:cNvPr id="12" name="TextBox 11"/>
          <p:cNvSpPr txBox="1"/>
          <p:nvPr/>
        </p:nvSpPr>
        <p:spPr>
          <a:xfrm>
            <a:off x="7132320" y="2194560"/>
            <a:ext cx="73152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77</a:t>
            </a:r>
          </a:p>
        </p:txBody>
      </p:sp>
      <p:sp>
        <p:nvSpPr>
          <p:cNvPr id="13" name="TextBox 12"/>
          <p:cNvSpPr txBox="1"/>
          <p:nvPr/>
        </p:nvSpPr>
        <p:spPr>
          <a:xfrm>
            <a:off x="822960" y="2651760"/>
            <a:ext cx="2377440" cy="365760"/>
          </a:xfrm>
          <a:prstGeom prst="rect">
            <a:avLst/>
          </a:prstGeom>
          <a:noFill/>
        </p:spPr>
        <p:txBody>
          <a:bodyPr wrap="square" anchor="t" lIns="0" rIns="0" tIns="0" bIns="0">
            <a:spAutoFit/>
          </a:bodyPr>
          <a:lstStyle/>
          <a:p>
            <a:pPr algn="l">
              <a:lnSpc>
                <a:spcPct val="100000"/>
              </a:lnSpc>
            </a:pPr>
            <a:r>
              <a:rPr sz="1400" b="1" i="0">
                <a:solidFill>
                  <a:srgbClr val="38761D"/>
                </a:solidFill>
                <a:latin typeface="Calibri"/>
              </a:rPr>
              <a:t>Flexor χ₁</a:t>
            </a:r>
          </a:p>
        </p:txBody>
      </p:sp>
      <p:sp>
        <p:nvSpPr>
          <p:cNvPr id="14" name="TextBox 13"/>
          <p:cNvSpPr txBox="1"/>
          <p:nvPr/>
        </p:nvSpPr>
        <p:spPr>
          <a:xfrm>
            <a:off x="3200400" y="2651760"/>
            <a:ext cx="2194560" cy="365760"/>
          </a:xfrm>
          <a:prstGeom prst="rect">
            <a:avLst/>
          </a:prstGeom>
          <a:noFill/>
        </p:spPr>
        <p:txBody>
          <a:bodyPr wrap="square" anchor="t" lIns="0" rIns="0" tIns="0" bIns="0">
            <a:spAutoFit/>
          </a:bodyPr>
          <a:lstStyle/>
          <a:p>
            <a:pPr algn="ctr">
              <a:lnSpc>
                <a:spcPct val="100000"/>
              </a:lnSpc>
            </a:pPr>
            <a:r>
              <a:rPr sz="1350" b="1" i="0">
                <a:solidFill>
                  <a:srgbClr val="38761D"/>
                </a:solidFill>
                <a:latin typeface="Calibri"/>
              </a:rPr>
              <a:t>3.998×10⁴ N/m</a:t>
            </a:r>
          </a:p>
        </p:txBody>
      </p:sp>
      <p:sp>
        <p:nvSpPr>
          <p:cNvPr id="15" name="TextBox 14"/>
          <p:cNvSpPr txBox="1"/>
          <p:nvPr/>
        </p:nvSpPr>
        <p:spPr>
          <a:xfrm>
            <a:off x="5394960" y="2651760"/>
            <a:ext cx="173736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App. C</a:t>
            </a:r>
          </a:p>
        </p:txBody>
      </p:sp>
      <p:sp>
        <p:nvSpPr>
          <p:cNvPr id="16" name="TextBox 15"/>
          <p:cNvSpPr txBox="1"/>
          <p:nvPr/>
        </p:nvSpPr>
        <p:spPr>
          <a:xfrm>
            <a:off x="7132320" y="2651760"/>
            <a:ext cx="73152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77</a:t>
            </a:r>
          </a:p>
        </p:txBody>
      </p:sp>
      <p:sp>
        <p:nvSpPr>
          <p:cNvPr id="17" name="TextBox 16"/>
          <p:cNvSpPr txBox="1"/>
          <p:nvPr/>
        </p:nvSpPr>
        <p:spPr>
          <a:xfrm>
            <a:off x="822960" y="3108960"/>
            <a:ext cx="2377440" cy="365760"/>
          </a:xfrm>
          <a:prstGeom prst="rect">
            <a:avLst/>
          </a:prstGeom>
          <a:noFill/>
        </p:spPr>
        <p:txBody>
          <a:bodyPr wrap="square" anchor="t" lIns="0" rIns="0" tIns="0" bIns="0">
            <a:spAutoFit/>
          </a:bodyPr>
          <a:lstStyle/>
          <a:p>
            <a:pPr algn="l">
              <a:lnSpc>
                <a:spcPct val="100000"/>
              </a:lnSpc>
            </a:pPr>
            <a:r>
              <a:rPr sz="1400" b="1" i="0">
                <a:solidFill>
                  <a:srgbClr val="38761D"/>
                </a:solidFill>
                <a:latin typeface="Calibri"/>
              </a:rPr>
              <a:t>Flexor χ₂</a:t>
            </a:r>
          </a:p>
        </p:txBody>
      </p:sp>
      <p:sp>
        <p:nvSpPr>
          <p:cNvPr id="18" name="TextBox 17"/>
          <p:cNvSpPr txBox="1"/>
          <p:nvPr/>
        </p:nvSpPr>
        <p:spPr>
          <a:xfrm>
            <a:off x="3200400" y="3108960"/>
            <a:ext cx="2194560" cy="365760"/>
          </a:xfrm>
          <a:prstGeom prst="rect">
            <a:avLst/>
          </a:prstGeom>
          <a:noFill/>
        </p:spPr>
        <p:txBody>
          <a:bodyPr wrap="square" anchor="t" lIns="0" rIns="0" tIns="0" bIns="0">
            <a:spAutoFit/>
          </a:bodyPr>
          <a:lstStyle/>
          <a:p>
            <a:pPr algn="ctr">
              <a:lnSpc>
                <a:spcPct val="100000"/>
              </a:lnSpc>
            </a:pPr>
            <a:r>
              <a:rPr sz="1350" b="1" i="0">
                <a:solidFill>
                  <a:srgbClr val="38761D"/>
                </a:solidFill>
                <a:latin typeface="Calibri"/>
              </a:rPr>
              <a:t>1.473×10⁴ N/m</a:t>
            </a:r>
          </a:p>
        </p:txBody>
      </p:sp>
      <p:sp>
        <p:nvSpPr>
          <p:cNvPr id="19" name="TextBox 18"/>
          <p:cNvSpPr txBox="1"/>
          <p:nvPr/>
        </p:nvSpPr>
        <p:spPr>
          <a:xfrm>
            <a:off x="5394960" y="3108960"/>
            <a:ext cx="173736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App. C</a:t>
            </a:r>
          </a:p>
        </p:txBody>
      </p:sp>
      <p:sp>
        <p:nvSpPr>
          <p:cNvPr id="20" name="TextBox 19"/>
          <p:cNvSpPr txBox="1"/>
          <p:nvPr/>
        </p:nvSpPr>
        <p:spPr>
          <a:xfrm>
            <a:off x="7132320" y="3108960"/>
            <a:ext cx="73152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77</a:t>
            </a:r>
          </a:p>
        </p:txBody>
      </p:sp>
      <p:sp>
        <p:nvSpPr>
          <p:cNvPr id="21" name="TextBox 20"/>
          <p:cNvSpPr txBox="1"/>
          <p:nvPr/>
        </p:nvSpPr>
        <p:spPr>
          <a:xfrm>
            <a:off x="822960" y="3566160"/>
            <a:ext cx="2377440" cy="365760"/>
          </a:xfrm>
          <a:prstGeom prst="rect">
            <a:avLst/>
          </a:prstGeom>
          <a:noFill/>
        </p:spPr>
        <p:txBody>
          <a:bodyPr wrap="square" anchor="t" lIns="0" rIns="0" tIns="0" bIns="0">
            <a:spAutoFit/>
          </a:bodyPr>
          <a:lstStyle/>
          <a:p>
            <a:pPr algn="l">
              <a:lnSpc>
                <a:spcPct val="100000"/>
              </a:lnSpc>
            </a:pPr>
            <a:r>
              <a:rPr sz="1400" b="1" i="0">
                <a:solidFill>
                  <a:srgbClr val="2E5A88"/>
                </a:solidFill>
                <a:latin typeface="Calibri"/>
              </a:rPr>
              <a:t>Extensor χ₀</a:t>
            </a:r>
          </a:p>
        </p:txBody>
      </p:sp>
      <p:sp>
        <p:nvSpPr>
          <p:cNvPr id="22" name="TextBox 21"/>
          <p:cNvSpPr txBox="1"/>
          <p:nvPr/>
        </p:nvSpPr>
        <p:spPr>
          <a:xfrm>
            <a:off x="3200400" y="3566160"/>
            <a:ext cx="2194560" cy="365760"/>
          </a:xfrm>
          <a:prstGeom prst="rect">
            <a:avLst/>
          </a:prstGeom>
          <a:noFill/>
        </p:spPr>
        <p:txBody>
          <a:bodyPr wrap="square" anchor="t" lIns="0" rIns="0" tIns="0" bIns="0">
            <a:spAutoFit/>
          </a:bodyPr>
          <a:lstStyle/>
          <a:p>
            <a:pPr algn="ctr">
              <a:lnSpc>
                <a:spcPct val="100000"/>
              </a:lnSpc>
            </a:pPr>
            <a:r>
              <a:rPr sz="1350" b="1" i="0">
                <a:solidFill>
                  <a:srgbClr val="2E5A88"/>
                </a:solidFill>
                <a:latin typeface="Calibri"/>
              </a:rPr>
              <a:t>−6.38 mm</a:t>
            </a:r>
          </a:p>
        </p:txBody>
      </p:sp>
      <p:sp>
        <p:nvSpPr>
          <p:cNvPr id="23" name="TextBox 22"/>
          <p:cNvSpPr txBox="1"/>
          <p:nvPr/>
        </p:nvSpPr>
        <p:spPr>
          <a:xfrm>
            <a:off x="5394960" y="3566160"/>
            <a:ext cx="173736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App. C</a:t>
            </a:r>
          </a:p>
        </p:txBody>
      </p:sp>
      <p:sp>
        <p:nvSpPr>
          <p:cNvPr id="24" name="TextBox 23"/>
          <p:cNvSpPr txBox="1"/>
          <p:nvPr/>
        </p:nvSpPr>
        <p:spPr>
          <a:xfrm>
            <a:off x="7132320" y="3566160"/>
            <a:ext cx="73152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32</a:t>
            </a:r>
          </a:p>
        </p:txBody>
      </p:sp>
      <p:sp>
        <p:nvSpPr>
          <p:cNvPr id="25" name="TextBox 24"/>
          <p:cNvSpPr txBox="1"/>
          <p:nvPr/>
        </p:nvSpPr>
        <p:spPr>
          <a:xfrm>
            <a:off x="822960" y="4023360"/>
            <a:ext cx="2377440" cy="365760"/>
          </a:xfrm>
          <a:prstGeom prst="rect">
            <a:avLst/>
          </a:prstGeom>
          <a:noFill/>
        </p:spPr>
        <p:txBody>
          <a:bodyPr wrap="square" anchor="t" lIns="0" rIns="0" tIns="0" bIns="0">
            <a:spAutoFit/>
          </a:bodyPr>
          <a:lstStyle/>
          <a:p>
            <a:pPr algn="l">
              <a:lnSpc>
                <a:spcPct val="100000"/>
              </a:lnSpc>
            </a:pPr>
            <a:r>
              <a:rPr sz="1400" b="1" i="0">
                <a:solidFill>
                  <a:srgbClr val="2E5A88"/>
                </a:solidFill>
                <a:latin typeface="Calibri"/>
              </a:rPr>
              <a:t>Extensor χ₁ (locked)</a:t>
            </a:r>
          </a:p>
        </p:txBody>
      </p:sp>
      <p:sp>
        <p:nvSpPr>
          <p:cNvPr id="26" name="TextBox 25"/>
          <p:cNvSpPr txBox="1"/>
          <p:nvPr/>
        </p:nvSpPr>
        <p:spPr>
          <a:xfrm>
            <a:off x="3200400" y="4023360"/>
            <a:ext cx="2194560" cy="365760"/>
          </a:xfrm>
          <a:prstGeom prst="rect">
            <a:avLst/>
          </a:prstGeom>
          <a:noFill/>
        </p:spPr>
        <p:txBody>
          <a:bodyPr wrap="square" anchor="t" lIns="0" rIns="0" tIns="0" bIns="0">
            <a:spAutoFit/>
          </a:bodyPr>
          <a:lstStyle/>
          <a:p>
            <a:pPr algn="ctr">
              <a:lnSpc>
                <a:spcPct val="100000"/>
              </a:lnSpc>
            </a:pPr>
            <a:r>
              <a:rPr sz="1350" b="1" i="0">
                <a:solidFill>
                  <a:srgbClr val="2E5A88"/>
                </a:solidFill>
                <a:latin typeface="Calibri"/>
              </a:rPr>
              <a:t>3.998×10⁴ N/m</a:t>
            </a:r>
          </a:p>
        </p:txBody>
      </p:sp>
      <p:sp>
        <p:nvSpPr>
          <p:cNvPr id="27" name="TextBox 26"/>
          <p:cNvSpPr txBox="1"/>
          <p:nvPr/>
        </p:nvSpPr>
        <p:spPr>
          <a:xfrm>
            <a:off x="5394960" y="4023360"/>
            <a:ext cx="173736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App. C</a:t>
            </a:r>
          </a:p>
        </p:txBody>
      </p:sp>
      <p:sp>
        <p:nvSpPr>
          <p:cNvPr id="28" name="TextBox 27"/>
          <p:cNvSpPr txBox="1"/>
          <p:nvPr/>
        </p:nvSpPr>
        <p:spPr>
          <a:xfrm>
            <a:off x="7132320" y="4023360"/>
            <a:ext cx="73152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77</a:t>
            </a:r>
          </a:p>
        </p:txBody>
      </p:sp>
      <p:sp>
        <p:nvSpPr>
          <p:cNvPr id="29" name="TextBox 28"/>
          <p:cNvSpPr txBox="1"/>
          <p:nvPr/>
        </p:nvSpPr>
        <p:spPr>
          <a:xfrm>
            <a:off x="822960" y="4480560"/>
            <a:ext cx="2377440" cy="365760"/>
          </a:xfrm>
          <a:prstGeom prst="rect">
            <a:avLst/>
          </a:prstGeom>
          <a:noFill/>
        </p:spPr>
        <p:txBody>
          <a:bodyPr wrap="square" anchor="t" lIns="0" rIns="0" tIns="0" bIns="0">
            <a:spAutoFit/>
          </a:bodyPr>
          <a:lstStyle/>
          <a:p>
            <a:pPr algn="l">
              <a:lnSpc>
                <a:spcPct val="100000"/>
              </a:lnSpc>
            </a:pPr>
            <a:r>
              <a:rPr sz="1400" b="1" i="0">
                <a:solidFill>
                  <a:srgbClr val="2E5A88"/>
                </a:solidFill>
                <a:latin typeface="Calibri"/>
              </a:rPr>
              <a:t>Extensor χ₂ (locked)</a:t>
            </a:r>
          </a:p>
        </p:txBody>
      </p:sp>
      <p:sp>
        <p:nvSpPr>
          <p:cNvPr id="30" name="TextBox 29"/>
          <p:cNvSpPr txBox="1"/>
          <p:nvPr/>
        </p:nvSpPr>
        <p:spPr>
          <a:xfrm>
            <a:off x="3200400" y="4480560"/>
            <a:ext cx="2194560" cy="365760"/>
          </a:xfrm>
          <a:prstGeom prst="rect">
            <a:avLst/>
          </a:prstGeom>
          <a:noFill/>
        </p:spPr>
        <p:txBody>
          <a:bodyPr wrap="square" anchor="t" lIns="0" rIns="0" tIns="0" bIns="0">
            <a:spAutoFit/>
          </a:bodyPr>
          <a:lstStyle/>
          <a:p>
            <a:pPr algn="ctr">
              <a:lnSpc>
                <a:spcPct val="100000"/>
              </a:lnSpc>
            </a:pPr>
            <a:r>
              <a:rPr sz="1350" b="1" i="0">
                <a:solidFill>
                  <a:srgbClr val="2E5A88"/>
                </a:solidFill>
                <a:latin typeface="Calibri"/>
              </a:rPr>
              <a:t>1.473×10⁴ N/m</a:t>
            </a:r>
          </a:p>
        </p:txBody>
      </p:sp>
      <p:sp>
        <p:nvSpPr>
          <p:cNvPr id="31" name="TextBox 30"/>
          <p:cNvSpPr txBox="1"/>
          <p:nvPr/>
        </p:nvSpPr>
        <p:spPr>
          <a:xfrm>
            <a:off x="5394960" y="4480560"/>
            <a:ext cx="173736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App. C</a:t>
            </a:r>
          </a:p>
        </p:txBody>
      </p:sp>
      <p:sp>
        <p:nvSpPr>
          <p:cNvPr id="32" name="TextBox 31"/>
          <p:cNvSpPr txBox="1"/>
          <p:nvPr/>
        </p:nvSpPr>
        <p:spPr>
          <a:xfrm>
            <a:off x="7132320" y="4480560"/>
            <a:ext cx="73152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77</a:t>
            </a:r>
          </a:p>
        </p:txBody>
      </p:sp>
      <p:sp>
        <p:nvSpPr>
          <p:cNvPr id="33" name="TextBox 32"/>
          <p:cNvSpPr txBox="1"/>
          <p:nvPr/>
        </p:nvSpPr>
        <p:spPr>
          <a:xfrm>
            <a:off x="822960" y="4937760"/>
            <a:ext cx="2377440" cy="365760"/>
          </a:xfrm>
          <a:prstGeom prst="rect">
            <a:avLst/>
          </a:prstGeom>
          <a:noFill/>
        </p:spPr>
        <p:txBody>
          <a:bodyPr wrap="square" anchor="t" lIns="0" rIns="0" tIns="0" bIns="0">
            <a:spAutoFit/>
          </a:bodyPr>
          <a:lstStyle/>
          <a:p>
            <a:pPr algn="l">
              <a:lnSpc>
                <a:spcPct val="100000"/>
              </a:lnSpc>
            </a:pPr>
            <a:r>
              <a:rPr sz="1400" b="1" i="0">
                <a:solidFill>
                  <a:srgbClr val="AF7B51"/>
                </a:solidFill>
                <a:latin typeface="Calibri"/>
              </a:rPr>
              <a:t>χ₃ (extensor)</a:t>
            </a:r>
          </a:p>
        </p:txBody>
      </p:sp>
      <p:sp>
        <p:nvSpPr>
          <p:cNvPr id="34" name="TextBox 33"/>
          <p:cNvSpPr txBox="1"/>
          <p:nvPr/>
        </p:nvSpPr>
        <p:spPr>
          <a:xfrm>
            <a:off x="3200400" y="4937760"/>
            <a:ext cx="2194560" cy="365760"/>
          </a:xfrm>
          <a:prstGeom prst="rect">
            <a:avLst/>
          </a:prstGeom>
          <a:noFill/>
        </p:spPr>
        <p:txBody>
          <a:bodyPr wrap="square" anchor="t" lIns="0" rIns="0" tIns="0" bIns="0">
            <a:spAutoFit/>
          </a:bodyPr>
          <a:lstStyle/>
          <a:p>
            <a:pPr algn="ctr">
              <a:lnSpc>
                <a:spcPct val="100000"/>
              </a:lnSpc>
            </a:pPr>
            <a:r>
              <a:rPr sz="1350" b="1" i="0">
                <a:solidFill>
                  <a:srgbClr val="AF7B51"/>
                </a:solidFill>
                <a:latin typeface="Calibri"/>
              </a:rPr>
              <a:t>0.158</a:t>
            </a:r>
          </a:p>
        </p:txBody>
      </p:sp>
      <p:sp>
        <p:nvSpPr>
          <p:cNvPr id="35" name="TextBox 34"/>
          <p:cNvSpPr txBox="1"/>
          <p:nvPr/>
        </p:nvSpPr>
        <p:spPr>
          <a:xfrm>
            <a:off x="5394960" y="4937760"/>
            <a:ext cx="173736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App. C</a:t>
            </a:r>
          </a:p>
        </p:txBody>
      </p:sp>
      <p:sp>
        <p:nvSpPr>
          <p:cNvPr id="36" name="TextBox 35"/>
          <p:cNvSpPr txBox="1"/>
          <p:nvPr/>
        </p:nvSpPr>
        <p:spPr>
          <a:xfrm>
            <a:off x="7132320" y="4937760"/>
            <a:ext cx="731520" cy="365760"/>
          </a:xfrm>
          <a:prstGeom prst="rect">
            <a:avLst/>
          </a:prstGeom>
          <a:noFill/>
        </p:spPr>
        <p:txBody>
          <a:bodyPr wrap="square" anchor="t" lIns="0" rIns="0" tIns="0" bIns="0">
            <a:spAutoFit/>
          </a:bodyPr>
          <a:lstStyle/>
          <a:p>
            <a:pPr algn="ctr">
              <a:lnSpc>
                <a:spcPct val="100000"/>
              </a:lnSpc>
            </a:pPr>
            <a:r>
              <a:rPr sz="1400" b="0" i="0">
                <a:solidFill>
                  <a:srgbClr val="222222"/>
                </a:solidFill>
                <a:latin typeface="Calibri"/>
              </a:rPr>
              <a:t>32</a:t>
            </a:r>
          </a:p>
        </p:txBody>
      </p:sp>
      <p:sp>
        <p:nvSpPr>
          <p:cNvPr id="37" name="Rounded Rectangle 36"/>
          <p:cNvSpPr/>
          <p:nvPr/>
        </p:nvSpPr>
        <p:spPr>
          <a:xfrm>
            <a:off x="8092440" y="1783080"/>
            <a:ext cx="3566160" cy="3977639"/>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21040" y="1965960"/>
            <a:ext cx="3154680" cy="370332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READ THIS TABLE LIKE THIS</a:t>
            </a:r>
          </a:p>
          <a:p>
            <a:pPr algn="l">
              <a:lnSpc>
                <a:spcPct val="112000"/>
              </a:lnSpc>
              <a:spcAft>
                <a:spcPts val="800"/>
              </a:spcAft>
            </a:pPr>
            <a:r>
              <a:rPr sz="1350" b="0" i="0">
                <a:solidFill>
                  <a:srgbClr val="222222"/>
                </a:solidFill>
                <a:latin typeface="Calibri"/>
              </a:rPr>
              <a:t>The pinned-flexor data admit a family of stiffness pairs of comparable fit quality.</a:t>
            </a:r>
          </a:p>
          <a:p>
            <a:pPr algn="l">
              <a:lnSpc>
                <a:spcPct val="112000"/>
              </a:lnSpc>
              <a:spcAft>
                <a:spcPts val="800"/>
              </a:spcAft>
            </a:pPr>
            <a:r>
              <a:rPr sz="1350" b="0" i="0">
                <a:solidFill>
                  <a:srgbClr val="222222"/>
                </a:solidFill>
                <a:latin typeface="Calibri"/>
              </a:rPr>
              <a:t>The adopted pair was chosen by a requirement external to the fit: both redesign configurations must clear the required 5% torque-overshoot target.</a:t>
            </a:r>
          </a:p>
          <a:p>
            <a:pPr algn="l">
              <a:lnSpc>
                <a:spcPct val="110000"/>
              </a:lnSpc>
            </a:pPr>
            <a:r>
              <a:rPr sz="1350" b="1" i="0">
                <a:solidFill>
                  <a:srgbClr val="AF7B51"/>
                </a:solidFill>
                <a:latin typeface="Calibri"/>
              </a:rPr>
              <a:t>The extensor never searches stiffness; it inherits it.</a:t>
            </a:r>
          </a:p>
        </p:txBody>
      </p:sp>
      <p:sp>
        <p:nvSpPr>
          <p:cNvPr id="39" name="TextBox 3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BIOMIMETIC KNEE</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biomimetic knee meets or exceeds human flexor torque over most of the range of motion</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Fig. FlxGrp + Table TorqueFit; human curve: Gait2392 maximum-isometric torque (Delp 2007; Seth 2018)</a:t>
            </a:r>
          </a:p>
        </p:txBody>
      </p:sp>
      <p:pic>
        <p:nvPicPr>
          <p:cNvPr id="5" name="Picture 4" descr="b_flxgrp_trim.png"/>
          <p:cNvPicPr>
            <a:picLocks noChangeAspect="1"/>
          </p:cNvPicPr>
          <p:nvPr/>
        </p:nvPicPr>
        <p:blipFill>
          <a:blip r:embed="rId3"/>
          <a:stretch>
            <a:fillRect/>
          </a:stretch>
        </p:blipFill>
        <p:spPr>
          <a:xfrm>
            <a:off x="800615" y="1783080"/>
            <a:ext cx="8502889" cy="4297680"/>
          </a:xfrm>
          <a:prstGeom prst="rect">
            <a:avLst/>
          </a:prstGeom>
        </p:spPr>
      </p:pic>
      <p:sp>
        <p:nvSpPr>
          <p:cNvPr id="6" name="TextBox 5"/>
          <p:cNvSpPr txBox="1"/>
          <p:nvPr/>
        </p:nvSpPr>
        <p:spPr>
          <a:xfrm>
            <a:off x="457200" y="6126480"/>
            <a:ext cx="918972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blue = measured · magenta = corrected prediction · dashed orange = BPA characterization alone · black dotted = human maximum-isometric torque</a:t>
            </a:r>
          </a:p>
        </p:txBody>
      </p:sp>
      <p:sp>
        <p:nvSpPr>
          <p:cNvPr id="7" name="Rounded Rectangle 6"/>
          <p:cNvSpPr/>
          <p:nvPr/>
        </p:nvSpPr>
        <p:spPr>
          <a:xfrm>
            <a:off x="9784080" y="1828800"/>
            <a:ext cx="2148840" cy="429768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30384" y="1993392"/>
            <a:ext cx="1874519" cy="4023360"/>
          </a:xfrm>
          <a:prstGeom prst="rect">
            <a:avLst/>
          </a:prstGeom>
          <a:noFill/>
        </p:spPr>
        <p:txBody>
          <a:bodyPr wrap="square" anchor="t" lIns="0" rIns="0" tIns="0" bIns="0">
            <a:spAutoFit/>
          </a:bodyPr>
          <a:lstStyle/>
          <a:p>
            <a:pPr algn="l">
              <a:lnSpc>
                <a:spcPct val="100000"/>
              </a:lnSpc>
              <a:spcAft>
                <a:spcPts val="300"/>
              </a:spcAft>
            </a:pPr>
            <a:r>
              <a:rPr sz="1100" b="1" i="0">
                <a:solidFill>
                  <a:srgbClr val="00796B"/>
                </a:solidFill>
                <a:latin typeface="Calibri"/>
              </a:rPr>
              <a:t>SHORTFALL</a:t>
            </a:r>
          </a:p>
          <a:p>
            <a:pPr algn="l">
              <a:lnSpc>
                <a:spcPct val="105000"/>
              </a:lnSpc>
              <a:spcAft>
                <a:spcPts val="1000"/>
              </a:spcAft>
            </a:pPr>
            <a:r>
              <a:rPr sz="1300" b="1" i="0">
                <a:solidFill>
                  <a:srgbClr val="C00000"/>
                </a:solidFill>
                <a:latin typeface="Calibri"/>
              </a:rPr>
              <a:t>60–100°
(±20%: 78–103°)</a:t>
            </a:r>
          </a:p>
          <a:p>
            <a:pPr algn="l">
              <a:lnSpc>
                <a:spcPct val="105000"/>
              </a:lnSpc>
              <a:spcAft>
                <a:spcPts val="1000"/>
              </a:spcAft>
            </a:pPr>
            <a:r>
              <a:rPr sz="1200" b="0" i="0">
                <a:solidFill>
                  <a:srgbClr val="222222"/>
                </a:solidFill>
                <a:latin typeface="Calibri"/>
              </a:rPr>
              <a:t>⌀20 mm, l₀ = 42.0 cm
RMSE 1.80 · FVU 0.05
max resid 3.57 N·m</a:t>
            </a:r>
          </a:p>
          <a:p>
            <a:pPr algn="l">
              <a:lnSpc>
                <a:spcPct val="105000"/>
              </a:lnSpc>
              <a:spcAft>
                <a:spcPts val="1000"/>
              </a:spcAft>
            </a:pPr>
            <a:r>
              <a:rPr sz="1200" b="0" i="0">
                <a:solidFill>
                  <a:srgbClr val="222222"/>
                </a:solidFill>
                <a:latin typeface="Calibri"/>
              </a:rPr>
              <a:t>⌀10 mm panel:
RMSE 0.30 · FVU 0.01</a:t>
            </a:r>
          </a:p>
          <a:p>
            <a:pPr algn="l">
              <a:lnSpc>
                <a:spcPct val="105000"/>
              </a:lnSpc>
            </a:pPr>
            <a:r>
              <a:rPr sz="1050" b="0" i="1">
                <a:solidFill>
                  <a:srgbClr val="595959"/>
                </a:solidFill>
                <a:latin typeface="Calibri"/>
              </a:rPr>
              <a:t>At 620 kPa the BPA exceeded the test femur's ultimate strength; remaining points taken at 560/421/325/281 kPa.</a:t>
            </a:r>
          </a:p>
        </p:txBody>
      </p:sp>
      <p:sp>
        <p:nvSpPr>
          <p:cNvPr id="9" name="TextBox 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BIOMIMETIC KNEE</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Biomimetic extensor: corrections cut the error, but prediction still sits above measurement</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Fig. Ext10mm_52cm + Table TorqueFit; adopted values: Appendix C, adopted correction-term values</a:t>
            </a:r>
          </a:p>
        </p:txBody>
      </p:sp>
      <p:pic>
        <p:nvPicPr>
          <p:cNvPr id="5" name="Picture 4" descr="b_ext10mm_trim.png"/>
          <p:cNvPicPr>
            <a:picLocks noChangeAspect="1"/>
          </p:cNvPicPr>
          <p:nvPr/>
        </p:nvPicPr>
        <p:blipFill>
          <a:blip r:embed="rId3"/>
          <a:stretch>
            <a:fillRect/>
          </a:stretch>
        </p:blipFill>
        <p:spPr>
          <a:xfrm>
            <a:off x="546319" y="1783080"/>
            <a:ext cx="7274121" cy="3429000"/>
          </a:xfrm>
          <a:prstGeom prst="rect">
            <a:avLst/>
          </a:prstGeom>
        </p:spPr>
      </p:pic>
      <p:sp>
        <p:nvSpPr>
          <p:cNvPr id="6" name="TextBox 5"/>
          <p:cNvSpPr txBox="1"/>
          <p:nvPr/>
        </p:nvSpPr>
        <p:spPr>
          <a:xfrm>
            <a:off x="365760" y="5248656"/>
            <a:ext cx="7635240" cy="27432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⌀10 mm extensor on the four-bar knee, l₀ = 51.8 cm</a:t>
            </a:r>
          </a:p>
        </p:txBody>
      </p:sp>
      <p:sp>
        <p:nvSpPr>
          <p:cNvPr id="7" name="Rounded Rectangle 6"/>
          <p:cNvSpPr/>
          <p:nvPr/>
        </p:nvSpPr>
        <p:spPr>
          <a:xfrm>
            <a:off x="365760" y="5504688"/>
            <a:ext cx="2395728" cy="9144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614416"/>
            <a:ext cx="2212848" cy="777240"/>
          </a:xfrm>
          <a:prstGeom prst="rect">
            <a:avLst/>
          </a:prstGeom>
          <a:noFill/>
        </p:spPr>
        <p:txBody>
          <a:bodyPr wrap="square" anchor="t" lIns="0" rIns="0" tIns="0" bIns="0">
            <a:spAutoFit/>
          </a:bodyPr>
          <a:lstStyle/>
          <a:p>
            <a:pPr algn="ctr">
              <a:lnSpc>
                <a:spcPct val="100000"/>
              </a:lnSpc>
              <a:spcAft>
                <a:spcPts val="100"/>
              </a:spcAft>
            </a:pPr>
            <a:r>
              <a:rPr sz="1600" b="1" i="0">
                <a:solidFill>
                  <a:srgbClr val="38761D"/>
                </a:solidFill>
                <a:latin typeface="Calibri"/>
              </a:rPr>
              <a:t>0.89</a:t>
            </a:r>
          </a:p>
          <a:p>
            <a:pPr algn="ctr">
              <a:lnSpc>
                <a:spcPct val="95000"/>
              </a:lnSpc>
            </a:pPr>
            <a:r>
              <a:rPr sz="950" b="0" i="0">
                <a:solidFill>
                  <a:srgbClr val="595959"/>
                </a:solidFill>
                <a:latin typeface="Calibri"/>
              </a:rPr>
              <a:t>RMSE (N·m) with pinned-extensor χ (figure)</a:t>
            </a:r>
          </a:p>
        </p:txBody>
      </p:sp>
      <p:sp>
        <p:nvSpPr>
          <p:cNvPr id="9" name="Rounded Rectangle 8"/>
          <p:cNvSpPr/>
          <p:nvPr/>
        </p:nvSpPr>
        <p:spPr>
          <a:xfrm>
            <a:off x="2852928" y="5504688"/>
            <a:ext cx="2395728" cy="9144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4368" y="5614416"/>
            <a:ext cx="2212848" cy="777240"/>
          </a:xfrm>
          <a:prstGeom prst="rect">
            <a:avLst/>
          </a:prstGeom>
          <a:noFill/>
        </p:spPr>
        <p:txBody>
          <a:bodyPr wrap="square" anchor="t" lIns="0" rIns="0" tIns="0" bIns="0">
            <a:spAutoFit/>
          </a:bodyPr>
          <a:lstStyle/>
          <a:p>
            <a:pPr algn="ctr">
              <a:lnSpc>
                <a:spcPct val="100000"/>
              </a:lnSpc>
              <a:spcAft>
                <a:spcPts val="100"/>
              </a:spcAft>
            </a:pPr>
            <a:r>
              <a:rPr sz="1600" b="1" i="0">
                <a:solidFill>
                  <a:srgbClr val="00796B"/>
                </a:solidFill>
                <a:latin typeface="Calibri"/>
              </a:rPr>
              <a:t>1.17</a:t>
            </a:r>
          </a:p>
          <a:p>
            <a:pPr algn="ctr">
              <a:lnSpc>
                <a:spcPct val="95000"/>
              </a:lnSpc>
            </a:pPr>
            <a:r>
              <a:rPr sz="950" b="0" i="0">
                <a:solidFill>
                  <a:srgbClr val="595959"/>
                </a:solidFill>
                <a:latin typeface="Calibri"/>
              </a:rPr>
              <a:t>RMSE (N·m) at values of record (rigid: 3.03)</a:t>
            </a:r>
          </a:p>
        </p:txBody>
      </p:sp>
      <p:sp>
        <p:nvSpPr>
          <p:cNvPr id="11" name="Rounded Rectangle 10"/>
          <p:cNvSpPr/>
          <p:nvPr/>
        </p:nvSpPr>
        <p:spPr>
          <a:xfrm>
            <a:off x="5340096" y="5504688"/>
            <a:ext cx="2395728" cy="9144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31536" y="5614416"/>
            <a:ext cx="2212848" cy="777240"/>
          </a:xfrm>
          <a:prstGeom prst="rect">
            <a:avLst/>
          </a:prstGeom>
          <a:noFill/>
        </p:spPr>
        <p:txBody>
          <a:bodyPr wrap="square" anchor="t" lIns="0" rIns="0" tIns="0" bIns="0">
            <a:spAutoFit/>
          </a:bodyPr>
          <a:lstStyle/>
          <a:p>
            <a:pPr algn="ctr">
              <a:lnSpc>
                <a:spcPct val="100000"/>
              </a:lnSpc>
              <a:spcAft>
                <a:spcPts val="100"/>
              </a:spcAft>
            </a:pPr>
            <a:r>
              <a:rPr sz="1600" b="1" i="0">
                <a:solidFill>
                  <a:srgbClr val="00796B"/>
                </a:solidFill>
                <a:latin typeface="Calibri"/>
              </a:rPr>
              <a:t>0.67</a:t>
            </a:r>
          </a:p>
          <a:p>
            <a:pPr algn="ctr">
              <a:lnSpc>
                <a:spcPct val="95000"/>
              </a:lnSpc>
            </a:pPr>
            <a:r>
              <a:rPr sz="950" b="0" i="0">
                <a:solidFill>
                  <a:srgbClr val="595959"/>
                </a:solidFill>
                <a:latin typeface="Calibri"/>
              </a:rPr>
              <a:t>FVU at values of record (rigid: 4.49)</a:t>
            </a:r>
          </a:p>
        </p:txBody>
      </p:sp>
      <p:pic>
        <p:nvPicPr>
          <p:cNvPr id="13" name="Picture 12" descr="b_passthru.png"/>
          <p:cNvPicPr>
            <a:picLocks noChangeAspect="1"/>
          </p:cNvPicPr>
          <p:nvPr/>
        </p:nvPicPr>
        <p:blipFill>
          <a:blip r:embed="rId4"/>
          <a:stretch>
            <a:fillRect/>
          </a:stretch>
        </p:blipFill>
        <p:spPr>
          <a:xfrm>
            <a:off x="8723292" y="1783080"/>
            <a:ext cx="2075854" cy="2514600"/>
          </a:xfrm>
          <a:prstGeom prst="rect">
            <a:avLst/>
          </a:prstGeom>
        </p:spPr>
      </p:pic>
      <p:sp>
        <p:nvSpPr>
          <p:cNvPr id="14" name="TextBox 13"/>
          <p:cNvSpPr txBox="1"/>
          <p:nvPr/>
        </p:nvSpPr>
        <p:spPr>
          <a:xfrm>
            <a:off x="7818120" y="4370832"/>
            <a:ext cx="3886200" cy="502920"/>
          </a:xfrm>
          <a:prstGeom prst="rect">
            <a:avLst/>
          </a:prstGeom>
          <a:noFill/>
        </p:spPr>
        <p:txBody>
          <a:bodyPr wrap="square" anchor="t" lIns="0" rIns="0" tIns="0" bIns="0">
            <a:spAutoFit/>
          </a:bodyPr>
          <a:lstStyle/>
          <a:p>
            <a:pPr algn="l">
              <a:lnSpc>
                <a:spcPct val="105000"/>
              </a:lnSpc>
            </a:pPr>
            <a:r>
              <a:rPr sz="1050" b="0" i="1">
                <a:solidFill>
                  <a:srgbClr val="595959"/>
                </a:solidFill>
                <a:latin typeface="Calibri"/>
              </a:rPr>
              <a:t>the route passes between the femoral condyles near the ICR: an approximation with inherent error</a:t>
            </a:r>
          </a:p>
        </p:txBody>
      </p:sp>
      <p:sp>
        <p:nvSpPr>
          <p:cNvPr id="15" name="Rounded Rectangle 14"/>
          <p:cNvSpPr/>
          <p:nvPr/>
        </p:nvSpPr>
        <p:spPr>
          <a:xfrm>
            <a:off x="7818120" y="4956048"/>
            <a:ext cx="3886200" cy="146304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5084064"/>
            <a:ext cx="3474720" cy="1280160"/>
          </a:xfrm>
          <a:prstGeom prst="rect">
            <a:avLst/>
          </a:prstGeom>
          <a:noFill/>
        </p:spPr>
        <p:txBody>
          <a:bodyPr wrap="square" anchor="t" lIns="0" rIns="0" tIns="0" bIns="0">
            <a:spAutoFit/>
          </a:bodyPr>
          <a:lstStyle/>
          <a:p>
            <a:pPr algn="l">
              <a:lnSpc>
                <a:spcPct val="100000"/>
              </a:lnSpc>
              <a:spcAft>
                <a:spcPts val="300"/>
              </a:spcAft>
            </a:pPr>
            <a:r>
              <a:rPr sz="1100" b="1" i="0">
                <a:solidFill>
                  <a:srgbClr val="00796B"/>
                </a:solidFill>
                <a:latin typeface="Calibri"/>
              </a:rPr>
              <a:t>CLAIM CONTROL</a:t>
            </a:r>
          </a:p>
          <a:p>
            <a:pPr algn="l">
              <a:lnSpc>
                <a:spcPct val="110000"/>
              </a:lnSpc>
            </a:pPr>
            <a:r>
              <a:rPr sz="1250" b="0" i="0">
                <a:solidFill>
                  <a:srgbClr val="222222"/>
                </a:solidFill>
                <a:latin typeface="Calibri"/>
              </a:rPr>
              <a:t>Improvement is unambiguous; the corrected prediction still sits above the measured torque, so level validation is not claimed.</a:t>
            </a:r>
          </a:p>
        </p:txBody>
      </p:sp>
      <p:sp>
        <p:nvSpPr>
          <p:cNvPr id="17" name="TextBox 16"/>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ROUTE REDESIGN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χ values of record drive a redesign ladder: direct routes, a cam, then pulleys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follow-up identification and route redesign + redesigned-route results; solver: surrogateopt → patternsearch</a:t>
            </a:r>
          </a:p>
        </p:txBody>
      </p:sp>
      <p:sp>
        <p:nvSpPr>
          <p:cNvPr id="5" name="Rounded Rectangle 4"/>
          <p:cNvSpPr/>
          <p:nvPr/>
        </p:nvSpPr>
        <p:spPr>
          <a:xfrm>
            <a:off x="502920" y="1874519"/>
            <a:ext cx="2587752" cy="297180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300" b="0">
                <a:solidFill>
                  <a:srgbClr val="222222"/>
                </a:solidFill>
                <a:latin typeface="Calibri"/>
              </a:rPr>
              <a:t>1 · DIRECT ROUTES</a:t>
            </a:r>
          </a:p>
          <a:p>
            <a:pPr algn="ctr">
              <a:lnSpc>
                <a:spcPct val="95000"/>
              </a:lnSpc>
            </a:pPr>
            <a:r>
              <a:rPr sz="1300" b="0">
                <a:solidFill>
                  <a:srgbClr val="222222"/>
                </a:solidFill>
                <a:latin typeface="Calibri"/>
              </a:rPr>
              <a:t>two ⌀20 mm BPAs each</a:t>
            </a:r>
          </a:p>
          <a:p>
            <a:pPr algn="ctr">
              <a:lnSpc>
                <a:spcPct val="95000"/>
              </a:lnSpc>
            </a:pPr>
            <a:r>
              <a:rPr sz="1300" b="0">
                <a:solidFill>
                  <a:srgbClr val="222222"/>
                </a:solidFill>
                <a:latin typeface="Calibri"/>
              </a:rPr>
              <a:t/>
            </a:r>
          </a:p>
          <a:p>
            <a:pPr algn="ctr">
              <a:lnSpc>
                <a:spcPct val="95000"/>
              </a:lnSpc>
            </a:pPr>
            <a:r>
              <a:rPr sz="1300" b="0">
                <a:solidFill>
                  <a:srgbClr val="222222"/>
                </a:solidFill>
                <a:latin typeface="Calibri"/>
              </a:rPr>
              <a:t>flexor  +5.01% @ −107°</a:t>
            </a:r>
          </a:p>
          <a:p>
            <a:pPr algn="ctr">
              <a:lnSpc>
                <a:spcPct val="95000"/>
              </a:lnSpc>
            </a:pPr>
            <a:r>
              <a:rPr sz="1300" b="0">
                <a:solidFill>
                  <a:srgbClr val="222222"/>
                </a:solidFill>
                <a:latin typeface="Calibri"/>
              </a:rPr>
              <a:t>extensor  +5.02% @ −220.2°</a:t>
            </a:r>
          </a:p>
          <a:p>
            <a:pPr algn="ctr">
              <a:lnSpc>
                <a:spcPct val="95000"/>
              </a:lnSpc>
            </a:pPr>
            <a:r>
              <a:rPr sz="1300" b="0">
                <a:solidFill>
                  <a:srgbClr val="222222"/>
                </a:solidFill>
                <a:latin typeface="Calibri"/>
              </a:rPr>
              <a:t>superseded by cam</a:t>
            </a:r>
          </a:p>
        </p:txBody>
      </p:sp>
      <p:sp>
        <p:nvSpPr>
          <p:cNvPr id="6" name="Rounded Rectangle 5"/>
          <p:cNvSpPr/>
          <p:nvPr/>
        </p:nvSpPr>
        <p:spPr>
          <a:xfrm>
            <a:off x="3364991" y="1874519"/>
            <a:ext cx="2587752" cy="2971800"/>
          </a:xfrm>
          <a:prstGeom prst="roundRect">
            <a:avLst>
              <a:gd name="adj" fmla="val 12000"/>
            </a:avLst>
          </a:prstGeom>
          <a:solidFill>
            <a:srgbClr val="EFF3F1"/>
          </a:solidFill>
          <a:ln w="12700">
            <a:solidFill>
              <a:srgbClr val="0079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300" b="0">
                <a:solidFill>
                  <a:srgbClr val="222222"/>
                </a:solidFill>
                <a:latin typeface="Calibri"/>
              </a:rPr>
              <a:t>2 · CAM EXTENSOR</a:t>
            </a:r>
          </a:p>
          <a:p>
            <a:pPr algn="ctr">
              <a:lnSpc>
                <a:spcPct val="95000"/>
              </a:lnSpc>
            </a:pPr>
            <a:r>
              <a:rPr sz="1300" b="0">
                <a:solidFill>
                  <a:srgbClr val="222222"/>
                </a:solidFill>
                <a:latin typeface="Calibri"/>
              </a:rPr>
              <a:t>design of record</a:t>
            </a:r>
          </a:p>
          <a:p>
            <a:pPr algn="ctr">
              <a:lnSpc>
                <a:spcPct val="95000"/>
              </a:lnSpc>
            </a:pPr>
            <a:r>
              <a:rPr sz="1300" b="0">
                <a:solidFill>
                  <a:srgbClr val="222222"/>
                </a:solidFill>
                <a:latin typeface="Calibri"/>
              </a:rPr>
              <a:t/>
            </a:r>
          </a:p>
          <a:p>
            <a:pPr algn="ctr">
              <a:lnSpc>
                <a:spcPct val="95000"/>
              </a:lnSpc>
            </a:pPr>
            <a:r>
              <a:rPr sz="1300" b="0">
                <a:solidFill>
                  <a:srgbClr val="222222"/>
                </a:solidFill>
                <a:latin typeface="Calibri"/>
              </a:rPr>
              <a:t>+30.83% vs required envelope</a:t>
            </a:r>
          </a:p>
          <a:p>
            <a:pPr algn="ctr">
              <a:lnSpc>
                <a:spcPct val="95000"/>
              </a:lnSpc>
            </a:pPr>
            <a:r>
              <a:rPr sz="1300" b="0">
                <a:solidFill>
                  <a:srgbClr val="222222"/>
                </a:solidFill>
                <a:latin typeface="Calibri"/>
              </a:rPr>
              <a:t>+39.77% vs plain human</a:t>
            </a:r>
          </a:p>
          <a:p>
            <a:pPr algn="ctr">
              <a:lnSpc>
                <a:spcPct val="95000"/>
              </a:lnSpc>
            </a:pPr>
            <a:r>
              <a:rPr sz="1300" b="0">
                <a:solidFill>
                  <a:srgbClr val="222222"/>
                </a:solidFill>
                <a:latin typeface="Calibri"/>
              </a:rPr>
              <a:t>269–507 kPa to meet it</a:t>
            </a:r>
          </a:p>
        </p:txBody>
      </p:sp>
      <p:sp>
        <p:nvSpPr>
          <p:cNvPr id="7" name="Rounded Rectangle 6"/>
          <p:cNvSpPr/>
          <p:nvPr/>
        </p:nvSpPr>
        <p:spPr>
          <a:xfrm>
            <a:off x="6227064" y="1874519"/>
            <a:ext cx="2587752" cy="297180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300" b="0">
                <a:solidFill>
                  <a:srgbClr val="222222"/>
                </a:solidFill>
                <a:latin typeface="Calibri"/>
              </a:rPr>
              <a:t>3 · MONO-PULLEY</a:t>
            </a:r>
          </a:p>
          <a:p>
            <a:pPr algn="ctr">
              <a:lnSpc>
                <a:spcPct val="95000"/>
              </a:lnSpc>
            </a:pPr>
            <a:r>
              <a:rPr sz="1300" b="0">
                <a:solidFill>
                  <a:srgbClr val="222222"/>
                </a:solidFill>
                <a:latin typeface="Calibri"/>
              </a:rPr>
              <a:t>knee flexor · 1:1 tackle</a:t>
            </a:r>
          </a:p>
          <a:p>
            <a:pPr algn="ctr">
              <a:lnSpc>
                <a:spcPct val="95000"/>
              </a:lnSpc>
            </a:pPr>
            <a:r>
              <a:rPr sz="1300" b="0">
                <a:solidFill>
                  <a:srgbClr val="222222"/>
                </a:solidFill>
                <a:latin typeface="Calibri"/>
              </a:rPr>
              <a:t/>
            </a:r>
          </a:p>
          <a:p>
            <a:pPr algn="ctr">
              <a:lnSpc>
                <a:spcPct val="95000"/>
              </a:lnSpc>
            </a:pPr>
            <a:r>
              <a:rPr sz="1300" b="0">
                <a:solidFill>
                  <a:srgbClr val="222222"/>
                </a:solidFill>
                <a:latin typeface="Calibri"/>
              </a:rPr>
              <a:t>peak 81.23 → 85.74 N·m</a:t>
            </a:r>
          </a:p>
          <a:p>
            <a:pPr algn="ctr">
              <a:lnSpc>
                <a:spcPct val="95000"/>
              </a:lnSpc>
            </a:pPr>
            <a:r>
              <a:rPr sz="1300" b="0">
                <a:solidFill>
                  <a:srgbClr val="222222"/>
                </a:solidFill>
                <a:latin typeface="Calibri"/>
              </a:rPr>
              <a:t>+4.51 N·m (+5.6%)</a:t>
            </a:r>
          </a:p>
          <a:p>
            <a:pPr algn="ctr">
              <a:lnSpc>
                <a:spcPct val="95000"/>
              </a:lnSpc>
            </a:pPr>
            <a:r>
              <a:rPr sz="1300" b="0">
                <a:solidFill>
                  <a:srgbClr val="222222"/>
                </a:solidFill>
                <a:latin typeface="Calibri"/>
              </a:rPr>
              <a:t>no mechanical advantage</a:t>
            </a:r>
          </a:p>
        </p:txBody>
      </p:sp>
      <p:sp>
        <p:nvSpPr>
          <p:cNvPr id="8" name="Rounded Rectangle 7"/>
          <p:cNvSpPr/>
          <p:nvPr/>
        </p:nvSpPr>
        <p:spPr>
          <a:xfrm>
            <a:off x="9089136" y="1874519"/>
            <a:ext cx="2587752" cy="2971800"/>
          </a:xfrm>
          <a:prstGeom prst="roundRect">
            <a:avLst>
              <a:gd name="adj" fmla="val 12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300" b="0">
                <a:solidFill>
                  <a:srgbClr val="222222"/>
                </a:solidFill>
                <a:latin typeface="Calibri"/>
              </a:rPr>
              <a:t>4 · BI-PULLEY SCREEN</a:t>
            </a:r>
          </a:p>
          <a:p>
            <a:pPr algn="ctr">
              <a:lnSpc>
                <a:spcPct val="95000"/>
              </a:lnSpc>
            </a:pPr>
            <a:r>
              <a:rPr sz="1300" b="0">
                <a:solidFill>
                  <a:srgbClr val="222222"/>
                </a:solidFill>
                <a:latin typeface="Calibri"/>
              </a:rPr>
              <a:t>five anatomical sites</a:t>
            </a:r>
          </a:p>
          <a:p>
            <a:pPr algn="ctr">
              <a:lnSpc>
                <a:spcPct val="95000"/>
              </a:lnSpc>
            </a:pPr>
            <a:r>
              <a:rPr sz="1300" b="0">
                <a:solidFill>
                  <a:srgbClr val="222222"/>
                </a:solidFill>
                <a:latin typeface="Calibri"/>
              </a:rPr>
              <a:t/>
            </a:r>
          </a:p>
          <a:p>
            <a:pPr algn="ctr">
              <a:lnSpc>
                <a:spcPct val="95000"/>
              </a:lnSpc>
            </a:pPr>
            <a:r>
              <a:rPr sz="1300" b="0">
                <a:solidFill>
                  <a:srgbClr val="222222"/>
                </a:solidFill>
                <a:latin typeface="Calibri"/>
              </a:rPr>
              <a:t>all five rejected</a:t>
            </a:r>
          </a:p>
          <a:p>
            <a:pPr algn="ctr">
              <a:lnSpc>
                <a:spcPct val="95000"/>
              </a:lnSpc>
            </a:pPr>
            <a:r>
              <a:rPr sz="1300" b="0">
                <a:solidFill>
                  <a:srgbClr val="222222"/>
                </a:solidFill>
                <a:latin typeface="Calibri"/>
              </a:rPr>
              <a:t>clearances 4.26–19.14 mm</a:t>
            </a:r>
          </a:p>
          <a:p>
            <a:pPr algn="ctr">
              <a:lnSpc>
                <a:spcPct val="95000"/>
              </a:lnSpc>
            </a:pPr>
            <a:r>
              <a:rPr sz="1300" b="0">
                <a:solidFill>
                  <a:srgbClr val="222222"/>
                </a:solidFill>
                <a:latin typeface="Calibri"/>
              </a:rPr>
              <a:t>vs 25 mm required</a:t>
            </a:r>
          </a:p>
        </p:txBody>
      </p:sp>
      <p:cxnSp>
        <p:nvCxnSpPr>
          <p:cNvPr id="9" name="Connector 8"/>
          <p:cNvCxnSpPr/>
          <p:nvPr/>
        </p:nvCxnSpPr>
        <p:spPr>
          <a:xfrm>
            <a:off x="3118103" y="3360420"/>
            <a:ext cx="219457"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80176" y="3360420"/>
            <a:ext cx="219455"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42248" y="3360420"/>
            <a:ext cx="219456"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5230368"/>
            <a:ext cx="11183112" cy="621792"/>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394960"/>
            <a:ext cx="1060704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targets: vastus medialis (extensor) · biceps femoris short head (flexor) · required envelope = human curve + 5%</a:t>
            </a:r>
          </a:p>
        </p:txBody>
      </p:sp>
      <p:sp>
        <p:nvSpPr>
          <p:cNvPr id="14" name="TextBox 13"/>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ROUTE REDESIGN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cam extensor is the design of record: +30.83% margin with hardware-safe geometry</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redesigned-route results (cam paragraph); figure: Mesh_Optimization\Results\Vas_Pam_20mm_cam_winner_4.png (print-QC pass)</a:t>
            </a:r>
          </a:p>
        </p:txBody>
      </p:sp>
      <p:pic>
        <p:nvPicPr>
          <p:cNvPr id="5" name="Picture 4" descr="b_cam_moment_arm.png"/>
          <p:cNvPicPr>
            <a:picLocks noChangeAspect="1"/>
          </p:cNvPicPr>
          <p:nvPr/>
        </p:nvPicPr>
        <p:blipFill>
          <a:blip r:embed="rId3"/>
          <a:stretch>
            <a:fillRect/>
          </a:stretch>
        </p:blipFill>
        <p:spPr>
          <a:xfrm>
            <a:off x="646047" y="1737360"/>
            <a:ext cx="5337305" cy="3566160"/>
          </a:xfrm>
          <a:prstGeom prst="rect">
            <a:avLst/>
          </a:prstGeom>
        </p:spPr>
      </p:pic>
      <p:sp>
        <p:nvSpPr>
          <p:cNvPr id="6" name="TextBox 5"/>
          <p:cNvSpPr txBox="1"/>
          <p:nvPr/>
        </p:nvSpPr>
        <p:spPr>
          <a:xfrm>
            <a:off x="502920" y="5349240"/>
            <a:ext cx="5623560" cy="320040"/>
          </a:xfrm>
          <a:prstGeom prst="rect">
            <a:avLst/>
          </a:prstGeom>
          <a:noFill/>
        </p:spPr>
        <p:txBody>
          <a:bodyPr wrap="square" anchor="t" lIns="0" rIns="0" tIns="0" bIns="0">
            <a:spAutoFit/>
          </a:bodyPr>
          <a:lstStyle/>
          <a:p>
            <a:pPr algn="ctr">
              <a:lnSpc>
                <a:spcPct val="100000"/>
              </a:lnSpc>
            </a:pPr>
            <a:r>
              <a:rPr sz="1150" b="0" i="1">
                <a:solidFill>
                  <a:srgbClr val="7F7F7F"/>
                </a:solidFill>
                <a:latin typeface="Calibri"/>
              </a:rPr>
              <a:t>extensor cam, design of record: moment arm vs knee angle</a:t>
            </a:r>
          </a:p>
        </p:txBody>
      </p:sp>
      <p:sp>
        <p:nvSpPr>
          <p:cNvPr id="7" name="TextBox 6"/>
          <p:cNvSpPr txBox="1"/>
          <p:nvPr/>
        </p:nvSpPr>
        <p:spPr>
          <a:xfrm>
            <a:off x="6400800" y="1783080"/>
            <a:ext cx="256032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38761D"/>
                </a:solidFill>
                <a:latin typeface="Calibri"/>
              </a:rPr>
              <a:t>+30.83%</a:t>
            </a:r>
          </a:p>
          <a:p>
            <a:pPr algn="ctr">
              <a:lnSpc>
                <a:spcPct val="95000"/>
              </a:lnSpc>
            </a:pPr>
            <a:r>
              <a:rPr sz="1100" b="0" i="0">
                <a:solidFill>
                  <a:srgbClr val="595959"/>
                </a:solidFill>
                <a:latin typeface="Calibri"/>
              </a:rPr>
              <a:t>margin vs required envelope (human + 5%)</a:t>
            </a:r>
          </a:p>
        </p:txBody>
      </p:sp>
      <p:sp>
        <p:nvSpPr>
          <p:cNvPr id="8" name="TextBox 7"/>
          <p:cNvSpPr txBox="1"/>
          <p:nvPr/>
        </p:nvSpPr>
        <p:spPr>
          <a:xfrm>
            <a:off x="9144000" y="1783080"/>
            <a:ext cx="256032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38761D"/>
                </a:solidFill>
                <a:latin typeface="Calibri"/>
              </a:rPr>
              <a:t>+39.77%</a:t>
            </a:r>
          </a:p>
          <a:p>
            <a:pPr algn="ctr">
              <a:lnSpc>
                <a:spcPct val="95000"/>
              </a:lnSpc>
            </a:pPr>
            <a:r>
              <a:rPr sz="1100" b="0" i="0">
                <a:solidFill>
                  <a:srgbClr val="595959"/>
                </a:solidFill>
                <a:latin typeface="Calibri"/>
              </a:rPr>
              <a:t>margin vs plain human target</a:t>
            </a:r>
          </a:p>
        </p:txBody>
      </p:sp>
      <p:sp>
        <p:nvSpPr>
          <p:cNvPr id="9" name="TextBox 8"/>
          <p:cNvSpPr txBox="1"/>
          <p:nvPr/>
        </p:nvSpPr>
        <p:spPr>
          <a:xfrm>
            <a:off x="6400800" y="2880360"/>
            <a:ext cx="2560320" cy="1463040"/>
          </a:xfrm>
          <a:prstGeom prst="rect">
            <a:avLst/>
          </a:prstGeom>
          <a:noFill/>
        </p:spPr>
        <p:txBody>
          <a:bodyPr wrap="square" anchor="t" lIns="0" rIns="0" tIns="0" bIns="0">
            <a:spAutoFit/>
          </a:bodyPr>
          <a:lstStyle/>
          <a:p>
            <a:pPr algn="ctr">
              <a:lnSpc>
                <a:spcPct val="100000"/>
              </a:lnSpc>
              <a:spcAft>
                <a:spcPts val="200"/>
              </a:spcAft>
            </a:pPr>
            <a:r>
              <a:rPr sz="2400" b="1" i="0">
                <a:solidFill>
                  <a:srgbClr val="00796B"/>
                </a:solidFill>
                <a:latin typeface="Calibri"/>
              </a:rPr>
              <a:t>269–507 kPa</a:t>
            </a:r>
          </a:p>
          <a:p>
            <a:pPr algn="ctr">
              <a:lnSpc>
                <a:spcPct val="95000"/>
              </a:lnSpc>
            </a:pPr>
            <a:r>
              <a:rPr sz="1100" b="0" i="0">
                <a:solidFill>
                  <a:srgbClr val="595959"/>
                </a:solidFill>
                <a:latin typeface="Calibri"/>
              </a:rPr>
              <a:t>pressure to meet envelope (VTUG floor 150 kPa)</a:t>
            </a:r>
          </a:p>
        </p:txBody>
      </p:sp>
      <p:sp>
        <p:nvSpPr>
          <p:cNvPr id="10" name="TextBox 9"/>
          <p:cNvSpPr txBox="1"/>
          <p:nvPr/>
        </p:nvSpPr>
        <p:spPr>
          <a:xfrm>
            <a:off x="9144000" y="2880360"/>
            <a:ext cx="256032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AF7B51"/>
                </a:solidFill>
                <a:latin typeface="Calibri"/>
              </a:rPr>
              <a:t>96.9 mm</a:t>
            </a:r>
          </a:p>
          <a:p>
            <a:pPr algn="ctr">
              <a:lnSpc>
                <a:spcPct val="95000"/>
              </a:lnSpc>
            </a:pPr>
            <a:r>
              <a:rPr sz="1100" b="0" i="0">
                <a:solidFill>
                  <a:srgbClr val="595959"/>
                </a:solidFill>
                <a:latin typeface="Calibri"/>
              </a:rPr>
              <a:t>tibial-wrap bend radius</a:t>
            </a:r>
          </a:p>
        </p:txBody>
      </p:sp>
      <p:sp>
        <p:nvSpPr>
          <p:cNvPr id="11" name="TextBox 10"/>
          <p:cNvSpPr txBox="1"/>
          <p:nvPr/>
        </p:nvSpPr>
        <p:spPr>
          <a:xfrm>
            <a:off x="6400800" y="3977639"/>
            <a:ext cx="256032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AF7B51"/>
                </a:solidFill>
                <a:latin typeface="Calibri"/>
              </a:rPr>
              <a:t>43.1 mm</a:t>
            </a:r>
          </a:p>
          <a:p>
            <a:pPr algn="ctr">
              <a:lnSpc>
                <a:spcPct val="95000"/>
              </a:lnSpc>
            </a:pPr>
            <a:r>
              <a:rPr sz="1100" b="0" i="0">
                <a:solidFill>
                  <a:srgbClr val="595959"/>
                </a:solidFill>
                <a:latin typeface="Calibri"/>
              </a:rPr>
              <a:t>condyle clearance at 10° extension</a:t>
            </a:r>
          </a:p>
        </p:txBody>
      </p:sp>
      <p:sp>
        <p:nvSpPr>
          <p:cNvPr id="12" name="TextBox 11"/>
          <p:cNvSpPr txBox="1"/>
          <p:nvPr/>
        </p:nvSpPr>
        <p:spPr>
          <a:xfrm>
            <a:off x="9144000" y="3977639"/>
            <a:ext cx="256032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AF7B51"/>
                </a:solidFill>
                <a:latin typeface="Calibri"/>
              </a:rPr>
              <a:t>72.4 mm</a:t>
            </a:r>
          </a:p>
          <a:p>
            <a:pPr algn="ctr">
              <a:lnSpc>
                <a:spcPct val="95000"/>
              </a:lnSpc>
            </a:pPr>
            <a:r>
              <a:rPr sz="1100" b="0" i="0">
                <a:solidFill>
                  <a:srgbClr val="595959"/>
                </a:solidFill>
                <a:latin typeface="Calibri"/>
              </a:rPr>
              <a:t>mean moment arm (span 59.4–102.8 mm)</a:t>
            </a:r>
          </a:p>
        </p:txBody>
      </p:sp>
      <p:sp>
        <p:nvSpPr>
          <p:cNvPr id="13" name="Rounded Rectangle 12"/>
          <p:cNvSpPr/>
          <p:nvPr/>
        </p:nvSpPr>
        <p:spPr>
          <a:xfrm>
            <a:off x="502920" y="5760720"/>
            <a:ext cx="11183112" cy="7315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852160"/>
            <a:ext cx="10607040" cy="594360"/>
          </a:xfrm>
          <a:prstGeom prst="rect">
            <a:avLst/>
          </a:prstGeom>
          <a:noFill/>
        </p:spPr>
        <p:txBody>
          <a:bodyPr wrap="square" anchor="t" lIns="0" rIns="0" tIns="0" bIns="0">
            <a:spAutoFit/>
          </a:bodyPr>
          <a:lstStyle/>
          <a:p>
            <a:pPr algn="l">
              <a:lnSpc>
                <a:spcPct val="100000"/>
              </a:lnSpc>
              <a:spcAft>
                <a:spcPts val="200"/>
              </a:spcAft>
            </a:pPr>
            <a:r>
              <a:rPr sz="1100" b="1" i="0">
                <a:solidFill>
                  <a:srgbClr val="00796B"/>
                </a:solidFill>
                <a:latin typeface="Calibri"/>
              </a:rPr>
              <a:t>HARDWARE BEGUN · rebuilt ⌀20 mm extensor route</a:t>
            </a:r>
          </a:p>
          <a:p>
            <a:pPr algn="l">
              <a:lnSpc>
                <a:spcPct val="100000"/>
              </a:lnSpc>
            </a:pPr>
            <a:r>
              <a:rPr sz="1150" b="0" i="0">
                <a:solidFill>
                  <a:srgbClr val="222222"/>
                </a:solidFill>
                <a:latin typeface="Calibri"/>
              </a:rPr>
              <a:t>first isometric points: 1.163 / 7.849 / 23.437 N·m at 10° / 11° / 10°, hung loads 3.7 / 25.2 / 76 N at 388.5 / 388 / 592 kPa; full sweep pending</a:t>
            </a:r>
          </a:p>
        </p:txBody>
      </p:sp>
      <p:sp>
        <p:nvSpPr>
          <p:cNvPr id="15" name="TextBox 14"/>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4 · ROUTE REDESIGN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Pulleys buy reach at the knee, and screen the anatomy: geometry binds, not torque</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mono- and bi-pulley tendon routing + Table bipulley_batch</a:t>
            </a:r>
          </a:p>
        </p:txBody>
      </p:sp>
      <p:sp>
        <p:nvSpPr>
          <p:cNvPr id="5" name="Rounded Rectangle 4"/>
          <p:cNvSpPr/>
          <p:nvPr/>
        </p:nvSpPr>
        <p:spPr>
          <a:xfrm>
            <a:off x="502920" y="1783080"/>
            <a:ext cx="5394960" cy="452628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956816"/>
            <a:ext cx="5394960" cy="292608"/>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MONO-PULLEY · KNEE FLEXOR</a:t>
            </a:r>
          </a:p>
        </p:txBody>
      </p:sp>
      <p:sp>
        <p:nvSpPr>
          <p:cNvPr id="7" name="TextBox 6"/>
          <p:cNvSpPr txBox="1"/>
          <p:nvPr/>
        </p:nvSpPr>
        <p:spPr>
          <a:xfrm>
            <a:off x="502920" y="2377440"/>
            <a:ext cx="5394960" cy="1463040"/>
          </a:xfrm>
          <a:prstGeom prst="rect">
            <a:avLst/>
          </a:prstGeom>
          <a:noFill/>
        </p:spPr>
        <p:txBody>
          <a:bodyPr wrap="square" anchor="t" lIns="0" rIns="0" tIns="0" bIns="0">
            <a:spAutoFit/>
          </a:bodyPr>
          <a:lstStyle/>
          <a:p>
            <a:pPr algn="ctr">
              <a:lnSpc>
                <a:spcPct val="100000"/>
              </a:lnSpc>
              <a:spcAft>
                <a:spcPts val="200"/>
              </a:spcAft>
            </a:pPr>
            <a:r>
              <a:rPr sz="3000" b="1" i="0">
                <a:solidFill>
                  <a:srgbClr val="38761D"/>
                </a:solidFill>
                <a:latin typeface="Calibri"/>
              </a:rPr>
              <a:t>81.23 → 85.74 N·m</a:t>
            </a:r>
          </a:p>
          <a:p>
            <a:pPr algn="ctr">
              <a:lnSpc>
                <a:spcPct val="95000"/>
              </a:lnSpc>
            </a:pPr>
            <a:r>
              <a:rPr sz="1200" b="0" i="0">
                <a:solidFill>
                  <a:srgbClr val="595959"/>
                </a:solidFill>
                <a:latin typeface="Calibri"/>
              </a:rPr>
              <a:t>peak knee-axis flexion torque</a:t>
            </a:r>
          </a:p>
        </p:txBody>
      </p:sp>
      <p:sp>
        <p:nvSpPr>
          <p:cNvPr id="8" name="TextBox 7"/>
          <p:cNvSpPr txBox="1"/>
          <p:nvPr/>
        </p:nvSpPr>
        <p:spPr>
          <a:xfrm>
            <a:off x="502920" y="3456432"/>
            <a:ext cx="539496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AF7B51"/>
                </a:solidFill>
                <a:latin typeface="Calibri"/>
              </a:rPr>
              <a:t>+4.51 N·m (+5.6%)</a:t>
            </a:r>
          </a:p>
          <a:p>
            <a:pPr algn="ctr">
              <a:lnSpc>
                <a:spcPct val="95000"/>
              </a:lnSpc>
            </a:pPr>
            <a:r>
              <a:rPr sz="1200" b="0" i="0">
                <a:solidFill>
                  <a:srgbClr val="595959"/>
                </a:solidFill>
                <a:latin typeface="Calibri"/>
              </a:rPr>
              <a:t>from the redirect alone</a:t>
            </a:r>
          </a:p>
        </p:txBody>
      </p:sp>
      <p:sp>
        <p:nvSpPr>
          <p:cNvPr id="9" name="TextBox 8"/>
          <p:cNvSpPr txBox="1"/>
          <p:nvPr/>
        </p:nvSpPr>
        <p:spPr>
          <a:xfrm>
            <a:off x="502920" y="4443984"/>
            <a:ext cx="539496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AF7B51"/>
                </a:solidFill>
                <a:latin typeface="Calibri"/>
              </a:rPr>
              <a:t>≤ 0.803 N·m</a:t>
            </a:r>
          </a:p>
          <a:p>
            <a:pPr algn="ctr">
              <a:lnSpc>
                <a:spcPct val="95000"/>
              </a:lnSpc>
            </a:pPr>
            <a:r>
              <a:rPr sz="1200" b="0" i="0">
                <a:solidFill>
                  <a:srgbClr val="595959"/>
                </a:solidFill>
                <a:latin typeface="Calibri"/>
              </a:rPr>
              <a:t>off-axis · under 1% of peak</a:t>
            </a:r>
          </a:p>
        </p:txBody>
      </p:sp>
      <p:sp>
        <p:nvSpPr>
          <p:cNvPr id="10" name="TextBox 9"/>
          <p:cNvSpPr txBox="1"/>
          <p:nvPr/>
        </p:nvSpPr>
        <p:spPr>
          <a:xfrm>
            <a:off x="502920" y="5431536"/>
            <a:ext cx="5394960" cy="1463040"/>
          </a:xfrm>
          <a:prstGeom prst="rect">
            <a:avLst/>
          </a:prstGeom>
          <a:noFill/>
        </p:spPr>
        <p:txBody>
          <a:bodyPr wrap="square" anchor="t" lIns="0" rIns="0" tIns="0" bIns="0">
            <a:spAutoFit/>
          </a:bodyPr>
          <a:lstStyle/>
          <a:p>
            <a:pPr algn="ctr">
              <a:lnSpc>
                <a:spcPct val="100000"/>
              </a:lnSpc>
              <a:spcAft>
                <a:spcPts val="200"/>
              </a:spcAft>
            </a:pPr>
            <a:r>
              <a:rPr sz="2600" b="1" i="0">
                <a:solidFill>
                  <a:srgbClr val="2E5A88"/>
                </a:solidFill>
                <a:latin typeface="Calibri"/>
              </a:rPr>
              <a:t>×3.51 / ×3.70</a:t>
            </a:r>
          </a:p>
          <a:p>
            <a:pPr algn="ctr">
              <a:lnSpc>
                <a:spcPct val="95000"/>
              </a:lnSpc>
            </a:pPr>
            <a:r>
              <a:rPr sz="1200" b="0" i="0">
                <a:solidFill>
                  <a:srgbClr val="595959"/>
                </a:solidFill>
                <a:latin typeface="Calibri"/>
              </a:rPr>
              <a:t>human flexor scale 23.16 N·m · direct / pulley</a:t>
            </a:r>
          </a:p>
        </p:txBody>
      </p:sp>
      <p:sp>
        <p:nvSpPr>
          <p:cNvPr id="11" name="TextBox 10"/>
          <p:cNvSpPr txBox="1"/>
          <p:nvPr/>
        </p:nvSpPr>
        <p:spPr>
          <a:xfrm>
            <a:off x="6263640" y="1828800"/>
            <a:ext cx="5486400" cy="32004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BI-PULLEY SCREEN · FIVE OPENSIM MUSCLE SITES</a:t>
            </a:r>
          </a:p>
        </p:txBody>
      </p:sp>
      <p:sp>
        <p:nvSpPr>
          <p:cNvPr id="12" name="TextBox 11"/>
          <p:cNvSpPr txBox="1"/>
          <p:nvPr/>
        </p:nvSpPr>
        <p:spPr>
          <a:xfrm>
            <a:off x="6263640" y="2240280"/>
            <a:ext cx="2331720" cy="320040"/>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Muscle site</a:t>
            </a:r>
          </a:p>
        </p:txBody>
      </p:sp>
      <p:sp>
        <p:nvSpPr>
          <p:cNvPr id="13" name="TextBox 12"/>
          <p:cNvSpPr txBox="1"/>
          <p:nvPr/>
        </p:nvSpPr>
        <p:spPr>
          <a:xfrm>
            <a:off x="8595359" y="2240280"/>
            <a:ext cx="1051560" cy="320040"/>
          </a:xfrm>
          <a:prstGeom prst="rect">
            <a:avLst/>
          </a:prstGeom>
          <a:noFill/>
        </p:spPr>
        <p:txBody>
          <a:bodyPr wrap="square" anchor="t" lIns="0" rIns="0" tIns="0" bIns="0">
            <a:spAutoFit/>
          </a:bodyPr>
          <a:lstStyle/>
          <a:p>
            <a:pPr algn="ctr">
              <a:lnSpc>
                <a:spcPct val="100000"/>
              </a:lnSpc>
            </a:pPr>
            <a:r>
              <a:rPr sz="1150" b="1" i="0">
                <a:solidFill>
                  <a:srgbClr val="00796B"/>
                </a:solidFill>
                <a:latin typeface="Calibri"/>
              </a:rPr>
              <a:t>Objective</a:t>
            </a:r>
          </a:p>
        </p:txBody>
      </p:sp>
      <p:sp>
        <p:nvSpPr>
          <p:cNvPr id="14" name="TextBox 13"/>
          <p:cNvSpPr txBox="1"/>
          <p:nvPr/>
        </p:nvSpPr>
        <p:spPr>
          <a:xfrm>
            <a:off x="9646919" y="2240280"/>
            <a:ext cx="2103120" cy="320040"/>
          </a:xfrm>
          <a:prstGeom prst="rect">
            <a:avLst/>
          </a:prstGeom>
          <a:noFill/>
        </p:spPr>
        <p:txBody>
          <a:bodyPr wrap="square" anchor="t" lIns="0" rIns="0" tIns="0" bIns="0">
            <a:spAutoFit/>
          </a:bodyPr>
          <a:lstStyle/>
          <a:p>
            <a:pPr algn="ctr">
              <a:lnSpc>
                <a:spcPct val="100000"/>
              </a:lnSpc>
            </a:pPr>
            <a:r>
              <a:rPr sz="1150" b="1" i="0">
                <a:solidFill>
                  <a:srgbClr val="00796B"/>
                </a:solidFill>
                <a:latin typeface="Calibri"/>
              </a:rPr>
              <a:t>Outcome</a:t>
            </a:r>
          </a:p>
        </p:txBody>
      </p:sp>
      <p:sp>
        <p:nvSpPr>
          <p:cNvPr id="15" name="TextBox 14"/>
          <p:cNvSpPr txBox="1"/>
          <p:nvPr/>
        </p:nvSpPr>
        <p:spPr>
          <a:xfrm>
            <a:off x="6263640" y="2606040"/>
            <a:ext cx="2331720" cy="32004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soleus</a:t>
            </a:r>
          </a:p>
        </p:txBody>
      </p:sp>
      <p:sp>
        <p:nvSpPr>
          <p:cNvPr id="16" name="TextBox 15"/>
          <p:cNvSpPr txBox="1"/>
          <p:nvPr/>
        </p:nvSpPr>
        <p:spPr>
          <a:xfrm>
            <a:off x="8595359" y="2606040"/>
            <a:ext cx="1051560" cy="320040"/>
          </a:xfrm>
          <a:prstGeom prst="rect">
            <a:avLst/>
          </a:prstGeom>
          <a:noFill/>
        </p:spPr>
        <p:txBody>
          <a:bodyPr wrap="square" anchor="t" lIns="0" rIns="0" tIns="0" bIns="0">
            <a:spAutoFit/>
          </a:bodyPr>
          <a:lstStyle/>
          <a:p>
            <a:pPr algn="ctr">
              <a:lnSpc>
                <a:spcPct val="100000"/>
              </a:lnSpc>
            </a:pPr>
            <a:r>
              <a:rPr sz="1250" b="1" i="0">
                <a:solidFill>
                  <a:srgbClr val="222222"/>
                </a:solidFill>
                <a:latin typeface="Calibri"/>
              </a:rPr>
              <a:t>0.997</a:t>
            </a:r>
          </a:p>
        </p:txBody>
      </p:sp>
      <p:sp>
        <p:nvSpPr>
          <p:cNvPr id="17" name="TextBox 16"/>
          <p:cNvSpPr txBox="1"/>
          <p:nvPr/>
        </p:nvSpPr>
        <p:spPr>
          <a:xfrm>
            <a:off x="9646919" y="2606040"/>
            <a:ext cx="2103120" cy="32004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nonpositive margin</a:t>
            </a:r>
          </a:p>
        </p:txBody>
      </p:sp>
      <p:sp>
        <p:nvSpPr>
          <p:cNvPr id="18" name="TextBox 17"/>
          <p:cNvSpPr txBox="1"/>
          <p:nvPr/>
        </p:nvSpPr>
        <p:spPr>
          <a:xfrm>
            <a:off x="6263640" y="2990088"/>
            <a:ext cx="2331720" cy="32004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tibialis anterior</a:t>
            </a:r>
          </a:p>
        </p:txBody>
      </p:sp>
      <p:sp>
        <p:nvSpPr>
          <p:cNvPr id="19" name="TextBox 18"/>
          <p:cNvSpPr txBox="1"/>
          <p:nvPr/>
        </p:nvSpPr>
        <p:spPr>
          <a:xfrm>
            <a:off x="8595359" y="2990088"/>
            <a:ext cx="1051560" cy="320040"/>
          </a:xfrm>
          <a:prstGeom prst="rect">
            <a:avLst/>
          </a:prstGeom>
          <a:noFill/>
        </p:spPr>
        <p:txBody>
          <a:bodyPr wrap="square" anchor="t" lIns="0" rIns="0" tIns="0" bIns="0">
            <a:spAutoFit/>
          </a:bodyPr>
          <a:lstStyle/>
          <a:p>
            <a:pPr algn="ctr">
              <a:lnSpc>
                <a:spcPct val="100000"/>
              </a:lnSpc>
            </a:pPr>
            <a:r>
              <a:rPr sz="1250" b="1" i="0">
                <a:solidFill>
                  <a:srgbClr val="222222"/>
                </a:solidFill>
                <a:latin typeface="Calibri"/>
              </a:rPr>
              <a:t>0.929</a:t>
            </a:r>
          </a:p>
        </p:txBody>
      </p:sp>
      <p:sp>
        <p:nvSpPr>
          <p:cNvPr id="20" name="TextBox 19"/>
          <p:cNvSpPr txBox="1"/>
          <p:nvPr/>
        </p:nvSpPr>
        <p:spPr>
          <a:xfrm>
            <a:off x="9646919" y="2990088"/>
            <a:ext cx="2103120" cy="32004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nonpositive margin</a:t>
            </a:r>
          </a:p>
        </p:txBody>
      </p:sp>
      <p:sp>
        <p:nvSpPr>
          <p:cNvPr id="21" name="TextBox 20"/>
          <p:cNvSpPr txBox="1"/>
          <p:nvPr/>
        </p:nvSpPr>
        <p:spPr>
          <a:xfrm>
            <a:off x="6263640" y="3374136"/>
            <a:ext cx="2331720" cy="32004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rectus femoris</a:t>
            </a:r>
          </a:p>
        </p:txBody>
      </p:sp>
      <p:sp>
        <p:nvSpPr>
          <p:cNvPr id="22" name="TextBox 21"/>
          <p:cNvSpPr txBox="1"/>
          <p:nvPr/>
        </p:nvSpPr>
        <p:spPr>
          <a:xfrm>
            <a:off x="8595359" y="3374136"/>
            <a:ext cx="1051560" cy="320040"/>
          </a:xfrm>
          <a:prstGeom prst="rect">
            <a:avLst/>
          </a:prstGeom>
          <a:noFill/>
        </p:spPr>
        <p:txBody>
          <a:bodyPr wrap="square" anchor="t" lIns="0" rIns="0" tIns="0" bIns="0">
            <a:spAutoFit/>
          </a:bodyPr>
          <a:lstStyle/>
          <a:p>
            <a:pPr algn="ctr">
              <a:lnSpc>
                <a:spcPct val="100000"/>
              </a:lnSpc>
            </a:pPr>
            <a:r>
              <a:rPr sz="1250" b="1" i="0">
                <a:solidFill>
                  <a:srgbClr val="222222"/>
                </a:solidFill>
                <a:latin typeface="Calibri"/>
              </a:rPr>
              <a:t>3.42</a:t>
            </a:r>
          </a:p>
        </p:txBody>
      </p:sp>
      <p:sp>
        <p:nvSpPr>
          <p:cNvPr id="23" name="TextBox 22"/>
          <p:cNvSpPr txBox="1"/>
          <p:nvPr/>
        </p:nvSpPr>
        <p:spPr>
          <a:xfrm>
            <a:off x="9646919" y="3374136"/>
            <a:ext cx="2103120" cy="32004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worst constraint 0.242</a:t>
            </a:r>
          </a:p>
        </p:txBody>
      </p:sp>
      <p:sp>
        <p:nvSpPr>
          <p:cNvPr id="24" name="TextBox 23"/>
          <p:cNvSpPr txBox="1"/>
          <p:nvPr/>
        </p:nvSpPr>
        <p:spPr>
          <a:xfrm>
            <a:off x="6263640" y="3758184"/>
            <a:ext cx="2331720" cy="32004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medial gastrocnemius</a:t>
            </a:r>
          </a:p>
        </p:txBody>
      </p:sp>
      <p:sp>
        <p:nvSpPr>
          <p:cNvPr id="25" name="TextBox 24"/>
          <p:cNvSpPr txBox="1"/>
          <p:nvPr/>
        </p:nvSpPr>
        <p:spPr>
          <a:xfrm>
            <a:off x="8595359" y="3758184"/>
            <a:ext cx="1051560" cy="320040"/>
          </a:xfrm>
          <a:prstGeom prst="rect">
            <a:avLst/>
          </a:prstGeom>
          <a:noFill/>
        </p:spPr>
        <p:txBody>
          <a:bodyPr wrap="square" anchor="t" lIns="0" rIns="0" tIns="0" bIns="0">
            <a:spAutoFit/>
          </a:bodyPr>
          <a:lstStyle/>
          <a:p>
            <a:pPr algn="ctr">
              <a:lnSpc>
                <a:spcPct val="100000"/>
              </a:lnSpc>
            </a:pPr>
            <a:r>
              <a:rPr sz="1250" b="1" i="0">
                <a:solidFill>
                  <a:srgbClr val="222222"/>
                </a:solidFill>
                <a:latin typeface="Calibri"/>
              </a:rPr>
              <a:t>101*</a:t>
            </a:r>
          </a:p>
        </p:txBody>
      </p:sp>
      <p:sp>
        <p:nvSpPr>
          <p:cNvPr id="26" name="TextBox 25"/>
          <p:cNvSpPr txBox="1"/>
          <p:nvPr/>
        </p:nvSpPr>
        <p:spPr>
          <a:xfrm>
            <a:off x="9646919" y="3758184"/>
            <a:ext cx="2103120" cy="32004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sentinel · exit flag −2</a:t>
            </a:r>
          </a:p>
        </p:txBody>
      </p:sp>
      <p:sp>
        <p:nvSpPr>
          <p:cNvPr id="27" name="TextBox 26"/>
          <p:cNvSpPr txBox="1"/>
          <p:nvPr/>
        </p:nvSpPr>
        <p:spPr>
          <a:xfrm>
            <a:off x="6263640" y="4142232"/>
            <a:ext cx="2331720" cy="32004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biceps femoris sh. head</a:t>
            </a:r>
          </a:p>
        </p:txBody>
      </p:sp>
      <p:sp>
        <p:nvSpPr>
          <p:cNvPr id="28" name="TextBox 27"/>
          <p:cNvSpPr txBox="1"/>
          <p:nvPr/>
        </p:nvSpPr>
        <p:spPr>
          <a:xfrm>
            <a:off x="8595359" y="4142232"/>
            <a:ext cx="1051560" cy="320040"/>
          </a:xfrm>
          <a:prstGeom prst="rect">
            <a:avLst/>
          </a:prstGeom>
          <a:noFill/>
        </p:spPr>
        <p:txBody>
          <a:bodyPr wrap="square" anchor="t" lIns="0" rIns="0" tIns="0" bIns="0">
            <a:spAutoFit/>
          </a:bodyPr>
          <a:lstStyle/>
          <a:p>
            <a:pPr algn="ctr">
              <a:lnSpc>
                <a:spcPct val="100000"/>
              </a:lnSpc>
            </a:pPr>
            <a:r>
              <a:rPr sz="1250" b="1" i="0">
                <a:solidFill>
                  <a:srgbClr val="222222"/>
                </a:solidFill>
                <a:latin typeface="Calibri"/>
              </a:rPr>
              <a:t>101*</a:t>
            </a:r>
          </a:p>
        </p:txBody>
      </p:sp>
      <p:sp>
        <p:nvSpPr>
          <p:cNvPr id="29" name="TextBox 28"/>
          <p:cNvSpPr txBox="1"/>
          <p:nvPr/>
        </p:nvSpPr>
        <p:spPr>
          <a:xfrm>
            <a:off x="9646919" y="4142232"/>
            <a:ext cx="2103120" cy="32004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sentinel · exit flag −2</a:t>
            </a:r>
          </a:p>
        </p:txBody>
      </p:sp>
      <p:sp>
        <p:nvSpPr>
          <p:cNvPr id="30" name="TextBox 29"/>
          <p:cNvSpPr txBox="1"/>
          <p:nvPr/>
        </p:nvSpPr>
        <p:spPr>
          <a:xfrm>
            <a:off x="6263640" y="4544568"/>
            <a:ext cx="5486400" cy="274320"/>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 infeasibility sentinel objective</a:t>
            </a:r>
          </a:p>
        </p:txBody>
      </p:sp>
      <p:sp>
        <p:nvSpPr>
          <p:cNvPr id="31" name="TextBox 30"/>
          <p:cNvSpPr txBox="1"/>
          <p:nvPr/>
        </p:nvSpPr>
        <p:spPr>
          <a:xfrm>
            <a:off x="6263640" y="4956048"/>
            <a:ext cx="5440680" cy="1463040"/>
          </a:xfrm>
          <a:prstGeom prst="rect">
            <a:avLst/>
          </a:prstGeom>
          <a:noFill/>
        </p:spPr>
        <p:txBody>
          <a:bodyPr wrap="square" anchor="t" lIns="0" rIns="0" tIns="0" bIns="0">
            <a:spAutoFit/>
          </a:bodyPr>
          <a:lstStyle/>
          <a:p>
            <a:pPr algn="ctr">
              <a:lnSpc>
                <a:spcPct val="100000"/>
              </a:lnSpc>
              <a:spcAft>
                <a:spcPts val="200"/>
              </a:spcAft>
            </a:pPr>
            <a:r>
              <a:rPr sz="2800" b="1" i="0">
                <a:solidFill>
                  <a:srgbClr val="C00000"/>
                </a:solidFill>
                <a:latin typeface="Calibri"/>
              </a:rPr>
              <a:t>4.26–19.14 mm  vs  25 mm</a:t>
            </a:r>
          </a:p>
          <a:p>
            <a:pPr algn="ctr">
              <a:lnSpc>
                <a:spcPct val="95000"/>
              </a:lnSpc>
            </a:pPr>
            <a:r>
              <a:rPr sz="1200" b="0" i="0">
                <a:solidFill>
                  <a:srgbClr val="595959"/>
                </a:solidFill>
                <a:latin typeface="Calibri"/>
              </a:rPr>
              <a:t>minimum route-to-route clearance · all five sites rejected</a:t>
            </a:r>
          </a:p>
        </p:txBody>
      </p:sp>
      <p:sp>
        <p:nvSpPr>
          <p:cNvPr id="32" name="TextBox 31"/>
          <p:cNvSpPr txBox="1"/>
          <p:nvPr/>
        </p:nvSpPr>
        <p:spPr>
          <a:xfrm>
            <a:off x="502920" y="6144768"/>
            <a:ext cx="11155680" cy="274320"/>
          </a:xfrm>
          <a:prstGeom prst="rect">
            <a:avLst/>
          </a:prstGeom>
          <a:noFill/>
        </p:spPr>
        <p:txBody>
          <a:bodyPr wrap="square" anchor="t" lIns="0" rIns="0" tIns="0" bIns="0">
            <a:spAutoFit/>
          </a:bodyPr>
          <a:lstStyle/>
          <a:p>
            <a:pPr algn="l">
              <a:lnSpc>
                <a:spcPct val="100000"/>
              </a:lnSpc>
            </a:pPr>
            <a:r>
              <a:rPr sz="1050" b="0" i="1">
                <a:solidFill>
                  <a:srgbClr val="7F7F7F"/>
                </a:solidFill>
                <a:latin typeface="Calibri"/>
              </a:rPr>
              <a:t>optimizer-stage results · not yet in the OpenSim or MuJoCo model trees</a:t>
            </a:r>
          </a:p>
        </p:txBody>
      </p:sp>
      <p:sp>
        <p:nvSpPr>
          <p:cNvPr id="33" name="TextBox 32"/>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5 · SENSORY AFFERENT DATABASE</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A century of scattered afferent physiology, consolidated into one audited, offline-searchable resource</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5 (§A Structured Afferent Resource, §Audited Corpus and Curation Coverage); Bolen et al., SfN 2023</a:t>
            </a:r>
          </a:p>
        </p:txBody>
      </p:sp>
      <p:pic>
        <p:nvPicPr>
          <p:cNvPr id="5" name="Picture 4" descr="c_sadb_explorer.png"/>
          <p:cNvPicPr>
            <a:picLocks noChangeAspect="1"/>
          </p:cNvPicPr>
          <p:nvPr/>
        </p:nvPicPr>
        <p:blipFill>
          <a:blip r:embed="rId3"/>
          <a:stretch>
            <a:fillRect/>
          </a:stretch>
        </p:blipFill>
        <p:spPr>
          <a:xfrm>
            <a:off x="928116" y="1719072"/>
            <a:ext cx="5184647" cy="3703320"/>
          </a:xfrm>
          <a:prstGeom prst="rect">
            <a:avLst/>
          </a:prstGeom>
        </p:spPr>
      </p:pic>
      <p:sp>
        <p:nvSpPr>
          <p:cNvPr id="6" name="TextBox 5"/>
          <p:cNvSpPr txBox="1"/>
          <p:nvPr/>
        </p:nvSpPr>
        <p:spPr>
          <a:xfrm>
            <a:off x="502920" y="5504688"/>
            <a:ext cx="6035040" cy="640080"/>
          </a:xfrm>
          <a:prstGeom prst="rect">
            <a:avLst/>
          </a:prstGeom>
          <a:noFill/>
        </p:spPr>
        <p:txBody>
          <a:bodyPr wrap="square" anchor="t" lIns="0" rIns="0" tIns="0" bIns="0">
            <a:spAutoFit/>
          </a:bodyPr>
          <a:lstStyle/>
          <a:p>
            <a:pPr algn="ctr">
              <a:lnSpc>
                <a:spcPct val="100000"/>
              </a:lnSpc>
            </a:pPr>
            <a:r>
              <a:rPr sz="1100" b="0" i="1">
                <a:solidFill>
                  <a:srgbClr val="7F7F7F"/>
                </a:solidFill>
                <a:latin typeface="Calibri"/>
              </a:rPr>
              <a:t>the packaged SADb Explorer: single file, runs offline in a browser · table view with curation-state tags</a:t>
            </a:r>
          </a:p>
        </p:txBody>
      </p:sp>
      <p:sp>
        <p:nvSpPr>
          <p:cNvPr id="7" name="TextBox 6"/>
          <p:cNvSpPr txBox="1"/>
          <p:nvPr/>
        </p:nvSpPr>
        <p:spPr>
          <a:xfrm>
            <a:off x="6903720" y="1737360"/>
            <a:ext cx="2286000" cy="1463040"/>
          </a:xfrm>
          <a:prstGeom prst="rect">
            <a:avLst/>
          </a:prstGeom>
          <a:noFill/>
        </p:spPr>
        <p:txBody>
          <a:bodyPr wrap="square" anchor="t" lIns="0" rIns="0" tIns="0" bIns="0">
            <a:spAutoFit/>
          </a:bodyPr>
          <a:lstStyle/>
          <a:p>
            <a:pPr algn="ctr">
              <a:lnSpc>
                <a:spcPct val="100000"/>
              </a:lnSpc>
              <a:spcAft>
                <a:spcPts val="200"/>
              </a:spcAft>
            </a:pPr>
            <a:r>
              <a:rPr sz="3400" b="1" i="0">
                <a:solidFill>
                  <a:srgbClr val="AF7B51"/>
                </a:solidFill>
                <a:latin typeface="Calibri"/>
              </a:rPr>
              <a:t>943</a:t>
            </a:r>
          </a:p>
          <a:p>
            <a:pPr algn="ctr">
              <a:lnSpc>
                <a:spcPct val="95000"/>
              </a:lnSpc>
            </a:pPr>
            <a:r>
              <a:rPr sz="1300" b="0" i="0">
                <a:solidFill>
                  <a:srgbClr val="595959"/>
                </a:solidFill>
                <a:latin typeface="Calibri"/>
              </a:rPr>
              <a:t>papers in the audited corpus</a:t>
            </a:r>
          </a:p>
        </p:txBody>
      </p:sp>
      <p:sp>
        <p:nvSpPr>
          <p:cNvPr id="8" name="TextBox 7"/>
          <p:cNvSpPr txBox="1"/>
          <p:nvPr/>
        </p:nvSpPr>
        <p:spPr>
          <a:xfrm>
            <a:off x="9372600" y="1737360"/>
            <a:ext cx="2286000" cy="1463040"/>
          </a:xfrm>
          <a:prstGeom prst="rect">
            <a:avLst/>
          </a:prstGeom>
          <a:noFill/>
        </p:spPr>
        <p:txBody>
          <a:bodyPr wrap="square" anchor="t" lIns="0" rIns="0" tIns="0" bIns="0">
            <a:spAutoFit/>
          </a:bodyPr>
          <a:lstStyle/>
          <a:p>
            <a:pPr algn="ctr">
              <a:lnSpc>
                <a:spcPct val="100000"/>
              </a:lnSpc>
              <a:spcAft>
                <a:spcPts val="200"/>
              </a:spcAft>
            </a:pPr>
            <a:r>
              <a:rPr sz="3400" b="1" i="0">
                <a:solidFill>
                  <a:srgbClr val="AF7B51"/>
                </a:solidFill>
                <a:latin typeface="Calibri"/>
              </a:rPr>
              <a:t>561</a:t>
            </a:r>
          </a:p>
          <a:p>
            <a:pPr algn="ctr">
              <a:lnSpc>
                <a:spcPct val="95000"/>
              </a:lnSpc>
            </a:pPr>
            <a:r>
              <a:rPr sz="1300" b="0" i="0">
                <a:solidFill>
                  <a:srgbClr val="595959"/>
                </a:solidFill>
                <a:latin typeface="Calibri"/>
              </a:rPr>
              <a:t>retained papers (382 archived, none destroyed)</a:t>
            </a:r>
          </a:p>
        </p:txBody>
      </p:sp>
      <p:sp>
        <p:nvSpPr>
          <p:cNvPr id="9" name="Rounded Rectangle 8"/>
          <p:cNvSpPr/>
          <p:nvPr/>
        </p:nvSpPr>
        <p:spPr>
          <a:xfrm>
            <a:off x="6903720" y="3246120"/>
            <a:ext cx="475488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3346704"/>
            <a:ext cx="4434840" cy="777240"/>
          </a:xfrm>
          <a:prstGeom prst="rect">
            <a:avLst/>
          </a:prstGeom>
          <a:noFill/>
        </p:spPr>
        <p:txBody>
          <a:bodyPr wrap="square" anchor="t" lIns="0" rIns="0" tIns="0" bIns="0">
            <a:spAutoFit/>
          </a:bodyPr>
          <a:lstStyle/>
          <a:p>
            <a:pPr algn="l">
              <a:lnSpc>
                <a:spcPct val="100000"/>
              </a:lnSpc>
              <a:spcAft>
                <a:spcPts val="200"/>
              </a:spcAft>
            </a:pPr>
            <a:r>
              <a:rPr sz="1100" b="1" i="0">
                <a:solidFill>
                  <a:srgbClr val="00796B"/>
                </a:solidFill>
                <a:latin typeface="Calibri"/>
              </a:rPr>
              <a:t>CITATION GRAPH</a:t>
            </a:r>
          </a:p>
          <a:p>
            <a:pPr algn="l">
              <a:lnSpc>
                <a:spcPct val="100000"/>
              </a:lnSpc>
            </a:pPr>
            <a:r>
              <a:rPr sz="1300" b="1" i="0">
                <a:solidFill>
                  <a:srgbClr val="222222"/>
                </a:solidFill>
                <a:latin typeface="Calibri"/>
              </a:rPr>
              <a:t>730 papers · 11,130 directed pairs · 18 Louvain topic clusters</a:t>
            </a:r>
          </a:p>
        </p:txBody>
      </p:sp>
      <p:sp>
        <p:nvSpPr>
          <p:cNvPr id="11" name="Rounded Rectangle 10"/>
          <p:cNvSpPr/>
          <p:nvPr/>
        </p:nvSpPr>
        <p:spPr>
          <a:xfrm>
            <a:off x="6903720" y="4297680"/>
            <a:ext cx="475488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4398264"/>
            <a:ext cx="4434840" cy="777240"/>
          </a:xfrm>
          <a:prstGeom prst="rect">
            <a:avLst/>
          </a:prstGeom>
          <a:noFill/>
        </p:spPr>
        <p:txBody>
          <a:bodyPr wrap="square" anchor="t" lIns="0" rIns="0" tIns="0" bIns="0">
            <a:spAutoFit/>
          </a:bodyPr>
          <a:lstStyle/>
          <a:p>
            <a:pPr algn="l">
              <a:lnSpc>
                <a:spcPct val="100000"/>
              </a:lnSpc>
              <a:spcAft>
                <a:spcPts val="200"/>
              </a:spcAft>
            </a:pPr>
            <a:r>
              <a:rPr sz="1100" b="1" i="0">
                <a:solidFill>
                  <a:srgbClr val="00796B"/>
                </a:solidFill>
                <a:latin typeface="Calibri"/>
              </a:rPr>
              <a:t>THREE HOMES RECONCILED</a:t>
            </a:r>
          </a:p>
          <a:p>
            <a:pPr algn="l">
              <a:lnSpc>
                <a:spcPct val="100000"/>
              </a:lnSpc>
            </a:pPr>
            <a:r>
              <a:rPr sz="1250" b="0" i="0">
                <a:solidFill>
                  <a:srgbClr val="222222"/>
                </a:solidFill>
                <a:latin typeface="Calibri"/>
              </a:rPr>
              <a:t>Zotero 538 · group library 911 (27 collections) · Airtable 99 → one audited corpus</a:t>
            </a:r>
          </a:p>
        </p:txBody>
      </p:sp>
      <p:sp>
        <p:nvSpPr>
          <p:cNvPr id="13" name="Rounded Rectangle 12"/>
          <p:cNvSpPr/>
          <p:nvPr/>
        </p:nvSpPr>
        <p:spPr>
          <a:xfrm>
            <a:off x="6903720" y="5349240"/>
            <a:ext cx="475488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5449824"/>
            <a:ext cx="4434840" cy="777240"/>
          </a:xfrm>
          <a:prstGeom prst="rect">
            <a:avLst/>
          </a:prstGeom>
          <a:noFill/>
        </p:spPr>
        <p:txBody>
          <a:bodyPr wrap="square" anchor="t" lIns="0" rIns="0" tIns="0" bIns="0">
            <a:spAutoFit/>
          </a:bodyPr>
          <a:lstStyle/>
          <a:p>
            <a:pPr algn="l">
              <a:lnSpc>
                <a:spcPct val="100000"/>
              </a:lnSpc>
              <a:spcAft>
                <a:spcPts val="200"/>
              </a:spcAft>
            </a:pPr>
            <a:r>
              <a:rPr sz="1100" b="1" i="0">
                <a:solidFill>
                  <a:srgbClr val="00796B"/>
                </a:solidFill>
                <a:latin typeface="Calibri"/>
              </a:rPr>
              <a:t>WORKING BASE</a:t>
            </a:r>
          </a:p>
          <a:p>
            <a:pPr algn="l">
              <a:lnSpc>
                <a:spcPct val="100000"/>
              </a:lnSpc>
            </a:pPr>
            <a:r>
              <a:rPr sz="1200" b="0" i="0">
                <a:solidFill>
                  <a:srgbClr val="222222"/>
                </a:solidFill>
                <a:latin typeface="Calibri"/>
              </a:rPr>
              <a:t>957 records: 561 papers · 39 pathway · 244 model · 109 review · 4 recorder — 43 under the 1,000-record cap</a:t>
            </a:r>
          </a:p>
        </p:txBody>
      </p:sp>
      <p:sp>
        <p:nvSpPr>
          <p:cNvPr id="15" name="TextBox 14"/>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5 · SENSORY AFFERENT DATABASE</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machine drafts at scale; the vocabulary, every judgment call, and every deletion stay human</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5 (§A Structured Afferent Resource, §AI-Assisted Literature Triage); Bolen et al., SfN 2024</a:t>
            </a:r>
          </a:p>
        </p:txBody>
      </p:sp>
      <p:sp>
        <p:nvSpPr>
          <p:cNvPr id="5" name="Rounded Rectangle 4"/>
          <p:cNvSpPr/>
          <p:nvPr/>
        </p:nvSpPr>
        <p:spPr>
          <a:xfrm>
            <a:off x="502920" y="1737360"/>
            <a:ext cx="539496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37943"/>
            <a:ext cx="4983480" cy="777240"/>
          </a:xfrm>
          <a:prstGeom prst="rect">
            <a:avLst/>
          </a:prstGeom>
          <a:noFill/>
        </p:spPr>
        <p:txBody>
          <a:bodyPr wrap="square" anchor="t" lIns="0" rIns="0" tIns="0" bIns="0">
            <a:spAutoFit/>
          </a:bodyPr>
          <a:lstStyle/>
          <a:p>
            <a:pPr algn="l">
              <a:lnSpc>
                <a:spcPct val="100000"/>
              </a:lnSpc>
              <a:spcAft>
                <a:spcPts val="200"/>
              </a:spcAft>
            </a:pPr>
            <a:r>
              <a:rPr sz="1150" b="1" i="0">
                <a:solidFill>
                  <a:srgbClr val="00796B"/>
                </a:solidFill>
                <a:latin typeface="Calibri"/>
              </a:rPr>
              <a:t>RECONCILE</a:t>
            </a:r>
          </a:p>
          <a:p>
            <a:pPr algn="l">
              <a:lnSpc>
                <a:spcPct val="102000"/>
              </a:lnSpc>
            </a:pPr>
            <a:r>
              <a:rPr sz="1250" b="0" i="0">
                <a:solidFill>
                  <a:srgbClr val="222222"/>
                </a:solidFill>
                <a:latin typeface="Calibri"/>
              </a:rPr>
              <a:t>Zotero 538 + group 911 + Airtable 99, matched record by record on DOI and title</a:t>
            </a:r>
          </a:p>
        </p:txBody>
      </p:sp>
      <p:cxnSp>
        <p:nvCxnSpPr>
          <p:cNvPr id="7" name="Connector 6"/>
          <p:cNvCxnSpPr/>
          <p:nvPr/>
        </p:nvCxnSpPr>
        <p:spPr>
          <a:xfrm>
            <a:off x="3200400" y="2688336"/>
            <a:ext cx="0" cy="164592"/>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2871215"/>
            <a:ext cx="539496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799"/>
            <a:ext cx="4983480" cy="777240"/>
          </a:xfrm>
          <a:prstGeom prst="rect">
            <a:avLst/>
          </a:prstGeom>
          <a:noFill/>
        </p:spPr>
        <p:txBody>
          <a:bodyPr wrap="square" anchor="t" lIns="0" rIns="0" tIns="0" bIns="0">
            <a:spAutoFit/>
          </a:bodyPr>
          <a:lstStyle/>
          <a:p>
            <a:pPr algn="l">
              <a:lnSpc>
                <a:spcPct val="100000"/>
              </a:lnSpc>
              <a:spcAft>
                <a:spcPts val="200"/>
              </a:spcAft>
            </a:pPr>
            <a:r>
              <a:rPr sz="1150" b="1" i="0">
                <a:solidFill>
                  <a:srgbClr val="00796B"/>
                </a:solidFill>
                <a:latin typeface="Calibri"/>
              </a:rPr>
              <a:t>IMPORT</a:t>
            </a:r>
          </a:p>
          <a:p>
            <a:pPr algn="l">
              <a:lnSpc>
                <a:spcPct val="102000"/>
              </a:lnSpc>
            </a:pPr>
            <a:r>
              <a:rPr sz="1250" b="0" i="0">
                <a:solidFill>
                  <a:srgbClr val="222222"/>
                </a:solidFill>
                <a:latin typeface="Calibri"/>
              </a:rPr>
              <a:t>gap imported in verified batches · 372 auto-classified · Papers table 532 → corpus 943</a:t>
            </a:r>
          </a:p>
        </p:txBody>
      </p:sp>
      <p:cxnSp>
        <p:nvCxnSpPr>
          <p:cNvPr id="10" name="Connector 9"/>
          <p:cNvCxnSpPr/>
          <p:nvPr/>
        </p:nvCxnSpPr>
        <p:spPr>
          <a:xfrm>
            <a:off x="3200400" y="3822191"/>
            <a:ext cx="0" cy="164592"/>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4005072"/>
            <a:ext cx="539496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105656"/>
            <a:ext cx="4983480" cy="777240"/>
          </a:xfrm>
          <a:prstGeom prst="rect">
            <a:avLst/>
          </a:prstGeom>
          <a:noFill/>
        </p:spPr>
        <p:txBody>
          <a:bodyPr wrap="square" anchor="t" lIns="0" rIns="0" tIns="0" bIns="0">
            <a:spAutoFit/>
          </a:bodyPr>
          <a:lstStyle/>
          <a:p>
            <a:pPr algn="l">
              <a:lnSpc>
                <a:spcPct val="100000"/>
              </a:lnSpc>
              <a:spcAft>
                <a:spcPts val="200"/>
              </a:spcAft>
            </a:pPr>
            <a:r>
              <a:rPr sz="1150" b="1" i="0">
                <a:solidFill>
                  <a:srgbClr val="00796B"/>
                </a:solidFill>
                <a:latin typeface="Calibri"/>
              </a:rPr>
              <a:t>CURATE</a:t>
            </a:r>
          </a:p>
          <a:p>
            <a:pPr algn="l">
              <a:lnSpc>
                <a:spcPct val="102000"/>
              </a:lnSpc>
            </a:pPr>
            <a:r>
              <a:rPr sz="1250" b="0" i="0">
                <a:solidFill>
                  <a:srgbClr val="222222"/>
                </a:solidFill>
                <a:latin typeface="Calibri"/>
              </a:rPr>
              <a:t>374 papers drafted in 15 gated batches · 164 flagged judgment calls surfaced for ruling</a:t>
            </a:r>
          </a:p>
        </p:txBody>
      </p:sp>
      <p:cxnSp>
        <p:nvCxnSpPr>
          <p:cNvPr id="13" name="Connector 12"/>
          <p:cNvCxnSpPr/>
          <p:nvPr/>
        </p:nvCxnSpPr>
        <p:spPr>
          <a:xfrm>
            <a:off x="3200400" y="4956048"/>
            <a:ext cx="0" cy="164592"/>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20" y="5138928"/>
            <a:ext cx="539496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39512"/>
            <a:ext cx="4983480" cy="777240"/>
          </a:xfrm>
          <a:prstGeom prst="rect">
            <a:avLst/>
          </a:prstGeom>
          <a:noFill/>
        </p:spPr>
        <p:txBody>
          <a:bodyPr wrap="square" anchor="t" lIns="0" rIns="0" tIns="0" bIns="0">
            <a:spAutoFit/>
          </a:bodyPr>
          <a:lstStyle/>
          <a:p>
            <a:pPr algn="l">
              <a:lnSpc>
                <a:spcPct val="100000"/>
              </a:lnSpc>
              <a:spcAft>
                <a:spcPts val="200"/>
              </a:spcAft>
            </a:pPr>
            <a:r>
              <a:rPr sz="1150" b="1" i="0">
                <a:solidFill>
                  <a:srgbClr val="00796B"/>
                </a:solidFill>
                <a:latin typeface="Calibri"/>
              </a:rPr>
              <a:t>PRUNE</a:t>
            </a:r>
          </a:p>
          <a:p>
            <a:pPr algn="l">
              <a:lnSpc>
                <a:spcPct val="102000"/>
              </a:lnSpc>
            </a:pPr>
            <a:r>
              <a:rPr sz="1250" b="0" i="0">
                <a:solidFill>
                  <a:srgbClr val="222222"/>
                </a:solidFill>
                <a:latin typeface="Calibri"/>
              </a:rPr>
              <a:t>3 approved stages removed 436 records (382 papers + 54 orphans) · 351 protected · nothing destroyed</a:t>
            </a:r>
          </a:p>
        </p:txBody>
      </p:sp>
      <p:graphicFrame>
        <p:nvGraphicFramePr>
          <p:cNvPr id="16" name="Chart 15"/>
          <p:cNvGraphicFramePr>
            <a:graphicFrameLocks noGrp="1"/>
          </p:cNvGraphicFramePr>
          <p:nvPr/>
        </p:nvGraphicFramePr>
        <p:xfrm>
          <a:off x="6263640" y="1737360"/>
          <a:ext cx="5486400" cy="3063240"/>
        </p:xfrm>
        <a:graphic>
          <a:graphicData uri="http://schemas.openxmlformats.org/drawingml/2006/chart">
            <c:chart xmlns:c="http://schemas.openxmlformats.org/drawingml/2006/chart" r:id="rId3"/>
          </a:graphicData>
        </a:graphic>
      </p:graphicFrame>
      <p:sp>
        <p:nvSpPr>
          <p:cNvPr id="17" name="Rounded Rectangle 16"/>
          <p:cNvSpPr/>
          <p:nvPr/>
        </p:nvSpPr>
        <p:spPr>
          <a:xfrm>
            <a:off x="6263640" y="4983480"/>
            <a:ext cx="5486400" cy="1298448"/>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5102352"/>
            <a:ext cx="5120640" cy="1097280"/>
          </a:xfrm>
          <a:prstGeom prst="rect">
            <a:avLst/>
          </a:prstGeom>
          <a:noFill/>
        </p:spPr>
        <p:txBody>
          <a:bodyPr wrap="square" anchor="t" lIns="0" rIns="0" tIns="0" bIns="0">
            <a:spAutoFit/>
          </a:bodyPr>
          <a:lstStyle/>
          <a:p>
            <a:pPr algn="l">
              <a:lnSpc>
                <a:spcPct val="100000"/>
              </a:lnSpc>
              <a:spcAft>
                <a:spcPts val="300"/>
              </a:spcAft>
            </a:pPr>
            <a:r>
              <a:rPr sz="1100" b="1" i="0">
                <a:solidFill>
                  <a:srgbClr val="00796B"/>
                </a:solidFill>
                <a:latin typeface="Calibri"/>
              </a:rPr>
              <a:t>GROUNDING IS THE BINDING CONSTRAINT</a:t>
            </a:r>
          </a:p>
          <a:p>
            <a:pPr algn="l">
              <a:lnSpc>
                <a:spcPct val="105000"/>
              </a:lnSpc>
            </a:pPr>
            <a:r>
              <a:rPr sz="1250" b="0" i="0">
                <a:solidFill>
                  <a:srgbClr val="222222"/>
                </a:solidFill>
                <a:latin typeface="Calibri"/>
              </a:rPr>
              <a:t>PDF-first recovery: 47 of 55 flagged papers · authenticated browser: abstracts for 24 of 70 · the rest stay bare by rule, never guessed</a:t>
            </a:r>
          </a:p>
        </p:txBody>
      </p:sp>
      <p:sp>
        <p:nvSpPr>
          <p:cNvPr id="19" name="TextBox 1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5 · SENSORY AFFERENT DATABASE</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A pathway record maps to a circuit edge: class fixes the signal, phase fixes the gating, action fixes the sign</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5, Tables 5.1-5.2 (§Toward Robot and Simulation Use); Ch. 6 implements the mammalian subset</a:t>
            </a:r>
          </a:p>
        </p:txBody>
      </p:sp>
      <p:sp>
        <p:nvSpPr>
          <p:cNvPr id="5" name="TextBox 4"/>
          <p:cNvSpPr txBox="1"/>
          <p:nvPr/>
        </p:nvSpPr>
        <p:spPr>
          <a:xfrm>
            <a:off x="502920" y="1700784"/>
            <a:ext cx="4572000" cy="32004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THE CONTROLLER'S SENSORY CHANNELS</a:t>
            </a:r>
          </a:p>
        </p:txBody>
      </p:sp>
      <p:sp>
        <p:nvSpPr>
          <p:cNvPr id="6" name="Rounded Rectangle 5"/>
          <p:cNvSpPr/>
          <p:nvPr/>
        </p:nvSpPr>
        <p:spPr>
          <a:xfrm>
            <a:off x="502920" y="2103120"/>
            <a:ext cx="4572000" cy="84124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85415"/>
            <a:ext cx="1051560" cy="365760"/>
          </a:xfrm>
          <a:prstGeom prst="rect">
            <a:avLst/>
          </a:prstGeom>
          <a:noFill/>
        </p:spPr>
        <p:txBody>
          <a:bodyPr wrap="square" anchor="t" lIns="0" rIns="0" tIns="0" bIns="0">
            <a:spAutoFit/>
          </a:bodyPr>
          <a:lstStyle/>
          <a:p>
            <a:pPr algn="l">
              <a:lnSpc>
                <a:spcPct val="100000"/>
              </a:lnSpc>
            </a:pPr>
            <a:r>
              <a:rPr sz="1500" b="1" i="0">
                <a:solidFill>
                  <a:srgbClr val="38761D"/>
                </a:solidFill>
                <a:latin typeface="Calibri"/>
              </a:rPr>
              <a:t>Ia</a:t>
            </a:r>
          </a:p>
        </p:txBody>
      </p:sp>
      <p:sp>
        <p:nvSpPr>
          <p:cNvPr id="8" name="TextBox 7"/>
          <p:cNvSpPr txBox="1"/>
          <p:nvPr/>
        </p:nvSpPr>
        <p:spPr>
          <a:xfrm>
            <a:off x="1783080" y="2194560"/>
            <a:ext cx="3154680" cy="713232"/>
          </a:xfrm>
          <a:prstGeom prst="rect">
            <a:avLst/>
          </a:prstGeom>
          <a:noFill/>
        </p:spPr>
        <p:txBody>
          <a:bodyPr wrap="square" anchor="t" lIns="0" rIns="0" tIns="0" bIns="0">
            <a:spAutoFit/>
          </a:bodyPr>
          <a:lstStyle/>
          <a:p>
            <a:pPr algn="l">
              <a:lnSpc>
                <a:spcPct val="100000"/>
              </a:lnSpc>
              <a:spcAft>
                <a:spcPts val="100"/>
              </a:spcAft>
            </a:pPr>
            <a:r>
              <a:rPr sz="1250" b="1" i="0">
                <a:solidFill>
                  <a:srgbClr val="222222"/>
                </a:solidFill>
                <a:latin typeface="Calibri"/>
              </a:rPr>
              <a:t>muscle length and velocity</a:t>
            </a:r>
          </a:p>
          <a:p>
            <a:pPr algn="l">
              <a:lnSpc>
                <a:spcPct val="100000"/>
              </a:lnSpc>
            </a:pPr>
            <a:r>
              <a:rPr sz="1150" b="0" i="0">
                <a:solidFill>
                  <a:srgbClr val="595959"/>
                </a:solidFill>
                <a:latin typeface="Calibri"/>
              </a:rPr>
              <a:t>stretch reflex; phase-dependent modulation</a:t>
            </a:r>
          </a:p>
        </p:txBody>
      </p:sp>
      <p:sp>
        <p:nvSpPr>
          <p:cNvPr id="9" name="Rounded Rectangle 8"/>
          <p:cNvSpPr/>
          <p:nvPr/>
        </p:nvSpPr>
        <p:spPr>
          <a:xfrm>
            <a:off x="502920" y="3054096"/>
            <a:ext cx="4572000" cy="84124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136391"/>
            <a:ext cx="1051560" cy="365760"/>
          </a:xfrm>
          <a:prstGeom prst="rect">
            <a:avLst/>
          </a:prstGeom>
          <a:noFill/>
        </p:spPr>
        <p:txBody>
          <a:bodyPr wrap="square" anchor="t" lIns="0" rIns="0" tIns="0" bIns="0">
            <a:spAutoFit/>
          </a:bodyPr>
          <a:lstStyle/>
          <a:p>
            <a:pPr algn="l">
              <a:lnSpc>
                <a:spcPct val="100000"/>
              </a:lnSpc>
            </a:pPr>
            <a:r>
              <a:rPr sz="1500" b="1" i="0">
                <a:solidFill>
                  <a:srgbClr val="38761D"/>
                </a:solidFill>
                <a:latin typeface="Calibri"/>
              </a:rPr>
              <a:t>II</a:t>
            </a:r>
          </a:p>
        </p:txBody>
      </p:sp>
      <p:sp>
        <p:nvSpPr>
          <p:cNvPr id="11" name="TextBox 10"/>
          <p:cNvSpPr txBox="1"/>
          <p:nvPr/>
        </p:nvSpPr>
        <p:spPr>
          <a:xfrm>
            <a:off x="1783080" y="3145536"/>
            <a:ext cx="3154680" cy="713232"/>
          </a:xfrm>
          <a:prstGeom prst="rect">
            <a:avLst/>
          </a:prstGeom>
          <a:noFill/>
        </p:spPr>
        <p:txBody>
          <a:bodyPr wrap="square" anchor="t" lIns="0" rIns="0" tIns="0" bIns="0">
            <a:spAutoFit/>
          </a:bodyPr>
          <a:lstStyle/>
          <a:p>
            <a:pPr algn="l">
              <a:lnSpc>
                <a:spcPct val="100000"/>
              </a:lnSpc>
              <a:spcAft>
                <a:spcPts val="100"/>
              </a:spcAft>
            </a:pPr>
            <a:r>
              <a:rPr sz="1250" b="1" i="0">
                <a:solidFill>
                  <a:srgbClr val="222222"/>
                </a:solidFill>
                <a:latin typeface="Calibri"/>
              </a:rPr>
              <a:t>static muscle length</a:t>
            </a:r>
          </a:p>
          <a:p>
            <a:pPr algn="l">
              <a:lnSpc>
                <a:spcPct val="100000"/>
              </a:lnSpc>
            </a:pPr>
            <a:r>
              <a:rPr sz="1150" b="0" i="0">
                <a:solidFill>
                  <a:srgbClr val="595959"/>
                </a:solidFill>
                <a:latin typeface="Calibri"/>
              </a:rPr>
              <a:t>position sense; interjoint coordination</a:t>
            </a:r>
          </a:p>
        </p:txBody>
      </p:sp>
      <p:sp>
        <p:nvSpPr>
          <p:cNvPr id="12" name="Rounded Rectangle 11"/>
          <p:cNvSpPr/>
          <p:nvPr/>
        </p:nvSpPr>
        <p:spPr>
          <a:xfrm>
            <a:off x="502920" y="4005072"/>
            <a:ext cx="4572000" cy="84124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87368"/>
            <a:ext cx="1051560" cy="365760"/>
          </a:xfrm>
          <a:prstGeom prst="rect">
            <a:avLst/>
          </a:prstGeom>
          <a:noFill/>
        </p:spPr>
        <p:txBody>
          <a:bodyPr wrap="square" anchor="t" lIns="0" rIns="0" tIns="0" bIns="0">
            <a:spAutoFit/>
          </a:bodyPr>
          <a:lstStyle/>
          <a:p>
            <a:pPr algn="l">
              <a:lnSpc>
                <a:spcPct val="100000"/>
              </a:lnSpc>
            </a:pPr>
            <a:r>
              <a:rPr sz="1500" b="1" i="0">
                <a:solidFill>
                  <a:srgbClr val="38761D"/>
                </a:solidFill>
                <a:latin typeface="Calibri"/>
              </a:rPr>
              <a:t>Ib</a:t>
            </a:r>
          </a:p>
        </p:txBody>
      </p:sp>
      <p:sp>
        <p:nvSpPr>
          <p:cNvPr id="14" name="TextBox 13"/>
          <p:cNvSpPr txBox="1"/>
          <p:nvPr/>
        </p:nvSpPr>
        <p:spPr>
          <a:xfrm>
            <a:off x="1783080" y="4096511"/>
            <a:ext cx="3154680" cy="713232"/>
          </a:xfrm>
          <a:prstGeom prst="rect">
            <a:avLst/>
          </a:prstGeom>
          <a:noFill/>
        </p:spPr>
        <p:txBody>
          <a:bodyPr wrap="square" anchor="t" lIns="0" rIns="0" tIns="0" bIns="0">
            <a:spAutoFit/>
          </a:bodyPr>
          <a:lstStyle/>
          <a:p>
            <a:pPr algn="l">
              <a:lnSpc>
                <a:spcPct val="100000"/>
              </a:lnSpc>
              <a:spcAft>
                <a:spcPts val="100"/>
              </a:spcAft>
            </a:pPr>
            <a:r>
              <a:rPr sz="1250" b="1" i="0">
                <a:solidFill>
                  <a:srgbClr val="222222"/>
                </a:solidFill>
                <a:latin typeface="Calibri"/>
              </a:rPr>
              <a:t>whole-muscle force</a:t>
            </a:r>
          </a:p>
          <a:p>
            <a:pPr algn="l">
              <a:lnSpc>
                <a:spcPct val="100000"/>
              </a:lnSpc>
            </a:pPr>
            <a:r>
              <a:rPr sz="1150" b="0" i="0">
                <a:solidFill>
                  <a:srgbClr val="595959"/>
                </a:solidFill>
                <a:latin typeface="Calibri"/>
              </a:rPr>
              <a:t>load-dependent stance regulation</a:t>
            </a:r>
          </a:p>
        </p:txBody>
      </p:sp>
      <p:sp>
        <p:nvSpPr>
          <p:cNvPr id="15" name="Rounded Rectangle 14"/>
          <p:cNvSpPr/>
          <p:nvPr/>
        </p:nvSpPr>
        <p:spPr>
          <a:xfrm>
            <a:off x="502920" y="4956048"/>
            <a:ext cx="4572000" cy="84124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038344"/>
            <a:ext cx="1051560" cy="365760"/>
          </a:xfrm>
          <a:prstGeom prst="rect">
            <a:avLst/>
          </a:prstGeom>
          <a:noFill/>
        </p:spPr>
        <p:txBody>
          <a:bodyPr wrap="square" anchor="t" lIns="0" rIns="0" tIns="0" bIns="0">
            <a:spAutoFit/>
          </a:bodyPr>
          <a:lstStyle/>
          <a:p>
            <a:pPr algn="l">
              <a:lnSpc>
                <a:spcPct val="100000"/>
              </a:lnSpc>
            </a:pPr>
            <a:r>
              <a:rPr sz="1500" b="1" i="0">
                <a:solidFill>
                  <a:srgbClr val="38761D"/>
                </a:solidFill>
                <a:latin typeface="Calibri"/>
              </a:rPr>
              <a:t>heel / toe</a:t>
            </a:r>
          </a:p>
        </p:txBody>
      </p:sp>
      <p:sp>
        <p:nvSpPr>
          <p:cNvPr id="17" name="TextBox 16"/>
          <p:cNvSpPr txBox="1"/>
          <p:nvPr/>
        </p:nvSpPr>
        <p:spPr>
          <a:xfrm>
            <a:off x="1783080" y="5047488"/>
            <a:ext cx="3154680" cy="713232"/>
          </a:xfrm>
          <a:prstGeom prst="rect">
            <a:avLst/>
          </a:prstGeom>
          <a:noFill/>
        </p:spPr>
        <p:txBody>
          <a:bodyPr wrap="square" anchor="t" lIns="0" rIns="0" tIns="0" bIns="0">
            <a:spAutoFit/>
          </a:bodyPr>
          <a:lstStyle/>
          <a:p>
            <a:pPr algn="l">
              <a:lnSpc>
                <a:spcPct val="100000"/>
              </a:lnSpc>
              <a:spcAft>
                <a:spcPts val="100"/>
              </a:spcAft>
            </a:pPr>
            <a:r>
              <a:rPr sz="1250" b="1" i="0">
                <a:solidFill>
                  <a:srgbClr val="222222"/>
                </a:solidFill>
                <a:latin typeface="Calibri"/>
              </a:rPr>
              <a:t>contact events</a:t>
            </a:r>
          </a:p>
          <a:p>
            <a:pPr algn="l">
              <a:lnSpc>
                <a:spcPct val="100000"/>
              </a:lnSpc>
            </a:pPr>
            <a:r>
              <a:rPr sz="1150" b="0" i="0">
                <a:solidFill>
                  <a:srgbClr val="595959"/>
                </a:solidFill>
                <a:latin typeface="Calibri"/>
              </a:rPr>
              <a:t>discrete stance-swing boundaries</a:t>
            </a:r>
          </a:p>
        </p:txBody>
      </p:sp>
      <p:sp>
        <p:nvSpPr>
          <p:cNvPr id="18" name="TextBox 17"/>
          <p:cNvSpPr txBox="1"/>
          <p:nvPr/>
        </p:nvSpPr>
        <p:spPr>
          <a:xfrm>
            <a:off x="5532120" y="1700784"/>
            <a:ext cx="6172200" cy="32004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PRINCIPAL PATHWAY RECORDS · LINKED CORPUS PAPERS</a:t>
            </a:r>
          </a:p>
        </p:txBody>
      </p:sp>
      <p:sp>
        <p:nvSpPr>
          <p:cNvPr id="19" name="Rounded Rectangle 18"/>
          <p:cNvSpPr/>
          <p:nvPr/>
        </p:nvSpPr>
        <p:spPr>
          <a:xfrm>
            <a:off x="5532120" y="2048256"/>
            <a:ext cx="6172200" cy="40233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5000" y="2112264"/>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Ib stance to swing (the load gate)</a:t>
            </a:r>
          </a:p>
        </p:txBody>
      </p:sp>
      <p:sp>
        <p:nvSpPr>
          <p:cNvPr id="21" name="TextBox 20"/>
          <p:cNvSpPr txBox="1"/>
          <p:nvPr/>
        </p:nvSpPr>
        <p:spPr>
          <a:xfrm>
            <a:off x="10607040" y="2084832"/>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17</a:t>
            </a:r>
          </a:p>
        </p:txBody>
      </p:sp>
      <p:sp>
        <p:nvSpPr>
          <p:cNvPr id="22" name="Rounded Rectangle 21"/>
          <p:cNvSpPr/>
          <p:nvPr/>
        </p:nvSpPr>
        <p:spPr>
          <a:xfrm>
            <a:off x="5532120" y="2523744"/>
            <a:ext cx="6172200" cy="40233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587752"/>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Cutaneous flexor excitation</a:t>
            </a:r>
          </a:p>
        </p:txBody>
      </p:sp>
      <p:sp>
        <p:nvSpPr>
          <p:cNvPr id="24" name="TextBox 23"/>
          <p:cNvSpPr txBox="1"/>
          <p:nvPr/>
        </p:nvSpPr>
        <p:spPr>
          <a:xfrm>
            <a:off x="10607040" y="2560320"/>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16</a:t>
            </a:r>
          </a:p>
        </p:txBody>
      </p:sp>
      <p:sp>
        <p:nvSpPr>
          <p:cNvPr id="25" name="Rounded Rectangle 24"/>
          <p:cNvSpPr/>
          <p:nvPr/>
        </p:nvSpPr>
        <p:spPr>
          <a:xfrm>
            <a:off x="5532120" y="2999232"/>
            <a:ext cx="6172200" cy="40233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15000" y="3063240"/>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Ia or II stance to swing</a:t>
            </a:r>
          </a:p>
        </p:txBody>
      </p:sp>
      <p:sp>
        <p:nvSpPr>
          <p:cNvPr id="27" name="TextBox 26"/>
          <p:cNvSpPr txBox="1"/>
          <p:nvPr/>
        </p:nvSpPr>
        <p:spPr>
          <a:xfrm>
            <a:off x="10607040" y="3035808"/>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10</a:t>
            </a:r>
          </a:p>
        </p:txBody>
      </p:sp>
      <p:sp>
        <p:nvSpPr>
          <p:cNvPr id="28" name="Rounded Rectangle 27"/>
          <p:cNvSpPr/>
          <p:nvPr/>
        </p:nvSpPr>
        <p:spPr>
          <a:xfrm>
            <a:off x="5532120" y="3474720"/>
            <a:ext cx="617220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15000" y="3538728"/>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Ia monosynaptic excitation</a:t>
            </a:r>
          </a:p>
        </p:txBody>
      </p:sp>
      <p:sp>
        <p:nvSpPr>
          <p:cNvPr id="30" name="TextBox 29"/>
          <p:cNvSpPr txBox="1"/>
          <p:nvPr/>
        </p:nvSpPr>
        <p:spPr>
          <a:xfrm>
            <a:off x="10607040" y="3511296"/>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7</a:t>
            </a:r>
          </a:p>
        </p:txBody>
      </p:sp>
      <p:sp>
        <p:nvSpPr>
          <p:cNvPr id="31" name="Rounded Rectangle 30"/>
          <p:cNvSpPr/>
          <p:nvPr/>
        </p:nvSpPr>
        <p:spPr>
          <a:xfrm>
            <a:off x="5532120" y="3950208"/>
            <a:ext cx="617220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15000" y="4014216"/>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Ia reciprocal inhibition</a:t>
            </a:r>
          </a:p>
        </p:txBody>
      </p:sp>
      <p:sp>
        <p:nvSpPr>
          <p:cNvPr id="33" name="TextBox 32"/>
          <p:cNvSpPr txBox="1"/>
          <p:nvPr/>
        </p:nvSpPr>
        <p:spPr>
          <a:xfrm>
            <a:off x="10607040" y="3986784"/>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6</a:t>
            </a:r>
          </a:p>
        </p:txBody>
      </p:sp>
      <p:sp>
        <p:nvSpPr>
          <p:cNvPr id="34" name="Rounded Rectangle 33"/>
          <p:cNvSpPr/>
          <p:nvPr/>
        </p:nvSpPr>
        <p:spPr>
          <a:xfrm>
            <a:off x="5532120" y="4425696"/>
            <a:ext cx="617220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15000" y="4489704"/>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Ib disynaptic excitation (reversal)</a:t>
            </a:r>
          </a:p>
        </p:txBody>
      </p:sp>
      <p:sp>
        <p:nvSpPr>
          <p:cNvPr id="36" name="TextBox 35"/>
          <p:cNvSpPr txBox="1"/>
          <p:nvPr/>
        </p:nvSpPr>
        <p:spPr>
          <a:xfrm>
            <a:off x="10607040" y="4462272"/>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6</a:t>
            </a:r>
          </a:p>
        </p:txBody>
      </p:sp>
      <p:sp>
        <p:nvSpPr>
          <p:cNvPr id="37" name="Rounded Rectangle 36"/>
          <p:cNvSpPr/>
          <p:nvPr/>
        </p:nvSpPr>
        <p:spPr>
          <a:xfrm>
            <a:off x="5532120" y="4901183"/>
            <a:ext cx="617220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15000" y="4965192"/>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Ib disynaptic inhibition</a:t>
            </a:r>
          </a:p>
        </p:txBody>
      </p:sp>
      <p:sp>
        <p:nvSpPr>
          <p:cNvPr id="39" name="TextBox 38"/>
          <p:cNvSpPr txBox="1"/>
          <p:nvPr/>
        </p:nvSpPr>
        <p:spPr>
          <a:xfrm>
            <a:off x="10607040" y="4937759"/>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5</a:t>
            </a:r>
          </a:p>
        </p:txBody>
      </p:sp>
      <p:sp>
        <p:nvSpPr>
          <p:cNvPr id="40" name="Rounded Rectangle 39"/>
          <p:cNvSpPr/>
          <p:nvPr/>
        </p:nvSpPr>
        <p:spPr>
          <a:xfrm>
            <a:off x="5532120" y="5376671"/>
            <a:ext cx="617220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15000" y="5440679"/>
            <a:ext cx="4846320" cy="292608"/>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Type II excitatory</a:t>
            </a:r>
          </a:p>
        </p:txBody>
      </p:sp>
      <p:sp>
        <p:nvSpPr>
          <p:cNvPr id="42" name="TextBox 41"/>
          <p:cNvSpPr txBox="1"/>
          <p:nvPr/>
        </p:nvSpPr>
        <p:spPr>
          <a:xfrm>
            <a:off x="10607040" y="5413247"/>
            <a:ext cx="914400" cy="292608"/>
          </a:xfrm>
          <a:prstGeom prst="rect">
            <a:avLst/>
          </a:prstGeom>
          <a:noFill/>
        </p:spPr>
        <p:txBody>
          <a:bodyPr wrap="square" anchor="t" lIns="0" rIns="0" tIns="0" bIns="0">
            <a:spAutoFit/>
          </a:bodyPr>
          <a:lstStyle/>
          <a:p>
            <a:pPr algn="r">
              <a:lnSpc>
                <a:spcPct val="100000"/>
              </a:lnSpc>
            </a:pPr>
            <a:r>
              <a:rPr sz="1400" b="1" i="0">
                <a:solidFill>
                  <a:srgbClr val="AF7B51"/>
                </a:solidFill>
                <a:latin typeface="Calibri"/>
              </a:rPr>
              <a:t>5</a:t>
            </a:r>
          </a:p>
        </p:txBody>
      </p:sp>
      <p:sp>
        <p:nvSpPr>
          <p:cNvPr id="43" name="Rounded Rectangle 42"/>
          <p:cNvSpPr/>
          <p:nvPr/>
        </p:nvSpPr>
        <p:spPr>
          <a:xfrm>
            <a:off x="502920" y="5888736"/>
            <a:ext cx="1965960" cy="493776"/>
          </a:xfrm>
          <a:prstGeom prst="roundRect">
            <a:avLst>
              <a:gd name="adj" fmla="val 12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050" b="0">
                <a:solidFill>
                  <a:srgbClr val="222222"/>
                </a:solidFill>
                <a:latin typeface="Calibri"/>
              </a:rPr>
              <a:t>Rybak 2006</a:t>
            </a:r>
          </a:p>
          <a:p>
            <a:pPr algn="ctr">
              <a:lnSpc>
                <a:spcPct val="95000"/>
              </a:lnSpc>
            </a:pPr>
            <a:r>
              <a:rPr sz="1050" b="0">
                <a:solidFill>
                  <a:srgbClr val="222222"/>
                </a:solidFill>
                <a:latin typeface="Calibri"/>
              </a:rPr>
              <a:t>two-level CPG</a:t>
            </a:r>
          </a:p>
        </p:txBody>
      </p:sp>
      <p:cxnSp>
        <p:nvCxnSpPr>
          <p:cNvPr id="44" name="Connector 43"/>
          <p:cNvCxnSpPr/>
          <p:nvPr/>
        </p:nvCxnSpPr>
        <p:spPr>
          <a:xfrm>
            <a:off x="2487168" y="6135624"/>
            <a:ext cx="274320" cy="0"/>
          </a:xfrm>
          <a:prstGeom prst="line">
            <a:avLst/>
          </a:prstGeom>
          <a:ln w="2032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2788920" y="5888736"/>
            <a:ext cx="1965960" cy="493776"/>
          </a:xfrm>
          <a:prstGeom prst="roundRect">
            <a:avLst>
              <a:gd name="adj" fmla="val 12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050" b="0">
                <a:solidFill>
                  <a:srgbClr val="222222"/>
                </a:solidFill>
                <a:latin typeface="Calibri"/>
              </a:rPr>
              <a:t>Geyer 2010</a:t>
            </a:r>
          </a:p>
          <a:p>
            <a:pPr algn="ctr">
              <a:lnSpc>
                <a:spcPct val="95000"/>
              </a:lnSpc>
            </a:pPr>
            <a:r>
              <a:rPr sz="1050" b="0">
                <a:solidFill>
                  <a:srgbClr val="222222"/>
                </a:solidFill>
                <a:latin typeface="Calibri"/>
              </a:rPr>
              <a:t>muscle-reflex walking</a:t>
            </a:r>
          </a:p>
        </p:txBody>
      </p:sp>
      <p:cxnSp>
        <p:nvCxnSpPr>
          <p:cNvPr id="46" name="Connector 45"/>
          <p:cNvCxnSpPr/>
          <p:nvPr/>
        </p:nvCxnSpPr>
        <p:spPr>
          <a:xfrm>
            <a:off x="4773168" y="6135624"/>
            <a:ext cx="274320" cy="0"/>
          </a:xfrm>
          <a:prstGeom prst="line">
            <a:avLst/>
          </a:prstGeom>
          <a:ln w="2032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074920" y="5888736"/>
            <a:ext cx="1965960" cy="493776"/>
          </a:xfrm>
          <a:prstGeom prst="roundRect">
            <a:avLst>
              <a:gd name="adj" fmla="val 12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050" b="0">
                <a:solidFill>
                  <a:srgbClr val="222222"/>
                </a:solidFill>
                <a:latin typeface="Calibri"/>
              </a:rPr>
              <a:t>Deng 2019</a:t>
            </a:r>
          </a:p>
          <a:p>
            <a:pPr algn="ctr">
              <a:lnSpc>
                <a:spcPct val="95000"/>
              </a:lnSpc>
            </a:pPr>
            <a:r>
              <a:rPr sz="1050" b="0">
                <a:solidFill>
                  <a:srgbClr val="222222"/>
                </a:solidFill>
                <a:latin typeface="Calibri"/>
              </a:rPr>
              <a:t>two-layer walker</a:t>
            </a:r>
          </a:p>
        </p:txBody>
      </p:sp>
      <p:sp>
        <p:nvSpPr>
          <p:cNvPr id="48" name="TextBox 47"/>
          <p:cNvSpPr txBox="1"/>
          <p:nvPr/>
        </p:nvSpPr>
        <p:spPr>
          <a:xfrm>
            <a:off x="7406640" y="5907024"/>
            <a:ext cx="4297680" cy="502920"/>
          </a:xfrm>
          <a:prstGeom prst="rect">
            <a:avLst/>
          </a:prstGeom>
          <a:noFill/>
        </p:spPr>
        <p:txBody>
          <a:bodyPr wrap="square" anchor="t" lIns="0" rIns="0" tIns="0" bIns="0">
            <a:spAutoFit/>
          </a:bodyPr>
          <a:lstStyle/>
          <a:p>
            <a:pPr algn="l">
              <a:lnSpc>
                <a:spcPct val="105000"/>
              </a:lnSpc>
            </a:pPr>
            <a:r>
              <a:rPr sz="1100" b="0" i="0">
                <a:solidFill>
                  <a:srgbClr val="595959"/>
                </a:solidFill>
                <a:latin typeface="Calibri"/>
              </a:rPr>
              <a:t>the Models-table lineage the controller instantiates · 39 pathway records · 258 robot-and-simulation translation notes</a:t>
            </a:r>
          </a:p>
        </p:txBody>
      </p:sp>
      <p:sp>
        <p:nvSpPr>
          <p:cNvPr id="49" name="TextBox 4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PRIOR WORK</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direct ancestor: a hand-tuned AnimatLab bipedal walker whose limits set the verification-first agenda</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§Prior Work (with C. Morrow); Li et al. 2017; Deng et al. 2019; 2021 NIH BRAIN Initiative Meeting</a:t>
            </a:r>
          </a:p>
        </p:txBody>
      </p:sp>
      <p:pic>
        <p:nvPicPr>
          <p:cNvPr id="5" name="Picture 4" descr="c_animatlab_body_gui.png"/>
          <p:cNvPicPr>
            <a:picLocks noChangeAspect="1"/>
          </p:cNvPicPr>
          <p:nvPr/>
        </p:nvPicPr>
        <p:blipFill>
          <a:blip r:embed="rId3"/>
          <a:stretch>
            <a:fillRect/>
          </a:stretch>
        </p:blipFill>
        <p:spPr>
          <a:xfrm>
            <a:off x="1371156" y="1700784"/>
            <a:ext cx="3749927" cy="2011680"/>
          </a:xfrm>
          <a:prstGeom prst="rect">
            <a:avLst/>
          </a:prstGeom>
        </p:spPr>
      </p:pic>
      <p:sp>
        <p:nvSpPr>
          <p:cNvPr id="6" name="TextBox 5"/>
          <p:cNvSpPr txBox="1"/>
          <p:nvPr/>
        </p:nvSpPr>
        <p:spPr>
          <a:xfrm>
            <a:off x="502920" y="3767328"/>
            <a:ext cx="5486400" cy="274320"/>
          </a:xfrm>
          <a:prstGeom prst="rect">
            <a:avLst/>
          </a:prstGeom>
          <a:noFill/>
        </p:spPr>
        <p:txBody>
          <a:bodyPr wrap="square" anchor="t" lIns="0" rIns="0" tIns="0" bIns="0">
            <a:spAutoFit/>
          </a:bodyPr>
          <a:lstStyle/>
          <a:p>
            <a:pPr algn="ctr">
              <a:lnSpc>
                <a:spcPct val="100000"/>
              </a:lnSpc>
            </a:pPr>
            <a:r>
              <a:rPr sz="1100" b="0" i="1">
                <a:solidFill>
                  <a:srgbClr val="7F7F7F"/>
                </a:solidFill>
                <a:latin typeface="Calibri"/>
              </a:rPr>
              <a:t>the working project: biomechanical body at initialization</a:t>
            </a:r>
          </a:p>
        </p:txBody>
      </p:sp>
      <p:pic>
        <p:nvPicPr>
          <p:cNvPr id="7" name="Picture 6" descr="c_animatlab_network_gui.png"/>
          <p:cNvPicPr>
            <a:picLocks noChangeAspect="1"/>
          </p:cNvPicPr>
          <p:nvPr/>
        </p:nvPicPr>
        <p:blipFill>
          <a:blip r:embed="rId4"/>
          <a:stretch>
            <a:fillRect/>
          </a:stretch>
        </p:blipFill>
        <p:spPr>
          <a:xfrm>
            <a:off x="1371156" y="4114800"/>
            <a:ext cx="3749927" cy="2011680"/>
          </a:xfrm>
          <a:prstGeom prst="rect">
            <a:avLst/>
          </a:prstGeom>
        </p:spPr>
      </p:pic>
      <p:sp>
        <p:nvSpPr>
          <p:cNvPr id="8" name="TextBox 7"/>
          <p:cNvSpPr txBox="1"/>
          <p:nvPr/>
        </p:nvSpPr>
        <p:spPr>
          <a:xfrm>
            <a:off x="502920" y="6181344"/>
            <a:ext cx="5486400" cy="274320"/>
          </a:xfrm>
          <a:prstGeom prst="rect">
            <a:avLst/>
          </a:prstGeom>
          <a:noFill/>
        </p:spPr>
        <p:txBody>
          <a:bodyPr wrap="square" anchor="t" lIns="0" rIns="0" tIns="0" bIns="0">
            <a:spAutoFit/>
          </a:bodyPr>
          <a:lstStyle/>
          <a:p>
            <a:pPr algn="ctr">
              <a:lnSpc>
                <a:spcPct val="100000"/>
              </a:lnSpc>
            </a:pPr>
            <a:r>
              <a:rPr sz="1100" b="0" i="1">
                <a:solidFill>
                  <a:srgbClr val="7F7F7F"/>
                </a:solidFill>
                <a:latin typeface="Calibri"/>
              </a:rPr>
              <a:t>the expanded left-side controller subsystem</a:t>
            </a:r>
          </a:p>
        </p:txBody>
      </p:sp>
      <p:sp>
        <p:nvSpPr>
          <p:cNvPr id="9" name="Rounded Rectangle 8"/>
          <p:cNvSpPr/>
          <p:nvPr/>
        </p:nvSpPr>
        <p:spPr>
          <a:xfrm>
            <a:off x="6355080" y="1700784"/>
            <a:ext cx="534924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01368"/>
            <a:ext cx="4937760" cy="777240"/>
          </a:xfrm>
          <a:prstGeom prst="rect">
            <a:avLst/>
          </a:prstGeom>
          <a:noFill/>
        </p:spPr>
        <p:txBody>
          <a:bodyPr wrap="square" anchor="t" lIns="0" rIns="0" tIns="0" bIns="0">
            <a:spAutoFit/>
          </a:bodyPr>
          <a:lstStyle/>
          <a:p>
            <a:pPr algn="l">
              <a:lnSpc>
                <a:spcPct val="100000"/>
              </a:lnSpc>
              <a:spcAft>
                <a:spcPts val="200"/>
              </a:spcAft>
            </a:pPr>
            <a:r>
              <a:rPr sz="1100" b="1" i="0">
                <a:solidFill>
                  <a:srgbClr val="00796B"/>
                </a:solidFill>
                <a:latin typeface="Calibri"/>
              </a:rPr>
              <a:t>THE MODEL</a:t>
            </a:r>
          </a:p>
          <a:p>
            <a:pPr algn="l">
              <a:lnSpc>
                <a:spcPct val="102000"/>
              </a:lnSpc>
            </a:pPr>
            <a:r>
              <a:rPr sz="1250" b="0" i="0">
                <a:solidFill>
                  <a:srgbClr val="222222"/>
                </a:solidFill>
                <a:latin typeface="Calibri"/>
              </a:rPr>
              <a:t>9 rigid bodies · sagittal hinges · antagonistic Hill-type pairs at hip, knee, ankle · passive-spring toe</a:t>
            </a:r>
          </a:p>
        </p:txBody>
      </p:sp>
      <p:sp>
        <p:nvSpPr>
          <p:cNvPr id="11" name="Rounded Rectangle 10"/>
          <p:cNvSpPr/>
          <p:nvPr/>
        </p:nvSpPr>
        <p:spPr>
          <a:xfrm>
            <a:off x="6355080" y="2761488"/>
            <a:ext cx="534924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862072"/>
            <a:ext cx="4937760" cy="777240"/>
          </a:xfrm>
          <a:prstGeom prst="rect">
            <a:avLst/>
          </a:prstGeom>
          <a:noFill/>
        </p:spPr>
        <p:txBody>
          <a:bodyPr wrap="square" anchor="t" lIns="0" rIns="0" tIns="0" bIns="0">
            <a:spAutoFit/>
          </a:bodyPr>
          <a:lstStyle/>
          <a:p>
            <a:pPr algn="l">
              <a:lnSpc>
                <a:spcPct val="100000"/>
              </a:lnSpc>
              <a:spcAft>
                <a:spcPts val="200"/>
              </a:spcAft>
            </a:pPr>
            <a:r>
              <a:rPr sz="1100" b="1" i="0">
                <a:solidFill>
                  <a:srgbClr val="00796B"/>
                </a:solidFill>
                <a:latin typeface="Calibri"/>
              </a:rPr>
              <a:t>THE CONTROLLER</a:t>
            </a:r>
          </a:p>
          <a:p>
            <a:pPr algn="l">
              <a:lnSpc>
                <a:spcPct val="102000"/>
              </a:lnSpc>
            </a:pPr>
            <a:r>
              <a:rPr sz="1250" b="0" i="0">
                <a:solidFill>
                  <a:srgbClr val="222222"/>
                </a:solidFill>
                <a:latin typeface="Calibri"/>
              </a:rPr>
              <a:t>two-layer CPG (RG / PF) + sensorimotor layer with Renshaw-like recurrent inhibition · Ia and Ib wired</a:t>
            </a:r>
          </a:p>
        </p:txBody>
      </p:sp>
      <p:sp>
        <p:nvSpPr>
          <p:cNvPr id="13" name="Rounded Rectangle 12"/>
          <p:cNvSpPr/>
          <p:nvPr/>
        </p:nvSpPr>
        <p:spPr>
          <a:xfrm>
            <a:off x="6355080" y="3822191"/>
            <a:ext cx="5349240" cy="93268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922776"/>
            <a:ext cx="4937760" cy="777240"/>
          </a:xfrm>
          <a:prstGeom prst="rect">
            <a:avLst/>
          </a:prstGeom>
          <a:noFill/>
        </p:spPr>
        <p:txBody>
          <a:bodyPr wrap="square" anchor="t" lIns="0" rIns="0" tIns="0" bIns="0">
            <a:spAutoFit/>
          </a:bodyPr>
          <a:lstStyle/>
          <a:p>
            <a:pPr algn="l">
              <a:lnSpc>
                <a:spcPct val="100000"/>
              </a:lnSpc>
              <a:spcAft>
                <a:spcPts val="200"/>
              </a:spcAft>
            </a:pPr>
            <a:r>
              <a:rPr sz="1100" b="1" i="0">
                <a:solidFill>
                  <a:srgbClr val="C00000"/>
                </a:solidFill>
                <a:latin typeface="Calibri"/>
              </a:rPr>
              <a:t>THE LIMIT</a:t>
            </a:r>
          </a:p>
          <a:p>
            <a:pPr algn="l">
              <a:lnSpc>
                <a:spcPct val="102000"/>
              </a:lnSpc>
            </a:pPr>
            <a:r>
              <a:rPr sz="1250" b="0" i="0">
                <a:solidFill>
                  <a:srgbClr val="222222"/>
                </a:solidFill>
                <a:latin typeface="Calibri"/>
              </a:rPr>
              <a:t>gains never systematically tuned · no ground-contact signals · every current and weight set by hand</a:t>
            </a:r>
          </a:p>
        </p:txBody>
      </p:sp>
      <p:sp>
        <p:nvSpPr>
          <p:cNvPr id="15" name="Rounded Rectangle 14"/>
          <p:cNvSpPr/>
          <p:nvPr/>
        </p:nvSpPr>
        <p:spPr>
          <a:xfrm>
            <a:off x="6355080" y="4882896"/>
            <a:ext cx="5349240" cy="7315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974336"/>
            <a:ext cx="4937760" cy="548640"/>
          </a:xfrm>
          <a:prstGeom prst="rect">
            <a:avLst/>
          </a:prstGeom>
          <a:noFill/>
        </p:spPr>
        <p:txBody>
          <a:bodyPr wrap="square" anchor="t" lIns="0" rIns="0" tIns="0" bIns="0">
            <a:spAutoFit/>
          </a:bodyPr>
          <a:lstStyle/>
          <a:p>
            <a:pPr algn="l">
              <a:lnSpc>
                <a:spcPct val="102000"/>
              </a:lnSpc>
            </a:pPr>
            <a:r>
              <a:rPr sz="1250" b="1" i="0">
                <a:solidFill>
                  <a:srgbClr val="AF7B51"/>
                </a:solidFill>
                <a:latin typeface="Calibri"/>
              </a:rPr>
              <a:t>suspended stepping ≈ 4 Hz (human gait ≈ 1 Hz) — on the ground it could not support the body</a:t>
            </a:r>
          </a:p>
        </p:txBody>
      </p:sp>
      <p:sp>
        <p:nvSpPr>
          <p:cNvPr id="17" name="TextBox 16"/>
          <p:cNvSpPr txBox="1"/>
          <p:nvPr/>
        </p:nvSpPr>
        <p:spPr>
          <a:xfrm>
            <a:off x="6355080" y="5760720"/>
            <a:ext cx="5349240" cy="594360"/>
          </a:xfrm>
          <a:prstGeom prst="rect">
            <a:avLst/>
          </a:prstGeom>
          <a:noFill/>
        </p:spPr>
        <p:txBody>
          <a:bodyPr wrap="square" anchor="t" lIns="0" rIns="0" tIns="0" bIns="0">
            <a:spAutoFit/>
          </a:bodyPr>
          <a:lstStyle/>
          <a:p>
            <a:pPr algn="l">
              <a:lnSpc>
                <a:spcPct val="105000"/>
              </a:lnSpc>
            </a:pPr>
            <a:r>
              <a:rPr sz="1200" b="0" i="1">
                <a:solidFill>
                  <a:srgbClr val="595959"/>
                </a:solidFill>
                <a:latin typeface="Calibri"/>
              </a:rPr>
              <a:t>hand-tuning consumed the bulk of the effort and did not generalize — hence verification first</a:t>
            </a:r>
          </a:p>
        </p:txBody>
      </p:sp>
      <p:sp>
        <p:nvSpPr>
          <p:cNvPr id="18" name="TextBox 1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TOOLCHAIN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A toolchain that did not exist: audited model conversion, BPA force inside the loop, and SNS blocks in Simulink</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§A Neuromechanical Simulation Toolchain; MyoConverter (Caggiano 2022); SNS-Toolbox (Nourse 2023)</a:t>
            </a:r>
          </a:p>
        </p:txBody>
      </p:sp>
      <p:pic>
        <p:nvPicPr>
          <p:cNvPr id="5" name="Picture 4" descr="mujoco_robot.png"/>
          <p:cNvPicPr>
            <a:picLocks noChangeAspect="1"/>
          </p:cNvPicPr>
          <p:nvPr/>
        </p:nvPicPr>
        <p:blipFill>
          <a:blip r:embed="rId3"/>
          <a:stretch>
            <a:fillRect/>
          </a:stretch>
        </p:blipFill>
        <p:spPr>
          <a:xfrm>
            <a:off x="1257300" y="1700784"/>
            <a:ext cx="1737360" cy="2606040"/>
          </a:xfrm>
          <a:prstGeom prst="rect">
            <a:avLst/>
          </a:prstGeom>
        </p:spPr>
      </p:pic>
      <p:pic>
        <p:nvPicPr>
          <p:cNvPr id="6" name="Picture 5" descr="c_mujoco_synthetic_knee.png"/>
          <p:cNvPicPr>
            <a:picLocks noChangeAspect="1"/>
          </p:cNvPicPr>
          <p:nvPr/>
        </p:nvPicPr>
        <p:blipFill>
          <a:blip r:embed="rId4"/>
          <a:stretch>
            <a:fillRect/>
          </a:stretch>
        </p:blipFill>
        <p:spPr>
          <a:xfrm>
            <a:off x="4732020" y="1700784"/>
            <a:ext cx="1737360" cy="2606040"/>
          </a:xfrm>
          <a:prstGeom prst="rect">
            <a:avLst/>
          </a:prstGeom>
        </p:spPr>
      </p:pic>
      <p:pic>
        <p:nvPicPr>
          <p:cNvPr id="7" name="Picture 6" descr="c_simulink_sns_library_grid.png"/>
          <p:cNvPicPr>
            <a:picLocks noChangeAspect="1"/>
          </p:cNvPicPr>
          <p:nvPr/>
        </p:nvPicPr>
        <p:blipFill>
          <a:blip r:embed="rId5"/>
          <a:stretch>
            <a:fillRect/>
          </a:stretch>
        </p:blipFill>
        <p:spPr>
          <a:xfrm>
            <a:off x="7641652" y="1700784"/>
            <a:ext cx="3845942" cy="2606040"/>
          </a:xfrm>
          <a:prstGeom prst="rect">
            <a:avLst/>
          </a:prstGeom>
        </p:spPr>
      </p:pic>
      <p:sp>
        <p:nvSpPr>
          <p:cNvPr id="8" name="TextBox 7"/>
          <p:cNvSpPr txBox="1"/>
          <p:nvPr/>
        </p:nvSpPr>
        <p:spPr>
          <a:xfrm>
            <a:off x="502920" y="4370832"/>
            <a:ext cx="324612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converted robot, reference pose</a:t>
            </a:r>
          </a:p>
        </p:txBody>
      </p:sp>
      <p:sp>
        <p:nvSpPr>
          <p:cNvPr id="9" name="TextBox 8"/>
          <p:cNvSpPr txBox="1"/>
          <p:nvPr/>
        </p:nvSpPr>
        <p:spPr>
          <a:xfrm>
            <a:off x="3977639" y="4370832"/>
            <a:ext cx="324612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synthetic antagonist-BPA knee, −35°</a:t>
            </a:r>
          </a:p>
        </p:txBody>
      </p:sp>
      <p:sp>
        <p:nvSpPr>
          <p:cNvPr id="10" name="TextBox 9"/>
          <p:cNvSpPr txBox="1"/>
          <p:nvPr/>
        </p:nvSpPr>
        <p:spPr>
          <a:xfrm>
            <a:off x="7452360" y="4370832"/>
            <a:ext cx="4224528"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the library's seven core masked blocks</a:t>
            </a:r>
          </a:p>
        </p:txBody>
      </p:sp>
      <p:sp>
        <p:nvSpPr>
          <p:cNvPr id="11" name="TextBox 10"/>
          <p:cNvSpPr txBox="1"/>
          <p:nvPr/>
        </p:nvSpPr>
        <p:spPr>
          <a:xfrm>
            <a:off x="502920" y="4718304"/>
            <a:ext cx="3246120" cy="1371600"/>
          </a:xfrm>
          <a:prstGeom prst="rect">
            <a:avLst/>
          </a:prstGeom>
          <a:noFill/>
        </p:spPr>
        <p:txBody>
          <a:bodyPr wrap="square" anchor="t" lIns="0" rIns="0" tIns="0" bIns="0">
            <a:spAutoFit/>
          </a:bodyPr>
          <a:lstStyle/>
          <a:p>
            <a:pPr algn="l">
              <a:lnSpc>
                <a:spcPct val="100000"/>
              </a:lnSpc>
              <a:spcAft>
                <a:spcPts val="300"/>
              </a:spcAft>
            </a:pPr>
            <a:r>
              <a:rPr sz="1350" b="1" i="0">
                <a:solidFill>
                  <a:srgbClr val="AF7B51"/>
                </a:solidFill>
                <a:latin typeface="Calibri"/>
              </a:rPr>
              <a:t>OpenSim → MuJoCo</a:t>
            </a:r>
          </a:p>
          <a:p>
            <a:pPr algn="l">
              <a:lnSpc>
                <a:spcPct val="105000"/>
              </a:lnSpc>
            </a:pPr>
            <a:r>
              <a:rPr sz="1150" b="0" i="0">
                <a:solidFill>
                  <a:srgbClr val="222222"/>
                </a:solidFill>
                <a:latin typeface="Calibri"/>
              </a:rPr>
              <a:t>92 muscle-tendon actuators · attachment geometry audited · joint signs verified dynamically</a:t>
            </a:r>
          </a:p>
        </p:txBody>
      </p:sp>
      <p:sp>
        <p:nvSpPr>
          <p:cNvPr id="12" name="TextBox 11"/>
          <p:cNvSpPr txBox="1"/>
          <p:nvPr/>
        </p:nvSpPr>
        <p:spPr>
          <a:xfrm>
            <a:off x="3977639" y="4718304"/>
            <a:ext cx="3246120" cy="1371600"/>
          </a:xfrm>
          <a:prstGeom prst="rect">
            <a:avLst/>
          </a:prstGeom>
          <a:noFill/>
        </p:spPr>
        <p:txBody>
          <a:bodyPr wrap="square" anchor="t" lIns="0" rIns="0" tIns="0" bIns="0">
            <a:spAutoFit/>
          </a:bodyPr>
          <a:lstStyle/>
          <a:p>
            <a:pPr algn="l">
              <a:lnSpc>
                <a:spcPct val="100000"/>
              </a:lnSpc>
              <a:spcAft>
                <a:spcPts val="300"/>
              </a:spcAft>
            </a:pPr>
            <a:r>
              <a:rPr sz="1350" b="1" i="0">
                <a:solidFill>
                  <a:srgbClr val="AF7B51"/>
                </a:solidFill>
                <a:latin typeface="Calibri"/>
              </a:rPr>
              <a:t>BPA force in the loop</a:t>
            </a:r>
          </a:p>
          <a:p>
            <a:pPr algn="l">
              <a:lnSpc>
                <a:spcPct val="105000"/>
              </a:lnSpc>
            </a:pPr>
            <a:r>
              <a:rPr sz="1150" b="0" i="0">
                <a:solidFill>
                  <a:srgbClr val="222222"/>
                </a:solidFill>
                <a:latin typeface="Calibri"/>
              </a:rPr>
              <a:t>Ch. 3 force surface + Ch. 4 χ force balance computed in Python at every step</a:t>
            </a:r>
          </a:p>
        </p:txBody>
      </p:sp>
      <p:sp>
        <p:nvSpPr>
          <p:cNvPr id="13" name="TextBox 12"/>
          <p:cNvSpPr txBox="1"/>
          <p:nvPr/>
        </p:nvSpPr>
        <p:spPr>
          <a:xfrm>
            <a:off x="7452360" y="4718304"/>
            <a:ext cx="4224528" cy="1371600"/>
          </a:xfrm>
          <a:prstGeom prst="rect">
            <a:avLst/>
          </a:prstGeom>
          <a:noFill/>
        </p:spPr>
        <p:txBody>
          <a:bodyPr wrap="square" anchor="t" lIns="0" rIns="0" tIns="0" bIns="0">
            <a:spAutoFit/>
          </a:bodyPr>
          <a:lstStyle/>
          <a:p>
            <a:pPr algn="l">
              <a:lnSpc>
                <a:spcPct val="100000"/>
              </a:lnSpc>
              <a:spcAft>
                <a:spcPts val="300"/>
              </a:spcAft>
            </a:pPr>
            <a:r>
              <a:rPr sz="1350" b="1" i="0">
                <a:solidFill>
                  <a:srgbClr val="AF7B51"/>
                </a:solidFill>
                <a:latin typeface="Calibri"/>
              </a:rPr>
              <a:t>Simulink SNS library</a:t>
            </a:r>
          </a:p>
          <a:p>
            <a:pPr algn="l">
              <a:lnSpc>
                <a:spcPct val="105000"/>
              </a:lnSpc>
            </a:pPr>
            <a:r>
              <a:rPr sz="1150" b="0" i="0">
                <a:solidFill>
                  <a:srgbClr val="222222"/>
                </a:solidFill>
                <a:latin typeface="Calibri"/>
              </a:rPr>
              <a:t>7 core blocks, 12 before the spiking additions · knee-reflex demo: sag 2.00° with the reflex vs 7.85° without</a:t>
            </a:r>
          </a:p>
        </p:txBody>
      </p:sp>
      <p:sp>
        <p:nvSpPr>
          <p:cNvPr id="14" name="Rounded Rectangle 13"/>
          <p:cNvSpPr/>
          <p:nvPr/>
        </p:nvSpPr>
        <p:spPr>
          <a:xfrm>
            <a:off x="502920" y="5870448"/>
            <a:ext cx="11173968" cy="566928"/>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961888"/>
            <a:ext cx="1078992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on this coupling: a 410-neuron two-level spinal network · 2 ms neural step matched to the physics engine · isolated rhythm generator oscillates at ≈0.9 s, legs in antiphase</a:t>
            </a:r>
          </a:p>
        </p:txBody>
      </p:sp>
      <p:sp>
        <p:nvSpPr>
          <p:cNvPr id="16" name="TextBox 15"/>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VERIFICATION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contact-driven rhythm core, rebuilt in two engines: exact period agreement, trace r ≥ 0.99996</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§Cross-Platform Verification (NumPy reference vs native Simulink; 12 s runs at a 2 ms step, 1 Hz heel trains)</a:t>
            </a:r>
          </a:p>
        </p:txBody>
      </p:sp>
      <p:pic>
        <p:nvPicPr>
          <p:cNvPr id="5" name="Picture 4" descr="c_sns_w2l_traces.png"/>
          <p:cNvPicPr>
            <a:picLocks noChangeAspect="1"/>
          </p:cNvPicPr>
          <p:nvPr/>
        </p:nvPicPr>
        <p:blipFill>
          <a:blip r:embed="rId3"/>
          <a:stretch>
            <a:fillRect/>
          </a:stretch>
        </p:blipFill>
        <p:spPr>
          <a:xfrm>
            <a:off x="1310857" y="1700784"/>
            <a:ext cx="5196404" cy="4041648"/>
          </a:xfrm>
          <a:prstGeom prst="rect">
            <a:avLst/>
          </a:prstGeom>
        </p:spPr>
      </p:pic>
      <p:sp>
        <p:nvSpPr>
          <p:cNvPr id="6" name="TextBox 5"/>
          <p:cNvSpPr txBox="1"/>
          <p:nvPr/>
        </p:nvSpPr>
        <p:spPr>
          <a:xfrm>
            <a:off x="502920" y="5797296"/>
            <a:ext cx="681228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left / right RG extensor voltages: NumPy reference vs Simulink</a:t>
            </a:r>
          </a:p>
        </p:txBody>
      </p:sp>
      <p:sp>
        <p:nvSpPr>
          <p:cNvPr id="7" name="Rounded Rectangle 6"/>
          <p:cNvSpPr/>
          <p:nvPr/>
        </p:nvSpPr>
        <p:spPr>
          <a:xfrm>
            <a:off x="7543800" y="1737360"/>
            <a:ext cx="4114800" cy="1170432"/>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4968" y="1856231"/>
            <a:ext cx="3749039" cy="960120"/>
          </a:xfrm>
          <a:prstGeom prst="rect">
            <a:avLst/>
          </a:prstGeom>
          <a:noFill/>
        </p:spPr>
        <p:txBody>
          <a:bodyPr wrap="square" anchor="t" lIns="0" rIns="0" tIns="0" bIns="0">
            <a:spAutoFit/>
          </a:bodyPr>
          <a:lstStyle/>
          <a:p>
            <a:pPr algn="l">
              <a:lnSpc>
                <a:spcPct val="100000"/>
              </a:lnSpc>
              <a:spcAft>
                <a:spcPts val="300"/>
              </a:spcAft>
            </a:pPr>
            <a:r>
              <a:rPr sz="1050" b="1" i="0">
                <a:solidFill>
                  <a:srgbClr val="38761D"/>
                </a:solidFill>
                <a:latin typeface="Calibri"/>
              </a:rPr>
              <a:t>PERIOD</a:t>
            </a:r>
          </a:p>
          <a:p>
            <a:pPr algn="l">
              <a:lnSpc>
                <a:spcPct val="105000"/>
              </a:lnSpc>
            </a:pPr>
            <a:r>
              <a:rPr sz="1250" b="1" i="0">
                <a:solidFill>
                  <a:srgbClr val="222222"/>
                </a:solidFill>
                <a:latin typeface="Calibri"/>
              </a:rPr>
              <a:t>1.000 s vs 1.000 s — 0.0% error · antiphase exact · 10 of 10 bursts</a:t>
            </a:r>
          </a:p>
        </p:txBody>
      </p:sp>
      <p:sp>
        <p:nvSpPr>
          <p:cNvPr id="9" name="Rounded Rectangle 8"/>
          <p:cNvSpPr/>
          <p:nvPr/>
        </p:nvSpPr>
        <p:spPr>
          <a:xfrm>
            <a:off x="7543800" y="3035808"/>
            <a:ext cx="4114800" cy="1170432"/>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44968" y="3154679"/>
            <a:ext cx="3749039" cy="960120"/>
          </a:xfrm>
          <a:prstGeom prst="rect">
            <a:avLst/>
          </a:prstGeom>
          <a:noFill/>
        </p:spPr>
        <p:txBody>
          <a:bodyPr wrap="square" anchor="t" lIns="0" rIns="0" tIns="0" bIns="0">
            <a:spAutoFit/>
          </a:bodyPr>
          <a:lstStyle/>
          <a:p>
            <a:pPr algn="l">
              <a:lnSpc>
                <a:spcPct val="100000"/>
              </a:lnSpc>
              <a:spcAft>
                <a:spcPts val="300"/>
              </a:spcAft>
            </a:pPr>
            <a:r>
              <a:rPr sz="1050" b="1" i="0">
                <a:solidFill>
                  <a:srgbClr val="AF7B51"/>
                </a:solidFill>
                <a:latin typeface="Calibri"/>
              </a:rPr>
              <a:t>TRACES</a:t>
            </a:r>
          </a:p>
          <a:p>
            <a:pPr algn="l">
              <a:lnSpc>
                <a:spcPct val="105000"/>
              </a:lnSpc>
            </a:pPr>
            <a:r>
              <a:rPr sz="1250" b="1" i="0">
                <a:solidFill>
                  <a:srgbClr val="222222"/>
                </a:solidFill>
                <a:latin typeface="Calibri"/>
              </a:rPr>
              <a:t>r = 0.99996–0.99998 at a −2 ms lag · RMSE 0.099–0.111 mV</a:t>
            </a:r>
          </a:p>
        </p:txBody>
      </p:sp>
      <p:sp>
        <p:nvSpPr>
          <p:cNvPr id="11" name="Rounded Rectangle 10"/>
          <p:cNvSpPr/>
          <p:nvPr/>
        </p:nvSpPr>
        <p:spPr>
          <a:xfrm>
            <a:off x="7543800" y="4334256"/>
            <a:ext cx="4114800" cy="1170432"/>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4968" y="4453128"/>
            <a:ext cx="3749039" cy="960120"/>
          </a:xfrm>
          <a:prstGeom prst="rect">
            <a:avLst/>
          </a:prstGeom>
          <a:noFill/>
        </p:spPr>
        <p:txBody>
          <a:bodyPr wrap="square" anchor="t" lIns="0" rIns="0" tIns="0" bIns="0">
            <a:spAutoFit/>
          </a:bodyPr>
          <a:lstStyle/>
          <a:p>
            <a:pPr algn="l">
              <a:lnSpc>
                <a:spcPct val="100000"/>
              </a:lnSpc>
              <a:spcAft>
                <a:spcPts val="300"/>
              </a:spcAft>
            </a:pPr>
            <a:r>
              <a:rPr sz="1050" b="1" i="0">
                <a:solidFill>
                  <a:srgbClr val="2E5A88"/>
                </a:solidFill>
                <a:latin typeface="Calibri"/>
              </a:rPr>
              <a:t>ARCHIVED MODELS, HEADLESS</a:t>
            </a:r>
          </a:p>
          <a:p>
            <a:pPr algn="l">
              <a:lnSpc>
                <a:spcPct val="105000"/>
              </a:lnSpc>
            </a:pPr>
            <a:r>
              <a:rPr sz="1250" b="1" i="0">
                <a:solidFill>
                  <a:srgbClr val="222222"/>
                </a:solidFill>
                <a:latin typeface="Calibri"/>
              </a:rPr>
              <a:t>11 / 11 targetable metrics pass on re-run</a:t>
            </a:r>
          </a:p>
        </p:txBody>
      </p:sp>
      <p:sp>
        <p:nvSpPr>
          <p:cNvPr id="13" name="Rounded Rectangle 12"/>
          <p:cNvSpPr/>
          <p:nvPr/>
        </p:nvSpPr>
        <p:spPr>
          <a:xfrm>
            <a:off x="502920" y="6053328"/>
            <a:ext cx="11173968" cy="45720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126480"/>
            <a:ext cx="10789920" cy="329184"/>
          </a:xfrm>
          <a:prstGeom prst="rect">
            <a:avLst/>
          </a:prstGeom>
          <a:noFill/>
        </p:spPr>
        <p:txBody>
          <a:bodyPr wrap="square" anchor="t" lIns="0" rIns="0" tIns="0" bIns="0">
            <a:spAutoFit/>
          </a:bodyPr>
          <a:lstStyle/>
          <a:p>
            <a:pPr algn="ctr">
              <a:lnSpc>
                <a:spcPct val="100000"/>
              </a:lnSpc>
            </a:pPr>
            <a:r>
              <a:rPr sz="1250" b="1" i="0">
                <a:solidFill>
                  <a:srgbClr val="AF7B51"/>
                </a:solidFill>
                <a:latin typeface="Calibri"/>
              </a:rPr>
              <a:t>heel trains removed → static latch in every implementation: contact feedback is drive architecture, not perturbation</a:t>
            </a:r>
          </a:p>
        </p:txBody>
      </p:sp>
      <p:sp>
        <p:nvSpPr>
          <p:cNvPr id="15" name="TextBox 14"/>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END-TO-END CHAIN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characterized BPA model drives a stepping, multi-joint walker in MuJoCo</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§BPA-Actuated Walker in MuJoCo — air-stepping gate; ground failures reported with equal weight</a:t>
            </a:r>
          </a:p>
        </p:txBody>
      </p:sp>
      <p:pic>
        <p:nvPicPr>
          <p:cNvPr id="5" name="Picture 4" descr="c_bpa_ns_knees_big.png"/>
          <p:cNvPicPr>
            <a:picLocks noChangeAspect="1"/>
          </p:cNvPicPr>
          <p:nvPr/>
        </p:nvPicPr>
        <p:blipFill>
          <a:blip r:embed="rId3"/>
          <a:stretch>
            <a:fillRect/>
          </a:stretch>
        </p:blipFill>
        <p:spPr>
          <a:xfrm>
            <a:off x="502920" y="1832609"/>
            <a:ext cx="2724912" cy="2497836"/>
          </a:xfrm>
          <a:prstGeom prst="rect">
            <a:avLst/>
          </a:prstGeom>
        </p:spPr>
      </p:pic>
      <p:sp>
        <p:nvSpPr>
          <p:cNvPr id="6" name="TextBox 5"/>
          <p:cNvSpPr txBox="1"/>
          <p:nvPr/>
        </p:nvSpPr>
        <p:spPr>
          <a:xfrm>
            <a:off x="502920" y="4498848"/>
            <a:ext cx="2724912" cy="411480"/>
          </a:xfrm>
          <a:prstGeom prst="rect">
            <a:avLst/>
          </a:prstGeom>
          <a:noFill/>
        </p:spPr>
        <p:txBody>
          <a:bodyPr wrap="square" anchor="t" lIns="0" rIns="0" tIns="0" bIns="0">
            <a:spAutoFit/>
          </a:bodyPr>
          <a:lstStyle/>
          <a:p>
            <a:pPr algn="ctr">
              <a:lnSpc>
                <a:spcPct val="100000"/>
              </a:lnSpc>
            </a:pPr>
            <a:r>
              <a:rPr sz="950" b="0" i="1">
                <a:solidFill>
                  <a:srgbClr val="7F7F7F"/>
                </a:solidFill>
                <a:latin typeface="Calibri"/>
              </a:rPr>
              <a:t>non-spiking — the chapter's air gate</a:t>
            </a:r>
          </a:p>
          <a:p>
            <a:pPr algn="ctr">
              <a:lnSpc>
                <a:spcPct val="100000"/>
              </a:lnSpc>
            </a:pPr>
            <a:r>
              <a:rPr sz="950" b="0" i="1">
                <a:solidFill>
                  <a:srgbClr val="7F7F7F"/>
                </a:solidFill>
                <a:latin typeface="Calibri"/>
              </a:rPr>
              <a:t>(bpa_ns_best_20261003.npz)</a:t>
            </a:r>
          </a:p>
        </p:txBody>
      </p:sp>
      <p:pic>
        <p:nvPicPr>
          <p:cNvPr id="7" name="Picture 6" descr="c_bpa_spk_knees_big.png"/>
          <p:cNvPicPr>
            <a:picLocks noChangeAspect="1"/>
          </p:cNvPicPr>
          <p:nvPr/>
        </p:nvPicPr>
        <p:blipFill>
          <a:blip r:embed="rId4"/>
          <a:stretch>
            <a:fillRect/>
          </a:stretch>
        </p:blipFill>
        <p:spPr>
          <a:xfrm>
            <a:off x="3319272" y="1832609"/>
            <a:ext cx="2724912" cy="2497836"/>
          </a:xfrm>
          <a:prstGeom prst="rect">
            <a:avLst/>
          </a:prstGeom>
        </p:spPr>
      </p:pic>
      <p:sp>
        <p:nvSpPr>
          <p:cNvPr id="8" name="TextBox 7"/>
          <p:cNvSpPr txBox="1"/>
          <p:nvPr/>
        </p:nvSpPr>
        <p:spPr>
          <a:xfrm>
            <a:off x="3319272" y="4498848"/>
            <a:ext cx="2724912" cy="411480"/>
          </a:xfrm>
          <a:prstGeom prst="rect">
            <a:avLst/>
          </a:prstGeom>
          <a:noFill/>
        </p:spPr>
        <p:txBody>
          <a:bodyPr wrap="square" anchor="t" lIns="0" rIns="0" tIns="0" bIns="0">
            <a:spAutoFit/>
          </a:bodyPr>
          <a:lstStyle/>
          <a:p>
            <a:pPr algn="ctr">
              <a:lnSpc>
                <a:spcPct val="100000"/>
              </a:lnSpc>
            </a:pPr>
            <a:r>
              <a:rPr sz="950" b="0" i="1">
                <a:solidFill>
                  <a:srgbClr val="7F7F7F"/>
                </a:solidFill>
                <a:latin typeface="Calibri"/>
              </a:rPr>
              <a:t>spiking twin — since submission</a:t>
            </a:r>
          </a:p>
          <a:p>
            <a:pPr algn="ctr">
              <a:lnSpc>
                <a:spcPct val="100000"/>
              </a:lnSpc>
            </a:pPr>
            <a:r>
              <a:rPr sz="950" b="0" i="1">
                <a:solidFill>
                  <a:srgbClr val="7F7F7F"/>
                </a:solidFill>
                <a:latin typeface="Calibri"/>
              </a:rPr>
              <a:t>(bpa_spk_best_20261003.npz)</a:t>
            </a:r>
          </a:p>
        </p:txBody>
      </p:sp>
      <p:sp>
        <p:nvSpPr>
          <p:cNvPr id="9" name="TextBox 8"/>
          <p:cNvSpPr txBox="1"/>
          <p:nvPr/>
        </p:nvSpPr>
        <p:spPr>
          <a:xfrm>
            <a:off x="502920" y="5047488"/>
            <a:ext cx="1783080" cy="1463040"/>
          </a:xfrm>
          <a:prstGeom prst="rect">
            <a:avLst/>
          </a:prstGeom>
          <a:noFill/>
        </p:spPr>
        <p:txBody>
          <a:bodyPr wrap="square" anchor="t" lIns="0" rIns="0" tIns="0" bIns="0">
            <a:spAutoFit/>
          </a:bodyPr>
          <a:lstStyle/>
          <a:p>
            <a:pPr algn="ctr">
              <a:lnSpc>
                <a:spcPct val="100000"/>
              </a:lnSpc>
              <a:spcAft>
                <a:spcPts val="200"/>
              </a:spcAft>
            </a:pPr>
            <a:r>
              <a:rPr sz="1500" b="1" i="0">
                <a:solidFill>
                  <a:srgbClr val="AF7B51"/>
                </a:solidFill>
                <a:latin typeface="Calibri"/>
              </a:rPr>
              <a:t>1.542 s</a:t>
            </a:r>
          </a:p>
          <a:p>
            <a:pPr algn="ctr">
              <a:lnSpc>
                <a:spcPct val="95000"/>
              </a:lnSpc>
            </a:pPr>
            <a:r>
              <a:rPr sz="900" b="0" i="0">
                <a:solidFill>
                  <a:srgbClr val="595959"/>
                </a:solidFill>
                <a:latin typeface="Calibri"/>
              </a:rPr>
              <a:t>knee-flexion period</a:t>
            </a:r>
          </a:p>
        </p:txBody>
      </p:sp>
      <p:sp>
        <p:nvSpPr>
          <p:cNvPr id="10" name="TextBox 9"/>
          <p:cNvSpPr txBox="1"/>
          <p:nvPr/>
        </p:nvSpPr>
        <p:spPr>
          <a:xfrm>
            <a:off x="2386584" y="5047488"/>
            <a:ext cx="1783080" cy="1463040"/>
          </a:xfrm>
          <a:prstGeom prst="rect">
            <a:avLst/>
          </a:prstGeom>
          <a:noFill/>
        </p:spPr>
        <p:txBody>
          <a:bodyPr wrap="square" anchor="t" lIns="0" rIns="0" tIns="0" bIns="0">
            <a:spAutoFit/>
          </a:bodyPr>
          <a:lstStyle/>
          <a:p>
            <a:pPr algn="ctr">
              <a:lnSpc>
                <a:spcPct val="100000"/>
              </a:lnSpc>
              <a:spcAft>
                <a:spcPts val="200"/>
              </a:spcAft>
            </a:pPr>
            <a:r>
              <a:rPr sz="1500" b="1" i="0">
                <a:solidFill>
                  <a:srgbClr val="AF7B51"/>
                </a:solidFill>
                <a:latin typeface="Calibri"/>
              </a:rPr>
              <a:t>63.5°</a:t>
            </a:r>
          </a:p>
          <a:p>
            <a:pPr algn="ctr">
              <a:lnSpc>
                <a:spcPct val="95000"/>
              </a:lnSpc>
            </a:pPr>
            <a:r>
              <a:rPr sz="900" b="0" i="0">
                <a:solidFill>
                  <a:srgbClr val="595959"/>
                </a:solidFill>
                <a:latin typeface="Calibri"/>
              </a:rPr>
              <a:t>knee-flexion range</a:t>
            </a:r>
          </a:p>
        </p:txBody>
      </p:sp>
      <p:sp>
        <p:nvSpPr>
          <p:cNvPr id="11" name="TextBox 10"/>
          <p:cNvSpPr txBox="1"/>
          <p:nvPr/>
        </p:nvSpPr>
        <p:spPr>
          <a:xfrm>
            <a:off x="4270248" y="5047488"/>
            <a:ext cx="1783080" cy="1463040"/>
          </a:xfrm>
          <a:prstGeom prst="rect">
            <a:avLst/>
          </a:prstGeom>
          <a:noFill/>
        </p:spPr>
        <p:txBody>
          <a:bodyPr wrap="square" anchor="t" lIns="0" rIns="0" tIns="0" bIns="0">
            <a:spAutoFit/>
          </a:bodyPr>
          <a:lstStyle/>
          <a:p>
            <a:pPr algn="ctr">
              <a:lnSpc>
                <a:spcPct val="100000"/>
              </a:lnSpc>
              <a:spcAft>
                <a:spcPts val="200"/>
              </a:spcAft>
            </a:pPr>
            <a:r>
              <a:rPr sz="1500" b="1" i="0">
                <a:solidFill>
                  <a:srgbClr val="AF7B51"/>
                </a:solidFill>
                <a:latin typeface="Calibri"/>
              </a:rPr>
              <a:t>880 / 1372 N</a:t>
            </a:r>
          </a:p>
          <a:p>
            <a:pPr algn="ctr">
              <a:lnSpc>
                <a:spcPct val="95000"/>
              </a:lnSpc>
            </a:pPr>
            <a:r>
              <a:rPr sz="900" b="0" i="0">
                <a:solidFill>
                  <a:srgbClr val="595959"/>
                </a:solidFill>
                <a:latin typeface="Calibri"/>
              </a:rPr>
              <a:t>peak BPA force, L / R</a:t>
            </a:r>
          </a:p>
        </p:txBody>
      </p:sp>
      <p:sp>
        <p:nvSpPr>
          <p:cNvPr id="12" name="TextBox 11"/>
          <p:cNvSpPr txBox="1"/>
          <p:nvPr/>
        </p:nvSpPr>
        <p:spPr>
          <a:xfrm>
            <a:off x="502920" y="5760720"/>
            <a:ext cx="1783080" cy="1463040"/>
          </a:xfrm>
          <a:prstGeom prst="rect">
            <a:avLst/>
          </a:prstGeom>
          <a:noFill/>
        </p:spPr>
        <p:txBody>
          <a:bodyPr wrap="square" anchor="t" lIns="0" rIns="0" tIns="0" bIns="0">
            <a:spAutoFit/>
          </a:bodyPr>
          <a:lstStyle/>
          <a:p>
            <a:pPr algn="ctr">
              <a:lnSpc>
                <a:spcPct val="100000"/>
              </a:lnSpc>
              <a:spcAft>
                <a:spcPts val="200"/>
              </a:spcAft>
            </a:pPr>
            <a:r>
              <a:rPr sz="1500" b="1" i="0">
                <a:solidFill>
                  <a:srgbClr val="AF7B51"/>
                </a:solidFill>
                <a:latin typeface="Calibri"/>
              </a:rPr>
              <a:t>372 kPa</a:t>
            </a:r>
          </a:p>
          <a:p>
            <a:pPr algn="ctr">
              <a:lnSpc>
                <a:spcPct val="95000"/>
              </a:lnSpc>
            </a:pPr>
            <a:r>
              <a:rPr sz="900" b="0" i="0">
                <a:solidFill>
                  <a:srgbClr val="595959"/>
                </a:solidFill>
                <a:latin typeface="Calibri"/>
              </a:rPr>
              <a:t>peak pressure — 60% of ceiling</a:t>
            </a:r>
          </a:p>
        </p:txBody>
      </p:sp>
      <p:sp>
        <p:nvSpPr>
          <p:cNvPr id="13" name="TextBox 12"/>
          <p:cNvSpPr txBox="1"/>
          <p:nvPr/>
        </p:nvSpPr>
        <p:spPr>
          <a:xfrm>
            <a:off x="2386584" y="5760720"/>
            <a:ext cx="1783080" cy="1463040"/>
          </a:xfrm>
          <a:prstGeom prst="rect">
            <a:avLst/>
          </a:prstGeom>
          <a:noFill/>
        </p:spPr>
        <p:txBody>
          <a:bodyPr wrap="square" anchor="t" lIns="0" rIns="0" tIns="0" bIns="0">
            <a:spAutoFit/>
          </a:bodyPr>
          <a:lstStyle/>
          <a:p>
            <a:pPr algn="ctr">
              <a:lnSpc>
                <a:spcPct val="100000"/>
              </a:lnSpc>
              <a:spcAft>
                <a:spcPts val="200"/>
              </a:spcAft>
            </a:pPr>
            <a:r>
              <a:rPr sz="1500" b="1" i="0">
                <a:solidFill>
                  <a:srgbClr val="AF7B51"/>
                </a:solidFill>
                <a:latin typeface="Calibri"/>
              </a:rPr>
              <a:t>70%</a:t>
            </a:r>
          </a:p>
          <a:p>
            <a:pPr algn="ctr">
              <a:lnSpc>
                <a:spcPct val="95000"/>
              </a:lnSpc>
            </a:pPr>
            <a:r>
              <a:rPr sz="900" b="0" i="0">
                <a:solidFill>
                  <a:srgbClr val="595959"/>
                </a:solidFill>
                <a:latin typeface="Calibri"/>
              </a:rPr>
              <a:t>body weight on the harness</a:t>
            </a:r>
          </a:p>
        </p:txBody>
      </p:sp>
      <p:sp>
        <p:nvSpPr>
          <p:cNvPr id="14" name="TextBox 13"/>
          <p:cNvSpPr txBox="1"/>
          <p:nvPr/>
        </p:nvSpPr>
        <p:spPr>
          <a:xfrm>
            <a:off x="4270248" y="5760720"/>
            <a:ext cx="1783080" cy="1463040"/>
          </a:xfrm>
          <a:prstGeom prst="rect">
            <a:avLst/>
          </a:prstGeom>
          <a:noFill/>
        </p:spPr>
        <p:txBody>
          <a:bodyPr wrap="square" anchor="t" lIns="0" rIns="0" tIns="0" bIns="0">
            <a:spAutoFit/>
          </a:bodyPr>
          <a:lstStyle/>
          <a:p>
            <a:pPr algn="ctr">
              <a:lnSpc>
                <a:spcPct val="100000"/>
              </a:lnSpc>
              <a:spcAft>
                <a:spcPts val="200"/>
              </a:spcAft>
            </a:pPr>
            <a:r>
              <a:rPr sz="1500" b="1" i="0">
                <a:solidFill>
                  <a:srgbClr val="AF7B51"/>
                </a:solidFill>
                <a:latin typeface="Calibri"/>
              </a:rPr>
              <a:t>7 / 5</a:t>
            </a:r>
          </a:p>
          <a:p>
            <a:pPr algn="ctr">
              <a:lnSpc>
                <a:spcPct val="95000"/>
              </a:lnSpc>
            </a:pPr>
            <a:r>
              <a:rPr sz="900" b="0" i="0">
                <a:solidFill>
                  <a:srgbClr val="595959"/>
                </a:solidFill>
                <a:latin typeface="Calibri"/>
              </a:rPr>
              <a:t>heel-contact episodes, L / R</a:t>
            </a:r>
          </a:p>
        </p:txBody>
      </p:sp>
      <p:sp>
        <p:nvSpPr>
          <p:cNvPr id="15" name="Rounded Rectangle 14"/>
          <p:cNvSpPr/>
          <p:nvPr/>
        </p:nvSpPr>
        <p:spPr>
          <a:xfrm>
            <a:off x="6355080" y="1719072"/>
            <a:ext cx="5303520" cy="148132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828800"/>
            <a:ext cx="4892040" cy="1298448"/>
          </a:xfrm>
          <a:prstGeom prst="rect">
            <a:avLst/>
          </a:prstGeom>
          <a:noFill/>
        </p:spPr>
        <p:txBody>
          <a:bodyPr wrap="square" anchor="t" lIns="0" rIns="0" tIns="0" bIns="0">
            <a:spAutoFit/>
          </a:bodyPr>
          <a:lstStyle/>
          <a:p>
            <a:pPr algn="l">
              <a:lnSpc>
                <a:spcPct val="100000"/>
              </a:lnSpc>
              <a:spcAft>
                <a:spcPts val="300"/>
              </a:spcAft>
            </a:pPr>
            <a:r>
              <a:rPr sz="1100" b="1" i="0">
                <a:solidFill>
                  <a:srgbClr val="C00000"/>
                </a:solidFill>
                <a:latin typeface="Calibri"/>
              </a:rPr>
              <a:t>ON THE GROUND, SAME WEIGHT</a:t>
            </a:r>
          </a:p>
          <a:p>
            <a:pPr algn="l">
              <a:lnSpc>
                <a:spcPct val="105000"/>
              </a:lnSpc>
            </a:pPr>
            <a:r>
              <a:rPr sz="1250" b="0" i="0">
                <a:solidFill>
                  <a:srgbClr val="222222"/>
                </a:solidFill>
                <a:latin typeface="Calibri"/>
              </a:rPr>
              <a:t>W2L stands but does not walk: heel duty zero, +0.001 m · Li: no stance in 7 drop variants</a:t>
            </a:r>
          </a:p>
        </p:txBody>
      </p:sp>
      <p:sp>
        <p:nvSpPr>
          <p:cNvPr id="17" name="Rounded Rectangle 16"/>
          <p:cNvSpPr/>
          <p:nvPr/>
        </p:nvSpPr>
        <p:spPr>
          <a:xfrm>
            <a:off x="6355080" y="3310128"/>
            <a:ext cx="5303520" cy="841248"/>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419856"/>
            <a:ext cx="4892040" cy="658368"/>
          </a:xfrm>
          <a:prstGeom prst="rect">
            <a:avLst/>
          </a:prstGeom>
          <a:noFill/>
        </p:spPr>
        <p:txBody>
          <a:bodyPr wrap="square" anchor="t" lIns="0" rIns="0" tIns="0" bIns="0">
            <a:spAutoFit/>
          </a:bodyPr>
          <a:lstStyle/>
          <a:p>
            <a:pPr algn="l">
              <a:lnSpc>
                <a:spcPct val="105000"/>
              </a:lnSpc>
            </a:pPr>
            <a:r>
              <a:rPr sz="1300" b="1" i="0">
                <a:solidFill>
                  <a:srgbClr val="AF7B51"/>
                </a:solidFill>
                <a:latin typeface="Calibri"/>
              </a:rPr>
              <a:t>the missing piece is balance and weight-bearing — not rhythm, actuators, or engines</a:t>
            </a:r>
          </a:p>
        </p:txBody>
      </p:sp>
      <p:sp>
        <p:nvSpPr>
          <p:cNvPr id="19" name="Rounded Rectangle 18"/>
          <p:cNvSpPr/>
          <p:nvPr/>
        </p:nvSpPr>
        <p:spPr>
          <a:xfrm>
            <a:off x="6355080" y="4261104"/>
            <a:ext cx="5303520" cy="1188720"/>
          </a:xfrm>
          <a:prstGeom prst="roundRect">
            <a:avLst>
              <a:gd name="adj" fmla="val 8000"/>
            </a:avLst>
          </a:prstGeom>
          <a:solidFill>
            <a:srgbClr val="F5F2EE"/>
          </a:solidFill>
          <a:ln w="12700">
            <a:solidFill>
              <a:srgbClr val="0079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352544"/>
            <a:ext cx="4892040" cy="1024128"/>
          </a:xfrm>
          <a:prstGeom prst="rect">
            <a:avLst/>
          </a:prstGeom>
          <a:noFill/>
        </p:spPr>
        <p:txBody>
          <a:bodyPr wrap="square" anchor="t" lIns="0" rIns="0" tIns="0" bIns="0">
            <a:spAutoFit/>
          </a:bodyPr>
          <a:lstStyle/>
          <a:p>
            <a:pPr algn="l">
              <a:lnSpc>
                <a:spcPct val="100000"/>
              </a:lnSpc>
              <a:spcAft>
                <a:spcPts val="200"/>
              </a:spcAft>
            </a:pPr>
            <a:r>
              <a:rPr sz="1050" b="1" i="0">
                <a:solidFill>
                  <a:srgbClr val="00796B"/>
                </a:solidFill>
                <a:latin typeface="Calibri"/>
              </a:rPr>
              <a:t>SINCE SUBMISSION</a:t>
            </a:r>
          </a:p>
          <a:p>
            <a:pPr algn="l">
              <a:lnSpc>
                <a:spcPct val="103000"/>
              </a:lnSpc>
            </a:pPr>
            <a:r>
              <a:rPr sz="1150" b="0" i="0">
                <a:solidFill>
                  <a:srgbClr val="222222"/>
                </a:solidFill>
                <a:latin typeface="Calibri"/>
              </a:rPr>
              <a:t>the spiking twin matches the air gate (knee 62.7° / 61.9°, 9 / 9 contacts) and outscores non-spiking in tuning: 266.9 vs 185.9</a:t>
            </a:r>
          </a:p>
          <a:p>
            <a:pPr algn="l">
              <a:lnSpc>
                <a:spcPct val="100000"/>
              </a:lnSpc>
            </a:pPr>
            <a:r>
              <a:rPr sz="900" b="0" i="1">
                <a:solidFill>
                  <a:srgbClr val="7F7F7F"/>
                </a:solidFill>
                <a:latin typeface="Calibri"/>
              </a:rPr>
              <a:t>artifacts: bpa_spk_best_20261003.npz · CURRICULUM_RUN_20261003.log</a:t>
            </a:r>
          </a:p>
        </p:txBody>
      </p:sp>
      <p:sp>
        <p:nvSpPr>
          <p:cNvPr id="21" name="TextBox 20"/>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HONEST SCOPE CHECK</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Tuning to one reference transfers poorly: 43 diverse human reference cycles score one to two orders worse</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§Gait-Validation Sweep, Table 6.1 — library: 32 running + 10 walking + 1 predicted cycle</a:t>
            </a:r>
          </a:p>
        </p:txBody>
      </p:sp>
      <p:sp>
        <p:nvSpPr>
          <p:cNvPr id="5" name="TextBox 4"/>
          <p:cNvSpPr txBox="1"/>
          <p:nvPr/>
        </p:nvSpPr>
        <p:spPr>
          <a:xfrm>
            <a:off x="502920" y="1682496"/>
            <a:ext cx="4206240" cy="274320"/>
          </a:xfrm>
          <a:prstGeom prst="rect">
            <a:avLst/>
          </a:prstGeom>
          <a:noFill/>
        </p:spPr>
        <p:txBody>
          <a:bodyPr wrap="square" anchor="t" lIns="0" rIns="0" tIns="0" bIns="0">
            <a:spAutoFit/>
          </a:bodyPr>
          <a:lstStyle/>
          <a:p>
            <a:pPr algn="l">
              <a:lnSpc>
                <a:spcPct val="100000"/>
              </a:lnSpc>
            </a:pPr>
            <a:r>
              <a:rPr sz="1100" b="1" i="0">
                <a:solidFill>
                  <a:srgbClr val="00796B"/>
                </a:solidFill>
                <a:latin typeface="Calibri"/>
              </a:rPr>
              <a:t>CYCLE-SHAPE KINEMATIC SCORE (0 = PERFECT)</a:t>
            </a:r>
          </a:p>
        </p:txBody>
      </p:sp>
      <p:sp>
        <p:nvSpPr>
          <p:cNvPr id="6" name="Rounded Rectangle 5"/>
          <p:cNvSpPr/>
          <p:nvPr/>
        </p:nvSpPr>
        <p:spPr>
          <a:xfrm>
            <a:off x="502920" y="2029968"/>
            <a:ext cx="4206240" cy="78638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03120"/>
            <a:ext cx="1371600" cy="320040"/>
          </a:xfrm>
          <a:prstGeom prst="rect">
            <a:avLst/>
          </a:prstGeom>
          <a:noFill/>
        </p:spPr>
        <p:txBody>
          <a:bodyPr wrap="square" anchor="t" lIns="0" rIns="0" tIns="0" bIns="0">
            <a:spAutoFit/>
          </a:bodyPr>
          <a:lstStyle/>
          <a:p>
            <a:pPr algn="l">
              <a:lnSpc>
                <a:spcPct val="100000"/>
              </a:lnSpc>
            </a:pPr>
            <a:r>
              <a:rPr sz="1400" b="1" i="0">
                <a:solidFill>
                  <a:srgbClr val="38761D"/>
                </a:solidFill>
                <a:latin typeface="Calibri"/>
              </a:rPr>
              <a:t>w2lvar</a:t>
            </a:r>
          </a:p>
        </p:txBody>
      </p:sp>
      <p:sp>
        <p:nvSpPr>
          <p:cNvPr id="8" name="TextBox 7"/>
          <p:cNvSpPr txBox="1"/>
          <p:nvPr/>
        </p:nvSpPr>
        <p:spPr>
          <a:xfrm>
            <a:off x="685800" y="2468880"/>
            <a:ext cx="1463040" cy="274320"/>
          </a:xfrm>
          <a:prstGeom prst="rect">
            <a:avLst/>
          </a:prstGeom>
          <a:noFill/>
        </p:spPr>
        <p:txBody>
          <a:bodyPr wrap="square" anchor="t" lIns="0" rIns="0" tIns="0" bIns="0">
            <a:spAutoFit/>
          </a:bodyPr>
          <a:lstStyle/>
          <a:p>
            <a:pPr algn="l">
              <a:lnSpc>
                <a:spcPct val="100000"/>
              </a:lnSpc>
            </a:pPr>
            <a:r>
              <a:rPr sz="1050" b="1" i="0">
                <a:solidFill>
                  <a:srgbClr val="38761D"/>
                </a:solidFill>
                <a:latin typeface="Calibri"/>
              </a:rPr>
              <a:t>closest</a:t>
            </a:r>
          </a:p>
        </p:txBody>
      </p:sp>
      <p:sp>
        <p:nvSpPr>
          <p:cNvPr id="9" name="TextBox 8"/>
          <p:cNvSpPr txBox="1"/>
          <p:nvPr/>
        </p:nvSpPr>
        <p:spPr>
          <a:xfrm>
            <a:off x="2148840" y="2139696"/>
            <a:ext cx="2468880" cy="640080"/>
          </a:xfrm>
          <a:prstGeom prst="rect">
            <a:avLst/>
          </a:prstGeom>
          <a:noFill/>
        </p:spPr>
        <p:txBody>
          <a:bodyPr wrap="square" anchor="t" lIns="0" rIns="0" tIns="0" bIns="0">
            <a:spAutoFit/>
          </a:bodyPr>
          <a:lstStyle/>
          <a:p>
            <a:pPr algn="l">
              <a:lnSpc>
                <a:spcPct val="100000"/>
              </a:lnSpc>
              <a:spcAft>
                <a:spcPts val="200"/>
              </a:spcAft>
            </a:pPr>
            <a:r>
              <a:rPr sz="1200" b="0" i="0">
                <a:solidFill>
                  <a:srgbClr val="595959"/>
                </a:solidFill>
                <a:latin typeface="Calibri"/>
              </a:rPr>
              <a:t>tuning-ref  −144.5</a:t>
            </a:r>
          </a:p>
          <a:p>
            <a:pPr algn="l">
              <a:lnSpc>
                <a:spcPct val="100000"/>
              </a:lnSpc>
            </a:pPr>
            <a:r>
              <a:rPr sz="1350" b="1" i="0">
                <a:solidFill>
                  <a:srgbClr val="222222"/>
                </a:solidFill>
                <a:latin typeface="Calibri"/>
              </a:rPr>
              <a:t>library mean  −5808</a:t>
            </a:r>
          </a:p>
        </p:txBody>
      </p:sp>
      <p:sp>
        <p:nvSpPr>
          <p:cNvPr id="10" name="Rounded Rectangle 9"/>
          <p:cNvSpPr/>
          <p:nvPr/>
        </p:nvSpPr>
        <p:spPr>
          <a:xfrm>
            <a:off x="502920" y="2944368"/>
            <a:ext cx="4206240" cy="78638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017520"/>
            <a:ext cx="1371600" cy="320040"/>
          </a:xfrm>
          <a:prstGeom prst="rect">
            <a:avLst/>
          </a:prstGeom>
          <a:noFill/>
        </p:spPr>
        <p:txBody>
          <a:bodyPr wrap="square" anchor="t" lIns="0" rIns="0" tIns="0" bIns="0">
            <a:spAutoFit/>
          </a:bodyPr>
          <a:lstStyle/>
          <a:p>
            <a:pPr algn="l">
              <a:lnSpc>
                <a:spcPct val="100000"/>
              </a:lnSpc>
            </a:pPr>
            <a:r>
              <a:rPr sz="1400" b="1" i="0">
                <a:solidFill>
                  <a:srgbClr val="222222"/>
                </a:solidFill>
                <a:latin typeface="Calibri"/>
              </a:rPr>
              <a:t>s3kpruned</a:t>
            </a:r>
          </a:p>
        </p:txBody>
      </p:sp>
      <p:sp>
        <p:nvSpPr>
          <p:cNvPr id="12" name="TextBox 11"/>
          <p:cNvSpPr txBox="1"/>
          <p:nvPr/>
        </p:nvSpPr>
        <p:spPr>
          <a:xfrm>
            <a:off x="2148840" y="3054096"/>
            <a:ext cx="2468880" cy="640080"/>
          </a:xfrm>
          <a:prstGeom prst="rect">
            <a:avLst/>
          </a:prstGeom>
          <a:noFill/>
        </p:spPr>
        <p:txBody>
          <a:bodyPr wrap="square" anchor="t" lIns="0" rIns="0" tIns="0" bIns="0">
            <a:spAutoFit/>
          </a:bodyPr>
          <a:lstStyle/>
          <a:p>
            <a:pPr algn="l">
              <a:lnSpc>
                <a:spcPct val="100000"/>
              </a:lnSpc>
              <a:spcAft>
                <a:spcPts val="200"/>
              </a:spcAft>
            </a:pPr>
            <a:r>
              <a:rPr sz="1200" b="0" i="0">
                <a:solidFill>
                  <a:srgbClr val="595959"/>
                </a:solidFill>
                <a:latin typeface="Calibri"/>
              </a:rPr>
              <a:t>tuning-ref  −176.1</a:t>
            </a:r>
          </a:p>
          <a:p>
            <a:pPr algn="l">
              <a:lnSpc>
                <a:spcPct val="100000"/>
              </a:lnSpc>
            </a:pPr>
            <a:r>
              <a:rPr sz="1350" b="1" i="0">
                <a:solidFill>
                  <a:srgbClr val="222222"/>
                </a:solidFill>
                <a:latin typeface="Calibri"/>
              </a:rPr>
              <a:t>library mean  −6924</a:t>
            </a:r>
          </a:p>
        </p:txBody>
      </p:sp>
      <p:sp>
        <p:nvSpPr>
          <p:cNvPr id="13" name="Rounded Rectangle 12"/>
          <p:cNvSpPr/>
          <p:nvPr/>
        </p:nvSpPr>
        <p:spPr>
          <a:xfrm>
            <a:off x="502920" y="3858768"/>
            <a:ext cx="4206240" cy="78638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31920"/>
            <a:ext cx="1371600" cy="320040"/>
          </a:xfrm>
          <a:prstGeom prst="rect">
            <a:avLst/>
          </a:prstGeom>
          <a:noFill/>
        </p:spPr>
        <p:txBody>
          <a:bodyPr wrap="square" anchor="t" lIns="0" rIns="0" tIns="0" bIns="0">
            <a:spAutoFit/>
          </a:bodyPr>
          <a:lstStyle/>
          <a:p>
            <a:pPr algn="l">
              <a:lnSpc>
                <a:spcPct val="100000"/>
              </a:lnSpc>
            </a:pPr>
            <a:r>
              <a:rPr sz="1400" b="1" i="0">
                <a:solidFill>
                  <a:srgbClr val="222222"/>
                </a:solidFill>
                <a:latin typeface="Calibri"/>
              </a:rPr>
              <a:t>s3k</a:t>
            </a:r>
          </a:p>
        </p:txBody>
      </p:sp>
      <p:sp>
        <p:nvSpPr>
          <p:cNvPr id="15" name="TextBox 14"/>
          <p:cNvSpPr txBox="1"/>
          <p:nvPr/>
        </p:nvSpPr>
        <p:spPr>
          <a:xfrm>
            <a:off x="2148840" y="3968496"/>
            <a:ext cx="2468880" cy="640080"/>
          </a:xfrm>
          <a:prstGeom prst="rect">
            <a:avLst/>
          </a:prstGeom>
          <a:noFill/>
        </p:spPr>
        <p:txBody>
          <a:bodyPr wrap="square" anchor="t" lIns="0" rIns="0" tIns="0" bIns="0">
            <a:spAutoFit/>
          </a:bodyPr>
          <a:lstStyle/>
          <a:p>
            <a:pPr algn="l">
              <a:lnSpc>
                <a:spcPct val="100000"/>
              </a:lnSpc>
              <a:spcAft>
                <a:spcPts val="200"/>
              </a:spcAft>
            </a:pPr>
            <a:r>
              <a:rPr sz="1200" b="0" i="0">
                <a:solidFill>
                  <a:srgbClr val="595959"/>
                </a:solidFill>
                <a:latin typeface="Calibri"/>
              </a:rPr>
              <a:t>tuning-ref  −186.4</a:t>
            </a:r>
          </a:p>
          <a:p>
            <a:pPr algn="l">
              <a:lnSpc>
                <a:spcPct val="100000"/>
              </a:lnSpc>
            </a:pPr>
            <a:r>
              <a:rPr sz="1350" b="1" i="0">
                <a:solidFill>
                  <a:srgbClr val="222222"/>
                </a:solidFill>
                <a:latin typeface="Calibri"/>
              </a:rPr>
              <a:t>library mean  −8776</a:t>
            </a:r>
          </a:p>
        </p:txBody>
      </p:sp>
      <p:sp>
        <p:nvSpPr>
          <p:cNvPr id="16" name="Rounded Rectangle 15"/>
          <p:cNvSpPr/>
          <p:nvPr/>
        </p:nvSpPr>
        <p:spPr>
          <a:xfrm>
            <a:off x="502920" y="4773168"/>
            <a:ext cx="4206240" cy="78638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846320"/>
            <a:ext cx="1371600" cy="320040"/>
          </a:xfrm>
          <a:prstGeom prst="rect">
            <a:avLst/>
          </a:prstGeom>
          <a:noFill/>
        </p:spPr>
        <p:txBody>
          <a:bodyPr wrap="square" anchor="t" lIns="0" rIns="0" tIns="0" bIns="0">
            <a:spAutoFit/>
          </a:bodyPr>
          <a:lstStyle/>
          <a:p>
            <a:pPr algn="l">
              <a:lnSpc>
                <a:spcPct val="100000"/>
              </a:lnSpc>
            </a:pPr>
            <a:r>
              <a:rPr sz="1400" b="1" i="0">
                <a:solidFill>
                  <a:srgbClr val="C00000"/>
                </a:solidFill>
                <a:latin typeface="Calibri"/>
              </a:rPr>
              <a:t>syn6</a:t>
            </a:r>
          </a:p>
        </p:txBody>
      </p:sp>
      <p:sp>
        <p:nvSpPr>
          <p:cNvPr id="18" name="TextBox 17"/>
          <p:cNvSpPr txBox="1"/>
          <p:nvPr/>
        </p:nvSpPr>
        <p:spPr>
          <a:xfrm>
            <a:off x="685800" y="5212080"/>
            <a:ext cx="1463040" cy="274320"/>
          </a:xfrm>
          <a:prstGeom prst="rect">
            <a:avLst/>
          </a:prstGeom>
          <a:noFill/>
        </p:spPr>
        <p:txBody>
          <a:bodyPr wrap="square" anchor="t" lIns="0" rIns="0" tIns="0" bIns="0">
            <a:spAutoFit/>
          </a:bodyPr>
          <a:lstStyle/>
          <a:p>
            <a:pPr algn="l">
              <a:lnSpc>
                <a:spcPct val="100000"/>
              </a:lnSpc>
            </a:pPr>
            <a:r>
              <a:rPr sz="1050" b="1" i="0">
                <a:solidFill>
                  <a:srgbClr val="C00000"/>
                </a:solidFill>
                <a:latin typeface="Calibri"/>
              </a:rPr>
              <a:t>farthest</a:t>
            </a:r>
          </a:p>
        </p:txBody>
      </p:sp>
      <p:sp>
        <p:nvSpPr>
          <p:cNvPr id="19" name="TextBox 18"/>
          <p:cNvSpPr txBox="1"/>
          <p:nvPr/>
        </p:nvSpPr>
        <p:spPr>
          <a:xfrm>
            <a:off x="2148840" y="4882896"/>
            <a:ext cx="2468880" cy="640080"/>
          </a:xfrm>
          <a:prstGeom prst="rect">
            <a:avLst/>
          </a:prstGeom>
          <a:noFill/>
        </p:spPr>
        <p:txBody>
          <a:bodyPr wrap="square" anchor="t" lIns="0" rIns="0" tIns="0" bIns="0">
            <a:spAutoFit/>
          </a:bodyPr>
          <a:lstStyle/>
          <a:p>
            <a:pPr algn="l">
              <a:lnSpc>
                <a:spcPct val="100000"/>
              </a:lnSpc>
              <a:spcAft>
                <a:spcPts val="200"/>
              </a:spcAft>
            </a:pPr>
            <a:r>
              <a:rPr sz="1200" b="0" i="0">
                <a:solidFill>
                  <a:srgbClr val="595959"/>
                </a:solidFill>
                <a:latin typeface="Calibri"/>
              </a:rPr>
              <a:t>tuning-ref  −200.4</a:t>
            </a:r>
          </a:p>
          <a:p>
            <a:pPr algn="l">
              <a:lnSpc>
                <a:spcPct val="100000"/>
              </a:lnSpc>
            </a:pPr>
            <a:r>
              <a:rPr sz="1350" b="1" i="0">
                <a:solidFill>
                  <a:srgbClr val="222222"/>
                </a:solidFill>
                <a:latin typeface="Calibri"/>
              </a:rPr>
              <a:t>library mean  −9961</a:t>
            </a:r>
          </a:p>
        </p:txBody>
      </p:sp>
      <p:sp>
        <p:nvSpPr>
          <p:cNvPr id="20" name="TextBox 19"/>
          <p:cNvSpPr txBox="1"/>
          <p:nvPr/>
        </p:nvSpPr>
        <p:spPr>
          <a:xfrm>
            <a:off x="502920" y="5596128"/>
            <a:ext cx="4206240" cy="411480"/>
          </a:xfrm>
          <a:prstGeom prst="rect">
            <a:avLst/>
          </a:prstGeom>
          <a:noFill/>
        </p:spPr>
        <p:txBody>
          <a:bodyPr wrap="square" anchor="t" lIns="0" rIns="0" tIns="0" bIns="0">
            <a:spAutoFit/>
          </a:bodyPr>
          <a:lstStyle/>
          <a:p>
            <a:pPr algn="l">
              <a:lnSpc>
                <a:spcPct val="105000"/>
              </a:lnSpc>
            </a:pPr>
            <a:r>
              <a:rPr sz="1050" b="0" i="0">
                <a:solidFill>
                  <a:srgbClr val="595959"/>
                </a:solidFill>
                <a:latin typeface="Calibri"/>
              </a:rPr>
              <a:t>43 references: 32 running · 10 walking · 1 predicted</a:t>
            </a:r>
          </a:p>
        </p:txBody>
      </p:sp>
      <p:pic>
        <p:nvPicPr>
          <p:cNvPr id="21" name="Picture 20" descr="c_w2lvar_joints_big.png"/>
          <p:cNvPicPr>
            <a:picLocks noChangeAspect="1"/>
          </p:cNvPicPr>
          <p:nvPr/>
        </p:nvPicPr>
        <p:blipFill>
          <a:blip r:embed="rId3"/>
          <a:stretch>
            <a:fillRect/>
          </a:stretch>
        </p:blipFill>
        <p:spPr>
          <a:xfrm>
            <a:off x="5111496" y="1700784"/>
            <a:ext cx="2852927" cy="2615184"/>
          </a:xfrm>
          <a:prstGeom prst="rect">
            <a:avLst/>
          </a:prstGeom>
        </p:spPr>
      </p:pic>
      <p:sp>
        <p:nvSpPr>
          <p:cNvPr id="22" name="TextBox 21"/>
          <p:cNvSpPr txBox="1"/>
          <p:nvPr/>
        </p:nvSpPr>
        <p:spPr>
          <a:xfrm>
            <a:off x="4892040" y="4370832"/>
            <a:ext cx="329184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W2L-layout variant — closest to the library</a:t>
            </a:r>
          </a:p>
        </p:txBody>
      </p:sp>
      <p:pic>
        <p:nvPicPr>
          <p:cNvPr id="23" name="Picture 22" descr="c_syn6_joints_big.png"/>
          <p:cNvPicPr>
            <a:picLocks noChangeAspect="1"/>
          </p:cNvPicPr>
          <p:nvPr/>
        </p:nvPicPr>
        <p:blipFill>
          <a:blip r:embed="rId4"/>
          <a:stretch>
            <a:fillRect/>
          </a:stretch>
        </p:blipFill>
        <p:spPr>
          <a:xfrm>
            <a:off x="8589125" y="1700784"/>
            <a:ext cx="2892829" cy="2651760"/>
          </a:xfrm>
          <a:prstGeom prst="rect">
            <a:avLst/>
          </a:prstGeom>
        </p:spPr>
      </p:pic>
      <p:sp>
        <p:nvSpPr>
          <p:cNvPr id="24" name="TextBox 23"/>
          <p:cNvSpPr txBox="1"/>
          <p:nvPr/>
        </p:nvSpPr>
        <p:spPr>
          <a:xfrm>
            <a:off x="8366760" y="4407408"/>
            <a:ext cx="333756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six-synergy variant — farthest</a:t>
            </a:r>
          </a:p>
        </p:txBody>
      </p:sp>
      <p:sp>
        <p:nvSpPr>
          <p:cNvPr id="25" name="Rounded Rectangle 24"/>
          <p:cNvSpPr/>
          <p:nvPr/>
        </p:nvSpPr>
        <p:spPr>
          <a:xfrm>
            <a:off x="8366760" y="4791456"/>
            <a:ext cx="3337560" cy="14173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49640" y="4901184"/>
            <a:ext cx="3017520" cy="1234440"/>
          </a:xfrm>
          <a:prstGeom prst="rect">
            <a:avLst/>
          </a:prstGeom>
          <a:noFill/>
        </p:spPr>
        <p:txBody>
          <a:bodyPr wrap="square" anchor="t" lIns="0" rIns="0" tIns="0" bIns="0">
            <a:spAutoFit/>
          </a:bodyPr>
          <a:lstStyle/>
          <a:p>
            <a:pPr algn="l">
              <a:lnSpc>
                <a:spcPct val="100000"/>
              </a:lnSpc>
              <a:spcAft>
                <a:spcPts val="200"/>
              </a:spcAft>
            </a:pPr>
            <a:r>
              <a:rPr sz="1050" b="1" i="0">
                <a:solidFill>
                  <a:srgbClr val="00796B"/>
                </a:solidFill>
                <a:latin typeface="Calibri"/>
              </a:rPr>
              <a:t>NOT A RUNNING ARTIFACT</a:t>
            </a:r>
          </a:p>
          <a:p>
            <a:pPr algn="l">
              <a:lnSpc>
                <a:spcPct val="104000"/>
              </a:lnSpc>
            </a:pPr>
            <a:r>
              <a:rPr sz="1150" b="0" i="0">
                <a:solidFill>
                  <a:srgbClr val="222222"/>
                </a:solidFill>
                <a:latin typeface="Calibri"/>
              </a:rPr>
              <a:t>s3k on the ten walking refs alone: −8816 vs −8761 running-only — all four walk right-leg-only or asymmetric</a:t>
            </a:r>
          </a:p>
        </p:txBody>
      </p:sp>
      <p:pic>
        <p:nvPicPr>
          <p:cNvPr id="27" name="Picture 26" descr="c_s3k_mutfix_skeletal.gif"/>
          <p:cNvPicPr>
            <a:picLocks noChangeAspect="1"/>
          </p:cNvPicPr>
          <p:nvPr/>
        </p:nvPicPr>
        <p:blipFill>
          <a:blip r:embed="rId5"/>
          <a:stretch>
            <a:fillRect/>
          </a:stretch>
        </p:blipFill>
        <p:spPr>
          <a:xfrm>
            <a:off x="5532120" y="4681728"/>
            <a:ext cx="1828800" cy="1371600"/>
          </a:xfrm>
          <a:prstGeom prst="rect">
            <a:avLst/>
          </a:prstGeom>
        </p:spPr>
      </p:pic>
      <p:sp>
        <p:nvSpPr>
          <p:cNvPr id="28" name="TextBox 27"/>
          <p:cNvSpPr txBox="1"/>
          <p:nvPr/>
        </p:nvSpPr>
        <p:spPr>
          <a:xfrm>
            <a:off x="4892040" y="6089904"/>
            <a:ext cx="3108960" cy="256032"/>
          </a:xfrm>
          <a:prstGeom prst="rect">
            <a:avLst/>
          </a:prstGeom>
          <a:noFill/>
        </p:spPr>
        <p:txBody>
          <a:bodyPr wrap="square" anchor="t" lIns="0" rIns="0" tIns="0" bIns="0">
            <a:spAutoFit/>
          </a:bodyPr>
          <a:lstStyle/>
          <a:p>
            <a:pPr algn="ctr">
              <a:lnSpc>
                <a:spcPct val="100000"/>
              </a:lnSpc>
            </a:pPr>
            <a:r>
              <a:rPr sz="1000" b="0" i="1">
                <a:solidFill>
                  <a:srgbClr val="7F7F7F"/>
                </a:solidFill>
                <a:latin typeface="Calibri"/>
              </a:rPr>
              <a:t>production s3k, ground evaluation (animated in the talk)</a:t>
            </a:r>
          </a:p>
        </p:txBody>
      </p:sp>
      <p:sp>
        <p:nvSpPr>
          <p:cNvPr id="29" name="TextBox 28"/>
          <p:cNvSpPr txBox="1"/>
          <p:nvPr/>
        </p:nvSpPr>
        <p:spPr>
          <a:xfrm>
            <a:off x="502920" y="6089904"/>
            <a:ext cx="4206240" cy="274320"/>
          </a:xfrm>
          <a:prstGeom prst="rect">
            <a:avLst/>
          </a:prstGeom>
          <a:noFill/>
        </p:spPr>
        <p:txBody>
          <a:bodyPr wrap="square" anchor="t" lIns="0" rIns="0" tIns="0" bIns="0">
            <a:spAutoFit/>
          </a:bodyPr>
          <a:lstStyle/>
          <a:p>
            <a:pPr algn="l">
              <a:lnSpc>
                <a:spcPct val="100000"/>
              </a:lnSpc>
            </a:pPr>
            <a:r>
              <a:rPr sz="1150" b="1" i="0">
                <a:solidFill>
                  <a:srgbClr val="AF7B51"/>
                </a:solidFill>
                <a:latin typeface="Calibri"/>
              </a:rPr>
              <a:t>the robot-lineage configuration agrees most closely</a:t>
            </a:r>
          </a:p>
        </p:txBody>
      </p:sp>
      <p:sp>
        <p:nvSpPr>
          <p:cNvPr id="30" name="TextBox 29"/>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STIMULUS AND DELETION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laboratory's first lesion and stimulus experiments read like the physiology they imitate</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§Stimulus and Deletion Experiments, Table 6.2; cf. deafferentation: Akay 2014; Lam 2002; Selionov 2009</a:t>
            </a:r>
          </a:p>
        </p:txBody>
      </p:sp>
      <p:sp>
        <p:nvSpPr>
          <p:cNvPr id="5" name="TextBox 4"/>
          <p:cNvSpPr txBox="1"/>
          <p:nvPr/>
        </p:nvSpPr>
        <p:spPr>
          <a:xfrm>
            <a:off x="502920" y="1682496"/>
            <a:ext cx="4663440" cy="274320"/>
          </a:xfrm>
          <a:prstGeom prst="rect">
            <a:avLst/>
          </a:prstGeom>
          <a:noFill/>
        </p:spPr>
        <p:txBody>
          <a:bodyPr wrap="square" anchor="t" lIns="0" rIns="0" tIns="0" bIns="0">
            <a:spAutoFit/>
          </a:bodyPr>
          <a:lstStyle/>
          <a:p>
            <a:pPr algn="l">
              <a:lnSpc>
                <a:spcPct val="100000"/>
              </a:lnSpc>
            </a:pPr>
            <a:r>
              <a:rPr sz="1100" b="1" i="0">
                <a:solidFill>
                  <a:srgbClr val="00796B"/>
                </a:solidFill>
                <a:latin typeface="Calibri"/>
              </a:rPr>
              <a:t>PATHWAY REMOVAL · PRODUCTION CONFIGURATION (s3k)</a:t>
            </a:r>
          </a:p>
        </p:txBody>
      </p:sp>
      <p:sp>
        <p:nvSpPr>
          <p:cNvPr id="6" name="Rounded Rectangle 5"/>
          <p:cNvSpPr/>
          <p:nvPr/>
        </p:nvSpPr>
        <p:spPr>
          <a:xfrm>
            <a:off x="502920" y="2011680"/>
            <a:ext cx="4663440" cy="40233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75688"/>
            <a:ext cx="2651760" cy="27432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full model</a:t>
            </a:r>
          </a:p>
        </p:txBody>
      </p:sp>
      <p:sp>
        <p:nvSpPr>
          <p:cNvPr id="8" name="TextBox 7"/>
          <p:cNvSpPr txBox="1"/>
          <p:nvPr/>
        </p:nvSpPr>
        <p:spPr>
          <a:xfrm>
            <a:off x="3063240" y="2057400"/>
            <a:ext cx="1920240" cy="274320"/>
          </a:xfrm>
          <a:prstGeom prst="rect">
            <a:avLst/>
          </a:prstGeom>
          <a:noFill/>
        </p:spPr>
        <p:txBody>
          <a:bodyPr wrap="square" anchor="t" lIns="0" rIns="0" tIns="0" bIns="0">
            <a:spAutoFit/>
          </a:bodyPr>
          <a:lstStyle/>
          <a:p>
            <a:pPr algn="r">
              <a:lnSpc>
                <a:spcPct val="100000"/>
              </a:lnSpc>
            </a:pPr>
            <a:r>
              <a:rPr sz="1200" b="1" i="0">
                <a:solidFill>
                  <a:srgbClr val="38761D"/>
                </a:solidFill>
                <a:latin typeface="Calibri"/>
              </a:rPr>
              <a:t>−186.4</a:t>
            </a:r>
          </a:p>
        </p:txBody>
      </p:sp>
      <p:sp>
        <p:nvSpPr>
          <p:cNvPr id="9" name="Rounded Rectangle 8"/>
          <p:cNvSpPr/>
          <p:nvPr/>
        </p:nvSpPr>
        <p:spPr>
          <a:xfrm>
            <a:off x="502920" y="2496312"/>
            <a:ext cx="466344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60320"/>
            <a:ext cx="2651760" cy="27432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Ia afferents</a:t>
            </a:r>
          </a:p>
        </p:txBody>
      </p:sp>
      <p:sp>
        <p:nvSpPr>
          <p:cNvPr id="11" name="TextBox 10"/>
          <p:cNvSpPr txBox="1"/>
          <p:nvPr/>
        </p:nvSpPr>
        <p:spPr>
          <a:xfrm>
            <a:off x="3063240" y="2542032"/>
            <a:ext cx="1920240" cy="274320"/>
          </a:xfrm>
          <a:prstGeom prst="rect">
            <a:avLst/>
          </a:prstGeom>
          <a:noFill/>
        </p:spPr>
        <p:txBody>
          <a:bodyPr wrap="square" anchor="t" lIns="0" rIns="0" tIns="0" bIns="0">
            <a:spAutoFit/>
          </a:bodyPr>
          <a:lstStyle/>
          <a:p>
            <a:pPr algn="r">
              <a:lnSpc>
                <a:spcPct val="100000"/>
              </a:lnSpc>
            </a:pPr>
            <a:r>
              <a:rPr sz="1200" b="1" i="0">
                <a:solidFill>
                  <a:srgbClr val="C00000"/>
                </a:solidFill>
                <a:latin typeface="Calibri"/>
              </a:rPr>
              <a:t>−25 · no cycles detected</a:t>
            </a:r>
          </a:p>
        </p:txBody>
      </p:sp>
      <p:sp>
        <p:nvSpPr>
          <p:cNvPr id="12" name="Rounded Rectangle 11"/>
          <p:cNvSpPr/>
          <p:nvPr/>
        </p:nvSpPr>
        <p:spPr>
          <a:xfrm>
            <a:off x="502920" y="2980944"/>
            <a:ext cx="466344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044952"/>
            <a:ext cx="2651760" cy="27432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all afferent classes</a:t>
            </a:r>
          </a:p>
        </p:txBody>
      </p:sp>
      <p:sp>
        <p:nvSpPr>
          <p:cNvPr id="14" name="TextBox 13"/>
          <p:cNvSpPr txBox="1"/>
          <p:nvPr/>
        </p:nvSpPr>
        <p:spPr>
          <a:xfrm>
            <a:off x="3063240" y="3026664"/>
            <a:ext cx="1920240" cy="274320"/>
          </a:xfrm>
          <a:prstGeom prst="rect">
            <a:avLst/>
          </a:prstGeom>
          <a:noFill/>
        </p:spPr>
        <p:txBody>
          <a:bodyPr wrap="square" anchor="t" lIns="0" rIns="0" tIns="0" bIns="0">
            <a:spAutoFit/>
          </a:bodyPr>
          <a:lstStyle/>
          <a:p>
            <a:pPr algn="r">
              <a:lnSpc>
                <a:spcPct val="100000"/>
              </a:lnSpc>
            </a:pPr>
            <a:r>
              <a:rPr sz="1200" b="1" i="0">
                <a:solidFill>
                  <a:srgbClr val="222222"/>
                </a:solidFill>
                <a:latin typeface="Calibri"/>
              </a:rPr>
              <a:t>−267.8</a:t>
            </a:r>
          </a:p>
        </p:txBody>
      </p:sp>
      <p:sp>
        <p:nvSpPr>
          <p:cNvPr id="15" name="Rounded Rectangle 14"/>
          <p:cNvSpPr/>
          <p:nvPr/>
        </p:nvSpPr>
        <p:spPr>
          <a:xfrm>
            <a:off x="502920" y="3465576"/>
            <a:ext cx="466344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29584"/>
            <a:ext cx="2651760" cy="27432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Renshaw cells</a:t>
            </a:r>
          </a:p>
        </p:txBody>
      </p:sp>
      <p:sp>
        <p:nvSpPr>
          <p:cNvPr id="17" name="TextBox 16"/>
          <p:cNvSpPr txBox="1"/>
          <p:nvPr/>
        </p:nvSpPr>
        <p:spPr>
          <a:xfrm>
            <a:off x="3063240" y="3511296"/>
            <a:ext cx="1920240" cy="274320"/>
          </a:xfrm>
          <a:prstGeom prst="rect">
            <a:avLst/>
          </a:prstGeom>
          <a:noFill/>
        </p:spPr>
        <p:txBody>
          <a:bodyPr wrap="square" anchor="t" lIns="0" rIns="0" tIns="0" bIns="0">
            <a:spAutoFit/>
          </a:bodyPr>
          <a:lstStyle/>
          <a:p>
            <a:pPr algn="r">
              <a:lnSpc>
                <a:spcPct val="100000"/>
              </a:lnSpc>
            </a:pPr>
            <a:r>
              <a:rPr sz="1200" b="1" i="0">
                <a:solidFill>
                  <a:srgbClr val="222222"/>
                </a:solidFill>
                <a:latin typeface="Calibri"/>
              </a:rPr>
              <a:t>−267.3</a:t>
            </a:r>
          </a:p>
        </p:txBody>
      </p:sp>
      <p:sp>
        <p:nvSpPr>
          <p:cNvPr id="18" name="Rounded Rectangle 17"/>
          <p:cNvSpPr/>
          <p:nvPr/>
        </p:nvSpPr>
        <p:spPr>
          <a:xfrm>
            <a:off x="502920" y="3950208"/>
            <a:ext cx="466344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014216"/>
            <a:ext cx="2651760" cy="27432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group-II afferents</a:t>
            </a:r>
          </a:p>
        </p:txBody>
      </p:sp>
      <p:sp>
        <p:nvSpPr>
          <p:cNvPr id="20" name="TextBox 19"/>
          <p:cNvSpPr txBox="1"/>
          <p:nvPr/>
        </p:nvSpPr>
        <p:spPr>
          <a:xfrm>
            <a:off x="3063240" y="3995928"/>
            <a:ext cx="1920240" cy="274320"/>
          </a:xfrm>
          <a:prstGeom prst="rect">
            <a:avLst/>
          </a:prstGeom>
          <a:noFill/>
        </p:spPr>
        <p:txBody>
          <a:bodyPr wrap="square" anchor="t" lIns="0" rIns="0" tIns="0" bIns="0">
            <a:spAutoFit/>
          </a:bodyPr>
          <a:lstStyle/>
          <a:p>
            <a:pPr algn="r">
              <a:lnSpc>
                <a:spcPct val="100000"/>
              </a:lnSpc>
            </a:pPr>
            <a:r>
              <a:rPr sz="1200" b="1" i="0">
                <a:solidFill>
                  <a:srgbClr val="222222"/>
                </a:solidFill>
                <a:latin typeface="Calibri"/>
              </a:rPr>
              <a:t>−255.2</a:t>
            </a:r>
          </a:p>
        </p:txBody>
      </p:sp>
      <p:sp>
        <p:nvSpPr>
          <p:cNvPr id="21" name="Rounded Rectangle 20"/>
          <p:cNvSpPr/>
          <p:nvPr/>
        </p:nvSpPr>
        <p:spPr>
          <a:xfrm>
            <a:off x="502920" y="4434840"/>
            <a:ext cx="4663440" cy="4023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498848"/>
            <a:ext cx="2651760" cy="27432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Ib · contact · interleg commissural</a:t>
            </a:r>
          </a:p>
        </p:txBody>
      </p:sp>
      <p:sp>
        <p:nvSpPr>
          <p:cNvPr id="23" name="TextBox 22"/>
          <p:cNvSpPr txBox="1"/>
          <p:nvPr/>
        </p:nvSpPr>
        <p:spPr>
          <a:xfrm>
            <a:off x="3063240" y="4480560"/>
            <a:ext cx="1920240" cy="274320"/>
          </a:xfrm>
          <a:prstGeom prst="rect">
            <a:avLst/>
          </a:prstGeom>
          <a:noFill/>
        </p:spPr>
        <p:txBody>
          <a:bodyPr wrap="square" anchor="t" lIns="0" rIns="0" tIns="0" bIns="0">
            <a:spAutoFit/>
          </a:bodyPr>
          <a:lstStyle/>
          <a:p>
            <a:pPr algn="r">
              <a:lnSpc>
                <a:spcPct val="100000"/>
              </a:lnSpc>
            </a:pPr>
            <a:r>
              <a:rPr sz="1200" b="1" i="0">
                <a:solidFill>
                  <a:srgbClr val="595959"/>
                </a:solidFill>
                <a:latin typeface="Calibri"/>
              </a:rPr>
              <a:t>−180.3 · −183.9 · −174.9</a:t>
            </a:r>
          </a:p>
        </p:txBody>
      </p:sp>
      <p:sp>
        <p:nvSpPr>
          <p:cNvPr id="24" name="Rounded Rectangle 23"/>
          <p:cNvSpPr/>
          <p:nvPr/>
        </p:nvSpPr>
        <p:spPr>
          <a:xfrm>
            <a:off x="5532120" y="1682496"/>
            <a:ext cx="6172200" cy="148132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0" y="1783080"/>
            <a:ext cx="5760720" cy="1298448"/>
          </a:xfrm>
          <a:prstGeom prst="rect">
            <a:avLst/>
          </a:prstGeom>
          <a:noFill/>
        </p:spPr>
        <p:txBody>
          <a:bodyPr wrap="square" anchor="t" lIns="0" rIns="0" tIns="0" bIns="0">
            <a:spAutoFit/>
          </a:bodyPr>
          <a:lstStyle/>
          <a:p>
            <a:pPr algn="l">
              <a:lnSpc>
                <a:spcPct val="100000"/>
              </a:lnSpc>
              <a:spcAft>
                <a:spcPts val="300"/>
              </a:spcAft>
            </a:pPr>
            <a:r>
              <a:rPr sz="1100" b="1" i="0">
                <a:solidFill>
                  <a:srgbClr val="00796B"/>
                </a:solidFill>
                <a:latin typeface="Calibri"/>
              </a:rPr>
              <a:t>THE VARIANTS DIFFER — AND THAT IS INFORMATIVE</a:t>
            </a:r>
          </a:p>
          <a:p>
            <a:pPr algn="l">
              <a:lnSpc>
                <a:spcPct val="104000"/>
              </a:lnSpc>
              <a:spcAft>
                <a:spcPts val="300"/>
              </a:spcAft>
            </a:pPr>
            <a:r>
              <a:rPr sz="1200" b="0" i="0">
                <a:solidFill>
                  <a:srgbClr val="222222"/>
                </a:solidFill>
                <a:latin typeface="Calibri"/>
              </a:rPr>
              <a:t>syn6, all afferents removed: −190.5, still bilateral — 10 + 10 cycles · knee min −71.2° · 0.684 s period</a:t>
            </a:r>
          </a:p>
          <a:p>
            <a:pPr algn="l">
              <a:lnSpc>
                <a:spcPct val="104000"/>
              </a:lnSpc>
            </a:pPr>
            <a:r>
              <a:rPr sz="1200" b="0" i="0">
                <a:solidFill>
                  <a:srgbClr val="222222"/>
                </a:solidFill>
                <a:latin typeface="Calibri"/>
              </a:rPr>
              <a:t>w2lvar needs Ia (−273.5) and RG mutual excitation (−279.9); Renshaw removal leaves −142.4</a:t>
            </a:r>
          </a:p>
        </p:txBody>
      </p:sp>
      <p:sp>
        <p:nvSpPr>
          <p:cNvPr id="26" name="Rounded Rectangle 25"/>
          <p:cNvSpPr/>
          <p:nvPr/>
        </p:nvSpPr>
        <p:spPr>
          <a:xfrm>
            <a:off x="5532120" y="3273552"/>
            <a:ext cx="6172200" cy="148132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0" y="3374136"/>
            <a:ext cx="5760720" cy="1298448"/>
          </a:xfrm>
          <a:prstGeom prst="rect">
            <a:avLst/>
          </a:prstGeom>
          <a:noFill/>
        </p:spPr>
        <p:txBody>
          <a:bodyPr wrap="square" anchor="t" lIns="0" rIns="0" tIns="0" bIns="0">
            <a:spAutoFit/>
          </a:bodyPr>
          <a:lstStyle/>
          <a:p>
            <a:pPr algn="l">
              <a:lnSpc>
                <a:spcPct val="100000"/>
              </a:lnSpc>
              <a:spcAft>
                <a:spcPts val="300"/>
              </a:spcAft>
            </a:pPr>
            <a:r>
              <a:rPr sz="1100" b="1" i="0">
                <a:solidFill>
                  <a:srgbClr val="00796B"/>
                </a:solidFill>
                <a:latin typeface="Calibri"/>
              </a:rPr>
              <a:t>STIMULUS SIDE — DRIVE STEPS AND PUSHES</a:t>
            </a:r>
          </a:p>
          <a:p>
            <a:pPr algn="l">
              <a:lnSpc>
                <a:spcPct val="104000"/>
              </a:lnSpc>
              <a:spcAft>
                <a:spcPts val="300"/>
              </a:spcAft>
            </a:pPr>
            <a:r>
              <a:rPr sz="1200" b="0" i="0">
                <a:solidFill>
                  <a:srgbClr val="222222"/>
                </a:solidFill>
                <a:latin typeface="Calibri"/>
              </a:rPr>
              <a:t>s3k walks at +0.01 / −0.01 / −0.02 (−201.9 / −177.0 / −171.2), freezes at +0.02 · 15 stand-and-push evaluations: never fell, max sway 0.123 m</a:t>
            </a:r>
          </a:p>
          <a:p>
            <a:pPr algn="l">
              <a:lnSpc>
                <a:spcPct val="104000"/>
              </a:lnSpc>
            </a:pPr>
            <a:r>
              <a:rPr sz="1200" b="0" i="0">
                <a:solidFill>
                  <a:srgbClr val="222222"/>
                </a:solidFill>
                <a:latin typeface="Calibri"/>
              </a:rPr>
              <a:t>syn6 and w2lvar fall under every ±0.01 / ±0.02 perturbation (pelvis tilt 39–40°)</a:t>
            </a:r>
          </a:p>
        </p:txBody>
      </p:sp>
      <p:pic>
        <p:nvPicPr>
          <p:cNvPr id="28" name="Picture 27" descr="c_bilateralrg_sns_diagram.png"/>
          <p:cNvPicPr>
            <a:picLocks noChangeAspect="1"/>
          </p:cNvPicPr>
          <p:nvPr/>
        </p:nvPicPr>
        <p:blipFill>
          <a:blip r:embed="rId3"/>
          <a:stretch>
            <a:fillRect/>
          </a:stretch>
        </p:blipFill>
        <p:spPr>
          <a:xfrm>
            <a:off x="520508" y="5010912"/>
            <a:ext cx="6365623" cy="1335024"/>
          </a:xfrm>
          <a:prstGeom prst="rect">
            <a:avLst/>
          </a:prstGeom>
        </p:spPr>
      </p:pic>
      <p:sp>
        <p:nvSpPr>
          <p:cNvPr id="29" name="TextBox 28"/>
          <p:cNvSpPr txBox="1"/>
          <p:nvPr/>
        </p:nvSpPr>
        <p:spPr>
          <a:xfrm>
            <a:off x="7086600" y="5084064"/>
            <a:ext cx="4617720" cy="1280160"/>
          </a:xfrm>
          <a:prstGeom prst="rect">
            <a:avLst/>
          </a:prstGeom>
          <a:noFill/>
        </p:spPr>
        <p:txBody>
          <a:bodyPr wrap="square" anchor="t" lIns="0" rIns="0" tIns="0" bIns="0">
            <a:spAutoFit/>
          </a:bodyPr>
          <a:lstStyle/>
          <a:p>
            <a:pPr algn="l">
              <a:lnSpc>
                <a:spcPct val="110000"/>
              </a:lnSpc>
            </a:pPr>
            <a:r>
              <a:rPr sz="1150" b="0" i="0">
                <a:solidFill>
                  <a:srgbClr val="595959"/>
                </a:solidFill>
                <a:latin typeface="Calibri"/>
              </a:rPr>
              <a:t>the walker-network lineage these experiments act on: 110 neurons, 216 synapses — rendered from the model export with the SNS-Toolbox renderer</a:t>
            </a:r>
          </a:p>
        </p:txBody>
      </p:sp>
      <p:sp>
        <p:nvSpPr>
          <p:cNvPr id="30" name="TextBox 29"/>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CODING ASSUMPTION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Spiking mirrors of every simulation family, judged by gates — not by eyeball</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§Spiking-Neuron Mirror Results (gated verification campaign; motor neurons stay non-spiking by design)</a:t>
            </a:r>
          </a:p>
        </p:txBody>
      </p:sp>
      <p:pic>
        <p:nvPicPr>
          <p:cNvPr id="5" name="Picture 4" descr="c_spiking_mirror_rhythm.png"/>
          <p:cNvPicPr>
            <a:picLocks noChangeAspect="1"/>
          </p:cNvPicPr>
          <p:nvPr/>
        </p:nvPicPr>
        <p:blipFill>
          <a:blip r:embed="rId3"/>
          <a:stretch>
            <a:fillRect/>
          </a:stretch>
        </p:blipFill>
        <p:spPr>
          <a:xfrm>
            <a:off x="502920" y="1724558"/>
            <a:ext cx="5074920" cy="3518611"/>
          </a:xfrm>
          <a:prstGeom prst="rect">
            <a:avLst/>
          </a:prstGeom>
        </p:spPr>
      </p:pic>
      <p:sp>
        <p:nvSpPr>
          <p:cNvPr id="6" name="TextBox 5"/>
          <p:cNvSpPr txBox="1"/>
          <p:nvPr/>
        </p:nvSpPr>
        <p:spPr>
          <a:xfrm>
            <a:off x="502920" y="5321808"/>
            <a:ext cx="507492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constant drive, network alone: analog 0.399 s vs spiking envelope 0.621 s (+55.6%)</a:t>
            </a:r>
          </a:p>
        </p:txBody>
      </p:sp>
      <p:pic>
        <p:nvPicPr>
          <p:cNvPr id="7" name="Picture 6" descr="c_spiking_mirror_ground_gait.png"/>
          <p:cNvPicPr>
            <a:picLocks noChangeAspect="1"/>
          </p:cNvPicPr>
          <p:nvPr/>
        </p:nvPicPr>
        <p:blipFill>
          <a:blip r:embed="rId4"/>
          <a:stretch>
            <a:fillRect/>
          </a:stretch>
        </p:blipFill>
        <p:spPr>
          <a:xfrm>
            <a:off x="6512814" y="1700784"/>
            <a:ext cx="4457700" cy="3566160"/>
          </a:xfrm>
          <a:prstGeom prst="rect">
            <a:avLst/>
          </a:prstGeom>
        </p:spPr>
      </p:pic>
      <p:sp>
        <p:nvSpPr>
          <p:cNvPr id="8" name="TextBox 7"/>
          <p:cNvSpPr txBox="1"/>
          <p:nvPr/>
        </p:nvSpPr>
        <p:spPr>
          <a:xfrm>
            <a:off x="5806440" y="5321808"/>
            <a:ext cx="5870448"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ground, same winner parameters: 9 / 0 cycles (left frozen) vs 8 / 9 bilateral, untuned</a:t>
            </a:r>
          </a:p>
        </p:txBody>
      </p:sp>
      <p:sp>
        <p:nvSpPr>
          <p:cNvPr id="9" name="Rounded Rectangle 8"/>
          <p:cNvSpPr/>
          <p:nvPr/>
        </p:nvSpPr>
        <p:spPr>
          <a:xfrm>
            <a:off x="502920" y="5614416"/>
            <a:ext cx="11173968" cy="36576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78424"/>
            <a:ext cx="10789920" cy="256032"/>
          </a:xfrm>
          <a:prstGeom prst="rect">
            <a:avLst/>
          </a:prstGeom>
          <a:noFill/>
        </p:spPr>
        <p:txBody>
          <a:bodyPr wrap="square" anchor="t" lIns="0" rIns="0" tIns="0" bIns="0">
            <a:spAutoFit/>
          </a:bodyPr>
          <a:lstStyle/>
          <a:p>
            <a:pPr algn="ctr">
              <a:lnSpc>
                <a:spcPct val="100000"/>
              </a:lnSpc>
            </a:pPr>
            <a:r>
              <a:rPr sz="1050" b="0" i="0">
                <a:solidFill>
                  <a:srgbClr val="222222"/>
                </a:solidFill>
                <a:latin typeface="Calibri"/>
              </a:rPr>
              <a:t>gates: topology identical (1,186 / 7,908 / 7,762 connections) · basin 12/12 under 1% jitter (0.89× swing) · rhythm missed: +55.6% &gt; 20% · air ≈10× the 0.47 Hz twin</a:t>
            </a:r>
          </a:p>
        </p:txBody>
      </p:sp>
      <p:sp>
        <p:nvSpPr>
          <p:cNvPr id="11" name="Rounded Rectangle 10"/>
          <p:cNvSpPr/>
          <p:nvPr/>
        </p:nvSpPr>
        <p:spPr>
          <a:xfrm>
            <a:off x="502920" y="6035040"/>
            <a:ext cx="11173968" cy="402336"/>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108192"/>
            <a:ext cx="10789920" cy="274320"/>
          </a:xfrm>
          <a:prstGeom prst="rect">
            <a:avLst/>
          </a:prstGeom>
          <a:noFill/>
        </p:spPr>
        <p:txBody>
          <a:bodyPr wrap="square" anchor="t" lIns="0" rIns="0" tIns="0" bIns="0">
            <a:spAutoFit/>
          </a:bodyPr>
          <a:lstStyle/>
          <a:p>
            <a:pPr algn="ctr">
              <a:lnSpc>
                <a:spcPct val="100000"/>
              </a:lnSpc>
            </a:pPr>
            <a:r>
              <a:rPr sz="1050" b="1" i="0">
                <a:solidFill>
                  <a:srgbClr val="AF7B51"/>
                </a:solidFill>
                <a:latin typeface="Calibri"/>
              </a:rPr>
              <a:t>one lead, honestly labeled: untuned mirror −236.35 vs −161.57, knee −79.8° vs −64.3° — bilateral where its twin freezes (single run, no statistics)</a:t>
            </a:r>
          </a:p>
        </p:txBody>
      </p:sp>
      <p:sp>
        <p:nvSpPr>
          <p:cNvPr id="13" name="TextBox 12"/>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6 · SYNTHETIC NERVOUS SYSTEM · CODING ASSUMPTION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Spiking changes timing and robustness; it does not change the interface — and it forbids parameter copies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6 §What Spiking Changes and Does Not (knee-reflex and beverage twins; AnimatLab conversions)</a:t>
            </a:r>
          </a:p>
        </p:txBody>
      </p:sp>
      <p:sp>
        <p:nvSpPr>
          <p:cNvPr id="5" name="Rounded Rectangle 4"/>
          <p:cNvSpPr/>
          <p:nvPr/>
        </p:nvSpPr>
        <p:spPr>
          <a:xfrm>
            <a:off x="502920" y="1737360"/>
            <a:ext cx="3977639" cy="102412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3657600" cy="841248"/>
          </a:xfrm>
          <a:prstGeom prst="rect">
            <a:avLst/>
          </a:prstGeom>
          <a:noFill/>
        </p:spPr>
        <p:txBody>
          <a:bodyPr wrap="square" anchor="t" lIns="0" rIns="0" tIns="0" bIns="0">
            <a:spAutoFit/>
          </a:bodyPr>
          <a:lstStyle/>
          <a:p>
            <a:pPr algn="l">
              <a:lnSpc>
                <a:spcPct val="100000"/>
              </a:lnSpc>
              <a:spcAft>
                <a:spcPts val="300"/>
              </a:spcAft>
            </a:pPr>
            <a:r>
              <a:rPr sz="1050" b="1" i="0">
                <a:solidFill>
                  <a:srgbClr val="38761D"/>
                </a:solidFill>
                <a:latin typeface="Calibri"/>
              </a:rPr>
              <a:t>INTERFACE: UNCHANGED</a:t>
            </a:r>
          </a:p>
          <a:p>
            <a:pPr algn="l">
              <a:lnSpc>
                <a:spcPct val="104000"/>
              </a:lnSpc>
            </a:pPr>
            <a:r>
              <a:rPr sz="1300" b="1" i="0">
                <a:solidFill>
                  <a:srgbClr val="222222"/>
                </a:solidFill>
                <a:latin typeface="Calibri"/>
              </a:rPr>
              <a:t>knee transient identical — 15.79° at 0.05 s</a:t>
            </a:r>
          </a:p>
        </p:txBody>
      </p:sp>
      <p:sp>
        <p:nvSpPr>
          <p:cNvPr id="7" name="Rounded Rectangle 6"/>
          <p:cNvSpPr/>
          <p:nvPr/>
        </p:nvSpPr>
        <p:spPr>
          <a:xfrm>
            <a:off x="502920" y="2889504"/>
            <a:ext cx="3977639" cy="102412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999232"/>
            <a:ext cx="3657600" cy="841248"/>
          </a:xfrm>
          <a:prstGeom prst="rect">
            <a:avLst/>
          </a:prstGeom>
          <a:noFill/>
        </p:spPr>
        <p:txBody>
          <a:bodyPr wrap="square" anchor="t" lIns="0" rIns="0" tIns="0" bIns="0">
            <a:spAutoFit/>
          </a:bodyPr>
          <a:lstStyle/>
          <a:p>
            <a:pPr algn="l">
              <a:lnSpc>
                <a:spcPct val="100000"/>
              </a:lnSpc>
              <a:spcAft>
                <a:spcPts val="300"/>
              </a:spcAft>
            </a:pPr>
            <a:r>
              <a:rPr sz="1050" b="1" i="0">
                <a:solidFill>
                  <a:srgbClr val="AF7B51"/>
                </a:solidFill>
                <a:latin typeface="Calibri"/>
              </a:rPr>
              <a:t>TIMING: SHIFTS</a:t>
            </a:r>
          </a:p>
          <a:p>
            <a:pPr algn="l">
              <a:lnSpc>
                <a:spcPct val="104000"/>
              </a:lnSpc>
            </a:pPr>
            <a:r>
              <a:rPr sz="1300" b="1" i="0">
                <a:solidFill>
                  <a:srgbClr val="222222"/>
                </a:solidFill>
                <a:latin typeface="Calibri"/>
              </a:rPr>
              <a:t>rhythm 55.6% slower · air cadence ≈10× faster</a:t>
            </a:r>
          </a:p>
        </p:txBody>
      </p:sp>
      <p:sp>
        <p:nvSpPr>
          <p:cNvPr id="9" name="Rounded Rectangle 8"/>
          <p:cNvSpPr/>
          <p:nvPr/>
        </p:nvSpPr>
        <p:spPr>
          <a:xfrm>
            <a:off x="502920" y="4041648"/>
            <a:ext cx="3977639" cy="102412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151376"/>
            <a:ext cx="3657600" cy="841248"/>
          </a:xfrm>
          <a:prstGeom prst="rect">
            <a:avLst/>
          </a:prstGeom>
          <a:noFill/>
        </p:spPr>
        <p:txBody>
          <a:bodyPr wrap="square" anchor="t" lIns="0" rIns="0" tIns="0" bIns="0">
            <a:spAutoFit/>
          </a:bodyPr>
          <a:lstStyle/>
          <a:p>
            <a:pPr algn="l">
              <a:lnSpc>
                <a:spcPct val="100000"/>
              </a:lnSpc>
              <a:spcAft>
                <a:spcPts val="300"/>
              </a:spcAft>
            </a:pPr>
            <a:r>
              <a:rPr sz="1050" b="1" i="0">
                <a:solidFill>
                  <a:srgbClr val="2E5A88"/>
                </a:solidFill>
                <a:latin typeface="Calibri"/>
              </a:rPr>
              <a:t>ROBUSTNESS: ITS FAVOR</a:t>
            </a:r>
          </a:p>
          <a:p>
            <a:pPr algn="l">
              <a:lnSpc>
                <a:spcPct val="104000"/>
              </a:lnSpc>
            </a:pPr>
            <a:r>
              <a:rPr sz="1300" b="1" i="0">
                <a:solidFill>
                  <a:srgbClr val="222222"/>
                </a:solidFill>
                <a:latin typeface="Calibri"/>
              </a:rPr>
              <a:t>spiking basin 12 / 12 · analog near a bifurcation</a:t>
            </a:r>
          </a:p>
        </p:txBody>
      </p:sp>
      <p:sp>
        <p:nvSpPr>
          <p:cNvPr id="11" name="Rounded Rectangle 10"/>
          <p:cNvSpPr/>
          <p:nvPr/>
        </p:nvSpPr>
        <p:spPr>
          <a:xfrm>
            <a:off x="502920" y="5193792"/>
            <a:ext cx="3977639" cy="102412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303520"/>
            <a:ext cx="3657600" cy="841248"/>
          </a:xfrm>
          <a:prstGeom prst="rect">
            <a:avLst/>
          </a:prstGeom>
          <a:noFill/>
        </p:spPr>
        <p:txBody>
          <a:bodyPr wrap="square" anchor="t" lIns="0" rIns="0" tIns="0" bIns="0">
            <a:spAutoFit/>
          </a:bodyPr>
          <a:lstStyle/>
          <a:p>
            <a:pPr algn="l">
              <a:lnSpc>
                <a:spcPct val="100000"/>
              </a:lnSpc>
              <a:spcAft>
                <a:spcPts val="300"/>
              </a:spcAft>
            </a:pPr>
            <a:r>
              <a:rPr sz="1050" b="1" i="0">
                <a:solidFill>
                  <a:srgbClr val="C00000"/>
                </a:solidFill>
                <a:latin typeface="Calibri"/>
              </a:rPr>
              <a:t>NAIVE COPIES: FAIL</a:t>
            </a:r>
          </a:p>
          <a:p>
            <a:pPr algn="l">
              <a:lnSpc>
                <a:spcPct val="104000"/>
              </a:lnSpc>
            </a:pPr>
            <a:r>
              <a:rPr sz="1300" b="1" i="0">
                <a:solidFill>
                  <a:srgbClr val="222222"/>
                </a:solidFill>
                <a:latin typeface="Calibri"/>
              </a:rPr>
              <a:t>dead · latched · co-bursting</a:t>
            </a:r>
          </a:p>
        </p:txBody>
      </p:sp>
      <p:pic>
        <p:nvPicPr>
          <p:cNvPr id="13" name="Picture 12" descr="c_simulink_knee_spiking_twin.png"/>
          <p:cNvPicPr>
            <a:picLocks noChangeAspect="1"/>
          </p:cNvPicPr>
          <p:nvPr/>
        </p:nvPicPr>
        <p:blipFill>
          <a:blip r:embed="rId3"/>
          <a:stretch>
            <a:fillRect/>
          </a:stretch>
        </p:blipFill>
        <p:spPr>
          <a:xfrm>
            <a:off x="5809956" y="1737360"/>
            <a:ext cx="4747846" cy="3291840"/>
          </a:xfrm>
          <a:prstGeom prst="rect">
            <a:avLst/>
          </a:prstGeom>
        </p:spPr>
      </p:pic>
      <p:sp>
        <p:nvSpPr>
          <p:cNvPr id="14" name="TextBox 13"/>
          <p:cNvSpPr txBox="1"/>
          <p:nvPr/>
        </p:nvSpPr>
        <p:spPr>
          <a:xfrm>
            <a:off x="4709160" y="5084064"/>
            <a:ext cx="6949440" cy="274320"/>
          </a:xfrm>
          <a:prstGeom prst="rect">
            <a:avLst/>
          </a:prstGeom>
          <a:noFill/>
        </p:spPr>
        <p:txBody>
          <a:bodyPr wrap="square" anchor="t" lIns="0" rIns="0" tIns="0" bIns="0">
            <a:spAutoFit/>
          </a:bodyPr>
          <a:lstStyle/>
          <a:p>
            <a:pPr algn="ctr">
              <a:lnSpc>
                <a:spcPct val="100000"/>
              </a:lnSpc>
            </a:pPr>
            <a:r>
              <a:rPr sz="1050" b="0" i="1">
                <a:solidFill>
                  <a:srgbClr val="7F7F7F"/>
                </a:solidFill>
                <a:latin typeface="Calibri"/>
              </a:rPr>
              <a:t>knee-reflex twin at the matched operating point · unit check: 62 / 62 spikes, ≤11.75 µs deviation</a:t>
            </a:r>
          </a:p>
        </p:txBody>
      </p:sp>
      <p:sp>
        <p:nvSpPr>
          <p:cNvPr id="15" name="Rounded Rectangle 14"/>
          <p:cNvSpPr/>
          <p:nvPr/>
        </p:nvSpPr>
        <p:spPr>
          <a:xfrm>
            <a:off x="502920" y="5943600"/>
            <a:ext cx="11173968" cy="566928"/>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035040"/>
            <a:ext cx="10789920" cy="402336"/>
          </a:xfrm>
          <a:prstGeom prst="rect">
            <a:avLst/>
          </a:prstGeom>
          <a:noFill/>
        </p:spPr>
        <p:txBody>
          <a:bodyPr wrap="square" anchor="t" lIns="0" rIns="0" tIns="0" bIns="0">
            <a:spAutoFit/>
          </a:bodyPr>
          <a:lstStyle/>
          <a:p>
            <a:pPr algn="ctr">
              <a:lnSpc>
                <a:spcPct val="100000"/>
              </a:lnSpc>
            </a:pPr>
            <a:r>
              <a:rPr sz="1350" b="1" i="0">
                <a:solidFill>
                  <a:srgbClr val="AF7B51"/>
                </a:solidFill>
                <a:latin typeface="Calibri"/>
              </a:rPr>
              <a:t>calibrate first, gate everything — synaptic strength is a rate-code quantity, never copied from the graded value</a:t>
            </a:r>
          </a:p>
        </p:txBody>
      </p:sp>
      <p:sp>
        <p:nvSpPr>
          <p:cNvPr id="17" name="TextBox 16"/>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7 · DISCUSSION · SYNTHESIS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Each stage feeds the next: actuator → joint → balance hardware → afferent database → neuromechanical laboratory</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7 §Synthesis (chapters 3-6 supply the links)</a:t>
            </a:r>
          </a:p>
        </p:txBody>
      </p:sp>
      <p:sp>
        <p:nvSpPr>
          <p:cNvPr id="5" name="Rounded Rectangle 4"/>
          <p:cNvSpPr/>
          <p:nvPr/>
        </p:nvSpPr>
        <p:spPr>
          <a:xfrm>
            <a:off x="502920" y="1965960"/>
            <a:ext cx="2157984" cy="30175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 y="2121408"/>
            <a:ext cx="1865376" cy="292608"/>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ACTUATOR</a:t>
            </a:r>
          </a:p>
        </p:txBody>
      </p:sp>
      <p:sp>
        <p:nvSpPr>
          <p:cNvPr id="7" name="TextBox 6"/>
          <p:cNvSpPr txBox="1"/>
          <p:nvPr/>
        </p:nvSpPr>
        <p:spPr>
          <a:xfrm>
            <a:off x="649224" y="2432304"/>
            <a:ext cx="1865376" cy="274320"/>
          </a:xfrm>
          <a:prstGeom prst="rect">
            <a:avLst/>
          </a:prstGeom>
          <a:noFill/>
        </p:spPr>
        <p:txBody>
          <a:bodyPr wrap="square" anchor="t" lIns="0" rIns="0" tIns="0" bIns="0">
            <a:spAutoFit/>
          </a:bodyPr>
          <a:lstStyle/>
          <a:p>
            <a:pPr algn="l">
              <a:lnSpc>
                <a:spcPct val="100000"/>
              </a:lnSpc>
            </a:pPr>
            <a:r>
              <a:rPr sz="1050" b="0" i="1">
                <a:solidFill>
                  <a:srgbClr val="7F7F7F"/>
                </a:solidFill>
                <a:latin typeface="Calibri"/>
              </a:rPr>
              <a:t>Ch. 3</a:t>
            </a:r>
          </a:p>
        </p:txBody>
      </p:sp>
      <p:sp>
        <p:nvSpPr>
          <p:cNvPr id="8" name="TextBox 7"/>
          <p:cNvSpPr txBox="1"/>
          <p:nvPr/>
        </p:nvSpPr>
        <p:spPr>
          <a:xfrm>
            <a:off x="649224" y="2788920"/>
            <a:ext cx="1865376" cy="2103120"/>
          </a:xfrm>
          <a:prstGeom prst="rect">
            <a:avLst/>
          </a:prstGeom>
          <a:noFill/>
        </p:spPr>
        <p:txBody>
          <a:bodyPr wrap="square" anchor="t" lIns="0" rIns="0" tIns="0" bIns="0">
            <a:spAutoFit/>
          </a:bodyPr>
          <a:lstStyle/>
          <a:p>
            <a:pPr algn="l">
              <a:lnSpc>
                <a:spcPct val="110000"/>
              </a:lnSpc>
            </a:pPr>
            <a:r>
              <a:rPr sz="1150" b="0" i="0">
                <a:solidFill>
                  <a:srgbClr val="222222"/>
                </a:solidFill>
                <a:latin typeface="Calibri"/>
              </a:rPr>
              <a:t>F*(ε*, P*) surface, three diameter-dependent coefficients; corrects the manufacturer tool at short resting lengths</a:t>
            </a:r>
          </a:p>
        </p:txBody>
      </p:sp>
      <p:cxnSp>
        <p:nvCxnSpPr>
          <p:cNvPr id="9" name="Connector 8"/>
          <p:cNvCxnSpPr/>
          <p:nvPr/>
        </p:nvCxnSpPr>
        <p:spPr>
          <a:xfrm>
            <a:off x="2665476" y="3474720"/>
            <a:ext cx="82296"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52344" y="1965960"/>
            <a:ext cx="2157984" cy="30175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8648" y="2121408"/>
            <a:ext cx="1865376" cy="292608"/>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JOINT</a:t>
            </a:r>
          </a:p>
        </p:txBody>
      </p:sp>
      <p:sp>
        <p:nvSpPr>
          <p:cNvPr id="12" name="TextBox 11"/>
          <p:cNvSpPr txBox="1"/>
          <p:nvPr/>
        </p:nvSpPr>
        <p:spPr>
          <a:xfrm>
            <a:off x="2898648" y="2432304"/>
            <a:ext cx="1865376" cy="274320"/>
          </a:xfrm>
          <a:prstGeom prst="rect">
            <a:avLst/>
          </a:prstGeom>
          <a:noFill/>
        </p:spPr>
        <p:txBody>
          <a:bodyPr wrap="square" anchor="t" lIns="0" rIns="0" tIns="0" bIns="0">
            <a:spAutoFit/>
          </a:bodyPr>
          <a:lstStyle/>
          <a:p>
            <a:pPr algn="l">
              <a:lnSpc>
                <a:spcPct val="100000"/>
              </a:lnSpc>
            </a:pPr>
            <a:r>
              <a:rPr sz="1050" b="0" i="1">
                <a:solidFill>
                  <a:srgbClr val="7F7F7F"/>
                </a:solidFill>
                <a:latin typeface="Calibri"/>
              </a:rPr>
              <a:t>Ch. 4</a:t>
            </a:r>
          </a:p>
        </p:txBody>
      </p:sp>
      <p:sp>
        <p:nvSpPr>
          <p:cNvPr id="13" name="TextBox 12"/>
          <p:cNvSpPr txBox="1"/>
          <p:nvPr/>
        </p:nvSpPr>
        <p:spPr>
          <a:xfrm>
            <a:off x="2898648" y="2788920"/>
            <a:ext cx="1865376" cy="2103120"/>
          </a:xfrm>
          <a:prstGeom prst="rect">
            <a:avLst/>
          </a:prstGeom>
          <a:noFill/>
        </p:spPr>
        <p:txBody>
          <a:bodyPr wrap="square" anchor="t" lIns="0" rIns="0" tIns="0" bIns="0">
            <a:spAutoFit/>
          </a:bodyPr>
          <a:lstStyle/>
          <a:p>
            <a:pPr algn="l">
              <a:lnSpc>
                <a:spcPct val="110000"/>
              </a:lnSpc>
            </a:pPr>
            <a:r>
              <a:rPr sz="1150" b="0" i="0">
                <a:solidFill>
                  <a:srgbClr val="222222"/>
                </a:solidFill>
                <a:latin typeface="Calibri"/>
              </a:rPr>
              <a:t>χ-corrected torque prediction; biomimetic knee meets or exceeds human isometric torque over most of the range of motion</a:t>
            </a:r>
          </a:p>
        </p:txBody>
      </p:sp>
      <p:cxnSp>
        <p:nvCxnSpPr>
          <p:cNvPr id="14" name="Connector 13"/>
          <p:cNvCxnSpPr/>
          <p:nvPr/>
        </p:nvCxnSpPr>
        <p:spPr>
          <a:xfrm>
            <a:off x="4914899" y="3474720"/>
            <a:ext cx="82296"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01768" y="1965960"/>
            <a:ext cx="2157984" cy="30175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48072" y="2121408"/>
            <a:ext cx="1865376" cy="292608"/>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BALANCE</a:t>
            </a:r>
          </a:p>
        </p:txBody>
      </p:sp>
      <p:sp>
        <p:nvSpPr>
          <p:cNvPr id="17" name="TextBox 16"/>
          <p:cNvSpPr txBox="1"/>
          <p:nvPr/>
        </p:nvSpPr>
        <p:spPr>
          <a:xfrm>
            <a:off x="5148072" y="2432304"/>
            <a:ext cx="1865376" cy="274320"/>
          </a:xfrm>
          <a:prstGeom prst="rect">
            <a:avLst/>
          </a:prstGeom>
          <a:noFill/>
        </p:spPr>
        <p:txBody>
          <a:bodyPr wrap="square" anchor="t" lIns="0" rIns="0" tIns="0" bIns="0">
            <a:spAutoFit/>
          </a:bodyPr>
          <a:lstStyle/>
          <a:p>
            <a:pPr algn="l">
              <a:lnSpc>
                <a:spcPct val="100000"/>
              </a:lnSpc>
            </a:pPr>
            <a:r>
              <a:rPr sz="1050" b="0" i="1">
                <a:solidFill>
                  <a:srgbClr val="7F7F7F"/>
                </a:solidFill>
                <a:latin typeface="Calibri"/>
              </a:rPr>
              <a:t>hardware studies</a:t>
            </a:r>
          </a:p>
        </p:txBody>
      </p:sp>
      <p:sp>
        <p:nvSpPr>
          <p:cNvPr id="18" name="TextBox 17"/>
          <p:cNvSpPr txBox="1"/>
          <p:nvPr/>
        </p:nvSpPr>
        <p:spPr>
          <a:xfrm>
            <a:off x="5148072" y="2788920"/>
            <a:ext cx="1865376" cy="2103120"/>
          </a:xfrm>
          <a:prstGeom prst="rect">
            <a:avLst/>
          </a:prstGeom>
          <a:noFill/>
        </p:spPr>
        <p:txBody>
          <a:bodyPr wrap="square" anchor="t" lIns="0" rIns="0" tIns="0" bIns="0">
            <a:spAutoFit/>
          </a:bodyPr>
          <a:lstStyle/>
          <a:p>
            <a:pPr algn="l">
              <a:lnSpc>
                <a:spcPct val="110000"/>
              </a:lnSpc>
            </a:pPr>
            <a:r>
              <a:rPr sz="1150" b="0" i="0">
                <a:solidFill>
                  <a:srgbClr val="222222"/>
                </a:solidFill>
                <a:latin typeface="Calibri"/>
              </a:rPr>
              <a:t>a BPA-actuated limb holds itself upright under pseudo-vestibular IMU feedback</a:t>
            </a:r>
          </a:p>
        </p:txBody>
      </p:sp>
      <p:cxnSp>
        <p:nvCxnSpPr>
          <p:cNvPr id="19" name="Connector 18"/>
          <p:cNvCxnSpPr/>
          <p:nvPr/>
        </p:nvCxnSpPr>
        <p:spPr>
          <a:xfrm>
            <a:off x="7164324" y="3474720"/>
            <a:ext cx="82296"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51192" y="1965960"/>
            <a:ext cx="2157984" cy="30175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7496" y="2121408"/>
            <a:ext cx="1865376" cy="292608"/>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DATABASE</a:t>
            </a:r>
          </a:p>
        </p:txBody>
      </p:sp>
      <p:sp>
        <p:nvSpPr>
          <p:cNvPr id="22" name="TextBox 21"/>
          <p:cNvSpPr txBox="1"/>
          <p:nvPr/>
        </p:nvSpPr>
        <p:spPr>
          <a:xfrm>
            <a:off x="7397496" y="2432304"/>
            <a:ext cx="1865376" cy="274320"/>
          </a:xfrm>
          <a:prstGeom prst="rect">
            <a:avLst/>
          </a:prstGeom>
          <a:noFill/>
        </p:spPr>
        <p:txBody>
          <a:bodyPr wrap="square" anchor="t" lIns="0" rIns="0" tIns="0" bIns="0">
            <a:spAutoFit/>
          </a:bodyPr>
          <a:lstStyle/>
          <a:p>
            <a:pPr algn="l">
              <a:lnSpc>
                <a:spcPct val="100000"/>
              </a:lnSpc>
            </a:pPr>
            <a:r>
              <a:rPr sz="1050" b="0" i="1">
                <a:solidFill>
                  <a:srgbClr val="7F7F7F"/>
                </a:solidFill>
                <a:latin typeface="Calibri"/>
              </a:rPr>
              <a:t>Ch. 5</a:t>
            </a:r>
          </a:p>
        </p:txBody>
      </p:sp>
      <p:sp>
        <p:nvSpPr>
          <p:cNvPr id="23" name="TextBox 22"/>
          <p:cNvSpPr txBox="1"/>
          <p:nvPr/>
        </p:nvSpPr>
        <p:spPr>
          <a:xfrm>
            <a:off x="7397496" y="2788920"/>
            <a:ext cx="1865376" cy="2103120"/>
          </a:xfrm>
          <a:prstGeom prst="rect">
            <a:avLst/>
          </a:prstGeom>
          <a:noFill/>
        </p:spPr>
        <p:txBody>
          <a:bodyPr wrap="square" anchor="t" lIns="0" rIns="0" tIns="0" bIns="0">
            <a:spAutoFit/>
          </a:bodyPr>
          <a:lstStyle/>
          <a:p>
            <a:pPr algn="l">
              <a:lnSpc>
                <a:spcPct val="110000"/>
              </a:lnSpc>
            </a:pPr>
            <a:r>
              <a:rPr sz="1150" b="0" i="0">
                <a:solidFill>
                  <a:srgbClr val="222222"/>
                </a:solidFill>
                <a:latin typeface="Calibri"/>
              </a:rPr>
              <a:t>943-paper audited corpus; the afferent organization the controller's channels mirror</a:t>
            </a:r>
          </a:p>
        </p:txBody>
      </p:sp>
      <p:cxnSp>
        <p:nvCxnSpPr>
          <p:cNvPr id="24" name="Connector 23"/>
          <p:cNvCxnSpPr/>
          <p:nvPr/>
        </p:nvCxnSpPr>
        <p:spPr>
          <a:xfrm>
            <a:off x="9413748" y="3474720"/>
            <a:ext cx="8229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00616" y="1965960"/>
            <a:ext cx="2157984" cy="30175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2121408"/>
            <a:ext cx="1865376" cy="292608"/>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SNS LAB</a:t>
            </a:r>
          </a:p>
        </p:txBody>
      </p:sp>
      <p:sp>
        <p:nvSpPr>
          <p:cNvPr id="27" name="TextBox 26"/>
          <p:cNvSpPr txBox="1"/>
          <p:nvPr/>
        </p:nvSpPr>
        <p:spPr>
          <a:xfrm>
            <a:off x="9646920" y="2432304"/>
            <a:ext cx="1865376" cy="274320"/>
          </a:xfrm>
          <a:prstGeom prst="rect">
            <a:avLst/>
          </a:prstGeom>
          <a:noFill/>
        </p:spPr>
        <p:txBody>
          <a:bodyPr wrap="square" anchor="t" lIns="0" rIns="0" tIns="0" bIns="0">
            <a:spAutoFit/>
          </a:bodyPr>
          <a:lstStyle/>
          <a:p>
            <a:pPr algn="l">
              <a:lnSpc>
                <a:spcPct val="100000"/>
              </a:lnSpc>
            </a:pPr>
            <a:r>
              <a:rPr sz="1050" b="0" i="1">
                <a:solidFill>
                  <a:srgbClr val="7F7F7F"/>
                </a:solidFill>
                <a:latin typeface="Calibri"/>
              </a:rPr>
              <a:t>Ch. 6</a:t>
            </a:r>
          </a:p>
        </p:txBody>
      </p:sp>
      <p:sp>
        <p:nvSpPr>
          <p:cNvPr id="28" name="TextBox 27"/>
          <p:cNvSpPr txBox="1"/>
          <p:nvPr/>
        </p:nvSpPr>
        <p:spPr>
          <a:xfrm>
            <a:off x="9646920" y="2788920"/>
            <a:ext cx="1865376" cy="2103120"/>
          </a:xfrm>
          <a:prstGeom prst="rect">
            <a:avLst/>
          </a:prstGeom>
          <a:noFill/>
        </p:spPr>
        <p:txBody>
          <a:bodyPr wrap="square" anchor="t" lIns="0" rIns="0" tIns="0" bIns="0">
            <a:spAutoFit/>
          </a:bodyPr>
          <a:lstStyle/>
          <a:p>
            <a:pPr algn="l">
              <a:lnSpc>
                <a:spcPct val="110000"/>
              </a:lnSpc>
            </a:pPr>
            <a:r>
              <a:rPr sz="1150" b="0" i="0">
                <a:solidFill>
                  <a:srgbClr val="222222"/>
                </a:solidFill>
                <a:latin typeface="Calibri"/>
              </a:rPr>
              <a:t>cross-engine trace r &gt; 0.9999 · BPA walker peaks at 60% of the pressure ceiling</a:t>
            </a:r>
          </a:p>
        </p:txBody>
      </p:sp>
      <p:sp>
        <p:nvSpPr>
          <p:cNvPr id="29" name="Rounded Rectangle 28"/>
          <p:cNvSpPr/>
          <p:nvPr/>
        </p:nvSpPr>
        <p:spPr>
          <a:xfrm>
            <a:off x="502920" y="5257800"/>
            <a:ext cx="11173968" cy="86868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376672"/>
            <a:ext cx="10789920" cy="640080"/>
          </a:xfrm>
          <a:prstGeom prst="rect">
            <a:avLst/>
          </a:prstGeom>
          <a:noFill/>
        </p:spPr>
        <p:txBody>
          <a:bodyPr wrap="square" anchor="t" lIns="0" rIns="0" tIns="0" bIns="0">
            <a:spAutoFit/>
          </a:bodyPr>
          <a:lstStyle/>
          <a:p>
            <a:pPr algn="ctr">
              <a:lnSpc>
                <a:spcPct val="105000"/>
              </a:lnSpc>
            </a:pPr>
            <a:r>
              <a:rPr sz="1400" b="1" i="0">
                <a:solidFill>
                  <a:srgbClr val="AF7B51"/>
                </a:solidFill>
                <a:latin typeface="Calibri"/>
              </a:rPr>
              <a:t>the missing piece for unsupported walking is balance — a network layer, not an engine feature; once it exists, the actuation margin is already there</a:t>
            </a:r>
          </a:p>
        </p:txBody>
      </p:sp>
      <p:sp>
        <p:nvSpPr>
          <p:cNvPr id="31" name="TextBox 30"/>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7 · DISCUSSION · HONEST BOUNDARIES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What these results do not claim</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7 + chapter-level limitations (Chs. 3-6)</a:t>
            </a:r>
          </a:p>
        </p:txBody>
      </p:sp>
      <p:sp>
        <p:nvSpPr>
          <p:cNvPr id="5" name="Rounded Rectangle 4"/>
          <p:cNvSpPr/>
          <p:nvPr/>
        </p:nvSpPr>
        <p:spPr>
          <a:xfrm>
            <a:off x="502920" y="1874519"/>
            <a:ext cx="5486400" cy="122529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93391"/>
            <a:ext cx="5029200" cy="1024128"/>
          </a:xfrm>
          <a:prstGeom prst="rect">
            <a:avLst/>
          </a:prstGeom>
          <a:noFill/>
        </p:spPr>
        <p:txBody>
          <a:bodyPr wrap="square" anchor="t" lIns="0" rIns="0" tIns="0" bIns="0">
            <a:spAutoFit/>
          </a:bodyPr>
          <a:lstStyle/>
          <a:p>
            <a:pPr algn="l">
              <a:lnSpc>
                <a:spcPct val="100000"/>
              </a:lnSpc>
              <a:spcAft>
                <a:spcPts val="200"/>
              </a:spcAft>
            </a:pPr>
            <a:r>
              <a:rPr sz="1350" b="1" i="0">
                <a:solidFill>
                  <a:srgbClr val="AF7B51"/>
                </a:solidFill>
                <a:latin typeface="Calibri"/>
              </a:rPr>
              <a:t>Static, isometric models</a:t>
            </a:r>
          </a:p>
          <a:p>
            <a:pPr algn="l">
              <a:lnSpc>
                <a:spcPct val="104000"/>
              </a:lnSpc>
            </a:pPr>
            <a:r>
              <a:rPr sz="1150" b="0" i="0">
                <a:solidFill>
                  <a:srgbClr val="222222"/>
                </a:solidFill>
                <a:latin typeface="Calibri"/>
              </a:rPr>
              <a:t>hysteresis and dynamics set aside by design (Ch. 3)</a:t>
            </a:r>
          </a:p>
        </p:txBody>
      </p:sp>
      <p:sp>
        <p:nvSpPr>
          <p:cNvPr id="7" name="Rounded Rectangle 6"/>
          <p:cNvSpPr/>
          <p:nvPr/>
        </p:nvSpPr>
        <p:spPr>
          <a:xfrm>
            <a:off x="6172200" y="1874519"/>
            <a:ext cx="5486400" cy="122529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93391"/>
            <a:ext cx="5029200" cy="1024128"/>
          </a:xfrm>
          <a:prstGeom prst="rect">
            <a:avLst/>
          </a:prstGeom>
          <a:noFill/>
        </p:spPr>
        <p:txBody>
          <a:bodyPr wrap="square" anchor="t" lIns="0" rIns="0" tIns="0" bIns="0">
            <a:spAutoFit/>
          </a:bodyPr>
          <a:lstStyle/>
          <a:p>
            <a:pPr algn="l">
              <a:lnSpc>
                <a:spcPct val="100000"/>
              </a:lnSpc>
              <a:spcAft>
                <a:spcPts val="200"/>
              </a:spcAft>
            </a:pPr>
            <a:r>
              <a:rPr sz="1350" b="1" i="0">
                <a:solidFill>
                  <a:srgbClr val="AF7B51"/>
                </a:solidFill>
                <a:latin typeface="Calibri"/>
              </a:rPr>
              <a:t>Stiffness pair not unique</a:t>
            </a:r>
          </a:p>
          <a:p>
            <a:pPr algn="l">
              <a:lnSpc>
                <a:spcPct val="104000"/>
              </a:lnSpc>
            </a:pPr>
            <a:r>
              <a:rPr sz="1150" b="0" i="0">
                <a:solidFill>
                  <a:srgbClr val="222222"/>
                </a:solidFill>
                <a:latin typeface="Calibri"/>
              </a:rPr>
              <a:t>a family fits; the adopted pair fixed externally (Ch. 4)</a:t>
            </a:r>
          </a:p>
        </p:txBody>
      </p:sp>
      <p:sp>
        <p:nvSpPr>
          <p:cNvPr id="9" name="Rounded Rectangle 8"/>
          <p:cNvSpPr/>
          <p:nvPr/>
        </p:nvSpPr>
        <p:spPr>
          <a:xfrm>
            <a:off x="502920" y="3246120"/>
            <a:ext cx="5486400" cy="122529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364991"/>
            <a:ext cx="5029200" cy="1024128"/>
          </a:xfrm>
          <a:prstGeom prst="rect">
            <a:avLst/>
          </a:prstGeom>
          <a:noFill/>
        </p:spPr>
        <p:txBody>
          <a:bodyPr wrap="square" anchor="t" lIns="0" rIns="0" tIns="0" bIns="0">
            <a:spAutoFit/>
          </a:bodyPr>
          <a:lstStyle/>
          <a:p>
            <a:pPr algn="l">
              <a:lnSpc>
                <a:spcPct val="100000"/>
              </a:lnSpc>
              <a:spcAft>
                <a:spcPts val="200"/>
              </a:spcAft>
            </a:pPr>
            <a:r>
              <a:rPr sz="1350" b="1" i="0">
                <a:solidFill>
                  <a:srgbClr val="AF7B51"/>
                </a:solidFill>
                <a:latin typeface="Calibri"/>
              </a:rPr>
              <a:t>Bio-extensor prediction still high</a:t>
            </a:r>
          </a:p>
          <a:p>
            <a:pPr algn="l">
              <a:lnSpc>
                <a:spcPct val="104000"/>
              </a:lnSpc>
            </a:pPr>
            <a:r>
              <a:rPr sz="1150" b="0" i="0">
                <a:solidFill>
                  <a:srgbClr val="222222"/>
                </a:solidFill>
                <a:latin typeface="Calibri"/>
              </a:rPr>
              <a:t>FVU 4.49 → 0.67 — still above measurement (Ch. 4)</a:t>
            </a:r>
          </a:p>
        </p:txBody>
      </p:sp>
      <p:sp>
        <p:nvSpPr>
          <p:cNvPr id="11" name="Rounded Rectangle 10"/>
          <p:cNvSpPr/>
          <p:nvPr/>
        </p:nvSpPr>
        <p:spPr>
          <a:xfrm>
            <a:off x="6172200" y="3246120"/>
            <a:ext cx="5486400" cy="122529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364991"/>
            <a:ext cx="5029200" cy="1024128"/>
          </a:xfrm>
          <a:prstGeom prst="rect">
            <a:avLst/>
          </a:prstGeom>
          <a:noFill/>
        </p:spPr>
        <p:txBody>
          <a:bodyPr wrap="square" anchor="t" lIns="0" rIns="0" tIns="0" bIns="0">
            <a:spAutoFit/>
          </a:bodyPr>
          <a:lstStyle/>
          <a:p>
            <a:pPr algn="l">
              <a:lnSpc>
                <a:spcPct val="100000"/>
              </a:lnSpc>
              <a:spcAft>
                <a:spcPts val="200"/>
              </a:spcAft>
            </a:pPr>
            <a:r>
              <a:rPr sz="1350" b="1" i="0">
                <a:solidFill>
                  <a:srgbClr val="AF7B51"/>
                </a:solidFill>
                <a:latin typeface="Calibri"/>
              </a:rPr>
              <a:t>Full-body co-simulation blocked</a:t>
            </a:r>
          </a:p>
          <a:p>
            <a:pPr algn="l">
              <a:lnSpc>
                <a:spcPct val="104000"/>
              </a:lnSpc>
            </a:pPr>
            <a:r>
              <a:rPr sz="1150" b="0" i="0">
                <a:solidFill>
                  <a:srgbClr val="222222"/>
                </a:solidFill>
                <a:latin typeface="Calibri"/>
              </a:rPr>
              <a:t>non-finite leg-joint states (Ch. 6)</a:t>
            </a:r>
          </a:p>
        </p:txBody>
      </p:sp>
      <p:sp>
        <p:nvSpPr>
          <p:cNvPr id="13" name="Rounded Rectangle 12"/>
          <p:cNvSpPr/>
          <p:nvPr/>
        </p:nvSpPr>
        <p:spPr>
          <a:xfrm>
            <a:off x="502920" y="4617720"/>
            <a:ext cx="5486400" cy="122529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736592"/>
            <a:ext cx="5029200" cy="1024128"/>
          </a:xfrm>
          <a:prstGeom prst="rect">
            <a:avLst/>
          </a:prstGeom>
          <a:noFill/>
        </p:spPr>
        <p:txBody>
          <a:bodyPr wrap="square" anchor="t" lIns="0" rIns="0" tIns="0" bIns="0">
            <a:spAutoFit/>
          </a:bodyPr>
          <a:lstStyle/>
          <a:p>
            <a:pPr algn="l">
              <a:lnSpc>
                <a:spcPct val="100000"/>
              </a:lnSpc>
              <a:spcAft>
                <a:spcPts val="200"/>
              </a:spcAft>
            </a:pPr>
            <a:r>
              <a:rPr sz="1350" b="1" i="0">
                <a:solidFill>
                  <a:srgbClr val="AF7B51"/>
                </a:solidFill>
                <a:latin typeface="Calibri"/>
              </a:rPr>
              <a:t>No unsupported ground walking</a:t>
            </a:r>
          </a:p>
          <a:p>
            <a:pPr algn="l">
              <a:lnSpc>
                <a:spcPct val="104000"/>
              </a:lnSpc>
            </a:pPr>
            <a:r>
              <a:rPr sz="1150" b="0" i="0">
                <a:solidFill>
                  <a:srgbClr val="222222"/>
                </a:solidFill>
                <a:latin typeface="Calibri"/>
              </a:rPr>
              <a:t>walkers stand or latch; balance layer absent (Ch. 6)</a:t>
            </a:r>
          </a:p>
        </p:txBody>
      </p:sp>
      <p:sp>
        <p:nvSpPr>
          <p:cNvPr id="15" name="Rounded Rectangle 14"/>
          <p:cNvSpPr/>
          <p:nvPr/>
        </p:nvSpPr>
        <p:spPr>
          <a:xfrm>
            <a:off x="6172200" y="4617720"/>
            <a:ext cx="5486400" cy="1225296"/>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736592"/>
            <a:ext cx="5029200" cy="1024128"/>
          </a:xfrm>
          <a:prstGeom prst="rect">
            <a:avLst/>
          </a:prstGeom>
          <a:noFill/>
        </p:spPr>
        <p:txBody>
          <a:bodyPr wrap="square" anchor="t" lIns="0" rIns="0" tIns="0" bIns="0">
            <a:spAutoFit/>
          </a:bodyPr>
          <a:lstStyle/>
          <a:p>
            <a:pPr algn="l">
              <a:lnSpc>
                <a:spcPct val="100000"/>
              </a:lnSpc>
              <a:spcAft>
                <a:spcPts val="200"/>
              </a:spcAft>
            </a:pPr>
            <a:r>
              <a:rPr sz="1350" b="1" i="0">
                <a:solidFill>
                  <a:srgbClr val="AF7B51"/>
                </a:solidFill>
                <a:latin typeface="Calibri"/>
              </a:rPr>
              <a:t>Tuning transfers poorly</a:t>
            </a:r>
          </a:p>
          <a:p>
            <a:pPr algn="l">
              <a:lnSpc>
                <a:spcPct val="104000"/>
              </a:lnSpc>
            </a:pPr>
            <a:r>
              <a:rPr sz="1150" b="0" i="0">
                <a:solidFill>
                  <a:srgbClr val="222222"/>
                </a:solidFill>
                <a:latin typeface="Calibri"/>
              </a:rPr>
              <a:t>library scores 1–2 orders worse than tuning refs (Ch. 6)</a:t>
            </a:r>
          </a:p>
        </p:txBody>
      </p:sp>
      <p:sp>
        <p:nvSpPr>
          <p:cNvPr id="17" name="TextBox 16"/>
          <p:cNvSpPr txBox="1"/>
          <p:nvPr/>
        </p:nvSpPr>
        <p:spPr>
          <a:xfrm>
            <a:off x="502920" y="6053328"/>
            <a:ext cx="11173968" cy="365760"/>
          </a:xfrm>
          <a:prstGeom prst="rect">
            <a:avLst/>
          </a:prstGeom>
          <a:noFill/>
        </p:spPr>
        <p:txBody>
          <a:bodyPr wrap="square" anchor="t" lIns="0" rIns="0" tIns="0" bIns="0">
            <a:spAutoFit/>
          </a:bodyPr>
          <a:lstStyle/>
          <a:p>
            <a:pPr algn="ctr">
              <a:lnSpc>
                <a:spcPct val="100000"/>
              </a:lnSpc>
            </a:pPr>
            <a:r>
              <a:rPr sz="1200" b="0" i="1">
                <a:solidFill>
                  <a:srgbClr val="595959"/>
                </a:solidFill>
                <a:latin typeface="Calibri"/>
              </a:rPr>
              <a:t>and the database is deeper than broad: the afferent classification covers 86 of 561 retained papers (Ch. 5)</a:t>
            </a:r>
          </a:p>
        </p:txBody>
      </p:sp>
      <p:sp>
        <p:nvSpPr>
          <p:cNvPr id="18" name="TextBox 1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CH. 7 · DISCUSSION · FUTURE WORK</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program the tools define: close the loop, extend the sensorium, build the robot, then maneuver</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7 §Future Work (closing the loop in simulation; sensorium, physical realization, whole-body maneuvers)</a:t>
            </a:r>
          </a:p>
        </p:txBody>
      </p:sp>
      <p:sp>
        <p:nvSpPr>
          <p:cNvPr id="5" name="Rounded Rectangle 4"/>
          <p:cNvSpPr/>
          <p:nvPr/>
        </p:nvSpPr>
        <p:spPr>
          <a:xfrm>
            <a:off x="502920" y="1965960"/>
            <a:ext cx="2697480" cy="288036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21408"/>
            <a:ext cx="2331720" cy="2606040"/>
          </a:xfrm>
          <a:prstGeom prst="rect">
            <a:avLst/>
          </a:prstGeom>
          <a:noFill/>
        </p:spPr>
        <p:txBody>
          <a:bodyPr wrap="square" anchor="t" lIns="0" rIns="0" tIns="0" bIns="0">
            <a:spAutoFit/>
          </a:bodyPr>
          <a:lstStyle/>
          <a:p>
            <a:pPr algn="l">
              <a:lnSpc>
                <a:spcPct val="100000"/>
              </a:lnSpc>
              <a:spcAft>
                <a:spcPts val="500"/>
              </a:spcAft>
            </a:pPr>
            <a:r>
              <a:rPr sz="1200" b="1" i="0">
                <a:solidFill>
                  <a:srgbClr val="00796B"/>
                </a:solidFill>
                <a:latin typeface="Calibri"/>
              </a:rPr>
              <a:t>1 · CLOSE THE LOOP</a:t>
            </a:r>
          </a:p>
          <a:p>
            <a:pPr algn="l">
              <a:lnSpc>
                <a:spcPct val="112000"/>
              </a:lnSpc>
            </a:pPr>
            <a:r>
              <a:rPr sz="1200" b="0" i="0">
                <a:solidFill>
                  <a:srgbClr val="222222"/>
                </a:solidFill>
                <a:latin typeface="Calibri"/>
              </a:rPr>
              <a:t>resolve the leg-joint blocker · staged validation → full Ia / Ib / II</a:t>
            </a:r>
          </a:p>
        </p:txBody>
      </p:sp>
      <p:cxnSp>
        <p:nvCxnSpPr>
          <p:cNvPr id="7" name="Connector 6"/>
          <p:cNvCxnSpPr/>
          <p:nvPr/>
        </p:nvCxnSpPr>
        <p:spPr>
          <a:xfrm>
            <a:off x="3209544" y="3383280"/>
            <a:ext cx="10972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28416" y="1965960"/>
            <a:ext cx="2697480" cy="288036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11296" y="2121408"/>
            <a:ext cx="2331720" cy="2606040"/>
          </a:xfrm>
          <a:prstGeom prst="rect">
            <a:avLst/>
          </a:prstGeom>
          <a:noFill/>
        </p:spPr>
        <p:txBody>
          <a:bodyPr wrap="square" anchor="t" lIns="0" rIns="0" tIns="0" bIns="0">
            <a:spAutoFit/>
          </a:bodyPr>
          <a:lstStyle/>
          <a:p>
            <a:pPr algn="l">
              <a:lnSpc>
                <a:spcPct val="100000"/>
              </a:lnSpc>
              <a:spcAft>
                <a:spcPts val="500"/>
              </a:spcAft>
            </a:pPr>
            <a:r>
              <a:rPr sz="1200" b="1" i="0">
                <a:solidFill>
                  <a:srgbClr val="00796B"/>
                </a:solidFill>
                <a:latin typeface="Calibri"/>
              </a:rPr>
              <a:t>2 · SENSORIUM</a:t>
            </a:r>
          </a:p>
          <a:p>
            <a:pPr algn="l">
              <a:lnSpc>
                <a:spcPct val="112000"/>
              </a:lnSpc>
            </a:pPr>
            <a:r>
              <a:rPr sz="1200" b="0" i="0">
                <a:solidFill>
                  <a:srgbClr val="222222"/>
                </a:solidFill>
                <a:latin typeface="Calibri"/>
              </a:rPr>
              <a:t>vestibular (IMU) · ocular drift reset · cerebellar gateway</a:t>
            </a:r>
          </a:p>
        </p:txBody>
      </p:sp>
      <p:cxnSp>
        <p:nvCxnSpPr>
          <p:cNvPr id="10" name="Connector 9"/>
          <p:cNvCxnSpPr/>
          <p:nvPr/>
        </p:nvCxnSpPr>
        <p:spPr>
          <a:xfrm>
            <a:off x="6035040" y="3383280"/>
            <a:ext cx="10972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53912" y="1965960"/>
            <a:ext cx="2697480" cy="288036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2121408"/>
            <a:ext cx="2331720" cy="2606040"/>
          </a:xfrm>
          <a:prstGeom prst="rect">
            <a:avLst/>
          </a:prstGeom>
          <a:noFill/>
        </p:spPr>
        <p:txBody>
          <a:bodyPr wrap="square" anchor="t" lIns="0" rIns="0" tIns="0" bIns="0">
            <a:spAutoFit/>
          </a:bodyPr>
          <a:lstStyle/>
          <a:p>
            <a:pPr algn="l">
              <a:lnSpc>
                <a:spcPct val="100000"/>
              </a:lnSpc>
              <a:spcAft>
                <a:spcPts val="500"/>
              </a:spcAft>
            </a:pPr>
            <a:r>
              <a:rPr sz="1200" b="1" i="0">
                <a:solidFill>
                  <a:srgbClr val="00796B"/>
                </a:solidFill>
                <a:latin typeface="Calibri"/>
              </a:rPr>
              <a:t>3 · PHYSICAL REALIZATION</a:t>
            </a:r>
          </a:p>
          <a:p>
            <a:pPr algn="l">
              <a:lnSpc>
                <a:spcPct val="112000"/>
              </a:lnSpc>
            </a:pPr>
            <a:r>
              <a:rPr sz="1200" b="0" i="0">
                <a:solidFill>
                  <a:srgbClr val="222222"/>
                </a:solidFill>
                <a:latin typeface="Calibri"/>
              </a:rPr>
              <a:t>treadmill biped · Teensy + Jetson · Ch. 3-4 models on board</a:t>
            </a:r>
          </a:p>
        </p:txBody>
      </p:sp>
      <p:cxnSp>
        <p:nvCxnSpPr>
          <p:cNvPr id="13" name="Connector 12"/>
          <p:cNvCxnSpPr/>
          <p:nvPr/>
        </p:nvCxnSpPr>
        <p:spPr>
          <a:xfrm>
            <a:off x="8860536" y="3383280"/>
            <a:ext cx="10972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979408" y="1965960"/>
            <a:ext cx="2697480" cy="288036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62288" y="2121408"/>
            <a:ext cx="2331720" cy="2606040"/>
          </a:xfrm>
          <a:prstGeom prst="rect">
            <a:avLst/>
          </a:prstGeom>
          <a:noFill/>
        </p:spPr>
        <p:txBody>
          <a:bodyPr wrap="square" anchor="t" lIns="0" rIns="0" tIns="0" bIns="0">
            <a:spAutoFit/>
          </a:bodyPr>
          <a:lstStyle/>
          <a:p>
            <a:pPr algn="l">
              <a:lnSpc>
                <a:spcPct val="100000"/>
              </a:lnSpc>
              <a:spcAft>
                <a:spcPts val="500"/>
              </a:spcAft>
            </a:pPr>
            <a:r>
              <a:rPr sz="1200" b="1" i="0">
                <a:solidFill>
                  <a:srgbClr val="00796B"/>
                </a:solidFill>
                <a:latin typeface="Calibri"/>
              </a:rPr>
              <a:t>4 · WHOLE-BODY MANEUVERS</a:t>
            </a:r>
          </a:p>
          <a:p>
            <a:pPr algn="l">
              <a:lnSpc>
                <a:spcPct val="112000"/>
              </a:lnSpc>
            </a:pPr>
            <a:r>
              <a:rPr sz="1200" b="0" i="0">
                <a:solidFill>
                  <a:srgbClr val="222222"/>
                </a:solidFill>
                <a:latin typeface="Calibri"/>
              </a:rPr>
              <a:t>gait transitions · reactive balance · the kickflip</a:t>
            </a:r>
          </a:p>
        </p:txBody>
      </p:sp>
      <p:sp>
        <p:nvSpPr>
          <p:cNvPr id="16" name="Rounded Rectangle 15"/>
          <p:cNvSpPr/>
          <p:nvPr/>
        </p:nvSpPr>
        <p:spPr>
          <a:xfrm>
            <a:off x="502920" y="5138928"/>
            <a:ext cx="11173968" cy="9601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248656"/>
            <a:ext cx="10789920" cy="777240"/>
          </a:xfrm>
          <a:prstGeom prst="rect">
            <a:avLst/>
          </a:prstGeom>
          <a:noFill/>
        </p:spPr>
        <p:txBody>
          <a:bodyPr wrap="square" anchor="t" lIns="0" rIns="0" tIns="0" bIns="0">
            <a:spAutoFit/>
          </a:bodyPr>
          <a:lstStyle/>
          <a:p>
            <a:pPr algn="ctr">
              <a:lnSpc>
                <a:spcPct val="100000"/>
              </a:lnSpc>
              <a:spcAft>
                <a:spcPts val="300"/>
              </a:spcAft>
            </a:pPr>
            <a:r>
              <a:rPr sz="1500" b="1" i="0">
                <a:solidFill>
                  <a:srgbClr val="AF7B51"/>
                </a:solidFill>
                <a:latin typeface="Calibri"/>
              </a:rPr>
              <a:t>a robot whose nervous system — unlike a living animal's — can be instrumented, stimulated, and lesioned at will</a:t>
            </a:r>
          </a:p>
          <a:p>
            <a:pPr algn="ctr">
              <a:lnSpc>
                <a:spcPct val="100000"/>
              </a:lnSpc>
            </a:pPr>
            <a:r>
              <a:rPr sz="1200" b="0" i="0">
                <a:solidFill>
                  <a:srgbClr val="595959"/>
                </a:solidFill>
                <a:latin typeface="Calibri"/>
              </a:rPr>
              <a:t>the intended demonstration: walking with human-like biomechanics under a biologically grounded neural controller</a:t>
            </a:r>
          </a:p>
        </p:txBody>
      </p:sp>
      <p:sp>
        <p:nvSpPr>
          <p:cNvPr id="18" name="TextBox 1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3400" b="1" i="0">
                <a:solidFill>
                  <a:srgbClr val="AF7B51"/>
                </a:solidFill>
                <a:latin typeface="Calibri"/>
              </a:rPr>
              <a:t>Acknowledgments</a:t>
            </a:r>
          </a:p>
        </p:txBody>
      </p:sp>
      <p:sp>
        <p:nvSpPr>
          <p:cNvPr id="3" name="TextBox 2"/>
          <p:cNvSpPr txBox="1"/>
          <p:nvPr/>
        </p:nvSpPr>
        <p:spPr>
          <a:xfrm>
            <a:off x="1463040" y="2103120"/>
            <a:ext cx="9326880" cy="914400"/>
          </a:xfrm>
          <a:prstGeom prst="rect">
            <a:avLst/>
          </a:prstGeom>
          <a:noFill/>
        </p:spPr>
        <p:txBody>
          <a:bodyPr wrap="square" anchor="t" lIns="0" rIns="0" tIns="0" bIns="0">
            <a:spAutoFit/>
          </a:bodyPr>
          <a:lstStyle/>
          <a:p>
            <a:pPr algn="l">
              <a:lnSpc>
                <a:spcPct val="100000"/>
              </a:lnSpc>
              <a:spcAft>
                <a:spcPts val="200"/>
              </a:spcAft>
            </a:pPr>
            <a:r>
              <a:rPr sz="1200" b="1" i="0">
                <a:solidFill>
                  <a:srgbClr val="00796B"/>
                </a:solidFill>
                <a:latin typeface="Calibri"/>
              </a:rPr>
              <a:t>ADVISOR</a:t>
            </a:r>
          </a:p>
          <a:p>
            <a:pPr algn="l">
              <a:lnSpc>
                <a:spcPct val="100000"/>
              </a:lnSpc>
            </a:pPr>
            <a:r>
              <a:rPr sz="1700" b="0" i="0">
                <a:solidFill>
                  <a:srgbClr val="222222"/>
                </a:solidFill>
                <a:latin typeface="Calibri"/>
              </a:rPr>
              <a:t>M. Anthony Hunt</a:t>
            </a:r>
          </a:p>
        </p:txBody>
      </p:sp>
      <p:sp>
        <p:nvSpPr>
          <p:cNvPr id="4" name="TextBox 3"/>
          <p:cNvSpPr txBox="1"/>
          <p:nvPr/>
        </p:nvSpPr>
        <p:spPr>
          <a:xfrm>
            <a:off x="1463040" y="3127248"/>
            <a:ext cx="9326880" cy="914400"/>
          </a:xfrm>
          <a:prstGeom prst="rect">
            <a:avLst/>
          </a:prstGeom>
          <a:noFill/>
        </p:spPr>
        <p:txBody>
          <a:bodyPr wrap="square" anchor="t" lIns="0" rIns="0" tIns="0" bIns="0">
            <a:spAutoFit/>
          </a:bodyPr>
          <a:lstStyle/>
          <a:p>
            <a:pPr algn="l">
              <a:lnSpc>
                <a:spcPct val="100000"/>
              </a:lnSpc>
              <a:spcAft>
                <a:spcPts val="200"/>
              </a:spcAft>
            </a:pPr>
            <a:r>
              <a:rPr sz="1200" b="1" i="0">
                <a:solidFill>
                  <a:srgbClr val="00796B"/>
                </a:solidFill>
                <a:latin typeface="Calibri"/>
              </a:rPr>
              <a:t>COMMITTEE</a:t>
            </a:r>
          </a:p>
          <a:p>
            <a:pPr algn="l">
              <a:lnSpc>
                <a:spcPct val="100000"/>
              </a:lnSpc>
            </a:pPr>
            <a:r>
              <a:rPr sz="1700" b="0" i="0">
                <a:solidFill>
                  <a:srgbClr val="222222"/>
                </a:solidFill>
                <a:latin typeface="Calibri"/>
              </a:rPr>
              <a:t>thank you for reading, commenting, and being here</a:t>
            </a:r>
          </a:p>
        </p:txBody>
      </p:sp>
      <p:sp>
        <p:nvSpPr>
          <p:cNvPr id="5" name="TextBox 4"/>
          <p:cNvSpPr txBox="1"/>
          <p:nvPr/>
        </p:nvSpPr>
        <p:spPr>
          <a:xfrm>
            <a:off x="1463040" y="4151376"/>
            <a:ext cx="9326880" cy="914400"/>
          </a:xfrm>
          <a:prstGeom prst="rect">
            <a:avLst/>
          </a:prstGeom>
          <a:noFill/>
        </p:spPr>
        <p:txBody>
          <a:bodyPr wrap="square" anchor="t" lIns="0" rIns="0" tIns="0" bIns="0">
            <a:spAutoFit/>
          </a:bodyPr>
          <a:lstStyle/>
          <a:p>
            <a:pPr algn="l">
              <a:lnSpc>
                <a:spcPct val="100000"/>
              </a:lnSpc>
              <a:spcAft>
                <a:spcPts val="200"/>
              </a:spcAft>
            </a:pPr>
            <a:r>
              <a:rPr sz="1200" b="1" i="0">
                <a:solidFill>
                  <a:srgbClr val="00796B"/>
                </a:solidFill>
                <a:latin typeface="Calibri"/>
              </a:rPr>
              <a:t>COLLABORATORS</a:t>
            </a:r>
          </a:p>
          <a:p>
            <a:pPr algn="l">
              <a:lnSpc>
                <a:spcPct val="100000"/>
              </a:lnSpc>
            </a:pPr>
            <a:r>
              <a:rPr sz="1700" b="0" i="0">
                <a:solidFill>
                  <a:srgbClr val="222222"/>
                </a:solidFill>
                <a:latin typeface="Calibri"/>
              </a:rPr>
              <a:t>M. Elzein · L. Pang · L. Burgess · C. Morrow · J. Scharzenberger · C. Steele · J. Chung</a:t>
            </a:r>
          </a:p>
        </p:txBody>
      </p:sp>
      <p:sp>
        <p:nvSpPr>
          <p:cNvPr id="6" name="TextBox 5"/>
          <p:cNvSpPr txBox="1"/>
          <p:nvPr/>
        </p:nvSpPr>
        <p:spPr>
          <a:xfrm>
            <a:off x="1463040" y="5175504"/>
            <a:ext cx="9326880" cy="914400"/>
          </a:xfrm>
          <a:prstGeom prst="rect">
            <a:avLst/>
          </a:prstGeom>
          <a:noFill/>
        </p:spPr>
        <p:txBody>
          <a:bodyPr wrap="square" anchor="t" lIns="0" rIns="0" tIns="0" bIns="0">
            <a:spAutoFit/>
          </a:bodyPr>
          <a:lstStyle/>
          <a:p>
            <a:pPr algn="l">
              <a:lnSpc>
                <a:spcPct val="100000"/>
              </a:lnSpc>
              <a:spcAft>
                <a:spcPts val="200"/>
              </a:spcAft>
            </a:pPr>
            <a:r>
              <a:rPr sz="1200" b="1" i="0">
                <a:solidFill>
                  <a:srgbClr val="00796B"/>
                </a:solidFill>
                <a:latin typeface="Calibri"/>
              </a:rPr>
              <a:t>LAB &amp; SUPPORT</a:t>
            </a:r>
          </a:p>
          <a:p>
            <a:pPr algn="l">
              <a:lnSpc>
                <a:spcPct val="100000"/>
              </a:lnSpc>
            </a:pPr>
            <a:r>
              <a:rPr sz="1700" b="0" i="0">
                <a:solidFill>
                  <a:srgbClr val="222222"/>
                </a:solidFill>
                <a:latin typeface="Calibri"/>
              </a:rPr>
              <a:t>Agile &amp; Adaptive Robotics Laboratory · Portland State University · NeuroNex community</a:t>
            </a:r>
          </a:p>
        </p:txBody>
      </p:sp>
      <p:pic>
        <p:nvPicPr>
          <p:cNvPr id="7" name="Picture 6" descr="aarl_logo_0.png"/>
          <p:cNvPicPr>
            <a:picLocks noChangeAspect="1"/>
          </p:cNvPicPr>
          <p:nvPr/>
        </p:nvPicPr>
        <p:blipFill>
          <a:blip r:embed="rId3"/>
          <a:stretch>
            <a:fillRect/>
          </a:stretch>
        </p:blipFill>
        <p:spPr>
          <a:xfrm>
            <a:off x="4899098" y="5989320"/>
            <a:ext cx="2399898" cy="731520"/>
          </a:xfrm>
          <a:prstGeom prst="rect">
            <a:avLst/>
          </a:prstGeom>
        </p:spPr>
      </p:pic>
      <p:sp>
        <p:nvSpPr>
          <p:cNvPr id="8" name="TextBox 7"/>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arl_logo_0.png"/>
          <p:cNvPicPr>
            <a:picLocks noChangeAspect="1"/>
          </p:cNvPicPr>
          <p:nvPr/>
        </p:nvPicPr>
        <p:blipFill>
          <a:blip r:embed="rId2"/>
          <a:stretch>
            <a:fillRect/>
          </a:stretch>
        </p:blipFill>
        <p:spPr>
          <a:xfrm>
            <a:off x="4089132" y="960120"/>
            <a:ext cx="4019830" cy="1225296"/>
          </a:xfrm>
          <a:prstGeom prst="rect">
            <a:avLst/>
          </a:prstGeom>
        </p:spPr>
      </p:pic>
      <p:sp>
        <p:nvSpPr>
          <p:cNvPr id="3" name="TextBox 2"/>
          <p:cNvSpPr txBox="1"/>
          <p:nvPr/>
        </p:nvSpPr>
        <p:spPr>
          <a:xfrm>
            <a:off x="640080" y="2926080"/>
            <a:ext cx="10908792" cy="1005840"/>
          </a:xfrm>
          <a:prstGeom prst="rect">
            <a:avLst/>
          </a:prstGeom>
          <a:noFill/>
        </p:spPr>
        <p:txBody>
          <a:bodyPr wrap="square" anchor="t" lIns="0" rIns="0" tIns="0" bIns="0">
            <a:spAutoFit/>
          </a:bodyPr>
          <a:lstStyle/>
          <a:p>
            <a:pPr algn="ctr">
              <a:lnSpc>
                <a:spcPct val="100000"/>
              </a:lnSpc>
            </a:pPr>
            <a:r>
              <a:rPr sz="4400" b="1" i="0">
                <a:solidFill>
                  <a:srgbClr val="AF7B51"/>
                </a:solidFill>
                <a:latin typeface="Calibri"/>
              </a:rPr>
              <a:t>Thank you — questions?</a:t>
            </a:r>
          </a:p>
        </p:txBody>
      </p:sp>
      <p:sp>
        <p:nvSpPr>
          <p:cNvPr id="4" name="TextBox 3"/>
          <p:cNvSpPr txBox="1"/>
          <p:nvPr/>
        </p:nvSpPr>
        <p:spPr>
          <a:xfrm>
            <a:off x="640080" y="4114800"/>
            <a:ext cx="10908792" cy="457200"/>
          </a:xfrm>
          <a:prstGeom prst="rect">
            <a:avLst/>
          </a:prstGeom>
          <a:noFill/>
        </p:spPr>
        <p:txBody>
          <a:bodyPr wrap="square" anchor="t" lIns="0" rIns="0" tIns="0" bIns="0">
            <a:spAutoFit/>
          </a:bodyPr>
          <a:lstStyle/>
          <a:p>
            <a:pPr algn="ctr">
              <a:lnSpc>
                <a:spcPct val="100000"/>
              </a:lnSpc>
            </a:pPr>
            <a:r>
              <a:rPr sz="1600" b="0" i="0">
                <a:solidFill>
                  <a:srgbClr val="595959"/>
                </a:solidFill>
                <a:latin typeface="Calibri"/>
              </a:rPr>
              <a:t>Movement and Control of Biomimetic Humanoid Robots</a:t>
            </a:r>
          </a:p>
        </p:txBody>
      </p:sp>
      <p:sp>
        <p:nvSpPr>
          <p:cNvPr id="5" name="TextBox 4"/>
          <p:cNvSpPr txBox="1"/>
          <p:nvPr/>
        </p:nvSpPr>
        <p:spPr>
          <a:xfrm>
            <a:off x="640080" y="4617720"/>
            <a:ext cx="10908792" cy="457200"/>
          </a:xfrm>
          <a:prstGeom prst="rect">
            <a:avLst/>
          </a:prstGeom>
          <a:noFill/>
        </p:spPr>
        <p:txBody>
          <a:bodyPr wrap="square" anchor="t" lIns="0" rIns="0" tIns="0" bIns="0">
            <a:spAutoFit/>
          </a:bodyPr>
          <a:lstStyle/>
          <a:p>
            <a:pPr algn="ctr">
              <a:lnSpc>
                <a:spcPct val="100000"/>
              </a:lnSpc>
            </a:pPr>
            <a:r>
              <a:rPr sz="1400" b="0" i="0">
                <a:solidFill>
                  <a:srgbClr val="595959"/>
                </a:solidFill>
                <a:latin typeface="Calibri"/>
              </a:rPr>
              <a:t>Ben P. Bolen  ·  bbolen83@gmail.com</a:t>
            </a:r>
          </a:p>
        </p:txBody>
      </p:sp>
      <p:sp>
        <p:nvSpPr>
          <p:cNvPr id="6" name="TextBox 5"/>
          <p:cNvSpPr txBox="1"/>
          <p:nvPr/>
        </p:nvSpPr>
        <p:spPr>
          <a:xfrm>
            <a:off x="640080" y="6035040"/>
            <a:ext cx="10908792" cy="365760"/>
          </a:xfrm>
          <a:prstGeom prst="rect">
            <a:avLst/>
          </a:prstGeom>
          <a:noFill/>
        </p:spPr>
        <p:txBody>
          <a:bodyPr wrap="square" anchor="t" lIns="0" rIns="0" tIns="0" bIns="0">
            <a:spAutoFit/>
          </a:bodyPr>
          <a:lstStyle/>
          <a:p>
            <a:pPr algn="ctr">
              <a:lnSpc>
                <a:spcPct val="100000"/>
              </a:lnSpc>
            </a:pPr>
            <a:r>
              <a:rPr sz="1200" b="0" i="1">
                <a:solidFill>
                  <a:srgbClr val="7F7F7F"/>
                </a:solidFill>
                <a:latin typeface="Calibri"/>
              </a:rPr>
              <a:t>Appendix: model details, protocol, robustness checks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A · MODEL</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The complete actuator force model</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Dissertation Ch. 3, Eqs. (3.1), (3.4)–(3.6); reference implementation: App. A §A.3 (Functions/f_festo.m, maxBPAforce.m)</a:t>
            </a:r>
          </a:p>
        </p:txBody>
      </p:sp>
      <p:sp>
        <p:nvSpPr>
          <p:cNvPr id="5" name="Rounded Rectangle 4"/>
          <p:cNvSpPr/>
          <p:nvPr/>
        </p:nvSpPr>
        <p:spPr>
          <a:xfrm>
            <a:off x="502920" y="1828800"/>
            <a:ext cx="11155680" cy="978408"/>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38528"/>
            <a:ext cx="5029200" cy="320040"/>
          </a:xfrm>
          <a:prstGeom prst="rect">
            <a:avLst/>
          </a:prstGeom>
          <a:noFill/>
        </p:spPr>
        <p:txBody>
          <a:bodyPr wrap="square" anchor="t" lIns="0" rIns="0" tIns="0" bIns="0">
            <a:spAutoFit/>
          </a:bodyPr>
          <a:lstStyle/>
          <a:p>
            <a:pPr algn="l">
              <a:lnSpc>
                <a:spcPct val="100000"/>
              </a:lnSpc>
            </a:pPr>
            <a:r>
              <a:rPr sz="1100" b="1" i="0">
                <a:solidFill>
                  <a:srgbClr val="00796B"/>
                </a:solidFill>
                <a:latin typeface="Calibri"/>
              </a:rPr>
              <a:t>STRAIN MEASURES · EQ. (3.1)</a:t>
            </a:r>
          </a:p>
        </p:txBody>
      </p:sp>
      <p:pic>
        <p:nvPicPr>
          <p:cNvPr id="7" name="Picture 6" descr="strain.png"/>
          <p:cNvPicPr>
            <a:picLocks noChangeAspect="1"/>
          </p:cNvPicPr>
          <p:nvPr/>
        </p:nvPicPr>
        <p:blipFill>
          <a:blip r:embed="rId3"/>
          <a:stretch>
            <a:fillRect/>
          </a:stretch>
        </p:blipFill>
        <p:spPr>
          <a:xfrm>
            <a:off x="868680" y="2212848"/>
            <a:ext cx="4140054" cy="475488"/>
          </a:xfrm>
          <a:prstGeom prst="rect">
            <a:avLst/>
          </a:prstGeom>
        </p:spPr>
      </p:pic>
      <p:sp>
        <p:nvSpPr>
          <p:cNvPr id="8" name="Rounded Rectangle 7"/>
          <p:cNvSpPr/>
          <p:nvPr/>
        </p:nvSpPr>
        <p:spPr>
          <a:xfrm>
            <a:off x="502920" y="2990088"/>
            <a:ext cx="11155680" cy="978408"/>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99816"/>
            <a:ext cx="5029200" cy="320040"/>
          </a:xfrm>
          <a:prstGeom prst="rect">
            <a:avLst/>
          </a:prstGeom>
          <a:noFill/>
        </p:spPr>
        <p:txBody>
          <a:bodyPr wrap="square" anchor="t" lIns="0" rIns="0" tIns="0" bIns="0">
            <a:spAutoFit/>
          </a:bodyPr>
          <a:lstStyle/>
          <a:p>
            <a:pPr algn="l">
              <a:lnSpc>
                <a:spcPct val="100000"/>
              </a:lnSpc>
            </a:pPr>
            <a:r>
              <a:rPr sz="1100" b="1" i="0">
                <a:solidFill>
                  <a:srgbClr val="00796B"/>
                </a:solidFill>
                <a:latin typeface="Calibri"/>
              </a:rPr>
              <a:t>NORMALIZED SURFACE · EQ. (3.4)</a:t>
            </a:r>
          </a:p>
        </p:txBody>
      </p:sp>
      <p:pic>
        <p:nvPicPr>
          <p:cNvPr id="10" name="Picture 9" descr="fstar.png"/>
          <p:cNvPicPr>
            <a:picLocks noChangeAspect="1"/>
          </p:cNvPicPr>
          <p:nvPr/>
        </p:nvPicPr>
        <p:blipFill>
          <a:blip r:embed="rId4"/>
          <a:stretch>
            <a:fillRect/>
          </a:stretch>
        </p:blipFill>
        <p:spPr>
          <a:xfrm>
            <a:off x="868680" y="3374136"/>
            <a:ext cx="9117690" cy="475488"/>
          </a:xfrm>
          <a:prstGeom prst="rect">
            <a:avLst/>
          </a:prstGeom>
        </p:spPr>
      </p:pic>
      <p:sp>
        <p:nvSpPr>
          <p:cNvPr id="11" name="Rounded Rectangle 10"/>
          <p:cNvSpPr/>
          <p:nvPr/>
        </p:nvSpPr>
        <p:spPr>
          <a:xfrm>
            <a:off x="502920" y="4151376"/>
            <a:ext cx="11155680" cy="9601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61104"/>
            <a:ext cx="5029200" cy="320040"/>
          </a:xfrm>
          <a:prstGeom prst="rect">
            <a:avLst/>
          </a:prstGeom>
          <a:noFill/>
        </p:spPr>
        <p:txBody>
          <a:bodyPr wrap="square" anchor="t" lIns="0" rIns="0" tIns="0" bIns="0">
            <a:spAutoFit/>
          </a:bodyPr>
          <a:lstStyle/>
          <a:p>
            <a:pPr algn="l">
              <a:lnSpc>
                <a:spcPct val="100000"/>
              </a:lnSpc>
            </a:pPr>
            <a:r>
              <a:rPr sz="1100" b="1" i="0">
                <a:solidFill>
                  <a:srgbClr val="00796B"/>
                </a:solidFill>
                <a:latin typeface="Calibri"/>
              </a:rPr>
              <a:t>MAXIMUM FORCE (GENERAL P) · EQ. (3.5)</a:t>
            </a:r>
          </a:p>
        </p:txBody>
      </p:sp>
      <p:pic>
        <p:nvPicPr>
          <p:cNvPr id="13" name="Picture 12" descr="fmax3d.png"/>
          <p:cNvPicPr>
            <a:picLocks noChangeAspect="1"/>
          </p:cNvPicPr>
          <p:nvPr/>
        </p:nvPicPr>
        <p:blipFill>
          <a:blip r:embed="rId5"/>
          <a:stretch>
            <a:fillRect/>
          </a:stretch>
        </p:blipFill>
        <p:spPr>
          <a:xfrm>
            <a:off x="868680" y="4535424"/>
            <a:ext cx="7749702" cy="457200"/>
          </a:xfrm>
          <a:prstGeom prst="rect">
            <a:avLst/>
          </a:prstGeom>
        </p:spPr>
      </p:pic>
      <p:sp>
        <p:nvSpPr>
          <p:cNvPr id="14" name="Rounded Rectangle 13"/>
          <p:cNvSpPr/>
          <p:nvPr/>
        </p:nvSpPr>
        <p:spPr>
          <a:xfrm>
            <a:off x="502920" y="5294376"/>
            <a:ext cx="11155680" cy="9601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404104"/>
            <a:ext cx="5029200" cy="320040"/>
          </a:xfrm>
          <a:prstGeom prst="rect">
            <a:avLst/>
          </a:prstGeom>
          <a:noFill/>
        </p:spPr>
        <p:txBody>
          <a:bodyPr wrap="square" anchor="t" lIns="0" rIns="0" tIns="0" bIns="0">
            <a:spAutoFit/>
          </a:bodyPr>
          <a:lstStyle/>
          <a:p>
            <a:pPr algn="l">
              <a:lnSpc>
                <a:spcPct val="100000"/>
              </a:lnSpc>
            </a:pPr>
            <a:r>
              <a:rPr sz="1100" b="1" i="0">
                <a:solidFill>
                  <a:srgbClr val="00796B"/>
                </a:solidFill>
                <a:latin typeface="Calibri"/>
              </a:rPr>
              <a:t>ISOMETRIC FORCE · EQ. (3.6)</a:t>
            </a:r>
          </a:p>
        </p:txBody>
      </p:sp>
      <p:pic>
        <p:nvPicPr>
          <p:cNvPr id="16" name="Picture 15" descr="force.png"/>
          <p:cNvPicPr>
            <a:picLocks noChangeAspect="1"/>
          </p:cNvPicPr>
          <p:nvPr/>
        </p:nvPicPr>
        <p:blipFill>
          <a:blip r:embed="rId6"/>
          <a:stretch>
            <a:fillRect/>
          </a:stretch>
        </p:blipFill>
        <p:spPr>
          <a:xfrm>
            <a:off x="868680" y="5678424"/>
            <a:ext cx="6562927" cy="457200"/>
          </a:xfrm>
          <a:prstGeom prst="rect">
            <a:avLst/>
          </a:prstGeom>
        </p:spPr>
      </p:pic>
      <p:sp>
        <p:nvSpPr>
          <p:cNvPr id="17" name="TextBox 16"/>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B · COEFFICIENTS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Coefficient values with 95% confidence intervals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3 Tables 3.1–3.2 (published as Bolen et al. 2026, Actuators, Tables 1–2); fitting: App. A §A.3</a:t>
            </a:r>
          </a:p>
        </p:txBody>
      </p:sp>
      <p:sp>
        <p:nvSpPr>
          <p:cNvPr id="5" name="TextBox 4"/>
          <p:cNvSpPr txBox="1"/>
          <p:nvPr/>
        </p:nvSpPr>
        <p:spPr>
          <a:xfrm>
            <a:off x="502920" y="1828800"/>
            <a:ext cx="5486400" cy="365760"/>
          </a:xfrm>
          <a:prstGeom prst="rect">
            <a:avLst/>
          </a:prstGeom>
          <a:noFill/>
        </p:spPr>
        <p:txBody>
          <a:bodyPr wrap="square" anchor="t" lIns="0" rIns="0" tIns="0" bIns="0">
            <a:spAutoFit/>
          </a:bodyPr>
          <a:lstStyle/>
          <a:p>
            <a:pPr algn="l">
              <a:lnSpc>
                <a:spcPct val="100000"/>
              </a:lnSpc>
            </a:pPr>
            <a:r>
              <a:rPr sz="1400" b="1" i="0">
                <a:solidFill>
                  <a:srgbClr val="00796B"/>
                </a:solidFill>
                <a:latin typeface="Calibri"/>
              </a:rPr>
              <a:t>F₆₂₀ arctan fits</a:t>
            </a:r>
          </a:p>
        </p:txBody>
      </p:sp>
      <p:sp>
        <p:nvSpPr>
          <p:cNvPr id="6" name="TextBox 5"/>
          <p:cNvSpPr txBox="1"/>
          <p:nvPr/>
        </p:nvSpPr>
        <p:spPr>
          <a:xfrm>
            <a:off x="502920" y="2240280"/>
            <a:ext cx="1325880" cy="41148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
            </a:r>
          </a:p>
        </p:txBody>
      </p:sp>
      <p:sp>
        <p:nvSpPr>
          <p:cNvPr id="7" name="TextBox 6"/>
          <p:cNvSpPr txBox="1"/>
          <p:nvPr/>
        </p:nvSpPr>
        <p:spPr>
          <a:xfrm>
            <a:off x="1828800" y="2240280"/>
            <a:ext cx="182880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b₁ (N)</a:t>
            </a:r>
          </a:p>
        </p:txBody>
      </p:sp>
      <p:sp>
        <p:nvSpPr>
          <p:cNvPr id="8" name="TextBox 7"/>
          <p:cNvSpPr txBox="1"/>
          <p:nvPr/>
        </p:nvSpPr>
        <p:spPr>
          <a:xfrm>
            <a:off x="3657600" y="2240280"/>
            <a:ext cx="201168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b₂ (1/m)</a:t>
            </a:r>
          </a:p>
        </p:txBody>
      </p:sp>
      <p:sp>
        <p:nvSpPr>
          <p:cNvPr id="9" name="TextBox 8"/>
          <p:cNvSpPr txBox="1"/>
          <p:nvPr/>
        </p:nvSpPr>
        <p:spPr>
          <a:xfrm>
            <a:off x="5669280" y="2240280"/>
            <a:ext cx="91440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adj. R²</a:t>
            </a:r>
          </a:p>
        </p:txBody>
      </p:sp>
      <p:sp>
        <p:nvSpPr>
          <p:cNvPr id="10" name="TextBox 9"/>
          <p:cNvSpPr txBox="1"/>
          <p:nvPr/>
        </p:nvSpPr>
        <p:spPr>
          <a:xfrm>
            <a:off x="6583680" y="2240280"/>
            <a:ext cx="96012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RMSE (N)</a:t>
            </a:r>
          </a:p>
        </p:txBody>
      </p:sp>
      <p:sp>
        <p:nvSpPr>
          <p:cNvPr id="11" name="TextBox 10"/>
          <p:cNvSpPr txBox="1"/>
          <p:nvPr/>
        </p:nvSpPr>
        <p:spPr>
          <a:xfrm>
            <a:off x="502920" y="2715768"/>
            <a:ext cx="1325880" cy="41148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⌀10 mm</a:t>
            </a:r>
          </a:p>
        </p:txBody>
      </p:sp>
      <p:sp>
        <p:nvSpPr>
          <p:cNvPr id="12" name="TextBox 11"/>
          <p:cNvSpPr txBox="1"/>
          <p:nvPr/>
        </p:nvSpPr>
        <p:spPr>
          <a:xfrm>
            <a:off x="1828800" y="2715768"/>
            <a:ext cx="18288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303.5 (300, 308)</a:t>
            </a:r>
          </a:p>
        </p:txBody>
      </p:sp>
      <p:sp>
        <p:nvSpPr>
          <p:cNvPr id="13" name="TextBox 12"/>
          <p:cNvSpPr txBox="1"/>
          <p:nvPr/>
        </p:nvSpPr>
        <p:spPr>
          <a:xfrm>
            <a:off x="3657600" y="2715768"/>
            <a:ext cx="201168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19.03 (17.48, 20.57)</a:t>
            </a:r>
          </a:p>
        </p:txBody>
      </p:sp>
      <p:sp>
        <p:nvSpPr>
          <p:cNvPr id="14" name="TextBox 13"/>
          <p:cNvSpPr txBox="1"/>
          <p:nvPr/>
        </p:nvSpPr>
        <p:spPr>
          <a:xfrm>
            <a:off x="5669280" y="2715768"/>
            <a:ext cx="9144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0.9854</a:t>
            </a:r>
          </a:p>
        </p:txBody>
      </p:sp>
      <p:sp>
        <p:nvSpPr>
          <p:cNvPr id="15" name="TextBox 14"/>
          <p:cNvSpPr txBox="1"/>
          <p:nvPr/>
        </p:nvSpPr>
        <p:spPr>
          <a:xfrm>
            <a:off x="6583680" y="2715768"/>
            <a:ext cx="96012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14.72</a:t>
            </a:r>
          </a:p>
        </p:txBody>
      </p:sp>
      <p:sp>
        <p:nvSpPr>
          <p:cNvPr id="16" name="TextBox 15"/>
          <p:cNvSpPr txBox="1"/>
          <p:nvPr/>
        </p:nvSpPr>
        <p:spPr>
          <a:xfrm>
            <a:off x="502920" y="3191256"/>
            <a:ext cx="1325880" cy="41148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⌀20 mm</a:t>
            </a:r>
          </a:p>
        </p:txBody>
      </p:sp>
      <p:sp>
        <p:nvSpPr>
          <p:cNvPr id="17" name="TextBox 16"/>
          <p:cNvSpPr txBox="1"/>
          <p:nvPr/>
        </p:nvSpPr>
        <p:spPr>
          <a:xfrm>
            <a:off x="1828800" y="3191256"/>
            <a:ext cx="18288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922.4 (914.2, 930.7)</a:t>
            </a:r>
          </a:p>
        </p:txBody>
      </p:sp>
      <p:sp>
        <p:nvSpPr>
          <p:cNvPr id="18" name="TextBox 17"/>
          <p:cNvSpPr txBox="1"/>
          <p:nvPr/>
        </p:nvSpPr>
        <p:spPr>
          <a:xfrm>
            <a:off x="3657600" y="3191256"/>
            <a:ext cx="201168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15.37 (14.75, 15.98)</a:t>
            </a:r>
          </a:p>
        </p:txBody>
      </p:sp>
      <p:sp>
        <p:nvSpPr>
          <p:cNvPr id="19" name="TextBox 18"/>
          <p:cNvSpPr txBox="1"/>
          <p:nvPr/>
        </p:nvSpPr>
        <p:spPr>
          <a:xfrm>
            <a:off x="5669280" y="3191256"/>
            <a:ext cx="9144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0.9945</a:t>
            </a:r>
          </a:p>
        </p:txBody>
      </p:sp>
      <p:sp>
        <p:nvSpPr>
          <p:cNvPr id="20" name="TextBox 19"/>
          <p:cNvSpPr txBox="1"/>
          <p:nvPr/>
        </p:nvSpPr>
        <p:spPr>
          <a:xfrm>
            <a:off x="6583680" y="3191256"/>
            <a:ext cx="96012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23.83</a:t>
            </a:r>
          </a:p>
        </p:txBody>
      </p:sp>
      <p:sp>
        <p:nvSpPr>
          <p:cNvPr id="21" name="TextBox 20"/>
          <p:cNvSpPr txBox="1"/>
          <p:nvPr/>
        </p:nvSpPr>
        <p:spPr>
          <a:xfrm>
            <a:off x="502920" y="3566160"/>
            <a:ext cx="5486400" cy="365760"/>
          </a:xfrm>
          <a:prstGeom prst="rect">
            <a:avLst/>
          </a:prstGeom>
          <a:noFill/>
        </p:spPr>
        <p:txBody>
          <a:bodyPr wrap="square" anchor="t" lIns="0" rIns="0" tIns="0" bIns="0">
            <a:spAutoFit/>
          </a:bodyPr>
          <a:lstStyle/>
          <a:p>
            <a:pPr algn="l">
              <a:lnSpc>
                <a:spcPct val="100000"/>
              </a:lnSpc>
            </a:pPr>
            <a:r>
              <a:rPr sz="1400" b="1" i="0">
                <a:solidFill>
                  <a:srgbClr val="00796B"/>
                </a:solidFill>
                <a:latin typeface="Calibri"/>
              </a:rPr>
              <a:t>F* surface coefficients</a:t>
            </a:r>
          </a:p>
        </p:txBody>
      </p:sp>
      <p:sp>
        <p:nvSpPr>
          <p:cNvPr id="22" name="TextBox 21"/>
          <p:cNvSpPr txBox="1"/>
          <p:nvPr/>
        </p:nvSpPr>
        <p:spPr>
          <a:xfrm>
            <a:off x="502920" y="3977639"/>
            <a:ext cx="1325880" cy="41148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
            </a:r>
          </a:p>
        </p:txBody>
      </p:sp>
      <p:sp>
        <p:nvSpPr>
          <p:cNvPr id="23" name="TextBox 22"/>
          <p:cNvSpPr txBox="1"/>
          <p:nvPr/>
        </p:nvSpPr>
        <p:spPr>
          <a:xfrm>
            <a:off x="1828800" y="3977639"/>
            <a:ext cx="182880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c₀</a:t>
            </a:r>
          </a:p>
        </p:txBody>
      </p:sp>
      <p:sp>
        <p:nvSpPr>
          <p:cNvPr id="24" name="TextBox 23"/>
          <p:cNvSpPr txBox="1"/>
          <p:nvPr/>
        </p:nvSpPr>
        <p:spPr>
          <a:xfrm>
            <a:off x="3657600" y="3977639"/>
            <a:ext cx="201168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c₁</a:t>
            </a:r>
          </a:p>
        </p:txBody>
      </p:sp>
      <p:sp>
        <p:nvSpPr>
          <p:cNvPr id="25" name="TextBox 24"/>
          <p:cNvSpPr txBox="1"/>
          <p:nvPr/>
        </p:nvSpPr>
        <p:spPr>
          <a:xfrm>
            <a:off x="5669280" y="3977639"/>
            <a:ext cx="91440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c₂</a:t>
            </a:r>
          </a:p>
        </p:txBody>
      </p:sp>
      <p:sp>
        <p:nvSpPr>
          <p:cNvPr id="26" name="TextBox 25"/>
          <p:cNvSpPr txBox="1"/>
          <p:nvPr/>
        </p:nvSpPr>
        <p:spPr>
          <a:xfrm>
            <a:off x="6583680" y="3977639"/>
            <a:ext cx="1737360" cy="41148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R² fit / val.</a:t>
            </a:r>
          </a:p>
        </p:txBody>
      </p:sp>
      <p:sp>
        <p:nvSpPr>
          <p:cNvPr id="27" name="TextBox 26"/>
          <p:cNvSpPr txBox="1"/>
          <p:nvPr/>
        </p:nvSpPr>
        <p:spPr>
          <a:xfrm>
            <a:off x="502920" y="4453127"/>
            <a:ext cx="1325880" cy="41148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⌀10 mm</a:t>
            </a:r>
          </a:p>
        </p:txBody>
      </p:sp>
      <p:sp>
        <p:nvSpPr>
          <p:cNvPr id="28" name="TextBox 27"/>
          <p:cNvSpPr txBox="1"/>
          <p:nvPr/>
        </p:nvSpPr>
        <p:spPr>
          <a:xfrm>
            <a:off x="1828800" y="4453127"/>
            <a:ext cx="18288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0.5682</a:t>
            </a:r>
          </a:p>
        </p:txBody>
      </p:sp>
      <p:sp>
        <p:nvSpPr>
          <p:cNvPr id="29" name="TextBox 28"/>
          <p:cNvSpPr txBox="1"/>
          <p:nvPr/>
        </p:nvSpPr>
        <p:spPr>
          <a:xfrm>
            <a:off x="3657600" y="4453127"/>
            <a:ext cx="201168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4.254</a:t>
            </a:r>
          </a:p>
        </p:txBody>
      </p:sp>
      <p:sp>
        <p:nvSpPr>
          <p:cNvPr id="30" name="TextBox 29"/>
          <p:cNvSpPr txBox="1"/>
          <p:nvPr/>
        </p:nvSpPr>
        <p:spPr>
          <a:xfrm>
            <a:off x="5669280" y="4453127"/>
            <a:ext cx="9144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0.5597</a:t>
            </a:r>
          </a:p>
        </p:txBody>
      </p:sp>
      <p:sp>
        <p:nvSpPr>
          <p:cNvPr id="31" name="TextBox 30"/>
          <p:cNvSpPr txBox="1"/>
          <p:nvPr/>
        </p:nvSpPr>
        <p:spPr>
          <a:xfrm>
            <a:off x="6583680" y="4453127"/>
            <a:ext cx="173736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0.9998 / 0.9994</a:t>
            </a:r>
          </a:p>
        </p:txBody>
      </p:sp>
      <p:sp>
        <p:nvSpPr>
          <p:cNvPr id="32" name="TextBox 31"/>
          <p:cNvSpPr txBox="1"/>
          <p:nvPr/>
        </p:nvSpPr>
        <p:spPr>
          <a:xfrm>
            <a:off x="502920" y="4928615"/>
            <a:ext cx="1325880" cy="41148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⌀20 mm</a:t>
            </a:r>
          </a:p>
        </p:txBody>
      </p:sp>
      <p:sp>
        <p:nvSpPr>
          <p:cNvPr id="33" name="TextBox 32"/>
          <p:cNvSpPr txBox="1"/>
          <p:nvPr/>
        </p:nvSpPr>
        <p:spPr>
          <a:xfrm>
            <a:off x="1828800" y="4928615"/>
            <a:ext cx="18288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0.2579</a:t>
            </a:r>
          </a:p>
        </p:txBody>
      </p:sp>
      <p:sp>
        <p:nvSpPr>
          <p:cNvPr id="34" name="TextBox 33"/>
          <p:cNvSpPr txBox="1"/>
          <p:nvPr/>
        </p:nvSpPr>
        <p:spPr>
          <a:xfrm>
            <a:off x="3657600" y="4928615"/>
            <a:ext cx="201168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6.477</a:t>
            </a:r>
          </a:p>
        </p:txBody>
      </p:sp>
      <p:sp>
        <p:nvSpPr>
          <p:cNvPr id="35" name="TextBox 34"/>
          <p:cNvSpPr txBox="1"/>
          <p:nvPr/>
        </p:nvSpPr>
        <p:spPr>
          <a:xfrm>
            <a:off x="5669280" y="4928615"/>
            <a:ext cx="91440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1.321</a:t>
            </a:r>
          </a:p>
        </p:txBody>
      </p:sp>
      <p:sp>
        <p:nvSpPr>
          <p:cNvPr id="36" name="TextBox 35"/>
          <p:cNvSpPr txBox="1"/>
          <p:nvPr/>
        </p:nvSpPr>
        <p:spPr>
          <a:xfrm>
            <a:off x="6583680" y="4928615"/>
            <a:ext cx="1737360" cy="41148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0.992 / 0.9943</a:t>
            </a:r>
          </a:p>
        </p:txBody>
      </p:sp>
      <p:sp>
        <p:nvSpPr>
          <p:cNvPr id="37" name="Rounded Rectangle 36"/>
          <p:cNvSpPr/>
          <p:nvPr/>
        </p:nvSpPr>
        <p:spPr>
          <a:xfrm>
            <a:off x="8366760" y="2240280"/>
            <a:ext cx="3291840" cy="329184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77072" y="2423160"/>
            <a:ext cx="2880360" cy="301752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ALSO ON RECORD</a:t>
            </a:r>
          </a:p>
          <a:p>
            <a:pPr algn="l">
              <a:lnSpc>
                <a:spcPct val="112000"/>
              </a:lnSpc>
              <a:spcAft>
                <a:spcPts val="800"/>
              </a:spcAft>
            </a:pPr>
            <a:r>
              <a:rPr sz="1250" b="0" i="0">
                <a:solidFill>
                  <a:srgbClr val="222222"/>
                </a:solidFill>
                <a:latin typeface="Calibri"/>
              </a:rPr>
              <a:t>F₆₂₀ arctan fits, RMSE vs the Festo tool: 189.9 N (10 mm) and 668.4 N (20 mm); the tool cannot track resting length.</a:t>
            </a:r>
          </a:p>
          <a:p>
            <a:pPr algn="l">
              <a:lnSpc>
                <a:spcPct val="112000"/>
              </a:lnSpc>
            </a:pPr>
            <a:r>
              <a:rPr sz="1250" b="0" i="0">
                <a:solidFill>
                  <a:srgbClr val="595959"/>
                </a:solidFill>
                <a:latin typeface="Calibri"/>
              </a:rPr>
              <a:t>A 40 mm fit exists in code (c₀ 0.1224, c₁ 10.47, c₂ 2.023) but is unused in the dissertation.</a:t>
            </a:r>
          </a:p>
        </p:txBody>
      </p:sp>
      <p:sp>
        <p:nvSpPr>
          <p:cNvPr id="39" name="TextBox 3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C · COMPARISON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Full goodness-of-fit against published BPA models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3 Table 3.3; RMSE / max error in N; FVU = fraction of variance unexplained</a:t>
            </a:r>
          </a:p>
        </p:txBody>
      </p:sp>
      <p:sp>
        <p:nvSpPr>
          <p:cNvPr id="5" name="TextBox 4"/>
          <p:cNvSpPr txBox="1"/>
          <p:nvPr/>
        </p:nvSpPr>
        <p:spPr>
          <a:xfrm>
            <a:off x="502920" y="1965960"/>
            <a:ext cx="1737360" cy="365760"/>
          </a:xfrm>
          <a:prstGeom prst="rect">
            <a:avLst/>
          </a:prstGeom>
          <a:noFill/>
        </p:spPr>
        <p:txBody>
          <a:bodyPr wrap="square" anchor="t" lIns="0" rIns="0" tIns="0" bIns="0">
            <a:spAutoFit/>
          </a:bodyPr>
          <a:lstStyle/>
          <a:p>
            <a:pPr algn="l">
              <a:lnSpc>
                <a:spcPct val="100000"/>
              </a:lnSpc>
            </a:pPr>
            <a:r>
              <a:rPr sz="1200" b="1" i="0">
                <a:solidFill>
                  <a:srgbClr val="595959"/>
                </a:solidFill>
                <a:latin typeface="Calibri"/>
              </a:rPr>
              <a:t/>
            </a:r>
          </a:p>
        </p:txBody>
      </p:sp>
      <p:sp>
        <p:nvSpPr>
          <p:cNvPr id="6" name="TextBox 5"/>
          <p:cNvSpPr txBox="1"/>
          <p:nvPr/>
        </p:nvSpPr>
        <p:spPr>
          <a:xfrm>
            <a:off x="2240280" y="1965960"/>
            <a:ext cx="105156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Bolen RMSE</a:t>
            </a:r>
          </a:p>
        </p:txBody>
      </p:sp>
      <p:sp>
        <p:nvSpPr>
          <p:cNvPr id="7" name="TextBox 6"/>
          <p:cNvSpPr txBox="1"/>
          <p:nvPr/>
        </p:nvSpPr>
        <p:spPr>
          <a:xfrm>
            <a:off x="3291840" y="1965960"/>
            <a:ext cx="77724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FVU</a:t>
            </a:r>
          </a:p>
        </p:txBody>
      </p:sp>
      <p:sp>
        <p:nvSpPr>
          <p:cNvPr id="8" name="TextBox 7"/>
          <p:cNvSpPr txBox="1"/>
          <p:nvPr/>
        </p:nvSpPr>
        <p:spPr>
          <a:xfrm>
            <a:off x="4069080" y="1965960"/>
            <a:ext cx="91440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max</a:t>
            </a:r>
          </a:p>
        </p:txBody>
      </p:sp>
      <p:sp>
        <p:nvSpPr>
          <p:cNvPr id="9" name="TextBox 8"/>
          <p:cNvSpPr txBox="1"/>
          <p:nvPr/>
        </p:nvSpPr>
        <p:spPr>
          <a:xfrm>
            <a:off x="4983480" y="1965960"/>
            <a:ext cx="123444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Sárosi RMSE</a:t>
            </a:r>
          </a:p>
        </p:txBody>
      </p:sp>
      <p:sp>
        <p:nvSpPr>
          <p:cNvPr id="10" name="TextBox 9"/>
          <p:cNvSpPr txBox="1"/>
          <p:nvPr/>
        </p:nvSpPr>
        <p:spPr>
          <a:xfrm>
            <a:off x="6217920" y="1965960"/>
            <a:ext cx="77724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FVU</a:t>
            </a:r>
          </a:p>
        </p:txBody>
      </p:sp>
      <p:sp>
        <p:nvSpPr>
          <p:cNvPr id="11" name="TextBox 10"/>
          <p:cNvSpPr txBox="1"/>
          <p:nvPr/>
        </p:nvSpPr>
        <p:spPr>
          <a:xfrm>
            <a:off x="6995160" y="1965960"/>
            <a:ext cx="91440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max</a:t>
            </a:r>
          </a:p>
        </p:txBody>
      </p:sp>
      <p:sp>
        <p:nvSpPr>
          <p:cNvPr id="12" name="TextBox 11"/>
          <p:cNvSpPr txBox="1"/>
          <p:nvPr/>
        </p:nvSpPr>
        <p:spPr>
          <a:xfrm>
            <a:off x="7909560" y="1965960"/>
            <a:ext cx="123444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M&amp;B RMSE</a:t>
            </a:r>
          </a:p>
        </p:txBody>
      </p:sp>
      <p:sp>
        <p:nvSpPr>
          <p:cNvPr id="13" name="TextBox 12"/>
          <p:cNvSpPr txBox="1"/>
          <p:nvPr/>
        </p:nvSpPr>
        <p:spPr>
          <a:xfrm>
            <a:off x="9144000" y="1965960"/>
            <a:ext cx="77724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FVU</a:t>
            </a:r>
          </a:p>
        </p:txBody>
      </p:sp>
      <p:sp>
        <p:nvSpPr>
          <p:cNvPr id="14" name="TextBox 13"/>
          <p:cNvSpPr txBox="1"/>
          <p:nvPr/>
        </p:nvSpPr>
        <p:spPr>
          <a:xfrm>
            <a:off x="9921240" y="1965960"/>
            <a:ext cx="91440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max</a:t>
            </a:r>
          </a:p>
        </p:txBody>
      </p:sp>
      <p:sp>
        <p:nvSpPr>
          <p:cNvPr id="15" name="TextBox 14"/>
          <p:cNvSpPr txBox="1"/>
          <p:nvPr/>
        </p:nvSpPr>
        <p:spPr>
          <a:xfrm>
            <a:off x="502920" y="2423160"/>
            <a:ext cx="1737360" cy="36576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⌀10 · 257 mm</a:t>
            </a:r>
          </a:p>
        </p:txBody>
      </p:sp>
      <p:sp>
        <p:nvSpPr>
          <p:cNvPr id="16" name="TextBox 15"/>
          <p:cNvSpPr txBox="1"/>
          <p:nvPr/>
        </p:nvSpPr>
        <p:spPr>
          <a:xfrm>
            <a:off x="2240280" y="2395728"/>
            <a:ext cx="1051560" cy="365760"/>
          </a:xfrm>
          <a:prstGeom prst="rect">
            <a:avLst/>
          </a:prstGeom>
          <a:noFill/>
        </p:spPr>
        <p:txBody>
          <a:bodyPr wrap="square" anchor="t" lIns="0" rIns="0" tIns="0" bIns="0">
            <a:spAutoFit/>
          </a:bodyPr>
          <a:lstStyle/>
          <a:p>
            <a:pPr algn="ctr">
              <a:lnSpc>
                <a:spcPct val="100000"/>
              </a:lnSpc>
            </a:pPr>
            <a:r>
              <a:rPr sz="1250" b="1" i="0">
                <a:solidFill>
                  <a:srgbClr val="38761D"/>
                </a:solidFill>
                <a:latin typeface="Calibri"/>
              </a:rPr>
              <a:t>22.9</a:t>
            </a:r>
          </a:p>
        </p:txBody>
      </p:sp>
      <p:sp>
        <p:nvSpPr>
          <p:cNvPr id="17" name="TextBox 16"/>
          <p:cNvSpPr txBox="1"/>
          <p:nvPr/>
        </p:nvSpPr>
        <p:spPr>
          <a:xfrm>
            <a:off x="3291840" y="2395728"/>
            <a:ext cx="77724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0.04</a:t>
            </a:r>
          </a:p>
        </p:txBody>
      </p:sp>
      <p:sp>
        <p:nvSpPr>
          <p:cNvPr id="18" name="TextBox 17"/>
          <p:cNvSpPr txBox="1"/>
          <p:nvPr/>
        </p:nvSpPr>
        <p:spPr>
          <a:xfrm>
            <a:off x="4069080" y="2395728"/>
            <a:ext cx="91440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46.0</a:t>
            </a:r>
          </a:p>
        </p:txBody>
      </p:sp>
      <p:sp>
        <p:nvSpPr>
          <p:cNvPr id="19" name="TextBox 18"/>
          <p:cNvSpPr txBox="1"/>
          <p:nvPr/>
        </p:nvSpPr>
        <p:spPr>
          <a:xfrm>
            <a:off x="4983480" y="2395728"/>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143.8</a:t>
            </a:r>
          </a:p>
        </p:txBody>
      </p:sp>
      <p:sp>
        <p:nvSpPr>
          <p:cNvPr id="20" name="TextBox 19"/>
          <p:cNvSpPr txBox="1"/>
          <p:nvPr/>
        </p:nvSpPr>
        <p:spPr>
          <a:xfrm>
            <a:off x="6217920" y="2395728"/>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1.39</a:t>
            </a:r>
          </a:p>
        </p:txBody>
      </p:sp>
      <p:sp>
        <p:nvSpPr>
          <p:cNvPr id="21" name="TextBox 20"/>
          <p:cNvSpPr txBox="1"/>
          <p:nvPr/>
        </p:nvSpPr>
        <p:spPr>
          <a:xfrm>
            <a:off x="6995160" y="2395728"/>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235.8</a:t>
            </a:r>
          </a:p>
        </p:txBody>
      </p:sp>
      <p:sp>
        <p:nvSpPr>
          <p:cNvPr id="22" name="TextBox 21"/>
          <p:cNvSpPr txBox="1"/>
          <p:nvPr/>
        </p:nvSpPr>
        <p:spPr>
          <a:xfrm>
            <a:off x="7909560" y="2395728"/>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73.8</a:t>
            </a:r>
          </a:p>
        </p:txBody>
      </p:sp>
      <p:sp>
        <p:nvSpPr>
          <p:cNvPr id="23" name="TextBox 22"/>
          <p:cNvSpPr txBox="1"/>
          <p:nvPr/>
        </p:nvSpPr>
        <p:spPr>
          <a:xfrm>
            <a:off x="9144000" y="2395728"/>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0.37</a:t>
            </a:r>
          </a:p>
        </p:txBody>
      </p:sp>
      <p:sp>
        <p:nvSpPr>
          <p:cNvPr id="24" name="TextBox 23"/>
          <p:cNvSpPr txBox="1"/>
          <p:nvPr/>
        </p:nvSpPr>
        <p:spPr>
          <a:xfrm>
            <a:off x="9921240" y="2395728"/>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122.9</a:t>
            </a:r>
          </a:p>
        </p:txBody>
      </p:sp>
      <p:sp>
        <p:nvSpPr>
          <p:cNvPr id="25" name="TextBox 24"/>
          <p:cNvSpPr txBox="1"/>
          <p:nvPr/>
        </p:nvSpPr>
        <p:spPr>
          <a:xfrm>
            <a:off x="502920" y="2898648"/>
            <a:ext cx="1737360" cy="36576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⌀10 · 233 mm</a:t>
            </a:r>
          </a:p>
        </p:txBody>
      </p:sp>
      <p:sp>
        <p:nvSpPr>
          <p:cNvPr id="26" name="TextBox 25"/>
          <p:cNvSpPr txBox="1"/>
          <p:nvPr/>
        </p:nvSpPr>
        <p:spPr>
          <a:xfrm>
            <a:off x="2240280" y="2871216"/>
            <a:ext cx="1051560" cy="365760"/>
          </a:xfrm>
          <a:prstGeom prst="rect">
            <a:avLst/>
          </a:prstGeom>
          <a:noFill/>
        </p:spPr>
        <p:txBody>
          <a:bodyPr wrap="square" anchor="t" lIns="0" rIns="0" tIns="0" bIns="0">
            <a:spAutoFit/>
          </a:bodyPr>
          <a:lstStyle/>
          <a:p>
            <a:pPr algn="ctr">
              <a:lnSpc>
                <a:spcPct val="100000"/>
              </a:lnSpc>
            </a:pPr>
            <a:r>
              <a:rPr sz="1250" b="1" i="0">
                <a:solidFill>
                  <a:srgbClr val="38761D"/>
                </a:solidFill>
                <a:latin typeface="Calibri"/>
              </a:rPr>
              <a:t>16.8</a:t>
            </a:r>
          </a:p>
        </p:txBody>
      </p:sp>
      <p:sp>
        <p:nvSpPr>
          <p:cNvPr id="27" name="TextBox 26"/>
          <p:cNvSpPr txBox="1"/>
          <p:nvPr/>
        </p:nvSpPr>
        <p:spPr>
          <a:xfrm>
            <a:off x="3291840" y="2871216"/>
            <a:ext cx="77724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0.02</a:t>
            </a:r>
          </a:p>
        </p:txBody>
      </p:sp>
      <p:sp>
        <p:nvSpPr>
          <p:cNvPr id="28" name="TextBox 27"/>
          <p:cNvSpPr txBox="1"/>
          <p:nvPr/>
        </p:nvSpPr>
        <p:spPr>
          <a:xfrm>
            <a:off x="4069080" y="2871216"/>
            <a:ext cx="91440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30.3</a:t>
            </a:r>
          </a:p>
        </p:txBody>
      </p:sp>
      <p:sp>
        <p:nvSpPr>
          <p:cNvPr id="29" name="TextBox 28"/>
          <p:cNvSpPr txBox="1"/>
          <p:nvPr/>
        </p:nvSpPr>
        <p:spPr>
          <a:xfrm>
            <a:off x="4983480" y="2871216"/>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132.7</a:t>
            </a:r>
          </a:p>
        </p:txBody>
      </p:sp>
      <p:sp>
        <p:nvSpPr>
          <p:cNvPr id="30" name="TextBox 29"/>
          <p:cNvSpPr txBox="1"/>
          <p:nvPr/>
        </p:nvSpPr>
        <p:spPr>
          <a:xfrm>
            <a:off x="6217920" y="2871216"/>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1.17</a:t>
            </a:r>
          </a:p>
        </p:txBody>
      </p:sp>
      <p:sp>
        <p:nvSpPr>
          <p:cNvPr id="31" name="TextBox 30"/>
          <p:cNvSpPr txBox="1"/>
          <p:nvPr/>
        </p:nvSpPr>
        <p:spPr>
          <a:xfrm>
            <a:off x="6995160" y="2871216"/>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222.6</a:t>
            </a:r>
          </a:p>
        </p:txBody>
      </p:sp>
      <p:sp>
        <p:nvSpPr>
          <p:cNvPr id="32" name="TextBox 31"/>
          <p:cNvSpPr txBox="1"/>
          <p:nvPr/>
        </p:nvSpPr>
        <p:spPr>
          <a:xfrm>
            <a:off x="7909560" y="2871216"/>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62.6</a:t>
            </a:r>
          </a:p>
        </p:txBody>
      </p:sp>
      <p:sp>
        <p:nvSpPr>
          <p:cNvPr id="33" name="TextBox 32"/>
          <p:cNvSpPr txBox="1"/>
          <p:nvPr/>
        </p:nvSpPr>
        <p:spPr>
          <a:xfrm>
            <a:off x="9144000" y="2871216"/>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0.26</a:t>
            </a:r>
          </a:p>
        </p:txBody>
      </p:sp>
      <p:sp>
        <p:nvSpPr>
          <p:cNvPr id="34" name="TextBox 33"/>
          <p:cNvSpPr txBox="1"/>
          <p:nvPr/>
        </p:nvSpPr>
        <p:spPr>
          <a:xfrm>
            <a:off x="9921240" y="2871216"/>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101.2</a:t>
            </a:r>
          </a:p>
        </p:txBody>
      </p:sp>
      <p:sp>
        <p:nvSpPr>
          <p:cNvPr id="35" name="TextBox 34"/>
          <p:cNvSpPr txBox="1"/>
          <p:nvPr/>
        </p:nvSpPr>
        <p:spPr>
          <a:xfrm>
            <a:off x="502920" y="3374136"/>
            <a:ext cx="1737360" cy="36576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⌀20 · 300 mm</a:t>
            </a:r>
          </a:p>
        </p:txBody>
      </p:sp>
      <p:sp>
        <p:nvSpPr>
          <p:cNvPr id="36" name="TextBox 35"/>
          <p:cNvSpPr txBox="1"/>
          <p:nvPr/>
        </p:nvSpPr>
        <p:spPr>
          <a:xfrm>
            <a:off x="2240280" y="3346704"/>
            <a:ext cx="1051560" cy="365760"/>
          </a:xfrm>
          <a:prstGeom prst="rect">
            <a:avLst/>
          </a:prstGeom>
          <a:noFill/>
        </p:spPr>
        <p:txBody>
          <a:bodyPr wrap="square" anchor="t" lIns="0" rIns="0" tIns="0" bIns="0">
            <a:spAutoFit/>
          </a:bodyPr>
          <a:lstStyle/>
          <a:p>
            <a:pPr algn="ctr">
              <a:lnSpc>
                <a:spcPct val="100000"/>
              </a:lnSpc>
            </a:pPr>
            <a:r>
              <a:rPr sz="1250" b="1" i="0">
                <a:solidFill>
                  <a:srgbClr val="38761D"/>
                </a:solidFill>
                <a:latin typeface="Calibri"/>
              </a:rPr>
              <a:t>35.6</a:t>
            </a:r>
          </a:p>
        </p:txBody>
      </p:sp>
      <p:sp>
        <p:nvSpPr>
          <p:cNvPr id="37" name="TextBox 36"/>
          <p:cNvSpPr txBox="1"/>
          <p:nvPr/>
        </p:nvSpPr>
        <p:spPr>
          <a:xfrm>
            <a:off x="3291840" y="3346704"/>
            <a:ext cx="77724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0.01</a:t>
            </a:r>
          </a:p>
        </p:txBody>
      </p:sp>
      <p:sp>
        <p:nvSpPr>
          <p:cNvPr id="38" name="TextBox 37"/>
          <p:cNvSpPr txBox="1"/>
          <p:nvPr/>
        </p:nvSpPr>
        <p:spPr>
          <a:xfrm>
            <a:off x="4069080" y="3346704"/>
            <a:ext cx="91440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114.0</a:t>
            </a:r>
          </a:p>
        </p:txBody>
      </p:sp>
      <p:sp>
        <p:nvSpPr>
          <p:cNvPr id="39" name="TextBox 38"/>
          <p:cNvSpPr txBox="1"/>
          <p:nvPr/>
        </p:nvSpPr>
        <p:spPr>
          <a:xfrm>
            <a:off x="4983480" y="3346704"/>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132.1</a:t>
            </a:r>
          </a:p>
        </p:txBody>
      </p:sp>
      <p:sp>
        <p:nvSpPr>
          <p:cNvPr id="40" name="TextBox 39"/>
          <p:cNvSpPr txBox="1"/>
          <p:nvPr/>
        </p:nvSpPr>
        <p:spPr>
          <a:xfrm>
            <a:off x="6217920" y="3346704"/>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0.20</a:t>
            </a:r>
          </a:p>
        </p:txBody>
      </p:sp>
      <p:sp>
        <p:nvSpPr>
          <p:cNvPr id="41" name="TextBox 40"/>
          <p:cNvSpPr txBox="1"/>
          <p:nvPr/>
        </p:nvSpPr>
        <p:spPr>
          <a:xfrm>
            <a:off x="6995160" y="3346704"/>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313.4</a:t>
            </a:r>
          </a:p>
        </p:txBody>
      </p:sp>
      <p:sp>
        <p:nvSpPr>
          <p:cNvPr id="42" name="TextBox 41"/>
          <p:cNvSpPr txBox="1"/>
          <p:nvPr/>
        </p:nvSpPr>
        <p:spPr>
          <a:xfrm>
            <a:off x="7909560" y="3346704"/>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72.8</a:t>
            </a:r>
          </a:p>
        </p:txBody>
      </p:sp>
      <p:sp>
        <p:nvSpPr>
          <p:cNvPr id="43" name="TextBox 42"/>
          <p:cNvSpPr txBox="1"/>
          <p:nvPr/>
        </p:nvSpPr>
        <p:spPr>
          <a:xfrm>
            <a:off x="9144000" y="3346704"/>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0.06</a:t>
            </a:r>
          </a:p>
        </p:txBody>
      </p:sp>
      <p:sp>
        <p:nvSpPr>
          <p:cNvPr id="44" name="TextBox 43"/>
          <p:cNvSpPr txBox="1"/>
          <p:nvPr/>
        </p:nvSpPr>
        <p:spPr>
          <a:xfrm>
            <a:off x="9921240" y="3346704"/>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137.8</a:t>
            </a:r>
          </a:p>
        </p:txBody>
      </p:sp>
      <p:sp>
        <p:nvSpPr>
          <p:cNvPr id="45" name="TextBox 44"/>
          <p:cNvSpPr txBox="1"/>
          <p:nvPr/>
        </p:nvSpPr>
        <p:spPr>
          <a:xfrm>
            <a:off x="502920" y="3849624"/>
            <a:ext cx="1737360" cy="365760"/>
          </a:xfrm>
          <a:prstGeom prst="rect">
            <a:avLst/>
          </a:prstGeom>
          <a:noFill/>
        </p:spPr>
        <p:txBody>
          <a:bodyPr wrap="square" anchor="t" lIns="0" rIns="0" tIns="0" bIns="0">
            <a:spAutoFit/>
          </a:bodyPr>
          <a:lstStyle/>
          <a:p>
            <a:pPr algn="l">
              <a:lnSpc>
                <a:spcPct val="100000"/>
              </a:lnSpc>
            </a:pPr>
            <a:r>
              <a:rPr sz="1250" b="0" i="0">
                <a:solidFill>
                  <a:srgbClr val="222222"/>
                </a:solidFill>
                <a:latin typeface="Calibri"/>
              </a:rPr>
              <a:t>⌀20 · 450 mm</a:t>
            </a:r>
          </a:p>
        </p:txBody>
      </p:sp>
      <p:sp>
        <p:nvSpPr>
          <p:cNvPr id="46" name="TextBox 45"/>
          <p:cNvSpPr txBox="1"/>
          <p:nvPr/>
        </p:nvSpPr>
        <p:spPr>
          <a:xfrm>
            <a:off x="2240280" y="3822191"/>
            <a:ext cx="1051560" cy="365760"/>
          </a:xfrm>
          <a:prstGeom prst="rect">
            <a:avLst/>
          </a:prstGeom>
          <a:noFill/>
        </p:spPr>
        <p:txBody>
          <a:bodyPr wrap="square" anchor="t" lIns="0" rIns="0" tIns="0" bIns="0">
            <a:spAutoFit/>
          </a:bodyPr>
          <a:lstStyle/>
          <a:p>
            <a:pPr algn="ctr">
              <a:lnSpc>
                <a:spcPct val="100000"/>
              </a:lnSpc>
            </a:pPr>
            <a:r>
              <a:rPr sz="1250" b="1" i="0">
                <a:solidFill>
                  <a:srgbClr val="38761D"/>
                </a:solidFill>
                <a:latin typeface="Calibri"/>
              </a:rPr>
              <a:t>67.6</a:t>
            </a:r>
          </a:p>
        </p:txBody>
      </p:sp>
      <p:sp>
        <p:nvSpPr>
          <p:cNvPr id="47" name="TextBox 46"/>
          <p:cNvSpPr txBox="1"/>
          <p:nvPr/>
        </p:nvSpPr>
        <p:spPr>
          <a:xfrm>
            <a:off x="3291840" y="3822191"/>
            <a:ext cx="77724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0.03</a:t>
            </a:r>
          </a:p>
        </p:txBody>
      </p:sp>
      <p:sp>
        <p:nvSpPr>
          <p:cNvPr id="48" name="TextBox 47"/>
          <p:cNvSpPr txBox="1"/>
          <p:nvPr/>
        </p:nvSpPr>
        <p:spPr>
          <a:xfrm>
            <a:off x="4069080" y="3822191"/>
            <a:ext cx="914400" cy="365760"/>
          </a:xfrm>
          <a:prstGeom prst="rect">
            <a:avLst/>
          </a:prstGeom>
          <a:noFill/>
        </p:spPr>
        <p:txBody>
          <a:bodyPr wrap="square" anchor="t" lIns="0" rIns="0" tIns="0" bIns="0">
            <a:spAutoFit/>
          </a:bodyPr>
          <a:lstStyle/>
          <a:p>
            <a:pPr algn="ctr">
              <a:lnSpc>
                <a:spcPct val="100000"/>
              </a:lnSpc>
            </a:pPr>
            <a:r>
              <a:rPr sz="1250" b="0" i="0">
                <a:solidFill>
                  <a:srgbClr val="38761D"/>
                </a:solidFill>
                <a:latin typeface="Calibri"/>
              </a:rPr>
              <a:t>166.6</a:t>
            </a:r>
          </a:p>
        </p:txBody>
      </p:sp>
      <p:sp>
        <p:nvSpPr>
          <p:cNvPr id="49" name="TextBox 48"/>
          <p:cNvSpPr txBox="1"/>
          <p:nvPr/>
        </p:nvSpPr>
        <p:spPr>
          <a:xfrm>
            <a:off x="4983480" y="3822191"/>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177.7</a:t>
            </a:r>
          </a:p>
        </p:txBody>
      </p:sp>
      <p:sp>
        <p:nvSpPr>
          <p:cNvPr id="50" name="TextBox 49"/>
          <p:cNvSpPr txBox="1"/>
          <p:nvPr/>
        </p:nvSpPr>
        <p:spPr>
          <a:xfrm>
            <a:off x="6217920" y="3822191"/>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0.18</a:t>
            </a:r>
          </a:p>
        </p:txBody>
      </p:sp>
      <p:sp>
        <p:nvSpPr>
          <p:cNvPr id="51" name="TextBox 50"/>
          <p:cNvSpPr txBox="1"/>
          <p:nvPr/>
        </p:nvSpPr>
        <p:spPr>
          <a:xfrm>
            <a:off x="6995160" y="3822191"/>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294.8</a:t>
            </a:r>
          </a:p>
        </p:txBody>
      </p:sp>
      <p:sp>
        <p:nvSpPr>
          <p:cNvPr id="52" name="TextBox 51"/>
          <p:cNvSpPr txBox="1"/>
          <p:nvPr/>
        </p:nvSpPr>
        <p:spPr>
          <a:xfrm>
            <a:off x="7909560" y="3822191"/>
            <a:ext cx="12344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862.1</a:t>
            </a:r>
          </a:p>
        </p:txBody>
      </p:sp>
      <p:sp>
        <p:nvSpPr>
          <p:cNvPr id="53" name="TextBox 52"/>
          <p:cNvSpPr txBox="1"/>
          <p:nvPr/>
        </p:nvSpPr>
        <p:spPr>
          <a:xfrm>
            <a:off x="9144000" y="3822191"/>
            <a:ext cx="77724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4.20</a:t>
            </a:r>
          </a:p>
        </p:txBody>
      </p:sp>
      <p:sp>
        <p:nvSpPr>
          <p:cNvPr id="54" name="TextBox 53"/>
          <p:cNvSpPr txBox="1"/>
          <p:nvPr/>
        </p:nvSpPr>
        <p:spPr>
          <a:xfrm>
            <a:off x="9921240" y="3822191"/>
            <a:ext cx="914400" cy="365760"/>
          </a:xfrm>
          <a:prstGeom prst="rect">
            <a:avLst/>
          </a:prstGeom>
          <a:noFill/>
        </p:spPr>
        <p:txBody>
          <a:bodyPr wrap="square" anchor="t" lIns="0" rIns="0" tIns="0" bIns="0">
            <a:spAutoFit/>
          </a:bodyPr>
          <a:lstStyle/>
          <a:p>
            <a:pPr algn="ctr">
              <a:lnSpc>
                <a:spcPct val="100000"/>
              </a:lnSpc>
            </a:pPr>
            <a:r>
              <a:rPr sz="1200" b="0" i="0">
                <a:solidFill>
                  <a:srgbClr val="595959"/>
                </a:solidFill>
                <a:latin typeface="Calibri"/>
              </a:rPr>
              <a:t>1321.1</a:t>
            </a:r>
          </a:p>
        </p:txBody>
      </p:sp>
      <p:sp>
        <p:nvSpPr>
          <p:cNvPr id="55" name="Rounded Rectangle 54"/>
          <p:cNvSpPr/>
          <p:nvPr/>
        </p:nvSpPr>
        <p:spPr>
          <a:xfrm>
            <a:off x="502920" y="4663440"/>
            <a:ext cx="11155680" cy="11887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7240" y="4828032"/>
            <a:ext cx="10607040" cy="914400"/>
          </a:xfrm>
          <a:prstGeom prst="rect">
            <a:avLst/>
          </a:prstGeom>
          <a:noFill/>
        </p:spPr>
        <p:txBody>
          <a:bodyPr wrap="square" anchor="t" lIns="0" rIns="0" tIns="0" bIns="0">
            <a:spAutoFit/>
          </a:bodyPr>
          <a:lstStyle/>
          <a:p>
            <a:pPr algn="l">
              <a:lnSpc>
                <a:spcPct val="110000"/>
              </a:lnSpc>
            </a:pPr>
            <a:r>
              <a:rPr sz="1400" b="0" i="0">
                <a:solidFill>
                  <a:srgbClr val="222222"/>
                </a:solidFill>
                <a:latin typeface="Calibri"/>
              </a:rPr>
              <a:t>Takeaway: fixed-parameter models fail when moved off their fit length; </a:t>
            </a:r>
          </a:p>
          <a:p>
            <a:pPr algn="l">
              <a:lnSpc>
                <a:spcPct val="110000"/>
              </a:lnSpc>
            </a:pPr>
            <a:r>
              <a:rPr sz="1400" b="0" i="0">
                <a:solidFill>
                  <a:srgbClr val="222222"/>
                </a:solidFill>
                <a:latin typeface="Calibri"/>
              </a:rPr>
              <a:t>the normalized fit holds across lengths because each muscle carries its own F₆₂₀ and ε₆₂₀.</a:t>
            </a:r>
          </a:p>
        </p:txBody>
      </p:sp>
      <p:sp>
        <p:nvSpPr>
          <p:cNvPr id="57" name="TextBox 56"/>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D · COMPLIANCE CHAIN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From bracket stiffness matrix to solved deflection</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Eqs. (4.18), (4.20), (4.22); implementation: App. A §A.5; frames and arrays: App. C §§C.3–C.4</a:t>
            </a:r>
          </a:p>
        </p:txBody>
      </p:sp>
      <p:sp>
        <p:nvSpPr>
          <p:cNvPr id="5" name="Rounded Rectangle 4"/>
          <p:cNvSpPr/>
          <p:nvPr/>
        </p:nvSpPr>
        <p:spPr>
          <a:xfrm>
            <a:off x="502920" y="1874519"/>
            <a:ext cx="11155680" cy="105156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84248"/>
            <a:ext cx="5852160" cy="365760"/>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1 · project compliance on the force direction · eq. (4.18)</a:t>
            </a:r>
          </a:p>
        </p:txBody>
      </p:sp>
      <p:pic>
        <p:nvPicPr>
          <p:cNvPr id="7" name="Picture 6" descr="kbr.png"/>
          <p:cNvPicPr>
            <a:picLocks noChangeAspect="1"/>
          </p:cNvPicPr>
          <p:nvPr/>
        </p:nvPicPr>
        <p:blipFill>
          <a:blip r:embed="rId3"/>
          <a:stretch>
            <a:fillRect/>
          </a:stretch>
        </p:blipFill>
        <p:spPr>
          <a:xfrm>
            <a:off x="960120" y="2258568"/>
            <a:ext cx="7594408" cy="502920"/>
          </a:xfrm>
          <a:prstGeom prst="rect">
            <a:avLst/>
          </a:prstGeom>
        </p:spPr>
      </p:pic>
      <p:sp>
        <p:nvSpPr>
          <p:cNvPr id="8" name="Rounded Rectangle 7"/>
          <p:cNvSpPr/>
          <p:nvPr/>
        </p:nvSpPr>
        <p:spPr>
          <a:xfrm>
            <a:off x="502920" y="3108960"/>
            <a:ext cx="11155680" cy="105156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18688"/>
            <a:ext cx="5852160" cy="365760"/>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2 · add artificial tendon in series · eq. (4.20)</a:t>
            </a:r>
          </a:p>
        </p:txBody>
      </p:sp>
      <p:pic>
        <p:nvPicPr>
          <p:cNvPr id="10" name="Picture 9" descr="series.png"/>
          <p:cNvPicPr>
            <a:picLocks noChangeAspect="1"/>
          </p:cNvPicPr>
          <p:nvPr/>
        </p:nvPicPr>
        <p:blipFill>
          <a:blip r:embed="rId4"/>
          <a:stretch>
            <a:fillRect/>
          </a:stretch>
        </p:blipFill>
        <p:spPr>
          <a:xfrm>
            <a:off x="960120" y="3493008"/>
            <a:ext cx="9907524" cy="502920"/>
          </a:xfrm>
          <a:prstGeom prst="rect">
            <a:avLst/>
          </a:prstGeom>
        </p:spPr>
      </p:pic>
      <p:sp>
        <p:nvSpPr>
          <p:cNvPr id="11" name="Rounded Rectangle 10"/>
          <p:cNvSpPr/>
          <p:nvPr/>
        </p:nvSpPr>
        <p:spPr>
          <a:xfrm>
            <a:off x="502920" y="4343400"/>
            <a:ext cx="11155680" cy="182880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480560"/>
            <a:ext cx="10607040" cy="164592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3 · solve the force balance, then propagate · eq. (4.22)</a:t>
            </a:r>
          </a:p>
          <a:p>
            <a:pPr algn="l">
              <a:lnSpc>
                <a:spcPct val="110000"/>
              </a:lnSpc>
              <a:spcAft>
                <a:spcPts val="400"/>
              </a:spcAft>
            </a:pPr>
            <a:r>
              <a:rPr sz="1350" b="0" i="0">
                <a:solidFill>
                  <a:srgbClr val="222222"/>
                </a:solidFill>
                <a:latin typeface="Calibri"/>
              </a:rPr>
              <a:t>δ from F₆₂₀·F*(ε*(δ), P*) − k_eq·δ = 0 (fzero, bracket [0, lₘ − l₆₂₀]; δ ≡ 0 if uncorrected ε* &gt; 1)</a:t>
            </a:r>
          </a:p>
          <a:p>
            <a:pPr algn="l">
              <a:lnSpc>
                <a:spcPct val="110000"/>
              </a:lnSpc>
              <a:spcAft>
                <a:spcPts val="400"/>
              </a:spcAft>
            </a:pPr>
            <a:r>
              <a:rPr sz="1350" b="0" i="0">
                <a:solidFill>
                  <a:srgbClr val="222222"/>
                </a:solidFill>
                <a:latin typeface="Calibri"/>
              </a:rPr>
              <a:t>then vector deflection → attachment moves → path length, force direction, moment arm, torque recomputed</a:t>
            </a:r>
          </a:p>
          <a:p>
            <a:pPr algn="l">
              <a:lnSpc>
                <a:spcPct val="110000"/>
              </a:lnSpc>
            </a:pPr>
            <a:r>
              <a:rPr sz="1250" b="0" i="0">
                <a:solidFill>
                  <a:srgbClr val="595959"/>
                </a:solidFill>
                <a:latin typeface="Calibri"/>
              </a:rPr>
              <a:t>two-BPA flexor grouping: coupled balance shares one common force, solved on [0, F₆₂₀]</a:t>
            </a:r>
          </a:p>
        </p:txBody>
      </p:sp>
      <p:sp>
        <p:nvSpPr>
          <p:cNvPr id="13" name="TextBox 12"/>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E · WRAP LOSS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Wrapping-loss implementation, per contact arc</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Eqs. (4.24)–(4.26); implementation: App. A §A.6 (minimizeExtX3.m, Contraction); constants: App. C §C.4</a:t>
            </a:r>
          </a:p>
        </p:txBody>
      </p:sp>
      <p:sp>
        <p:nvSpPr>
          <p:cNvPr id="5" name="Rounded Rectangle 4"/>
          <p:cNvSpPr/>
          <p:nvPr/>
        </p:nvSpPr>
        <p:spPr>
          <a:xfrm>
            <a:off x="502920" y="1874519"/>
            <a:ext cx="5486400" cy="22860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5029200" cy="201168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PINNED EXTENSOR</a:t>
            </a:r>
          </a:p>
          <a:p>
            <a:pPr algn="l">
              <a:lnSpc>
                <a:spcPct val="100000"/>
              </a:lnSpc>
              <a:spcAft>
                <a:spcPts val="300"/>
              </a:spcAft>
            </a:pPr>
            <a:r>
              <a:rPr sz="1350" b="0" i="0">
                <a:solidFill>
                  <a:srgbClr val="222222"/>
                </a:solidFill>
                <a:latin typeface="Calibri"/>
              </a:rPr>
              <a:t>two physical contact arcs:</a:t>
            </a:r>
          </a:p>
          <a:p>
            <a:pPr algn="l">
              <a:lnSpc>
                <a:spcPct val="100000"/>
              </a:lnSpc>
              <a:spcAft>
                <a:spcPts val="300"/>
              </a:spcAft>
            </a:pPr>
            <a:r>
              <a:rPr sz="1400" b="0" i="0">
                <a:solidFill>
                  <a:srgbClr val="222222"/>
                </a:solidFill>
                <a:latin typeface="Calibri"/>
              </a:rPr>
              <a:t>R₁ = 12 mm from 27° to −23°</a:t>
            </a:r>
          </a:p>
          <a:p>
            <a:pPr algn="l">
              <a:lnSpc>
                <a:spcPct val="100000"/>
              </a:lnSpc>
              <a:spcAft>
                <a:spcPts val="500"/>
              </a:spcAft>
            </a:pPr>
            <a:r>
              <a:rPr sz="1400" b="0" i="0">
                <a:solidFill>
                  <a:srgbClr val="222222"/>
                </a:solidFill>
                <a:latin typeface="Calibri"/>
              </a:rPr>
              <a:t>R₂ = 40 mm on the second bracket</a:t>
            </a:r>
          </a:p>
          <a:p>
            <a:pPr algn="l">
              <a:lnSpc>
                <a:spcPct val="110000"/>
              </a:lnSpc>
            </a:pPr>
            <a:r>
              <a:rPr sz="1200" b="0" i="0">
                <a:solidFill>
                  <a:srgbClr val="595959"/>
                </a:solidFill>
                <a:latin typeface="Calibri"/>
              </a:rPr>
              <a:t>arc-length normalizers: 27.75/(ang₁−ang₂), 92.46/(ang₂+120°)</a:t>
            </a:r>
          </a:p>
        </p:txBody>
      </p:sp>
      <p:sp>
        <p:nvSpPr>
          <p:cNvPr id="7" name="Rounded Rectangle 6"/>
          <p:cNvSpPr/>
          <p:nvPr/>
        </p:nvSpPr>
        <p:spPr>
          <a:xfrm>
            <a:off x="6172200" y="1874519"/>
            <a:ext cx="5486400" cy="22860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057400"/>
            <a:ext cx="5029200" cy="201168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BIOMIMETIC CONFIGURATIONS</a:t>
            </a:r>
          </a:p>
          <a:p>
            <a:pPr algn="l">
              <a:lnSpc>
                <a:spcPct val="100000"/>
              </a:lnSpc>
              <a:spcAft>
                <a:spcPts val="500"/>
              </a:spcAft>
            </a:pPr>
            <a:r>
              <a:rPr sz="1500" b="0" i="0">
                <a:solidFill>
                  <a:srgbClr val="222222"/>
                </a:solidFill>
                <a:latin typeface="Calibri"/>
              </a:rPr>
              <a:t>Δl = χ₃ · b(θₖ) · (1 − ε*)²</a:t>
            </a:r>
          </a:p>
          <a:p>
            <a:pPr algn="l">
              <a:lnSpc>
                <a:spcPct val="110000"/>
              </a:lnSpc>
              <a:spcAft>
                <a:spcPts val="300"/>
              </a:spcAft>
            </a:pPr>
            <a:r>
              <a:rPr sz="1350" b="0" i="0">
                <a:solidFill>
                  <a:srgbClr val="222222"/>
                </a:solidFill>
                <a:latin typeface="Calibri"/>
              </a:rPr>
              <a:t>b(θₖ) = routed bend measure (arc length swept by the wrap)</a:t>
            </a:r>
          </a:p>
          <a:p>
            <a:pPr algn="l">
              <a:lnSpc>
                <a:spcPct val="110000"/>
              </a:lnSpc>
            </a:pPr>
            <a:r>
              <a:rPr sz="1200" b="0" i="0">
                <a:solidFill>
                  <a:srgbClr val="595959"/>
                </a:solidFill>
                <a:latin typeface="Calibri"/>
              </a:rPr>
              <a:t>w Rap = 25 mm bend radius in the route builder</a:t>
            </a:r>
          </a:p>
        </p:txBody>
      </p:sp>
      <p:sp>
        <p:nvSpPr>
          <p:cNvPr id="9" name="Rounded Rectangle 8"/>
          <p:cNvSpPr/>
          <p:nvPr/>
        </p:nvSpPr>
        <p:spPr>
          <a:xfrm>
            <a:off x="502920" y="4434840"/>
            <a:ext cx="11155680" cy="123444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590288"/>
            <a:ext cx="10607040" cy="1005840"/>
          </a:xfrm>
          <a:prstGeom prst="rect">
            <a:avLst/>
          </a:prstGeom>
          <a:noFill/>
        </p:spPr>
        <p:txBody>
          <a:bodyPr wrap="square" anchor="t" lIns="0" rIns="0" tIns="0" bIns="0">
            <a:spAutoFit/>
          </a:bodyPr>
          <a:lstStyle/>
          <a:p>
            <a:pPr algn="l">
              <a:lnSpc>
                <a:spcPct val="100000"/>
              </a:lnSpc>
              <a:spcAft>
                <a:spcPts val="300"/>
              </a:spcAft>
            </a:pPr>
            <a:r>
              <a:rPr sz="1450" b="1" i="0">
                <a:solidFill>
                  <a:srgbClr val="AF7B51"/>
                </a:solidFill>
                <a:latin typeface="Calibri"/>
              </a:rPr>
              <a:t>Applied to the force-producing strain only</a:t>
            </a:r>
          </a:p>
          <a:p>
            <a:pPr algn="l">
              <a:lnSpc>
                <a:spcPct val="110000"/>
              </a:lnSpc>
            </a:pPr>
            <a:r>
              <a:rPr sz="1350" b="0" i="0">
                <a:solidFill>
                  <a:srgbClr val="222222"/>
                </a:solidFill>
                <a:latin typeface="Calibri"/>
              </a:rPr>
              <a:t>the kinematic strain that predicts muscle length excludes Δl; the loss changes force, not recorded geometry.</a:t>
            </a:r>
          </a:p>
        </p:txBody>
      </p:sp>
      <p:sp>
        <p:nvSpPr>
          <p:cNvPr id="11" name="TextBox 10"/>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F · PROTOCOL</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Identification campaign details and data decisions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§4.1 (identification); test constants: App. C §C.1; bounds and adopted values: App. C §§C.4–C.5</a:t>
            </a:r>
          </a:p>
        </p:txBody>
      </p:sp>
      <p:sp>
        <p:nvSpPr>
          <p:cNvPr id="5" name="Rounded Rectangle 4"/>
          <p:cNvSpPr/>
          <p:nvPr/>
        </p:nvSpPr>
        <p:spPr>
          <a:xfrm>
            <a:off x="502920" y="1874519"/>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84248"/>
            <a:ext cx="10698480" cy="822960"/>
          </a:xfrm>
          <a:prstGeom prst="rect">
            <a:avLst/>
          </a:prstGeom>
          <a:noFill/>
        </p:spPr>
        <p:txBody>
          <a:bodyPr wrap="square" anchor="t" lIns="0" rIns="0" tIns="0" bIns="0">
            <a:spAutoFit/>
          </a:bodyPr>
          <a:lstStyle/>
          <a:p>
            <a:pPr algn="l">
              <a:lnSpc>
                <a:spcPct val="100000"/>
              </a:lnSpc>
              <a:spcAft>
                <a:spcPts val="100"/>
              </a:spcAft>
            </a:pPr>
            <a:r>
              <a:rPr sz="1400" b="1" i="0">
                <a:solidFill>
                  <a:srgbClr val="AF7B51"/>
                </a:solidFill>
                <a:latin typeface="Calibri"/>
              </a:rPr>
              <a:t>Encoder correction</a:t>
            </a:r>
          </a:p>
          <a:p>
            <a:pPr algn="l">
              <a:lnSpc>
                <a:spcPct val="102000"/>
              </a:lnSpc>
            </a:pPr>
            <a:r>
              <a:rPr sz="1250" b="0" i="0">
                <a:solidFill>
                  <a:srgbClr val="222222"/>
                </a:solidFill>
                <a:latin typeface="Calibri"/>
              </a:rPr>
              <a:t>the 47.9 cm flexor test’s measured angles carry a +5.3° correction at load time (App. C, Table C-1); it was not used in the identification, and its corrected-model fit is a post hoc evaluation</a:t>
            </a:r>
          </a:p>
        </p:txBody>
      </p:sp>
      <p:sp>
        <p:nvSpPr>
          <p:cNvPr id="7" name="Rounded Rectangle 6"/>
          <p:cNvSpPr/>
          <p:nvPr/>
        </p:nvSpPr>
        <p:spPr>
          <a:xfrm>
            <a:off x="502920" y="2953511"/>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63239"/>
            <a:ext cx="10698480" cy="822960"/>
          </a:xfrm>
          <a:prstGeom prst="rect">
            <a:avLst/>
          </a:prstGeom>
          <a:noFill/>
        </p:spPr>
        <p:txBody>
          <a:bodyPr wrap="square" anchor="t" lIns="0" rIns="0" tIns="0" bIns="0">
            <a:spAutoFit/>
          </a:bodyPr>
          <a:lstStyle/>
          <a:p>
            <a:pPr algn="l">
              <a:lnSpc>
                <a:spcPct val="100000"/>
              </a:lnSpc>
              <a:spcAft>
                <a:spcPts val="100"/>
              </a:spcAft>
            </a:pPr>
            <a:r>
              <a:rPr sz="1400" b="1" i="0">
                <a:solidFill>
                  <a:srgbClr val="AF7B51"/>
                </a:solidFill>
                <a:latin typeface="Calibri"/>
              </a:rPr>
              <a:t>Training / validation</a:t>
            </a:r>
          </a:p>
          <a:p>
            <a:pPr algn="l">
              <a:lnSpc>
                <a:spcPct val="102000"/>
              </a:lnSpc>
            </a:pPr>
            <a:r>
              <a:rPr sz="1250" b="0" i="0">
                <a:solidFill>
                  <a:srgbClr val="222222"/>
                </a:solidFill>
                <a:latin typeface="Calibri"/>
              </a:rPr>
              <a:t>flexor: four tests cross-validated, 2 training / 2 held-out per fold (adopted fold: 48.5 + 41.0 cm train, 45.7 + 40.6-tendon validate) · extensor: training {43, 43-tendon, 46 cm}, validation {40, 40-tendon, 47 cm}; 42, 42-tendon, and 48 cm not used</a:t>
            </a:r>
          </a:p>
        </p:txBody>
      </p:sp>
      <p:sp>
        <p:nvSpPr>
          <p:cNvPr id="9" name="Rounded Rectangle 8"/>
          <p:cNvSpPr/>
          <p:nvPr/>
        </p:nvSpPr>
        <p:spPr>
          <a:xfrm>
            <a:off x="502920" y="4032503"/>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142231"/>
            <a:ext cx="10698480" cy="822960"/>
          </a:xfrm>
          <a:prstGeom prst="rect">
            <a:avLst/>
          </a:prstGeom>
          <a:noFill/>
        </p:spPr>
        <p:txBody>
          <a:bodyPr wrap="square" anchor="t" lIns="0" rIns="0" tIns="0" bIns="0">
            <a:spAutoFit/>
          </a:bodyPr>
          <a:lstStyle/>
          <a:p>
            <a:pPr algn="l">
              <a:lnSpc>
                <a:spcPct val="100000"/>
              </a:lnSpc>
              <a:spcAft>
                <a:spcPts val="100"/>
              </a:spcAft>
            </a:pPr>
            <a:r>
              <a:rPr sz="1400" b="1" i="0">
                <a:solidFill>
                  <a:srgbClr val="AF7B51"/>
                </a:solidFill>
                <a:latin typeface="Calibri"/>
              </a:rPr>
              <a:t>Non-uniqueness handled explicitly</a:t>
            </a:r>
          </a:p>
          <a:p>
            <a:pPr algn="l">
              <a:lnSpc>
                <a:spcPct val="102000"/>
              </a:lnSpc>
            </a:pPr>
            <a:r>
              <a:rPr sz="1250" b="0" i="0">
                <a:solidFill>
                  <a:srgbClr val="222222"/>
                </a:solidFill>
                <a:latin typeface="Calibri"/>
              </a:rPr>
              <a:t>a family of stiffness pairs fits the training tests nearly equally well; the adopted pair (pooled-front row 77; extensor locked refit row 32) is the one for which both redesigns meet the required 5% overshoot simultaneously (+5.01% flexor, +5.02% extensor)</a:t>
            </a:r>
          </a:p>
        </p:txBody>
      </p:sp>
      <p:sp>
        <p:nvSpPr>
          <p:cNvPr id="11" name="Rounded Rectangle 10"/>
          <p:cNvSpPr/>
          <p:nvPr/>
        </p:nvSpPr>
        <p:spPr>
          <a:xfrm>
            <a:off x="502920" y="5111495"/>
            <a:ext cx="11155680" cy="969264"/>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221223"/>
            <a:ext cx="10698480" cy="822960"/>
          </a:xfrm>
          <a:prstGeom prst="rect">
            <a:avLst/>
          </a:prstGeom>
          <a:noFill/>
        </p:spPr>
        <p:txBody>
          <a:bodyPr wrap="square" anchor="t" lIns="0" rIns="0" tIns="0" bIns="0">
            <a:spAutoFit/>
          </a:bodyPr>
          <a:lstStyle/>
          <a:p>
            <a:pPr algn="l">
              <a:lnSpc>
                <a:spcPct val="100000"/>
              </a:lnSpc>
              <a:spcAft>
                <a:spcPts val="100"/>
              </a:spcAft>
            </a:pPr>
            <a:r>
              <a:rPr sz="1400" b="1" i="0">
                <a:solidFill>
                  <a:srgbClr val="AF7B51"/>
                </a:solidFill>
                <a:latin typeface="Calibri"/>
              </a:rPr>
              <a:t>Solver settings of record</a:t>
            </a:r>
          </a:p>
          <a:p>
            <a:pPr algn="l">
              <a:lnSpc>
                <a:spcPct val="102000"/>
              </a:lnSpc>
            </a:pPr>
            <a:r>
              <a:rPr sz="1250" b="0" i="0">
                <a:solidFill>
                  <a:srgbClr val="222222"/>
                </a:solidFill>
                <a:latin typeface="Calibri"/>
              </a:rPr>
              <a:t>NSGA-II gamultiobj · flexor: population 150, ≤600 generations, spread tol 4×10⁻³ · extensor: population 50, ≤150 generations, 10⁻³ · offsets searched in cm, stiffnesses on log₁₀</a:t>
            </a:r>
          </a:p>
        </p:txBody>
      </p:sp>
      <p:sp>
        <p:nvSpPr>
          <p:cNvPr id="13" name="TextBox 12"/>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G · INVARIANCE</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Frame convention is irrelevant for y-symmetric stiffness arrays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§4.1 (Improved Torque Model); bracket frames and arrays: App. C §§C.3–C.4</a:t>
            </a:r>
          </a:p>
        </p:txBody>
      </p:sp>
      <p:sp>
        <p:nvSpPr>
          <p:cNvPr id="5" name="Rounded Rectangle 4"/>
          <p:cNvSpPr/>
          <p:nvPr/>
        </p:nvSpPr>
        <p:spPr>
          <a:xfrm>
            <a:off x="502920" y="1920240"/>
            <a:ext cx="6675120" cy="39319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48840"/>
            <a:ext cx="6126480" cy="356616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CLAIM (CH. 4, IMPROVED TORQUE MODEL)</a:t>
            </a:r>
          </a:p>
          <a:p>
            <a:pPr algn="l">
              <a:lnSpc>
                <a:spcPct val="115000"/>
              </a:lnSpc>
              <a:spcAft>
                <a:spcPts val="800"/>
              </a:spcAft>
            </a:pPr>
            <a:r>
              <a:rPr sz="1400" b="0" i="0">
                <a:solidFill>
                  <a:srgbClr val="222222"/>
                </a:solidFill>
                <a:latin typeface="Calibri"/>
              </a:rPr>
              <a:t>Let K = diag(a, b, a); equal stiffness about x and z. For any frame whose second rotation is about y, the projected scalar stiffness</a:t>
            </a:r>
          </a:p>
          <a:p>
            <a:pPr algn="l">
              <a:lnSpc>
                <a:spcPct val="100000"/>
              </a:lnSpc>
              <a:spcAft>
                <a:spcPts val="800"/>
              </a:spcAft>
            </a:pPr>
            <a:r>
              <a:rPr sz="1700" b="1" i="0">
                <a:solidFill>
                  <a:srgbClr val="AF7B51"/>
                </a:solidFill>
                <a:latin typeface="Calibri"/>
              </a:rPr>
              <a:t>k(û) = (ûᵀ K⁻¹ û)⁻¹</a:t>
            </a:r>
          </a:p>
          <a:p>
            <a:pPr algn="l">
              <a:lnSpc>
                <a:spcPct val="115000"/>
              </a:lnSpc>
              <a:spcAft>
                <a:spcPts val="800"/>
              </a:spcAft>
            </a:pPr>
            <a:r>
              <a:rPr sz="1400" b="0" i="0">
                <a:solidFill>
                  <a:srgbClr val="222222"/>
                </a:solidFill>
                <a:latin typeface="Calibri"/>
              </a:rPr>
              <a:t>is unchanged: the rotation about y mixes only the two coordinates with equal compliance, and the two frame conventions produce identical torque predictions to numerical precision.</a:t>
            </a:r>
          </a:p>
          <a:p>
            <a:pPr algn="l">
              <a:lnSpc>
                <a:spcPct val="110000"/>
              </a:lnSpc>
            </a:pPr>
            <a:r>
              <a:rPr sz="1300" b="1" i="0">
                <a:solidFill>
                  <a:srgbClr val="38761D"/>
                </a:solidFill>
                <a:latin typeface="Calibri"/>
              </a:rPr>
              <a:t>Invariant if and only if the x- and z-axis stiffnesses are equal; the proof is the rotation identity Ry(θ)·K·Ry(θ)ᵀ = K with Ry a rotation about y.</a:t>
            </a:r>
          </a:p>
        </p:txBody>
      </p:sp>
      <p:sp>
        <p:nvSpPr>
          <p:cNvPr id="7" name="Rounded Rectangle 6"/>
          <p:cNvSpPr/>
          <p:nvPr/>
        </p:nvSpPr>
        <p:spPr>
          <a:xfrm>
            <a:off x="7452360" y="1920240"/>
            <a:ext cx="4206240" cy="39319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2148840"/>
            <a:ext cx="3749039" cy="356616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SCOPE</a:t>
            </a:r>
          </a:p>
          <a:p>
            <a:pPr algn="l">
              <a:lnSpc>
                <a:spcPct val="112000"/>
              </a:lnSpc>
              <a:spcAft>
                <a:spcPts val="800"/>
              </a:spcAft>
            </a:pPr>
            <a:r>
              <a:rPr sz="1350" b="0" i="0">
                <a:solidFill>
                  <a:srgbClr val="222222"/>
                </a:solidFill>
                <a:latin typeface="Calibri"/>
              </a:rPr>
              <a:t>Holds for y-symmetric arrays only.</a:t>
            </a:r>
          </a:p>
          <a:p>
            <a:pPr algn="l">
              <a:lnSpc>
                <a:spcPct val="112000"/>
              </a:lnSpc>
            </a:pPr>
            <a:r>
              <a:rPr sz="1350" b="0" i="0">
                <a:solidFill>
                  <a:srgbClr val="222222"/>
                </a:solidFill>
                <a:latin typeface="Calibri"/>
              </a:rPr>
              <a:t>The extensor’s arch bracket is not y-symmetric: the bracket forms an arch extending 75 mm in the Z direction, so χ₂ sits along the bracket x axis and χ₁ along y and z; an assignment carried on physical grounds, not derived from this proof.</a:t>
            </a:r>
          </a:p>
        </p:txBody>
      </p:sp>
      <p:sp>
        <p:nvSpPr>
          <p:cNvPr id="9" name="TextBox 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H · BRACKET DATA</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Bracket reference points and adopted correction terms; recorded together</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Reference points: App. C §C.3 (Table C-5); adopted values and provenance: App. C §C.5 (Table C-8)</a:t>
            </a:r>
          </a:p>
        </p:txBody>
      </p:sp>
      <p:sp>
        <p:nvSpPr>
          <p:cNvPr id="5" name="TextBox 4"/>
          <p:cNvSpPr txBox="1"/>
          <p:nvPr/>
        </p:nvSpPr>
        <p:spPr>
          <a:xfrm>
            <a:off x="502920" y="1828800"/>
            <a:ext cx="6400800" cy="365760"/>
          </a:xfrm>
          <a:prstGeom prst="rect">
            <a:avLst/>
          </a:prstGeom>
          <a:noFill/>
        </p:spPr>
        <p:txBody>
          <a:bodyPr wrap="square" anchor="t" lIns="0" rIns="0" tIns="0" bIns="0">
            <a:spAutoFit/>
          </a:bodyPr>
          <a:lstStyle/>
          <a:p>
            <a:pPr algn="l">
              <a:lnSpc>
                <a:spcPct val="100000"/>
              </a:lnSpc>
            </a:pPr>
            <a:r>
              <a:rPr sz="1350" b="1" i="0">
                <a:solidFill>
                  <a:srgbClr val="00796B"/>
                </a:solidFill>
                <a:latin typeface="Calibri"/>
              </a:rPr>
              <a:t>Bracket reference points (mm)</a:t>
            </a:r>
          </a:p>
        </p:txBody>
      </p:sp>
      <p:sp>
        <p:nvSpPr>
          <p:cNvPr id="6" name="TextBox 5"/>
          <p:cNvSpPr txBox="1"/>
          <p:nvPr/>
        </p:nvSpPr>
        <p:spPr>
          <a:xfrm>
            <a:off x="502920" y="2212848"/>
            <a:ext cx="841248" cy="320040"/>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point</a:t>
            </a:r>
          </a:p>
        </p:txBody>
      </p:sp>
      <p:sp>
        <p:nvSpPr>
          <p:cNvPr id="7" name="TextBox 6"/>
          <p:cNvSpPr txBox="1"/>
          <p:nvPr/>
        </p:nvSpPr>
        <p:spPr>
          <a:xfrm>
            <a:off x="1344168" y="2212848"/>
            <a:ext cx="2167128" cy="320040"/>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x, y, z</a:t>
            </a:r>
          </a:p>
        </p:txBody>
      </p:sp>
      <p:sp>
        <p:nvSpPr>
          <p:cNvPr id="8" name="TextBox 7"/>
          <p:cNvSpPr txBox="1"/>
          <p:nvPr/>
        </p:nvSpPr>
        <p:spPr>
          <a:xfrm>
            <a:off x="3511296" y="2212848"/>
            <a:ext cx="3401568" cy="320040"/>
          </a:xfrm>
          <a:prstGeom prst="rect">
            <a:avLst/>
          </a:prstGeom>
          <a:noFill/>
        </p:spPr>
        <p:txBody>
          <a:bodyPr wrap="square" anchor="t" lIns="0" rIns="0" tIns="0" bIns="0">
            <a:spAutoFit/>
          </a:bodyPr>
          <a:lstStyle/>
          <a:p>
            <a:pPr algn="l">
              <a:lnSpc>
                <a:spcPct val="100000"/>
              </a:lnSpc>
            </a:pPr>
            <a:r>
              <a:rPr sz="1150" b="1" i="0">
                <a:solidFill>
                  <a:srgbClr val="00796B"/>
                </a:solidFill>
                <a:latin typeface="Calibri"/>
              </a:rPr>
              <a:t>configuration / meaning</a:t>
            </a:r>
          </a:p>
        </p:txBody>
      </p:sp>
      <p:sp>
        <p:nvSpPr>
          <p:cNvPr id="9" name="TextBox 8"/>
          <p:cNvSpPr txBox="1"/>
          <p:nvPr/>
        </p:nvSpPr>
        <p:spPr>
          <a:xfrm>
            <a:off x="502920" y="2633472"/>
            <a:ext cx="841248"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Pbri</a:t>
            </a:r>
          </a:p>
        </p:txBody>
      </p:sp>
      <p:sp>
        <p:nvSpPr>
          <p:cNvPr id="10" name="TextBox 9"/>
          <p:cNvSpPr txBox="1"/>
          <p:nvPr/>
        </p:nvSpPr>
        <p:spPr>
          <a:xfrm>
            <a:off x="1344168" y="2633472"/>
            <a:ext cx="2167128" cy="36576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−48.11, −107.81, 13.80</a:t>
            </a:r>
          </a:p>
        </p:txBody>
      </p:sp>
      <p:sp>
        <p:nvSpPr>
          <p:cNvPr id="11" name="TextBox 10"/>
          <p:cNvSpPr txBox="1"/>
          <p:nvPr/>
        </p:nvSpPr>
        <p:spPr>
          <a:xfrm>
            <a:off x="3511296" y="2633472"/>
            <a:ext cx="3401568" cy="365760"/>
          </a:xfrm>
          <a:prstGeom prst="rect">
            <a:avLst/>
          </a:prstGeom>
          <a:noFill/>
        </p:spPr>
        <p:txBody>
          <a:bodyPr wrap="square" anchor="t" lIns="0" rIns="0" tIns="0" bIns="0">
            <a:spAutoFit/>
          </a:bodyPr>
          <a:lstStyle/>
          <a:p>
            <a:pPr algn="l">
              <a:lnSpc>
                <a:spcPct val="100000"/>
              </a:lnSpc>
            </a:pPr>
            <a:r>
              <a:rPr sz="1100" b="0" i="0">
                <a:solidFill>
                  <a:srgbClr val="595959"/>
                </a:solidFill>
                <a:latin typeface="Calibri"/>
              </a:rPr>
              <a:t>pinned flexor · insertion bracket (ICR frame)</a:t>
            </a:r>
          </a:p>
        </p:txBody>
      </p:sp>
      <p:sp>
        <p:nvSpPr>
          <p:cNvPr id="12" name="TextBox 11"/>
          <p:cNvSpPr txBox="1"/>
          <p:nvPr/>
        </p:nvSpPr>
        <p:spPr>
          <a:xfrm>
            <a:off x="502920" y="3035808"/>
            <a:ext cx="841248"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Pbr2</a:t>
            </a:r>
          </a:p>
        </p:txBody>
      </p:sp>
      <p:sp>
        <p:nvSpPr>
          <p:cNvPr id="13" name="TextBox 12"/>
          <p:cNvSpPr txBox="1"/>
          <p:nvPr/>
        </p:nvSpPr>
        <p:spPr>
          <a:xfrm>
            <a:off x="1344168" y="3035808"/>
            <a:ext cx="2167128" cy="36576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−52.61, 0, 75.06</a:t>
            </a:r>
          </a:p>
        </p:txBody>
      </p:sp>
      <p:sp>
        <p:nvSpPr>
          <p:cNvPr id="14" name="TextBox 13"/>
          <p:cNvSpPr txBox="1"/>
          <p:nvPr/>
        </p:nvSpPr>
        <p:spPr>
          <a:xfrm>
            <a:off x="3511296" y="3035808"/>
            <a:ext cx="3401568" cy="365760"/>
          </a:xfrm>
          <a:prstGeom prst="rect">
            <a:avLst/>
          </a:prstGeom>
          <a:noFill/>
        </p:spPr>
        <p:txBody>
          <a:bodyPr wrap="square" anchor="t" lIns="0" rIns="0" tIns="0" bIns="0">
            <a:spAutoFit/>
          </a:bodyPr>
          <a:lstStyle/>
          <a:p>
            <a:pPr algn="l">
              <a:lnSpc>
                <a:spcPct val="100000"/>
              </a:lnSpc>
            </a:pPr>
            <a:r>
              <a:rPr sz="1100" b="0" i="0">
                <a:solidFill>
                  <a:srgbClr val="595959"/>
                </a:solidFill>
                <a:latin typeface="Calibri"/>
              </a:rPr>
              <a:t>pinned flexor · origin 2nd bracket (hip frame)</a:t>
            </a:r>
          </a:p>
        </p:txBody>
      </p:sp>
      <p:sp>
        <p:nvSpPr>
          <p:cNvPr id="15" name="TextBox 14"/>
          <p:cNvSpPr txBox="1"/>
          <p:nvPr/>
        </p:nvSpPr>
        <p:spPr>
          <a:xfrm>
            <a:off x="502920" y="3438144"/>
            <a:ext cx="841248"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Pbr</a:t>
            </a:r>
          </a:p>
        </p:txBody>
      </p:sp>
      <p:sp>
        <p:nvSpPr>
          <p:cNvPr id="16" name="TextBox 15"/>
          <p:cNvSpPr txBox="1"/>
          <p:nvPr/>
        </p:nvSpPr>
        <p:spPr>
          <a:xfrm>
            <a:off x="1344168" y="3438144"/>
            <a:ext cx="2167128" cy="36576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−3.84, −46.44, 62.50</a:t>
            </a:r>
          </a:p>
        </p:txBody>
      </p:sp>
      <p:sp>
        <p:nvSpPr>
          <p:cNvPr id="17" name="TextBox 16"/>
          <p:cNvSpPr txBox="1"/>
          <p:nvPr/>
        </p:nvSpPr>
        <p:spPr>
          <a:xfrm>
            <a:off x="3511296" y="3438144"/>
            <a:ext cx="3401568" cy="365760"/>
          </a:xfrm>
          <a:prstGeom prst="rect">
            <a:avLst/>
          </a:prstGeom>
          <a:noFill/>
        </p:spPr>
        <p:txBody>
          <a:bodyPr wrap="square" anchor="t" lIns="0" rIns="0" tIns="0" bIns="0">
            <a:spAutoFit/>
          </a:bodyPr>
          <a:lstStyle/>
          <a:p>
            <a:pPr algn="l">
              <a:lnSpc>
                <a:spcPct val="100000"/>
              </a:lnSpc>
            </a:pPr>
            <a:r>
              <a:rPr sz="1100" b="0" i="0">
                <a:solidFill>
                  <a:srgbClr val="595959"/>
                </a:solidFill>
                <a:latin typeface="Calibri"/>
              </a:rPr>
              <a:t>pinned extensor · rib midpoint (hip frame)</a:t>
            </a:r>
          </a:p>
        </p:txBody>
      </p:sp>
      <p:sp>
        <p:nvSpPr>
          <p:cNvPr id="18" name="TextBox 17"/>
          <p:cNvSpPr txBox="1"/>
          <p:nvPr/>
        </p:nvSpPr>
        <p:spPr>
          <a:xfrm>
            <a:off x="502920" y="3840479"/>
            <a:ext cx="841248"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Pbr</a:t>
            </a:r>
          </a:p>
        </p:txBody>
      </p:sp>
      <p:sp>
        <p:nvSpPr>
          <p:cNvPr id="19" name="TextBox 18"/>
          <p:cNvSpPr txBox="1"/>
          <p:nvPr/>
        </p:nvSpPr>
        <p:spPr>
          <a:xfrm>
            <a:off x="1344168" y="3840479"/>
            <a:ext cx="2167128" cy="36576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8.38, 20.75, 25.10</a:t>
            </a:r>
          </a:p>
        </p:txBody>
      </p:sp>
      <p:sp>
        <p:nvSpPr>
          <p:cNvPr id="20" name="TextBox 19"/>
          <p:cNvSpPr txBox="1"/>
          <p:nvPr/>
        </p:nvSpPr>
        <p:spPr>
          <a:xfrm>
            <a:off x="3511296" y="3840479"/>
            <a:ext cx="3401568" cy="365760"/>
          </a:xfrm>
          <a:prstGeom prst="rect">
            <a:avLst/>
          </a:prstGeom>
          <a:noFill/>
        </p:spPr>
        <p:txBody>
          <a:bodyPr wrap="square" anchor="t" lIns="0" rIns="0" tIns="0" bIns="0">
            <a:spAutoFit/>
          </a:bodyPr>
          <a:lstStyle/>
          <a:p>
            <a:pPr algn="l">
              <a:lnSpc>
                <a:spcPct val="100000"/>
              </a:lnSpc>
            </a:pPr>
            <a:r>
              <a:rPr sz="1100" b="0" i="0">
                <a:solidFill>
                  <a:srgbClr val="595959"/>
                </a:solidFill>
                <a:latin typeface="Calibri"/>
              </a:rPr>
              <a:t>biomimetic extensor 10 mm · cantilever</a:t>
            </a:r>
          </a:p>
        </p:txBody>
      </p:sp>
      <p:sp>
        <p:nvSpPr>
          <p:cNvPr id="21" name="TextBox 20"/>
          <p:cNvSpPr txBox="1"/>
          <p:nvPr/>
        </p:nvSpPr>
        <p:spPr>
          <a:xfrm>
            <a:off x="502920" y="4242816"/>
            <a:ext cx="841248"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Pbr</a:t>
            </a:r>
          </a:p>
        </p:txBody>
      </p:sp>
      <p:sp>
        <p:nvSpPr>
          <p:cNvPr id="22" name="TextBox 21"/>
          <p:cNvSpPr txBox="1"/>
          <p:nvPr/>
        </p:nvSpPr>
        <p:spPr>
          <a:xfrm>
            <a:off x="1344168" y="4242816"/>
            <a:ext cx="2167128" cy="36576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9.48, −33.38, 33.90</a:t>
            </a:r>
          </a:p>
        </p:txBody>
      </p:sp>
      <p:sp>
        <p:nvSpPr>
          <p:cNvPr id="23" name="TextBox 22"/>
          <p:cNvSpPr txBox="1"/>
          <p:nvPr/>
        </p:nvSpPr>
        <p:spPr>
          <a:xfrm>
            <a:off x="3511296" y="4242816"/>
            <a:ext cx="3401568" cy="365760"/>
          </a:xfrm>
          <a:prstGeom prst="rect">
            <a:avLst/>
          </a:prstGeom>
          <a:noFill/>
        </p:spPr>
        <p:txBody>
          <a:bodyPr wrap="square" anchor="t" lIns="0" rIns="0" tIns="0" bIns="0">
            <a:spAutoFit/>
          </a:bodyPr>
          <a:lstStyle/>
          <a:p>
            <a:pPr algn="l">
              <a:lnSpc>
                <a:spcPct val="100000"/>
              </a:lnSpc>
            </a:pPr>
            <a:r>
              <a:rPr sz="1100" b="0" i="0">
                <a:solidFill>
                  <a:srgbClr val="595959"/>
                </a:solidFill>
                <a:latin typeface="Calibri"/>
              </a:rPr>
              <a:t>biomimetic flexor 20 mm · bolt-pattern centroid</a:t>
            </a:r>
          </a:p>
        </p:txBody>
      </p:sp>
      <p:sp>
        <p:nvSpPr>
          <p:cNvPr id="24" name="TextBox 23"/>
          <p:cNvSpPr txBox="1"/>
          <p:nvPr/>
        </p:nvSpPr>
        <p:spPr>
          <a:xfrm>
            <a:off x="502920" y="4645152"/>
            <a:ext cx="841248"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Pbr</a:t>
            </a:r>
          </a:p>
        </p:txBody>
      </p:sp>
      <p:sp>
        <p:nvSpPr>
          <p:cNvPr id="25" name="TextBox 24"/>
          <p:cNvSpPr txBox="1"/>
          <p:nvPr/>
        </p:nvSpPr>
        <p:spPr>
          <a:xfrm>
            <a:off x="1344168" y="4645152"/>
            <a:ext cx="2167128" cy="365760"/>
          </a:xfrm>
          <a:prstGeom prst="rect">
            <a:avLst/>
          </a:prstGeom>
          <a:noFill/>
        </p:spPr>
        <p:txBody>
          <a:bodyPr wrap="square" anchor="t" lIns="0" rIns="0" tIns="0" bIns="0">
            <a:spAutoFit/>
          </a:bodyPr>
          <a:lstStyle/>
          <a:p>
            <a:pPr algn="l">
              <a:lnSpc>
                <a:spcPct val="100000"/>
              </a:lnSpc>
            </a:pPr>
            <a:r>
              <a:rPr sz="1200" b="0" i="0">
                <a:solidFill>
                  <a:srgbClr val="222222"/>
                </a:solidFill>
                <a:latin typeface="Calibri"/>
              </a:rPr>
              <a:t>−19.00, 22.00, 27.60</a:t>
            </a:r>
          </a:p>
        </p:txBody>
      </p:sp>
      <p:sp>
        <p:nvSpPr>
          <p:cNvPr id="26" name="TextBox 25"/>
          <p:cNvSpPr txBox="1"/>
          <p:nvPr/>
        </p:nvSpPr>
        <p:spPr>
          <a:xfrm>
            <a:off x="3511296" y="4645152"/>
            <a:ext cx="3401568" cy="365760"/>
          </a:xfrm>
          <a:prstGeom prst="rect">
            <a:avLst/>
          </a:prstGeom>
          <a:noFill/>
        </p:spPr>
        <p:txBody>
          <a:bodyPr wrap="square" anchor="t" lIns="0" rIns="0" tIns="0" bIns="0">
            <a:spAutoFit/>
          </a:bodyPr>
          <a:lstStyle/>
          <a:p>
            <a:pPr algn="l">
              <a:lnSpc>
                <a:spcPct val="100000"/>
              </a:lnSpc>
            </a:pPr>
            <a:r>
              <a:rPr sz="1100" b="0" i="0">
                <a:solidFill>
                  <a:srgbClr val="595959"/>
                </a:solidFill>
                <a:latin typeface="Calibri"/>
              </a:rPr>
              <a:t>biomimetic flexor 10 mm · cantilever centroid</a:t>
            </a:r>
          </a:p>
        </p:txBody>
      </p:sp>
      <p:sp>
        <p:nvSpPr>
          <p:cNvPr id="27" name="TextBox 26"/>
          <p:cNvSpPr txBox="1"/>
          <p:nvPr/>
        </p:nvSpPr>
        <p:spPr>
          <a:xfrm>
            <a:off x="7269480" y="1828800"/>
            <a:ext cx="4434840" cy="365760"/>
          </a:xfrm>
          <a:prstGeom prst="rect">
            <a:avLst/>
          </a:prstGeom>
          <a:noFill/>
        </p:spPr>
        <p:txBody>
          <a:bodyPr wrap="square" anchor="t" lIns="0" rIns="0" tIns="0" bIns="0">
            <a:spAutoFit/>
          </a:bodyPr>
          <a:lstStyle/>
          <a:p>
            <a:pPr algn="l">
              <a:lnSpc>
                <a:spcPct val="100000"/>
              </a:lnSpc>
            </a:pPr>
            <a:r>
              <a:rPr sz="1350" b="1" i="0">
                <a:solidFill>
                  <a:srgbClr val="00796B"/>
                </a:solidFill>
                <a:latin typeface="Calibri"/>
              </a:rPr>
              <a:t>Adopted correction terms</a:t>
            </a:r>
          </a:p>
        </p:txBody>
      </p:sp>
      <p:sp>
        <p:nvSpPr>
          <p:cNvPr id="28" name="TextBox 27"/>
          <p:cNvSpPr txBox="1"/>
          <p:nvPr/>
        </p:nvSpPr>
        <p:spPr>
          <a:xfrm>
            <a:off x="7269480" y="2212848"/>
            <a:ext cx="914400" cy="36576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
            </a:r>
          </a:p>
        </p:txBody>
      </p:sp>
      <p:sp>
        <p:nvSpPr>
          <p:cNvPr id="29" name="TextBox 28"/>
          <p:cNvSpPr txBox="1"/>
          <p:nvPr/>
        </p:nvSpPr>
        <p:spPr>
          <a:xfrm>
            <a:off x="8183879" y="2212848"/>
            <a:ext cx="82296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χ₀ (mm)</a:t>
            </a:r>
          </a:p>
        </p:txBody>
      </p:sp>
      <p:sp>
        <p:nvSpPr>
          <p:cNvPr id="30" name="TextBox 29"/>
          <p:cNvSpPr txBox="1"/>
          <p:nvPr/>
        </p:nvSpPr>
        <p:spPr>
          <a:xfrm>
            <a:off x="9006840" y="2212848"/>
            <a:ext cx="96012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χ₁ (N/m)</a:t>
            </a:r>
          </a:p>
        </p:txBody>
      </p:sp>
      <p:sp>
        <p:nvSpPr>
          <p:cNvPr id="31" name="TextBox 30"/>
          <p:cNvSpPr txBox="1"/>
          <p:nvPr/>
        </p:nvSpPr>
        <p:spPr>
          <a:xfrm>
            <a:off x="9966960" y="2212848"/>
            <a:ext cx="96012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χ₂ (N/m)</a:t>
            </a:r>
          </a:p>
        </p:txBody>
      </p:sp>
      <p:sp>
        <p:nvSpPr>
          <p:cNvPr id="32" name="TextBox 31"/>
          <p:cNvSpPr txBox="1"/>
          <p:nvPr/>
        </p:nvSpPr>
        <p:spPr>
          <a:xfrm>
            <a:off x="10927080" y="2212848"/>
            <a:ext cx="502920" cy="365760"/>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χ₃</a:t>
            </a:r>
          </a:p>
        </p:txBody>
      </p:sp>
      <p:sp>
        <p:nvSpPr>
          <p:cNvPr id="33" name="TextBox 32"/>
          <p:cNvSpPr txBox="1"/>
          <p:nvPr/>
        </p:nvSpPr>
        <p:spPr>
          <a:xfrm>
            <a:off x="7269480" y="2615184"/>
            <a:ext cx="914400"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Flexor</a:t>
            </a:r>
          </a:p>
        </p:txBody>
      </p:sp>
      <p:sp>
        <p:nvSpPr>
          <p:cNvPr id="34" name="TextBox 33"/>
          <p:cNvSpPr txBox="1"/>
          <p:nvPr/>
        </p:nvSpPr>
        <p:spPr>
          <a:xfrm>
            <a:off x="8183879" y="2615184"/>
            <a:ext cx="82296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+3.94</a:t>
            </a:r>
          </a:p>
        </p:txBody>
      </p:sp>
      <p:sp>
        <p:nvSpPr>
          <p:cNvPr id="35" name="TextBox 34"/>
          <p:cNvSpPr txBox="1"/>
          <p:nvPr/>
        </p:nvSpPr>
        <p:spPr>
          <a:xfrm>
            <a:off x="9006840" y="2615184"/>
            <a:ext cx="96012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3.998e4</a:t>
            </a:r>
          </a:p>
        </p:txBody>
      </p:sp>
      <p:sp>
        <p:nvSpPr>
          <p:cNvPr id="36" name="TextBox 35"/>
          <p:cNvSpPr txBox="1"/>
          <p:nvPr/>
        </p:nvSpPr>
        <p:spPr>
          <a:xfrm>
            <a:off x="9966960" y="2615184"/>
            <a:ext cx="96012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1.473e4</a:t>
            </a:r>
          </a:p>
        </p:txBody>
      </p:sp>
      <p:sp>
        <p:nvSpPr>
          <p:cNvPr id="37" name="TextBox 36"/>
          <p:cNvSpPr txBox="1"/>
          <p:nvPr/>
        </p:nvSpPr>
        <p:spPr>
          <a:xfrm>
            <a:off x="10927080" y="2615184"/>
            <a:ext cx="50292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a:t>
            </a:r>
          </a:p>
        </p:txBody>
      </p:sp>
      <p:sp>
        <p:nvSpPr>
          <p:cNvPr id="38" name="TextBox 37"/>
          <p:cNvSpPr txBox="1"/>
          <p:nvPr/>
        </p:nvSpPr>
        <p:spPr>
          <a:xfrm>
            <a:off x="7269480" y="3017520"/>
            <a:ext cx="914400" cy="365760"/>
          </a:xfrm>
          <a:prstGeom prst="rect">
            <a:avLst/>
          </a:prstGeom>
          <a:noFill/>
        </p:spPr>
        <p:txBody>
          <a:bodyPr wrap="square" anchor="t" lIns="0" rIns="0" tIns="0" bIns="0">
            <a:spAutoFit/>
          </a:bodyPr>
          <a:lstStyle/>
          <a:p>
            <a:pPr algn="l">
              <a:lnSpc>
                <a:spcPct val="100000"/>
              </a:lnSpc>
            </a:pPr>
            <a:r>
              <a:rPr sz="1200" b="1" i="0">
                <a:solidFill>
                  <a:srgbClr val="222222"/>
                </a:solidFill>
                <a:latin typeface="Calibri"/>
              </a:rPr>
              <a:t>Extensor</a:t>
            </a:r>
          </a:p>
        </p:txBody>
      </p:sp>
      <p:sp>
        <p:nvSpPr>
          <p:cNvPr id="39" name="TextBox 38"/>
          <p:cNvSpPr txBox="1"/>
          <p:nvPr/>
        </p:nvSpPr>
        <p:spPr>
          <a:xfrm>
            <a:off x="8183879" y="3017520"/>
            <a:ext cx="82296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−6.38</a:t>
            </a:r>
          </a:p>
        </p:txBody>
      </p:sp>
      <p:sp>
        <p:nvSpPr>
          <p:cNvPr id="40" name="TextBox 39"/>
          <p:cNvSpPr txBox="1"/>
          <p:nvPr/>
        </p:nvSpPr>
        <p:spPr>
          <a:xfrm>
            <a:off x="9006840" y="3017520"/>
            <a:ext cx="96012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locked</a:t>
            </a:r>
          </a:p>
        </p:txBody>
      </p:sp>
      <p:sp>
        <p:nvSpPr>
          <p:cNvPr id="41" name="TextBox 40"/>
          <p:cNvSpPr txBox="1"/>
          <p:nvPr/>
        </p:nvSpPr>
        <p:spPr>
          <a:xfrm>
            <a:off x="9966960" y="3017520"/>
            <a:ext cx="96012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locked</a:t>
            </a:r>
          </a:p>
        </p:txBody>
      </p:sp>
      <p:sp>
        <p:nvSpPr>
          <p:cNvPr id="42" name="TextBox 41"/>
          <p:cNvSpPr txBox="1"/>
          <p:nvPr/>
        </p:nvSpPr>
        <p:spPr>
          <a:xfrm>
            <a:off x="10927080" y="3017520"/>
            <a:ext cx="502920" cy="365760"/>
          </a:xfrm>
          <a:prstGeom prst="rect">
            <a:avLst/>
          </a:prstGeom>
          <a:noFill/>
        </p:spPr>
        <p:txBody>
          <a:bodyPr wrap="square" anchor="t" lIns="0" rIns="0" tIns="0" bIns="0">
            <a:spAutoFit/>
          </a:bodyPr>
          <a:lstStyle/>
          <a:p>
            <a:pPr algn="ctr">
              <a:lnSpc>
                <a:spcPct val="100000"/>
              </a:lnSpc>
            </a:pPr>
            <a:r>
              <a:rPr sz="1200" b="0" i="0">
                <a:solidFill>
                  <a:srgbClr val="222222"/>
                </a:solidFill>
                <a:latin typeface="Calibri"/>
              </a:rPr>
              <a:t>0.158</a:t>
            </a:r>
          </a:p>
        </p:txBody>
      </p:sp>
      <p:sp>
        <p:nvSpPr>
          <p:cNvPr id="43" name="TextBox 42"/>
          <p:cNvSpPr txBox="1"/>
          <p:nvPr/>
        </p:nvSpPr>
        <p:spPr>
          <a:xfrm>
            <a:off x="7269480" y="3611880"/>
            <a:ext cx="4434840" cy="1097280"/>
          </a:xfrm>
          <a:prstGeom prst="rect">
            <a:avLst/>
          </a:prstGeom>
          <a:noFill/>
        </p:spPr>
        <p:txBody>
          <a:bodyPr wrap="square" anchor="t" lIns="0" rIns="0" tIns="0" bIns="0">
            <a:spAutoFit/>
          </a:bodyPr>
          <a:lstStyle/>
          <a:p>
            <a:pPr algn="l">
              <a:lnSpc>
                <a:spcPct val="110000"/>
              </a:lnSpc>
            </a:pPr>
            <a:r>
              <a:rPr sz="1150" b="0" i="0">
                <a:solidFill>
                  <a:srgbClr val="595959"/>
                </a:solidFill>
                <a:latin typeface="Calibri"/>
              </a:rPr>
              <a:t>extensor refit locks (χ₁, χ₂) to the flexor pair and solves only (χ₀, χ₃); one stiffness pair across all configurations</a:t>
            </a:r>
          </a:p>
        </p:txBody>
      </p:sp>
      <p:sp>
        <p:nvSpPr>
          <p:cNvPr id="44" name="Rounded Rectangle 43"/>
          <p:cNvSpPr/>
          <p:nvPr/>
        </p:nvSpPr>
        <p:spPr>
          <a:xfrm>
            <a:off x="502920" y="5074920"/>
            <a:ext cx="11155680" cy="105156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230368"/>
            <a:ext cx="10607040" cy="868680"/>
          </a:xfrm>
          <a:prstGeom prst="rect">
            <a:avLst/>
          </a:prstGeom>
          <a:noFill/>
        </p:spPr>
        <p:txBody>
          <a:bodyPr wrap="square" anchor="t" lIns="0" rIns="0" tIns="0" bIns="0">
            <a:spAutoFit/>
          </a:bodyPr>
          <a:lstStyle/>
          <a:p>
            <a:pPr algn="l">
              <a:lnSpc>
                <a:spcPct val="105000"/>
              </a:lnSpc>
              <a:spcAft>
                <a:spcPts val="300"/>
              </a:spcAft>
            </a:pPr>
            <a:r>
              <a:rPr sz="1400" b="0" i="0">
                <a:solidFill>
                  <a:srgbClr val="222222"/>
                </a:solidFill>
                <a:latin typeface="Calibri"/>
              </a:rPr>
              <a:t>Moving a reference point changes the identified stiffness; App. C records each point alongside the values it produced.</a:t>
            </a:r>
          </a:p>
          <a:p>
            <a:pPr algn="l">
              <a:lnSpc>
                <a:spcPct val="105000"/>
              </a:lnSpc>
            </a:pPr>
            <a:r>
              <a:rPr sz="1250" b="0" i="0">
                <a:solidFill>
                  <a:srgbClr val="595959"/>
                </a:solidFill>
                <a:latin typeface="Calibri"/>
              </a:rPr>
              <a:t>Adoption provenance: flexor pooled-front row 77 (212 members) · extensor locked refit row 32 (only χ₀, χ₃ searched).</a:t>
            </a:r>
          </a:p>
        </p:txBody>
      </p:sp>
      <p:sp>
        <p:nvSpPr>
          <p:cNvPr id="46" name="TextBox 45"/>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I · KINEMATICS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Moment arm and torque conventions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4 Eqs. (4.1)–(4.2); implementation: App. A §A.4 (MonoPamDataExplicit.m lines 156–168, 308); human targets: App. A §A.1</a:t>
            </a:r>
          </a:p>
        </p:txBody>
      </p:sp>
      <p:sp>
        <p:nvSpPr>
          <p:cNvPr id="5" name="Rounded Rectangle 4"/>
          <p:cNvSpPr/>
          <p:nvPr/>
        </p:nvSpPr>
        <p:spPr>
          <a:xfrm>
            <a:off x="502920" y="1783080"/>
            <a:ext cx="11155680" cy="141732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orque.png"/>
          <p:cNvPicPr>
            <a:picLocks noChangeAspect="1"/>
          </p:cNvPicPr>
          <p:nvPr/>
        </p:nvPicPr>
        <p:blipFill>
          <a:blip r:embed="rId3"/>
          <a:stretch>
            <a:fillRect/>
          </a:stretch>
        </p:blipFill>
        <p:spPr>
          <a:xfrm>
            <a:off x="1463040" y="2212848"/>
            <a:ext cx="6671782" cy="548640"/>
          </a:xfrm>
          <a:prstGeom prst="rect">
            <a:avLst/>
          </a:prstGeom>
        </p:spPr>
      </p:pic>
      <p:sp>
        <p:nvSpPr>
          <p:cNvPr id="7" name="Rounded Rectangle 6"/>
          <p:cNvSpPr/>
          <p:nvPr/>
        </p:nvSpPr>
        <p:spPr>
          <a:xfrm>
            <a:off x="502920" y="3401568"/>
            <a:ext cx="11155680" cy="251460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611880"/>
            <a:ext cx="10607040" cy="2194560"/>
          </a:xfrm>
          <a:prstGeom prst="rect">
            <a:avLst/>
          </a:prstGeom>
          <a:noFill/>
        </p:spPr>
        <p:txBody>
          <a:bodyPr wrap="square" anchor="t" lIns="0" rIns="0" tIns="0" bIns="0">
            <a:spAutoFit/>
          </a:bodyPr>
          <a:lstStyle/>
          <a:p>
            <a:pPr algn="l">
              <a:lnSpc>
                <a:spcPct val="100000"/>
              </a:lnSpc>
              <a:spcAft>
                <a:spcPts val="500"/>
              </a:spcAft>
            </a:pPr>
            <a:r>
              <a:rPr sz="1150" b="1" i="0">
                <a:solidFill>
                  <a:srgbClr val="00796B"/>
                </a:solidFill>
                <a:latin typeface="Calibri"/>
              </a:rPr>
              <a:t>CONVENTIONS</a:t>
            </a:r>
          </a:p>
          <a:p>
            <a:pPr algn="l">
              <a:lnSpc>
                <a:spcPct val="112000"/>
              </a:lnSpc>
              <a:spcAft>
                <a:spcPts val="500"/>
              </a:spcAft>
            </a:pPr>
            <a:r>
              <a:rPr sz="1400" b="0" i="0">
                <a:solidFill>
                  <a:srgbClr val="222222"/>
                </a:solidFill>
                <a:latin typeface="Calibri"/>
              </a:rPr>
              <a:t>r = perpendicular foot of the joint origin onto the line of action; identical result to the cross-product projection of Eq. (4.2)</a:t>
            </a:r>
          </a:p>
          <a:p>
            <a:pPr algn="l">
              <a:lnSpc>
                <a:spcPct val="112000"/>
              </a:lnSpc>
              <a:spcAft>
                <a:spcPts val="500"/>
              </a:spcAft>
            </a:pPr>
            <a:r>
              <a:rPr sz="1400" b="0" i="0">
                <a:solidFill>
                  <a:srgbClr val="222222"/>
                </a:solidFill>
                <a:latin typeface="Calibri"/>
              </a:rPr>
              <a:t>scalar moment arm rₖ = hypot(in-plane components) in the tibial body frame, about the knee z-axis</a:t>
            </a:r>
          </a:p>
          <a:p>
            <a:pPr algn="l">
              <a:lnSpc>
                <a:spcPct val="112000"/>
              </a:lnSpc>
              <a:spcAft>
                <a:spcPts val="500"/>
              </a:spcAft>
            </a:pPr>
            <a:r>
              <a:rPr sz="1400" b="0" i="0">
                <a:solidFill>
                  <a:srgbClr val="222222"/>
                </a:solidFill>
                <a:latin typeface="Calibri"/>
              </a:rPr>
              <a:t>torque evaluated only in tension (entries discarded for ε &lt; −0.02, the excessive-stretch region)</a:t>
            </a:r>
          </a:p>
          <a:p>
            <a:pPr algn="l">
              <a:lnSpc>
                <a:spcPct val="110000"/>
              </a:lnSpc>
            </a:pPr>
            <a:r>
              <a:rPr sz="1250" b="0" i="0">
                <a:solidFill>
                  <a:srgbClr val="595959"/>
                </a:solidFill>
                <a:latin typeface="Calibri"/>
              </a:rPr>
              <a:t>human targets: OpenSim derivative arms r(θₖ) = ∂l_MT/∂θₖ across the RoM, multiplied by maximum isometric force</a:t>
            </a:r>
          </a:p>
        </p:txBody>
      </p:sp>
      <p:sp>
        <p:nvSpPr>
          <p:cNvPr id="9" name="TextBox 8"/>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J · IMPLEMENTATION</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Synthetic nervous system: Simulink library and spiking twin</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6 §6.2 (Figs. 6.5 and 6.11); spiking-twin numbers: Ch. 6 Table 6.4; neuron and synapse equations: App. B §§B.1–B.4</a:t>
            </a:r>
          </a:p>
        </p:txBody>
      </p:sp>
      <p:pic>
        <p:nvPicPr>
          <p:cNvPr id="5" name="Picture 4" descr="c_simulink_sns_library_grid.png"/>
          <p:cNvPicPr>
            <a:picLocks noChangeAspect="1"/>
          </p:cNvPicPr>
          <p:nvPr/>
        </p:nvPicPr>
        <p:blipFill>
          <a:blip r:embed="rId3"/>
          <a:stretch>
            <a:fillRect/>
          </a:stretch>
        </p:blipFill>
        <p:spPr>
          <a:xfrm>
            <a:off x="964032" y="1645920"/>
            <a:ext cx="4655614" cy="3154680"/>
          </a:xfrm>
          <a:prstGeom prst="rect">
            <a:avLst/>
          </a:prstGeom>
        </p:spPr>
      </p:pic>
      <p:sp>
        <p:nvSpPr>
          <p:cNvPr id="6" name="TextBox 5"/>
          <p:cNvSpPr txBox="1"/>
          <p:nvPr/>
        </p:nvSpPr>
        <p:spPr>
          <a:xfrm>
            <a:off x="548640" y="4846320"/>
            <a:ext cx="5486400" cy="502920"/>
          </a:xfrm>
          <a:prstGeom prst="rect">
            <a:avLst/>
          </a:prstGeom>
          <a:noFill/>
        </p:spPr>
        <p:txBody>
          <a:bodyPr wrap="square" anchor="t" lIns="0" rIns="0" tIns="0" bIns="0">
            <a:spAutoFit/>
          </a:bodyPr>
          <a:lstStyle/>
          <a:p>
            <a:pPr algn="ctr">
              <a:lnSpc>
                <a:spcPct val="100000"/>
              </a:lnSpc>
            </a:pPr>
            <a:r>
              <a:rPr sz="1100" b="0" i="1">
                <a:solidFill>
                  <a:srgbClr val="7F7F7F"/>
                </a:solidFill>
                <a:latin typeface="Calibri"/>
              </a:rPr>
              <a:t>seven core masked blocks (library grows to 12, then 15 with the spiking additions); runs in base Simulink</a:t>
            </a:r>
          </a:p>
        </p:txBody>
      </p:sp>
      <p:pic>
        <p:nvPicPr>
          <p:cNvPr id="7" name="Picture 6" descr="c_simulink_knee_spiking_twin.png"/>
          <p:cNvPicPr>
            <a:picLocks noChangeAspect="1"/>
          </p:cNvPicPr>
          <p:nvPr/>
        </p:nvPicPr>
        <p:blipFill>
          <a:blip r:embed="rId4"/>
          <a:stretch>
            <a:fillRect/>
          </a:stretch>
        </p:blipFill>
        <p:spPr>
          <a:xfrm>
            <a:off x="6708970" y="1645920"/>
            <a:ext cx="4550019" cy="3154680"/>
          </a:xfrm>
          <a:prstGeom prst="rect">
            <a:avLst/>
          </a:prstGeom>
        </p:spPr>
      </p:pic>
      <p:sp>
        <p:nvSpPr>
          <p:cNvPr id="8" name="TextBox 7"/>
          <p:cNvSpPr txBox="1"/>
          <p:nvPr/>
        </p:nvSpPr>
        <p:spPr>
          <a:xfrm>
            <a:off x="6309360" y="4846320"/>
            <a:ext cx="5349240" cy="502920"/>
          </a:xfrm>
          <a:prstGeom prst="rect">
            <a:avLst/>
          </a:prstGeom>
          <a:noFill/>
        </p:spPr>
        <p:txBody>
          <a:bodyPr wrap="square" anchor="t" lIns="0" rIns="0" tIns="0" bIns="0">
            <a:spAutoFit/>
          </a:bodyPr>
          <a:lstStyle/>
          <a:p>
            <a:pPr algn="ctr">
              <a:lnSpc>
                <a:spcPct val="100000"/>
              </a:lnSpc>
            </a:pPr>
            <a:r>
              <a:rPr sz="1100" b="0" i="1">
                <a:solidFill>
                  <a:srgbClr val="7F7F7F"/>
                </a:solidFill>
                <a:latin typeface="Calibri"/>
              </a:rPr>
              <a:t>knee-reflex spiking twin at the matched operating point: transient identical (15.79° at 0.05 s), settle +0.9°</a:t>
            </a:r>
          </a:p>
        </p:txBody>
      </p:sp>
      <p:sp>
        <p:nvSpPr>
          <p:cNvPr id="9" name="Rounded Rectangle 8"/>
          <p:cNvSpPr/>
          <p:nvPr/>
        </p:nvSpPr>
        <p:spPr>
          <a:xfrm>
            <a:off x="548640" y="5394960"/>
            <a:ext cx="5486400" cy="9144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522976"/>
            <a:ext cx="5029200" cy="731520"/>
          </a:xfrm>
          <a:prstGeom prst="rect">
            <a:avLst/>
          </a:prstGeom>
          <a:noFill/>
        </p:spPr>
        <p:txBody>
          <a:bodyPr wrap="square" anchor="t" lIns="0" rIns="0" tIns="0" bIns="0">
            <a:spAutoFit/>
          </a:bodyPr>
          <a:lstStyle/>
          <a:p>
            <a:pPr algn="l">
              <a:lnSpc>
                <a:spcPct val="100000"/>
              </a:lnSpc>
              <a:spcAft>
                <a:spcPts val="300"/>
              </a:spcAft>
            </a:pPr>
            <a:r>
              <a:rPr sz="1050" b="1" i="0">
                <a:solidFill>
                  <a:srgbClr val="00796B"/>
                </a:solidFill>
                <a:latin typeface="Calibri"/>
              </a:rPr>
              <a:t>CAD COUPLING (CH. 6 §6.2)</a:t>
            </a:r>
          </a:p>
          <a:p>
            <a:pPr algn="l">
              <a:lnSpc>
                <a:spcPct val="105000"/>
              </a:lnSpc>
            </a:pPr>
            <a:r>
              <a:rPr sz="1200" b="0" i="0">
                <a:solidFill>
                  <a:srgbClr val="222222"/>
                </a:solidFill>
                <a:latin typeface="Calibri"/>
              </a:rPr>
              <a:t>SolidWorks → URDF → Simscape Multibody import verified on a trial knee assembly; tendon hardware modeled in CAD, not yet inserted.</a:t>
            </a:r>
          </a:p>
        </p:txBody>
      </p:sp>
      <p:sp>
        <p:nvSpPr>
          <p:cNvPr id="11" name="Rounded Rectangle 10"/>
          <p:cNvSpPr/>
          <p:nvPr/>
        </p:nvSpPr>
        <p:spPr>
          <a:xfrm>
            <a:off x="6309360" y="5394960"/>
            <a:ext cx="5349240" cy="914400"/>
          </a:xfrm>
          <a:prstGeom prst="roundRect">
            <a:avLst>
              <a:gd name="adj" fmla="val 8000"/>
            </a:avLst>
          </a:prstGeom>
          <a:solidFill>
            <a:srgbClr val="F5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5522976"/>
            <a:ext cx="4892040" cy="731520"/>
          </a:xfrm>
          <a:prstGeom prst="rect">
            <a:avLst/>
          </a:prstGeom>
          <a:noFill/>
        </p:spPr>
        <p:txBody>
          <a:bodyPr wrap="square" anchor="t" lIns="0" rIns="0" tIns="0" bIns="0">
            <a:spAutoFit/>
          </a:bodyPr>
          <a:lstStyle/>
          <a:p>
            <a:pPr algn="l">
              <a:lnSpc>
                <a:spcPct val="100000"/>
              </a:lnSpc>
              <a:spcAft>
                <a:spcPts val="300"/>
              </a:spcAft>
            </a:pPr>
            <a:r>
              <a:rPr sz="1050" b="1" i="0">
                <a:solidFill>
                  <a:srgbClr val="00796B"/>
                </a:solidFill>
                <a:latin typeface="Calibri"/>
              </a:rPr>
              <a:t>SPIKING BLOCK VERIFICATION (CH. 6 §6.4)</a:t>
            </a:r>
          </a:p>
          <a:p>
            <a:pPr algn="l">
              <a:lnSpc>
                <a:spcPct val="105000"/>
              </a:lnSpc>
            </a:pPr>
            <a:r>
              <a:rPr sz="1200" b="0" i="0">
                <a:solidFill>
                  <a:srgbClr val="222222"/>
                </a:solidFill>
                <a:latin typeface="Calibri"/>
              </a:rPr>
              <a:t>single-spike conductance to 6.2×10⁻⁷ µS · 62/62 spikes vs the toolbox equations · committed regression exact (6.07×10⁻⁴ mV).</a:t>
            </a:r>
          </a:p>
        </p:txBody>
      </p:sp>
      <p:sp>
        <p:nvSpPr>
          <p:cNvPr id="13" name="TextBox 12"/>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274320"/>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APPENDIX K · WALKER NUMBERS</a:t>
            </a:r>
          </a:p>
        </p:txBody>
      </p:sp>
      <p:sp>
        <p:nvSpPr>
          <p:cNvPr id="3" name="TextBox 2"/>
          <p:cNvSpPr txBox="1"/>
          <p:nvPr/>
        </p:nvSpPr>
        <p:spPr>
          <a:xfrm>
            <a:off x="502920" y="548640"/>
            <a:ext cx="11201400" cy="1143000"/>
          </a:xfrm>
          <a:prstGeom prst="rect">
            <a:avLst/>
          </a:prstGeom>
          <a:noFill/>
        </p:spPr>
        <p:txBody>
          <a:bodyPr wrap="square" anchor="t" lIns="0" rIns="0" tIns="0" bIns="0">
            <a:spAutoFit/>
          </a:bodyPr>
          <a:lstStyle/>
          <a:p>
            <a:pPr algn="l">
              <a:lnSpc>
                <a:spcPct val="98000"/>
              </a:lnSpc>
            </a:pPr>
            <a:r>
              <a:rPr sz="2600" b="1" i="0">
                <a:solidFill>
                  <a:srgbClr val="AF7B51"/>
                </a:solidFill>
                <a:latin typeface="Calibri"/>
              </a:rPr>
              <a:t>Walker configurations of record: scores, library sweep, and pathway deletions</a:t>
            </a:r>
          </a:p>
        </p:txBody>
      </p:sp>
      <p:sp>
        <p:nvSpPr>
          <p:cNvPr id="4" name="TextBox 3"/>
          <p:cNvSpPr txBox="1"/>
          <p:nvPr/>
        </p:nvSpPr>
        <p:spPr>
          <a:xfrm>
            <a:off x="502920" y="6473952"/>
            <a:ext cx="10424160" cy="292608"/>
          </a:xfrm>
          <a:prstGeom prst="rect">
            <a:avLst/>
          </a:prstGeom>
          <a:noFill/>
        </p:spPr>
        <p:txBody>
          <a:bodyPr wrap="square" anchor="t" lIns="0" rIns="0" tIns="0" bIns="0">
            <a:spAutoFit/>
          </a:bodyPr>
          <a:lstStyle/>
          <a:p>
            <a:pPr algn="l">
              <a:lnSpc>
                <a:spcPct val="100000"/>
              </a:lnSpc>
            </a:pPr>
            <a:r>
              <a:rPr sz="1000" b="0" i="1">
                <a:solidFill>
                  <a:srgbClr val="7F7F7F"/>
                </a:solidFill>
                <a:latin typeface="Calibri"/>
              </a:rPr>
              <a:t>Ch. 6 Table 6.1 (gait sweep) and Table 6.2 (pathway removal); drive perturbations: Ch. 6 §6.3</a:t>
            </a:r>
          </a:p>
        </p:txBody>
      </p:sp>
      <p:sp>
        <p:nvSpPr>
          <p:cNvPr id="5" name="TextBox 4"/>
          <p:cNvSpPr txBox="1"/>
          <p:nvPr/>
        </p:nvSpPr>
        <p:spPr>
          <a:xfrm>
            <a:off x="502920" y="1828800"/>
            <a:ext cx="5394960" cy="365760"/>
          </a:xfrm>
          <a:prstGeom prst="rect">
            <a:avLst/>
          </a:prstGeom>
          <a:noFill/>
        </p:spPr>
        <p:txBody>
          <a:bodyPr wrap="square" anchor="t" lIns="0" rIns="0" tIns="0" bIns="0">
            <a:spAutoFit/>
          </a:bodyPr>
          <a:lstStyle/>
          <a:p>
            <a:pPr algn="l">
              <a:lnSpc>
                <a:spcPct val="100000"/>
              </a:lnSpc>
            </a:pPr>
            <a:r>
              <a:rPr sz="1300" b="1" i="0">
                <a:solidFill>
                  <a:srgbClr val="00796B"/>
                </a:solidFill>
                <a:latin typeface="Calibri"/>
              </a:rPr>
              <a:t>Gait-validation sweep (43-reference library)</a:t>
            </a:r>
          </a:p>
        </p:txBody>
      </p:sp>
      <p:sp>
        <p:nvSpPr>
          <p:cNvPr id="6" name="TextBox 5"/>
          <p:cNvSpPr txBox="1"/>
          <p:nvPr/>
        </p:nvSpPr>
        <p:spPr>
          <a:xfrm>
            <a:off x="502920" y="2212848"/>
            <a:ext cx="1463040" cy="365760"/>
          </a:xfrm>
          <a:prstGeom prst="rect">
            <a:avLst/>
          </a:prstGeom>
          <a:noFill/>
        </p:spPr>
        <p:txBody>
          <a:bodyPr wrap="square" anchor="t" lIns="0" rIns="0" tIns="0" bIns="0">
            <a:spAutoFit/>
          </a:bodyPr>
          <a:lstStyle/>
          <a:p>
            <a:pPr algn="l">
              <a:lnSpc>
                <a:spcPct val="100000"/>
              </a:lnSpc>
            </a:pPr>
            <a:r>
              <a:rPr sz="1250" b="1" i="0">
                <a:solidFill>
                  <a:srgbClr val="00796B"/>
                </a:solidFill>
                <a:latin typeface="Calibri"/>
              </a:rPr>
              <a:t>config</a:t>
            </a:r>
          </a:p>
        </p:txBody>
      </p:sp>
      <p:sp>
        <p:nvSpPr>
          <p:cNvPr id="7" name="TextBox 6"/>
          <p:cNvSpPr txBox="1"/>
          <p:nvPr/>
        </p:nvSpPr>
        <p:spPr>
          <a:xfrm>
            <a:off x="1965960" y="2212848"/>
            <a:ext cx="1371600" cy="365760"/>
          </a:xfrm>
          <a:prstGeom prst="rect">
            <a:avLst/>
          </a:prstGeom>
          <a:noFill/>
        </p:spPr>
        <p:txBody>
          <a:bodyPr wrap="square" anchor="t" lIns="0" rIns="0" tIns="0" bIns="0">
            <a:spAutoFit/>
          </a:bodyPr>
          <a:lstStyle/>
          <a:p>
            <a:pPr algn="ctr">
              <a:lnSpc>
                <a:spcPct val="100000"/>
              </a:lnSpc>
            </a:pPr>
            <a:r>
              <a:rPr sz="1250" b="1" i="0">
                <a:solidFill>
                  <a:srgbClr val="00796B"/>
                </a:solidFill>
                <a:latin typeface="Calibri"/>
              </a:rPr>
              <a:t>tuning-ref</a:t>
            </a:r>
          </a:p>
        </p:txBody>
      </p:sp>
      <p:sp>
        <p:nvSpPr>
          <p:cNvPr id="8" name="TextBox 7"/>
          <p:cNvSpPr txBox="1"/>
          <p:nvPr/>
        </p:nvSpPr>
        <p:spPr>
          <a:xfrm>
            <a:off x="3337560" y="2212848"/>
            <a:ext cx="1554480" cy="365760"/>
          </a:xfrm>
          <a:prstGeom prst="rect">
            <a:avLst/>
          </a:prstGeom>
          <a:noFill/>
        </p:spPr>
        <p:txBody>
          <a:bodyPr wrap="square" anchor="t" lIns="0" rIns="0" tIns="0" bIns="0">
            <a:spAutoFit/>
          </a:bodyPr>
          <a:lstStyle/>
          <a:p>
            <a:pPr algn="ctr">
              <a:lnSpc>
                <a:spcPct val="100000"/>
              </a:lnSpc>
            </a:pPr>
            <a:r>
              <a:rPr sz="1250" b="1" i="0">
                <a:solidFill>
                  <a:srgbClr val="00796B"/>
                </a:solidFill>
                <a:latin typeface="Calibri"/>
              </a:rPr>
              <a:t>library mean</a:t>
            </a:r>
          </a:p>
        </p:txBody>
      </p:sp>
      <p:sp>
        <p:nvSpPr>
          <p:cNvPr id="9" name="TextBox 8"/>
          <p:cNvSpPr txBox="1"/>
          <p:nvPr/>
        </p:nvSpPr>
        <p:spPr>
          <a:xfrm>
            <a:off x="502920" y="2633472"/>
            <a:ext cx="1463040" cy="365760"/>
          </a:xfrm>
          <a:prstGeom prst="rect">
            <a:avLst/>
          </a:prstGeom>
          <a:noFill/>
        </p:spPr>
        <p:txBody>
          <a:bodyPr wrap="square" anchor="t" lIns="0" rIns="0" tIns="0" bIns="0">
            <a:spAutoFit/>
          </a:bodyPr>
          <a:lstStyle/>
          <a:p>
            <a:pPr algn="l">
              <a:lnSpc>
                <a:spcPct val="100000"/>
              </a:lnSpc>
            </a:pPr>
            <a:r>
              <a:rPr sz="1250" b="1" i="0">
                <a:solidFill>
                  <a:srgbClr val="222222"/>
                </a:solidFill>
                <a:latin typeface="Calibri"/>
              </a:rPr>
              <a:t>s3k</a:t>
            </a:r>
          </a:p>
        </p:txBody>
      </p:sp>
      <p:sp>
        <p:nvSpPr>
          <p:cNvPr id="10" name="TextBox 9"/>
          <p:cNvSpPr txBox="1"/>
          <p:nvPr/>
        </p:nvSpPr>
        <p:spPr>
          <a:xfrm>
            <a:off x="1965960" y="2633472"/>
            <a:ext cx="137160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−186.4</a:t>
            </a:r>
          </a:p>
        </p:txBody>
      </p:sp>
      <p:sp>
        <p:nvSpPr>
          <p:cNvPr id="11" name="TextBox 10"/>
          <p:cNvSpPr txBox="1"/>
          <p:nvPr/>
        </p:nvSpPr>
        <p:spPr>
          <a:xfrm>
            <a:off x="3337560" y="2633472"/>
            <a:ext cx="155448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−8776</a:t>
            </a:r>
          </a:p>
        </p:txBody>
      </p:sp>
      <p:sp>
        <p:nvSpPr>
          <p:cNvPr id="12" name="TextBox 11"/>
          <p:cNvSpPr txBox="1"/>
          <p:nvPr/>
        </p:nvSpPr>
        <p:spPr>
          <a:xfrm>
            <a:off x="502920" y="3054096"/>
            <a:ext cx="1463040" cy="365760"/>
          </a:xfrm>
          <a:prstGeom prst="rect">
            <a:avLst/>
          </a:prstGeom>
          <a:noFill/>
        </p:spPr>
        <p:txBody>
          <a:bodyPr wrap="square" anchor="t" lIns="0" rIns="0" tIns="0" bIns="0">
            <a:spAutoFit/>
          </a:bodyPr>
          <a:lstStyle/>
          <a:p>
            <a:pPr algn="l">
              <a:lnSpc>
                <a:spcPct val="100000"/>
              </a:lnSpc>
            </a:pPr>
            <a:r>
              <a:rPr sz="1250" b="1" i="0">
                <a:solidFill>
                  <a:srgbClr val="222222"/>
                </a:solidFill>
                <a:latin typeface="Calibri"/>
              </a:rPr>
              <a:t>s3kpruned</a:t>
            </a:r>
          </a:p>
        </p:txBody>
      </p:sp>
      <p:sp>
        <p:nvSpPr>
          <p:cNvPr id="13" name="TextBox 12"/>
          <p:cNvSpPr txBox="1"/>
          <p:nvPr/>
        </p:nvSpPr>
        <p:spPr>
          <a:xfrm>
            <a:off x="1965960" y="3054096"/>
            <a:ext cx="137160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−176.1</a:t>
            </a:r>
          </a:p>
        </p:txBody>
      </p:sp>
      <p:sp>
        <p:nvSpPr>
          <p:cNvPr id="14" name="TextBox 13"/>
          <p:cNvSpPr txBox="1"/>
          <p:nvPr/>
        </p:nvSpPr>
        <p:spPr>
          <a:xfrm>
            <a:off x="3337560" y="3054096"/>
            <a:ext cx="155448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−6924</a:t>
            </a:r>
          </a:p>
        </p:txBody>
      </p:sp>
      <p:sp>
        <p:nvSpPr>
          <p:cNvPr id="15" name="TextBox 14"/>
          <p:cNvSpPr txBox="1"/>
          <p:nvPr/>
        </p:nvSpPr>
        <p:spPr>
          <a:xfrm>
            <a:off x="502920" y="3474720"/>
            <a:ext cx="1463040" cy="365760"/>
          </a:xfrm>
          <a:prstGeom prst="rect">
            <a:avLst/>
          </a:prstGeom>
          <a:noFill/>
        </p:spPr>
        <p:txBody>
          <a:bodyPr wrap="square" anchor="t" lIns="0" rIns="0" tIns="0" bIns="0">
            <a:spAutoFit/>
          </a:bodyPr>
          <a:lstStyle/>
          <a:p>
            <a:pPr algn="l">
              <a:lnSpc>
                <a:spcPct val="100000"/>
              </a:lnSpc>
            </a:pPr>
            <a:r>
              <a:rPr sz="1250" b="1" i="0">
                <a:solidFill>
                  <a:srgbClr val="222222"/>
                </a:solidFill>
                <a:latin typeface="Calibri"/>
              </a:rPr>
              <a:t>syn6</a:t>
            </a:r>
          </a:p>
        </p:txBody>
      </p:sp>
      <p:sp>
        <p:nvSpPr>
          <p:cNvPr id="16" name="TextBox 15"/>
          <p:cNvSpPr txBox="1"/>
          <p:nvPr/>
        </p:nvSpPr>
        <p:spPr>
          <a:xfrm>
            <a:off x="1965960" y="3474720"/>
            <a:ext cx="137160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−200.4</a:t>
            </a:r>
          </a:p>
        </p:txBody>
      </p:sp>
      <p:sp>
        <p:nvSpPr>
          <p:cNvPr id="17" name="TextBox 16"/>
          <p:cNvSpPr txBox="1"/>
          <p:nvPr/>
        </p:nvSpPr>
        <p:spPr>
          <a:xfrm>
            <a:off x="3337560" y="3474720"/>
            <a:ext cx="155448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−9961</a:t>
            </a:r>
          </a:p>
        </p:txBody>
      </p:sp>
      <p:sp>
        <p:nvSpPr>
          <p:cNvPr id="18" name="TextBox 17"/>
          <p:cNvSpPr txBox="1"/>
          <p:nvPr/>
        </p:nvSpPr>
        <p:spPr>
          <a:xfrm>
            <a:off x="502920" y="3895344"/>
            <a:ext cx="1463040" cy="365760"/>
          </a:xfrm>
          <a:prstGeom prst="rect">
            <a:avLst/>
          </a:prstGeom>
          <a:noFill/>
        </p:spPr>
        <p:txBody>
          <a:bodyPr wrap="square" anchor="t" lIns="0" rIns="0" tIns="0" bIns="0">
            <a:spAutoFit/>
          </a:bodyPr>
          <a:lstStyle/>
          <a:p>
            <a:pPr algn="l">
              <a:lnSpc>
                <a:spcPct val="100000"/>
              </a:lnSpc>
            </a:pPr>
            <a:r>
              <a:rPr sz="1250" b="1" i="0">
                <a:solidFill>
                  <a:srgbClr val="222222"/>
                </a:solidFill>
                <a:latin typeface="Calibri"/>
              </a:rPr>
              <a:t>w2lvar</a:t>
            </a:r>
          </a:p>
        </p:txBody>
      </p:sp>
      <p:sp>
        <p:nvSpPr>
          <p:cNvPr id="19" name="TextBox 18"/>
          <p:cNvSpPr txBox="1"/>
          <p:nvPr/>
        </p:nvSpPr>
        <p:spPr>
          <a:xfrm>
            <a:off x="1965960" y="3895344"/>
            <a:ext cx="137160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−144.5</a:t>
            </a:r>
          </a:p>
        </p:txBody>
      </p:sp>
      <p:sp>
        <p:nvSpPr>
          <p:cNvPr id="20" name="TextBox 19"/>
          <p:cNvSpPr txBox="1"/>
          <p:nvPr/>
        </p:nvSpPr>
        <p:spPr>
          <a:xfrm>
            <a:off x="3337560" y="3895344"/>
            <a:ext cx="1554480" cy="365760"/>
          </a:xfrm>
          <a:prstGeom prst="rect">
            <a:avLst/>
          </a:prstGeom>
          <a:noFill/>
        </p:spPr>
        <p:txBody>
          <a:bodyPr wrap="square" anchor="t" lIns="0" rIns="0" tIns="0" bIns="0">
            <a:spAutoFit/>
          </a:bodyPr>
          <a:lstStyle/>
          <a:p>
            <a:pPr algn="ctr">
              <a:lnSpc>
                <a:spcPct val="100000"/>
              </a:lnSpc>
            </a:pPr>
            <a:r>
              <a:rPr sz="1250" b="0" i="0">
                <a:solidFill>
                  <a:srgbClr val="222222"/>
                </a:solidFill>
                <a:latin typeface="Calibri"/>
              </a:rPr>
              <a:t>−5808</a:t>
            </a:r>
          </a:p>
        </p:txBody>
      </p:sp>
      <p:sp>
        <p:nvSpPr>
          <p:cNvPr id="21" name="TextBox 20"/>
          <p:cNvSpPr txBox="1"/>
          <p:nvPr/>
        </p:nvSpPr>
        <p:spPr>
          <a:xfrm>
            <a:off x="502920" y="4343400"/>
            <a:ext cx="5394960" cy="914400"/>
          </a:xfrm>
          <a:prstGeom prst="rect">
            <a:avLst/>
          </a:prstGeom>
          <a:noFill/>
        </p:spPr>
        <p:txBody>
          <a:bodyPr wrap="square" anchor="t" lIns="0" rIns="0" tIns="0" bIns="0">
            <a:spAutoFit/>
          </a:bodyPr>
          <a:lstStyle/>
          <a:p>
            <a:pPr algn="l">
              <a:lnSpc>
                <a:spcPct val="110000"/>
              </a:lnSpc>
            </a:pPr>
            <a:r>
              <a:rPr sz="1150" b="0" i="0">
                <a:solidFill>
                  <a:srgbClr val="595959"/>
                </a:solidFill>
                <a:latin typeface="Calibri"/>
              </a:rPr>
              <a:t>most negative reference: Case_40_motion for s3k (−8841), s3kpruned (−6986), and syn6 (−10040); subject08_Run_20002 for w2lvar (−5896)</a:t>
            </a:r>
          </a:p>
        </p:txBody>
      </p:sp>
      <p:sp>
        <p:nvSpPr>
          <p:cNvPr id="22" name="TextBox 21"/>
          <p:cNvSpPr txBox="1"/>
          <p:nvPr/>
        </p:nvSpPr>
        <p:spPr>
          <a:xfrm>
            <a:off x="6263640" y="1755648"/>
            <a:ext cx="5394960" cy="365760"/>
          </a:xfrm>
          <a:prstGeom prst="rect">
            <a:avLst/>
          </a:prstGeom>
          <a:noFill/>
        </p:spPr>
        <p:txBody>
          <a:bodyPr wrap="square" anchor="t" lIns="0" rIns="0" tIns="0" bIns="0">
            <a:spAutoFit/>
          </a:bodyPr>
          <a:lstStyle/>
          <a:p>
            <a:pPr algn="l">
              <a:lnSpc>
                <a:spcPct val="100000"/>
              </a:lnSpc>
            </a:pPr>
            <a:r>
              <a:rPr sz="1300" b="1" i="0">
                <a:solidFill>
                  <a:srgbClr val="00796B"/>
                </a:solidFill>
                <a:latin typeface="Calibri"/>
              </a:rPr>
              <a:t>Pathway deletions, s3k (tuning-reference score)</a:t>
            </a:r>
          </a:p>
        </p:txBody>
      </p:sp>
      <p:sp>
        <p:nvSpPr>
          <p:cNvPr id="23" name="TextBox 22"/>
          <p:cNvSpPr txBox="1"/>
          <p:nvPr/>
        </p:nvSpPr>
        <p:spPr>
          <a:xfrm>
            <a:off x="6263640" y="2148840"/>
            <a:ext cx="3291839" cy="347472"/>
          </a:xfrm>
          <a:prstGeom prst="rect">
            <a:avLst/>
          </a:prstGeom>
          <a:noFill/>
        </p:spPr>
        <p:txBody>
          <a:bodyPr wrap="square" anchor="t" lIns="0" rIns="0" tIns="0" bIns="0">
            <a:spAutoFit/>
          </a:bodyPr>
          <a:lstStyle/>
          <a:p>
            <a:pPr algn="l">
              <a:lnSpc>
                <a:spcPct val="100000"/>
              </a:lnSpc>
            </a:pPr>
            <a:r>
              <a:rPr sz="1200" b="1" i="0">
                <a:solidFill>
                  <a:srgbClr val="00796B"/>
                </a:solidFill>
                <a:latin typeface="Calibri"/>
              </a:rPr>
              <a:t>removed pathway</a:t>
            </a:r>
          </a:p>
        </p:txBody>
      </p:sp>
      <p:sp>
        <p:nvSpPr>
          <p:cNvPr id="24" name="TextBox 23"/>
          <p:cNvSpPr txBox="1"/>
          <p:nvPr/>
        </p:nvSpPr>
        <p:spPr>
          <a:xfrm>
            <a:off x="9555480" y="2148840"/>
            <a:ext cx="1554480" cy="347472"/>
          </a:xfrm>
          <a:prstGeom prst="rect">
            <a:avLst/>
          </a:prstGeom>
          <a:noFill/>
        </p:spPr>
        <p:txBody>
          <a:bodyPr wrap="square" anchor="t" lIns="0" rIns="0" tIns="0" bIns="0">
            <a:spAutoFit/>
          </a:bodyPr>
          <a:lstStyle/>
          <a:p>
            <a:pPr algn="ctr">
              <a:lnSpc>
                <a:spcPct val="100000"/>
              </a:lnSpc>
            </a:pPr>
            <a:r>
              <a:rPr sz="1200" b="1" i="0">
                <a:solidFill>
                  <a:srgbClr val="00796B"/>
                </a:solidFill>
                <a:latin typeface="Calibri"/>
              </a:rPr>
              <a:t>score</a:t>
            </a:r>
          </a:p>
        </p:txBody>
      </p:sp>
      <p:sp>
        <p:nvSpPr>
          <p:cNvPr id="25" name="TextBox 24"/>
          <p:cNvSpPr txBox="1"/>
          <p:nvPr/>
        </p:nvSpPr>
        <p:spPr>
          <a:xfrm>
            <a:off x="6263640" y="2491740"/>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none (full model)</a:t>
            </a:r>
          </a:p>
        </p:txBody>
      </p:sp>
      <p:sp>
        <p:nvSpPr>
          <p:cNvPr id="26" name="TextBox 25"/>
          <p:cNvSpPr txBox="1"/>
          <p:nvPr/>
        </p:nvSpPr>
        <p:spPr>
          <a:xfrm>
            <a:off x="9555480" y="2491740"/>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−186.4</a:t>
            </a:r>
          </a:p>
        </p:txBody>
      </p:sp>
      <p:sp>
        <p:nvSpPr>
          <p:cNvPr id="27" name="TextBox 26"/>
          <p:cNvSpPr txBox="1"/>
          <p:nvPr/>
        </p:nvSpPr>
        <p:spPr>
          <a:xfrm>
            <a:off x="6263640" y="2834640"/>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Ia afferents</a:t>
            </a:r>
          </a:p>
        </p:txBody>
      </p:sp>
      <p:sp>
        <p:nvSpPr>
          <p:cNvPr id="28" name="TextBox 27"/>
          <p:cNvSpPr txBox="1"/>
          <p:nvPr/>
        </p:nvSpPr>
        <p:spPr>
          <a:xfrm>
            <a:off x="9555480" y="2834640"/>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−25 (no cycles)</a:t>
            </a:r>
          </a:p>
        </p:txBody>
      </p:sp>
      <p:sp>
        <p:nvSpPr>
          <p:cNvPr id="29" name="TextBox 28"/>
          <p:cNvSpPr txBox="1"/>
          <p:nvPr/>
        </p:nvSpPr>
        <p:spPr>
          <a:xfrm>
            <a:off x="6263640" y="3177540"/>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all afferent classes</a:t>
            </a:r>
          </a:p>
        </p:txBody>
      </p:sp>
      <p:sp>
        <p:nvSpPr>
          <p:cNvPr id="30" name="TextBox 29"/>
          <p:cNvSpPr txBox="1"/>
          <p:nvPr/>
        </p:nvSpPr>
        <p:spPr>
          <a:xfrm>
            <a:off x="9555480" y="3177540"/>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−267.8</a:t>
            </a:r>
          </a:p>
        </p:txBody>
      </p:sp>
      <p:sp>
        <p:nvSpPr>
          <p:cNvPr id="31" name="TextBox 30"/>
          <p:cNvSpPr txBox="1"/>
          <p:nvPr/>
        </p:nvSpPr>
        <p:spPr>
          <a:xfrm>
            <a:off x="6263640" y="3520440"/>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Renshaw cells</a:t>
            </a:r>
          </a:p>
        </p:txBody>
      </p:sp>
      <p:sp>
        <p:nvSpPr>
          <p:cNvPr id="32" name="TextBox 31"/>
          <p:cNvSpPr txBox="1"/>
          <p:nvPr/>
        </p:nvSpPr>
        <p:spPr>
          <a:xfrm>
            <a:off x="9555480" y="3520440"/>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−267.3</a:t>
            </a:r>
          </a:p>
        </p:txBody>
      </p:sp>
      <p:sp>
        <p:nvSpPr>
          <p:cNvPr id="33" name="TextBox 32"/>
          <p:cNvSpPr txBox="1"/>
          <p:nvPr/>
        </p:nvSpPr>
        <p:spPr>
          <a:xfrm>
            <a:off x="6263640" y="3863339"/>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group-II afferents</a:t>
            </a:r>
          </a:p>
        </p:txBody>
      </p:sp>
      <p:sp>
        <p:nvSpPr>
          <p:cNvPr id="34" name="TextBox 33"/>
          <p:cNvSpPr txBox="1"/>
          <p:nvPr/>
        </p:nvSpPr>
        <p:spPr>
          <a:xfrm>
            <a:off x="9555480" y="3863339"/>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−255.2</a:t>
            </a:r>
          </a:p>
        </p:txBody>
      </p:sp>
      <p:sp>
        <p:nvSpPr>
          <p:cNvPr id="35" name="TextBox 34"/>
          <p:cNvSpPr txBox="1"/>
          <p:nvPr/>
        </p:nvSpPr>
        <p:spPr>
          <a:xfrm>
            <a:off x="6263640" y="4206240"/>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Ib afferents</a:t>
            </a:r>
          </a:p>
        </p:txBody>
      </p:sp>
      <p:sp>
        <p:nvSpPr>
          <p:cNvPr id="36" name="TextBox 35"/>
          <p:cNvSpPr txBox="1"/>
          <p:nvPr/>
        </p:nvSpPr>
        <p:spPr>
          <a:xfrm>
            <a:off x="9555480" y="4206240"/>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−180.3</a:t>
            </a:r>
          </a:p>
        </p:txBody>
      </p:sp>
      <p:sp>
        <p:nvSpPr>
          <p:cNvPr id="37" name="TextBox 36"/>
          <p:cNvSpPr txBox="1"/>
          <p:nvPr/>
        </p:nvSpPr>
        <p:spPr>
          <a:xfrm>
            <a:off x="6263640" y="4549140"/>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contact channels</a:t>
            </a:r>
          </a:p>
        </p:txBody>
      </p:sp>
      <p:sp>
        <p:nvSpPr>
          <p:cNvPr id="38" name="TextBox 37"/>
          <p:cNvSpPr txBox="1"/>
          <p:nvPr/>
        </p:nvSpPr>
        <p:spPr>
          <a:xfrm>
            <a:off x="9555480" y="4549140"/>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−183.9</a:t>
            </a:r>
          </a:p>
        </p:txBody>
      </p:sp>
      <p:sp>
        <p:nvSpPr>
          <p:cNvPr id="39" name="TextBox 38"/>
          <p:cNvSpPr txBox="1"/>
          <p:nvPr/>
        </p:nvSpPr>
        <p:spPr>
          <a:xfrm>
            <a:off x="6263640" y="4892040"/>
            <a:ext cx="3291839" cy="347472"/>
          </a:xfrm>
          <a:prstGeom prst="rect">
            <a:avLst/>
          </a:prstGeom>
          <a:noFill/>
        </p:spPr>
        <p:txBody>
          <a:bodyPr wrap="square" anchor="t" lIns="0" rIns="0" tIns="0" bIns="0">
            <a:spAutoFit/>
          </a:bodyPr>
          <a:lstStyle/>
          <a:p>
            <a:pPr algn="l">
              <a:lnSpc>
                <a:spcPct val="100000"/>
              </a:lnSpc>
            </a:pPr>
            <a:r>
              <a:rPr sz="1150" b="1" i="0">
                <a:solidFill>
                  <a:srgbClr val="222222"/>
                </a:solidFill>
                <a:latin typeface="Calibri"/>
              </a:rPr>
              <a:t>interleg commissurals</a:t>
            </a:r>
          </a:p>
        </p:txBody>
      </p:sp>
      <p:sp>
        <p:nvSpPr>
          <p:cNvPr id="40" name="TextBox 39"/>
          <p:cNvSpPr txBox="1"/>
          <p:nvPr/>
        </p:nvSpPr>
        <p:spPr>
          <a:xfrm>
            <a:off x="9555480" y="4892040"/>
            <a:ext cx="1554480" cy="347472"/>
          </a:xfrm>
          <a:prstGeom prst="rect">
            <a:avLst/>
          </a:prstGeom>
          <a:noFill/>
        </p:spPr>
        <p:txBody>
          <a:bodyPr wrap="square" anchor="t" lIns="0" rIns="0" tIns="0" bIns="0">
            <a:spAutoFit/>
          </a:bodyPr>
          <a:lstStyle/>
          <a:p>
            <a:pPr algn="ctr">
              <a:lnSpc>
                <a:spcPct val="100000"/>
              </a:lnSpc>
            </a:pPr>
            <a:r>
              <a:rPr sz="1150" b="0" i="0">
                <a:solidFill>
                  <a:srgbClr val="222222"/>
                </a:solidFill>
                <a:latin typeface="Calibri"/>
              </a:rPr>
              <a:t>−174.9</a:t>
            </a:r>
          </a:p>
        </p:txBody>
      </p:sp>
      <p:sp>
        <p:nvSpPr>
          <p:cNvPr id="41" name="Rounded Rectangle 40"/>
          <p:cNvSpPr/>
          <p:nvPr/>
        </p:nvSpPr>
        <p:spPr>
          <a:xfrm>
            <a:off x="502920" y="5349240"/>
            <a:ext cx="11155680" cy="960120"/>
          </a:xfrm>
          <a:prstGeom prst="roundRect">
            <a:avLst>
              <a:gd name="adj" fmla="val 8000"/>
            </a:avLst>
          </a:prstGeom>
          <a:solidFill>
            <a:srgbClr val="E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468112"/>
            <a:ext cx="10607040" cy="822960"/>
          </a:xfrm>
          <a:prstGeom prst="rect">
            <a:avLst/>
          </a:prstGeom>
          <a:noFill/>
        </p:spPr>
        <p:txBody>
          <a:bodyPr wrap="square" anchor="t" lIns="0" rIns="0" tIns="0" bIns="0">
            <a:spAutoFit/>
          </a:bodyPr>
          <a:lstStyle/>
          <a:p>
            <a:pPr algn="l">
              <a:lnSpc>
                <a:spcPct val="105000"/>
              </a:lnSpc>
              <a:spcAft>
                <a:spcPts val="300"/>
              </a:spcAft>
            </a:pPr>
            <a:r>
              <a:rPr sz="1250" b="0" i="0">
                <a:solidFill>
                  <a:srgbClr val="222222"/>
                </a:solidFill>
                <a:latin typeface="Calibri"/>
              </a:rPr>
              <a:t>Drive stimulus: s3k survives +0.01, −0.01, −0.02 (−201.9, −177.0, −171.2), freezes at +0.02, and never fell in 15 push evaluations (max sway 0.123 m).</a:t>
            </a:r>
          </a:p>
          <a:p>
            <a:pPr algn="l">
              <a:lnSpc>
                <a:spcPct val="105000"/>
              </a:lnSpc>
            </a:pPr>
            <a:r>
              <a:rPr sz="1200" b="0" i="0">
                <a:solidFill>
                  <a:srgbClr val="595959"/>
                </a:solidFill>
                <a:latin typeface="Calibri"/>
              </a:rPr>
              <a:t>syn6 and w2lvar fall under every ±0.01 / ±0.02 drive step (pelvis tilt 39–40°); s3kpruned survives −0.02 (−168.2).</a:t>
            </a:r>
          </a:p>
        </p:txBody>
      </p:sp>
      <p:sp>
        <p:nvSpPr>
          <p:cNvPr id="43" name="TextBox 42"/>
          <p:cNvSpPr txBox="1"/>
          <p:nvPr/>
        </p:nvSpPr>
        <p:spPr>
          <a:xfrm>
            <a:off x="11475720" y="6473952"/>
            <a:ext cx="502920" cy="292608"/>
          </a:xfrm>
          <a:prstGeom prst="rect">
            <a:avLst/>
          </a:prstGeom>
          <a:noFill/>
        </p:spPr>
        <p:txBody>
          <a:bodyPr wrap="square" anchor="t" lIns="0" rIns="0" tIns="0" bIns="0">
            <a:spAutoFit/>
          </a:bodyPr>
          <a:lstStyle/>
          <a:p>
            <a:pPr algn="r">
              <a:lnSpc>
                <a:spcPct val="100000"/>
              </a:lnSpc>
            </a:pPr>
            <a:r>
              <a:rPr sz="1100" b="0" i="0">
                <a:solidFill>
                  <a:srgbClr val="7F7F7F"/>
                </a:solidFill>
                <a:latin typeface="Calibri"/>
              </a:rPr>
              <a:t>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Movement and Control of Biomimetic Humanoid Robots</dc:title>
  <dc:subject/>
  <dc:creator>Ben P. Bolen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