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6df43b0b5444cc" /><Relationship Type="http://schemas.openxmlformats.org/officeDocument/2006/relationships/extended-properties" Target="/docProps/app.xml" Id="R9c6b22a868c54b72" /><Relationship Type="http://schemas.openxmlformats.org/officeDocument/2006/relationships/officeDocument" Target="/ppt/presentation.xml" Id="R959af29a00db485a" /></Relationships>
</file>

<file path=ppt/presentation.xml><?xml version="1.0" encoding="utf-8"?>
<p:presentation xmlns:p="http://schemas.openxmlformats.org/presentationml/2006/main">
  <p:sldMasterIdLst>
    <p:sldMasterId xmlns:r="http://schemas.openxmlformats.org/officeDocument/2006/relationships" id="2147483648" r:id="Rcfbbcb9c45f543f5"/>
  </p:sldMasterIdLst>
  <p:notesMasterIdLst>
    <p:notesMasterId xmlns:r="http://schemas.openxmlformats.org/officeDocument/2006/relationships" r:id="Rf0fff6e46ed6458e"/>
  </p:notesMasterIdLst>
  <p:sldIdLst>
    <p:sldId xmlns:r="http://schemas.openxmlformats.org/officeDocument/2006/relationships" id="256" r:id="R5f6fa1dfbfc7498c"/>
    <p:sldId xmlns:r="http://schemas.openxmlformats.org/officeDocument/2006/relationships" id="257" r:id="R0af6d3c1669c4855"/>
    <p:sldId xmlns:r="http://schemas.openxmlformats.org/officeDocument/2006/relationships" id="258" r:id="R28cc809529d24231"/>
    <p:sldId xmlns:r="http://schemas.openxmlformats.org/officeDocument/2006/relationships" id="259" r:id="R1266110ddba642e4"/>
    <p:sldId xmlns:r="http://schemas.openxmlformats.org/officeDocument/2006/relationships" id="260" r:id="R5bd7a1da531243e5"/>
    <p:sldId xmlns:r="http://schemas.openxmlformats.org/officeDocument/2006/relationships" id="261" r:id="R162ab658a25e488e"/>
    <p:sldId xmlns:r="http://schemas.openxmlformats.org/officeDocument/2006/relationships" id="262" r:id="Rb8e6bf12e54e4d6a"/>
    <p:sldId xmlns:r="http://schemas.openxmlformats.org/officeDocument/2006/relationships" id="263" r:id="R48a8747643964617"/>
    <p:sldId xmlns:r="http://schemas.openxmlformats.org/officeDocument/2006/relationships" id="264" r:id="R7ab8b4f75c834dde"/>
    <p:sldId xmlns:r="http://schemas.openxmlformats.org/officeDocument/2006/relationships" id="265" r:id="R7bd385df35804759"/>
    <p:sldId xmlns:r="http://schemas.openxmlformats.org/officeDocument/2006/relationships" id="266" r:id="Rb972d1a45ac54ef5"/>
    <p:sldId xmlns:r="http://schemas.openxmlformats.org/officeDocument/2006/relationships" id="267" r:id="R88a8d7d26b0e47f5"/>
    <p:sldId xmlns:r="http://schemas.openxmlformats.org/officeDocument/2006/relationships" id="268" r:id="Rc7522bd6bb824777"/>
    <p:sldId xmlns:r="http://schemas.openxmlformats.org/officeDocument/2006/relationships" id="269" r:id="Rf2579a41e78a44ab"/>
    <p:sldId xmlns:r="http://schemas.openxmlformats.org/officeDocument/2006/relationships" id="270" r:id="R37abebec07af4b6f"/>
    <p:sldId xmlns:r="http://schemas.openxmlformats.org/officeDocument/2006/relationships" id="271" r:id="R75551a950d1a44dc"/>
    <p:sldId xmlns:r="http://schemas.openxmlformats.org/officeDocument/2006/relationships" id="272" r:id="R07490695bd1b4d4d"/>
    <p:sldId xmlns:r="http://schemas.openxmlformats.org/officeDocument/2006/relationships" id="273" r:id="Rc9034cb3035e40d5"/>
    <p:sldId xmlns:r="http://schemas.openxmlformats.org/officeDocument/2006/relationships" id="274" r:id="Rc51cd63b68814208"/>
    <p:sldId xmlns:r="http://schemas.openxmlformats.org/officeDocument/2006/relationships" id="275" r:id="R93817964f41f458f"/>
    <p:sldId xmlns:r="http://schemas.openxmlformats.org/officeDocument/2006/relationships" id="276" r:id="R0c8b7e9643cb4b09"/>
    <p:sldId xmlns:r="http://schemas.openxmlformats.org/officeDocument/2006/relationships" id="277" r:id="R9ce335f89d364a32"/>
    <p:sldId xmlns:r="http://schemas.openxmlformats.org/officeDocument/2006/relationships" id="278" r:id="R7ac577bac8c74493"/>
    <p:sldId xmlns:r="http://schemas.openxmlformats.org/officeDocument/2006/relationships" id="279" r:id="R8b71c11ff78f49fd"/>
    <p:sldId xmlns:r="http://schemas.openxmlformats.org/officeDocument/2006/relationships" id="280" r:id="R46d3cd3949cc4abc"/>
    <p:sldId xmlns:r="http://schemas.openxmlformats.org/officeDocument/2006/relationships" id="281" r:id="R823ba6628f5a4154"/>
    <p:sldId xmlns:r="http://schemas.openxmlformats.org/officeDocument/2006/relationships" id="282" r:id="R1248a37bacda4879"/>
    <p:sldId xmlns:r="http://schemas.openxmlformats.org/officeDocument/2006/relationships" id="283" r:id="Re587ef5b3f534c19"/>
    <p:sldId xmlns:r="http://schemas.openxmlformats.org/officeDocument/2006/relationships" id="284" r:id="R91535203817640af"/>
    <p:sldId xmlns:r="http://schemas.openxmlformats.org/officeDocument/2006/relationships" id="285" r:id="R89219889116b49e3"/>
    <p:sldId xmlns:r="http://schemas.openxmlformats.org/officeDocument/2006/relationships" id="286" r:id="Ra634a4e357434f6a"/>
    <p:sldId xmlns:r="http://schemas.openxmlformats.org/officeDocument/2006/relationships" id="287" r:id="Rf6e939e4c9044fb1"/>
    <p:sldId xmlns:r="http://schemas.openxmlformats.org/officeDocument/2006/relationships" id="288" r:id="Re4dbaccaa0354f46"/>
    <p:sldId xmlns:r="http://schemas.openxmlformats.org/officeDocument/2006/relationships" id="289" r:id="R6f7d8f0a4eb940c8"/>
    <p:sldId xmlns:r="http://schemas.openxmlformats.org/officeDocument/2006/relationships" id="290" r:id="Rcc7f25840e494a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f257b61c364cea" /><Relationship Type="http://schemas.openxmlformats.org/officeDocument/2006/relationships/slideMaster" Target="/ppt/slideMasters/slideMaster1.xml" Id="Rcfbbcb9c45f543f5" /><Relationship Type="http://schemas.openxmlformats.org/officeDocument/2006/relationships/notesMaster" Target="/ppt/notesMasters/notesMaster1.xml" Id="Rf0fff6e46ed6458e" /><Relationship Type="http://schemas.openxmlformats.org/officeDocument/2006/relationships/presProps" Target="/ppt/presProps.xml" Id="Rb348ccf4a47a423c" /><Relationship Type="http://schemas.openxmlformats.org/officeDocument/2006/relationships/tableStyles" Target="/ppt/tableStyles.xml" Id="R7ef852b504ee45ac" /><Relationship Type="http://schemas.openxmlformats.org/officeDocument/2006/relationships/slide" Target="/ppt/slides/slide1.xml" Id="R5f6fa1dfbfc7498c" /><Relationship Type="http://schemas.openxmlformats.org/officeDocument/2006/relationships/slide" Target="/ppt/slides/slide2.xml" Id="R0af6d3c1669c4855" /><Relationship Type="http://schemas.openxmlformats.org/officeDocument/2006/relationships/slide" Target="/ppt/slides/slide3.xml" Id="R28cc809529d24231" /><Relationship Type="http://schemas.openxmlformats.org/officeDocument/2006/relationships/slide" Target="/ppt/slides/slide4.xml" Id="R1266110ddba642e4" /><Relationship Type="http://schemas.openxmlformats.org/officeDocument/2006/relationships/slide" Target="/ppt/slides/slide5.xml" Id="R5bd7a1da531243e5" /><Relationship Type="http://schemas.openxmlformats.org/officeDocument/2006/relationships/slide" Target="/ppt/slides/slide6.xml" Id="R162ab658a25e488e" /><Relationship Type="http://schemas.openxmlformats.org/officeDocument/2006/relationships/slide" Target="/ppt/slides/slide7.xml" Id="Rb8e6bf12e54e4d6a" /><Relationship Type="http://schemas.openxmlformats.org/officeDocument/2006/relationships/slide" Target="/ppt/slides/slide8.xml" Id="R48a8747643964617" /><Relationship Type="http://schemas.openxmlformats.org/officeDocument/2006/relationships/slide" Target="/ppt/slides/slide9.xml" Id="R7ab8b4f75c834dde" /><Relationship Type="http://schemas.openxmlformats.org/officeDocument/2006/relationships/slide" Target="/ppt/slides/slide10.xml" Id="R7bd385df35804759" /><Relationship Type="http://schemas.openxmlformats.org/officeDocument/2006/relationships/slide" Target="/ppt/slides/slide11.xml" Id="Rb972d1a45ac54ef5" /><Relationship Type="http://schemas.openxmlformats.org/officeDocument/2006/relationships/slide" Target="/ppt/slides/slide12.xml" Id="R88a8d7d26b0e47f5" /><Relationship Type="http://schemas.openxmlformats.org/officeDocument/2006/relationships/slide" Target="/ppt/slides/slide13.xml" Id="Rc7522bd6bb824777" /><Relationship Type="http://schemas.openxmlformats.org/officeDocument/2006/relationships/slide" Target="/ppt/slides/slide14.xml" Id="Rf2579a41e78a44ab" /><Relationship Type="http://schemas.openxmlformats.org/officeDocument/2006/relationships/slide" Target="/ppt/slides/slide15.xml" Id="R37abebec07af4b6f" /><Relationship Type="http://schemas.openxmlformats.org/officeDocument/2006/relationships/slide" Target="/ppt/slides/slide16.xml" Id="R75551a950d1a44dc" /><Relationship Type="http://schemas.openxmlformats.org/officeDocument/2006/relationships/slide" Target="/ppt/slides/slide17.xml" Id="R07490695bd1b4d4d" /><Relationship Type="http://schemas.openxmlformats.org/officeDocument/2006/relationships/slide" Target="/ppt/slides/slide18.xml" Id="Rc9034cb3035e40d5" /><Relationship Type="http://schemas.openxmlformats.org/officeDocument/2006/relationships/slide" Target="/ppt/slides/slide19.xml" Id="Rc51cd63b68814208" /><Relationship Type="http://schemas.openxmlformats.org/officeDocument/2006/relationships/slide" Target="/ppt/slides/slide20.xml" Id="R93817964f41f458f" /><Relationship Type="http://schemas.openxmlformats.org/officeDocument/2006/relationships/slide" Target="/ppt/slides/slide21.xml" Id="R0c8b7e9643cb4b09" /><Relationship Type="http://schemas.openxmlformats.org/officeDocument/2006/relationships/slide" Target="/ppt/slides/slide22.xml" Id="R9ce335f89d364a32" /><Relationship Type="http://schemas.openxmlformats.org/officeDocument/2006/relationships/slide" Target="/ppt/slides/slide23.xml" Id="R7ac577bac8c74493" /><Relationship Type="http://schemas.openxmlformats.org/officeDocument/2006/relationships/slide" Target="/ppt/slides/slide24.xml" Id="R8b71c11ff78f49fd" /><Relationship Type="http://schemas.openxmlformats.org/officeDocument/2006/relationships/slide" Target="/ppt/slides/slide25.xml" Id="R46d3cd3949cc4abc" /><Relationship Type="http://schemas.openxmlformats.org/officeDocument/2006/relationships/slide" Target="/ppt/slides/slide26.xml" Id="R823ba6628f5a4154" /><Relationship Type="http://schemas.openxmlformats.org/officeDocument/2006/relationships/slide" Target="/ppt/slides/slide27.xml" Id="R1248a37bacda4879" /><Relationship Type="http://schemas.openxmlformats.org/officeDocument/2006/relationships/slide" Target="/ppt/slides/slide28.xml" Id="Re587ef5b3f534c19" /><Relationship Type="http://schemas.openxmlformats.org/officeDocument/2006/relationships/slide" Target="/ppt/slides/slide29.xml" Id="R91535203817640af" /><Relationship Type="http://schemas.openxmlformats.org/officeDocument/2006/relationships/slide" Target="/ppt/slides/slide30.xml" Id="R89219889116b49e3" /><Relationship Type="http://schemas.openxmlformats.org/officeDocument/2006/relationships/slide" Target="/ppt/slides/slide31.xml" Id="Ra634a4e357434f6a" /><Relationship Type="http://schemas.openxmlformats.org/officeDocument/2006/relationships/slide" Target="/ppt/slides/slide32.xml" Id="Rf6e939e4c9044fb1" /><Relationship Type="http://schemas.openxmlformats.org/officeDocument/2006/relationships/slide" Target="/ppt/slides/slide33.xml" Id="Re4dbaccaa0354f46" /><Relationship Type="http://schemas.openxmlformats.org/officeDocument/2006/relationships/slide" Target="/ppt/slides/slide34.xml" Id="R6f7d8f0a4eb940c8" /><Relationship Type="http://schemas.openxmlformats.org/officeDocument/2006/relationships/slide" Target="/ppt/slides/slide35.xml" Id="Rcc7f25840e494a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8659c4ed2b4c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70d69fb2a344e5" /><Relationship Type="http://schemas.openxmlformats.org/officeDocument/2006/relationships/notesMaster" Target="/ppt/notesMasters/notesMaster1.xml" Id="R9aa5e91a8c6948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8f3aec37da416b" /><Relationship Type="http://schemas.openxmlformats.org/officeDocument/2006/relationships/notesMaster" Target="/ppt/notesMasters/notesMaster1.xml" Id="R1caf9bc3658646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3a0bec07d34fa7" /><Relationship Type="http://schemas.openxmlformats.org/officeDocument/2006/relationships/notesMaster" Target="/ppt/notesMasters/notesMaster1.xml" Id="R174058f518b44b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55a8d571ad4caf" /><Relationship Type="http://schemas.openxmlformats.org/officeDocument/2006/relationships/notesMaster" Target="/ppt/notesMasters/notesMaster1.xml" Id="Rf0e4b8a151924f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d444f25cbc41be" /><Relationship Type="http://schemas.openxmlformats.org/officeDocument/2006/relationships/notesMaster" Target="/ppt/notesMasters/notesMaster1.xml" Id="Rbbba0a6cc75d49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4aee21e6f74746" /><Relationship Type="http://schemas.openxmlformats.org/officeDocument/2006/relationships/notesMaster" Target="/ppt/notesMasters/notesMaster1.xml" Id="R9f6606c1523042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aa73b366e8442f" /><Relationship Type="http://schemas.openxmlformats.org/officeDocument/2006/relationships/notesMaster" Target="/ppt/notesMasters/notesMaster1.xml" Id="R0bede83eb20c43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2ab6b4b394408c" /><Relationship Type="http://schemas.openxmlformats.org/officeDocument/2006/relationships/notesMaster" Target="/ppt/notesMasters/notesMaster1.xml" Id="Ra32ed95b2c6f46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d9acf46bcd45f9" /><Relationship Type="http://schemas.openxmlformats.org/officeDocument/2006/relationships/notesMaster" Target="/ppt/notesMasters/notesMaster1.xml" Id="Rce15762d6e934b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25b98c5cf34054" /><Relationship Type="http://schemas.openxmlformats.org/officeDocument/2006/relationships/notesMaster" Target="/ppt/notesMasters/notesMaster1.xml" Id="R79fd3a363a3446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49d66bf6cd4ae0" /><Relationship Type="http://schemas.openxmlformats.org/officeDocument/2006/relationships/notesMaster" Target="/ppt/notesMasters/notesMaster1.xml" Id="R9691c1e54fbc43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cda76acb00449c" /><Relationship Type="http://schemas.openxmlformats.org/officeDocument/2006/relationships/notesMaster" Target="/ppt/notesMasters/notesMaster1.xml" Id="Rca0ef043a14446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dee4de137a45ac" /><Relationship Type="http://schemas.openxmlformats.org/officeDocument/2006/relationships/notesMaster" Target="/ppt/notesMasters/notesMaster1.xml" Id="Rf36f9decb3e34d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f3363858b7476d" /><Relationship Type="http://schemas.openxmlformats.org/officeDocument/2006/relationships/notesMaster" Target="/ppt/notesMasters/notesMaster1.xml" Id="R5869fd094e7a4d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132911151249f9" /><Relationship Type="http://schemas.openxmlformats.org/officeDocument/2006/relationships/notesMaster" Target="/ppt/notesMasters/notesMaster1.xml" Id="Rc4e70595bfa148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027c95bb43491c" /><Relationship Type="http://schemas.openxmlformats.org/officeDocument/2006/relationships/notesMaster" Target="/ppt/notesMasters/notesMaster1.xml" Id="R7e3db997cfae4d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016c3e95584955" /><Relationship Type="http://schemas.openxmlformats.org/officeDocument/2006/relationships/notesMaster" Target="/ppt/notesMasters/notesMaster1.xml" Id="R4dfc69d475ca4d0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b5f394dc06844e1" /><Relationship Type="http://schemas.openxmlformats.org/officeDocument/2006/relationships/notesMaster" Target="/ppt/notesMasters/notesMaster1.xml" Id="R8b7e48bb186c46f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39733226fd443d" /><Relationship Type="http://schemas.openxmlformats.org/officeDocument/2006/relationships/notesMaster" Target="/ppt/notesMasters/notesMaster1.xml" Id="R91c038c4b3b344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0e37f28f514b5f" /><Relationship Type="http://schemas.openxmlformats.org/officeDocument/2006/relationships/notesMaster" Target="/ppt/notesMasters/notesMaster1.xml" Id="Re4914fbc410049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9d027c31be84d96" /><Relationship Type="http://schemas.openxmlformats.org/officeDocument/2006/relationships/notesMaster" Target="/ppt/notesMasters/notesMaster1.xml" Id="R90cb4dc3cbaf40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d8a4248a2e45d6" /><Relationship Type="http://schemas.openxmlformats.org/officeDocument/2006/relationships/notesMaster" Target="/ppt/notesMasters/notesMaster1.xml" Id="R3851721d01284c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09a18614ad4fa1" /><Relationship Type="http://schemas.openxmlformats.org/officeDocument/2006/relationships/notesMaster" Target="/ppt/notesMasters/notesMaster1.xml" Id="Rcd5a63d1885449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f0bcfa1faf4921" /><Relationship Type="http://schemas.openxmlformats.org/officeDocument/2006/relationships/notesMaster" Target="/ppt/notesMasters/notesMaster1.xml" Id="Rdf9059c4e1ac4f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835b65ad904ae9" /><Relationship Type="http://schemas.openxmlformats.org/officeDocument/2006/relationships/notesMaster" Target="/ppt/notesMasters/notesMaster1.xml" Id="R0892d756835942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f057b14cb8145af" /><Relationship Type="http://schemas.openxmlformats.org/officeDocument/2006/relationships/notesMaster" Target="/ppt/notesMasters/notesMaster1.xml" Id="R45dade544f054e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03496a468fe4fb7" /><Relationship Type="http://schemas.openxmlformats.org/officeDocument/2006/relationships/notesMaster" Target="/ppt/notesMasters/notesMaster1.xml" Id="R857225a33dcc4f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ec1c7e10dac4732" /><Relationship Type="http://schemas.openxmlformats.org/officeDocument/2006/relationships/notesMaster" Target="/ppt/notesMasters/notesMaster1.xml" Id="R11d72eb3f36748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fab86df955d4255" /><Relationship Type="http://schemas.openxmlformats.org/officeDocument/2006/relationships/notesMaster" Target="/ppt/notesMasters/notesMaster1.xml" Id="R283abf03466c41d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bb3d2e820446bf" /><Relationship Type="http://schemas.openxmlformats.org/officeDocument/2006/relationships/notesMaster" Target="/ppt/notesMasters/notesMaster1.xml" Id="R557714663178414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dcc4fbfaa8d40b1" /><Relationship Type="http://schemas.openxmlformats.org/officeDocument/2006/relationships/notesMaster" Target="/ppt/notesMasters/notesMaster1.xml" Id="R0766b72c741f43c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29827e93ce4a75" /><Relationship Type="http://schemas.openxmlformats.org/officeDocument/2006/relationships/notesMaster" Target="/ppt/notesMasters/notesMaster1.xml" Id="Rdcbd931583ed449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fb8890b05d14463" /><Relationship Type="http://schemas.openxmlformats.org/officeDocument/2006/relationships/notesMaster" Target="/ppt/notesMasters/notesMaster1.xml" Id="R7a354478b8dc442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72e70414e8d4bed" /><Relationship Type="http://schemas.openxmlformats.org/officeDocument/2006/relationships/notesMaster" Target="/ppt/notesMasters/notesMaster1.xml" Id="R33417a1c225b405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62ba12785547f8" /><Relationship Type="http://schemas.openxmlformats.org/officeDocument/2006/relationships/notesMaster" Target="/ppt/notesMasters/notesMaster1.xml" Id="R524049055d9345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dissertation makes actuator and transmission assumptions testable, and develops tools for controlled neural–mechanical experiments. Introduce the research robot as the motivating scientific instrument. Advisor: M. Anthony Hunt. Credit the AARL platform and collaborators throughout.</a:t>
            </a:r>
          </a:p>
          <a:p xmlns:a="http://schemas.openxmlformats.org/drawingml/2006/main">
            <a:r>
              <a:t/>
            </a:r>
          </a:p>
          <a:p xmlns:a="http://schemas.openxmlformats.org/drawingml/2006/main">
            <a:r>
              <a:t>Source: Portland State University · Agile &amp; Adaptive Robotics Laboratory</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Biomimetic robots can test controlled changes that are difficult in living subjects. That use requires evidence linking the chosen actuator, transmission, sensory pathways, and model behavior. These are gaps in this project and workflow. My work addresses each with a distinct test, rather than claiming a completed locomoting humanoid. Steele supplied the four-bar knee; Morrow collaborated on route design; published Li/Deng architectures and existing simulation engines supply essential foundations.</a:t>
            </a:r>
          </a:p>
          <a:p xmlns:a="http://schemas.openxmlformats.org/drawingml/2006/main">
            <a:r>
              <a:t/>
            </a:r>
          </a:p>
          <a:p xmlns:a="http://schemas.openxmlformats.org/drawingml/2006/main">
            <a:r>
              <a:t>Source: Dissertation Ch. 1, Motivation and Research Objectives</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braided pneumatic actuator contracts under pressure. The force study contains 537 force–pressure–contraction observations: 321 for 10 mm and 216 for 20 mm. Tested resting lengths were 112–518 mm and 300–509 mm, respectively, up to 620 kPa. Introduce pressure, resting length, and contraction using the rig. This is static characterization. Credit Elzein, Pang, and Hunt as coauthors.</a:t>
            </a:r>
          </a:p>
          <a:p xmlns:a="http://schemas.openxmlformats.org/drawingml/2006/main">
            <a:r>
              <a:t/>
            </a:r>
          </a:p>
          <a:p xmlns:a="http://schemas.openxmlformats.org/drawingml/2006/main">
            <a:r>
              <a:t>Source: Bolen et al. (2026), Actuators 15(5):230 · Dissertation Ch. 3</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620 kPa, maximum force decreases at short resting lengths in both diameters. The manufacturer tool predicts the opposite trend. Black points are measured data, solid blue is the fitted model, and dashed magenta is the manufacturer prediction. Resting length therefore must be a model input. Do not generalize beyond the tested actuator families.</a:t>
            </a:r>
          </a:p>
          <a:p xmlns:a="http://schemas.openxmlformats.org/drawingml/2006/main">
            <a:r>
              <a:t/>
            </a:r>
          </a:p>
          <a:p xmlns:a="http://schemas.openxmlformats.org/drawingml/2006/main">
            <a:r>
              <a:t>Source: Bolen et al. (2026), Actuators 15(5):230 · Dissertation Ch. 3</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force is the product of a dimensionless force surface and maximum force at the chosen resting length. Normalized pressure and contraction locate the operating point. Separate coefficients apply to each diameter, and maximum contraction is measured for each actuator. The plotted 20 mm curves show measured points and model isoclines. The source uses an 80/20 point split. This does not establish dynamic performance or every unseen actuator length.</a:t>
            </a:r>
          </a:p>
          <a:p xmlns:a="http://schemas.openxmlformats.org/drawingml/2006/main">
            <a:r>
              <a:t/>
            </a:r>
          </a:p>
          <a:p xmlns:a="http://schemas.openxmlformats.org/drawingml/2006/main">
            <a:r>
              <a:t>Source: Bolen et al. (2026), Actuators 15(5):230 · Dissertation Ch. 3</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Papers\Dissertation\Defense\deck_builder\deck_assets\eqs\force.png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10 mm BPA at 112 mm resting length and 620 kPa. Measured force is 350.9 N, the model gives 335.3 N, and the manufacturer tool gives 498.6 N. Reported errors are 4.5% and 42.1%. This is one reported case, not the average error or an independent length holdout. The native chart uses the published values directly.</a:t>
            </a:r>
          </a:p>
          <a:p xmlns:a="http://schemas.openxmlformats.org/drawingml/2006/main">
            <a:r>
              <a:t/>
            </a:r>
          </a:p>
          <a:p xmlns:a="http://schemas.openxmlformats.org/drawingml/2006/main">
            <a:r>
              <a:t>Source: Bolen et al. (2026), Actuators 15(5):230 · Dissertation Ch. 3</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editable schematic to explain the cross product. The joint is O, the attachment is p, and the tensile force acts along its route. The perpendicular distance to the force line is the moment arm. Torque magnitude is force times that distance. Routing changes both moment arm and actuator excursion, so maximizing moment arm alone can reduce usable force. The diagram is conceptual and has no numerical geometry.</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includes a constant length offset, force-dependent displacement in effective attachment frames, and an empirical wrapping loss. χ1 and χ2 describe effective system stiffness, including fixtures and the winch, rather than isolated bracket material stiffness. One pair is shared across flexor and extensor. The wrapping schematic explains contact angle and length loss. Identification uses existing measured tests; route optimization then uses the adopted terms unchanged.</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Papers\Dissertation\Figures\30-torque\bpa_knee_wrapping_review.pdf</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exact validation means compare the characterized BPA model with all correction terms disabled against the adopted corrected model. Flexor uses two held-out tests, and extensor three. They are the selected folds of the existing identification, not newly collected tests. The same stiffness pair applies to both. One extensor training test retains FVU above one. The claim is lower held-out error, not uniformly accurate fits.</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extensor redesign uses two 20 mm BPAs. The photo shows the assembled cam-assisted route. The optimizer varies geometry under packaging and torque constraints, using the adopted corrections. Credit Morrow for route-design collaboration and Steele for the underlying four-bar knee. Correction identification and route redesign answer different questions.</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adopted cam design predicts a minimum margin of 30.83% over the required envelope, which itself includes 5% overshoot above the selected human reference. The minimum margin over the plain human target is 39.77%. Predicted pressure needed for the required envelope is 269–507 kPa. The blue curve is the 620 kPa model prediction. These margins are predictions, not physical measurement margins.</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series identities: blue points are measured, yellow points are predictions at the measured pressures, the dotted black curve is vastus medialis, and magenta is the optimized 620 kPa prediction. All nine measurements exceed the selected human target, including −86.5 degrees. At that angle, the measured torque is 2.06 N m below the pressure-specific prediction. Measured torque is 29.02–51.17 N m; target margins are +0.24 to +3.52 N m at 256–488 kPa. Discrete holds span −119 to +5 degrees. They establish capacity at those configurations.</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Papers\Dissertation\Figures\30-torque\Ext20mm_physical_20261026_publication.pdf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human target is maximum-isometric biceps femoris short head from OpenSim Gait2392. Flexion torque is negative, so compare magnitudes. All 15 holds meet or exceed it from −119 to +5 degrees. The source reduction gives margins +0.42 N m at −105 degrees to +17.0 N m at −14 degrees. Recorded pressures are 226.5–638 kPa. Physical lengths are 561/28 and 560/30 mm resting/tendon. Preserve the nominal 562 mm prediction label and distinguish prediction settings from these measurements. The full-pressure predicted curve and variable-pressure points are different conditions. Capacity is demonstrated while prediction agreement remains uneven.</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Papers\Dissertation\Figures\30-torque\Redesigned_flexor_pressure_publication.pdf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six annotated callouts to explain the app: A view selection, B map controls, C focus record, D curation and translation, E citation neighborhood, and F connected papers. Search and filter across 1,393 total app records, including 943 in the Papers category. Models and reviews can also be publications, so the category count is not a total publication count. Table search spans record types; pivots and citation views use paper records. Embedded data support offline exploration; the online-search tab requires a network. A static screenshot shows functionality, not retrieval accuracy.</a:t>
            </a:r>
          </a:p>
          <a:p xmlns:a="http://schemas.openxmlformats.org/drawingml/2006/main">
            <a:r>
              <a:t/>
            </a:r>
          </a:p>
          <a:p xmlns:a="http://schemas.openxmlformats.org/drawingml/2006/main">
            <a:r>
              <a:t>Source: Dissertation Ch. 5, The Resource · Appendix E, distributed app snapshot</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Papers\Dissertation\Figures\50-database\sadb_bubble.pdf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gap is interpreting the behavior of a particular neural–mechanical combination. My contributions include graphical SNS blocks, actuator and model coupling, model audits, and controlled evaluation procedures. Existing engines and published neural formulations supply essential foundations. The experiment sequence asks whether a circuit is implemented as specified, whether an intervention changes behavior, and whether that response agrees with a mechanical reference. SADb supports choosing the pathway and preserving its source conditions; it does not supply ready-made gains.</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uses the driven W2L rhythm core, with matched connectivity, initial states, and phasic heel-contact input. Periods match at 1.000 s, all ten expected bursts occur, and trace correlation is at least 0.99996. A 2 ms lag equals one solver step. Removing the specified phasic inputs latches both implementations. This is agreement under a defined protocol, not full-network equivalence. The bridge additionally gives bit-exact scored sensor readback, but a separate tonic-drive full circuit settles in Simulink while its NumPy reference oscillates.</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reduced Deng-derived translated circuit is coupled to a suspended model. Stimuli lasting two baseline periods suppress two expected flexor motor bursts at each tested layer. RG-extensor +50 nA shifts both RG and motor timing by 0.211 cycle. PF-extensor +50 nA suppresses output without resetting the RG clock, and flexor-MN −500 nA also gives a non-resetting deletion. Read left RG traces and right MN activation together. Stronger-current controls matter: a one-second PF pulse shifts motor timing by 0.208 cycle while RG timing stays unchanged. A motor shift alone therefore does not prove RG resetting. This is a translated reduced-circuit test, not original-rat locomotion replication.</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Papers\Dissertation\Figures\95-AppendixD\layer_stimulus_validation.pdf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and A2 show the empty and loaded container. B compares forearm elevation with feedback on and off. Sag is 2.00 degrees with feedback versus 7.85 degrees without. C shows the actual implemented circuit: biceps Ia excites biceps MN and inhibits triceps MN; triceps Ia does the converse. Own-muscle Ib inhibits its MN. Arrowheads mean excitation, and filled circles inhibition. This demonstrates a corrective effect in the reduced block model under the selected settings.</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Papers\Dissertation\Figures\60-sns\beverage_current_layout.pdf</a:t>
            </a:r>
          </a:p>
          <a:p xmlns:a="http://schemas.openxmlformats.org/drawingml/2006/main">
            <a:r>
              <a:t>D:\GitHub\Bipedal_Robot\Documentation\Reports and Papers\Dissertation\Figures\60-sns\beverage_current_layout.pdf</a:t>
            </a:r>
          </a:p>
          <a:p xmlns:a="http://schemas.openxmlformats.org/drawingml/2006/main">
            <a:r>
              <a:t>D:\GitHub\Bipedal_Robot\Documentation\Reports and Papers\Dissertation\Figures\60-sns\beverage_current_layout.pdf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matched no-stimulus run isolates the effect of a 2 nA, 30 ms current pulse at the extensor Ia input after settling. The peak extension excursion is 1.09 degrees at 111 ms, and the stated recovery thresholds are met at 6.355 s. Six MN/Ia synaptic saturation widths were broadened; the original narrow ramps sustained oscillations. C shows the six feedback connections. These are engineered block settings, not a calibrated human tendon-tap reflex.</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Papers\Dissertation\Figures\60-sns\knee_transient_current_layout.pdf</a:t>
            </a:r>
          </a:p>
          <a:p xmlns:a="http://schemas.openxmlformats.org/drawingml/2006/main">
            <a:r>
              <a:t>D:\GitHub\Bipedal_Robot\Documentation\Reports and Papers\Dissertation\Figures\60-sns\knee_transient_current_layout.pdf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recovered W2L comparison fixes effective conductances, drive, and support settings, then disables all sensory feedback. Median contact phase changes from 0.498 to 0.223 cycles. The accepted supported-stepping interval is 0.35–0.65, with 0.5 indicating alternation. Forward motion and joint cycling persist after deletion. Over 4.5–30 s, displacement is 2.239 m with feedback and 1.996 m without. The demonstrated contribution is contact coordination. Do not confuse this paired protocol with the separately supported basin/replay tests.</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Papers\Dissertation\Figures\60-sns\w2l_feedback_verified.pdf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supported human-model replay contains ten detected cycles per leg. This crop shows hip and knee mean and one standard deviation against the Gait2392 inverse-kinematics reference. Each leg aligns to its own loading onset with no fitted phase shift, angle offset, or amplitude adjustment. Hip and knee timing differences remain visible. Model stance fractions are 0.71 right and 0.65 left versus reference 0.61. Separate leg alignment does not prove bilateral coordination. The complete ankle/contact overlay is backup slide 34. Rhythmic cycles alone do not establish normal human gait.</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Papers\Dissertation\Figures\60-sns\gait2392_ik_overlay.pdf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Anterior and oblique views show the same saved state. Matched 15–40 s runs compare the separation-control bundle off and on. Reversed ankle ordering changes from 67% to zero, and minimum separation from −38.3 to 142.4 mm. The bundle adds separation feedback and raises the currently abducting-route activation floor from 5% to 6%. The current model has 54 reference-tension actuators and 262 neurons/230 inputs. The hybrid MN clamp cancels incoming PF/reflex currents, so it does not establish effective PF/reflex control of activation. Regular stepping is not accepted. Use the GIF as an optional replay, with support and geometry assumptions on the next slide.</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Papers\Dissertation\Defense\slideshow\AH001_20261028\ah001_abductor_control_still.png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Concentrate model scope here. W2L and human-model evaluations retain mechanical support. No harness-free walking is established anywhere in the program. For AH001 the displayed interval uses 80% actual vertical assistance plus lateral and angular support. Actuators are reference tensions, not calibrated BPA dynamics. The MN clamp cancels incoming PF and reflex currents. Foot mounting is provisional, with ideal rigid attachment brackets and assumed passive knee stops. Preventing crossing does not establish regular stepping, balance, or hardware validity. Keep these distinctions without repeating the limitation on every slide.</a:t>
            </a:r>
          </a:p>
          <a:p xmlns:a="http://schemas.openxmlformats.org/drawingml/2006/main">
            <a:r>
              <a:t/>
            </a:r>
          </a:p>
          <a:p xmlns:a="http://schemas.openxmlformats.org/drawingml/2006/main">
            <a:r>
              <a:t>Source: Current manuscript Ch. 6 / Appendix D · Session 1 AH001 records</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knowledge gap. Force characterization supports actuator selection at different resting lengths. Joint corrections and physical tests connect that force to delivered knee torque. SADb makes physiological findings inspectable in their source contexts. Controlled model interventions separate implementation agreement, feedback effects, and mechanical mismatch. These are complementary evidence chains. They do not yet constitute an integrated autonomous humanoid.</a:t>
            </a:r>
          </a:p>
          <a:p xmlns:a="http://schemas.openxmlformats.org/drawingml/2006/main">
            <a:r>
              <a:t/>
            </a:r>
          </a:p>
          <a:p xmlns:a="http://schemas.openxmlformats.org/drawingml/2006/main">
            <a:r>
              <a:t>Source: Dissertation Chs. 1, 3–7 · Current physical and simulation evidence</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Prioritize experiments that resolve interpretation. First, compare measured and predicted torque under matched pressures, lengths, and dynamic loads, keeping physical dimensions separate from prediction settings. Second, remove the engineered MN clamp only after the intended PF/reflex pathways have effective authority, and check their signs and perturbation responses. Third, verify physical foot mounting and attachment hardware before reducing assistance. Require repeated alternating clearance-qualified foot swings, acceptable IK agreement, posture, and measured support forces before promoting gait claims. Broader optimization is secondary to these acceptance tests.</a:t>
            </a:r>
          </a:p>
          <a:p xmlns:a="http://schemas.openxmlformats.org/drawingml/2006/main">
            <a:r>
              <a:t/>
            </a:r>
          </a:p>
          <a:p xmlns:a="http://schemas.openxmlformats.org/drawingml/2006/main">
            <a:r>
              <a:t>Source: Dissertation Discussion · Session 1 architecture and support audit</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research contribution, rather than a tool inventory. The force model predicts the consequences of resting-length choices. Corrected routes meet selected human-muscle targets at all tested isometric points. Source-linked sensory evidence and controlled neuromechanical experiments make pathway choices and model behavior inspectable. Future integration must earn the same level of evidence. Thank M. Anthony Hunt, the committee, AARL, and research collaborators, then invite questions.</a:t>
            </a:r>
          </a:p>
          <a:p xmlns:a="http://schemas.openxmlformats.org/drawingml/2006/main">
            <a:r>
              <a:t/>
            </a:r>
          </a:p>
          <a:p xmlns:a="http://schemas.openxmlformats.org/drawingml/2006/main">
            <a:r>
              <a:t>Source: Ben P. Bolen · Portland State University · AARL</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Panels C and D are the held-out nominal 46 cm and 40 cm-tendon tests, corresponding to actual 45.7 and 40.6 cm. Separate crops retain the full traces and shared legend; native labels supply panel letters and axes. The full model shares effective stiffness across both knee configurations. Validation mean RMSE is 1.490 N m.</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Papers\Dissertation\Figures\30-torque\FlxPin_optimized_publication.pdf</a:t>
            </a:r>
          </a:p>
          <a:p xmlns:a="http://schemas.openxmlformats.org/drawingml/2006/main">
            <a:r>
              <a:t>D:\GitHub\Bipedal_Robot\Documentation\Reports and Papers\Dissertation\Figures\30-torque\FlxPin_optimized_publication.pdf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exact adopted-fold test split. Flexor training is 48.5 and 41.0 cm; validation is 45.7 and 40.6 cm-tendon; 47 cm was not used. Extensor training is 43.6, 43.2-tendon, and 45.7 cm; validation is 40.0, 40.0-tendon, and 46.5 cm. The early shifted-bracket tests were excluded. Identification uses gamultiobj; route redesign uses surrogateopt and patternsearch. χ1/χ2 are effective stiffness terms, not isolated bracket material values.</a:t>
            </a:r>
          </a:p>
          <a:p xmlns:a="http://schemas.openxmlformats.org/drawingml/2006/main">
            <a:r>
              <a:t/>
            </a:r>
          </a:p>
          <a:p xmlns:a="http://schemas.openxmlformats.org/drawingml/2006/main">
            <a:r>
              <a:t>Source: Dissertation Ch. 4 · Current knee-torque manuscript, §§3–4</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rows are physical measurements, in resting/tendon order. Flexor 1 is 561/28 mm, flexor 2 560/30 mm, extensor 1 828/92 mm, and extensor 2 826/85 mm. Prediction inputs instead use shared flexor resting length 561.49 mm and an effective 5.00 mm tendon parameter after fitting adjustment, and extensor resting length 827.74 mm with about 92.49 mm tendon. The nominal 562 mm plot label remains a nominal prediction label.</a:t>
            </a:r>
          </a:p>
          <a:p xmlns:a="http://schemas.openxmlformats.org/drawingml/2006/main">
            <a:r>
              <a:t/>
            </a:r>
          </a:p>
          <a:p xmlns:a="http://schemas.openxmlformats.org/drawingml/2006/main">
            <a:r>
              <a:t>Source: Torque manuscript, Physical Tests · Dissertation Appendix C dimensions</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values are from the saved table. Two-period RG stimulus: +50 nA for 3.876 s, +0.210526 cycle RG and MN shift. PF same current/duration: zero residual phase at both. MN inhibition: −500 nA for 3.876 s, zero residual. The one-second PF control gives +0.208462 motor shift with zero RG shift. Thus motor phase shift alone does not establish an RG reset. The smaller-current sweep has no observable complete-burst deletion, although brief active-time losses appear in some rows.</a:t>
            </a:r>
          </a:p>
          <a:p xmlns:a="http://schemas.openxmlformats.org/drawingml/2006/main">
            <a:r>
              <a:t/>
            </a:r>
          </a:p>
          <a:p xmlns:a="http://schemas.openxmlformats.org/drawingml/2006/main">
            <a:r>
              <a:t>Source: stimulus_results_all.csv · Current Appendix D layer-stimulus protocols</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runs use matching geometry, support, initial pose, and reference tensions. The control bundle adds 160 N/m separation feedback capped at 20 N, plus a 5% to 6% floor on currently abducting routes. The interval is 15–40 s. Zero reversed ordering and zero sampled mesh penetration are separate checks. Toe-out remains about 25–28 degrees, and post-ramp knee motion is small. Exact-fast and reference saved arrays reproduce bit for bit in fresh 40 s runs. This is numerical replay, not robustness or hardware validity.</a:t>
            </a:r>
          </a:p>
          <a:p xmlns:a="http://schemas.openxmlformats.org/drawingml/2006/main">
            <a:r>
              <a:t/>
            </a:r>
          </a:p>
          <a:p xmlns:a="http://schemas.openxmlformats.org/drawingml/2006/main">
            <a:r>
              <a:t>Source: AH001_20261028/PLACEMENT_RECOMMENDATION.md · asset_provenance.json</a:t>
            </a:r>
          </a:p>
          <a:p xmlns:a="http://schemas.openxmlformats.org/drawingml/2006/main">
            <a:r>
              <a:t/>
            </a:r>
          </a:p>
          <a:p xmlns:a="http://schemas.openxmlformats.org/drawingml/2006/main">
            <a:r>
              <a:t>Figure provenance: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schematic separates CAD/Simscape imports from OpenSim/MyoConverter/MuJoCo conversion and repairs. Neural control uses graphical SNS blocks or scripted SNS-Toolbox. The MathWorks bridge provides a command/sensor interface, not evidence that every circuit transfers dynamically. My contribution is the neural/actuator coupling, graphical implementations, and verification procedures, building on existing engines and formulations.</a:t>
            </a:r>
          </a:p>
          <a:p xmlns:a="http://schemas.openxmlformats.org/drawingml/2006/main">
            <a:r>
              <a:t/>
            </a:r>
          </a:p>
          <a:p xmlns:a="http://schemas.openxmlformats.org/drawingml/2006/main">
            <a:r>
              <a:t>Source: Dissertation Ch. 6, Model construction and neural-controller interfaces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Papers\Dissertation\Figures\60-sns\simulation_workflow.pdf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10 mm comparisons are the two upper panels of the published figure, with measured force on x and predicted force on y. The diagonal indicates agreement. Preserve model identities and tested length scopes. This supports the comparison in these reported cases and is not an exhaustive model benchmark. The published coefficients and scientific results remain unchanged.</a:t>
            </a:r>
          </a:p>
          <a:p xmlns:a="http://schemas.openxmlformats.org/drawingml/2006/main">
            <a:r>
              <a:t/>
            </a:r>
          </a:p>
          <a:p xmlns:a="http://schemas.openxmlformats.org/drawingml/2006/main">
            <a:r>
              <a:t>Source: Bolen et al. (2026), Actuators 15(5):230 · Dissertation Ch. 3</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 source figure includes hip, knee, ankle, and stance/contact comparisons. Each leg is aligned independently to loading onset. The same ten-cycle replay supplies the core-talk crop. No fitted angle offsets, amplitude adjustment, or phase shifts are used. The model and reference stance fractions differ, and separate leg alignment does not establish bilateral phase.</a:t>
            </a:r>
          </a:p>
          <a:p xmlns:a="http://schemas.openxmlformats.org/drawingml/2006/main">
            <a:r>
              <a:t/>
            </a:r>
          </a:p>
          <a:p xmlns:a="http://schemas.openxmlformats.org/drawingml/2006/main">
            <a:r>
              <a:t>Source: Dissertation Ch. 6 and Appendix D · Current saved verification records</a:t>
            </a:r>
          </a:p>
          <a:p xmlns:a="http://schemas.openxmlformats.org/drawingml/2006/main">
            <a:r>
              <a:t/>
            </a:r>
          </a:p>
          <a:p xmlns:a="http://schemas.openxmlformats.org/drawingml/2006/main">
            <a:r>
              <a:t>Figure provenance:</a:t>
            </a:r>
          </a:p>
          <a:p xmlns:a="http://schemas.openxmlformats.org/drawingml/2006/main">
            <a:r>
              <a:t>D:\GitHub\Bipedal_Robot\Documentation\Reports and Papers\Dissertation\Figures\60-sns\gait2392_ik_overlay.pdf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12-second replay of the same supported AH001 abductor-control condition. The GIF contains 96 frames over 20–32 s. It illustrates the recorded kinematics and leg separation, not accepted regular stepping. Use slide 23 for support, actuator, and MN-clamp scope, and slide 31 for the matched measures.</a:t>
            </a:r>
          </a:p>
          <a:p xmlns:a="http://schemas.openxmlformats.org/drawingml/2006/main">
            <a:r>
              <a:t/>
            </a:r>
          </a:p>
          <a:p xmlns:a="http://schemas.openxmlformats.org/drawingml/2006/main">
            <a:r>
              <a:t>Source: AH001_20261028/asset_provenance.json · saved 20–32 s interval</a:t>
            </a:r>
          </a:p>
          <a:p xmlns:a="http://schemas.openxmlformats.org/drawingml/2006/main">
            <a:r>
              <a:t/>
            </a:r>
          </a:p>
          <a:p xmlns:a="http://schemas.openxmlformats.org/drawingml/2006/main">
            <a:r>
              <a:t>Figure provenance:</a:t>
            </a:r>
          </a:p>
          <a:p xmlns:a="http://schemas.openxmlformats.org/drawingml/2006/main">
            <a:r>
              <a:t/>
            </a:r>
          </a:p>
          <a:p xmlns:a="http://schemas.openxmlformats.org/drawingml/2006/main">
            <a:r>
              <a:t>D:/GitHub/Bipedal_Robot/Documentation/Reports and Papers/Dissertation/Defense/slideshow/AH001_20261028/ah001_abductor_control.gif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4fea50dbf44d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507cd8fd8e40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06334b247044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f8d166e5af4d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81e16a81c74f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ea6bf76c8644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9C6C1B-AE0E-4163-A1D0-4DB991FCDE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D129CE-04DA-465A-B725-376DBA75D0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71D0FF-20CF-4106-ADDA-6A98770D4C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120B34-A422-4039-B47E-3BD2278141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0559F8-FF46-4935-83E2-570BD62BC9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8C169F-19D4-4A25-9031-7FFF937682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5A122B-82AB-4BC3-8B3D-1D7F925D47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6AEDB2-87E8-4ADB-8CC5-70F8C569A9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13F492-C0F5-449B-9FF1-9E28364AE7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2C9789-8345-4C87-9F89-3306D3BDB5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3e9bfe41b848ab" /><Relationship Type="http://schemas.openxmlformats.org/officeDocument/2006/relationships/slideLayout" Target="/ppt/slideLayouts/slideLayout1.xml" Id="R8ba1e83a2bcc418c" /><Relationship Type="http://schemas.openxmlformats.org/officeDocument/2006/relationships/slideLayout" Target="/ppt/slideLayouts/slideLayout2.xml" Id="R829cc9474c51432d" /><Relationship Type="http://schemas.openxmlformats.org/officeDocument/2006/relationships/slideLayout" Target="/ppt/slideLayouts/slideLayout3.xml" Id="R7c36e34752d84c35" /><Relationship Type="http://schemas.openxmlformats.org/officeDocument/2006/relationships/slideLayout" Target="/ppt/slideLayouts/slideLayout4.xml" Id="R47a9226a83f84ced" /><Relationship Type="http://schemas.openxmlformats.org/officeDocument/2006/relationships/slideLayout" Target="/ppt/slideLayouts/slideLayout5.xml" Id="R6ce6a21902694d0f" /><Relationship Type="http://schemas.openxmlformats.org/officeDocument/2006/relationships/slideLayout" Target="/ppt/slideLayouts/slideLayout6.xml" Id="Rda27b0033f8e4f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a1e83a2bcc418c"/>
    <p:sldLayoutId xmlns:r="http://schemas.openxmlformats.org/officeDocument/2006/relationships" id="2147483650" r:id="R829cc9474c51432d"/>
    <p:sldLayoutId xmlns:r="http://schemas.openxmlformats.org/officeDocument/2006/relationships" id="2147483651" r:id="R7c36e34752d84c35"/>
    <p:sldLayoutId xmlns:r="http://schemas.openxmlformats.org/officeDocument/2006/relationships" id="2147483652" r:id="R47a9226a83f84ced"/>
    <p:sldLayoutId xmlns:r="http://schemas.openxmlformats.org/officeDocument/2006/relationships" id="2147483653" r:id="R6ce6a21902694d0f"/>
    <p:sldLayoutId xmlns:r="http://schemas.openxmlformats.org/officeDocument/2006/relationships" id="2147483654" r:id="Rda27b0033f8e4f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ade13779d24edf" /><Relationship Type="http://schemas.openxmlformats.org/officeDocument/2006/relationships/image" Target="/ppt/media/image.png" Id="R942247bf01be49e7" /><Relationship Type="http://schemas.openxmlformats.org/officeDocument/2006/relationships/notesSlide" Target="/ppt/notesSlides/notesSlide1.xml" Id="R168bdc6b55f640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05bb37dc1c4bef" /><Relationship Type="http://schemas.openxmlformats.org/officeDocument/2006/relationships/notesSlide" Target="/ppt/notesSlides/notesSlide2.xml" Id="Rf05b7b17ab9544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8f1780f1e94dfa" /><Relationship Type="http://schemas.openxmlformats.org/officeDocument/2006/relationships/image" Target="/ppt/media/image2.png" Id="Ra671e928dbdb4b46" /><Relationship Type="http://schemas.openxmlformats.org/officeDocument/2006/relationships/notesSlide" Target="/ppt/notesSlides/notesSlide3.xml" Id="R0e76608d796041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992ecca0ae433e" /><Relationship Type="http://schemas.openxmlformats.org/officeDocument/2006/relationships/image" Target="/ppt/media/image3.png" Id="R509d375b48bd4c1e" /><Relationship Type="http://schemas.openxmlformats.org/officeDocument/2006/relationships/image" Target="/ppt/media/image4.png" Id="R984f72f1a6424ba3" /><Relationship Type="http://schemas.openxmlformats.org/officeDocument/2006/relationships/notesSlide" Target="/ppt/notesSlides/notesSlide4.xml" Id="R20fd055fe95a43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cb616c57b04924" /><Relationship Type="http://schemas.openxmlformats.org/officeDocument/2006/relationships/image" Target="/ppt/media/image5.png" Id="R12ae367f86334664" /><Relationship Type="http://schemas.openxmlformats.org/officeDocument/2006/relationships/image" Target="/ppt/media/image6.png" Id="R67c504404460470a" /><Relationship Type="http://schemas.openxmlformats.org/officeDocument/2006/relationships/notesSlide" Target="/ppt/notesSlides/notesSlide5.xml" Id="R94932b52966f4c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a28c246cda427d" /><Relationship Type="http://schemas.openxmlformats.org/officeDocument/2006/relationships/chart" Target="/ppt/slides/charts/chart1.xml" Id="R30665bdd53e14cd1" /><Relationship Type="http://schemas.openxmlformats.org/officeDocument/2006/relationships/notesSlide" Target="/ppt/notesSlides/notesSlide6.xml" Id="R1e7483343c5a44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61062cc45d48cc" /><Relationship Type="http://schemas.openxmlformats.org/officeDocument/2006/relationships/notesSlide" Target="/ppt/notesSlides/notesSlide7.xml" Id="R9723b4690acd4f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8bbb286f6d4063" /><Relationship Type="http://schemas.openxmlformats.org/officeDocument/2006/relationships/image" Target="/ppt/media/image7.png" Id="R3b9ab6eefe8f4443" /><Relationship Type="http://schemas.openxmlformats.org/officeDocument/2006/relationships/image" Target="/ppt/media/image8.png" Id="R84f842582eed40b5" /><Relationship Type="http://schemas.openxmlformats.org/officeDocument/2006/relationships/notesSlide" Target="/ppt/notesSlides/notesSlide8.xml" Id="Rf6e22bd06c6940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2a949a29394b7a" /><Relationship Type="http://schemas.openxmlformats.org/officeDocument/2006/relationships/notesSlide" Target="/ppt/notesSlides/notesSlide9.xml" Id="Reda0c15f7d5043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a76a8a7e204f7e" /><Relationship Type="http://schemas.openxmlformats.org/officeDocument/2006/relationships/image" Target="/ppt/media/image9.png" Id="R281dcb716b8943b2" /><Relationship Type="http://schemas.openxmlformats.org/officeDocument/2006/relationships/notesSlide" Target="/ppt/notesSlides/notesSlide10.xml" Id="R88823b01f1eb4c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dead3ee2604c35" /><Relationship Type="http://schemas.openxmlformats.org/officeDocument/2006/relationships/image" Target="/ppt/media/image10.png" Id="R122030d33d3942d8" /><Relationship Type="http://schemas.openxmlformats.org/officeDocument/2006/relationships/notesSlide" Target="/ppt/notesSlides/notesSlide11.xml" Id="R295b32bd27d645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30cb6ba6a84aad" /><Relationship Type="http://schemas.openxmlformats.org/officeDocument/2006/relationships/image" Target="/ppt/media/image11.png" Id="R11ac00088c3b402f" /><Relationship Type="http://schemas.openxmlformats.org/officeDocument/2006/relationships/notesSlide" Target="/ppt/notesSlides/notesSlide12.xml" Id="R88df098395b045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ed871f4f8f8426d" /><Relationship Type="http://schemas.openxmlformats.org/officeDocument/2006/relationships/image" Target="/ppt/media/image12.png" Id="Rd828c17e872742f7" /><Relationship Type="http://schemas.openxmlformats.org/officeDocument/2006/relationships/notesSlide" Target="/ppt/notesSlides/notesSlide13.xml" Id="R599bbff612454e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1e688bfe4f4123" /><Relationship Type="http://schemas.openxmlformats.org/officeDocument/2006/relationships/image" Target="/ppt/media/image13.png" Id="Rfc2b32016b184a2c" /><Relationship Type="http://schemas.openxmlformats.org/officeDocument/2006/relationships/notesSlide" Target="/ppt/notesSlides/notesSlide14.xml" Id="R752c23f89dbf49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15f110971614d4c" /><Relationship Type="http://schemas.openxmlformats.org/officeDocument/2006/relationships/notesSlide" Target="/ppt/notesSlides/notesSlide15.xml" Id="R9723187b0bb042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412a9a93e9d4c9e" /><Relationship Type="http://schemas.openxmlformats.org/officeDocument/2006/relationships/image" Target="/ppt/media/image14.png" Id="R63d8aa228826438f" /><Relationship Type="http://schemas.openxmlformats.org/officeDocument/2006/relationships/notesSlide" Target="/ppt/notesSlides/notesSlide16.xml" Id="R090dec12f7214c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1bc121300434bab" /><Relationship Type="http://schemas.openxmlformats.org/officeDocument/2006/relationships/image" Target="/ppt/media/image15.png" Id="Recfd72337d0f4027" /><Relationship Type="http://schemas.openxmlformats.org/officeDocument/2006/relationships/notesSlide" Target="/ppt/notesSlides/notesSlide17.xml" Id="R49e10ed66ebf492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a0c1b5fdbff43b0" /><Relationship Type="http://schemas.openxmlformats.org/officeDocument/2006/relationships/image" Target="/ppt/media/image16.png" Id="R25cd8faed46841c3" /><Relationship Type="http://schemas.openxmlformats.org/officeDocument/2006/relationships/image" Target="/ppt/media/image17.png" Id="Ra54d92cf9f564182" /><Relationship Type="http://schemas.openxmlformats.org/officeDocument/2006/relationships/image" Target="/ppt/media/image18.png" Id="Rc475daeb8d654572" /><Relationship Type="http://schemas.openxmlformats.org/officeDocument/2006/relationships/notesSlide" Target="/ppt/notesSlides/notesSlide18.xml" Id="R07f936614baa42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73990a1b040490b" /><Relationship Type="http://schemas.openxmlformats.org/officeDocument/2006/relationships/image" Target="/ppt/media/image19.png" Id="R4e00c1cd01de442f" /><Relationship Type="http://schemas.openxmlformats.org/officeDocument/2006/relationships/image" Target="/ppt/media/image20.png" Id="Re006e8a7342f4122" /><Relationship Type="http://schemas.openxmlformats.org/officeDocument/2006/relationships/notesSlide" Target="/ppt/notesSlides/notesSlide19.xml" Id="R6e0fb21286ab42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4fa6349ffcc457d" /><Relationship Type="http://schemas.openxmlformats.org/officeDocument/2006/relationships/image" Target="/ppt/media/image21.png" Id="Rdf06260760fc49f0" /><Relationship Type="http://schemas.openxmlformats.org/officeDocument/2006/relationships/notesSlide" Target="/ppt/notesSlides/notesSlide20.xml" Id="R277915445a4440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56507e19f634dbd" /><Relationship Type="http://schemas.openxmlformats.org/officeDocument/2006/relationships/image" Target="/ppt/media/image22.png" Id="R549d5c293cff4910" /><Relationship Type="http://schemas.openxmlformats.org/officeDocument/2006/relationships/notesSlide" Target="/ppt/notesSlides/notesSlide21.xml" Id="Refbb081157eb42f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f9ddb67b2b746f7" /><Relationship Type="http://schemas.openxmlformats.org/officeDocument/2006/relationships/image" Target="/ppt/media/image23.png" Id="R4e89a20db3004a0d" /><Relationship Type="http://schemas.openxmlformats.org/officeDocument/2006/relationships/notesSlide" Target="/ppt/notesSlides/notesSlide22.xml" Id="R4a92ae5bd74c4f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a8317221ef944bf" /><Relationship Type="http://schemas.openxmlformats.org/officeDocument/2006/relationships/notesSlide" Target="/ppt/notesSlides/notesSlide23.xml" Id="R89e5ec84c2ca42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9374c6695874ae3" /><Relationship Type="http://schemas.openxmlformats.org/officeDocument/2006/relationships/notesSlide" Target="/ppt/notesSlides/notesSlide24.xml" Id="R2f03381bcd2548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c0273955b4141cb" /><Relationship Type="http://schemas.openxmlformats.org/officeDocument/2006/relationships/notesSlide" Target="/ppt/notesSlides/notesSlide25.xml" Id="Ra664f17999c24d8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405017bd05442bd" /><Relationship Type="http://schemas.openxmlformats.org/officeDocument/2006/relationships/notesSlide" Target="/ppt/notesSlides/notesSlide26.xml" Id="R598b06bd7e2543c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ed09510be32441d" /><Relationship Type="http://schemas.openxmlformats.org/officeDocument/2006/relationships/image" Target="/ppt/media/image24.png" Id="Ra29aad102e0844b0" /><Relationship Type="http://schemas.openxmlformats.org/officeDocument/2006/relationships/image" Target="/ppt/media/image25.png" Id="R5f3ecf5ba0fa405c" /><Relationship Type="http://schemas.openxmlformats.org/officeDocument/2006/relationships/notesSlide" Target="/ppt/notesSlides/notesSlide27.xml" Id="R4c5913e69e094bc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3858ed426ae463d" /><Relationship Type="http://schemas.openxmlformats.org/officeDocument/2006/relationships/notesSlide" Target="/ppt/notesSlides/notesSlide28.xml" Id="R0ffde7a85cd74b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5a707e23ab7490b" /><Relationship Type="http://schemas.openxmlformats.org/officeDocument/2006/relationships/notesSlide" Target="/ppt/notesSlides/notesSlide29.xml" Id="R43a63c044eda4fe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ed2301783e14a4d" /><Relationship Type="http://schemas.openxmlformats.org/officeDocument/2006/relationships/notesSlide" Target="/ppt/notesSlides/notesSlide30.xml" Id="R088b554e4bf7429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baed9739d4942ec" /><Relationship Type="http://schemas.openxmlformats.org/officeDocument/2006/relationships/notesSlide" Target="/ppt/notesSlides/notesSlide31.xml" Id="R246ef29c94d44fe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2fe88d1ef32423f" /><Relationship Type="http://schemas.openxmlformats.org/officeDocument/2006/relationships/image" Target="/ppt/media/image26.png" Id="R286908d6482941b3" /><Relationship Type="http://schemas.openxmlformats.org/officeDocument/2006/relationships/notesSlide" Target="/ppt/notesSlides/notesSlide32.xml" Id="Rfe3d3e0b220f4d0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dc77143272d4502" /><Relationship Type="http://schemas.openxmlformats.org/officeDocument/2006/relationships/image" Target="/ppt/media/image27.png" Id="R036b52ef3cd845e2" /><Relationship Type="http://schemas.openxmlformats.org/officeDocument/2006/relationships/notesSlide" Target="/ppt/notesSlides/notesSlide33.xml" Id="R7fb134df13f345e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0d5733c4b484fb6" /><Relationship Type="http://schemas.openxmlformats.org/officeDocument/2006/relationships/image" Target="/ppt/media/image28.png" Id="Ref0d238839444f73" /><Relationship Type="http://schemas.openxmlformats.org/officeDocument/2006/relationships/notesSlide" Target="/ppt/notesSlides/notesSlide34.xml" Id="R806f3e0792c0455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77f9a8f66b741db" /><Relationship Type="http://schemas.openxmlformats.org/officeDocument/2006/relationships/image" Target="/ppt/media/image.gif" Id="R6c45bb5c947c4087" /><Relationship Type="http://schemas.openxmlformats.org/officeDocument/2006/relationships/notesSlide" Target="/ppt/notesSlides/notesSlide35.xml" Id="R613b94e9305743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00758A"/>
            </a:solidFill>
          </c:spPr>
          <c:invertIfNegative val="0"/>
          <c:cat>
            <c:strRef>
              <c:f>'Chart Data'!$A$2:$A$4</c:f>
              <c:strCache>
                <c:ptCount val="3"/>
                <c:pt idx="0">
                  <c:v>Measured</c:v>
                </c:pt>
                <c:pt idx="1">
                  <c:v>New model</c:v>
                </c:pt>
                <c:pt idx="2">
                  <c:v>Manufacturer</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2175">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025">
                <a:solidFill>
                  <a:srgbClr val="666666"/>
                </a:solidFill>
                <a:latin typeface="Calibri"/>
                <a:ea typeface="Calibri"/>
                <a:cs typeface="Calibri"/>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792F68-11CA-4BEC-8AA1-22B681EF2AF2}"/>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PHD DEFENSE</a:t>
            </a:r>
          </a:p>
        </p:txBody>
      </p:sp>
      <p:sp>
        <p:nvSpPr>
          <p:cNvPr id="2" name="">
            <a:extLst xmlns:a="http://schemas.openxmlformats.org/drawingml/2006/main">
              <a:ext uri="{FF2B5EF4-FFF2-40B4-BE49-F238E27FC236}">
                <a16:creationId xmlns:a16="http://schemas.microsoft.com/office/drawing/2014/main" id="{5A945A85-1EC7-4411-854C-4B07BCEB9934}"/>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Movement and Control of</a:t>
            </a:r>
          </a:p>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59A42B63-83E0-4AE0-A9A7-1CB531B6B3BF}"/>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FD433C83-CFB9-437C-923B-1FE7FB557BF3}"/>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D11D6AD0-8385-41FC-857F-98BEA1DEB932}"/>
              </a:ext>
            </a:extLst>
          </p:cNvPr>
          <p:cNvSpPr>
            <a:spLocks xmlns:a="http://schemas.openxmlformats.org/drawingml/2006/main" noGrp="1"/>
          </p:cNvSpPr>
          <p:nvPr/>
        </p:nvSpPr>
        <p:spPr>
          <a:xfrm xmlns:a="http://schemas.openxmlformats.org/drawingml/2006/main">
            <a:off x="571500" y="252412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02C33"/>
                </a:solidFill>
                <a:latin typeface="Calibri"/>
                <a:ea typeface="Calibri"/>
                <a:cs typeface="Calibri"/>
              </a:defRPr>
            </a:defPPr>
            <a:lvl1pPr>
              <a:defRPr sz="3000" b="1">
                <a:solidFill>
                  <a:srgbClr val="202C33"/>
                </a:solidFill>
                <a:latin typeface="Calibri"/>
                <a:ea typeface="Calibri"/>
                <a:cs typeface="Calibri"/>
              </a:defRPr>
            </a:lvl1pPr>
            <a:lvl2pPr>
              <a:defRPr sz="3000" b="1">
                <a:solidFill>
                  <a:srgbClr val="202C33"/>
                </a:solidFill>
                <a:latin typeface="Calibri"/>
                <a:ea typeface="Calibri"/>
                <a:cs typeface="Calibri"/>
              </a:defRPr>
            </a:lvl2pPr>
            <a:lvl3pPr>
              <a:defRPr sz="3000" b="1">
                <a:solidFill>
                  <a:srgbClr val="202C33"/>
                </a:solidFill>
                <a:latin typeface="Calibri"/>
                <a:ea typeface="Calibri"/>
                <a:cs typeface="Calibri"/>
              </a:defRPr>
            </a:lvl3pPr>
            <a:lvl4pPr>
              <a:defRPr sz="3000" b="1">
                <a:solidFill>
                  <a:srgbClr val="202C33"/>
                </a:solidFill>
                <a:latin typeface="Calibri"/>
                <a:ea typeface="Calibri"/>
                <a:cs typeface="Calibri"/>
              </a:defRPr>
            </a:lvl4pPr>
            <a:lvl5pPr>
              <a:defRPr sz="3000" b="1">
                <a:solidFill>
                  <a:srgbClr val="202C33"/>
                </a:solidFill>
                <a:latin typeface="Calibri"/>
                <a:ea typeface="Calibri"/>
                <a:cs typeface="Calibri"/>
              </a:defRPr>
            </a:lvl5pPr>
            <a:lvl6pPr>
              <a:defRPr sz="3000" b="1">
                <a:solidFill>
                  <a:srgbClr val="202C33"/>
                </a:solidFill>
                <a:latin typeface="Calibri"/>
                <a:ea typeface="Calibri"/>
                <a:cs typeface="Calibri"/>
              </a:defRPr>
            </a:lvl6pPr>
            <a:lvl7pPr>
              <a:defRPr sz="3000" b="1">
                <a:solidFill>
                  <a:srgbClr val="202C33"/>
                </a:solidFill>
                <a:latin typeface="Calibri"/>
                <a:ea typeface="Calibri"/>
                <a:cs typeface="Calibri"/>
              </a:defRPr>
            </a:lvl7pPr>
            <a:lvl8pPr>
              <a:defRPr sz="3000" b="1">
                <a:solidFill>
                  <a:srgbClr val="202C33"/>
                </a:solidFill>
                <a:latin typeface="Calibri"/>
                <a:ea typeface="Calibri"/>
                <a:cs typeface="Calibri"/>
              </a:defRPr>
            </a:lvl8pPr>
            <a:lvl9pPr>
              <a:defRPr sz="3000" b="1">
                <a:solidFill>
                  <a:srgbClr val="202C33"/>
                </a:solidFill>
                <a:latin typeface="Calibri"/>
                <a:ea typeface="Calibri"/>
                <a:cs typeface="Calibri"/>
              </a:defRPr>
            </a:lvl9pPr>
          </a:lstStyle>
          <a:p xmlns:a="http://schemas.openxmlformats.org/drawingml/2006/main">
            <a:pPr>
              <a:defRPr sz="3000" b="1">
                <a:solidFill>
                  <a:srgbClr val="202C33"/>
                </a:solidFill>
                <a:latin typeface="Calibri"/>
                <a:ea typeface="Calibri"/>
                <a:cs typeface="Calibri"/>
              </a:defRPr>
            </a:pPr>
            <a:r>
              <a:rPr sz="3000" b="1">
                <a:solidFill>
                  <a:srgbClr val="202C33"/>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84E02296-5E4A-465D-A2CC-8663611304AD}"/>
              </a:ext>
            </a:extLst>
          </p:cNvPr>
          <p:cNvSpPr>
            <a:spLocks xmlns:a="http://schemas.openxmlformats.org/drawingml/2006/main" noGrp="1"/>
          </p:cNvSpPr>
          <p:nvPr/>
        </p:nvSpPr>
        <p:spPr>
          <a:xfrm xmlns:a="http://schemas.openxmlformats.org/drawingml/2006/main">
            <a:off x="571500" y="338137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xmlns:a="http://schemas.openxmlformats.org/drawingml/2006/main">
            <a:pPr>
              <a:defRPr sz="2250" b="0">
                <a:solidFill>
                  <a:srgbClr val="202C33"/>
                </a:solidFill>
                <a:latin typeface="Calibri"/>
                <a:ea typeface="Calibri"/>
                <a:cs typeface="Calibri"/>
              </a:defRPr>
            </a:pPr>
            <a:r>
              <a:rPr sz="2250" b="0">
                <a:solidFill>
                  <a:srgbClr val="202C33"/>
                </a:solidFill>
                <a:latin typeface="Calibri"/>
                <a:ea typeface="Calibri"/>
                <a:cs typeface="Calibri"/>
              </a:rPr>
              <a:t>Mechanical Engineering</a:t>
            </a:r>
          </a:p>
          <a:p xmlns:a="http://schemas.openxmlformats.org/drawingml/2006/main">
            <a:pPr>
              <a:defRPr sz="2250" b="0">
                <a:solidFill>
                  <a:srgbClr val="202C33"/>
                </a:solidFill>
                <a:latin typeface="Calibri"/>
                <a:ea typeface="Calibri"/>
                <a:cs typeface="Calibri"/>
              </a:defRPr>
            </a:pPr>
            <a:r>
              <a:rPr sz="2250" b="0">
                <a:solidFill>
                  <a:srgbClr val="202C33"/>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B6C2B61D-96E8-45AD-84B9-4EC170984E57}"/>
              </a:ext>
            </a:extLst>
          </p:cNvPr>
          <p:cNvPicPr>
            <a:picLocks xmlns:a="http://schemas.openxmlformats.org/drawingml/2006/main" noChangeAspect="1"/>
          </p:cNvPicPr>
          <p:nvPr/>
        </p:nvPicPr>
        <p:blipFill>
          <a:blip xmlns:r="http://schemas.openxmlformats.org/officeDocument/2006/relationships" xmlns:a="http://schemas.openxmlformats.org/drawingml/2006/main" r:embed="R942247bf01be49e7"/>
          <a:stretch xmlns:a="http://schemas.openxmlformats.org/drawingml/2006/main"/>
        </p:blipFill>
        <p:spPr>
          <a:xfrm xmlns:a="http://schemas.openxmlformats.org/drawingml/2006/main">
            <a:off x="8572500" y="1940719"/>
            <a:ext cx="2428875" cy="3643313"/>
          </a:xfrm>
          <a:prstGeom xmlns:a="http://schemas.openxmlformats.org/drawingml/2006/main" prst="rect">
            <a:avLst/>
          </a:prstGeom>
        </p:spPr>
      </p:pic>
    </p:spTree>
    <p:extLst>
      <p:ext uri="{BB962C8B-B14F-4D97-AF65-F5344CB8AC3E}">
        <p14:creationId xmlns:p14="http://schemas.microsoft.com/office/powerpoint/2010/main" val="197714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9C1C90-61AE-4F40-BE6C-A64CB6859929}"/>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RESEARCH NEED AND KNOWLEDGE GAP</a:t>
            </a:r>
          </a:p>
        </p:txBody>
      </p:sp>
      <p:sp>
        <p:nvSpPr>
          <p:cNvPr id="2" name="">
            <a:extLst xmlns:a="http://schemas.openxmlformats.org/drawingml/2006/main">
              <a:ext uri="{FF2B5EF4-FFF2-40B4-BE49-F238E27FC236}">
                <a16:creationId xmlns:a16="http://schemas.microsoft.com/office/drawing/2014/main" id="{CCEA9E75-B133-4330-AB14-F5FD1C0F544C}"/>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A research robot needs evidence at each model boundary</a:t>
            </a:r>
          </a:p>
        </p:txBody>
      </p:sp>
      <p:sp>
        <p:nvSpPr>
          <p:cNvPr id="3" name="">
            <a:extLst xmlns:a="http://schemas.openxmlformats.org/drawingml/2006/main">
              <a:ext uri="{FF2B5EF4-FFF2-40B4-BE49-F238E27FC236}">
                <a16:creationId xmlns:a16="http://schemas.microsoft.com/office/drawing/2014/main" id="{1F886357-F70A-4DDD-BA30-994D703484EC}"/>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1, Motivation and Research Objectives</a:t>
            </a:r>
          </a:p>
        </p:txBody>
      </p:sp>
      <p:sp>
        <p:nvSpPr>
          <p:cNvPr id="4" name="">
            <a:extLst xmlns:a="http://schemas.openxmlformats.org/drawingml/2006/main">
              <a:ext uri="{FF2B5EF4-FFF2-40B4-BE49-F238E27FC236}">
                <a16:creationId xmlns:a16="http://schemas.microsoft.com/office/drawing/2014/main" id="{417CD491-CDDF-493B-921A-83DB19C16896}"/>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a:t>
            </a:r>
          </a:p>
        </p:txBody>
      </p:sp>
      <p:graphicFrame>
        <p:nvGraphicFramePr>
          <p:cNvPr id="5" name="">
            <a:extLst xmlns:a="http://schemas.openxmlformats.org/drawingml/2006/main">
              <a:ext uri="{FF2B5EF4-FFF2-40B4-BE49-F238E27FC236}">
                <a16:creationId xmlns:a16="http://schemas.microsoft.com/office/drawing/2014/main" id="{A16A3F87-ADAA-4062-BB7F-5B00CF29B0E6}"/>
              </a:ext>
            </a:extLst>
          </p:cNvPr>
          <p:cNvGraphicFramePr/>
          <p:nvPr/>
        </p:nvGraphicFramePr>
        <p:xfrm>
          <a:off xmlns:a="http://schemas.openxmlformats.org/drawingml/2006/main" x="571500" y="1733550"/>
          <a:ext xmlns:a="http://schemas.openxmlformats.org/drawingml/2006/main" cx="11049000" cy="4238625"/>
        </p:xfrm>
        <a:graphic xmlns:a="http://schemas.openxmlformats.org/drawingml/2006/main">
          <a:graphicData uri="http://schemas.openxmlformats.org/drawingml/2006/table">
            <a:tbl>
              <a:tblPr/>
              <a:tblGrid>
                <a:gridCol w="5524500"/>
                <a:gridCol w="5524500"/>
              </a:tblGrid>
              <a:tr h="847725">
                <a:tc>
                  <a:txBody>
                    <a:bodyPr/>
                    <a:lstStyle/>
                    <a:p>
                      <a:r>
                        <a:rPr sz="2025" b="1">
                          <a:solidFill>
                            <a:srgbClr val="006D77"/>
                          </a:solidFill>
                          <a:latin typeface="Calibri"/>
                          <a:ea typeface="Calibri"/>
                          <a:cs typeface="Calibri"/>
                        </a:rPr>
                        <a:t>Unknown in the design</a:t>
                      </a:r>
                    </a:p>
                  </a:txBody>
                  <a:tcPr marL="91440" marR="91440" marT="45720" marB="45720">
                    <a:solidFill>
                      <a:srgbClr val="FFFFFF"/>
                    </a:solidFill>
                  </a:tcPr>
                </a:tc>
                <a:tc>
                  <a:txBody>
                    <a:bodyPr/>
                    <a:lstStyle/>
                    <a:p>
                      <a:r>
                        <a:rPr sz="2025" b="1">
                          <a:solidFill>
                            <a:srgbClr val="006D77"/>
                          </a:solidFill>
                          <a:latin typeface="Calibri"/>
                          <a:ea typeface="Calibri"/>
                          <a:cs typeface="Calibri"/>
                        </a:rPr>
                        <a:t>Evidence developed here</a:t>
                      </a:r>
                    </a:p>
                  </a:txBody>
                  <a:tcPr marL="91440" marR="91440" marT="45720" marB="45720">
                    <a:solidFill>
                      <a:srgbClr val="FFFFFF"/>
                    </a:solidFill>
                  </a:tcPr>
                </a:tc>
              </a:tr>
              <a:tr h="847725">
                <a:tc>
                  <a:txBody>
                    <a:bodyPr/>
                    <a:lstStyle/>
                    <a:p>
                      <a:r>
                        <a:rPr sz="2025" b="0">
                          <a:solidFill>
                            <a:srgbClr val="202C33"/>
                          </a:solidFill>
                          <a:latin typeface="Calibri"/>
                          <a:ea typeface="Calibri"/>
                          <a:cs typeface="Calibri"/>
                        </a:rPr>
                        <a:t>Force when actuator length changes</a:t>
                      </a:r>
                    </a:p>
                  </a:txBody>
                  <a:tcPr marL="91440" marR="91440" marT="45720" marB="45720">
                    <a:solidFill>
                      <a:srgbClr val="FFFFFF"/>
                    </a:solidFill>
                  </a:tcPr>
                </a:tc>
                <a:tc>
                  <a:txBody>
                    <a:bodyPr/>
                    <a:lstStyle/>
                    <a:p>
                      <a:r>
                        <a:rPr sz="2025" b="0">
                          <a:solidFill>
                            <a:srgbClr val="202C33"/>
                          </a:solidFill>
                          <a:latin typeface="Calibri"/>
                          <a:ea typeface="Calibri"/>
                          <a:cs typeface="Calibri"/>
                        </a:rPr>
                        <a:t>Isometric measurements and force model</a:t>
                      </a:r>
                    </a:p>
                  </a:txBody>
                  <a:tcPr marL="91440" marR="91440" marT="45720" marB="45720">
                    <a:solidFill>
                      <a:srgbClr val="FFFFFF"/>
                    </a:solidFill>
                  </a:tcPr>
                </a:tc>
              </a:tr>
              <a:tr h="847725">
                <a:tc>
                  <a:txBody>
                    <a:bodyPr/>
                    <a:lstStyle/>
                    <a:p>
                      <a:r>
                        <a:rPr sz="2025" b="0">
                          <a:solidFill>
                            <a:srgbClr val="202C33"/>
                          </a:solidFill>
                          <a:latin typeface="Calibri"/>
                          <a:ea typeface="Calibri"/>
                          <a:cs typeface="Calibri"/>
                        </a:rPr>
                        <a:t>Torque through real attachments</a:t>
                      </a:r>
                    </a:p>
                  </a:txBody>
                  <a:tcPr marL="91440" marR="91440" marT="45720" marB="45720">
                    <a:solidFill>
                      <a:srgbClr val="FFFFFF"/>
                    </a:solidFill>
                  </a:tcPr>
                </a:tc>
                <a:tc>
                  <a:txBody>
                    <a:bodyPr/>
                    <a:lstStyle/>
                    <a:p>
                      <a:r>
                        <a:rPr sz="2025" b="0">
                          <a:solidFill>
                            <a:srgbClr val="202C33"/>
                          </a:solidFill>
                          <a:latin typeface="Calibri"/>
                          <a:ea typeface="Calibri"/>
                          <a:cs typeface="Calibri"/>
                        </a:rPr>
                        <a:t>Correction identification and route tests</a:t>
                      </a:r>
                    </a:p>
                  </a:txBody>
                  <a:tcPr marL="91440" marR="91440" marT="45720" marB="45720">
                    <a:solidFill>
                      <a:srgbClr val="FFFFFF"/>
                    </a:solidFill>
                  </a:tcPr>
                </a:tc>
              </a:tr>
              <a:tr h="847725">
                <a:tc>
                  <a:txBody>
                    <a:bodyPr/>
                    <a:lstStyle/>
                    <a:p>
                      <a:r>
                        <a:rPr sz="2025" b="0">
                          <a:solidFill>
                            <a:srgbClr val="202C33"/>
                          </a:solidFill>
                          <a:latin typeface="Calibri"/>
                          <a:ea typeface="Calibri"/>
                          <a:cs typeface="Calibri"/>
                        </a:rPr>
                        <a:t>Which sensory findings apply</a:t>
                      </a:r>
                    </a:p>
                  </a:txBody>
                  <a:tcPr marL="91440" marR="91440" marT="45720" marB="45720">
                    <a:solidFill>
                      <a:srgbClr val="FFFFFF"/>
                    </a:solidFill>
                  </a:tcPr>
                </a:tc>
                <a:tc>
                  <a:txBody>
                    <a:bodyPr/>
                    <a:lstStyle/>
                    <a:p>
                      <a:r>
                        <a:rPr sz="2025" b="0">
                          <a:solidFill>
                            <a:srgbClr val="202C33"/>
                          </a:solidFill>
                          <a:latin typeface="Calibri"/>
                          <a:ea typeface="Calibri"/>
                          <a:cs typeface="Calibri"/>
                        </a:rPr>
                        <a:t>Searchable, source-linked SADb app</a:t>
                      </a:r>
                    </a:p>
                  </a:txBody>
                  <a:tcPr marL="91440" marR="91440" marT="45720" marB="45720">
                    <a:solidFill>
                      <a:srgbClr val="FFFFFF"/>
                    </a:solidFill>
                  </a:tcPr>
                </a:tc>
              </a:tr>
              <a:tr h="847725">
                <a:tc>
                  <a:txBody>
                    <a:bodyPr/>
                    <a:lstStyle/>
                    <a:p>
                      <a:r>
                        <a:rPr sz="2025" b="0">
                          <a:solidFill>
                            <a:srgbClr val="202C33"/>
                          </a:solidFill>
                          <a:latin typeface="Calibri"/>
                          <a:ea typeface="Calibri"/>
                          <a:cs typeface="Calibri"/>
                        </a:rPr>
                        <a:t>What a coupled circuit actually does</a:t>
                      </a:r>
                    </a:p>
                  </a:txBody>
                  <a:tcPr marL="91440" marR="91440" marT="45720" marB="45720">
                    <a:solidFill>
                      <a:srgbClr val="FFFFFF"/>
                    </a:solidFill>
                  </a:tcPr>
                </a:tc>
                <a:tc>
                  <a:txBody>
                    <a:bodyPr/>
                    <a:lstStyle/>
                    <a:p>
                      <a:r>
                        <a:rPr sz="2025" b="0">
                          <a:solidFill>
                            <a:srgbClr val="202C33"/>
                          </a:solidFill>
                          <a:latin typeface="Calibri"/>
                          <a:ea typeface="Calibri"/>
                          <a:cs typeface="Calibri"/>
                        </a:rPr>
                        <a:t>Matched tests and controlled interventions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724857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B5DABF-A4E9-4718-ABEE-391D7741EE56}"/>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BPA FORCE MODEL</a:t>
            </a:r>
          </a:p>
        </p:txBody>
      </p:sp>
      <p:sp>
        <p:nvSpPr>
          <p:cNvPr id="2" name="">
            <a:extLst xmlns:a="http://schemas.openxmlformats.org/drawingml/2006/main">
              <a:ext uri="{FF2B5EF4-FFF2-40B4-BE49-F238E27FC236}">
                <a16:creationId xmlns:a16="http://schemas.microsoft.com/office/drawing/2014/main" id="{4DB6A351-A116-4F1B-91E3-9FABCFE58F8F}"/>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Isometric tests isolate force across BPA design choices</a:t>
            </a:r>
          </a:p>
        </p:txBody>
      </p:sp>
      <p:sp>
        <p:nvSpPr>
          <p:cNvPr id="3" name="">
            <a:extLst xmlns:a="http://schemas.openxmlformats.org/drawingml/2006/main">
              <a:ext uri="{FF2B5EF4-FFF2-40B4-BE49-F238E27FC236}">
                <a16:creationId xmlns:a16="http://schemas.microsoft.com/office/drawing/2014/main" id="{19D82071-24DC-4CB2-9FF6-DCFC95884C3B}"/>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Bolen et al. (2026), Actuators 15(5):230 · Dissertation Ch. 3</a:t>
            </a:r>
          </a:p>
        </p:txBody>
      </p:sp>
      <p:sp>
        <p:nvSpPr>
          <p:cNvPr id="4" name="">
            <a:extLst xmlns:a="http://schemas.openxmlformats.org/drawingml/2006/main">
              <a:ext uri="{FF2B5EF4-FFF2-40B4-BE49-F238E27FC236}">
                <a16:creationId xmlns:a16="http://schemas.microsoft.com/office/drawing/2014/main" id="{3F5E900D-7A79-43E1-BEDB-BAEDB554AF18}"/>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a:t>
            </a:r>
          </a:p>
        </p:txBody>
      </p:sp>
      <p:pic>
        <p:nvPicPr>
          <p:cNvPr id="5" name="">
            <a:extLst xmlns:a="http://schemas.openxmlformats.org/drawingml/2006/main">
              <a:ext uri="{FF2B5EF4-FFF2-40B4-BE49-F238E27FC236}">
                <a16:creationId xmlns:a16="http://schemas.microsoft.com/office/drawing/2014/main" id="{E8FA41FB-1C97-40BB-AAC4-BA4CDD9DBF3A}"/>
              </a:ext>
            </a:extLst>
          </p:cNvPr>
          <p:cNvPicPr>
            <a:picLocks xmlns:a="http://schemas.openxmlformats.org/drawingml/2006/main" noChangeAspect="1"/>
          </p:cNvPicPr>
          <p:nvPr/>
        </p:nvPicPr>
        <p:blipFill>
          <a:blip xmlns:r="http://schemas.openxmlformats.org/officeDocument/2006/relationships" xmlns:a="http://schemas.openxmlformats.org/drawingml/2006/main" r:embed="Ra671e928dbdb4b46"/>
          <a:stretch xmlns:a="http://schemas.openxmlformats.org/drawingml/2006/main"/>
        </p:blipFill>
        <p:spPr>
          <a:xfrm xmlns:a="http://schemas.openxmlformats.org/drawingml/2006/main">
            <a:off x="1367518" y="1619250"/>
            <a:ext cx="3837214"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D25D3B-8650-44B3-8DDF-9FEC822907EA}"/>
              </a:ext>
            </a:extLst>
          </p:cNvPr>
          <p:cNvSpPr>
            <a:spLocks xmlns:a="http://schemas.openxmlformats.org/drawingml/2006/main" noGrp="1"/>
          </p:cNvSpPr>
          <p:nvPr/>
        </p:nvSpPr>
        <p:spPr>
          <a:xfrm xmlns:a="http://schemas.openxmlformats.org/drawingml/2006/main">
            <a:off x="6667500" y="21907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006D77"/>
                </a:solidFill>
                <a:latin typeface="Calibri"/>
                <a:ea typeface="Calibri"/>
                <a:cs typeface="Calibri"/>
              </a:defRPr>
            </a:defPPr>
            <a:lvl1pPr>
              <a:defRPr sz="3150" b="1">
                <a:solidFill>
                  <a:srgbClr val="006D77"/>
                </a:solidFill>
                <a:latin typeface="Calibri"/>
                <a:ea typeface="Calibri"/>
                <a:cs typeface="Calibri"/>
              </a:defRPr>
            </a:lvl1pPr>
            <a:lvl2pPr>
              <a:defRPr sz="3150" b="1">
                <a:solidFill>
                  <a:srgbClr val="006D77"/>
                </a:solidFill>
                <a:latin typeface="Calibri"/>
                <a:ea typeface="Calibri"/>
                <a:cs typeface="Calibri"/>
              </a:defRPr>
            </a:lvl2pPr>
            <a:lvl3pPr>
              <a:defRPr sz="3150" b="1">
                <a:solidFill>
                  <a:srgbClr val="006D77"/>
                </a:solidFill>
                <a:latin typeface="Calibri"/>
                <a:ea typeface="Calibri"/>
                <a:cs typeface="Calibri"/>
              </a:defRPr>
            </a:lvl3pPr>
            <a:lvl4pPr>
              <a:defRPr sz="3150" b="1">
                <a:solidFill>
                  <a:srgbClr val="006D77"/>
                </a:solidFill>
                <a:latin typeface="Calibri"/>
                <a:ea typeface="Calibri"/>
                <a:cs typeface="Calibri"/>
              </a:defRPr>
            </a:lvl4pPr>
            <a:lvl5pPr>
              <a:defRPr sz="3150" b="1">
                <a:solidFill>
                  <a:srgbClr val="006D77"/>
                </a:solidFill>
                <a:latin typeface="Calibri"/>
                <a:ea typeface="Calibri"/>
                <a:cs typeface="Calibri"/>
              </a:defRPr>
            </a:lvl5pPr>
            <a:lvl6pPr>
              <a:defRPr sz="3150" b="1">
                <a:solidFill>
                  <a:srgbClr val="006D77"/>
                </a:solidFill>
                <a:latin typeface="Calibri"/>
                <a:ea typeface="Calibri"/>
                <a:cs typeface="Calibri"/>
              </a:defRPr>
            </a:lvl6pPr>
            <a:lvl7pPr>
              <a:defRPr sz="3150" b="1">
                <a:solidFill>
                  <a:srgbClr val="006D77"/>
                </a:solidFill>
                <a:latin typeface="Calibri"/>
                <a:ea typeface="Calibri"/>
                <a:cs typeface="Calibri"/>
              </a:defRPr>
            </a:lvl7pPr>
            <a:lvl8pPr>
              <a:defRPr sz="3150" b="1">
                <a:solidFill>
                  <a:srgbClr val="006D77"/>
                </a:solidFill>
                <a:latin typeface="Calibri"/>
                <a:ea typeface="Calibri"/>
                <a:cs typeface="Calibri"/>
              </a:defRPr>
            </a:lvl8pPr>
            <a:lvl9pPr>
              <a:defRPr sz="3150" b="1">
                <a:solidFill>
                  <a:srgbClr val="006D77"/>
                </a:solidFill>
                <a:latin typeface="Calibri"/>
                <a:ea typeface="Calibri"/>
                <a:cs typeface="Calibri"/>
              </a:defRPr>
            </a:lvl9pPr>
          </a:lstStyle>
          <a:p xmlns:a="http://schemas.openxmlformats.org/drawingml/2006/main">
            <a:pPr>
              <a:defRPr sz="3150" b="1">
                <a:solidFill>
                  <a:srgbClr val="006D77"/>
                </a:solidFill>
                <a:latin typeface="Calibri"/>
                <a:ea typeface="Calibri"/>
                <a:cs typeface="Calibri"/>
              </a:defRPr>
            </a:pPr>
            <a:r>
              <a:rPr sz="3150" b="1">
                <a:solidFill>
                  <a:srgbClr val="006D77"/>
                </a:solidFill>
                <a:latin typeface="Calibri"/>
                <a:ea typeface="Calibri"/>
                <a:cs typeface="Calibri"/>
              </a:rPr>
              <a:t>537 observations</a:t>
            </a:r>
          </a:p>
        </p:txBody>
      </p:sp>
      <p:sp>
        <p:nvSpPr>
          <p:cNvPr id="7" name="">
            <a:extLst xmlns:a="http://schemas.openxmlformats.org/drawingml/2006/main">
              <a:ext uri="{FF2B5EF4-FFF2-40B4-BE49-F238E27FC236}">
                <a16:creationId xmlns:a16="http://schemas.microsoft.com/office/drawing/2014/main" id="{F25CF226-9EBC-43FB-82E0-C9C8271620B3}"/>
              </a:ext>
            </a:extLst>
          </p:cNvPr>
          <p:cNvSpPr>
            <a:spLocks xmlns:a="http://schemas.openxmlformats.org/drawingml/2006/main" noGrp="1"/>
          </p:cNvSpPr>
          <p:nvPr/>
        </p:nvSpPr>
        <p:spPr>
          <a:xfrm xmlns:a="http://schemas.openxmlformats.org/drawingml/2006/main">
            <a:off x="6667500" y="3000375"/>
            <a:ext cx="4572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10 mm and 20 mm BPAs</a:t>
            </a:r>
          </a:p>
          <a:p xmlns:a="http://schemas.openxmlformats.org/drawingml/2006/main">
            <a:r>
              <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Length, contraction, and pressure</a:t>
            </a:r>
          </a:p>
          <a:p xmlns:a="http://schemas.openxmlformats.org/drawingml/2006/main">
            <a:r>
              <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Force measured at fixed length</a:t>
            </a:r>
          </a:p>
        </p:txBody>
      </p:sp>
    </p:spTree>
    <p:extLst>
      <p:ext uri="{BB962C8B-B14F-4D97-AF65-F5344CB8AC3E}">
        <p14:creationId xmlns:p14="http://schemas.microsoft.com/office/powerpoint/2010/main" val="19035986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B90653-5A52-4C7A-8A84-1CC28C10EFD4}"/>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RESTING-LENGTH DEPENDENCE</a:t>
            </a:r>
          </a:p>
        </p:txBody>
      </p:sp>
      <p:sp>
        <p:nvSpPr>
          <p:cNvPr id="2" name="">
            <a:extLst xmlns:a="http://schemas.openxmlformats.org/drawingml/2006/main">
              <a:ext uri="{FF2B5EF4-FFF2-40B4-BE49-F238E27FC236}">
                <a16:creationId xmlns:a16="http://schemas.microsoft.com/office/drawing/2014/main" id="{BAA294FA-2FD8-4CE5-8187-04186ED626CD}"/>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Shorter BPAs deliver less maximum isometric force</a:t>
            </a:r>
          </a:p>
        </p:txBody>
      </p:sp>
      <p:sp>
        <p:nvSpPr>
          <p:cNvPr id="3" name="">
            <a:extLst xmlns:a="http://schemas.openxmlformats.org/drawingml/2006/main">
              <a:ext uri="{FF2B5EF4-FFF2-40B4-BE49-F238E27FC236}">
                <a16:creationId xmlns:a16="http://schemas.microsoft.com/office/drawing/2014/main" id="{3914F762-0A67-480F-B6C4-6618ABD78D36}"/>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Bolen et al. (2026), Actuators 15(5):230 · Dissertation Ch. 3</a:t>
            </a:r>
          </a:p>
        </p:txBody>
      </p:sp>
      <p:sp>
        <p:nvSpPr>
          <p:cNvPr id="4" name="">
            <a:extLst xmlns:a="http://schemas.openxmlformats.org/drawingml/2006/main">
              <a:ext uri="{FF2B5EF4-FFF2-40B4-BE49-F238E27FC236}">
                <a16:creationId xmlns:a16="http://schemas.microsoft.com/office/drawing/2014/main" id="{21FCD5FB-43A6-46F7-B293-68563FDFEA1E}"/>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4</a:t>
            </a:r>
          </a:p>
        </p:txBody>
      </p:sp>
      <p:pic>
        <p:nvPicPr>
          <p:cNvPr id="5" name="">
            <a:extLst xmlns:a="http://schemas.openxmlformats.org/drawingml/2006/main">
              <a:ext uri="{FF2B5EF4-FFF2-40B4-BE49-F238E27FC236}">
                <a16:creationId xmlns:a16="http://schemas.microsoft.com/office/drawing/2014/main" id="{74E3311F-B494-4BBA-A784-0C8B268373FB}"/>
              </a:ext>
            </a:extLst>
          </p:cNvPr>
          <p:cNvPicPr>
            <a:picLocks xmlns:a="http://schemas.openxmlformats.org/drawingml/2006/main" noChangeAspect="1"/>
          </p:cNvPicPr>
          <p:nvPr/>
        </p:nvPicPr>
        <p:blipFill>
          <a:blip xmlns:r="http://schemas.openxmlformats.org/officeDocument/2006/relationships" xmlns:a="http://schemas.openxmlformats.org/drawingml/2006/main" r:embed="R509d375b48bd4c1e"/>
          <a:stretch xmlns:a="http://schemas.openxmlformats.org/drawingml/2006/main"/>
        </p:blipFill>
        <p:spPr>
          <a:xfrm xmlns:a="http://schemas.openxmlformats.org/drawingml/2006/main">
            <a:off x="667069" y="1714500"/>
            <a:ext cx="5142861" cy="4171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A615BE3-DAEA-492F-A622-7D47E7CF2284}"/>
              </a:ext>
            </a:extLst>
          </p:cNvPr>
          <p:cNvPicPr>
            <a:picLocks xmlns:a="http://schemas.openxmlformats.org/drawingml/2006/main" noChangeAspect="1"/>
          </p:cNvPicPr>
          <p:nvPr/>
        </p:nvPicPr>
        <p:blipFill>
          <a:blip xmlns:r="http://schemas.openxmlformats.org/officeDocument/2006/relationships" xmlns:a="http://schemas.openxmlformats.org/drawingml/2006/main" r:embed="R984f72f1a6424ba3"/>
          <a:stretch xmlns:a="http://schemas.openxmlformats.org/drawingml/2006/main"/>
        </p:blipFill>
        <p:spPr>
          <a:xfrm xmlns:a="http://schemas.openxmlformats.org/drawingml/2006/main">
            <a:off x="6238875" y="1748281"/>
            <a:ext cx="5429250" cy="410438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5F8711A-A456-4FBC-9E28-1551E1364A05}"/>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Resting length changes the force available to a robot design</a:t>
            </a:r>
          </a:p>
        </p:txBody>
      </p:sp>
    </p:spTree>
    <p:extLst>
      <p:ext uri="{BB962C8B-B14F-4D97-AF65-F5344CB8AC3E}">
        <p14:creationId xmlns:p14="http://schemas.microsoft.com/office/powerpoint/2010/main" val="11191049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F60E9A-D4C6-4A1B-B6F0-91A99C54FF62}"/>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FORCE FORMULATION</a:t>
            </a:r>
          </a:p>
        </p:txBody>
      </p:sp>
      <p:sp>
        <p:nvSpPr>
          <p:cNvPr id="2" name="">
            <a:extLst xmlns:a="http://schemas.openxmlformats.org/drawingml/2006/main">
              <a:ext uri="{FF2B5EF4-FFF2-40B4-BE49-F238E27FC236}">
                <a16:creationId xmlns:a16="http://schemas.microsoft.com/office/drawing/2014/main" id="{42018B83-CD67-4C88-999A-9048D4F6955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Resting-length scaling completes the normalized force model</a:t>
            </a:r>
          </a:p>
        </p:txBody>
      </p:sp>
      <p:sp>
        <p:nvSpPr>
          <p:cNvPr id="3" name="">
            <a:extLst xmlns:a="http://schemas.openxmlformats.org/drawingml/2006/main">
              <a:ext uri="{FF2B5EF4-FFF2-40B4-BE49-F238E27FC236}">
                <a16:creationId xmlns:a16="http://schemas.microsoft.com/office/drawing/2014/main" id="{56F6BD98-AB1B-4DB8-BA50-F6DAE482C2B8}"/>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Bolen et al. (2026), Actuators 15(5):230 · Dissertation Ch. 3</a:t>
            </a:r>
          </a:p>
        </p:txBody>
      </p:sp>
      <p:sp>
        <p:nvSpPr>
          <p:cNvPr id="4" name="">
            <a:extLst xmlns:a="http://schemas.openxmlformats.org/drawingml/2006/main">
              <a:ext uri="{FF2B5EF4-FFF2-40B4-BE49-F238E27FC236}">
                <a16:creationId xmlns:a16="http://schemas.microsoft.com/office/drawing/2014/main" id="{C32CD305-79CA-4ABF-AE46-4E6C39B54657}"/>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5</a:t>
            </a:r>
          </a:p>
        </p:txBody>
      </p:sp>
      <p:pic>
        <p:nvPicPr>
          <p:cNvPr id="5" name="">
            <a:extLst xmlns:a="http://schemas.openxmlformats.org/drawingml/2006/main">
              <a:ext uri="{FF2B5EF4-FFF2-40B4-BE49-F238E27FC236}">
                <a16:creationId xmlns:a16="http://schemas.microsoft.com/office/drawing/2014/main" id="{B95331D9-7D1F-4E06-8F78-50C497547066}"/>
              </a:ext>
            </a:extLst>
          </p:cNvPr>
          <p:cNvPicPr>
            <a:picLocks xmlns:a="http://schemas.openxmlformats.org/drawingml/2006/main" noChangeAspect="1"/>
          </p:cNvPicPr>
          <p:nvPr/>
        </p:nvPicPr>
        <p:blipFill>
          <a:blip xmlns:r="http://schemas.openxmlformats.org/officeDocument/2006/relationships" xmlns:a="http://schemas.openxmlformats.org/drawingml/2006/main" r:embed="R12ae367f86334664"/>
          <a:stretch xmlns:a="http://schemas.openxmlformats.org/drawingml/2006/main"/>
        </p:blipFill>
        <p:spPr>
          <a:xfrm xmlns:a="http://schemas.openxmlformats.org/drawingml/2006/main">
            <a:off x="666750" y="1733223"/>
            <a:ext cx="10810875" cy="753129"/>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7C6C0CD-7B47-431E-81F1-3979FE49F097}"/>
              </a:ext>
            </a:extLst>
          </p:cNvPr>
          <p:cNvPicPr>
            <a:picLocks xmlns:a="http://schemas.openxmlformats.org/drawingml/2006/main" noChangeAspect="1"/>
          </p:cNvPicPr>
          <p:nvPr/>
        </p:nvPicPr>
        <p:blipFill>
          <a:blip xmlns:r="http://schemas.openxmlformats.org/officeDocument/2006/relationships" xmlns:a="http://schemas.openxmlformats.org/drawingml/2006/main" r:embed="R67c504404460470a"/>
          <a:stretch xmlns:a="http://schemas.openxmlformats.org/drawingml/2006/main"/>
        </p:blipFill>
        <p:spPr>
          <a:xfrm xmlns:a="http://schemas.openxmlformats.org/drawingml/2006/main">
            <a:off x="2345568" y="2809875"/>
            <a:ext cx="3309865" cy="3143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24A934-8F9A-4033-A15B-7413AE191700}"/>
              </a:ext>
            </a:extLst>
          </p:cNvPr>
          <p:cNvSpPr>
            <a:spLocks xmlns:a="http://schemas.openxmlformats.org/drawingml/2006/main" noGrp="1"/>
          </p:cNvSpPr>
          <p:nvPr/>
        </p:nvSpPr>
        <p:spPr>
          <a:xfrm xmlns:a="http://schemas.openxmlformats.org/drawingml/2006/main">
            <a:off x="7572375" y="2857500"/>
            <a:ext cx="4095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02C33"/>
                </a:solidFill>
                <a:latin typeface="Calibri"/>
                <a:ea typeface="Calibri"/>
                <a:cs typeface="Calibri"/>
              </a:defRPr>
            </a:defPPr>
            <a:lvl1pPr>
              <a:defRPr sz="1875" b="0">
                <a:solidFill>
                  <a:srgbClr val="202C33"/>
                </a:solidFill>
                <a:latin typeface="Calibri"/>
                <a:ea typeface="Calibri"/>
                <a:cs typeface="Calibri"/>
              </a:defRPr>
            </a:lvl1pPr>
            <a:lvl2pPr>
              <a:defRPr sz="1875" b="0">
                <a:solidFill>
                  <a:srgbClr val="202C33"/>
                </a:solidFill>
                <a:latin typeface="Calibri"/>
                <a:ea typeface="Calibri"/>
                <a:cs typeface="Calibri"/>
              </a:defRPr>
            </a:lvl2pPr>
            <a:lvl3pPr>
              <a:defRPr sz="1875" b="0">
                <a:solidFill>
                  <a:srgbClr val="202C33"/>
                </a:solidFill>
                <a:latin typeface="Calibri"/>
                <a:ea typeface="Calibri"/>
                <a:cs typeface="Calibri"/>
              </a:defRPr>
            </a:lvl3pPr>
            <a:lvl4pPr>
              <a:defRPr sz="1875" b="0">
                <a:solidFill>
                  <a:srgbClr val="202C33"/>
                </a:solidFill>
                <a:latin typeface="Calibri"/>
                <a:ea typeface="Calibri"/>
                <a:cs typeface="Calibri"/>
              </a:defRPr>
            </a:lvl4pPr>
            <a:lvl5pPr>
              <a:defRPr sz="1875" b="0">
                <a:solidFill>
                  <a:srgbClr val="202C33"/>
                </a:solidFill>
                <a:latin typeface="Calibri"/>
                <a:ea typeface="Calibri"/>
                <a:cs typeface="Calibri"/>
              </a:defRPr>
            </a:lvl5pPr>
            <a:lvl6pPr>
              <a:defRPr sz="1875" b="0">
                <a:solidFill>
                  <a:srgbClr val="202C33"/>
                </a:solidFill>
                <a:latin typeface="Calibri"/>
                <a:ea typeface="Calibri"/>
                <a:cs typeface="Calibri"/>
              </a:defRPr>
            </a:lvl6pPr>
            <a:lvl7pPr>
              <a:defRPr sz="1875" b="0">
                <a:solidFill>
                  <a:srgbClr val="202C33"/>
                </a:solidFill>
                <a:latin typeface="Calibri"/>
                <a:ea typeface="Calibri"/>
                <a:cs typeface="Calibri"/>
              </a:defRPr>
            </a:lvl7pPr>
            <a:lvl8pPr>
              <a:defRPr sz="1875" b="0">
                <a:solidFill>
                  <a:srgbClr val="202C33"/>
                </a:solidFill>
                <a:latin typeface="Calibri"/>
                <a:ea typeface="Calibri"/>
                <a:cs typeface="Calibri"/>
              </a:defRPr>
            </a:lvl8pPr>
            <a:lvl9pPr>
              <a:defRPr sz="1875" b="0">
                <a:solidFill>
                  <a:srgbClr val="202C33"/>
                </a:solidFill>
                <a:latin typeface="Calibri"/>
                <a:ea typeface="Calibri"/>
                <a:cs typeface="Calibri"/>
              </a:defRPr>
            </a:lvl9pPr>
          </a:lstStyle>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F*   normalized force</a:t>
            </a:r>
          </a:p>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P*   pressure / 620 kPa</a:t>
            </a:r>
          </a:p>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ε*   normalized contraction</a:t>
            </a:r>
          </a:p>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l₀   resting length</a:t>
            </a:r>
          </a:p>
          <a:p xmlns:a="http://schemas.openxmlformats.org/drawingml/2006/main">
            <a:r>
              <a:t/>
            </a:r>
          </a:p>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Curves: 200–620 kPa</a:t>
            </a:r>
          </a:p>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Solid model; circles measured</a:t>
            </a:r>
          </a:p>
          <a:p xmlns:a="http://schemas.openxmlformats.org/drawingml/2006/main">
            <a:pPr>
              <a:defRPr sz="1875" b="0">
                <a:solidFill>
                  <a:srgbClr val="202C33"/>
                </a:solidFill>
                <a:latin typeface="Calibri"/>
                <a:ea typeface="Calibri"/>
                <a:cs typeface="Calibri"/>
              </a:defRPr>
            </a:pPr>
            <a:r>
              <a:rPr sz="1875" b="0">
                <a:solidFill>
                  <a:srgbClr val="202C33"/>
                </a:solidFill>
                <a:latin typeface="Calibri"/>
                <a:ea typeface="Calibri"/>
                <a:cs typeface="Calibri"/>
              </a:rPr>
              <a:t>Dashed manufacturer</a:t>
            </a:r>
          </a:p>
        </p:txBody>
      </p:sp>
      <p:sp>
        <p:nvSpPr>
          <p:cNvPr id="8" name="">
            <a:extLst xmlns:a="http://schemas.openxmlformats.org/drawingml/2006/main">
              <a:ext uri="{FF2B5EF4-FFF2-40B4-BE49-F238E27FC236}">
                <a16:creationId xmlns:a16="http://schemas.microsoft.com/office/drawing/2014/main" id="{5B2E61D4-5243-453F-B3F6-7D4ABE6DDD2E}"/>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Diameter-specific coefficients remain fixed from the published study</a:t>
            </a:r>
          </a:p>
        </p:txBody>
      </p:sp>
    </p:spTree>
    <p:extLst>
      <p:ext uri="{BB962C8B-B14F-4D97-AF65-F5344CB8AC3E}">
        <p14:creationId xmlns:p14="http://schemas.microsoft.com/office/powerpoint/2010/main" val="15234421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4D0E2F-95BE-47E2-AC22-6C833B3D45CA}"/>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ONE MEASURED COMPARISON</a:t>
            </a:r>
          </a:p>
        </p:txBody>
      </p:sp>
      <p:sp>
        <p:nvSpPr>
          <p:cNvPr id="2" name="">
            <a:extLst xmlns:a="http://schemas.openxmlformats.org/drawingml/2006/main">
              <a:ext uri="{FF2B5EF4-FFF2-40B4-BE49-F238E27FC236}">
                <a16:creationId xmlns:a16="http://schemas.microsoft.com/office/drawing/2014/main" id="{7087F9BB-201C-4661-9DE7-45A090403767}"/>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At 112 mm, the new model reduces force error to 4.5%</a:t>
            </a:r>
          </a:p>
        </p:txBody>
      </p:sp>
      <p:sp>
        <p:nvSpPr>
          <p:cNvPr id="3" name="">
            <a:extLst xmlns:a="http://schemas.openxmlformats.org/drawingml/2006/main">
              <a:ext uri="{FF2B5EF4-FFF2-40B4-BE49-F238E27FC236}">
                <a16:creationId xmlns:a16="http://schemas.microsoft.com/office/drawing/2014/main" id="{D5C125AA-BCFA-4843-94CD-8184EF9F2396}"/>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Bolen et al. (2026), Actuators 15(5):230 · Dissertation Ch. 3</a:t>
            </a:r>
          </a:p>
        </p:txBody>
      </p:sp>
      <p:sp>
        <p:nvSpPr>
          <p:cNvPr id="4" name="">
            <a:extLst xmlns:a="http://schemas.openxmlformats.org/drawingml/2006/main">
              <a:ext uri="{FF2B5EF4-FFF2-40B4-BE49-F238E27FC236}">
                <a16:creationId xmlns:a16="http://schemas.microsoft.com/office/drawing/2014/main" id="{D0C35AFF-4F9C-468C-9D1A-E4BD8130A18F}"/>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6</a:t>
            </a:r>
          </a:p>
        </p:txBody>
      </p:sp>
      <p:graphicFrame>
        <p:nvGraphicFramePr>
          <p:cNvPr id="5" name="Chart">
            <a:extLst xmlns:a="http://schemas.openxmlformats.org/drawingml/2006/main">
              <a:ext uri="{FF2B5EF4-FFF2-40B4-BE49-F238E27FC236}">
                <a16:creationId xmlns:a16="http://schemas.microsoft.com/office/drawing/2014/main" id="{6C970DFF-29C9-4B0F-BDF4-502CB6A17863}"/>
              </a:ext>
            </a:extLst>
          </p:cNvPr>
          <p:cNvGraphicFramePr/>
          <p:nvPr/>
        </p:nvGraphicFramePr>
        <p:xfrm>
          <a:off xmlns:a="http://schemas.openxmlformats.org/drawingml/2006/main" x="857250" y="1714500"/>
          <a:ext xmlns:a="http://schemas.openxmlformats.org/drawingml/2006/main" cx="10477500" cy="4000500"/>
        </p:xfrm>
        <a:graphic xmlns:a="http://schemas.openxmlformats.org/drawingml/2006/main">
          <a:graphicData uri="http://schemas.openxmlformats.org/drawingml/2006/chart">
            <c:chart xmlns:r="http://schemas.openxmlformats.org/officeDocument/2006/relationships" xmlns:c="http://schemas.openxmlformats.org/drawingml/2006/chart" r:id="R30665bdd53e14cd1"/>
          </a:graphicData>
        </a:graphic>
      </p:graphicFrame>
      <p:sp>
        <p:nvSpPr>
          <p:cNvPr id="6" name="">
            <a:extLst xmlns:a="http://schemas.openxmlformats.org/drawingml/2006/main">
              <a:ext uri="{FF2B5EF4-FFF2-40B4-BE49-F238E27FC236}">
                <a16:creationId xmlns:a16="http://schemas.microsoft.com/office/drawing/2014/main" id="{A393B3CB-0533-43F0-9455-B336C1F9C773}"/>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10 mm BPA · 112 mm resting length · 620 kPa</a:t>
            </a:r>
          </a:p>
        </p:txBody>
      </p:sp>
    </p:spTree>
    <p:extLst>
      <p:ext uri="{BB962C8B-B14F-4D97-AF65-F5344CB8AC3E}">
        <p14:creationId xmlns:p14="http://schemas.microsoft.com/office/powerpoint/2010/main" val="2455232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C229B19-B454-40C5-B964-8F1DA0B9A55F}"/>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TORQUE GEOMETRY</a:t>
            </a:r>
          </a:p>
        </p:txBody>
      </p:sp>
      <p:sp>
        <p:nvSpPr>
          <p:cNvPr id="2" name="">
            <a:extLst xmlns:a="http://schemas.openxmlformats.org/drawingml/2006/main">
              <a:ext uri="{FF2B5EF4-FFF2-40B4-BE49-F238E27FC236}">
                <a16:creationId xmlns:a16="http://schemas.microsoft.com/office/drawing/2014/main" id="{272F21D1-3F1B-47C3-B2B5-5A4C27D856B5}"/>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Joint torque depends on force direction and moment arm</a:t>
            </a:r>
          </a:p>
        </p:txBody>
      </p:sp>
      <p:sp>
        <p:nvSpPr>
          <p:cNvPr id="3" name="">
            <a:extLst xmlns:a="http://schemas.openxmlformats.org/drawingml/2006/main">
              <a:ext uri="{FF2B5EF4-FFF2-40B4-BE49-F238E27FC236}">
                <a16:creationId xmlns:a16="http://schemas.microsoft.com/office/drawing/2014/main" id="{ACF460AA-FC71-449A-A5C9-47D546DD05F7}"/>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C28D6A91-99FE-4B42-9531-C496725598C6}"/>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7</a:t>
            </a:r>
          </a:p>
        </p:txBody>
      </p:sp>
      <p:sp>
        <p:nvSpPr>
          <p:cNvPr id="5" name="">
            <a:extLst xmlns:a="http://schemas.openxmlformats.org/drawingml/2006/main">
              <a:ext uri="{FF2B5EF4-FFF2-40B4-BE49-F238E27FC236}">
                <a16:creationId xmlns:a16="http://schemas.microsoft.com/office/drawing/2014/main" id="{3A4CE981-CB9C-4D12-BFBA-E827993B5E0C}"/>
              </a:ext>
            </a:extLst>
          </p:cNvPr>
          <p:cNvSpPr>
            <a:spLocks xmlns:a="http://schemas.openxmlformats.org/drawingml/2006/main" noGrp="1"/>
          </p:cNvSpPr>
          <p:nvPr/>
        </p:nvSpPr>
        <p:spPr>
          <a:xfrm xmlns:a="http://schemas.openxmlformats.org/drawingml/2006/main">
            <a:off x="1619250" y="4286250"/>
            <a:ext cx="247650" cy="247650"/>
          </a:xfrm>
          <a:prstGeom xmlns:a="http://schemas.openxmlformats.org/drawingml/2006/main" prst="ellipse">
            <a:avLst/>
          </a:prstGeom>
          <a:solidFill xmlns:a="http://schemas.openxmlformats.org/drawingml/2006/main">
            <a:srgbClr val="17384A"/>
          </a:solidFill>
          <a:ln xmlns:a="http://schemas.openxmlformats.org/drawingml/2006/main" w="9525">
            <a:solidFill>
              <a:srgbClr val="17384A"/>
            </a:solidFill>
          </a:ln>
        </p:spPr>
      </p:sp>
      <p:sp>
        <p:nvSpPr>
          <p:cNvPr id="6" name="">
            <a:extLst xmlns:a="http://schemas.openxmlformats.org/drawingml/2006/main">
              <a:ext uri="{FF2B5EF4-FFF2-40B4-BE49-F238E27FC236}">
                <a16:creationId xmlns:a16="http://schemas.microsoft.com/office/drawing/2014/main" id="{60A74790-5B91-4E50-A0DF-6EB8E146FD30}"/>
              </a:ext>
            </a:extLst>
          </p:cNvPr>
          <p:cNvSpPr>
            <a:spLocks xmlns:a="http://schemas.openxmlformats.org/drawingml/2006/main" noGrp="1"/>
          </p:cNvSpPr>
          <p:nvPr/>
        </p:nvSpPr>
        <p:spPr>
          <a:xfrm xmlns:a="http://schemas.openxmlformats.org/drawingml/2006/main">
            <a:off x="4572000" y="2286000"/>
            <a:ext cx="209550" cy="209550"/>
          </a:xfrm>
          <a:prstGeom xmlns:a="http://schemas.openxmlformats.org/drawingml/2006/main" prst="ellipse">
            <a:avLst/>
          </a:prstGeom>
          <a:solidFill xmlns:a="http://schemas.openxmlformats.org/drawingml/2006/main">
            <a:srgbClr val="006D77"/>
          </a:solidFill>
          <a:ln xmlns:a="http://schemas.openxmlformats.org/drawingml/2006/main" w="9525">
            <a:solidFill>
              <a:srgbClr val="006D77"/>
            </a:solidFill>
          </a:ln>
        </p:spPr>
      </p:sp>
      <p:sp>
        <p:nvSpPr>
          <p:cNvPr id="7" name="">
            <a:extLst xmlns:a="http://schemas.openxmlformats.org/drawingml/2006/main">
              <a:ext uri="{FF2B5EF4-FFF2-40B4-BE49-F238E27FC236}">
                <a16:creationId xmlns:a16="http://schemas.microsoft.com/office/drawing/2014/main" id="{13106ADC-F415-4828-B9AC-F9EB4E8DC994}"/>
              </a:ext>
            </a:extLst>
          </p:cNvPr>
          <p:cNvSpPr>
            <a:spLocks xmlns:a="http://schemas.openxmlformats.org/drawingml/2006/main" noGrp="1"/>
          </p:cNvSpPr>
          <p:nvPr/>
        </p:nvSpPr>
        <p:spPr>
          <a:xfrm xmlns:a="http://schemas.openxmlformats.org/drawingml/2006/main" flipV="1">
            <a:off x="1743075" y="2390775"/>
            <a:ext cx="2933700" cy="2019300"/>
          </a:xfrm>
          <a:prstGeom xmlns:a="http://schemas.openxmlformats.org/drawingml/2006/main" prst="line">
            <a:avLst/>
          </a:prstGeom>
          <a:ln xmlns:a="http://schemas.openxmlformats.org/drawingml/2006/main" w="28575">
            <a:solidFill>
              <a:srgbClr val="17384A"/>
            </a:solidFill>
          </a:ln>
        </p:spPr>
      </p:sp>
      <p:sp>
        <p:nvSpPr>
          <p:cNvPr id="8" name="">
            <a:extLst xmlns:a="http://schemas.openxmlformats.org/drawingml/2006/main">
              <a:ext uri="{FF2B5EF4-FFF2-40B4-BE49-F238E27FC236}">
                <a16:creationId xmlns:a16="http://schemas.microsoft.com/office/drawing/2014/main" id="{89606AAC-C952-4D4E-859F-AE73B1F5D078}"/>
              </a:ext>
            </a:extLst>
          </p:cNvPr>
          <p:cNvSpPr>
            <a:spLocks xmlns:a="http://schemas.openxmlformats.org/drawingml/2006/main" noGrp="1"/>
          </p:cNvSpPr>
          <p:nvPr/>
        </p:nvSpPr>
        <p:spPr>
          <a:xfrm xmlns:a="http://schemas.openxmlformats.org/drawingml/2006/main">
            <a:off x="4762500" y="2247900"/>
            <a:ext cx="2476500" cy="266700"/>
          </a:xfrm>
          <a:prstGeom xmlns:a="http://schemas.openxmlformats.org/drawingml/2006/main" prst="rightArrow">
            <a:avLst/>
          </a:prstGeom>
          <a:solidFill xmlns:a="http://schemas.openxmlformats.org/drawingml/2006/main">
            <a:srgbClr val="B65C25"/>
          </a:solidFill>
          <a:ln xmlns:a="http://schemas.openxmlformats.org/drawingml/2006/main" w="9525">
            <a:solidFill>
              <a:srgbClr val="B65C25"/>
            </a:solidFill>
          </a:ln>
        </p:spPr>
      </p:sp>
      <p:sp>
        <p:nvSpPr>
          <p:cNvPr id="9" name="">
            <a:extLst xmlns:a="http://schemas.openxmlformats.org/drawingml/2006/main">
              <a:ext uri="{FF2B5EF4-FFF2-40B4-BE49-F238E27FC236}">
                <a16:creationId xmlns:a16="http://schemas.microsoft.com/office/drawing/2014/main" id="{90647962-688A-48D1-BA33-DB4633DC24CE}"/>
              </a:ext>
            </a:extLst>
          </p:cNvPr>
          <p:cNvSpPr>
            <a:spLocks xmlns:a="http://schemas.openxmlformats.org/drawingml/2006/main" noGrp="1"/>
          </p:cNvSpPr>
          <p:nvPr/>
        </p:nvSpPr>
        <p:spPr>
          <a:xfrm xmlns:a="http://schemas.openxmlformats.org/drawingml/2006/main">
            <a:off x="1733550" y="2381250"/>
            <a:ext cx="5334000" cy="0"/>
          </a:xfrm>
          <a:prstGeom xmlns:a="http://schemas.openxmlformats.org/drawingml/2006/main" prst="line">
            <a:avLst/>
          </a:prstGeom>
          <a:ln xmlns:a="http://schemas.openxmlformats.org/drawingml/2006/main" w="19050">
            <a:solidFill>
              <a:srgbClr val="53616A"/>
            </a:solidFill>
            <a:prstDash val="dash"/>
          </a:ln>
        </p:spPr>
      </p:sp>
      <p:sp>
        <p:nvSpPr>
          <p:cNvPr id="10" name="">
            <a:extLst xmlns:a="http://schemas.openxmlformats.org/drawingml/2006/main">
              <a:ext uri="{FF2B5EF4-FFF2-40B4-BE49-F238E27FC236}">
                <a16:creationId xmlns:a16="http://schemas.microsoft.com/office/drawing/2014/main" id="{AE21D9AD-2E19-4F0A-BF07-1B0415458F8D}"/>
              </a:ext>
            </a:extLst>
          </p:cNvPr>
          <p:cNvSpPr>
            <a:spLocks xmlns:a="http://schemas.openxmlformats.org/drawingml/2006/main" noGrp="1"/>
          </p:cNvSpPr>
          <p:nvPr/>
        </p:nvSpPr>
        <p:spPr>
          <a:xfrm xmlns:a="http://schemas.openxmlformats.org/drawingml/2006/main">
            <a:off x="1733550" y="2381250"/>
            <a:ext cx="0" cy="2000250"/>
          </a:xfrm>
          <a:prstGeom xmlns:a="http://schemas.openxmlformats.org/drawingml/2006/main" prst="line">
            <a:avLst/>
          </a:prstGeom>
          <a:ln xmlns:a="http://schemas.openxmlformats.org/drawingml/2006/main" w="28575">
            <a:solidFill>
              <a:srgbClr val="006D77"/>
            </a:solidFill>
          </a:ln>
        </p:spPr>
      </p:sp>
      <p:sp>
        <p:nvSpPr>
          <p:cNvPr id="11" name="">
            <a:extLst xmlns:a="http://schemas.openxmlformats.org/drawingml/2006/main">
              <a:ext uri="{FF2B5EF4-FFF2-40B4-BE49-F238E27FC236}">
                <a16:creationId xmlns:a16="http://schemas.microsoft.com/office/drawing/2014/main" id="{92EF7F12-54F9-49EC-9C95-796AFCA4785A}"/>
              </a:ext>
            </a:extLst>
          </p:cNvPr>
          <p:cNvSpPr>
            <a:spLocks xmlns:a="http://schemas.openxmlformats.org/drawingml/2006/main" noGrp="1"/>
          </p:cNvSpPr>
          <p:nvPr/>
        </p:nvSpPr>
        <p:spPr>
          <a:xfrm xmlns:a="http://schemas.openxmlformats.org/drawingml/2006/main">
            <a:off x="1285875" y="44577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xmlns:a="http://schemas.openxmlformats.org/drawingml/2006/main">
            <a:pPr>
              <a:defRPr sz="2400" b="0">
                <a:solidFill>
                  <a:srgbClr val="202C33"/>
                </a:solidFill>
                <a:latin typeface="Calibri"/>
                <a:ea typeface="Calibri"/>
                <a:cs typeface="Calibri"/>
              </a:defRPr>
            </a:pPr>
            <a:r>
              <a:rPr sz="2400" b="0">
                <a:solidFill>
                  <a:srgbClr val="202C33"/>
                </a:solidFill>
                <a:latin typeface="Calibri"/>
                <a:ea typeface="Calibri"/>
                <a:cs typeface="Calibri"/>
              </a:rPr>
              <a:t>O</a:t>
            </a:r>
          </a:p>
        </p:txBody>
      </p:sp>
      <p:sp>
        <p:nvSpPr>
          <p:cNvPr id="12" name="">
            <a:extLst xmlns:a="http://schemas.openxmlformats.org/drawingml/2006/main">
              <a:ext uri="{FF2B5EF4-FFF2-40B4-BE49-F238E27FC236}">
                <a16:creationId xmlns:a16="http://schemas.microsoft.com/office/drawing/2014/main" id="{80EAEEEE-64B4-4FBB-BA80-6D8921F61B54}"/>
              </a:ext>
            </a:extLst>
          </p:cNvPr>
          <p:cNvSpPr>
            <a:spLocks xmlns:a="http://schemas.openxmlformats.org/drawingml/2006/main" noGrp="1"/>
          </p:cNvSpPr>
          <p:nvPr/>
        </p:nvSpPr>
        <p:spPr>
          <a:xfrm xmlns:a="http://schemas.openxmlformats.org/drawingml/2006/main">
            <a:off x="4324350" y="19050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xmlns:a="http://schemas.openxmlformats.org/drawingml/2006/main">
            <a:pPr>
              <a:defRPr sz="2400" b="0">
                <a:solidFill>
                  <a:srgbClr val="202C33"/>
                </a:solidFill>
                <a:latin typeface="Calibri"/>
                <a:ea typeface="Calibri"/>
                <a:cs typeface="Calibri"/>
              </a:defRPr>
            </a:pPr>
            <a:r>
              <a:rPr sz="2400" b="0">
                <a:solidFill>
                  <a:srgbClr val="202C33"/>
                </a:solidFill>
                <a:latin typeface="Calibri"/>
                <a:ea typeface="Calibri"/>
                <a:cs typeface="Calibri"/>
              </a:rPr>
              <a:t>p</a:t>
            </a:r>
          </a:p>
        </p:txBody>
      </p:sp>
      <p:sp>
        <p:nvSpPr>
          <p:cNvPr id="13" name="">
            <a:extLst xmlns:a="http://schemas.openxmlformats.org/drawingml/2006/main">
              <a:ext uri="{FF2B5EF4-FFF2-40B4-BE49-F238E27FC236}">
                <a16:creationId xmlns:a16="http://schemas.microsoft.com/office/drawing/2014/main" id="{5F8B68E2-26A9-4ACF-B984-04F61252844F}"/>
              </a:ext>
            </a:extLst>
          </p:cNvPr>
          <p:cNvSpPr>
            <a:spLocks xmlns:a="http://schemas.openxmlformats.org/drawingml/2006/main" noGrp="1"/>
          </p:cNvSpPr>
          <p:nvPr/>
        </p:nvSpPr>
        <p:spPr>
          <a:xfrm xmlns:a="http://schemas.openxmlformats.org/drawingml/2006/main">
            <a:off x="3000375" y="33337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0">
                <a:solidFill>
                  <a:srgbClr val="202C33"/>
                </a:solidFill>
                <a:latin typeface="Calibri"/>
                <a:ea typeface="Calibri"/>
                <a:cs typeface="Calibri"/>
              </a:defRPr>
            </a:defPPr>
            <a:lvl1pPr>
              <a:defRPr sz="2700" b="0">
                <a:solidFill>
                  <a:srgbClr val="202C33"/>
                </a:solidFill>
                <a:latin typeface="Calibri"/>
                <a:ea typeface="Calibri"/>
                <a:cs typeface="Calibri"/>
              </a:defRPr>
            </a:lvl1pPr>
            <a:lvl2pPr>
              <a:defRPr sz="2700" b="0">
                <a:solidFill>
                  <a:srgbClr val="202C33"/>
                </a:solidFill>
                <a:latin typeface="Calibri"/>
                <a:ea typeface="Calibri"/>
                <a:cs typeface="Calibri"/>
              </a:defRPr>
            </a:lvl2pPr>
            <a:lvl3pPr>
              <a:defRPr sz="2700" b="0">
                <a:solidFill>
                  <a:srgbClr val="202C33"/>
                </a:solidFill>
                <a:latin typeface="Calibri"/>
                <a:ea typeface="Calibri"/>
                <a:cs typeface="Calibri"/>
              </a:defRPr>
            </a:lvl3pPr>
            <a:lvl4pPr>
              <a:defRPr sz="2700" b="0">
                <a:solidFill>
                  <a:srgbClr val="202C33"/>
                </a:solidFill>
                <a:latin typeface="Calibri"/>
                <a:ea typeface="Calibri"/>
                <a:cs typeface="Calibri"/>
              </a:defRPr>
            </a:lvl4pPr>
            <a:lvl5pPr>
              <a:defRPr sz="2700" b="0">
                <a:solidFill>
                  <a:srgbClr val="202C33"/>
                </a:solidFill>
                <a:latin typeface="Calibri"/>
                <a:ea typeface="Calibri"/>
                <a:cs typeface="Calibri"/>
              </a:defRPr>
            </a:lvl5pPr>
            <a:lvl6pPr>
              <a:defRPr sz="2700" b="0">
                <a:solidFill>
                  <a:srgbClr val="202C33"/>
                </a:solidFill>
                <a:latin typeface="Calibri"/>
                <a:ea typeface="Calibri"/>
                <a:cs typeface="Calibri"/>
              </a:defRPr>
            </a:lvl6pPr>
            <a:lvl7pPr>
              <a:defRPr sz="2700" b="0">
                <a:solidFill>
                  <a:srgbClr val="202C33"/>
                </a:solidFill>
                <a:latin typeface="Calibri"/>
                <a:ea typeface="Calibri"/>
                <a:cs typeface="Calibri"/>
              </a:defRPr>
            </a:lvl7pPr>
            <a:lvl8pPr>
              <a:defRPr sz="2700" b="0">
                <a:solidFill>
                  <a:srgbClr val="202C33"/>
                </a:solidFill>
                <a:latin typeface="Calibri"/>
                <a:ea typeface="Calibri"/>
                <a:cs typeface="Calibri"/>
              </a:defRPr>
            </a:lvl8pPr>
            <a:lvl9pPr>
              <a:defRPr sz="2700" b="0">
                <a:solidFill>
                  <a:srgbClr val="202C33"/>
                </a:solidFill>
                <a:latin typeface="Calibri"/>
                <a:ea typeface="Calibri"/>
                <a:cs typeface="Calibri"/>
              </a:defRPr>
            </a:lvl9pPr>
          </a:lstStyle>
          <a:p xmlns:a="http://schemas.openxmlformats.org/drawingml/2006/main">
            <a:pPr>
              <a:defRPr sz="2700" b="0">
                <a:solidFill>
                  <a:srgbClr val="202C33"/>
                </a:solidFill>
                <a:latin typeface="Calibri"/>
                <a:ea typeface="Calibri"/>
                <a:cs typeface="Calibri"/>
              </a:defRPr>
            </a:pPr>
            <a:r>
              <a:rPr sz="2700" b="0">
                <a:solidFill>
                  <a:srgbClr val="202C33"/>
                </a:solidFill>
                <a:latin typeface="Calibri"/>
                <a:ea typeface="Calibri"/>
                <a:cs typeface="Calibri"/>
              </a:rPr>
              <a:t>r</a:t>
            </a:r>
          </a:p>
        </p:txBody>
      </p:sp>
      <p:sp>
        <p:nvSpPr>
          <p:cNvPr id="14" name="">
            <a:extLst xmlns:a="http://schemas.openxmlformats.org/drawingml/2006/main">
              <a:ext uri="{FF2B5EF4-FFF2-40B4-BE49-F238E27FC236}">
                <a16:creationId xmlns:a16="http://schemas.microsoft.com/office/drawing/2014/main" id="{1FB18392-215F-40ED-9826-E5821216A0D1}"/>
              </a:ext>
            </a:extLst>
          </p:cNvPr>
          <p:cNvSpPr>
            <a:spLocks xmlns:a="http://schemas.openxmlformats.org/drawingml/2006/main" noGrp="1"/>
          </p:cNvSpPr>
          <p:nvPr/>
        </p:nvSpPr>
        <p:spPr>
          <a:xfrm xmlns:a="http://schemas.openxmlformats.org/drawingml/2006/main">
            <a:off x="6048375" y="18097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B65C25"/>
                </a:solidFill>
                <a:latin typeface="Calibri"/>
                <a:ea typeface="Calibri"/>
                <a:cs typeface="Calibri"/>
              </a:defRPr>
            </a:defPPr>
            <a:lvl1pPr>
              <a:defRPr sz="2700" b="1">
                <a:solidFill>
                  <a:srgbClr val="B65C25"/>
                </a:solidFill>
                <a:latin typeface="Calibri"/>
                <a:ea typeface="Calibri"/>
                <a:cs typeface="Calibri"/>
              </a:defRPr>
            </a:lvl1pPr>
            <a:lvl2pPr>
              <a:defRPr sz="2700" b="1">
                <a:solidFill>
                  <a:srgbClr val="B65C25"/>
                </a:solidFill>
                <a:latin typeface="Calibri"/>
                <a:ea typeface="Calibri"/>
                <a:cs typeface="Calibri"/>
              </a:defRPr>
            </a:lvl2pPr>
            <a:lvl3pPr>
              <a:defRPr sz="2700" b="1">
                <a:solidFill>
                  <a:srgbClr val="B65C25"/>
                </a:solidFill>
                <a:latin typeface="Calibri"/>
                <a:ea typeface="Calibri"/>
                <a:cs typeface="Calibri"/>
              </a:defRPr>
            </a:lvl3pPr>
            <a:lvl4pPr>
              <a:defRPr sz="2700" b="1">
                <a:solidFill>
                  <a:srgbClr val="B65C25"/>
                </a:solidFill>
                <a:latin typeface="Calibri"/>
                <a:ea typeface="Calibri"/>
                <a:cs typeface="Calibri"/>
              </a:defRPr>
            </a:lvl4pPr>
            <a:lvl5pPr>
              <a:defRPr sz="2700" b="1">
                <a:solidFill>
                  <a:srgbClr val="B65C25"/>
                </a:solidFill>
                <a:latin typeface="Calibri"/>
                <a:ea typeface="Calibri"/>
                <a:cs typeface="Calibri"/>
              </a:defRPr>
            </a:lvl5pPr>
            <a:lvl6pPr>
              <a:defRPr sz="2700" b="1">
                <a:solidFill>
                  <a:srgbClr val="B65C25"/>
                </a:solidFill>
                <a:latin typeface="Calibri"/>
                <a:ea typeface="Calibri"/>
                <a:cs typeface="Calibri"/>
              </a:defRPr>
            </a:lvl6pPr>
            <a:lvl7pPr>
              <a:defRPr sz="2700" b="1">
                <a:solidFill>
                  <a:srgbClr val="B65C25"/>
                </a:solidFill>
                <a:latin typeface="Calibri"/>
                <a:ea typeface="Calibri"/>
                <a:cs typeface="Calibri"/>
              </a:defRPr>
            </a:lvl7pPr>
            <a:lvl8pPr>
              <a:defRPr sz="2700" b="1">
                <a:solidFill>
                  <a:srgbClr val="B65C25"/>
                </a:solidFill>
                <a:latin typeface="Calibri"/>
                <a:ea typeface="Calibri"/>
                <a:cs typeface="Calibri"/>
              </a:defRPr>
            </a:lvl8pPr>
            <a:lvl9pPr>
              <a:defRPr sz="2700" b="1">
                <a:solidFill>
                  <a:srgbClr val="B65C25"/>
                </a:solidFill>
                <a:latin typeface="Calibri"/>
                <a:ea typeface="Calibri"/>
                <a:cs typeface="Calibri"/>
              </a:defRPr>
            </a:lvl9pPr>
          </a:lstStyle>
          <a:p xmlns:a="http://schemas.openxmlformats.org/drawingml/2006/main">
            <a:pPr>
              <a:defRPr sz="2700" b="1">
                <a:solidFill>
                  <a:srgbClr val="B65C25"/>
                </a:solidFill>
                <a:latin typeface="Calibri"/>
                <a:ea typeface="Calibri"/>
                <a:cs typeface="Calibri"/>
              </a:defRPr>
            </a:pPr>
            <a:r>
              <a:rPr sz="2700" b="1">
                <a:solidFill>
                  <a:srgbClr val="B65C25"/>
                </a:solidFill>
                <a:latin typeface="Calibri"/>
                <a:ea typeface="Calibri"/>
                <a:cs typeface="Calibri"/>
              </a:rPr>
              <a:t>F</a:t>
            </a:r>
          </a:p>
        </p:txBody>
      </p:sp>
      <p:sp>
        <p:nvSpPr>
          <p:cNvPr id="15" name="">
            <a:extLst xmlns:a="http://schemas.openxmlformats.org/drawingml/2006/main">
              <a:ext uri="{FF2B5EF4-FFF2-40B4-BE49-F238E27FC236}">
                <a16:creationId xmlns:a16="http://schemas.microsoft.com/office/drawing/2014/main" id="{3E085709-46A3-4DD5-A2D3-69BE03737DDD}"/>
              </a:ext>
            </a:extLst>
          </p:cNvPr>
          <p:cNvSpPr>
            <a:spLocks xmlns:a="http://schemas.openxmlformats.org/drawingml/2006/main" noGrp="1"/>
          </p:cNvSpPr>
          <p:nvPr/>
        </p:nvSpPr>
        <p:spPr>
          <a:xfrm xmlns:a="http://schemas.openxmlformats.org/drawingml/2006/main">
            <a:off x="904875" y="31432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6D77"/>
                </a:solidFill>
                <a:latin typeface="Calibri"/>
                <a:ea typeface="Calibri"/>
                <a:cs typeface="Calibri"/>
              </a:defRPr>
            </a:defPPr>
            <a:lvl1pPr>
              <a:defRPr sz="2550" b="1">
                <a:solidFill>
                  <a:srgbClr val="006D77"/>
                </a:solidFill>
                <a:latin typeface="Calibri"/>
                <a:ea typeface="Calibri"/>
                <a:cs typeface="Calibri"/>
              </a:defRPr>
            </a:lvl1pPr>
            <a:lvl2pPr>
              <a:defRPr sz="2550" b="1">
                <a:solidFill>
                  <a:srgbClr val="006D77"/>
                </a:solidFill>
                <a:latin typeface="Calibri"/>
                <a:ea typeface="Calibri"/>
                <a:cs typeface="Calibri"/>
              </a:defRPr>
            </a:lvl2pPr>
            <a:lvl3pPr>
              <a:defRPr sz="2550" b="1">
                <a:solidFill>
                  <a:srgbClr val="006D77"/>
                </a:solidFill>
                <a:latin typeface="Calibri"/>
                <a:ea typeface="Calibri"/>
                <a:cs typeface="Calibri"/>
              </a:defRPr>
            </a:lvl3pPr>
            <a:lvl4pPr>
              <a:defRPr sz="2550" b="1">
                <a:solidFill>
                  <a:srgbClr val="006D77"/>
                </a:solidFill>
                <a:latin typeface="Calibri"/>
                <a:ea typeface="Calibri"/>
                <a:cs typeface="Calibri"/>
              </a:defRPr>
            </a:lvl4pPr>
            <a:lvl5pPr>
              <a:defRPr sz="2550" b="1">
                <a:solidFill>
                  <a:srgbClr val="006D77"/>
                </a:solidFill>
                <a:latin typeface="Calibri"/>
                <a:ea typeface="Calibri"/>
                <a:cs typeface="Calibri"/>
              </a:defRPr>
            </a:lvl5pPr>
            <a:lvl6pPr>
              <a:defRPr sz="2550" b="1">
                <a:solidFill>
                  <a:srgbClr val="006D77"/>
                </a:solidFill>
                <a:latin typeface="Calibri"/>
                <a:ea typeface="Calibri"/>
                <a:cs typeface="Calibri"/>
              </a:defRPr>
            </a:lvl6pPr>
            <a:lvl7pPr>
              <a:defRPr sz="2550" b="1">
                <a:solidFill>
                  <a:srgbClr val="006D77"/>
                </a:solidFill>
                <a:latin typeface="Calibri"/>
                <a:ea typeface="Calibri"/>
                <a:cs typeface="Calibri"/>
              </a:defRPr>
            </a:lvl7pPr>
            <a:lvl8pPr>
              <a:defRPr sz="2550" b="1">
                <a:solidFill>
                  <a:srgbClr val="006D77"/>
                </a:solidFill>
                <a:latin typeface="Calibri"/>
                <a:ea typeface="Calibri"/>
                <a:cs typeface="Calibri"/>
              </a:defRPr>
            </a:lvl8pPr>
            <a:lvl9pPr>
              <a:defRPr sz="2550" b="1">
                <a:solidFill>
                  <a:srgbClr val="006D77"/>
                </a:solidFill>
                <a:latin typeface="Calibri"/>
                <a:ea typeface="Calibri"/>
                <a:cs typeface="Calibri"/>
              </a:defRPr>
            </a:lvl9pPr>
          </a:lstStyle>
          <a:p xmlns:a="http://schemas.openxmlformats.org/drawingml/2006/main">
            <a:pPr>
              <a:defRPr sz="2550" b="1">
                <a:solidFill>
                  <a:srgbClr val="006D77"/>
                </a:solidFill>
                <a:latin typeface="Calibri"/>
                <a:ea typeface="Calibri"/>
                <a:cs typeface="Calibri"/>
              </a:defRPr>
            </a:pPr>
            <a:r>
              <a:rPr sz="2550" b="1">
                <a:solidFill>
                  <a:srgbClr val="006D77"/>
                </a:solidFill>
                <a:latin typeface="Calibri"/>
                <a:ea typeface="Calibri"/>
                <a:cs typeface="Calibri"/>
              </a:rPr>
              <a:t>r⊥</a:t>
            </a:r>
          </a:p>
        </p:txBody>
      </p:sp>
      <p:sp>
        <p:nvSpPr>
          <p:cNvPr id="16" name="">
            <a:extLst xmlns:a="http://schemas.openxmlformats.org/drawingml/2006/main">
              <a:ext uri="{FF2B5EF4-FFF2-40B4-BE49-F238E27FC236}">
                <a16:creationId xmlns:a16="http://schemas.microsoft.com/office/drawing/2014/main" id="{42BFDE82-1A2A-4544-87E7-A19D3E13C354}"/>
              </a:ext>
            </a:extLst>
          </p:cNvPr>
          <p:cNvSpPr>
            <a:spLocks xmlns:a="http://schemas.openxmlformats.org/drawingml/2006/main" noGrp="1"/>
          </p:cNvSpPr>
          <p:nvPr/>
        </p:nvSpPr>
        <p:spPr>
          <a:xfrm xmlns:a="http://schemas.openxmlformats.org/drawingml/2006/main">
            <a:off x="7810500" y="23812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384A"/>
                </a:solidFill>
                <a:latin typeface="Calibri"/>
                <a:ea typeface="Calibri"/>
                <a:cs typeface="Calibri"/>
              </a:defRPr>
            </a:defPPr>
            <a:lvl1pPr>
              <a:defRPr sz="2850" b="1">
                <a:solidFill>
                  <a:srgbClr val="17384A"/>
                </a:solidFill>
                <a:latin typeface="Calibri"/>
                <a:ea typeface="Calibri"/>
                <a:cs typeface="Calibri"/>
              </a:defRPr>
            </a:lvl1pPr>
            <a:lvl2pPr>
              <a:defRPr sz="2850" b="1">
                <a:solidFill>
                  <a:srgbClr val="17384A"/>
                </a:solidFill>
                <a:latin typeface="Calibri"/>
                <a:ea typeface="Calibri"/>
                <a:cs typeface="Calibri"/>
              </a:defRPr>
            </a:lvl2pPr>
            <a:lvl3pPr>
              <a:defRPr sz="2850" b="1">
                <a:solidFill>
                  <a:srgbClr val="17384A"/>
                </a:solidFill>
                <a:latin typeface="Calibri"/>
                <a:ea typeface="Calibri"/>
                <a:cs typeface="Calibri"/>
              </a:defRPr>
            </a:lvl3pPr>
            <a:lvl4pPr>
              <a:defRPr sz="2850" b="1">
                <a:solidFill>
                  <a:srgbClr val="17384A"/>
                </a:solidFill>
                <a:latin typeface="Calibri"/>
                <a:ea typeface="Calibri"/>
                <a:cs typeface="Calibri"/>
              </a:defRPr>
            </a:lvl4pPr>
            <a:lvl5pPr>
              <a:defRPr sz="2850" b="1">
                <a:solidFill>
                  <a:srgbClr val="17384A"/>
                </a:solidFill>
                <a:latin typeface="Calibri"/>
                <a:ea typeface="Calibri"/>
                <a:cs typeface="Calibri"/>
              </a:defRPr>
            </a:lvl5pPr>
            <a:lvl6pPr>
              <a:defRPr sz="2850" b="1">
                <a:solidFill>
                  <a:srgbClr val="17384A"/>
                </a:solidFill>
                <a:latin typeface="Calibri"/>
                <a:ea typeface="Calibri"/>
                <a:cs typeface="Calibri"/>
              </a:defRPr>
            </a:lvl6pPr>
            <a:lvl7pPr>
              <a:defRPr sz="2850" b="1">
                <a:solidFill>
                  <a:srgbClr val="17384A"/>
                </a:solidFill>
                <a:latin typeface="Calibri"/>
                <a:ea typeface="Calibri"/>
                <a:cs typeface="Calibri"/>
              </a:defRPr>
            </a:lvl7pPr>
            <a:lvl8pPr>
              <a:defRPr sz="2850" b="1">
                <a:solidFill>
                  <a:srgbClr val="17384A"/>
                </a:solidFill>
                <a:latin typeface="Calibri"/>
                <a:ea typeface="Calibri"/>
                <a:cs typeface="Calibri"/>
              </a:defRPr>
            </a:lvl8pPr>
            <a:lvl9pPr>
              <a:defRPr sz="2850" b="1">
                <a:solidFill>
                  <a:srgbClr val="17384A"/>
                </a:solidFill>
                <a:latin typeface="Calibri"/>
                <a:ea typeface="Calibri"/>
                <a:cs typeface="Calibri"/>
              </a:defRPr>
            </a:lvl9pPr>
          </a:lstStyle>
          <a:p xmlns:a="http://schemas.openxmlformats.org/drawingml/2006/main">
            <a:pPr>
              <a:defRPr sz="2850" b="1">
                <a:solidFill>
                  <a:srgbClr val="17384A"/>
                </a:solidFill>
                <a:latin typeface="Calibri"/>
                <a:ea typeface="Calibri"/>
                <a:cs typeface="Calibri"/>
              </a:defRPr>
            </a:pPr>
            <a:r>
              <a:rPr sz="2850" b="1">
                <a:solidFill>
                  <a:srgbClr val="17384A"/>
                </a:solidFill>
                <a:latin typeface="Calibri"/>
                <a:ea typeface="Calibri"/>
                <a:cs typeface="Calibri"/>
              </a:rPr>
              <a:t>τz = (r × F) · ẑ</a:t>
            </a:r>
          </a:p>
        </p:txBody>
      </p:sp>
      <p:sp>
        <p:nvSpPr>
          <p:cNvPr id="17" name="">
            <a:extLst xmlns:a="http://schemas.openxmlformats.org/drawingml/2006/main">
              <a:ext uri="{FF2B5EF4-FFF2-40B4-BE49-F238E27FC236}">
                <a16:creationId xmlns:a16="http://schemas.microsoft.com/office/drawing/2014/main" id="{D7A2DB35-EFBB-44D9-B2B9-9051A49B080E}"/>
              </a:ext>
            </a:extLst>
          </p:cNvPr>
          <p:cNvSpPr>
            <a:spLocks xmlns:a="http://schemas.openxmlformats.org/drawingml/2006/main" noGrp="1"/>
          </p:cNvSpPr>
          <p:nvPr/>
        </p:nvSpPr>
        <p:spPr>
          <a:xfrm xmlns:a="http://schemas.openxmlformats.org/drawingml/2006/main">
            <a:off x="7810500" y="33337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06D77"/>
                </a:solidFill>
                <a:latin typeface="Calibri"/>
                <a:ea typeface="Calibri"/>
                <a:cs typeface="Calibri"/>
              </a:defRPr>
            </a:defPPr>
            <a:lvl1pPr>
              <a:defRPr sz="2850" b="1">
                <a:solidFill>
                  <a:srgbClr val="006D77"/>
                </a:solidFill>
                <a:latin typeface="Calibri"/>
                <a:ea typeface="Calibri"/>
                <a:cs typeface="Calibri"/>
              </a:defRPr>
            </a:lvl1pPr>
            <a:lvl2pPr>
              <a:defRPr sz="2850" b="1">
                <a:solidFill>
                  <a:srgbClr val="006D77"/>
                </a:solidFill>
                <a:latin typeface="Calibri"/>
                <a:ea typeface="Calibri"/>
                <a:cs typeface="Calibri"/>
              </a:defRPr>
            </a:lvl2pPr>
            <a:lvl3pPr>
              <a:defRPr sz="2850" b="1">
                <a:solidFill>
                  <a:srgbClr val="006D77"/>
                </a:solidFill>
                <a:latin typeface="Calibri"/>
                <a:ea typeface="Calibri"/>
                <a:cs typeface="Calibri"/>
              </a:defRPr>
            </a:lvl3pPr>
            <a:lvl4pPr>
              <a:defRPr sz="2850" b="1">
                <a:solidFill>
                  <a:srgbClr val="006D77"/>
                </a:solidFill>
                <a:latin typeface="Calibri"/>
                <a:ea typeface="Calibri"/>
                <a:cs typeface="Calibri"/>
              </a:defRPr>
            </a:lvl4pPr>
            <a:lvl5pPr>
              <a:defRPr sz="2850" b="1">
                <a:solidFill>
                  <a:srgbClr val="006D77"/>
                </a:solidFill>
                <a:latin typeface="Calibri"/>
                <a:ea typeface="Calibri"/>
                <a:cs typeface="Calibri"/>
              </a:defRPr>
            </a:lvl5pPr>
            <a:lvl6pPr>
              <a:defRPr sz="2850" b="1">
                <a:solidFill>
                  <a:srgbClr val="006D77"/>
                </a:solidFill>
                <a:latin typeface="Calibri"/>
                <a:ea typeface="Calibri"/>
                <a:cs typeface="Calibri"/>
              </a:defRPr>
            </a:lvl6pPr>
            <a:lvl7pPr>
              <a:defRPr sz="2850" b="1">
                <a:solidFill>
                  <a:srgbClr val="006D77"/>
                </a:solidFill>
                <a:latin typeface="Calibri"/>
                <a:ea typeface="Calibri"/>
                <a:cs typeface="Calibri"/>
              </a:defRPr>
            </a:lvl7pPr>
            <a:lvl8pPr>
              <a:defRPr sz="2850" b="1">
                <a:solidFill>
                  <a:srgbClr val="006D77"/>
                </a:solidFill>
                <a:latin typeface="Calibri"/>
                <a:ea typeface="Calibri"/>
                <a:cs typeface="Calibri"/>
              </a:defRPr>
            </a:lvl8pPr>
            <a:lvl9pPr>
              <a:defRPr sz="2850" b="1">
                <a:solidFill>
                  <a:srgbClr val="006D77"/>
                </a:solidFill>
                <a:latin typeface="Calibri"/>
                <a:ea typeface="Calibri"/>
                <a:cs typeface="Calibri"/>
              </a:defRPr>
            </a:lvl9pPr>
          </a:lstStyle>
          <a:p xmlns:a="http://schemas.openxmlformats.org/drawingml/2006/main">
            <a:pPr>
              <a:defRPr sz="2850" b="1">
                <a:solidFill>
                  <a:srgbClr val="006D77"/>
                </a:solidFill>
                <a:latin typeface="Calibri"/>
                <a:ea typeface="Calibri"/>
                <a:cs typeface="Calibri"/>
              </a:defRPr>
            </a:pPr>
            <a:r>
              <a:rPr sz="2850" b="1">
                <a:solidFill>
                  <a:srgbClr val="006D77"/>
                </a:solidFill>
                <a:latin typeface="Calibri"/>
                <a:ea typeface="Calibri"/>
                <a:cs typeface="Calibri"/>
              </a:rPr>
              <a:t>|τz| = F r⊥</a:t>
            </a:r>
          </a:p>
        </p:txBody>
      </p:sp>
      <p:sp>
        <p:nvSpPr>
          <p:cNvPr id="18" name="">
            <a:extLst xmlns:a="http://schemas.openxmlformats.org/drawingml/2006/main">
              <a:ext uri="{FF2B5EF4-FFF2-40B4-BE49-F238E27FC236}">
                <a16:creationId xmlns:a16="http://schemas.microsoft.com/office/drawing/2014/main" id="{DD285C60-E5E6-4384-BAC2-05FB387C76EE}"/>
              </a:ext>
            </a:extLst>
          </p:cNvPr>
          <p:cNvSpPr>
            <a:spLocks xmlns:a="http://schemas.openxmlformats.org/drawingml/2006/main" noGrp="1"/>
          </p:cNvSpPr>
          <p:nvPr/>
        </p:nvSpPr>
        <p:spPr>
          <a:xfrm xmlns:a="http://schemas.openxmlformats.org/drawingml/2006/main">
            <a:off x="7762875" y="4429125"/>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2C33"/>
                </a:solidFill>
                <a:latin typeface="Calibri"/>
                <a:ea typeface="Calibri"/>
                <a:cs typeface="Calibri"/>
              </a:defRPr>
            </a:defPPr>
            <a:lvl1pPr>
              <a:defRPr sz="2250" b="0">
                <a:solidFill>
                  <a:srgbClr val="202C33"/>
                </a:solidFill>
                <a:latin typeface="Calibri"/>
                <a:ea typeface="Calibri"/>
                <a:cs typeface="Calibri"/>
              </a:defRPr>
            </a:lvl1pPr>
            <a:lvl2pPr>
              <a:defRPr sz="2250" b="0">
                <a:solidFill>
                  <a:srgbClr val="202C33"/>
                </a:solidFill>
                <a:latin typeface="Calibri"/>
                <a:ea typeface="Calibri"/>
                <a:cs typeface="Calibri"/>
              </a:defRPr>
            </a:lvl2pPr>
            <a:lvl3pPr>
              <a:defRPr sz="2250" b="0">
                <a:solidFill>
                  <a:srgbClr val="202C33"/>
                </a:solidFill>
                <a:latin typeface="Calibri"/>
                <a:ea typeface="Calibri"/>
                <a:cs typeface="Calibri"/>
              </a:defRPr>
            </a:lvl3pPr>
            <a:lvl4pPr>
              <a:defRPr sz="2250" b="0">
                <a:solidFill>
                  <a:srgbClr val="202C33"/>
                </a:solidFill>
                <a:latin typeface="Calibri"/>
                <a:ea typeface="Calibri"/>
                <a:cs typeface="Calibri"/>
              </a:defRPr>
            </a:lvl4pPr>
            <a:lvl5pPr>
              <a:defRPr sz="2250" b="0">
                <a:solidFill>
                  <a:srgbClr val="202C33"/>
                </a:solidFill>
                <a:latin typeface="Calibri"/>
                <a:ea typeface="Calibri"/>
                <a:cs typeface="Calibri"/>
              </a:defRPr>
            </a:lvl5pPr>
            <a:lvl6pPr>
              <a:defRPr sz="2250" b="0">
                <a:solidFill>
                  <a:srgbClr val="202C33"/>
                </a:solidFill>
                <a:latin typeface="Calibri"/>
                <a:ea typeface="Calibri"/>
                <a:cs typeface="Calibri"/>
              </a:defRPr>
            </a:lvl6pPr>
            <a:lvl7pPr>
              <a:defRPr sz="2250" b="0">
                <a:solidFill>
                  <a:srgbClr val="202C33"/>
                </a:solidFill>
                <a:latin typeface="Calibri"/>
                <a:ea typeface="Calibri"/>
                <a:cs typeface="Calibri"/>
              </a:defRPr>
            </a:lvl7pPr>
            <a:lvl8pPr>
              <a:defRPr sz="2250" b="0">
                <a:solidFill>
                  <a:srgbClr val="202C33"/>
                </a:solidFill>
                <a:latin typeface="Calibri"/>
                <a:ea typeface="Calibri"/>
                <a:cs typeface="Calibri"/>
              </a:defRPr>
            </a:lvl8pPr>
            <a:lvl9pPr>
              <a:defRPr sz="2250" b="0">
                <a:solidFill>
                  <a:srgbClr val="202C33"/>
                </a:solidFill>
                <a:latin typeface="Calibri"/>
                <a:ea typeface="Calibri"/>
                <a:cs typeface="Calibri"/>
              </a:defRPr>
            </a:lvl9pPr>
          </a:lstStyle>
          <a:p xmlns:a="http://schemas.openxmlformats.org/drawingml/2006/main">
            <a:pPr>
              <a:defRPr sz="2250" b="0">
                <a:solidFill>
                  <a:srgbClr val="202C33"/>
                </a:solidFill>
                <a:latin typeface="Calibri"/>
                <a:ea typeface="Calibri"/>
                <a:cs typeface="Calibri"/>
              </a:defRPr>
            </a:pPr>
            <a:r>
              <a:rPr sz="2250" b="0">
                <a:solidFill>
                  <a:srgbClr val="202C33"/>
                </a:solidFill>
                <a:latin typeface="Calibri"/>
                <a:ea typeface="Calibri"/>
                <a:cs typeface="Calibri"/>
              </a:rPr>
              <a:t>Routing also changes</a:t>
            </a:r>
          </a:p>
          <a:p xmlns:a="http://schemas.openxmlformats.org/drawingml/2006/main">
            <a:pPr>
              <a:defRPr sz="2250" b="0">
                <a:solidFill>
                  <a:srgbClr val="202C33"/>
                </a:solidFill>
                <a:latin typeface="Calibri"/>
                <a:ea typeface="Calibri"/>
                <a:cs typeface="Calibri"/>
              </a:defRPr>
            </a:pPr>
            <a:r>
              <a:rPr sz="2250" b="0">
                <a:solidFill>
                  <a:srgbClr val="202C33"/>
                </a:solidFill>
                <a:latin typeface="Calibri"/>
                <a:ea typeface="Calibri"/>
                <a:cs typeface="Calibri"/>
              </a:rPr>
              <a:t>actuator length</a:t>
            </a:r>
          </a:p>
        </p:txBody>
      </p:sp>
      <p:sp>
        <p:nvSpPr>
          <p:cNvPr id="19" name="">
            <a:extLst xmlns:a="http://schemas.openxmlformats.org/drawingml/2006/main">
              <a:ext uri="{FF2B5EF4-FFF2-40B4-BE49-F238E27FC236}">
                <a16:creationId xmlns:a16="http://schemas.microsoft.com/office/drawing/2014/main" id="{68D034F5-6F4B-4FD8-B8F4-5A4D0782E362}"/>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A force model needs a transmission model to predict delivered torque</a:t>
            </a:r>
          </a:p>
        </p:txBody>
      </p:sp>
    </p:spTree>
    <p:extLst>
      <p:ext uri="{BB962C8B-B14F-4D97-AF65-F5344CB8AC3E}">
        <p14:creationId xmlns:p14="http://schemas.microsoft.com/office/powerpoint/2010/main" val="6365995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F34F10-975B-4BE0-B25C-104DB7B36805}"/>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TRANSMISSION CORRECTIONS</a:t>
            </a:r>
          </a:p>
        </p:txBody>
      </p:sp>
      <p:sp>
        <p:nvSpPr>
          <p:cNvPr id="2" name="">
            <a:extLst xmlns:a="http://schemas.openxmlformats.org/drawingml/2006/main">
              <a:ext uri="{FF2B5EF4-FFF2-40B4-BE49-F238E27FC236}">
                <a16:creationId xmlns:a16="http://schemas.microsoft.com/office/drawing/2014/main" id="{DC379B11-7EBE-4BF1-8C8C-D8A728011EC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Length, compliance, and wrapping alter usable contraction</a:t>
            </a:r>
          </a:p>
        </p:txBody>
      </p:sp>
      <p:sp>
        <p:nvSpPr>
          <p:cNvPr id="3" name="">
            <a:extLst xmlns:a="http://schemas.openxmlformats.org/drawingml/2006/main">
              <a:ext uri="{FF2B5EF4-FFF2-40B4-BE49-F238E27FC236}">
                <a16:creationId xmlns:a16="http://schemas.microsoft.com/office/drawing/2014/main" id="{3B37F988-A3C9-49F7-97A7-0AEB0CC1CE5B}"/>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FA6A6C72-C04E-472C-9B2A-17C47D865669}"/>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8</a:t>
            </a:r>
          </a:p>
        </p:txBody>
      </p:sp>
      <p:pic>
        <p:nvPicPr>
          <p:cNvPr id="5" name="">
            <a:extLst xmlns:a="http://schemas.openxmlformats.org/drawingml/2006/main">
              <a:ext uri="{FF2B5EF4-FFF2-40B4-BE49-F238E27FC236}">
                <a16:creationId xmlns:a16="http://schemas.microsoft.com/office/drawing/2014/main" id="{79BD45F2-D5B3-49C9-A05E-6759F88D35D9}"/>
              </a:ext>
            </a:extLst>
          </p:cNvPr>
          <p:cNvPicPr>
            <a:picLocks xmlns:a="http://schemas.openxmlformats.org/drawingml/2006/main" noChangeAspect="1"/>
          </p:cNvPicPr>
          <p:nvPr/>
        </p:nvPicPr>
        <p:blipFill>
          <a:blip xmlns:r="http://schemas.openxmlformats.org/officeDocument/2006/relationships" xmlns:a="http://schemas.openxmlformats.org/drawingml/2006/main" r:embed="R3b9ab6eefe8f4443"/>
          <a:stretch xmlns:a="http://schemas.openxmlformats.org/drawingml/2006/main"/>
        </p:blipFill>
        <p:spPr>
          <a:xfrm xmlns:a="http://schemas.openxmlformats.org/drawingml/2006/main">
            <a:off x="689042" y="1619250"/>
            <a:ext cx="5718042" cy="4476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C7EA45E-67D8-40E5-BF8F-9108623A1EA2}"/>
              </a:ext>
            </a:extLst>
          </p:cNvPr>
          <p:cNvPicPr>
            <a:picLocks xmlns:a="http://schemas.openxmlformats.org/drawingml/2006/main" noChangeAspect="1"/>
          </p:cNvPicPr>
          <p:nvPr/>
        </p:nvPicPr>
        <p:blipFill>
          <a:blip xmlns:r="http://schemas.openxmlformats.org/officeDocument/2006/relationships" xmlns:a="http://schemas.openxmlformats.org/drawingml/2006/main" r:embed="R84f842582eed40b5"/>
          <a:stretch xmlns:a="http://schemas.openxmlformats.org/drawingml/2006/main"/>
        </p:blipFill>
        <p:spPr>
          <a:xfrm xmlns:a="http://schemas.openxmlformats.org/drawingml/2006/main">
            <a:off x="7143750" y="2197690"/>
            <a:ext cx="4238625" cy="136724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34D7E2F-468E-4C63-A2EC-16DBAD401E79}"/>
              </a:ext>
            </a:extLst>
          </p:cNvPr>
          <p:cNvSpPr>
            <a:spLocks xmlns:a="http://schemas.openxmlformats.org/drawingml/2006/main" noGrp="1"/>
          </p:cNvSpPr>
          <p:nvPr/>
        </p:nvSpPr>
        <p:spPr>
          <a:xfrm xmlns:a="http://schemas.openxmlformats.org/drawingml/2006/main">
            <a:off x="7191375" y="4143375"/>
            <a:ext cx="4286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Constant offset</a:t>
            </a:r>
          </a:p>
          <a:p xmlns:a="http://schemas.openxmlformats.org/drawingml/2006/main">
            <a:r>
              <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Load-dependent deflection</a:t>
            </a:r>
          </a:p>
          <a:p xmlns:a="http://schemas.openxmlformats.org/drawingml/2006/main">
            <a:r>
              <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Contact-dependent length loss</a:t>
            </a:r>
          </a:p>
        </p:txBody>
      </p:sp>
      <p:sp>
        <p:nvSpPr>
          <p:cNvPr id="8" name="">
            <a:extLst xmlns:a="http://schemas.openxmlformats.org/drawingml/2006/main">
              <a:ext uri="{FF2B5EF4-FFF2-40B4-BE49-F238E27FC236}">
                <a16:creationId xmlns:a16="http://schemas.microsoft.com/office/drawing/2014/main" id="{BE7CA510-A5AF-4652-A998-8ECA689889BE}"/>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The correction terms belong to the actuator–attachment system</a:t>
            </a:r>
          </a:p>
        </p:txBody>
      </p:sp>
    </p:spTree>
    <p:extLst>
      <p:ext uri="{BB962C8B-B14F-4D97-AF65-F5344CB8AC3E}">
        <p14:creationId xmlns:p14="http://schemas.microsoft.com/office/powerpoint/2010/main" val="145867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481E9E-C2D5-4B1D-A552-EB92D769464E}"/>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IDENTIFICATION EVIDENCE</a:t>
            </a:r>
          </a:p>
        </p:txBody>
      </p:sp>
      <p:sp>
        <p:nvSpPr>
          <p:cNvPr id="2" name="">
            <a:extLst xmlns:a="http://schemas.openxmlformats.org/drawingml/2006/main">
              <a:ext uri="{FF2B5EF4-FFF2-40B4-BE49-F238E27FC236}">
                <a16:creationId xmlns:a16="http://schemas.microsoft.com/office/drawing/2014/main" id="{79EE2417-2679-4977-ACC4-B8A8B27096AB}"/>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Corrections reduce error on held-out knee tests</a:t>
            </a:r>
          </a:p>
        </p:txBody>
      </p:sp>
      <p:sp>
        <p:nvSpPr>
          <p:cNvPr id="3" name="">
            <a:extLst xmlns:a="http://schemas.openxmlformats.org/drawingml/2006/main">
              <a:ext uri="{FF2B5EF4-FFF2-40B4-BE49-F238E27FC236}">
                <a16:creationId xmlns:a16="http://schemas.microsoft.com/office/drawing/2014/main" id="{D125E904-E3B1-4DDE-A5F7-20A7E4D0EF1A}"/>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7945668E-A334-4B89-AEDB-3EAE028FACB5}"/>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9</a:t>
            </a:r>
          </a:p>
        </p:txBody>
      </p:sp>
      <p:graphicFrame>
        <p:nvGraphicFramePr>
          <p:cNvPr id="5" name="">
            <a:extLst xmlns:a="http://schemas.openxmlformats.org/drawingml/2006/main">
              <a:ext uri="{FF2B5EF4-FFF2-40B4-BE49-F238E27FC236}">
                <a16:creationId xmlns:a16="http://schemas.microsoft.com/office/drawing/2014/main" id="{4C9FD4AE-F41B-412C-B8AD-A2AD4A8A808A}"/>
              </a:ext>
            </a:extLst>
          </p:cNvPr>
          <p:cNvGraphicFramePr/>
          <p:nvPr/>
        </p:nvGraphicFramePr>
        <p:xfrm>
          <a:off xmlns:a="http://schemas.openxmlformats.org/drawingml/2006/main" x="571500" y="1905000"/>
          <a:ext xmlns:a="http://schemas.openxmlformats.org/drawingml/2006/main" cx="11049000" cy="2095500"/>
        </p:xfrm>
        <a:graphic xmlns:a="http://schemas.openxmlformats.org/drawingml/2006/main">
          <a:graphicData uri="http://schemas.openxmlformats.org/drawingml/2006/table">
            <a:tbl>
              <a:tblPr/>
              <a:tblGrid>
                <a:gridCol w="3683000"/>
                <a:gridCol w="3683000"/>
                <a:gridCol w="3683000"/>
              </a:tblGrid>
              <a:tr h="698500">
                <a:tc>
                  <a:txBody>
                    <a:bodyPr/>
                    <a:lstStyle/>
                    <a:p>
                      <a:r>
                        <a:rPr sz="2250" b="1">
                          <a:solidFill>
                            <a:srgbClr val="006D77"/>
                          </a:solidFill>
                          <a:latin typeface="Calibri"/>
                          <a:ea typeface="Calibri"/>
                          <a:cs typeface="Calibri"/>
                        </a:rPr>
                        <a:t>Validation RMSE, N m</a:t>
                      </a:r>
                    </a:p>
                  </a:txBody>
                  <a:tcPr marL="91440" marR="91440" marT="45720" marB="45720">
                    <a:solidFill>
                      <a:srgbClr val="FFFFFF"/>
                    </a:solidFill>
                  </a:tcPr>
                </a:tc>
                <a:tc>
                  <a:txBody>
                    <a:bodyPr/>
                    <a:lstStyle/>
                    <a:p>
                      <a:r>
                        <a:rPr sz="2250" b="1">
                          <a:solidFill>
                            <a:srgbClr val="006D77"/>
                          </a:solidFill>
                          <a:latin typeface="Calibri"/>
                          <a:ea typeface="Calibri"/>
                          <a:cs typeface="Calibri"/>
                        </a:rPr>
                        <a:t>No corrections</a:t>
                      </a:r>
                    </a:p>
                  </a:txBody>
                  <a:tcPr marL="91440" marR="91440" marT="45720" marB="45720">
                    <a:solidFill>
                      <a:srgbClr val="FFFFFF"/>
                    </a:solidFill>
                  </a:tcPr>
                </a:tc>
                <a:tc>
                  <a:txBody>
                    <a:bodyPr/>
                    <a:lstStyle/>
                    <a:p>
                      <a:r>
                        <a:rPr sz="2250" b="1">
                          <a:solidFill>
                            <a:srgbClr val="006D77"/>
                          </a:solidFill>
                          <a:latin typeface="Calibri"/>
                          <a:ea typeface="Calibri"/>
                          <a:cs typeface="Calibri"/>
                        </a:rPr>
                        <a:t>Corrected</a:t>
                      </a:r>
                    </a:p>
                  </a:txBody>
                  <a:tcPr marL="91440" marR="91440" marT="45720" marB="45720">
                    <a:solidFill>
                      <a:srgbClr val="FFFFFF"/>
                    </a:solidFill>
                  </a:tcPr>
                </a:tc>
              </a:tr>
              <a:tr h="698500">
                <a:tc>
                  <a:txBody>
                    <a:bodyPr/>
                    <a:lstStyle/>
                    <a:p>
                      <a:r>
                        <a:rPr sz="2250" b="0">
                          <a:solidFill>
                            <a:srgbClr val="202C33"/>
                          </a:solidFill>
                          <a:latin typeface="Calibri"/>
                          <a:ea typeface="Calibri"/>
                          <a:cs typeface="Calibri"/>
                        </a:rPr>
                        <a:t>Flexor, 2 tests</a:t>
                      </a:r>
                    </a:p>
                  </a:txBody>
                  <a:tcPr marL="91440" marR="91440" marT="45720" marB="45720">
                    <a:solidFill>
                      <a:srgbClr val="FFFFFF"/>
                    </a:solidFill>
                  </a:tcPr>
                </a:tc>
                <a:tc>
                  <a:txBody>
                    <a:bodyPr/>
                    <a:lstStyle/>
                    <a:p>
                      <a:r>
                        <a:rPr sz="2250" b="0">
                          <a:solidFill>
                            <a:srgbClr val="202C33"/>
                          </a:solidFill>
                          <a:latin typeface="Calibri"/>
                          <a:ea typeface="Calibri"/>
                          <a:cs typeface="Calibri"/>
                        </a:rPr>
                        <a:t>7.588</a:t>
                      </a:r>
                    </a:p>
                  </a:txBody>
                  <a:tcPr marL="91440" marR="91440" marT="45720" marB="45720">
                    <a:solidFill>
                      <a:srgbClr val="FFFFFF"/>
                    </a:solidFill>
                  </a:tcPr>
                </a:tc>
                <a:tc>
                  <a:txBody>
                    <a:bodyPr/>
                    <a:lstStyle/>
                    <a:p>
                      <a:r>
                        <a:rPr sz="2250" b="0">
                          <a:solidFill>
                            <a:srgbClr val="202C33"/>
                          </a:solidFill>
                          <a:latin typeface="Calibri"/>
                          <a:ea typeface="Calibri"/>
                          <a:cs typeface="Calibri"/>
                        </a:rPr>
                        <a:t>1.490</a:t>
                      </a:r>
                    </a:p>
                  </a:txBody>
                  <a:tcPr marL="91440" marR="91440" marT="45720" marB="45720">
                    <a:solidFill>
                      <a:srgbClr val="FFFFFF"/>
                    </a:solidFill>
                  </a:tcPr>
                </a:tc>
              </a:tr>
              <a:tr h="698500">
                <a:tc>
                  <a:txBody>
                    <a:bodyPr/>
                    <a:lstStyle/>
                    <a:p>
                      <a:r>
                        <a:rPr sz="2250" b="0">
                          <a:solidFill>
                            <a:srgbClr val="202C33"/>
                          </a:solidFill>
                          <a:latin typeface="Calibri"/>
                          <a:ea typeface="Calibri"/>
                          <a:cs typeface="Calibri"/>
                        </a:rPr>
                        <a:t>Extensor, 3 tests</a:t>
                      </a:r>
                    </a:p>
                  </a:txBody>
                  <a:tcPr marL="91440" marR="91440" marT="45720" marB="45720">
                    <a:solidFill>
                      <a:srgbClr val="FFFFFF"/>
                    </a:solidFill>
                  </a:tcPr>
                </a:tc>
                <a:tc>
                  <a:txBody>
                    <a:bodyPr/>
                    <a:lstStyle/>
                    <a:p>
                      <a:r>
                        <a:rPr sz="2250" b="0">
                          <a:solidFill>
                            <a:srgbClr val="202C33"/>
                          </a:solidFill>
                          <a:latin typeface="Calibri"/>
                          <a:ea typeface="Calibri"/>
                          <a:cs typeface="Calibri"/>
                        </a:rPr>
                        <a:t>2.554</a:t>
                      </a:r>
                    </a:p>
                  </a:txBody>
                  <a:tcPr marL="91440" marR="91440" marT="45720" marB="45720">
                    <a:solidFill>
                      <a:srgbClr val="FFFFFF"/>
                    </a:solidFill>
                  </a:tcPr>
                </a:tc>
                <a:tc>
                  <a:txBody>
                    <a:bodyPr/>
                    <a:lstStyle/>
                    <a:p>
                      <a:r>
                        <a:rPr sz="2250" b="0">
                          <a:solidFill>
                            <a:srgbClr val="202C33"/>
                          </a:solidFill>
                          <a:latin typeface="Calibri"/>
                          <a:ea typeface="Calibri"/>
                          <a:cs typeface="Calibri"/>
                        </a:rPr>
                        <a:t>1.098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31C4A48-3C19-41A2-8D08-9B19840667C9}"/>
              </a:ext>
            </a:extLst>
          </p:cNvPr>
          <p:cNvSpPr>
            <a:spLocks xmlns:a="http://schemas.openxmlformats.org/drawingml/2006/main" noGrp="1"/>
          </p:cNvSpPr>
          <p:nvPr/>
        </p:nvSpPr>
        <p:spPr>
          <a:xfrm xmlns:a="http://schemas.openxmlformats.org/drawingml/2006/main">
            <a:off x="619125" y="4524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6D77"/>
                </a:solidFill>
                <a:latin typeface="Calibri"/>
                <a:ea typeface="Calibri"/>
                <a:cs typeface="Calibri"/>
              </a:defRPr>
            </a:defPPr>
            <a:lvl1pPr>
              <a:defRPr sz="2475" b="1">
                <a:solidFill>
                  <a:srgbClr val="006D77"/>
                </a:solidFill>
                <a:latin typeface="Calibri"/>
                <a:ea typeface="Calibri"/>
                <a:cs typeface="Calibri"/>
              </a:defRPr>
            </a:lvl1pPr>
            <a:lvl2pPr>
              <a:defRPr sz="2475" b="1">
                <a:solidFill>
                  <a:srgbClr val="006D77"/>
                </a:solidFill>
                <a:latin typeface="Calibri"/>
                <a:ea typeface="Calibri"/>
                <a:cs typeface="Calibri"/>
              </a:defRPr>
            </a:lvl2pPr>
            <a:lvl3pPr>
              <a:defRPr sz="2475" b="1">
                <a:solidFill>
                  <a:srgbClr val="006D77"/>
                </a:solidFill>
                <a:latin typeface="Calibri"/>
                <a:ea typeface="Calibri"/>
                <a:cs typeface="Calibri"/>
              </a:defRPr>
            </a:lvl3pPr>
            <a:lvl4pPr>
              <a:defRPr sz="2475" b="1">
                <a:solidFill>
                  <a:srgbClr val="006D77"/>
                </a:solidFill>
                <a:latin typeface="Calibri"/>
                <a:ea typeface="Calibri"/>
                <a:cs typeface="Calibri"/>
              </a:defRPr>
            </a:lvl4pPr>
            <a:lvl5pPr>
              <a:defRPr sz="2475" b="1">
                <a:solidFill>
                  <a:srgbClr val="006D77"/>
                </a:solidFill>
                <a:latin typeface="Calibri"/>
                <a:ea typeface="Calibri"/>
                <a:cs typeface="Calibri"/>
              </a:defRPr>
            </a:lvl5pPr>
            <a:lvl6pPr>
              <a:defRPr sz="2475" b="1">
                <a:solidFill>
                  <a:srgbClr val="006D77"/>
                </a:solidFill>
                <a:latin typeface="Calibri"/>
                <a:ea typeface="Calibri"/>
                <a:cs typeface="Calibri"/>
              </a:defRPr>
            </a:lvl6pPr>
            <a:lvl7pPr>
              <a:defRPr sz="2475" b="1">
                <a:solidFill>
                  <a:srgbClr val="006D77"/>
                </a:solidFill>
                <a:latin typeface="Calibri"/>
                <a:ea typeface="Calibri"/>
                <a:cs typeface="Calibri"/>
              </a:defRPr>
            </a:lvl7pPr>
            <a:lvl8pPr>
              <a:defRPr sz="2475" b="1">
                <a:solidFill>
                  <a:srgbClr val="006D77"/>
                </a:solidFill>
                <a:latin typeface="Calibri"/>
                <a:ea typeface="Calibri"/>
                <a:cs typeface="Calibri"/>
              </a:defRPr>
            </a:lvl8pPr>
            <a:lvl9pPr>
              <a:defRPr sz="2475" b="1">
                <a:solidFill>
                  <a:srgbClr val="006D77"/>
                </a:solidFill>
                <a:latin typeface="Calibri"/>
                <a:ea typeface="Calibri"/>
                <a:cs typeface="Calibri"/>
              </a:defRPr>
            </a:lvl9pPr>
          </a:lstStyle>
          <a:p xmlns:a="http://schemas.openxmlformats.org/drawingml/2006/main">
            <a:pPr>
              <a:defRPr sz="2475" b="1">
                <a:solidFill>
                  <a:srgbClr val="006D77"/>
                </a:solidFill>
                <a:latin typeface="Calibri"/>
                <a:ea typeface="Calibri"/>
                <a:cs typeface="Calibri"/>
              </a:defRPr>
            </a:pPr>
            <a:r>
              <a:rPr sz="2475" b="1">
                <a:solidFill>
                  <a:srgbClr val="006D77"/>
                </a:solidFill>
                <a:latin typeface="Calibri"/>
                <a:ea typeface="Calibri"/>
                <a:cs typeface="Calibri"/>
              </a:rPr>
              <a:t>Same stiffness pair across both configurations</a:t>
            </a:r>
          </a:p>
        </p:txBody>
      </p:sp>
      <p:sp>
        <p:nvSpPr>
          <p:cNvPr id="7" name="">
            <a:extLst xmlns:a="http://schemas.openxmlformats.org/drawingml/2006/main">
              <a:ext uri="{FF2B5EF4-FFF2-40B4-BE49-F238E27FC236}">
                <a16:creationId xmlns:a16="http://schemas.microsoft.com/office/drawing/2014/main" id="{51EE26D2-D17A-4971-A250-4F2B8B3C9B1B}"/>
              </a:ext>
            </a:extLst>
          </p:cNvPr>
          <p:cNvSpPr>
            <a:spLocks xmlns:a="http://schemas.openxmlformats.org/drawingml/2006/main" noGrp="1"/>
          </p:cNvSpPr>
          <p:nvPr/>
        </p:nvSpPr>
        <p:spPr>
          <a:xfrm xmlns:a="http://schemas.openxmlformats.org/drawingml/2006/main">
            <a:off x="619125" y="52387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Tests reserved before evaluating the adopted fit</a:t>
            </a:r>
          </a:p>
        </p:txBody>
      </p:sp>
    </p:spTree>
    <p:extLst>
      <p:ext uri="{BB962C8B-B14F-4D97-AF65-F5344CB8AC3E}">
        <p14:creationId xmlns:p14="http://schemas.microsoft.com/office/powerpoint/2010/main" val="20235168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C20505-6BFF-4156-AD5D-747DB5D355BD}"/>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ROUTE OPTIMIZATION AND HARDWARE</a:t>
            </a:r>
          </a:p>
        </p:txBody>
      </p:sp>
      <p:sp>
        <p:nvSpPr>
          <p:cNvPr id="2" name="">
            <a:extLst xmlns:a="http://schemas.openxmlformats.org/drawingml/2006/main">
              <a:ext uri="{FF2B5EF4-FFF2-40B4-BE49-F238E27FC236}">
                <a16:creationId xmlns:a16="http://schemas.microsoft.com/office/drawing/2014/main" id="{C116F313-EEAC-4CEA-A180-A9D51D7516A2}"/>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corrected model guides a buildable two-BPA cam route</a:t>
            </a:r>
          </a:p>
        </p:txBody>
      </p:sp>
      <p:sp>
        <p:nvSpPr>
          <p:cNvPr id="3" name="">
            <a:extLst xmlns:a="http://schemas.openxmlformats.org/drawingml/2006/main">
              <a:ext uri="{FF2B5EF4-FFF2-40B4-BE49-F238E27FC236}">
                <a16:creationId xmlns:a16="http://schemas.microsoft.com/office/drawing/2014/main" id="{CC855731-F9F6-41CF-8146-2BDA03E6F2EF}"/>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5F6B22C5-0F76-4498-9B39-F8299E1A9962}"/>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816CCF00-32FC-4B31-A8E3-F8BAA91C6079}"/>
              </a:ext>
            </a:extLst>
          </p:cNvPr>
          <p:cNvPicPr>
            <a:picLocks xmlns:a="http://schemas.openxmlformats.org/drawingml/2006/main" noChangeAspect="1"/>
          </p:cNvPicPr>
          <p:nvPr/>
        </p:nvPicPr>
        <p:blipFill>
          <a:blip xmlns:r="http://schemas.openxmlformats.org/officeDocument/2006/relationships" xmlns:a="http://schemas.openxmlformats.org/drawingml/2006/main" r:embed="R281dcb716b8943b2"/>
          <a:stretch xmlns:a="http://schemas.openxmlformats.org/drawingml/2006/main"/>
        </p:blipFill>
        <p:spPr>
          <a:xfrm xmlns:a="http://schemas.openxmlformats.org/drawingml/2006/main">
            <a:off x="2447139" y="1619250"/>
            <a:ext cx="2439972"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17CEE1-2E5C-471C-99F8-D37EF272F6FF}"/>
              </a:ext>
            </a:extLst>
          </p:cNvPr>
          <p:cNvSpPr>
            <a:spLocks xmlns:a="http://schemas.openxmlformats.org/drawingml/2006/main" noGrp="1"/>
          </p:cNvSpPr>
          <p:nvPr/>
        </p:nvSpPr>
        <p:spPr>
          <a:xfrm xmlns:a="http://schemas.openxmlformats.org/drawingml/2006/main">
            <a:off x="7286625" y="223837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02C33"/>
                </a:solidFill>
                <a:latin typeface="Calibri"/>
                <a:ea typeface="Calibri"/>
                <a:cs typeface="Calibri"/>
              </a:defRPr>
            </a:defPPr>
            <a:lvl1pPr>
              <a:defRPr sz="2400" b="0">
                <a:solidFill>
                  <a:srgbClr val="202C33"/>
                </a:solidFill>
                <a:latin typeface="Calibri"/>
                <a:ea typeface="Calibri"/>
                <a:cs typeface="Calibri"/>
              </a:defRPr>
            </a:lvl1pPr>
            <a:lvl2pPr>
              <a:defRPr sz="2400" b="0">
                <a:solidFill>
                  <a:srgbClr val="202C33"/>
                </a:solidFill>
                <a:latin typeface="Calibri"/>
                <a:ea typeface="Calibri"/>
                <a:cs typeface="Calibri"/>
              </a:defRPr>
            </a:lvl2pPr>
            <a:lvl3pPr>
              <a:defRPr sz="2400" b="0">
                <a:solidFill>
                  <a:srgbClr val="202C33"/>
                </a:solidFill>
                <a:latin typeface="Calibri"/>
                <a:ea typeface="Calibri"/>
                <a:cs typeface="Calibri"/>
              </a:defRPr>
            </a:lvl3pPr>
            <a:lvl4pPr>
              <a:defRPr sz="2400" b="0">
                <a:solidFill>
                  <a:srgbClr val="202C33"/>
                </a:solidFill>
                <a:latin typeface="Calibri"/>
                <a:ea typeface="Calibri"/>
                <a:cs typeface="Calibri"/>
              </a:defRPr>
            </a:lvl4pPr>
            <a:lvl5pPr>
              <a:defRPr sz="2400" b="0">
                <a:solidFill>
                  <a:srgbClr val="202C33"/>
                </a:solidFill>
                <a:latin typeface="Calibri"/>
                <a:ea typeface="Calibri"/>
                <a:cs typeface="Calibri"/>
              </a:defRPr>
            </a:lvl5pPr>
            <a:lvl6pPr>
              <a:defRPr sz="2400" b="0">
                <a:solidFill>
                  <a:srgbClr val="202C33"/>
                </a:solidFill>
                <a:latin typeface="Calibri"/>
                <a:ea typeface="Calibri"/>
                <a:cs typeface="Calibri"/>
              </a:defRPr>
            </a:lvl6pPr>
            <a:lvl7pPr>
              <a:defRPr sz="2400" b="0">
                <a:solidFill>
                  <a:srgbClr val="202C33"/>
                </a:solidFill>
                <a:latin typeface="Calibri"/>
                <a:ea typeface="Calibri"/>
                <a:cs typeface="Calibri"/>
              </a:defRPr>
            </a:lvl7pPr>
            <a:lvl8pPr>
              <a:defRPr sz="2400" b="0">
                <a:solidFill>
                  <a:srgbClr val="202C33"/>
                </a:solidFill>
                <a:latin typeface="Calibri"/>
                <a:ea typeface="Calibri"/>
                <a:cs typeface="Calibri"/>
              </a:defRPr>
            </a:lvl8pPr>
            <a:lvl9pPr>
              <a:defRPr sz="2400" b="0">
                <a:solidFill>
                  <a:srgbClr val="202C33"/>
                </a:solidFill>
                <a:latin typeface="Calibri"/>
                <a:ea typeface="Calibri"/>
                <a:cs typeface="Calibri"/>
              </a:defRPr>
            </a:lvl9pPr>
          </a:lstStyle>
          <a:p xmlns:a="http://schemas.openxmlformats.org/drawingml/2006/main">
            <a:pPr>
              <a:defRPr sz="2400" b="0">
                <a:solidFill>
                  <a:srgbClr val="202C33"/>
                </a:solidFill>
                <a:latin typeface="Calibri"/>
                <a:ea typeface="Calibri"/>
                <a:cs typeface="Calibri"/>
              </a:defRPr>
            </a:pPr>
            <a:r>
              <a:rPr sz="2400" b="0">
                <a:solidFill>
                  <a:srgbClr val="202C33"/>
                </a:solidFill>
                <a:latin typeface="Calibri"/>
                <a:ea typeface="Calibri"/>
                <a:cs typeface="Calibri"/>
              </a:rPr>
              <a:t>Two 20 mm BPAs</a:t>
            </a:r>
          </a:p>
          <a:p xmlns:a="http://schemas.openxmlformats.org/drawingml/2006/main">
            <a:r>
              <a:t/>
            </a:r>
          </a:p>
          <a:p xmlns:a="http://schemas.openxmlformats.org/drawingml/2006/main">
            <a:pPr>
              <a:defRPr sz="2400" b="0">
                <a:solidFill>
                  <a:srgbClr val="202C33"/>
                </a:solidFill>
                <a:latin typeface="Calibri"/>
                <a:ea typeface="Calibri"/>
                <a:cs typeface="Calibri"/>
              </a:defRPr>
            </a:pPr>
            <a:r>
              <a:rPr sz="2400" b="0">
                <a:solidFill>
                  <a:srgbClr val="202C33"/>
                </a:solidFill>
                <a:latin typeface="Calibri"/>
                <a:ea typeface="Calibri"/>
                <a:cs typeface="Calibri"/>
              </a:rPr>
              <a:t>Cam-assisted tendon path</a:t>
            </a:r>
          </a:p>
          <a:p xmlns:a="http://schemas.openxmlformats.org/drawingml/2006/main">
            <a:r>
              <a:t/>
            </a:r>
          </a:p>
          <a:p xmlns:a="http://schemas.openxmlformats.org/drawingml/2006/main">
            <a:pPr>
              <a:defRPr sz="2400" b="0">
                <a:solidFill>
                  <a:srgbClr val="202C33"/>
                </a:solidFill>
                <a:latin typeface="Calibri"/>
                <a:ea typeface="Calibri"/>
                <a:cs typeface="Calibri"/>
              </a:defRPr>
            </a:pPr>
            <a:r>
              <a:rPr sz="2400" b="0">
                <a:solidFill>
                  <a:srgbClr val="202C33"/>
                </a:solidFill>
                <a:latin typeface="Calibri"/>
                <a:ea typeface="Calibri"/>
                <a:cs typeface="Calibri"/>
              </a:rPr>
              <a:t>Adopted transmission</a:t>
            </a:r>
          </a:p>
          <a:p xmlns:a="http://schemas.openxmlformats.org/drawingml/2006/main">
            <a:pPr>
              <a:defRPr sz="2400" b="0">
                <a:solidFill>
                  <a:srgbClr val="202C33"/>
                </a:solidFill>
                <a:latin typeface="Calibri"/>
                <a:ea typeface="Calibri"/>
                <a:cs typeface="Calibri"/>
              </a:defRPr>
            </a:pPr>
            <a:r>
              <a:rPr sz="2400" b="0">
                <a:solidFill>
                  <a:srgbClr val="202C33"/>
                </a:solidFill>
                <a:latin typeface="Calibri"/>
                <a:ea typeface="Calibri"/>
                <a:cs typeface="Calibri"/>
              </a:rPr>
              <a:t>corrections guide the design</a:t>
            </a:r>
          </a:p>
        </p:txBody>
      </p:sp>
      <p:sp>
        <p:nvSpPr>
          <p:cNvPr id="7" name="">
            <a:extLst xmlns:a="http://schemas.openxmlformats.org/drawingml/2006/main">
              <a:ext uri="{FF2B5EF4-FFF2-40B4-BE49-F238E27FC236}">
                <a16:creationId xmlns:a16="http://schemas.microsoft.com/office/drawing/2014/main" id="{47934E20-CCD9-4932-B8FA-033B56C7186E}"/>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The route must satisfy force, excursion, and geometric constraints</a:t>
            </a:r>
          </a:p>
        </p:txBody>
      </p:sp>
    </p:spTree>
    <p:extLst>
      <p:ext uri="{BB962C8B-B14F-4D97-AF65-F5344CB8AC3E}">
        <p14:creationId xmlns:p14="http://schemas.microsoft.com/office/powerpoint/2010/main" val="2289384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E1BE4D-FEC1-4BAF-8529-88C05412D20A}"/>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PREDICTED DESIGN CAPACITY</a:t>
            </a:r>
          </a:p>
        </p:txBody>
      </p:sp>
      <p:sp>
        <p:nvSpPr>
          <p:cNvPr id="2" name="">
            <a:extLst xmlns:a="http://schemas.openxmlformats.org/drawingml/2006/main">
              <a:ext uri="{FF2B5EF4-FFF2-40B4-BE49-F238E27FC236}">
                <a16:creationId xmlns:a16="http://schemas.microsoft.com/office/drawing/2014/main" id="{C58EEBA5-13A3-4A8E-9B6C-0ACA05AC2E7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cam model predicts headroom above the required target</a:t>
            </a:r>
          </a:p>
        </p:txBody>
      </p:sp>
      <p:sp>
        <p:nvSpPr>
          <p:cNvPr id="3" name="">
            <a:extLst xmlns:a="http://schemas.openxmlformats.org/drawingml/2006/main">
              <a:ext uri="{FF2B5EF4-FFF2-40B4-BE49-F238E27FC236}">
                <a16:creationId xmlns:a16="http://schemas.microsoft.com/office/drawing/2014/main" id="{AC812368-31DB-4178-9860-AD0CF93CF0C7}"/>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AF1B92BE-A997-4D75-8B4C-9E14A158F305}"/>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A8F85B84-74DF-474A-A715-B5F9A7D12564}"/>
              </a:ext>
            </a:extLst>
          </p:cNvPr>
          <p:cNvPicPr>
            <a:picLocks xmlns:a="http://schemas.openxmlformats.org/drawingml/2006/main" noChangeAspect="1"/>
          </p:cNvPicPr>
          <p:nvPr/>
        </p:nvPicPr>
        <p:blipFill>
          <a:blip xmlns:r="http://schemas.openxmlformats.org/officeDocument/2006/relationships" xmlns:a="http://schemas.openxmlformats.org/drawingml/2006/main" r:embed="R122030d33d3942d8"/>
          <a:stretch xmlns:a="http://schemas.openxmlformats.org/drawingml/2006/main"/>
        </p:blipFill>
        <p:spPr>
          <a:xfrm xmlns:a="http://schemas.openxmlformats.org/drawingml/2006/main">
            <a:off x="3240586" y="1638300"/>
            <a:ext cx="5710828"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A6E75D-3417-4BDB-98D6-2DA8AF8D97BB}"/>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+30.83% above required envelope · 269–507 kPa predicted pressure</a:t>
            </a:r>
          </a:p>
        </p:txBody>
      </p:sp>
    </p:spTree>
    <p:extLst>
      <p:ext uri="{BB962C8B-B14F-4D97-AF65-F5344CB8AC3E}">
        <p14:creationId xmlns:p14="http://schemas.microsoft.com/office/powerpoint/2010/main" val="689837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4E5841-5C0C-4DCD-B31B-9F6DABEFB185}"/>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PHYSICAL EXTENSOR CAPACITY</a:t>
            </a:r>
          </a:p>
        </p:txBody>
      </p:sp>
      <p:sp>
        <p:nvSpPr>
          <p:cNvPr id="2" name="">
            <a:extLst xmlns:a="http://schemas.openxmlformats.org/drawingml/2006/main">
              <a:ext uri="{FF2B5EF4-FFF2-40B4-BE49-F238E27FC236}">
                <a16:creationId xmlns:a16="http://schemas.microsoft.com/office/drawing/2014/main" id="{3A4D2128-F6DA-48A6-A826-CF40D3B55E46}"/>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All nine extensor measurements meet the human target</a:t>
            </a:r>
          </a:p>
        </p:txBody>
      </p:sp>
      <p:sp>
        <p:nvSpPr>
          <p:cNvPr id="3" name="">
            <a:extLst xmlns:a="http://schemas.openxmlformats.org/drawingml/2006/main">
              <a:ext uri="{FF2B5EF4-FFF2-40B4-BE49-F238E27FC236}">
                <a16:creationId xmlns:a16="http://schemas.microsoft.com/office/drawing/2014/main" id="{BB148776-D46C-4986-BF5A-06B1AD3A0606}"/>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8A2FEF0E-69C7-4E23-B0D4-197D930FB407}"/>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12</a:t>
            </a:r>
          </a:p>
        </p:txBody>
      </p:sp>
      <p:pic>
        <p:nvPicPr>
          <p:cNvPr id="5" name="">
            <a:extLst xmlns:a="http://schemas.openxmlformats.org/drawingml/2006/main">
              <a:ext uri="{FF2B5EF4-FFF2-40B4-BE49-F238E27FC236}">
                <a16:creationId xmlns:a16="http://schemas.microsoft.com/office/drawing/2014/main" id="{6943E22E-C68E-43C3-B7E8-3AE27CBE1A29}"/>
              </a:ext>
            </a:extLst>
          </p:cNvPr>
          <p:cNvPicPr>
            <a:picLocks xmlns:a="http://schemas.openxmlformats.org/drawingml/2006/main" noChangeAspect="1"/>
          </p:cNvPicPr>
          <p:nvPr/>
        </p:nvPicPr>
        <p:blipFill>
          <a:blip xmlns:r="http://schemas.openxmlformats.org/officeDocument/2006/relationships" xmlns:a="http://schemas.openxmlformats.org/drawingml/2006/main" r:embed="R11ac00088c3b402f"/>
          <a:stretch xmlns:a="http://schemas.openxmlformats.org/drawingml/2006/main"/>
        </p:blipFill>
        <p:spPr>
          <a:xfrm xmlns:a="http://schemas.openxmlformats.org/drawingml/2006/main">
            <a:off x="3456936" y="1638300"/>
            <a:ext cx="5278128"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6FF64DB-9A13-4596-9E67-1D131373084E}"/>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9 of 9 target margins positive · +0.24 to +3.52 N m</a:t>
            </a:r>
          </a:p>
        </p:txBody>
      </p:sp>
    </p:spTree>
    <p:extLst>
      <p:ext uri="{BB962C8B-B14F-4D97-AF65-F5344CB8AC3E}">
        <p14:creationId xmlns:p14="http://schemas.microsoft.com/office/powerpoint/2010/main" val="15421700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D86F3B-FFFA-485C-879A-9FB65E302383}"/>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PHYSICAL FLEXOR CAPACITY</a:t>
            </a:r>
          </a:p>
        </p:txBody>
      </p:sp>
      <p:sp>
        <p:nvSpPr>
          <p:cNvPr id="2" name="">
            <a:extLst xmlns:a="http://schemas.openxmlformats.org/drawingml/2006/main">
              <a:ext uri="{FF2B5EF4-FFF2-40B4-BE49-F238E27FC236}">
                <a16:creationId xmlns:a16="http://schemas.microsoft.com/office/drawing/2014/main" id="{5377F093-400E-48AE-8E78-0B8A236A106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All fifteen flexor measurements meet the human target</a:t>
            </a:r>
          </a:p>
        </p:txBody>
      </p:sp>
      <p:sp>
        <p:nvSpPr>
          <p:cNvPr id="3" name="">
            <a:extLst xmlns:a="http://schemas.openxmlformats.org/drawingml/2006/main">
              <a:ext uri="{FF2B5EF4-FFF2-40B4-BE49-F238E27FC236}">
                <a16:creationId xmlns:a16="http://schemas.microsoft.com/office/drawing/2014/main" id="{A7B1AD21-58E5-4B78-B996-3C1A19FEEF7E}"/>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24C7B491-622E-428C-8C69-77830D3B8177}"/>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B8EDDB0B-F8DF-46E0-937A-111F928CCABC}"/>
              </a:ext>
            </a:extLst>
          </p:cNvPr>
          <p:cNvPicPr>
            <a:picLocks xmlns:a="http://schemas.openxmlformats.org/drawingml/2006/main" noChangeAspect="1"/>
          </p:cNvPicPr>
          <p:nvPr/>
        </p:nvPicPr>
        <p:blipFill>
          <a:blip xmlns:r="http://schemas.openxmlformats.org/officeDocument/2006/relationships" xmlns:a="http://schemas.openxmlformats.org/drawingml/2006/main" r:embed="Rd828c17e872742f7"/>
          <a:stretch xmlns:a="http://schemas.openxmlformats.org/drawingml/2006/main"/>
        </p:blipFill>
        <p:spPr>
          <a:xfrm xmlns:a="http://schemas.openxmlformats.org/drawingml/2006/main">
            <a:off x="2708203" y="1638300"/>
            <a:ext cx="6775594"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B5F7DA0-CA55-42E9-9227-9C5AA7F788D4}"/>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15 of 15 targets met · 226.5–638 kPa · negative torque denotes flexion</a:t>
            </a:r>
          </a:p>
        </p:txBody>
      </p:sp>
    </p:spTree>
    <p:extLst>
      <p:ext uri="{BB962C8B-B14F-4D97-AF65-F5344CB8AC3E}">
        <p14:creationId xmlns:p14="http://schemas.microsoft.com/office/powerpoint/2010/main" val="2211017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DA1E58-ECD2-4770-9860-3E93733C1C61}"/>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SENSORY AFFERENT DATABASE</a:t>
            </a:r>
          </a:p>
        </p:txBody>
      </p:sp>
      <p:sp>
        <p:nvSpPr>
          <p:cNvPr id="2" name="">
            <a:extLst xmlns:a="http://schemas.openxmlformats.org/drawingml/2006/main">
              <a:ext uri="{FF2B5EF4-FFF2-40B4-BE49-F238E27FC236}">
                <a16:creationId xmlns:a16="http://schemas.microsoft.com/office/drawing/2014/main" id="{661FB1E3-5A24-4E67-A881-89AF51AD299E}"/>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SADb makes sensory evidence traceable to its source context</a:t>
            </a:r>
          </a:p>
        </p:txBody>
      </p:sp>
      <p:sp>
        <p:nvSpPr>
          <p:cNvPr id="3" name="">
            <a:extLst xmlns:a="http://schemas.openxmlformats.org/drawingml/2006/main">
              <a:ext uri="{FF2B5EF4-FFF2-40B4-BE49-F238E27FC236}">
                <a16:creationId xmlns:a16="http://schemas.microsoft.com/office/drawing/2014/main" id="{CDB57CFB-1AD3-43C1-8499-B3D6328CEBB2}"/>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5, The Resource · Appendix E, distributed app snapshot</a:t>
            </a:r>
          </a:p>
        </p:txBody>
      </p:sp>
      <p:sp>
        <p:nvSpPr>
          <p:cNvPr id="4" name="">
            <a:extLst xmlns:a="http://schemas.openxmlformats.org/drawingml/2006/main">
              <a:ext uri="{FF2B5EF4-FFF2-40B4-BE49-F238E27FC236}">
                <a16:creationId xmlns:a16="http://schemas.microsoft.com/office/drawing/2014/main" id="{30BAB953-DA93-4F44-BC74-80D3F39A06BD}"/>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14</a:t>
            </a:r>
          </a:p>
        </p:txBody>
      </p:sp>
      <p:pic>
        <p:nvPicPr>
          <p:cNvPr id="5" name="">
            <a:extLst xmlns:a="http://schemas.openxmlformats.org/drawingml/2006/main">
              <a:ext uri="{FF2B5EF4-FFF2-40B4-BE49-F238E27FC236}">
                <a16:creationId xmlns:a16="http://schemas.microsoft.com/office/drawing/2014/main" id="{A46E81A2-C540-4CEE-9DFA-48D6D1E48BE8}"/>
              </a:ext>
            </a:extLst>
          </p:cNvPr>
          <p:cNvPicPr>
            <a:picLocks xmlns:a="http://schemas.openxmlformats.org/drawingml/2006/main" noChangeAspect="1"/>
          </p:cNvPicPr>
          <p:nvPr/>
        </p:nvPicPr>
        <p:blipFill>
          <a:blip xmlns:r="http://schemas.openxmlformats.org/officeDocument/2006/relationships" xmlns:a="http://schemas.openxmlformats.org/drawingml/2006/main" r:embed="Rfc2b32016b184a2c"/>
          <a:stretch xmlns:a="http://schemas.openxmlformats.org/drawingml/2006/main"/>
        </p:blipFill>
        <p:spPr>
          <a:xfrm xmlns:a="http://schemas.openxmlformats.org/drawingml/2006/main">
            <a:off x="2577818" y="1619250"/>
            <a:ext cx="703636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50FD90-2FE7-445C-AE74-2C8AAF09EA8B}"/>
              </a:ext>
            </a:extLst>
          </p:cNvPr>
          <p:cNvSpPr>
            <a:spLocks xmlns:a="http://schemas.openxmlformats.org/drawingml/2006/main" noGrp="1"/>
          </p:cNvSpPr>
          <p:nvPr/>
        </p:nvSpPr>
        <p:spPr>
          <a:xfrm xmlns:a="http://schemas.openxmlformats.org/drawingml/2006/main">
            <a:off x="571500" y="59055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1,393 total records · search, pivot, and follow citation links</a:t>
            </a:r>
          </a:p>
        </p:txBody>
      </p:sp>
    </p:spTree>
    <p:extLst>
      <p:ext uri="{BB962C8B-B14F-4D97-AF65-F5344CB8AC3E}">
        <p14:creationId xmlns:p14="http://schemas.microsoft.com/office/powerpoint/2010/main" val="4542281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020D526E-C1B1-4DAE-BB63-6280B9FC6AF7}"/>
              </a:ext>
            </a:extLst>
          </p:cNvPr>
          <p:cNvCxnSpPr>
            <a:stCxn xmlns:a="http://schemas.openxmlformats.org/drawingml/2006/main" id="6" idx="3"/>
            <a:endCxn xmlns:a="http://schemas.openxmlformats.org/drawingml/2006/main" id="7" idx="1"/>
          </p:cNvCxnSpPr>
          <p:nvPr/>
        </p:nvCxnSpPr>
        <p:spPr>
          <a:xfrm xmlns:a="http://schemas.openxmlformats.org/drawingml/2006/main">
            <a:off x="7667625" y="2609850"/>
            <a:ext cx="762000" cy="0"/>
          </a:xfrm>
          <a:prstGeom xmlns:a="http://schemas.openxmlformats.org/drawingml/2006/main" prst="straightConnector1">
            <a:avLst/>
          </a:prstGeom>
          <a:ln xmlns:a="http://schemas.openxmlformats.org/drawingml/2006/main" w="28575">
            <a:solidFill>
              <a:srgbClr val="006D77"/>
            </a:solidFill>
            <a:tailEnd type="arrow" w="med" len="med"/>
          </a:ln>
        </p:spPr>
      </p:cxnSp>
      <p:cxnSp>
        <p:nvCxnSpPr>
          <p:cNvPr id="8" name="">
            <a:extLst xmlns:a="http://schemas.openxmlformats.org/drawingml/2006/main">
              <a:ext uri="{FF2B5EF4-FFF2-40B4-BE49-F238E27FC236}">
                <a16:creationId xmlns:a16="http://schemas.microsoft.com/office/drawing/2014/main" id="{5C2D8F05-CFE9-4A85-BF8B-6FF5F035BD0F}"/>
              </a:ext>
            </a:extLst>
          </p:cNvPr>
          <p:cNvCxnSpPr>
            <a:stCxn xmlns:a="http://schemas.openxmlformats.org/drawingml/2006/main" id="5" idx="3"/>
            <a:endCxn xmlns:a="http://schemas.openxmlformats.org/drawingml/2006/main" id="6" idx="1"/>
          </p:cNvCxnSpPr>
          <p:nvPr/>
        </p:nvCxnSpPr>
        <p:spPr>
          <a:xfrm xmlns:a="http://schemas.openxmlformats.org/drawingml/2006/main">
            <a:off x="3762375" y="2609850"/>
            <a:ext cx="762000" cy="0"/>
          </a:xfrm>
          <a:prstGeom xmlns:a="http://schemas.openxmlformats.org/drawingml/2006/main" prst="straightConnector1">
            <a:avLst/>
          </a:prstGeom>
          <a:ln xmlns:a="http://schemas.openxmlformats.org/drawingml/2006/main" w="28575">
            <a:solidFill>
              <a:srgbClr val="006D77"/>
            </a:solidFill>
            <a:tailEnd type="arrow" w="med" len="med"/>
          </a:ln>
        </p:spPr>
      </p:cxnSp>
      <p:sp>
        <p:nvSpPr>
          <p:cNvPr id="14" name="">
            <a:extLst xmlns:a="http://schemas.openxmlformats.org/drawingml/2006/main">
              <a:ext uri="{FF2B5EF4-FFF2-40B4-BE49-F238E27FC236}">
                <a16:creationId xmlns:a16="http://schemas.microsoft.com/office/drawing/2014/main" id="{3A7734A1-0BD0-44C3-B3BA-73B8EDDCBEEB}"/>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NEUROMECHANICAL KNOWLEDGE GAP</a:t>
            </a:r>
          </a:p>
        </p:txBody>
      </p:sp>
      <p:sp>
        <p:nvSpPr>
          <p:cNvPr id="2" name="">
            <a:extLst xmlns:a="http://schemas.openxmlformats.org/drawingml/2006/main">
              <a:ext uri="{FF2B5EF4-FFF2-40B4-BE49-F238E27FC236}">
                <a16:creationId xmlns:a16="http://schemas.microsoft.com/office/drawing/2014/main" id="{5C4EAA5B-CC41-45ED-8BA0-0F1C30358804}"/>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Controlled interventions turn a coupled model into an experiment</a:t>
            </a:r>
          </a:p>
        </p:txBody>
      </p:sp>
      <p:sp>
        <p:nvSpPr>
          <p:cNvPr id="3" name="">
            <a:extLst xmlns:a="http://schemas.openxmlformats.org/drawingml/2006/main">
              <a:ext uri="{FF2B5EF4-FFF2-40B4-BE49-F238E27FC236}">
                <a16:creationId xmlns:a16="http://schemas.microsoft.com/office/drawing/2014/main" id="{D1C47B1C-472D-41CA-810B-E0F5A4F790A5}"/>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0E834FBB-1B86-4FF5-AB0E-D9110951EAE4}"/>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15</a:t>
            </a:r>
          </a:p>
        </p:txBody>
      </p:sp>
      <p:sp>
        <p:nvSpPr>
          <p:cNvPr id="5" name="">
            <a:extLst xmlns:a="http://schemas.openxmlformats.org/drawingml/2006/main">
              <a:ext uri="{FF2B5EF4-FFF2-40B4-BE49-F238E27FC236}">
                <a16:creationId xmlns:a16="http://schemas.microsoft.com/office/drawing/2014/main" id="{88EACEBA-6EFF-44FE-AC51-87BD11B3688E}"/>
              </a:ext>
            </a:extLst>
          </p:cNvPr>
          <p:cNvSpPr>
            <a:spLocks xmlns:a="http://schemas.openxmlformats.org/drawingml/2006/main" noGrp="1"/>
          </p:cNvSpPr>
          <p:nvPr/>
        </p:nvSpPr>
        <p:spPr>
          <a:xfrm xmlns:a="http://schemas.openxmlformats.org/drawingml/2006/main">
            <a:off x="619125" y="2238375"/>
            <a:ext cx="3143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6D77"/>
            </a:solidFill>
          </a:ln>
        </p:spPr>
        <p:txBody>
          <a:bodyPr xmlns:a="http://schemas.openxmlformats.org/drawingml/2006/main"/>
          <a:lstStyle xmlns:a="http://schemas.openxmlformats.org/drawingml/2006/main">
            <a:defPPr algn="ctr">
              <a:defRPr sz="2175" b="1">
                <a:solidFill>
                  <a:srgbClr val="17384A"/>
                </a:solidFill>
                <a:latin typeface="Calibri"/>
                <a:ea typeface="Calibri"/>
                <a:cs typeface="Calibri"/>
              </a:defRPr>
            </a:defPPr>
            <a:lvl1pPr algn="ctr">
              <a:defRPr sz="2175" b="1">
                <a:solidFill>
                  <a:srgbClr val="17384A"/>
                </a:solidFill>
                <a:latin typeface="Calibri"/>
                <a:ea typeface="Calibri"/>
                <a:cs typeface="Calibri"/>
              </a:defRPr>
            </a:lvl1pPr>
            <a:lvl2pPr algn="ctr">
              <a:defRPr sz="2175" b="1">
                <a:solidFill>
                  <a:srgbClr val="17384A"/>
                </a:solidFill>
                <a:latin typeface="Calibri"/>
                <a:ea typeface="Calibri"/>
                <a:cs typeface="Calibri"/>
              </a:defRPr>
            </a:lvl2pPr>
            <a:lvl3pPr algn="ctr">
              <a:defRPr sz="2175" b="1">
                <a:solidFill>
                  <a:srgbClr val="17384A"/>
                </a:solidFill>
                <a:latin typeface="Calibri"/>
                <a:ea typeface="Calibri"/>
                <a:cs typeface="Calibri"/>
              </a:defRPr>
            </a:lvl3pPr>
            <a:lvl4pPr algn="ctr">
              <a:defRPr sz="2175" b="1">
                <a:solidFill>
                  <a:srgbClr val="17384A"/>
                </a:solidFill>
                <a:latin typeface="Calibri"/>
                <a:ea typeface="Calibri"/>
                <a:cs typeface="Calibri"/>
              </a:defRPr>
            </a:lvl4pPr>
            <a:lvl5pPr algn="ctr">
              <a:defRPr sz="2175" b="1">
                <a:solidFill>
                  <a:srgbClr val="17384A"/>
                </a:solidFill>
                <a:latin typeface="Calibri"/>
                <a:ea typeface="Calibri"/>
                <a:cs typeface="Calibri"/>
              </a:defRPr>
            </a:lvl5pPr>
            <a:lvl6pPr algn="ctr">
              <a:defRPr sz="2175" b="1">
                <a:solidFill>
                  <a:srgbClr val="17384A"/>
                </a:solidFill>
                <a:latin typeface="Calibri"/>
                <a:ea typeface="Calibri"/>
                <a:cs typeface="Calibri"/>
              </a:defRPr>
            </a:lvl6pPr>
            <a:lvl7pPr algn="ctr">
              <a:defRPr sz="2175" b="1">
                <a:solidFill>
                  <a:srgbClr val="17384A"/>
                </a:solidFill>
                <a:latin typeface="Calibri"/>
                <a:ea typeface="Calibri"/>
                <a:cs typeface="Calibri"/>
              </a:defRPr>
            </a:lvl7pPr>
            <a:lvl8pPr algn="ctr">
              <a:defRPr sz="2175" b="1">
                <a:solidFill>
                  <a:srgbClr val="17384A"/>
                </a:solidFill>
                <a:latin typeface="Calibri"/>
                <a:ea typeface="Calibri"/>
                <a:cs typeface="Calibri"/>
              </a:defRPr>
            </a:lvl8pPr>
            <a:lvl9pPr algn="ctr">
              <a:defRPr sz="2175" b="1">
                <a:solidFill>
                  <a:srgbClr val="17384A"/>
                </a:solidFill>
                <a:latin typeface="Calibri"/>
                <a:ea typeface="Calibri"/>
                <a:cs typeface="Calibri"/>
              </a:defRPr>
            </a:lvl9pPr>
          </a:lstStyle>
          <a:p xmlns:a="http://schemas.openxmlformats.org/drawingml/2006/main">
            <a:pPr algn="ctr">
              <a:defRPr sz="2175" b="1">
                <a:solidFill>
                  <a:srgbClr val="17384A"/>
                </a:solidFill>
                <a:latin typeface="Calibri"/>
                <a:ea typeface="Calibri"/>
                <a:cs typeface="Calibri"/>
              </a:defRPr>
            </a:pPr>
            <a:r>
              <a:rPr sz="2175" b="1">
                <a:solidFill>
                  <a:srgbClr val="17384A"/>
                </a:solidFill>
                <a:latin typeface="Calibri"/>
                <a:ea typeface="Calibri"/>
                <a:cs typeface="Calibri"/>
              </a:rPr>
              <a:t>Specify the circuit</a:t>
            </a:r>
          </a:p>
        </p:txBody>
      </p:sp>
      <p:sp>
        <p:nvSpPr>
          <p:cNvPr id="6" name="">
            <a:extLst xmlns:a="http://schemas.openxmlformats.org/drawingml/2006/main">
              <a:ext uri="{FF2B5EF4-FFF2-40B4-BE49-F238E27FC236}">
                <a16:creationId xmlns:a16="http://schemas.microsoft.com/office/drawing/2014/main" id="{FDFFCF61-6C53-44FB-AD6D-7D6A47290A1F}"/>
              </a:ext>
            </a:extLst>
          </p:cNvPr>
          <p:cNvSpPr>
            <a:spLocks xmlns:a="http://schemas.openxmlformats.org/drawingml/2006/main" noGrp="1"/>
          </p:cNvSpPr>
          <p:nvPr/>
        </p:nvSpPr>
        <p:spPr>
          <a:xfrm xmlns:a="http://schemas.openxmlformats.org/drawingml/2006/main">
            <a:off x="4524375" y="2238375"/>
            <a:ext cx="3143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6D77"/>
            </a:solidFill>
          </a:ln>
        </p:spPr>
        <p:txBody>
          <a:bodyPr xmlns:a="http://schemas.openxmlformats.org/drawingml/2006/main"/>
          <a:lstStyle xmlns:a="http://schemas.openxmlformats.org/drawingml/2006/main">
            <a:defPPr algn="ctr">
              <a:defRPr sz="2175" b="1">
                <a:solidFill>
                  <a:srgbClr val="17384A"/>
                </a:solidFill>
                <a:latin typeface="Calibri"/>
                <a:ea typeface="Calibri"/>
                <a:cs typeface="Calibri"/>
              </a:defRPr>
            </a:defPPr>
            <a:lvl1pPr algn="ctr">
              <a:defRPr sz="2175" b="1">
                <a:solidFill>
                  <a:srgbClr val="17384A"/>
                </a:solidFill>
                <a:latin typeface="Calibri"/>
                <a:ea typeface="Calibri"/>
                <a:cs typeface="Calibri"/>
              </a:defRPr>
            </a:lvl1pPr>
            <a:lvl2pPr algn="ctr">
              <a:defRPr sz="2175" b="1">
                <a:solidFill>
                  <a:srgbClr val="17384A"/>
                </a:solidFill>
                <a:latin typeface="Calibri"/>
                <a:ea typeface="Calibri"/>
                <a:cs typeface="Calibri"/>
              </a:defRPr>
            </a:lvl2pPr>
            <a:lvl3pPr algn="ctr">
              <a:defRPr sz="2175" b="1">
                <a:solidFill>
                  <a:srgbClr val="17384A"/>
                </a:solidFill>
                <a:latin typeface="Calibri"/>
                <a:ea typeface="Calibri"/>
                <a:cs typeface="Calibri"/>
              </a:defRPr>
            </a:lvl3pPr>
            <a:lvl4pPr algn="ctr">
              <a:defRPr sz="2175" b="1">
                <a:solidFill>
                  <a:srgbClr val="17384A"/>
                </a:solidFill>
                <a:latin typeface="Calibri"/>
                <a:ea typeface="Calibri"/>
                <a:cs typeface="Calibri"/>
              </a:defRPr>
            </a:lvl4pPr>
            <a:lvl5pPr algn="ctr">
              <a:defRPr sz="2175" b="1">
                <a:solidFill>
                  <a:srgbClr val="17384A"/>
                </a:solidFill>
                <a:latin typeface="Calibri"/>
                <a:ea typeface="Calibri"/>
                <a:cs typeface="Calibri"/>
              </a:defRPr>
            </a:lvl5pPr>
            <a:lvl6pPr algn="ctr">
              <a:defRPr sz="2175" b="1">
                <a:solidFill>
                  <a:srgbClr val="17384A"/>
                </a:solidFill>
                <a:latin typeface="Calibri"/>
                <a:ea typeface="Calibri"/>
                <a:cs typeface="Calibri"/>
              </a:defRPr>
            </a:lvl6pPr>
            <a:lvl7pPr algn="ctr">
              <a:defRPr sz="2175" b="1">
                <a:solidFill>
                  <a:srgbClr val="17384A"/>
                </a:solidFill>
                <a:latin typeface="Calibri"/>
                <a:ea typeface="Calibri"/>
                <a:cs typeface="Calibri"/>
              </a:defRPr>
            </a:lvl7pPr>
            <a:lvl8pPr algn="ctr">
              <a:defRPr sz="2175" b="1">
                <a:solidFill>
                  <a:srgbClr val="17384A"/>
                </a:solidFill>
                <a:latin typeface="Calibri"/>
                <a:ea typeface="Calibri"/>
                <a:cs typeface="Calibri"/>
              </a:defRPr>
            </a:lvl8pPr>
            <a:lvl9pPr algn="ctr">
              <a:defRPr sz="2175" b="1">
                <a:solidFill>
                  <a:srgbClr val="17384A"/>
                </a:solidFill>
                <a:latin typeface="Calibri"/>
                <a:ea typeface="Calibri"/>
                <a:cs typeface="Calibri"/>
              </a:defRPr>
            </a:lvl9pPr>
          </a:lstStyle>
          <a:p xmlns:a="http://schemas.openxmlformats.org/drawingml/2006/main">
            <a:pPr algn="ctr">
              <a:defRPr sz="2175" b="1">
                <a:solidFill>
                  <a:srgbClr val="17384A"/>
                </a:solidFill>
                <a:latin typeface="Calibri"/>
                <a:ea typeface="Calibri"/>
                <a:cs typeface="Calibri"/>
              </a:defRPr>
            </a:pPr>
            <a:r>
              <a:rPr sz="2175" b="1">
                <a:solidFill>
                  <a:srgbClr val="17384A"/>
                </a:solidFill>
                <a:latin typeface="Calibri"/>
                <a:ea typeface="Calibri"/>
                <a:cs typeface="Calibri"/>
              </a:rPr>
              <a:t>Check matched inputs</a:t>
            </a:r>
          </a:p>
        </p:txBody>
      </p:sp>
      <p:sp>
        <p:nvSpPr>
          <p:cNvPr id="7" name="">
            <a:extLst xmlns:a="http://schemas.openxmlformats.org/drawingml/2006/main">
              <a:ext uri="{FF2B5EF4-FFF2-40B4-BE49-F238E27FC236}">
                <a16:creationId xmlns:a16="http://schemas.microsoft.com/office/drawing/2014/main" id="{68604EDA-2891-405E-B8C5-3559151B9560}"/>
              </a:ext>
            </a:extLst>
          </p:cNvPr>
          <p:cNvSpPr>
            <a:spLocks xmlns:a="http://schemas.openxmlformats.org/drawingml/2006/main" noGrp="1"/>
          </p:cNvSpPr>
          <p:nvPr/>
        </p:nvSpPr>
        <p:spPr>
          <a:xfrm xmlns:a="http://schemas.openxmlformats.org/drawingml/2006/main">
            <a:off x="8429625" y="2238375"/>
            <a:ext cx="314325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6D77"/>
            </a:solidFill>
          </a:ln>
        </p:spPr>
        <p:txBody>
          <a:bodyPr xmlns:a="http://schemas.openxmlformats.org/drawingml/2006/main"/>
          <a:lstStyle xmlns:a="http://schemas.openxmlformats.org/drawingml/2006/main">
            <a:defPPr algn="ctr">
              <a:defRPr sz="2175" b="1">
                <a:solidFill>
                  <a:srgbClr val="17384A"/>
                </a:solidFill>
                <a:latin typeface="Calibri"/>
                <a:ea typeface="Calibri"/>
                <a:cs typeface="Calibri"/>
              </a:defRPr>
            </a:defPPr>
            <a:lvl1pPr algn="ctr">
              <a:defRPr sz="2175" b="1">
                <a:solidFill>
                  <a:srgbClr val="17384A"/>
                </a:solidFill>
                <a:latin typeface="Calibri"/>
                <a:ea typeface="Calibri"/>
                <a:cs typeface="Calibri"/>
              </a:defRPr>
            </a:lvl1pPr>
            <a:lvl2pPr algn="ctr">
              <a:defRPr sz="2175" b="1">
                <a:solidFill>
                  <a:srgbClr val="17384A"/>
                </a:solidFill>
                <a:latin typeface="Calibri"/>
                <a:ea typeface="Calibri"/>
                <a:cs typeface="Calibri"/>
              </a:defRPr>
            </a:lvl2pPr>
            <a:lvl3pPr algn="ctr">
              <a:defRPr sz="2175" b="1">
                <a:solidFill>
                  <a:srgbClr val="17384A"/>
                </a:solidFill>
                <a:latin typeface="Calibri"/>
                <a:ea typeface="Calibri"/>
                <a:cs typeface="Calibri"/>
              </a:defRPr>
            </a:lvl3pPr>
            <a:lvl4pPr algn="ctr">
              <a:defRPr sz="2175" b="1">
                <a:solidFill>
                  <a:srgbClr val="17384A"/>
                </a:solidFill>
                <a:latin typeface="Calibri"/>
                <a:ea typeface="Calibri"/>
                <a:cs typeface="Calibri"/>
              </a:defRPr>
            </a:lvl4pPr>
            <a:lvl5pPr algn="ctr">
              <a:defRPr sz="2175" b="1">
                <a:solidFill>
                  <a:srgbClr val="17384A"/>
                </a:solidFill>
                <a:latin typeface="Calibri"/>
                <a:ea typeface="Calibri"/>
                <a:cs typeface="Calibri"/>
              </a:defRPr>
            </a:lvl5pPr>
            <a:lvl6pPr algn="ctr">
              <a:defRPr sz="2175" b="1">
                <a:solidFill>
                  <a:srgbClr val="17384A"/>
                </a:solidFill>
                <a:latin typeface="Calibri"/>
                <a:ea typeface="Calibri"/>
                <a:cs typeface="Calibri"/>
              </a:defRPr>
            </a:lvl6pPr>
            <a:lvl7pPr algn="ctr">
              <a:defRPr sz="2175" b="1">
                <a:solidFill>
                  <a:srgbClr val="17384A"/>
                </a:solidFill>
                <a:latin typeface="Calibri"/>
                <a:ea typeface="Calibri"/>
                <a:cs typeface="Calibri"/>
              </a:defRPr>
            </a:lvl7pPr>
            <a:lvl8pPr algn="ctr">
              <a:defRPr sz="2175" b="1">
                <a:solidFill>
                  <a:srgbClr val="17384A"/>
                </a:solidFill>
                <a:latin typeface="Calibri"/>
                <a:ea typeface="Calibri"/>
                <a:cs typeface="Calibri"/>
              </a:defRPr>
            </a:lvl8pPr>
            <a:lvl9pPr algn="ctr">
              <a:defRPr sz="2175" b="1">
                <a:solidFill>
                  <a:srgbClr val="17384A"/>
                </a:solidFill>
                <a:latin typeface="Calibri"/>
                <a:ea typeface="Calibri"/>
                <a:cs typeface="Calibri"/>
              </a:defRPr>
            </a:lvl9pPr>
          </a:lstStyle>
          <a:p xmlns:a="http://schemas.openxmlformats.org/drawingml/2006/main">
            <a:pPr algn="ctr">
              <a:defRPr sz="2175" b="1">
                <a:solidFill>
                  <a:srgbClr val="17384A"/>
                </a:solidFill>
                <a:latin typeface="Calibri"/>
                <a:ea typeface="Calibri"/>
                <a:cs typeface="Calibri"/>
              </a:defRPr>
            </a:pPr>
            <a:r>
              <a:rPr sz="2175" b="1">
                <a:solidFill>
                  <a:srgbClr val="17384A"/>
                </a:solidFill>
                <a:latin typeface="Calibri"/>
                <a:ea typeface="Calibri"/>
                <a:cs typeface="Calibri"/>
              </a:rPr>
              <a:t>Change one condition</a:t>
            </a:r>
          </a:p>
        </p:txBody>
      </p:sp>
      <p:sp>
        <p:nvSpPr>
          <p:cNvPr id="10" name="">
            <a:extLst xmlns:a="http://schemas.openxmlformats.org/drawingml/2006/main">
              <a:ext uri="{FF2B5EF4-FFF2-40B4-BE49-F238E27FC236}">
                <a16:creationId xmlns:a16="http://schemas.microsoft.com/office/drawing/2014/main" id="{1995AC86-89E3-4C70-9B4B-CB92D52F8FFF}"/>
              </a:ext>
            </a:extLst>
          </p:cNvPr>
          <p:cNvSpPr>
            <a:spLocks xmlns:a="http://schemas.openxmlformats.org/drawingml/2006/main" noGrp="1"/>
          </p:cNvSpPr>
          <p:nvPr/>
        </p:nvSpPr>
        <p:spPr>
          <a:xfrm xmlns:a="http://schemas.openxmlformats.org/drawingml/2006/main">
            <a:off x="619125" y="32861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2C33"/>
                </a:solidFill>
                <a:latin typeface="Calibri"/>
                <a:ea typeface="Calibri"/>
                <a:cs typeface="Calibri"/>
              </a:defRPr>
            </a:defPPr>
            <a:lvl1pPr>
              <a:defRPr sz="2100" b="0">
                <a:solidFill>
                  <a:srgbClr val="202C33"/>
                </a:solidFill>
                <a:latin typeface="Calibri"/>
                <a:ea typeface="Calibri"/>
                <a:cs typeface="Calibri"/>
              </a:defRPr>
            </a:lvl1pPr>
            <a:lvl2pPr>
              <a:defRPr sz="2100" b="0">
                <a:solidFill>
                  <a:srgbClr val="202C33"/>
                </a:solidFill>
                <a:latin typeface="Calibri"/>
                <a:ea typeface="Calibri"/>
                <a:cs typeface="Calibri"/>
              </a:defRPr>
            </a:lvl2pPr>
            <a:lvl3pPr>
              <a:defRPr sz="2100" b="0">
                <a:solidFill>
                  <a:srgbClr val="202C33"/>
                </a:solidFill>
                <a:latin typeface="Calibri"/>
                <a:ea typeface="Calibri"/>
                <a:cs typeface="Calibri"/>
              </a:defRPr>
            </a:lvl3pPr>
            <a:lvl4pPr>
              <a:defRPr sz="2100" b="0">
                <a:solidFill>
                  <a:srgbClr val="202C33"/>
                </a:solidFill>
                <a:latin typeface="Calibri"/>
                <a:ea typeface="Calibri"/>
                <a:cs typeface="Calibri"/>
              </a:defRPr>
            </a:lvl4pPr>
            <a:lvl5pPr>
              <a:defRPr sz="2100" b="0">
                <a:solidFill>
                  <a:srgbClr val="202C33"/>
                </a:solidFill>
                <a:latin typeface="Calibri"/>
                <a:ea typeface="Calibri"/>
                <a:cs typeface="Calibri"/>
              </a:defRPr>
            </a:lvl5pPr>
            <a:lvl6pPr>
              <a:defRPr sz="2100" b="0">
                <a:solidFill>
                  <a:srgbClr val="202C33"/>
                </a:solidFill>
                <a:latin typeface="Calibri"/>
                <a:ea typeface="Calibri"/>
                <a:cs typeface="Calibri"/>
              </a:defRPr>
            </a:lvl6pPr>
            <a:lvl7pPr>
              <a:defRPr sz="2100" b="0">
                <a:solidFill>
                  <a:srgbClr val="202C33"/>
                </a:solidFill>
                <a:latin typeface="Calibri"/>
                <a:ea typeface="Calibri"/>
                <a:cs typeface="Calibri"/>
              </a:defRPr>
            </a:lvl7pPr>
            <a:lvl8pPr>
              <a:defRPr sz="2100" b="0">
                <a:solidFill>
                  <a:srgbClr val="202C33"/>
                </a:solidFill>
                <a:latin typeface="Calibri"/>
                <a:ea typeface="Calibri"/>
                <a:cs typeface="Calibri"/>
              </a:defRPr>
            </a:lvl8pPr>
            <a:lvl9pPr>
              <a:defRPr sz="2100" b="0">
                <a:solidFill>
                  <a:srgbClr val="202C33"/>
                </a:solidFill>
                <a:latin typeface="Calibri"/>
                <a:ea typeface="Calibri"/>
                <a:cs typeface="Calibri"/>
              </a:defRPr>
            </a:lvl9pPr>
          </a:lstStyle>
          <a:p xmlns:a="http://schemas.openxmlformats.org/drawingml/2006/main">
            <a:pPr>
              <a:defRPr sz="2100" b="0">
                <a:solidFill>
                  <a:srgbClr val="202C33"/>
                </a:solidFill>
                <a:latin typeface="Calibri"/>
                <a:ea typeface="Calibri"/>
                <a:cs typeface="Calibri"/>
              </a:defRPr>
            </a:pPr>
            <a:r>
              <a:rPr sz="2100" b="0">
                <a:solidFill>
                  <a:srgbClr val="202C33"/>
                </a:solidFill>
                <a:latin typeface="Calibri"/>
                <a:ea typeface="Calibri"/>
                <a:cs typeface="Calibri"/>
              </a:rPr>
              <a:t>Source, sign, and signal</a:t>
            </a:r>
          </a:p>
        </p:txBody>
      </p:sp>
      <p:sp>
        <p:nvSpPr>
          <p:cNvPr id="11" name="">
            <a:extLst xmlns:a="http://schemas.openxmlformats.org/drawingml/2006/main">
              <a:ext uri="{FF2B5EF4-FFF2-40B4-BE49-F238E27FC236}">
                <a16:creationId xmlns:a16="http://schemas.microsoft.com/office/drawing/2014/main" id="{A9312260-D428-4047-A396-5F46A089A75A}"/>
              </a:ext>
            </a:extLst>
          </p:cNvPr>
          <p:cNvSpPr>
            <a:spLocks xmlns:a="http://schemas.openxmlformats.org/drawingml/2006/main" noGrp="1"/>
          </p:cNvSpPr>
          <p:nvPr/>
        </p:nvSpPr>
        <p:spPr>
          <a:xfrm xmlns:a="http://schemas.openxmlformats.org/drawingml/2006/main">
            <a:off x="4524375" y="32861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2C33"/>
                </a:solidFill>
                <a:latin typeface="Calibri"/>
                <a:ea typeface="Calibri"/>
                <a:cs typeface="Calibri"/>
              </a:defRPr>
            </a:defPPr>
            <a:lvl1pPr>
              <a:defRPr sz="2100" b="0">
                <a:solidFill>
                  <a:srgbClr val="202C33"/>
                </a:solidFill>
                <a:latin typeface="Calibri"/>
                <a:ea typeface="Calibri"/>
                <a:cs typeface="Calibri"/>
              </a:defRPr>
            </a:lvl1pPr>
            <a:lvl2pPr>
              <a:defRPr sz="2100" b="0">
                <a:solidFill>
                  <a:srgbClr val="202C33"/>
                </a:solidFill>
                <a:latin typeface="Calibri"/>
                <a:ea typeface="Calibri"/>
                <a:cs typeface="Calibri"/>
              </a:defRPr>
            </a:lvl2pPr>
            <a:lvl3pPr>
              <a:defRPr sz="2100" b="0">
                <a:solidFill>
                  <a:srgbClr val="202C33"/>
                </a:solidFill>
                <a:latin typeface="Calibri"/>
                <a:ea typeface="Calibri"/>
                <a:cs typeface="Calibri"/>
              </a:defRPr>
            </a:lvl3pPr>
            <a:lvl4pPr>
              <a:defRPr sz="2100" b="0">
                <a:solidFill>
                  <a:srgbClr val="202C33"/>
                </a:solidFill>
                <a:latin typeface="Calibri"/>
                <a:ea typeface="Calibri"/>
                <a:cs typeface="Calibri"/>
              </a:defRPr>
            </a:lvl4pPr>
            <a:lvl5pPr>
              <a:defRPr sz="2100" b="0">
                <a:solidFill>
                  <a:srgbClr val="202C33"/>
                </a:solidFill>
                <a:latin typeface="Calibri"/>
                <a:ea typeface="Calibri"/>
                <a:cs typeface="Calibri"/>
              </a:defRPr>
            </a:lvl5pPr>
            <a:lvl6pPr>
              <a:defRPr sz="2100" b="0">
                <a:solidFill>
                  <a:srgbClr val="202C33"/>
                </a:solidFill>
                <a:latin typeface="Calibri"/>
                <a:ea typeface="Calibri"/>
                <a:cs typeface="Calibri"/>
              </a:defRPr>
            </a:lvl6pPr>
            <a:lvl7pPr>
              <a:defRPr sz="2100" b="0">
                <a:solidFill>
                  <a:srgbClr val="202C33"/>
                </a:solidFill>
                <a:latin typeface="Calibri"/>
                <a:ea typeface="Calibri"/>
                <a:cs typeface="Calibri"/>
              </a:defRPr>
            </a:lvl7pPr>
            <a:lvl8pPr>
              <a:defRPr sz="2100" b="0">
                <a:solidFill>
                  <a:srgbClr val="202C33"/>
                </a:solidFill>
                <a:latin typeface="Calibri"/>
                <a:ea typeface="Calibri"/>
                <a:cs typeface="Calibri"/>
              </a:defRPr>
            </a:lvl8pPr>
            <a:lvl9pPr>
              <a:defRPr sz="2100" b="0">
                <a:solidFill>
                  <a:srgbClr val="202C33"/>
                </a:solidFill>
                <a:latin typeface="Calibri"/>
                <a:ea typeface="Calibri"/>
                <a:cs typeface="Calibri"/>
              </a:defRPr>
            </a:lvl9pPr>
          </a:lstStyle>
          <a:p xmlns:a="http://schemas.openxmlformats.org/drawingml/2006/main">
            <a:pPr>
              <a:defRPr sz="2100" b="0">
                <a:solidFill>
                  <a:srgbClr val="202C33"/>
                </a:solidFill>
                <a:latin typeface="Calibri"/>
                <a:ea typeface="Calibri"/>
                <a:cs typeface="Calibri"/>
              </a:defRPr>
            </a:pPr>
            <a:r>
              <a:rPr sz="2100" b="0">
                <a:solidFill>
                  <a:srgbClr val="202C33"/>
                </a:solidFill>
                <a:latin typeface="Calibri"/>
                <a:ea typeface="Calibri"/>
                <a:cs typeface="Calibri"/>
              </a:rPr>
              <a:t>Neural and interface</a:t>
            </a:r>
          </a:p>
          <a:p xmlns:a="http://schemas.openxmlformats.org/drawingml/2006/main">
            <a:pPr>
              <a:defRPr sz="2100" b="0">
                <a:solidFill>
                  <a:srgbClr val="202C33"/>
                </a:solidFill>
                <a:latin typeface="Calibri"/>
                <a:ea typeface="Calibri"/>
                <a:cs typeface="Calibri"/>
              </a:defRPr>
            </a:pPr>
            <a:r>
              <a:rPr sz="2100" b="0">
                <a:solidFill>
                  <a:srgbClr val="202C33"/>
                </a:solidFill>
                <a:latin typeface="Calibri"/>
                <a:ea typeface="Calibri"/>
                <a:cs typeface="Calibri"/>
              </a:rPr>
              <a:t>agreement</a:t>
            </a:r>
          </a:p>
        </p:txBody>
      </p:sp>
      <p:sp>
        <p:nvSpPr>
          <p:cNvPr id="12" name="">
            <a:extLst xmlns:a="http://schemas.openxmlformats.org/drawingml/2006/main">
              <a:ext uri="{FF2B5EF4-FFF2-40B4-BE49-F238E27FC236}">
                <a16:creationId xmlns:a16="http://schemas.microsoft.com/office/drawing/2014/main" id="{6E5ACFCC-FCDF-420A-B8AC-FE1C474867E4}"/>
              </a:ext>
            </a:extLst>
          </p:cNvPr>
          <p:cNvSpPr>
            <a:spLocks xmlns:a="http://schemas.openxmlformats.org/drawingml/2006/main" noGrp="1"/>
          </p:cNvSpPr>
          <p:nvPr/>
        </p:nvSpPr>
        <p:spPr>
          <a:xfrm xmlns:a="http://schemas.openxmlformats.org/drawingml/2006/main">
            <a:off x="8429625" y="32861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2C33"/>
                </a:solidFill>
                <a:latin typeface="Calibri"/>
                <a:ea typeface="Calibri"/>
                <a:cs typeface="Calibri"/>
              </a:defRPr>
            </a:defPPr>
            <a:lvl1pPr>
              <a:defRPr sz="2100" b="0">
                <a:solidFill>
                  <a:srgbClr val="202C33"/>
                </a:solidFill>
                <a:latin typeface="Calibri"/>
                <a:ea typeface="Calibri"/>
                <a:cs typeface="Calibri"/>
              </a:defRPr>
            </a:lvl1pPr>
            <a:lvl2pPr>
              <a:defRPr sz="2100" b="0">
                <a:solidFill>
                  <a:srgbClr val="202C33"/>
                </a:solidFill>
                <a:latin typeface="Calibri"/>
                <a:ea typeface="Calibri"/>
                <a:cs typeface="Calibri"/>
              </a:defRPr>
            </a:lvl2pPr>
            <a:lvl3pPr>
              <a:defRPr sz="2100" b="0">
                <a:solidFill>
                  <a:srgbClr val="202C33"/>
                </a:solidFill>
                <a:latin typeface="Calibri"/>
                <a:ea typeface="Calibri"/>
                <a:cs typeface="Calibri"/>
              </a:defRPr>
            </a:lvl3pPr>
            <a:lvl4pPr>
              <a:defRPr sz="2100" b="0">
                <a:solidFill>
                  <a:srgbClr val="202C33"/>
                </a:solidFill>
                <a:latin typeface="Calibri"/>
                <a:ea typeface="Calibri"/>
                <a:cs typeface="Calibri"/>
              </a:defRPr>
            </a:lvl4pPr>
            <a:lvl5pPr>
              <a:defRPr sz="2100" b="0">
                <a:solidFill>
                  <a:srgbClr val="202C33"/>
                </a:solidFill>
                <a:latin typeface="Calibri"/>
                <a:ea typeface="Calibri"/>
                <a:cs typeface="Calibri"/>
              </a:defRPr>
            </a:lvl5pPr>
            <a:lvl6pPr>
              <a:defRPr sz="2100" b="0">
                <a:solidFill>
                  <a:srgbClr val="202C33"/>
                </a:solidFill>
                <a:latin typeface="Calibri"/>
                <a:ea typeface="Calibri"/>
                <a:cs typeface="Calibri"/>
              </a:defRPr>
            </a:lvl6pPr>
            <a:lvl7pPr>
              <a:defRPr sz="2100" b="0">
                <a:solidFill>
                  <a:srgbClr val="202C33"/>
                </a:solidFill>
                <a:latin typeface="Calibri"/>
                <a:ea typeface="Calibri"/>
                <a:cs typeface="Calibri"/>
              </a:defRPr>
            </a:lvl7pPr>
            <a:lvl8pPr>
              <a:defRPr sz="2100" b="0">
                <a:solidFill>
                  <a:srgbClr val="202C33"/>
                </a:solidFill>
                <a:latin typeface="Calibri"/>
                <a:ea typeface="Calibri"/>
                <a:cs typeface="Calibri"/>
              </a:defRPr>
            </a:lvl8pPr>
            <a:lvl9pPr>
              <a:defRPr sz="2100" b="0">
                <a:solidFill>
                  <a:srgbClr val="202C33"/>
                </a:solidFill>
                <a:latin typeface="Calibri"/>
                <a:ea typeface="Calibri"/>
                <a:cs typeface="Calibri"/>
              </a:defRPr>
            </a:lvl9pPr>
          </a:lstStyle>
          <a:p xmlns:a="http://schemas.openxmlformats.org/drawingml/2006/main">
            <a:pPr>
              <a:defRPr sz="2100" b="0">
                <a:solidFill>
                  <a:srgbClr val="202C33"/>
                </a:solidFill>
                <a:latin typeface="Calibri"/>
                <a:ea typeface="Calibri"/>
                <a:cs typeface="Calibri"/>
              </a:defRPr>
            </a:pPr>
            <a:r>
              <a:rPr sz="2100" b="0">
                <a:solidFill>
                  <a:srgbClr val="202C33"/>
                </a:solidFill>
                <a:latin typeface="Calibri"/>
                <a:ea typeface="Calibri"/>
                <a:cs typeface="Calibri"/>
              </a:rPr>
              <a:t>Feedback, stimulation,</a:t>
            </a:r>
          </a:p>
          <a:p xmlns:a="http://schemas.openxmlformats.org/drawingml/2006/main">
            <a:pPr>
              <a:defRPr sz="2100" b="0">
                <a:solidFill>
                  <a:srgbClr val="202C33"/>
                </a:solidFill>
                <a:latin typeface="Calibri"/>
                <a:ea typeface="Calibri"/>
                <a:cs typeface="Calibri"/>
              </a:defRPr>
            </a:pPr>
            <a:r>
              <a:rPr sz="2100" b="0">
                <a:solidFill>
                  <a:srgbClr val="202C33"/>
                </a:solidFill>
                <a:latin typeface="Calibri"/>
                <a:ea typeface="Calibri"/>
                <a:cs typeface="Calibri"/>
              </a:rPr>
              <a:t>or mechanical support</a:t>
            </a:r>
          </a:p>
        </p:txBody>
      </p:sp>
      <p:sp>
        <p:nvSpPr>
          <p:cNvPr id="13" name="">
            <a:extLst xmlns:a="http://schemas.openxmlformats.org/drawingml/2006/main">
              <a:ext uri="{FF2B5EF4-FFF2-40B4-BE49-F238E27FC236}">
                <a16:creationId xmlns:a16="http://schemas.microsoft.com/office/drawing/2014/main" id="{73E9B67D-37A5-45EE-B5D9-CA2DDD0BC579}"/>
              </a:ext>
            </a:extLst>
          </p:cNvPr>
          <p:cNvSpPr>
            <a:spLocks xmlns:a="http://schemas.openxmlformats.org/drawingml/2006/main" noGrp="1"/>
          </p:cNvSpPr>
          <p:nvPr/>
        </p:nvSpPr>
        <p:spPr>
          <a:xfrm xmlns:a="http://schemas.openxmlformats.org/drawingml/2006/main">
            <a:off x="714375" y="48101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006D77"/>
                </a:solidFill>
                <a:latin typeface="Calibri"/>
                <a:ea typeface="Calibri"/>
                <a:cs typeface="Calibri"/>
              </a:defRPr>
            </a:defPPr>
            <a:lvl1pPr>
              <a:defRPr sz="2625" b="1">
                <a:solidFill>
                  <a:srgbClr val="006D77"/>
                </a:solidFill>
                <a:latin typeface="Calibri"/>
                <a:ea typeface="Calibri"/>
                <a:cs typeface="Calibri"/>
              </a:defRPr>
            </a:lvl1pPr>
            <a:lvl2pPr>
              <a:defRPr sz="2625" b="1">
                <a:solidFill>
                  <a:srgbClr val="006D77"/>
                </a:solidFill>
                <a:latin typeface="Calibri"/>
                <a:ea typeface="Calibri"/>
                <a:cs typeface="Calibri"/>
              </a:defRPr>
            </a:lvl2pPr>
            <a:lvl3pPr>
              <a:defRPr sz="2625" b="1">
                <a:solidFill>
                  <a:srgbClr val="006D77"/>
                </a:solidFill>
                <a:latin typeface="Calibri"/>
                <a:ea typeface="Calibri"/>
                <a:cs typeface="Calibri"/>
              </a:defRPr>
            </a:lvl3pPr>
            <a:lvl4pPr>
              <a:defRPr sz="2625" b="1">
                <a:solidFill>
                  <a:srgbClr val="006D77"/>
                </a:solidFill>
                <a:latin typeface="Calibri"/>
                <a:ea typeface="Calibri"/>
                <a:cs typeface="Calibri"/>
              </a:defRPr>
            </a:lvl4pPr>
            <a:lvl5pPr>
              <a:defRPr sz="2625" b="1">
                <a:solidFill>
                  <a:srgbClr val="006D77"/>
                </a:solidFill>
                <a:latin typeface="Calibri"/>
                <a:ea typeface="Calibri"/>
                <a:cs typeface="Calibri"/>
              </a:defRPr>
            </a:lvl5pPr>
            <a:lvl6pPr>
              <a:defRPr sz="2625" b="1">
                <a:solidFill>
                  <a:srgbClr val="006D77"/>
                </a:solidFill>
                <a:latin typeface="Calibri"/>
                <a:ea typeface="Calibri"/>
                <a:cs typeface="Calibri"/>
              </a:defRPr>
            </a:lvl6pPr>
            <a:lvl7pPr>
              <a:defRPr sz="2625" b="1">
                <a:solidFill>
                  <a:srgbClr val="006D77"/>
                </a:solidFill>
                <a:latin typeface="Calibri"/>
                <a:ea typeface="Calibri"/>
                <a:cs typeface="Calibri"/>
              </a:defRPr>
            </a:lvl7pPr>
            <a:lvl8pPr>
              <a:defRPr sz="2625" b="1">
                <a:solidFill>
                  <a:srgbClr val="006D77"/>
                </a:solidFill>
                <a:latin typeface="Calibri"/>
                <a:ea typeface="Calibri"/>
                <a:cs typeface="Calibri"/>
              </a:defRPr>
            </a:lvl8pPr>
            <a:lvl9pPr>
              <a:defRPr sz="2625" b="1">
                <a:solidFill>
                  <a:srgbClr val="006D77"/>
                </a:solidFill>
                <a:latin typeface="Calibri"/>
                <a:ea typeface="Calibri"/>
                <a:cs typeface="Calibri"/>
              </a:defRPr>
            </a:lvl9pPr>
          </a:lstStyle>
          <a:p xmlns:a="http://schemas.openxmlformats.org/drawingml/2006/main">
            <a:pPr>
              <a:defRPr sz="2625" b="1">
                <a:solidFill>
                  <a:srgbClr val="006D77"/>
                </a:solidFill>
                <a:latin typeface="Calibri"/>
                <a:ea typeface="Calibri"/>
                <a:cs typeface="Calibri"/>
              </a:defRPr>
            </a:pPr>
            <a:r>
              <a:rPr sz="2625" b="1">
                <a:solidFill>
                  <a:srgbClr val="006D77"/>
                </a:solidFill>
                <a:latin typeface="Calibri"/>
                <a:ea typeface="Calibri"/>
                <a:cs typeface="Calibri"/>
              </a:rPr>
              <a:t>The demonstrations test implementation, sensory contribution,</a:t>
            </a:r>
          </a:p>
          <a:p xmlns:a="http://schemas.openxmlformats.org/drawingml/2006/main">
            <a:pPr>
              <a:defRPr sz="2625" b="1">
                <a:solidFill>
                  <a:srgbClr val="006D77"/>
                </a:solidFill>
                <a:latin typeface="Calibri"/>
                <a:ea typeface="Calibri"/>
                <a:cs typeface="Calibri"/>
              </a:defRPr>
            </a:pPr>
            <a:r>
              <a:rPr sz="2625" b="1">
                <a:solidFill>
                  <a:srgbClr val="006D77"/>
                </a:solidFill>
                <a:latin typeface="Calibri"/>
                <a:ea typeface="Calibri"/>
                <a:cs typeface="Calibri"/>
              </a:rPr>
              <a:t>and mechanical response separately</a:t>
            </a:r>
          </a:p>
        </p:txBody>
      </p:sp>
    </p:spTree>
    <p:extLst>
      <p:ext uri="{BB962C8B-B14F-4D97-AF65-F5344CB8AC3E}">
        <p14:creationId xmlns:p14="http://schemas.microsoft.com/office/powerpoint/2010/main" val="4282849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B99B37-C3DD-4CD2-A43E-D39713569097}"/>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IMPLEMENTATION AGREEMENT</a:t>
            </a:r>
          </a:p>
        </p:txBody>
      </p:sp>
      <p:sp>
        <p:nvSpPr>
          <p:cNvPr id="2" name="">
            <a:extLst xmlns:a="http://schemas.openxmlformats.org/drawingml/2006/main">
              <a:ext uri="{FF2B5EF4-FFF2-40B4-BE49-F238E27FC236}">
                <a16:creationId xmlns:a16="http://schemas.microsoft.com/office/drawing/2014/main" id="{E98A92CD-F72C-4EF5-9A45-17F9410E06B2}"/>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Matched rhythm cores reproduce the same driven bursts</a:t>
            </a:r>
          </a:p>
        </p:txBody>
      </p:sp>
      <p:sp>
        <p:nvSpPr>
          <p:cNvPr id="3" name="">
            <a:extLst xmlns:a="http://schemas.openxmlformats.org/drawingml/2006/main">
              <a:ext uri="{FF2B5EF4-FFF2-40B4-BE49-F238E27FC236}">
                <a16:creationId xmlns:a16="http://schemas.microsoft.com/office/drawing/2014/main" id="{8FB22863-13FE-4356-9F78-1C424673DF0E}"/>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BF599B91-5A78-44BD-B25D-67E06F934BC3}"/>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2D9A0CC9-C334-467C-9416-C0E31BBEFF7F}"/>
              </a:ext>
            </a:extLst>
          </p:cNvPr>
          <p:cNvPicPr>
            <a:picLocks xmlns:a="http://schemas.openxmlformats.org/drawingml/2006/main" noChangeAspect="1"/>
          </p:cNvPicPr>
          <p:nvPr/>
        </p:nvPicPr>
        <p:blipFill>
          <a:blip xmlns:r="http://schemas.openxmlformats.org/officeDocument/2006/relationships" xmlns:a="http://schemas.openxmlformats.org/drawingml/2006/main" r:embed="R63d8aa228826438f"/>
          <a:stretch xmlns:a="http://schemas.openxmlformats.org/drawingml/2006/main"/>
        </p:blipFill>
        <p:spPr>
          <a:xfrm xmlns:a="http://schemas.openxmlformats.org/drawingml/2006/main">
            <a:off x="3377293" y="1638300"/>
            <a:ext cx="5437414"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8586757-6811-4E4C-BBFC-779A7CFA9C38}"/>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1.000 s period · 10 expected bursts · correlation ≥ 0.99996</a:t>
            </a:r>
          </a:p>
        </p:txBody>
      </p:sp>
    </p:spTree>
    <p:extLst>
      <p:ext uri="{BB962C8B-B14F-4D97-AF65-F5344CB8AC3E}">
        <p14:creationId xmlns:p14="http://schemas.microsoft.com/office/powerpoint/2010/main" val="542749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2F22A1-0A04-4791-B799-8D7ED7C5B150}"/>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LAYER-SPECIFIC STIMULATION</a:t>
            </a:r>
          </a:p>
        </p:txBody>
      </p:sp>
      <p:sp>
        <p:nvSpPr>
          <p:cNvPr id="2" name="">
            <a:extLst xmlns:a="http://schemas.openxmlformats.org/drawingml/2006/main">
              <a:ext uri="{FF2B5EF4-FFF2-40B4-BE49-F238E27FC236}">
                <a16:creationId xmlns:a16="http://schemas.microsoft.com/office/drawing/2014/main" id="{0C8FD732-6CE8-4F58-BD1B-60EB77636FD2}"/>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Two deleted bursts can preserve or reset the rhythm</a:t>
            </a:r>
          </a:p>
        </p:txBody>
      </p:sp>
      <p:sp>
        <p:nvSpPr>
          <p:cNvPr id="3" name="">
            <a:extLst xmlns:a="http://schemas.openxmlformats.org/drawingml/2006/main">
              <a:ext uri="{FF2B5EF4-FFF2-40B4-BE49-F238E27FC236}">
                <a16:creationId xmlns:a16="http://schemas.microsoft.com/office/drawing/2014/main" id="{7DD86D93-0332-4E06-A765-864364842C1C}"/>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73AB37A8-7FAA-4A20-A0DE-740425060A9C}"/>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C7E3E07D-3F32-46BF-9CC3-7B1A53FE898F}"/>
              </a:ext>
            </a:extLst>
          </p:cNvPr>
          <p:cNvPicPr>
            <a:picLocks xmlns:a="http://schemas.openxmlformats.org/drawingml/2006/main" noChangeAspect="1"/>
          </p:cNvPicPr>
          <p:nvPr/>
        </p:nvPicPr>
        <p:blipFill>
          <a:blip xmlns:r="http://schemas.openxmlformats.org/officeDocument/2006/relationships" xmlns:a="http://schemas.openxmlformats.org/drawingml/2006/main" r:embed="Recfd72337d0f4027"/>
          <a:stretch xmlns:a="http://schemas.openxmlformats.org/drawingml/2006/main"/>
        </p:blipFill>
        <p:spPr>
          <a:xfrm xmlns:a="http://schemas.openxmlformats.org/drawingml/2006/main">
            <a:off x="2034758" y="1619250"/>
            <a:ext cx="4407733" cy="447675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901F7504-D757-4687-8CA3-953B051B3895}"/>
              </a:ext>
            </a:extLst>
          </p:cNvPr>
          <p:cNvGraphicFramePr/>
          <p:nvPr/>
        </p:nvGraphicFramePr>
        <p:xfrm>
          <a:off xmlns:a="http://schemas.openxmlformats.org/drawingml/2006/main" x="8143875" y="2286000"/>
          <a:ext xmlns:a="http://schemas.openxmlformats.org/drawingml/2006/main" cx="3524250" cy="2857500"/>
        </p:xfrm>
        <a:graphic xmlns:a="http://schemas.openxmlformats.org/drawingml/2006/main">
          <a:graphicData uri="http://schemas.openxmlformats.org/drawingml/2006/table">
            <a:tbl>
              <a:tblPr/>
              <a:tblGrid>
                <a:gridCol w="1762125"/>
                <a:gridCol w="1762125"/>
              </a:tblGrid>
              <a:tr h="714375">
                <a:tc>
                  <a:txBody>
                    <a:bodyPr/>
                    <a:lstStyle/>
                    <a:p>
                      <a:r>
                        <a:rPr sz="1875" b="1">
                          <a:solidFill>
                            <a:srgbClr val="006D77"/>
                          </a:solidFill>
                          <a:latin typeface="Calibri"/>
                          <a:ea typeface="Calibri"/>
                          <a:cs typeface="Calibri"/>
                        </a:rPr>
                        <a:t>Stimulated layer</a:t>
                      </a:r>
                    </a:p>
                  </a:txBody>
                  <a:tcPr marL="91440" marR="91440" marT="45720" marB="45720">
                    <a:solidFill>
                      <a:srgbClr val="FFFFFF"/>
                    </a:solidFill>
                  </a:tcPr>
                </a:tc>
                <a:tc>
                  <a:txBody>
                    <a:bodyPr/>
                    <a:lstStyle/>
                    <a:p>
                      <a:r>
                        <a:rPr sz="1875" b="1">
                          <a:solidFill>
                            <a:srgbClr val="006D77"/>
                          </a:solidFill>
                          <a:latin typeface="Calibri"/>
                          <a:ea typeface="Calibri"/>
                          <a:cs typeface="Calibri"/>
                        </a:rPr>
                        <a:t>RG shift, cycles</a:t>
                      </a:r>
                    </a:p>
                  </a:txBody>
                  <a:tcPr marL="91440" marR="91440" marT="45720" marB="45720">
                    <a:solidFill>
                      <a:srgbClr val="FFFFFF"/>
                    </a:solidFill>
                  </a:tcPr>
                </a:tc>
              </a:tr>
              <a:tr h="714375">
                <a:tc>
                  <a:txBody>
                    <a:bodyPr/>
                    <a:lstStyle/>
                    <a:p>
                      <a:r>
                        <a:rPr sz="1875" b="0">
                          <a:solidFill>
                            <a:srgbClr val="202C33"/>
                          </a:solidFill>
                          <a:latin typeface="Calibri"/>
                          <a:ea typeface="Calibri"/>
                          <a:cs typeface="Calibri"/>
                        </a:rPr>
                        <a:t>RG</a:t>
                      </a:r>
                    </a:p>
                  </a:txBody>
                  <a:tcPr marL="91440" marR="91440" marT="45720" marB="45720">
                    <a:solidFill>
                      <a:srgbClr val="FFFFFF"/>
                    </a:solidFill>
                  </a:tcPr>
                </a:tc>
                <a:tc>
                  <a:txBody>
                    <a:bodyPr/>
                    <a:lstStyle/>
                    <a:p>
                      <a:r>
                        <a:rPr sz="1875" b="0">
                          <a:solidFill>
                            <a:srgbClr val="202C33"/>
                          </a:solidFill>
                          <a:latin typeface="Calibri"/>
                          <a:ea typeface="Calibri"/>
                          <a:cs typeface="Calibri"/>
                        </a:rPr>
                        <a:t>0.211</a:t>
                      </a:r>
                    </a:p>
                  </a:txBody>
                  <a:tcPr marL="91440" marR="91440" marT="45720" marB="45720">
                    <a:solidFill>
                      <a:srgbClr val="FFFFFF"/>
                    </a:solidFill>
                  </a:tcPr>
                </a:tc>
              </a:tr>
              <a:tr h="714375">
                <a:tc>
                  <a:txBody>
                    <a:bodyPr/>
                    <a:lstStyle/>
                    <a:p>
                      <a:r>
                        <a:rPr sz="1875" b="0">
                          <a:solidFill>
                            <a:srgbClr val="202C33"/>
                          </a:solidFill>
                          <a:latin typeface="Calibri"/>
                          <a:ea typeface="Calibri"/>
                          <a:cs typeface="Calibri"/>
                        </a:rPr>
                        <a:t>PF</a:t>
                      </a:r>
                    </a:p>
                  </a:txBody>
                  <a:tcPr marL="91440" marR="91440" marT="45720" marB="45720">
                    <a:solidFill>
                      <a:srgbClr val="FFFFFF"/>
                    </a:solidFill>
                  </a:tcPr>
                </a:tc>
                <a:tc>
                  <a:txBody>
                    <a:bodyPr/>
                    <a:lstStyle/>
                    <a:p>
                      <a:r>
                        <a:rPr sz="1875" b="0">
                          <a:solidFill>
                            <a:srgbClr val="202C33"/>
                          </a:solidFill>
                          <a:latin typeface="Calibri"/>
                          <a:ea typeface="Calibri"/>
                          <a:cs typeface="Calibri"/>
                        </a:rPr>
                        <a:t>0.000</a:t>
                      </a:r>
                    </a:p>
                  </a:txBody>
                  <a:tcPr marL="91440" marR="91440" marT="45720" marB="45720">
                    <a:solidFill>
                      <a:srgbClr val="FFFFFF"/>
                    </a:solidFill>
                  </a:tcPr>
                </a:tc>
              </a:tr>
              <a:tr h="714375">
                <a:tc>
                  <a:txBody>
                    <a:bodyPr/>
                    <a:lstStyle/>
                    <a:p>
                      <a:r>
                        <a:rPr sz="1875" b="0">
                          <a:solidFill>
                            <a:srgbClr val="202C33"/>
                          </a:solidFill>
                          <a:latin typeface="Calibri"/>
                          <a:ea typeface="Calibri"/>
                          <a:cs typeface="Calibri"/>
                        </a:rPr>
                        <a:t>MN</a:t>
                      </a:r>
                    </a:p>
                  </a:txBody>
                  <a:tcPr marL="91440" marR="91440" marT="45720" marB="45720">
                    <a:solidFill>
                      <a:srgbClr val="FFFFFF"/>
                    </a:solidFill>
                  </a:tcPr>
                </a:tc>
                <a:tc>
                  <a:txBody>
                    <a:bodyPr/>
                    <a:lstStyle/>
                    <a:p>
                      <a:r>
                        <a:rPr sz="1875" b="0">
                          <a:solidFill>
                            <a:srgbClr val="202C33"/>
                          </a:solidFill>
                          <a:latin typeface="Calibri"/>
                          <a:ea typeface="Calibri"/>
                          <a:cs typeface="Calibri"/>
                        </a:rPr>
                        <a:t>0.000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E4BF403-09CC-44C5-BDAC-DE1FB1B84325}"/>
              </a:ext>
            </a:extLst>
          </p:cNvPr>
          <p:cNvSpPr>
            <a:spLocks xmlns:a="http://schemas.openxmlformats.org/drawingml/2006/main" noGrp="1"/>
          </p:cNvSpPr>
          <p:nvPr/>
        </p:nvSpPr>
        <p:spPr>
          <a:xfrm xmlns:a="http://schemas.openxmlformats.org/drawingml/2006/main">
            <a:off x="8143875" y="5191125"/>
            <a:ext cx="3524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2C33"/>
                </a:solidFill>
                <a:latin typeface="Calibri"/>
                <a:ea typeface="Calibri"/>
                <a:cs typeface="Calibri"/>
              </a:defRPr>
            </a:defPPr>
            <a:lvl1pPr>
              <a:defRPr sz="1725" b="0">
                <a:solidFill>
                  <a:srgbClr val="202C33"/>
                </a:solidFill>
                <a:latin typeface="Calibri"/>
                <a:ea typeface="Calibri"/>
                <a:cs typeface="Calibri"/>
              </a:defRPr>
            </a:lvl1pPr>
            <a:lvl2pPr>
              <a:defRPr sz="1725" b="0">
                <a:solidFill>
                  <a:srgbClr val="202C33"/>
                </a:solidFill>
                <a:latin typeface="Calibri"/>
                <a:ea typeface="Calibri"/>
                <a:cs typeface="Calibri"/>
              </a:defRPr>
            </a:lvl2pPr>
            <a:lvl3pPr>
              <a:defRPr sz="1725" b="0">
                <a:solidFill>
                  <a:srgbClr val="202C33"/>
                </a:solidFill>
                <a:latin typeface="Calibri"/>
                <a:ea typeface="Calibri"/>
                <a:cs typeface="Calibri"/>
              </a:defRPr>
            </a:lvl3pPr>
            <a:lvl4pPr>
              <a:defRPr sz="1725" b="0">
                <a:solidFill>
                  <a:srgbClr val="202C33"/>
                </a:solidFill>
                <a:latin typeface="Calibri"/>
                <a:ea typeface="Calibri"/>
                <a:cs typeface="Calibri"/>
              </a:defRPr>
            </a:lvl4pPr>
            <a:lvl5pPr>
              <a:defRPr sz="1725" b="0">
                <a:solidFill>
                  <a:srgbClr val="202C33"/>
                </a:solidFill>
                <a:latin typeface="Calibri"/>
                <a:ea typeface="Calibri"/>
                <a:cs typeface="Calibri"/>
              </a:defRPr>
            </a:lvl5pPr>
            <a:lvl6pPr>
              <a:defRPr sz="1725" b="0">
                <a:solidFill>
                  <a:srgbClr val="202C33"/>
                </a:solidFill>
                <a:latin typeface="Calibri"/>
                <a:ea typeface="Calibri"/>
                <a:cs typeface="Calibri"/>
              </a:defRPr>
            </a:lvl6pPr>
            <a:lvl7pPr>
              <a:defRPr sz="1725" b="0">
                <a:solidFill>
                  <a:srgbClr val="202C33"/>
                </a:solidFill>
                <a:latin typeface="Calibri"/>
                <a:ea typeface="Calibri"/>
                <a:cs typeface="Calibri"/>
              </a:defRPr>
            </a:lvl7pPr>
            <a:lvl8pPr>
              <a:defRPr sz="1725" b="0">
                <a:solidFill>
                  <a:srgbClr val="202C33"/>
                </a:solidFill>
                <a:latin typeface="Calibri"/>
                <a:ea typeface="Calibri"/>
                <a:cs typeface="Calibri"/>
              </a:defRPr>
            </a:lvl8pPr>
            <a:lvl9pPr>
              <a:defRPr sz="1725" b="0">
                <a:solidFill>
                  <a:srgbClr val="202C33"/>
                </a:solidFill>
                <a:latin typeface="Calibri"/>
                <a:ea typeface="Calibri"/>
                <a:cs typeface="Calibri"/>
              </a:defRPr>
            </a:lvl9pPr>
          </a:lstStyle>
          <a:p xmlns:a="http://schemas.openxmlformats.org/drawingml/2006/main">
            <a:pPr>
              <a:defRPr sz="1725" b="0">
                <a:solidFill>
                  <a:srgbClr val="202C33"/>
                </a:solidFill>
                <a:latin typeface="Calibri"/>
                <a:ea typeface="Calibri"/>
                <a:cs typeface="Calibri"/>
              </a:defRPr>
            </a:pPr>
            <a:r>
              <a:rPr sz="1725" b="0">
                <a:solidFill>
                  <a:srgbClr val="202C33"/>
                </a:solidFill>
                <a:latin typeface="Calibri"/>
                <a:ea typeface="Calibri"/>
                <a:cs typeface="Calibri"/>
              </a:rPr>
              <a:t>RG: rhythm generator</a:t>
            </a:r>
          </a:p>
          <a:p xmlns:a="http://schemas.openxmlformats.org/drawingml/2006/main">
            <a:pPr>
              <a:defRPr sz="1725" b="0">
                <a:solidFill>
                  <a:srgbClr val="202C33"/>
                </a:solidFill>
                <a:latin typeface="Calibri"/>
                <a:ea typeface="Calibri"/>
                <a:cs typeface="Calibri"/>
              </a:defRPr>
            </a:pPr>
            <a:r>
              <a:rPr sz="1725" b="0">
                <a:solidFill>
                  <a:srgbClr val="202C33"/>
                </a:solidFill>
                <a:latin typeface="Calibri"/>
                <a:ea typeface="Calibri"/>
                <a:cs typeface="Calibri"/>
              </a:rPr>
              <a:t>PF: pattern formation</a:t>
            </a:r>
          </a:p>
          <a:p xmlns:a="http://schemas.openxmlformats.org/drawingml/2006/main">
            <a:pPr>
              <a:defRPr sz="1725" b="0">
                <a:solidFill>
                  <a:srgbClr val="202C33"/>
                </a:solidFill>
                <a:latin typeface="Calibri"/>
                <a:ea typeface="Calibri"/>
                <a:cs typeface="Calibri"/>
              </a:defRPr>
            </a:pPr>
            <a:r>
              <a:rPr sz="1725" b="0">
                <a:solidFill>
                  <a:srgbClr val="202C33"/>
                </a:solidFill>
                <a:latin typeface="Calibri"/>
                <a:ea typeface="Calibri"/>
                <a:cs typeface="Calibri"/>
              </a:rPr>
              <a:t>MN: motor neuron</a:t>
            </a:r>
          </a:p>
        </p:txBody>
      </p:sp>
      <p:sp>
        <p:nvSpPr>
          <p:cNvPr id="8" name="">
            <a:extLst xmlns:a="http://schemas.openxmlformats.org/drawingml/2006/main">
              <a:ext uri="{FF2B5EF4-FFF2-40B4-BE49-F238E27FC236}">
                <a16:creationId xmlns:a16="http://schemas.microsoft.com/office/drawing/2014/main" id="{156A1088-BB79-4ABF-93E6-5F0A89384BDC}"/>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Reduced Deng-derived circuit · two baseline periods · suspended model</a:t>
            </a:r>
          </a:p>
        </p:txBody>
      </p:sp>
    </p:spTree>
    <p:extLst>
      <p:ext uri="{BB962C8B-B14F-4D97-AF65-F5344CB8AC3E}">
        <p14:creationId xmlns:p14="http://schemas.microsoft.com/office/powerpoint/2010/main" val="16401974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D9B0E5-E6C1-4905-AB73-1877012B80F4}"/>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CORRECTIVE FEEDBACK DEMONSTRATION</a:t>
            </a:r>
          </a:p>
        </p:txBody>
      </p:sp>
      <p:sp>
        <p:nvSpPr>
          <p:cNvPr id="2" name="">
            <a:extLst xmlns:a="http://schemas.openxmlformats.org/drawingml/2006/main">
              <a:ext uri="{FF2B5EF4-FFF2-40B4-BE49-F238E27FC236}">
                <a16:creationId xmlns:a16="http://schemas.microsoft.com/office/drawing/2014/main" id="{A6C8E211-34A0-4D4D-ABDB-B91F8F462792}"/>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Sensory feedback reduces sag in the loaded-arm model</a:t>
            </a:r>
          </a:p>
        </p:txBody>
      </p:sp>
      <p:sp>
        <p:nvSpPr>
          <p:cNvPr id="3" name="">
            <a:extLst xmlns:a="http://schemas.openxmlformats.org/drawingml/2006/main">
              <a:ext uri="{FF2B5EF4-FFF2-40B4-BE49-F238E27FC236}">
                <a16:creationId xmlns:a16="http://schemas.microsoft.com/office/drawing/2014/main" id="{55C13400-BD31-44A2-BA79-ABD9AF74711D}"/>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C49A20D9-C30F-4E60-AA78-9EEC52276268}"/>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E6D42FDC-42DF-4D46-A361-A6BF0F974AF0}"/>
              </a:ext>
            </a:extLst>
          </p:cNvPr>
          <p:cNvPicPr>
            <a:picLocks xmlns:a="http://schemas.openxmlformats.org/drawingml/2006/main" noChangeAspect="1"/>
          </p:cNvPicPr>
          <p:nvPr/>
        </p:nvPicPr>
        <p:blipFill>
          <a:blip xmlns:r="http://schemas.openxmlformats.org/officeDocument/2006/relationships" xmlns:a="http://schemas.openxmlformats.org/drawingml/2006/main" r:embed="R25cd8faed46841c3"/>
          <a:stretch xmlns:a="http://schemas.openxmlformats.org/drawingml/2006/main"/>
        </p:blipFill>
        <p:spPr>
          <a:xfrm xmlns:a="http://schemas.openxmlformats.org/drawingml/2006/main">
            <a:off x="1118577" y="1695450"/>
            <a:ext cx="4239846" cy="1524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54871FD-6304-41CF-B0E2-D625B8D22EC5}"/>
              </a:ext>
            </a:extLst>
          </p:cNvPr>
          <p:cNvPicPr>
            <a:picLocks xmlns:a="http://schemas.openxmlformats.org/drawingml/2006/main" noChangeAspect="1"/>
          </p:cNvPicPr>
          <p:nvPr/>
        </p:nvPicPr>
        <p:blipFill>
          <a:blip xmlns:r="http://schemas.openxmlformats.org/officeDocument/2006/relationships" xmlns:a="http://schemas.openxmlformats.org/drawingml/2006/main" r:embed="Ra54d92cf9f564182"/>
          <a:stretch xmlns:a="http://schemas.openxmlformats.org/drawingml/2006/main"/>
        </p:blipFill>
        <p:spPr>
          <a:xfrm xmlns:a="http://schemas.openxmlformats.org/drawingml/2006/main">
            <a:off x="553524" y="3381375"/>
            <a:ext cx="5369952" cy="25241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0BE04A6-FCAE-4CF4-B7A6-93EEE732E138}"/>
              </a:ext>
            </a:extLst>
          </p:cNvPr>
          <p:cNvPicPr>
            <a:picLocks xmlns:a="http://schemas.openxmlformats.org/drawingml/2006/main" noChangeAspect="1"/>
          </p:cNvPicPr>
          <p:nvPr/>
        </p:nvPicPr>
        <p:blipFill>
          <a:blip xmlns:r="http://schemas.openxmlformats.org/officeDocument/2006/relationships" xmlns:a="http://schemas.openxmlformats.org/drawingml/2006/main" r:embed="Rc475daeb8d654572"/>
          <a:stretch xmlns:a="http://schemas.openxmlformats.org/drawingml/2006/main"/>
        </p:blipFill>
        <p:spPr>
          <a:xfrm xmlns:a="http://schemas.openxmlformats.org/drawingml/2006/main">
            <a:off x="6783713" y="2047875"/>
            <a:ext cx="4387198" cy="3857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BC805EB-AC3E-4D3A-9B6A-FFEC92EC34EA}"/>
              </a:ext>
            </a:extLst>
          </p:cNvPr>
          <p:cNvSpPr>
            <a:spLocks xmlns:a="http://schemas.openxmlformats.org/drawingml/2006/main" noGrp="1"/>
          </p:cNvSpPr>
          <p:nvPr/>
        </p:nvSpPr>
        <p:spPr>
          <a:xfrm xmlns:a="http://schemas.openxmlformats.org/drawingml/2006/main">
            <a:off x="6572250" y="1638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202C33"/>
                </a:solidFill>
                <a:latin typeface="Calibri"/>
                <a:ea typeface="Calibri"/>
                <a:cs typeface="Calibri"/>
              </a:defRPr>
            </a:defPPr>
            <a:lvl1pPr>
              <a:defRPr sz="1950" b="1">
                <a:solidFill>
                  <a:srgbClr val="202C33"/>
                </a:solidFill>
                <a:latin typeface="Calibri"/>
                <a:ea typeface="Calibri"/>
                <a:cs typeface="Calibri"/>
              </a:defRPr>
            </a:lvl1pPr>
            <a:lvl2pPr>
              <a:defRPr sz="1950" b="1">
                <a:solidFill>
                  <a:srgbClr val="202C33"/>
                </a:solidFill>
                <a:latin typeface="Calibri"/>
                <a:ea typeface="Calibri"/>
                <a:cs typeface="Calibri"/>
              </a:defRPr>
            </a:lvl2pPr>
            <a:lvl3pPr>
              <a:defRPr sz="1950" b="1">
                <a:solidFill>
                  <a:srgbClr val="202C33"/>
                </a:solidFill>
                <a:latin typeface="Calibri"/>
                <a:ea typeface="Calibri"/>
                <a:cs typeface="Calibri"/>
              </a:defRPr>
            </a:lvl3pPr>
            <a:lvl4pPr>
              <a:defRPr sz="1950" b="1">
                <a:solidFill>
                  <a:srgbClr val="202C33"/>
                </a:solidFill>
                <a:latin typeface="Calibri"/>
                <a:ea typeface="Calibri"/>
                <a:cs typeface="Calibri"/>
              </a:defRPr>
            </a:lvl4pPr>
            <a:lvl5pPr>
              <a:defRPr sz="1950" b="1">
                <a:solidFill>
                  <a:srgbClr val="202C33"/>
                </a:solidFill>
                <a:latin typeface="Calibri"/>
                <a:ea typeface="Calibri"/>
                <a:cs typeface="Calibri"/>
              </a:defRPr>
            </a:lvl5pPr>
            <a:lvl6pPr>
              <a:defRPr sz="1950" b="1">
                <a:solidFill>
                  <a:srgbClr val="202C33"/>
                </a:solidFill>
                <a:latin typeface="Calibri"/>
                <a:ea typeface="Calibri"/>
                <a:cs typeface="Calibri"/>
              </a:defRPr>
            </a:lvl6pPr>
            <a:lvl7pPr>
              <a:defRPr sz="1950" b="1">
                <a:solidFill>
                  <a:srgbClr val="202C33"/>
                </a:solidFill>
                <a:latin typeface="Calibri"/>
                <a:ea typeface="Calibri"/>
                <a:cs typeface="Calibri"/>
              </a:defRPr>
            </a:lvl7pPr>
            <a:lvl8pPr>
              <a:defRPr sz="1950" b="1">
                <a:solidFill>
                  <a:srgbClr val="202C33"/>
                </a:solidFill>
                <a:latin typeface="Calibri"/>
                <a:ea typeface="Calibri"/>
                <a:cs typeface="Calibri"/>
              </a:defRPr>
            </a:lvl8pPr>
            <a:lvl9pPr>
              <a:defRPr sz="1950" b="1">
                <a:solidFill>
                  <a:srgbClr val="202C33"/>
                </a:solidFill>
                <a:latin typeface="Calibri"/>
                <a:ea typeface="Calibri"/>
                <a:cs typeface="Calibri"/>
              </a:defRPr>
            </a:lvl9pPr>
          </a:lstStyle>
          <a:p xmlns:a="http://schemas.openxmlformats.org/drawingml/2006/main">
            <a:pPr>
              <a:defRPr sz="1950" b="1">
                <a:solidFill>
                  <a:srgbClr val="202C33"/>
                </a:solidFill>
                <a:latin typeface="Calibri"/>
                <a:ea typeface="Calibri"/>
                <a:cs typeface="Calibri"/>
              </a:defRPr>
            </a:pPr>
            <a:r>
              <a:rPr sz="1950" b="1">
                <a:solidFill>
                  <a:srgbClr val="202C33"/>
                </a:solidFill>
                <a:latin typeface="Calibri"/>
                <a:ea typeface="Calibri"/>
                <a:cs typeface="Calibri"/>
              </a:rPr>
              <a:t>B  Feedback on/off</a:t>
            </a:r>
          </a:p>
        </p:txBody>
      </p:sp>
      <p:sp>
        <p:nvSpPr>
          <p:cNvPr id="9" name="">
            <a:extLst xmlns:a="http://schemas.openxmlformats.org/drawingml/2006/main">
              <a:ext uri="{FF2B5EF4-FFF2-40B4-BE49-F238E27FC236}">
                <a16:creationId xmlns:a16="http://schemas.microsoft.com/office/drawing/2014/main" id="{3B95BFB3-09DE-4AD9-8347-C864262D0309}"/>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Sag: 2.00° with feedback · 7.85° without feedback</a:t>
            </a:r>
          </a:p>
        </p:txBody>
      </p:sp>
    </p:spTree>
    <p:extLst>
      <p:ext uri="{BB962C8B-B14F-4D97-AF65-F5344CB8AC3E}">
        <p14:creationId xmlns:p14="http://schemas.microsoft.com/office/powerpoint/2010/main" val="13340713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48B3CE-BFCB-4D68-ABAE-C9F0FEC9B428}"/>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TRANSIENT ENGINEERING DEMONSTRATION</a:t>
            </a:r>
          </a:p>
        </p:txBody>
      </p:sp>
      <p:sp>
        <p:nvSpPr>
          <p:cNvPr id="2" name="">
            <a:extLst xmlns:a="http://schemas.openxmlformats.org/drawingml/2006/main">
              <a:ext uri="{FF2B5EF4-FFF2-40B4-BE49-F238E27FC236}">
                <a16:creationId xmlns:a16="http://schemas.microsoft.com/office/drawing/2014/main" id="{7118D00C-9447-4E2C-BFB7-0111BCECCF4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knee model produces a transient sensory response</a:t>
            </a:r>
          </a:p>
        </p:txBody>
      </p:sp>
      <p:sp>
        <p:nvSpPr>
          <p:cNvPr id="3" name="">
            <a:extLst xmlns:a="http://schemas.openxmlformats.org/drawingml/2006/main">
              <a:ext uri="{FF2B5EF4-FFF2-40B4-BE49-F238E27FC236}">
                <a16:creationId xmlns:a16="http://schemas.microsoft.com/office/drawing/2014/main" id="{01849074-5944-47A0-AB15-64B9F3D5BF40}"/>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F0254CC6-F554-436A-B122-0AD9988D85EB}"/>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6417D184-E366-4D9A-ABDF-A03CFB975A1E}"/>
              </a:ext>
            </a:extLst>
          </p:cNvPr>
          <p:cNvPicPr>
            <a:picLocks xmlns:a="http://schemas.openxmlformats.org/drawingml/2006/main" noChangeAspect="1"/>
          </p:cNvPicPr>
          <p:nvPr/>
        </p:nvPicPr>
        <p:blipFill>
          <a:blip xmlns:r="http://schemas.openxmlformats.org/officeDocument/2006/relationships" xmlns:a="http://schemas.openxmlformats.org/drawingml/2006/main" r:embed="R4e00c1cd01de442f"/>
          <a:stretch xmlns:a="http://schemas.openxmlformats.org/drawingml/2006/main"/>
        </p:blipFill>
        <p:spPr>
          <a:xfrm xmlns:a="http://schemas.openxmlformats.org/drawingml/2006/main">
            <a:off x="523875" y="1683126"/>
            <a:ext cx="7000875" cy="395847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B46CF05-421C-4183-B018-45E26DD1F1C5}"/>
              </a:ext>
            </a:extLst>
          </p:cNvPr>
          <p:cNvPicPr>
            <a:picLocks xmlns:a="http://schemas.openxmlformats.org/drawingml/2006/main" noChangeAspect="1"/>
          </p:cNvPicPr>
          <p:nvPr/>
        </p:nvPicPr>
        <p:blipFill>
          <a:blip xmlns:r="http://schemas.openxmlformats.org/officeDocument/2006/relationships" xmlns:a="http://schemas.openxmlformats.org/drawingml/2006/main" r:embed="Re006e8a7342f4122"/>
          <a:stretch xmlns:a="http://schemas.openxmlformats.org/drawingml/2006/main"/>
        </p:blipFill>
        <p:spPr>
          <a:xfrm xmlns:a="http://schemas.openxmlformats.org/drawingml/2006/main">
            <a:off x="7858125" y="2303530"/>
            <a:ext cx="3762375" cy="148894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CEF7FCD-C664-48E2-B7CE-4B125568EE81}"/>
              </a:ext>
            </a:extLst>
          </p:cNvPr>
          <p:cNvSpPr>
            <a:spLocks xmlns:a="http://schemas.openxmlformats.org/drawingml/2006/main" noGrp="1"/>
          </p:cNvSpPr>
          <p:nvPr/>
        </p:nvSpPr>
        <p:spPr>
          <a:xfrm xmlns:a="http://schemas.openxmlformats.org/drawingml/2006/main">
            <a:off x="7953375" y="4286250"/>
            <a:ext cx="3667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xmlns:a="http://schemas.openxmlformats.org/drawingml/2006/main">
            <a:pPr>
              <a:defRPr sz="2025" b="1">
                <a:solidFill>
                  <a:srgbClr val="006D77"/>
                </a:solidFill>
                <a:latin typeface="Calibri"/>
                <a:ea typeface="Calibri"/>
                <a:cs typeface="Calibri"/>
              </a:defRPr>
            </a:pPr>
            <a:r>
              <a:rPr sz="2025" b="1">
                <a:solidFill>
                  <a:srgbClr val="006D77"/>
                </a:solidFill>
                <a:latin typeface="Calibri"/>
                <a:ea typeface="Calibri"/>
                <a:cs typeface="Calibri"/>
              </a:rPr>
              <a:t>2 nA for 30 ms</a:t>
            </a:r>
          </a:p>
          <a:p xmlns:a="http://schemas.openxmlformats.org/drawingml/2006/main">
            <a:r>
              <a:t/>
            </a:r>
          </a:p>
          <a:p xmlns:a="http://schemas.openxmlformats.org/drawingml/2006/main">
            <a:pPr>
              <a:defRPr sz="2025" b="1">
                <a:solidFill>
                  <a:srgbClr val="006D77"/>
                </a:solidFill>
                <a:latin typeface="Calibri"/>
                <a:ea typeface="Calibri"/>
                <a:cs typeface="Calibri"/>
              </a:defRPr>
            </a:pPr>
            <a:r>
              <a:rPr sz="2025" b="1">
                <a:solidFill>
                  <a:srgbClr val="006D77"/>
                </a:solidFill>
                <a:latin typeface="Calibri"/>
                <a:ea typeface="Calibri"/>
                <a:cs typeface="Calibri"/>
              </a:rPr>
              <a:t>1.09° at 111 ms</a:t>
            </a:r>
          </a:p>
          <a:p xmlns:a="http://schemas.openxmlformats.org/drawingml/2006/main">
            <a:r>
              <a:t/>
            </a:r>
          </a:p>
          <a:p xmlns:a="http://schemas.openxmlformats.org/drawingml/2006/main">
            <a:pPr>
              <a:defRPr sz="2025" b="1">
                <a:solidFill>
                  <a:srgbClr val="006D77"/>
                </a:solidFill>
                <a:latin typeface="Calibri"/>
                <a:ea typeface="Calibri"/>
                <a:cs typeface="Calibri"/>
              </a:defRPr>
            </a:pPr>
            <a:r>
              <a:rPr sz="2025" b="1">
                <a:solidFill>
                  <a:srgbClr val="006D77"/>
                </a:solidFill>
                <a:latin typeface="Calibri"/>
                <a:ea typeface="Calibri"/>
                <a:cs typeface="Calibri"/>
              </a:rPr>
              <a:t>Recovery at 6.355 s</a:t>
            </a:r>
          </a:p>
        </p:txBody>
      </p:sp>
      <p:sp>
        <p:nvSpPr>
          <p:cNvPr id="8" name="">
            <a:extLst xmlns:a="http://schemas.openxmlformats.org/drawingml/2006/main">
              <a:ext uri="{FF2B5EF4-FFF2-40B4-BE49-F238E27FC236}">
                <a16:creationId xmlns:a16="http://schemas.microsoft.com/office/drawing/2014/main" id="{53121959-3781-4209-83E6-B4D7DE62F9C8}"/>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Six neural saturation widths changed in this configuration</a:t>
            </a:r>
          </a:p>
        </p:txBody>
      </p:sp>
    </p:spTree>
    <p:extLst>
      <p:ext uri="{BB962C8B-B14F-4D97-AF65-F5344CB8AC3E}">
        <p14:creationId xmlns:p14="http://schemas.microsoft.com/office/powerpoint/2010/main" val="487808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8D6383-3BD1-4A32-9E8D-22F93027B3BF}"/>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FIXED-CONTROLLER INTERVENTION</a:t>
            </a:r>
          </a:p>
        </p:txBody>
      </p:sp>
      <p:sp>
        <p:nvSpPr>
          <p:cNvPr id="2" name="">
            <a:extLst xmlns:a="http://schemas.openxmlformats.org/drawingml/2006/main">
              <a:ext uri="{FF2B5EF4-FFF2-40B4-BE49-F238E27FC236}">
                <a16:creationId xmlns:a16="http://schemas.microsoft.com/office/drawing/2014/main" id="{08D4421A-0D65-4135-B02B-4BB51A8194D6}"/>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Feedback coordinates foot loading in the W2L model</a:t>
            </a:r>
          </a:p>
        </p:txBody>
      </p:sp>
      <p:sp>
        <p:nvSpPr>
          <p:cNvPr id="3" name="">
            <a:extLst xmlns:a="http://schemas.openxmlformats.org/drawingml/2006/main">
              <a:ext uri="{FF2B5EF4-FFF2-40B4-BE49-F238E27FC236}">
                <a16:creationId xmlns:a16="http://schemas.microsoft.com/office/drawing/2014/main" id="{9C701D7A-9520-4F7A-B1A5-62E0663C1BCB}"/>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EE23A48F-C0EC-4C00-8F0A-7AC0B6E1B3D6}"/>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B89DB00F-6626-466B-B242-89C660AA89F2}"/>
              </a:ext>
            </a:extLst>
          </p:cNvPr>
          <p:cNvPicPr>
            <a:picLocks xmlns:a="http://schemas.openxmlformats.org/drawingml/2006/main" noChangeAspect="1"/>
          </p:cNvPicPr>
          <p:nvPr/>
        </p:nvPicPr>
        <p:blipFill>
          <a:blip xmlns:r="http://schemas.openxmlformats.org/officeDocument/2006/relationships" xmlns:a="http://schemas.openxmlformats.org/drawingml/2006/main" r:embed="Rdf06260760fc49f0"/>
          <a:stretch xmlns:a="http://schemas.openxmlformats.org/drawingml/2006/main"/>
        </p:blipFill>
        <p:spPr>
          <a:xfrm xmlns:a="http://schemas.openxmlformats.org/drawingml/2006/main">
            <a:off x="3331772" y="1666875"/>
            <a:ext cx="5480831" cy="41243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3AEF900-457E-4E79-B7D9-2F599A6F2B95}"/>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Median bilateral contact phase: 0.498 intact · 0.223 without feedback</a:t>
            </a:r>
          </a:p>
        </p:txBody>
      </p:sp>
    </p:spTree>
    <p:extLst>
      <p:ext uri="{BB962C8B-B14F-4D97-AF65-F5344CB8AC3E}">
        <p14:creationId xmlns:p14="http://schemas.microsoft.com/office/powerpoint/2010/main" val="84953651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A87070-D6F9-4F8E-A76F-E05E769413CE}"/>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COMPARISON AGAINST A MOVEMENT REFERENCE</a:t>
            </a:r>
          </a:p>
        </p:txBody>
      </p:sp>
      <p:sp>
        <p:nvSpPr>
          <p:cNvPr id="2" name="">
            <a:extLst xmlns:a="http://schemas.openxmlformats.org/drawingml/2006/main">
              <a:ext uri="{FF2B5EF4-FFF2-40B4-BE49-F238E27FC236}">
                <a16:creationId xmlns:a16="http://schemas.microsoft.com/office/drawing/2014/main" id="{FA4B41C5-1CF5-4A03-B15C-EE1FDABDFCFF}"/>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Rhythmic Gait2392 cycles retain hip and knee errors</a:t>
            </a:r>
          </a:p>
        </p:txBody>
      </p:sp>
      <p:sp>
        <p:nvSpPr>
          <p:cNvPr id="3" name="">
            <a:extLst xmlns:a="http://schemas.openxmlformats.org/drawingml/2006/main">
              <a:ext uri="{FF2B5EF4-FFF2-40B4-BE49-F238E27FC236}">
                <a16:creationId xmlns:a16="http://schemas.microsoft.com/office/drawing/2014/main" id="{8B2C3FE0-EAC1-4D9A-B8B7-0B63486AA398}"/>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22FD0179-BF5A-46D8-9CC2-916E564D0EDE}"/>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1A10AE74-BC55-4FDE-BE87-6DA22339FBA1}"/>
              </a:ext>
            </a:extLst>
          </p:cNvPr>
          <p:cNvPicPr>
            <a:picLocks xmlns:a="http://schemas.openxmlformats.org/drawingml/2006/main" noChangeAspect="1"/>
          </p:cNvPicPr>
          <p:nvPr/>
        </p:nvPicPr>
        <p:blipFill>
          <a:blip xmlns:r="http://schemas.openxmlformats.org/officeDocument/2006/relationships" xmlns:a="http://schemas.openxmlformats.org/drawingml/2006/main" r:embed="R549d5c293cff4910"/>
          <a:stretch xmlns:a="http://schemas.openxmlformats.org/drawingml/2006/main"/>
        </p:blipFill>
        <p:spPr>
          <a:xfrm xmlns:a="http://schemas.openxmlformats.org/drawingml/2006/main">
            <a:off x="1113820" y="1638300"/>
            <a:ext cx="701161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E086121-2049-42E8-AC5B-313DED168EA6}"/>
              </a:ext>
            </a:extLst>
          </p:cNvPr>
          <p:cNvSpPr>
            <a:spLocks xmlns:a="http://schemas.openxmlformats.org/drawingml/2006/main" noGrp="1"/>
          </p:cNvSpPr>
          <p:nvPr/>
        </p:nvSpPr>
        <p:spPr>
          <a:xfrm xmlns:a="http://schemas.openxmlformats.org/drawingml/2006/main">
            <a:off x="9048750" y="2381250"/>
            <a:ext cx="2667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02C33"/>
                </a:solidFill>
                <a:latin typeface="Calibri"/>
                <a:ea typeface="Calibri"/>
                <a:cs typeface="Calibri"/>
              </a:defRPr>
            </a:defPPr>
            <a:lvl1pPr>
              <a:defRPr sz="2175" b="0">
                <a:solidFill>
                  <a:srgbClr val="202C33"/>
                </a:solidFill>
                <a:latin typeface="Calibri"/>
                <a:ea typeface="Calibri"/>
                <a:cs typeface="Calibri"/>
              </a:defRPr>
            </a:lvl1pPr>
            <a:lvl2pPr>
              <a:defRPr sz="2175" b="0">
                <a:solidFill>
                  <a:srgbClr val="202C33"/>
                </a:solidFill>
                <a:latin typeface="Calibri"/>
                <a:ea typeface="Calibri"/>
                <a:cs typeface="Calibri"/>
              </a:defRPr>
            </a:lvl2pPr>
            <a:lvl3pPr>
              <a:defRPr sz="2175" b="0">
                <a:solidFill>
                  <a:srgbClr val="202C33"/>
                </a:solidFill>
                <a:latin typeface="Calibri"/>
                <a:ea typeface="Calibri"/>
                <a:cs typeface="Calibri"/>
              </a:defRPr>
            </a:lvl3pPr>
            <a:lvl4pPr>
              <a:defRPr sz="2175" b="0">
                <a:solidFill>
                  <a:srgbClr val="202C33"/>
                </a:solidFill>
                <a:latin typeface="Calibri"/>
                <a:ea typeface="Calibri"/>
                <a:cs typeface="Calibri"/>
              </a:defRPr>
            </a:lvl4pPr>
            <a:lvl5pPr>
              <a:defRPr sz="2175" b="0">
                <a:solidFill>
                  <a:srgbClr val="202C33"/>
                </a:solidFill>
                <a:latin typeface="Calibri"/>
                <a:ea typeface="Calibri"/>
                <a:cs typeface="Calibri"/>
              </a:defRPr>
            </a:lvl5pPr>
            <a:lvl6pPr>
              <a:defRPr sz="2175" b="0">
                <a:solidFill>
                  <a:srgbClr val="202C33"/>
                </a:solidFill>
                <a:latin typeface="Calibri"/>
                <a:ea typeface="Calibri"/>
                <a:cs typeface="Calibri"/>
              </a:defRPr>
            </a:lvl6pPr>
            <a:lvl7pPr>
              <a:defRPr sz="2175" b="0">
                <a:solidFill>
                  <a:srgbClr val="202C33"/>
                </a:solidFill>
                <a:latin typeface="Calibri"/>
                <a:ea typeface="Calibri"/>
                <a:cs typeface="Calibri"/>
              </a:defRPr>
            </a:lvl7pPr>
            <a:lvl8pPr>
              <a:defRPr sz="2175" b="0">
                <a:solidFill>
                  <a:srgbClr val="202C33"/>
                </a:solidFill>
                <a:latin typeface="Calibri"/>
                <a:ea typeface="Calibri"/>
                <a:cs typeface="Calibri"/>
              </a:defRPr>
            </a:lvl8pPr>
            <a:lvl9pPr>
              <a:defRPr sz="2175" b="0">
                <a:solidFill>
                  <a:srgbClr val="202C33"/>
                </a:solidFill>
                <a:latin typeface="Calibri"/>
                <a:ea typeface="Calibri"/>
                <a:cs typeface="Calibri"/>
              </a:defRPr>
            </a:lvl9pPr>
          </a:lstStyle>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Hip timing differs</a:t>
            </a:r>
          </a:p>
          <a:p xmlns:a="http://schemas.openxmlformats.org/drawingml/2006/main">
            <a:r>
              <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Knee timing differs</a:t>
            </a:r>
          </a:p>
          <a:p xmlns:a="http://schemas.openxmlformats.org/drawingml/2006/main">
            <a:r>
              <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No fitted phase shift</a:t>
            </a:r>
          </a:p>
          <a:p xmlns:a="http://schemas.openxmlformats.org/drawingml/2006/main">
            <a:pPr>
              <a:defRPr sz="2175" b="0">
                <a:solidFill>
                  <a:srgbClr val="202C33"/>
                </a:solidFill>
                <a:latin typeface="Calibri"/>
                <a:ea typeface="Calibri"/>
                <a:cs typeface="Calibri"/>
              </a:defRPr>
            </a:pPr>
            <a:r>
              <a:rPr sz="2175" b="0">
                <a:solidFill>
                  <a:srgbClr val="202C33"/>
                </a:solidFill>
                <a:latin typeface="Calibri"/>
                <a:ea typeface="Calibri"/>
                <a:cs typeface="Calibri"/>
              </a:rPr>
              <a:t>or amplitude scaling</a:t>
            </a:r>
          </a:p>
        </p:txBody>
      </p:sp>
      <p:sp>
        <p:nvSpPr>
          <p:cNvPr id="7" name="">
            <a:extLst xmlns:a="http://schemas.openxmlformats.org/drawingml/2006/main">
              <a:ext uri="{FF2B5EF4-FFF2-40B4-BE49-F238E27FC236}">
                <a16:creationId xmlns:a16="http://schemas.microsoft.com/office/drawing/2014/main" id="{17A1C983-E99E-4E1A-B68C-8D1748669584}"/>
              </a:ext>
            </a:extLst>
          </p:cNvPr>
          <p:cNvSpPr>
            <a:spLocks xmlns:a="http://schemas.openxmlformats.org/drawingml/2006/main" noGrp="1"/>
          </p:cNvSpPr>
          <p:nvPr/>
        </p:nvSpPr>
        <p:spPr>
          <a:xfrm xmlns:a="http://schemas.openxmlformats.org/drawingml/2006/main">
            <a:off x="2857500" y="57340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3616A"/>
                </a:solidFill>
                <a:latin typeface="Calibri"/>
                <a:ea typeface="Calibri"/>
                <a:cs typeface="Calibri"/>
              </a:defRPr>
            </a:defPPr>
            <a:lvl1pPr>
              <a:defRPr sz="1650" b="0">
                <a:solidFill>
                  <a:srgbClr val="53616A"/>
                </a:solidFill>
                <a:latin typeface="Calibri"/>
                <a:ea typeface="Calibri"/>
                <a:cs typeface="Calibri"/>
              </a:defRPr>
            </a:lvl1pPr>
            <a:lvl2pPr>
              <a:defRPr sz="1650" b="0">
                <a:solidFill>
                  <a:srgbClr val="53616A"/>
                </a:solidFill>
                <a:latin typeface="Calibri"/>
                <a:ea typeface="Calibri"/>
                <a:cs typeface="Calibri"/>
              </a:defRPr>
            </a:lvl2pPr>
            <a:lvl3pPr>
              <a:defRPr sz="1650" b="0">
                <a:solidFill>
                  <a:srgbClr val="53616A"/>
                </a:solidFill>
                <a:latin typeface="Calibri"/>
                <a:ea typeface="Calibri"/>
                <a:cs typeface="Calibri"/>
              </a:defRPr>
            </a:lvl3pPr>
            <a:lvl4pPr>
              <a:defRPr sz="1650" b="0">
                <a:solidFill>
                  <a:srgbClr val="53616A"/>
                </a:solidFill>
                <a:latin typeface="Calibri"/>
                <a:ea typeface="Calibri"/>
                <a:cs typeface="Calibri"/>
              </a:defRPr>
            </a:lvl4pPr>
            <a:lvl5pPr>
              <a:defRPr sz="1650" b="0">
                <a:solidFill>
                  <a:srgbClr val="53616A"/>
                </a:solidFill>
                <a:latin typeface="Calibri"/>
                <a:ea typeface="Calibri"/>
                <a:cs typeface="Calibri"/>
              </a:defRPr>
            </a:lvl5pPr>
            <a:lvl6pPr>
              <a:defRPr sz="1650" b="0">
                <a:solidFill>
                  <a:srgbClr val="53616A"/>
                </a:solidFill>
                <a:latin typeface="Calibri"/>
                <a:ea typeface="Calibri"/>
                <a:cs typeface="Calibri"/>
              </a:defRPr>
            </a:lvl6pPr>
            <a:lvl7pPr>
              <a:defRPr sz="1650" b="0">
                <a:solidFill>
                  <a:srgbClr val="53616A"/>
                </a:solidFill>
                <a:latin typeface="Calibri"/>
                <a:ea typeface="Calibri"/>
                <a:cs typeface="Calibri"/>
              </a:defRPr>
            </a:lvl7pPr>
            <a:lvl8pPr>
              <a:defRPr sz="1650" b="0">
                <a:solidFill>
                  <a:srgbClr val="53616A"/>
                </a:solidFill>
                <a:latin typeface="Calibri"/>
                <a:ea typeface="Calibri"/>
                <a:cs typeface="Calibri"/>
              </a:defRPr>
            </a:lvl8pPr>
            <a:lvl9pPr>
              <a:defRPr sz="1650" b="0">
                <a:solidFill>
                  <a:srgbClr val="53616A"/>
                </a:solidFill>
                <a:latin typeface="Calibri"/>
                <a:ea typeface="Calibri"/>
                <a:cs typeface="Calibri"/>
              </a:defRPr>
            </a:lvl9pPr>
          </a:lstStyle>
          <a:p xmlns:a="http://schemas.openxmlformats.org/drawingml/2006/main">
            <a:pPr>
              <a:defRPr sz="1650" b="0">
                <a:solidFill>
                  <a:srgbClr val="53616A"/>
                </a:solidFill>
                <a:latin typeface="Calibri"/>
                <a:ea typeface="Calibri"/>
                <a:cs typeface="Calibri"/>
              </a:defRPr>
            </a:pPr>
            <a:r>
              <a:rPr sz="1650" b="0">
                <a:solidFill>
                  <a:srgbClr val="53616A"/>
                </a:solidFill>
                <a:latin typeface="Calibri"/>
                <a:ea typeface="Calibri"/>
                <a:cs typeface="Calibri"/>
              </a:rPr>
              <a:t>Gait cycle, %</a:t>
            </a:r>
          </a:p>
        </p:txBody>
      </p:sp>
      <p:sp>
        <p:nvSpPr>
          <p:cNvPr id="8" name="">
            <a:extLst xmlns:a="http://schemas.openxmlformats.org/drawingml/2006/main">
              <a:ext uri="{FF2B5EF4-FFF2-40B4-BE49-F238E27FC236}">
                <a16:creationId xmlns:a16="http://schemas.microsoft.com/office/drawing/2014/main" id="{DDD6B42B-DB29-41E8-A1A0-0C7E5C92F119}"/>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10 cycles per leg · stance fractions 0.71 / 0.65 versus reference 0.61</a:t>
            </a:r>
          </a:p>
        </p:txBody>
      </p:sp>
    </p:spTree>
    <p:extLst>
      <p:ext uri="{BB962C8B-B14F-4D97-AF65-F5344CB8AC3E}">
        <p14:creationId xmlns:p14="http://schemas.microsoft.com/office/powerpoint/2010/main" val="16202827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EE87CF-54A1-4A58-8C9A-45193F0D87CA}"/>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CAD-MODEL INTEGRATION</a:t>
            </a:r>
          </a:p>
        </p:txBody>
      </p:sp>
      <p:sp>
        <p:nvSpPr>
          <p:cNvPr id="2" name="">
            <a:extLst xmlns:a="http://schemas.openxmlformats.org/drawingml/2006/main">
              <a:ext uri="{FF2B5EF4-FFF2-40B4-BE49-F238E27FC236}">
                <a16:creationId xmlns:a16="http://schemas.microsoft.com/office/drawing/2014/main" id="{70A9B56E-EA0B-459E-BE35-BF6EE40F711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Extra abductor control prevents crossing in the AH001 test</a:t>
            </a:r>
          </a:p>
        </p:txBody>
      </p:sp>
      <p:sp>
        <p:nvSpPr>
          <p:cNvPr id="3" name="">
            <a:extLst xmlns:a="http://schemas.openxmlformats.org/drawingml/2006/main">
              <a:ext uri="{FF2B5EF4-FFF2-40B4-BE49-F238E27FC236}">
                <a16:creationId xmlns:a16="http://schemas.microsoft.com/office/drawing/2014/main" id="{52EC6C9E-5A21-4319-B337-C6DB776580D9}"/>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99A46766-4038-4886-99A3-17484EABB69A}"/>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9182D9D9-0DA7-48A5-B407-176EA1292F00}"/>
              </a:ext>
            </a:extLst>
          </p:cNvPr>
          <p:cNvPicPr>
            <a:picLocks xmlns:a="http://schemas.openxmlformats.org/drawingml/2006/main" noChangeAspect="1"/>
          </p:cNvPicPr>
          <p:nvPr/>
        </p:nvPicPr>
        <p:blipFill>
          <a:blip xmlns:r="http://schemas.openxmlformats.org/officeDocument/2006/relationships" xmlns:a="http://schemas.openxmlformats.org/drawingml/2006/main" r:embed="R4e89a20db3004a0d"/>
          <a:stretch xmlns:a="http://schemas.openxmlformats.org/drawingml/2006/main"/>
        </p:blipFill>
        <p:spPr>
          <a:xfrm xmlns:a="http://schemas.openxmlformats.org/drawingml/2006/main">
            <a:off x="765402" y="1714500"/>
            <a:ext cx="7184571" cy="419100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C28EB8CA-E21D-4CBA-A1C4-91C8024A9CEF}"/>
              </a:ext>
            </a:extLst>
          </p:cNvPr>
          <p:cNvGraphicFramePr/>
          <p:nvPr/>
        </p:nvGraphicFramePr>
        <p:xfrm>
          <a:off xmlns:a="http://schemas.openxmlformats.org/drawingml/2006/main" x="8239125" y="2190750"/>
          <a:ext xmlns:a="http://schemas.openxmlformats.org/drawingml/2006/main" cx="3476625" cy="2762250"/>
        </p:xfrm>
        <a:graphic xmlns:a="http://schemas.openxmlformats.org/drawingml/2006/main">
          <a:graphicData uri="http://schemas.openxmlformats.org/drawingml/2006/table">
            <a:tbl>
              <a:tblPr/>
              <a:tblGrid>
                <a:gridCol w="1158875"/>
                <a:gridCol w="1158875"/>
                <a:gridCol w="1158875"/>
              </a:tblGrid>
              <a:tr h="920750">
                <a:tc>
                  <a:txBody>
                    <a:bodyPr/>
                    <a:lstStyle/>
                    <a:p>
                      <a:r>
                        <a:rPr sz="1725" b="1">
                          <a:solidFill>
                            <a:srgbClr val="006D77"/>
                          </a:solidFill>
                          <a:latin typeface="Calibri"/>
                          <a:ea typeface="Calibri"/>
                          <a:cs typeface="Calibri"/>
                        </a:rPr>
                        <a:t>15–40 s</a:t>
                      </a:r>
                    </a:p>
                  </a:txBody>
                  <a:tcPr marL="91440" marR="91440" marT="45720" marB="45720">
                    <a:solidFill>
                      <a:srgbClr val="FFFFFF"/>
                    </a:solidFill>
                  </a:tcPr>
                </a:tc>
                <a:tc>
                  <a:txBody>
                    <a:bodyPr/>
                    <a:lstStyle/>
                    <a:p>
                      <a:r>
                        <a:rPr sz="1725" b="1">
                          <a:solidFill>
                            <a:srgbClr val="006D77"/>
                          </a:solidFill>
                          <a:latin typeface="Calibri"/>
                          <a:ea typeface="Calibri"/>
                          <a:cs typeface="Calibri"/>
                        </a:rPr>
                        <a:t>Off</a:t>
                      </a:r>
                    </a:p>
                  </a:txBody>
                  <a:tcPr marL="91440" marR="91440" marT="45720" marB="45720">
                    <a:solidFill>
                      <a:srgbClr val="FFFFFF"/>
                    </a:solidFill>
                  </a:tcPr>
                </a:tc>
                <a:tc>
                  <a:txBody>
                    <a:bodyPr/>
                    <a:lstStyle/>
                    <a:p>
                      <a:r>
                        <a:rPr sz="1725" b="1">
                          <a:solidFill>
                            <a:srgbClr val="006D77"/>
                          </a:solidFill>
                          <a:latin typeface="Calibri"/>
                          <a:ea typeface="Calibri"/>
                          <a:cs typeface="Calibri"/>
                        </a:rPr>
                        <a:t>On</a:t>
                      </a:r>
                    </a:p>
                  </a:txBody>
                  <a:tcPr marL="91440" marR="91440" marT="45720" marB="45720">
                    <a:solidFill>
                      <a:srgbClr val="FFFFFF"/>
                    </a:solidFill>
                  </a:tcPr>
                </a:tc>
              </a:tr>
              <a:tr h="920750">
                <a:tc>
                  <a:txBody>
                    <a:bodyPr/>
                    <a:lstStyle/>
                    <a:p>
                      <a:r>
                        <a:rPr sz="1725" b="0">
                          <a:solidFill>
                            <a:srgbClr val="202C33"/>
                          </a:solidFill>
                          <a:latin typeface="Calibri"/>
                          <a:ea typeface="Calibri"/>
                          <a:cs typeface="Calibri"/>
                        </a:rPr>
                        <a:t>Crossed states</a:t>
                      </a:r>
                    </a:p>
                  </a:txBody>
                  <a:tcPr marL="91440" marR="91440" marT="45720" marB="45720">
                    <a:solidFill>
                      <a:srgbClr val="FFFFFF"/>
                    </a:solidFill>
                  </a:tcPr>
                </a:tc>
                <a:tc>
                  <a:txBody>
                    <a:bodyPr/>
                    <a:lstStyle/>
                    <a:p>
                      <a:r>
                        <a:rPr sz="1725" b="0">
                          <a:solidFill>
                            <a:srgbClr val="202C33"/>
                          </a:solidFill>
                          <a:latin typeface="Calibri"/>
                          <a:ea typeface="Calibri"/>
                          <a:cs typeface="Calibri"/>
                        </a:rPr>
                        <a:t>67%</a:t>
                      </a:r>
                    </a:p>
                  </a:txBody>
                  <a:tcPr marL="91440" marR="91440" marT="45720" marB="45720">
                    <a:solidFill>
                      <a:srgbClr val="FFFFFF"/>
                    </a:solidFill>
                  </a:tcPr>
                </a:tc>
                <a:tc>
                  <a:txBody>
                    <a:bodyPr/>
                    <a:lstStyle/>
                    <a:p>
                      <a:r>
                        <a:rPr sz="1725" b="0">
                          <a:solidFill>
                            <a:srgbClr val="202C33"/>
                          </a:solidFill>
                          <a:latin typeface="Calibri"/>
                          <a:ea typeface="Calibri"/>
                          <a:cs typeface="Calibri"/>
                        </a:rPr>
                        <a:t>0%</a:t>
                      </a:r>
                    </a:p>
                  </a:txBody>
                  <a:tcPr marL="91440" marR="91440" marT="45720" marB="45720">
                    <a:solidFill>
                      <a:srgbClr val="FFFFFF"/>
                    </a:solidFill>
                  </a:tcPr>
                </a:tc>
              </a:tr>
              <a:tr h="920750">
                <a:tc>
                  <a:txBody>
                    <a:bodyPr/>
                    <a:lstStyle/>
                    <a:p>
                      <a:r>
                        <a:rPr sz="1725" b="0">
                          <a:solidFill>
                            <a:srgbClr val="202C33"/>
                          </a:solidFill>
                          <a:latin typeface="Calibri"/>
                          <a:ea typeface="Calibri"/>
                          <a:cs typeface="Calibri"/>
                        </a:rPr>
                        <a:t>Min. spacing</a:t>
                      </a:r>
                    </a:p>
                  </a:txBody>
                  <a:tcPr marL="91440" marR="91440" marT="45720" marB="45720">
                    <a:solidFill>
                      <a:srgbClr val="FFFFFF"/>
                    </a:solidFill>
                  </a:tcPr>
                </a:tc>
                <a:tc>
                  <a:txBody>
                    <a:bodyPr/>
                    <a:lstStyle/>
                    <a:p>
                      <a:r>
                        <a:rPr sz="1725" b="0">
                          <a:solidFill>
                            <a:srgbClr val="202C33"/>
                          </a:solidFill>
                          <a:latin typeface="Calibri"/>
                          <a:ea typeface="Calibri"/>
                          <a:cs typeface="Calibri"/>
                        </a:rPr>
                        <a:t>−38.3 mm</a:t>
                      </a:r>
                    </a:p>
                  </a:txBody>
                  <a:tcPr marL="91440" marR="91440" marT="45720" marB="45720">
                    <a:solidFill>
                      <a:srgbClr val="FFFFFF"/>
                    </a:solidFill>
                  </a:tcPr>
                </a:tc>
                <a:tc>
                  <a:txBody>
                    <a:bodyPr/>
                    <a:lstStyle/>
                    <a:p>
                      <a:r>
                        <a:rPr sz="1725" b="0">
                          <a:solidFill>
                            <a:srgbClr val="202C33"/>
                          </a:solidFill>
                          <a:latin typeface="Calibri"/>
                          <a:ea typeface="Calibri"/>
                          <a:cs typeface="Calibri"/>
                        </a:rPr>
                        <a:t>142.4 mm</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7AFF4D6-3282-4554-9FBB-8DC1D30FE27B}"/>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54 reference-tension actuators · 262 neurons / 230 inputs</a:t>
            </a:r>
          </a:p>
        </p:txBody>
      </p:sp>
    </p:spTree>
    <p:extLst>
      <p:ext uri="{BB962C8B-B14F-4D97-AF65-F5344CB8AC3E}">
        <p14:creationId xmlns:p14="http://schemas.microsoft.com/office/powerpoint/2010/main" val="166742537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C8D5AE-998E-42A6-B20A-F1AED6613FB3}"/>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SCOPE OF THE DEMONSTRATIONS</a:t>
            </a:r>
          </a:p>
        </p:txBody>
      </p:sp>
      <p:sp>
        <p:nvSpPr>
          <p:cNvPr id="2" name="">
            <a:extLst xmlns:a="http://schemas.openxmlformats.org/drawingml/2006/main">
              <a:ext uri="{FF2B5EF4-FFF2-40B4-BE49-F238E27FC236}">
                <a16:creationId xmlns:a16="http://schemas.microsoft.com/office/drawing/2014/main" id="{AEF31B59-C68F-4FB3-AF6A-43C19ECFEAF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evidence establishes specific capabilities within clear limits</a:t>
            </a:r>
          </a:p>
        </p:txBody>
      </p:sp>
      <p:sp>
        <p:nvSpPr>
          <p:cNvPr id="3" name="">
            <a:extLst xmlns:a="http://schemas.openxmlformats.org/drawingml/2006/main">
              <a:ext uri="{FF2B5EF4-FFF2-40B4-BE49-F238E27FC236}">
                <a16:creationId xmlns:a16="http://schemas.microsoft.com/office/drawing/2014/main" id="{B6D6B9DA-A285-4183-8BD4-BFA0F1F56D70}"/>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Current manuscript Ch. 6 / Appendix D · Session 1 AH001 records</a:t>
            </a:r>
          </a:p>
        </p:txBody>
      </p:sp>
      <p:sp>
        <p:nvSpPr>
          <p:cNvPr id="4" name="">
            <a:extLst xmlns:a="http://schemas.openxmlformats.org/drawingml/2006/main">
              <a:ext uri="{FF2B5EF4-FFF2-40B4-BE49-F238E27FC236}">
                <a16:creationId xmlns:a16="http://schemas.microsoft.com/office/drawing/2014/main" id="{D74E38BB-39E3-4CAD-98CF-4AF7BD8CABBD}"/>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23</a:t>
            </a:r>
          </a:p>
        </p:txBody>
      </p:sp>
      <p:graphicFrame>
        <p:nvGraphicFramePr>
          <p:cNvPr id="5" name="">
            <a:extLst xmlns:a="http://schemas.openxmlformats.org/drawingml/2006/main">
              <a:ext uri="{FF2B5EF4-FFF2-40B4-BE49-F238E27FC236}">
                <a16:creationId xmlns:a16="http://schemas.microsoft.com/office/drawing/2014/main" id="{ABB2B4F6-14AA-477E-BACB-E5FD40A668A4}"/>
              </a:ext>
            </a:extLst>
          </p:cNvPr>
          <p:cNvGraphicFramePr/>
          <p:nvPr/>
        </p:nvGraphicFramePr>
        <p:xfrm>
          <a:off xmlns:a="http://schemas.openxmlformats.org/drawingml/2006/main" x="571500" y="1762125"/>
          <a:ext xmlns:a="http://schemas.openxmlformats.org/drawingml/2006/main" cx="11049000" cy="3238500"/>
        </p:xfrm>
        <a:graphic xmlns:a="http://schemas.openxmlformats.org/drawingml/2006/main">
          <a:graphicData uri="http://schemas.openxmlformats.org/drawingml/2006/table">
            <a:tbl>
              <a:tblPr/>
              <a:tblGrid>
                <a:gridCol w="3683000"/>
                <a:gridCol w="3683000"/>
                <a:gridCol w="3683000"/>
              </a:tblGrid>
              <a:tr h="647700">
                <a:tc>
                  <a:txBody>
                    <a:bodyPr/>
                    <a:lstStyle/>
                    <a:p>
                      <a:r>
                        <a:rPr sz="1800" b="1">
                          <a:solidFill>
                            <a:srgbClr val="006D77"/>
                          </a:solidFill>
                          <a:latin typeface="Calibri"/>
                          <a:ea typeface="Calibri"/>
                          <a:cs typeface="Calibri"/>
                        </a:rPr>
                        <a:t>Evidence level</a:t>
                      </a:r>
                    </a:p>
                  </a:txBody>
                  <a:tcPr marL="91440" marR="91440" marT="45720" marB="45720">
                    <a:solidFill>
                      <a:srgbClr val="FFFFFF"/>
                    </a:solidFill>
                  </a:tcPr>
                </a:tc>
                <a:tc>
                  <a:txBody>
                    <a:bodyPr/>
                    <a:lstStyle/>
                    <a:p>
                      <a:r>
                        <a:rPr sz="1800" b="1">
                          <a:solidFill>
                            <a:srgbClr val="006D77"/>
                          </a:solidFill>
                          <a:latin typeface="Calibri"/>
                          <a:ea typeface="Calibri"/>
                          <a:cs typeface="Calibri"/>
                        </a:rPr>
                        <a:t>What the result establishes</a:t>
                      </a:r>
                    </a:p>
                  </a:txBody>
                  <a:tcPr marL="91440" marR="91440" marT="45720" marB="45720">
                    <a:solidFill>
                      <a:srgbClr val="FFFFFF"/>
                    </a:solidFill>
                  </a:tcPr>
                </a:tc>
                <a:tc>
                  <a:txBody>
                    <a:bodyPr/>
                    <a:lstStyle/>
                    <a:p>
                      <a:r>
                        <a:rPr sz="1800" b="1">
                          <a:solidFill>
                            <a:srgbClr val="006D77"/>
                          </a:solidFill>
                          <a:latin typeface="Calibri"/>
                          <a:ea typeface="Calibri"/>
                          <a:cs typeface="Calibri"/>
                        </a:rPr>
                        <a:t>Remaining boundary</a:t>
                      </a:r>
                    </a:p>
                  </a:txBody>
                  <a:tcPr marL="91440" marR="91440" marT="45720" marB="45720">
                    <a:solidFill>
                      <a:srgbClr val="FFFFFF"/>
                    </a:solidFill>
                  </a:tcPr>
                </a:tc>
              </a:tr>
              <a:tr h="647700">
                <a:tc>
                  <a:txBody>
                    <a:bodyPr/>
                    <a:lstStyle/>
                    <a:p>
                      <a:r>
                        <a:rPr sz="1800" b="0">
                          <a:solidFill>
                            <a:srgbClr val="202C33"/>
                          </a:solidFill>
                          <a:latin typeface="Calibri"/>
                          <a:ea typeface="Calibri"/>
                          <a:cs typeface="Calibri"/>
                        </a:rPr>
                        <a:t>Measured hardware</a:t>
                      </a:r>
                    </a:p>
                  </a:txBody>
                  <a:tcPr marL="91440" marR="91440" marT="45720" marB="45720">
                    <a:solidFill>
                      <a:srgbClr val="FFFFFF"/>
                    </a:solidFill>
                  </a:tcPr>
                </a:tc>
                <a:tc>
                  <a:txBody>
                    <a:bodyPr/>
                    <a:lstStyle/>
                    <a:p>
                      <a:r>
                        <a:rPr sz="1800" b="0">
                          <a:solidFill>
                            <a:srgbClr val="202C33"/>
                          </a:solidFill>
                          <a:latin typeface="Calibri"/>
                          <a:ea typeface="Calibri"/>
                          <a:cs typeface="Calibri"/>
                        </a:rPr>
                        <a:t>Isometric torque capacity</a:t>
                      </a:r>
                    </a:p>
                  </a:txBody>
                  <a:tcPr marL="91440" marR="91440" marT="45720" marB="45720">
                    <a:solidFill>
                      <a:srgbClr val="FFFFFF"/>
                    </a:solidFill>
                  </a:tcPr>
                </a:tc>
                <a:tc>
                  <a:txBody>
                    <a:bodyPr/>
                    <a:lstStyle/>
                    <a:p>
                      <a:r>
                        <a:rPr sz="1800" b="0">
                          <a:solidFill>
                            <a:srgbClr val="202C33"/>
                          </a:solidFill>
                          <a:latin typeface="Calibri"/>
                          <a:ea typeface="Calibri"/>
                          <a:cs typeface="Calibri"/>
                        </a:rPr>
                        <a:t>Dynamic response and transfer</a:t>
                      </a:r>
                    </a:p>
                  </a:txBody>
                  <a:tcPr marL="91440" marR="91440" marT="45720" marB="45720">
                    <a:solidFill>
                      <a:srgbClr val="FFFFFF"/>
                    </a:solidFill>
                  </a:tcPr>
                </a:tc>
              </a:tr>
              <a:tr h="647700">
                <a:tc>
                  <a:txBody>
                    <a:bodyPr/>
                    <a:lstStyle/>
                    <a:p>
                      <a:r>
                        <a:rPr sz="1800" b="0">
                          <a:solidFill>
                            <a:srgbClr val="202C33"/>
                          </a:solidFill>
                          <a:latin typeface="Calibri"/>
                          <a:ea typeface="Calibri"/>
                          <a:cs typeface="Calibri"/>
                        </a:rPr>
                        <a:t>Neural demonstrations</a:t>
                      </a:r>
                    </a:p>
                  </a:txBody>
                  <a:tcPr marL="91440" marR="91440" marT="45720" marB="45720">
                    <a:solidFill>
                      <a:srgbClr val="FFFFFF"/>
                    </a:solidFill>
                  </a:tcPr>
                </a:tc>
                <a:tc>
                  <a:txBody>
                    <a:bodyPr/>
                    <a:lstStyle/>
                    <a:p>
                      <a:r>
                        <a:rPr sz="1800" b="0">
                          <a:solidFill>
                            <a:srgbClr val="202C33"/>
                          </a:solidFill>
                          <a:latin typeface="Calibri"/>
                          <a:ea typeface="Calibri"/>
                          <a:cs typeface="Calibri"/>
                        </a:rPr>
                        <a:t>Specified response and intervention effect</a:t>
                      </a:r>
                    </a:p>
                  </a:txBody>
                  <a:tcPr marL="91440" marR="91440" marT="45720" marB="45720">
                    <a:solidFill>
                      <a:srgbClr val="FFFFFF"/>
                    </a:solidFill>
                  </a:tcPr>
                </a:tc>
                <a:tc>
                  <a:txBody>
                    <a:bodyPr/>
                    <a:lstStyle/>
                    <a:p>
                      <a:r>
                        <a:rPr sz="1800" b="0">
                          <a:solidFill>
                            <a:srgbClr val="202C33"/>
                          </a:solidFill>
                          <a:latin typeface="Calibri"/>
                          <a:ea typeface="Calibri"/>
                          <a:cs typeface="Calibri"/>
                        </a:rPr>
                        <a:t>Circuit- and protocol-specific</a:t>
                      </a:r>
                    </a:p>
                  </a:txBody>
                  <a:tcPr marL="91440" marR="91440" marT="45720" marB="45720">
                    <a:solidFill>
                      <a:srgbClr val="FFFFFF"/>
                    </a:solidFill>
                  </a:tcPr>
                </a:tc>
              </a:tr>
              <a:tr h="647700">
                <a:tc>
                  <a:txBody>
                    <a:bodyPr/>
                    <a:lstStyle/>
                    <a:p>
                      <a:r>
                        <a:rPr sz="1800" b="0">
                          <a:solidFill>
                            <a:srgbClr val="202C33"/>
                          </a:solidFill>
                          <a:latin typeface="Calibri"/>
                          <a:ea typeface="Calibri"/>
                          <a:cs typeface="Calibri"/>
                        </a:rPr>
                        <a:t>Supported W2L / human models</a:t>
                      </a:r>
                    </a:p>
                  </a:txBody>
                  <a:tcPr marL="91440" marR="91440" marT="45720" marB="45720">
                    <a:solidFill>
                      <a:srgbClr val="FFFFFF"/>
                    </a:solidFill>
                  </a:tcPr>
                </a:tc>
                <a:tc>
                  <a:txBody>
                    <a:bodyPr/>
                    <a:lstStyle/>
                    <a:p>
                      <a:r>
                        <a:rPr sz="1800" b="0">
                          <a:solidFill>
                            <a:srgbClr val="202C33"/>
                          </a:solidFill>
                          <a:latin typeface="Calibri"/>
                          <a:ea typeface="Calibri"/>
                          <a:cs typeface="Calibri"/>
                        </a:rPr>
                        <a:t>Coupling and coordination tests</a:t>
                      </a:r>
                    </a:p>
                  </a:txBody>
                  <a:tcPr marL="91440" marR="91440" marT="45720" marB="45720">
                    <a:solidFill>
                      <a:srgbClr val="FFFFFF"/>
                    </a:solidFill>
                  </a:tcPr>
                </a:tc>
                <a:tc>
                  <a:txBody>
                    <a:bodyPr/>
                    <a:lstStyle/>
                    <a:p>
                      <a:r>
                        <a:rPr sz="1800" b="0">
                          <a:solidFill>
                            <a:srgbClr val="202C33"/>
                          </a:solidFill>
                          <a:latin typeface="Calibri"/>
                          <a:ea typeface="Calibri"/>
                          <a:cs typeface="Calibri"/>
                        </a:rPr>
                        <a:t>External support remains</a:t>
                      </a:r>
                    </a:p>
                  </a:txBody>
                  <a:tcPr marL="91440" marR="91440" marT="45720" marB="45720">
                    <a:solidFill>
                      <a:srgbClr val="FFFFFF"/>
                    </a:solidFill>
                  </a:tcPr>
                </a:tc>
              </a:tr>
              <a:tr h="647700">
                <a:tc>
                  <a:txBody>
                    <a:bodyPr/>
                    <a:lstStyle/>
                    <a:p>
                      <a:r>
                        <a:rPr sz="1800" b="0">
                          <a:solidFill>
                            <a:srgbClr val="202C33"/>
                          </a:solidFill>
                          <a:latin typeface="Calibri"/>
                          <a:ea typeface="Calibri"/>
                          <a:cs typeface="Calibri"/>
                        </a:rPr>
                        <a:t>AH001 integration</a:t>
                      </a:r>
                    </a:p>
                  </a:txBody>
                  <a:tcPr marL="91440" marR="91440" marT="45720" marB="45720">
                    <a:solidFill>
                      <a:srgbClr val="FFFFFF"/>
                    </a:solidFill>
                  </a:tcPr>
                </a:tc>
                <a:tc>
                  <a:txBody>
                    <a:bodyPr/>
                    <a:lstStyle/>
                    <a:p>
                      <a:r>
                        <a:rPr sz="1800" b="0">
                          <a:solidFill>
                            <a:srgbClr val="202C33"/>
                          </a:solidFill>
                          <a:latin typeface="Calibri"/>
                          <a:ea typeface="Calibri"/>
                          <a:cs typeface="Calibri"/>
                        </a:rPr>
                        <a:t>Hybrid allocation; PF/reflex currents cancelled</a:t>
                      </a:r>
                    </a:p>
                  </a:txBody>
                  <a:tcPr marL="91440" marR="91440" marT="45720" marB="45720">
                    <a:solidFill>
                      <a:srgbClr val="FFFFFF"/>
                    </a:solidFill>
                  </a:tcPr>
                </a:tc>
                <a:tc>
                  <a:txBody>
                    <a:bodyPr/>
                    <a:lstStyle/>
                    <a:p>
                      <a:r>
                        <a:rPr sz="1800" b="0">
                          <a:solidFill>
                            <a:srgbClr val="202C33"/>
                          </a:solidFill>
                          <a:latin typeface="Calibri"/>
                          <a:ea typeface="Calibri"/>
                          <a:cs typeface="Calibri"/>
                        </a:rPr>
                        <a:t>80% vertical + lateral/angular support</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6942344-49DC-4B3D-9875-51AC283C85A7}"/>
              </a:ext>
            </a:extLst>
          </p:cNvPr>
          <p:cNvSpPr>
            <a:spLocks xmlns:a="http://schemas.openxmlformats.org/drawingml/2006/main" noGrp="1"/>
          </p:cNvSpPr>
          <p:nvPr/>
        </p:nvSpPr>
        <p:spPr>
          <a:xfrm xmlns:a="http://schemas.openxmlformats.org/drawingml/2006/main">
            <a:off x="571500" y="52959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xmlns:a="http://schemas.openxmlformats.org/drawingml/2006/main">
            <a:pPr>
              <a:defRPr sz="2025" b="1">
                <a:solidFill>
                  <a:srgbClr val="006D77"/>
                </a:solidFill>
                <a:latin typeface="Calibri"/>
                <a:ea typeface="Calibri"/>
                <a:cs typeface="Calibri"/>
              </a:defRPr>
            </a:pPr>
            <a:r>
              <a:rPr sz="2025" b="1">
                <a:solidFill>
                  <a:srgbClr val="006D77"/>
                </a:solidFill>
                <a:latin typeface="Calibri"/>
                <a:ea typeface="Calibri"/>
                <a:cs typeface="Calibri"/>
              </a:rPr>
              <a:t>AH001: reference tensions, MN clamp, provisional feet, and ideal brackets</a:t>
            </a:r>
          </a:p>
        </p:txBody>
      </p:sp>
      <p:sp>
        <p:nvSpPr>
          <p:cNvPr id="7" name="">
            <a:extLst xmlns:a="http://schemas.openxmlformats.org/drawingml/2006/main">
              <a:ext uri="{FF2B5EF4-FFF2-40B4-BE49-F238E27FC236}">
                <a16:creationId xmlns:a16="http://schemas.microsoft.com/office/drawing/2014/main" id="{D9CA43FC-1D9C-45D7-AD27-0DD995090B41}"/>
              </a:ext>
            </a:extLst>
          </p:cNvPr>
          <p:cNvSpPr>
            <a:spLocks xmlns:a="http://schemas.openxmlformats.org/drawingml/2006/main" noGrp="1"/>
          </p:cNvSpPr>
          <p:nvPr/>
        </p:nvSpPr>
        <p:spPr>
          <a:xfrm xmlns:a="http://schemas.openxmlformats.org/drawingml/2006/main">
            <a:off x="571500" y="589597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84A"/>
                </a:solidFill>
                <a:latin typeface="Calibri"/>
                <a:ea typeface="Calibri"/>
                <a:cs typeface="Calibri"/>
              </a:defRPr>
            </a:defPPr>
            <a:lvl1pPr>
              <a:defRPr sz="2175" b="1">
                <a:solidFill>
                  <a:srgbClr val="17384A"/>
                </a:solidFill>
                <a:latin typeface="Calibri"/>
                <a:ea typeface="Calibri"/>
                <a:cs typeface="Calibri"/>
              </a:defRPr>
            </a:lvl1pPr>
            <a:lvl2pPr>
              <a:defRPr sz="2175" b="1">
                <a:solidFill>
                  <a:srgbClr val="17384A"/>
                </a:solidFill>
                <a:latin typeface="Calibri"/>
                <a:ea typeface="Calibri"/>
                <a:cs typeface="Calibri"/>
              </a:defRPr>
            </a:lvl2pPr>
            <a:lvl3pPr>
              <a:defRPr sz="2175" b="1">
                <a:solidFill>
                  <a:srgbClr val="17384A"/>
                </a:solidFill>
                <a:latin typeface="Calibri"/>
                <a:ea typeface="Calibri"/>
                <a:cs typeface="Calibri"/>
              </a:defRPr>
            </a:lvl3pPr>
            <a:lvl4pPr>
              <a:defRPr sz="2175" b="1">
                <a:solidFill>
                  <a:srgbClr val="17384A"/>
                </a:solidFill>
                <a:latin typeface="Calibri"/>
                <a:ea typeface="Calibri"/>
                <a:cs typeface="Calibri"/>
              </a:defRPr>
            </a:lvl4pPr>
            <a:lvl5pPr>
              <a:defRPr sz="2175" b="1">
                <a:solidFill>
                  <a:srgbClr val="17384A"/>
                </a:solidFill>
                <a:latin typeface="Calibri"/>
                <a:ea typeface="Calibri"/>
                <a:cs typeface="Calibri"/>
              </a:defRPr>
            </a:lvl5pPr>
            <a:lvl6pPr>
              <a:defRPr sz="2175" b="1">
                <a:solidFill>
                  <a:srgbClr val="17384A"/>
                </a:solidFill>
                <a:latin typeface="Calibri"/>
                <a:ea typeface="Calibri"/>
                <a:cs typeface="Calibri"/>
              </a:defRPr>
            </a:lvl6pPr>
            <a:lvl7pPr>
              <a:defRPr sz="2175" b="1">
                <a:solidFill>
                  <a:srgbClr val="17384A"/>
                </a:solidFill>
                <a:latin typeface="Calibri"/>
                <a:ea typeface="Calibri"/>
                <a:cs typeface="Calibri"/>
              </a:defRPr>
            </a:lvl7pPr>
            <a:lvl8pPr>
              <a:defRPr sz="2175" b="1">
                <a:solidFill>
                  <a:srgbClr val="17384A"/>
                </a:solidFill>
                <a:latin typeface="Calibri"/>
                <a:ea typeface="Calibri"/>
                <a:cs typeface="Calibri"/>
              </a:defRPr>
            </a:lvl8pPr>
            <a:lvl9pPr>
              <a:defRPr sz="2175" b="1">
                <a:solidFill>
                  <a:srgbClr val="17384A"/>
                </a:solidFill>
                <a:latin typeface="Calibri"/>
                <a:ea typeface="Calibri"/>
                <a:cs typeface="Calibri"/>
              </a:defRPr>
            </a:lvl9pPr>
          </a:lstStyle>
          <a:p xmlns:a="http://schemas.openxmlformats.org/drawingml/2006/main">
            <a:pPr>
              <a:defRPr sz="2175" b="1">
                <a:solidFill>
                  <a:srgbClr val="17384A"/>
                </a:solidFill>
                <a:latin typeface="Calibri"/>
                <a:ea typeface="Calibri"/>
                <a:cs typeface="Calibri"/>
              </a:defRPr>
            </a:pPr>
            <a:r>
              <a:rPr sz="2175" b="1">
                <a:solidFill>
                  <a:srgbClr val="17384A"/>
                </a:solidFill>
                <a:latin typeface="Calibri"/>
                <a:ea typeface="Calibri"/>
                <a:cs typeface="Calibri"/>
              </a:rPr>
              <a:t>No harness-free walking has been demonstrated</a:t>
            </a:r>
          </a:p>
        </p:txBody>
      </p:sp>
    </p:spTree>
    <p:extLst>
      <p:ext uri="{BB962C8B-B14F-4D97-AF65-F5344CB8AC3E}">
        <p14:creationId xmlns:p14="http://schemas.microsoft.com/office/powerpoint/2010/main" val="84006486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19564E-B4CD-4C85-89A9-50B50138D801}"/>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SYNTHESIS OF CONTRIBUTIONS</a:t>
            </a:r>
          </a:p>
        </p:txBody>
      </p:sp>
      <p:sp>
        <p:nvSpPr>
          <p:cNvPr id="2" name="">
            <a:extLst xmlns:a="http://schemas.openxmlformats.org/drawingml/2006/main">
              <a:ext uri="{FF2B5EF4-FFF2-40B4-BE49-F238E27FC236}">
                <a16:creationId xmlns:a16="http://schemas.microsoft.com/office/drawing/2014/main" id="{EA9F14EA-272B-441F-AAF6-8826AB4C31FB}"/>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Each contribution closes a different part of the original gap</a:t>
            </a:r>
          </a:p>
        </p:txBody>
      </p:sp>
      <p:sp>
        <p:nvSpPr>
          <p:cNvPr id="3" name="">
            <a:extLst xmlns:a="http://schemas.openxmlformats.org/drawingml/2006/main">
              <a:ext uri="{FF2B5EF4-FFF2-40B4-BE49-F238E27FC236}">
                <a16:creationId xmlns:a16="http://schemas.microsoft.com/office/drawing/2014/main" id="{A820C72E-AFEE-4661-995F-9621CD0DAE0C}"/>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Chs. 1, 3–7 · Current physical and simulation evidence</a:t>
            </a:r>
          </a:p>
        </p:txBody>
      </p:sp>
      <p:sp>
        <p:nvSpPr>
          <p:cNvPr id="4" name="">
            <a:extLst xmlns:a="http://schemas.openxmlformats.org/drawingml/2006/main">
              <a:ext uri="{FF2B5EF4-FFF2-40B4-BE49-F238E27FC236}">
                <a16:creationId xmlns:a16="http://schemas.microsoft.com/office/drawing/2014/main" id="{AE0EB7EE-DFF7-4A36-B527-ECF2CBCC35B3}"/>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24</a:t>
            </a:r>
          </a:p>
        </p:txBody>
      </p:sp>
      <p:graphicFrame>
        <p:nvGraphicFramePr>
          <p:cNvPr id="5" name="">
            <a:extLst xmlns:a="http://schemas.openxmlformats.org/drawingml/2006/main">
              <a:ext uri="{FF2B5EF4-FFF2-40B4-BE49-F238E27FC236}">
                <a16:creationId xmlns:a16="http://schemas.microsoft.com/office/drawing/2014/main" id="{4A58960C-4906-4DDD-973D-613ADBA655FD}"/>
              </a:ext>
            </a:extLst>
          </p:cNvPr>
          <p:cNvGraphicFramePr/>
          <p:nvPr/>
        </p:nvGraphicFramePr>
        <p:xfrm>
          <a:off xmlns:a="http://schemas.openxmlformats.org/drawingml/2006/main" x="571500" y="1762125"/>
          <a:ext xmlns:a="http://schemas.openxmlformats.org/drawingml/2006/main" cx="11049000" cy="4191000"/>
        </p:xfrm>
        <a:graphic xmlns:a="http://schemas.openxmlformats.org/drawingml/2006/main">
          <a:graphicData uri="http://schemas.openxmlformats.org/drawingml/2006/table">
            <a:tbl>
              <a:tblPr/>
              <a:tblGrid>
                <a:gridCol w="5524500"/>
                <a:gridCol w="5524500"/>
              </a:tblGrid>
              <a:tr h="838200">
                <a:tc>
                  <a:txBody>
                    <a:bodyPr/>
                    <a:lstStyle/>
                    <a:p>
                      <a:r>
                        <a:rPr sz="2025" b="1">
                          <a:solidFill>
                            <a:srgbClr val="006D77"/>
                          </a:solidFill>
                          <a:latin typeface="Calibri"/>
                          <a:ea typeface="Calibri"/>
                          <a:cs typeface="Calibri"/>
                        </a:rPr>
                        <a:t>Contribution</a:t>
                      </a:r>
                    </a:p>
                  </a:txBody>
                  <a:tcPr marL="91440" marR="91440" marT="45720" marB="45720">
                    <a:solidFill>
                      <a:srgbClr val="FFFFFF"/>
                    </a:solidFill>
                  </a:tcPr>
                </a:tc>
                <a:tc>
                  <a:txBody>
                    <a:bodyPr/>
                    <a:lstStyle/>
                    <a:p>
                      <a:r>
                        <a:rPr sz="2025" b="1">
                          <a:solidFill>
                            <a:srgbClr val="006D77"/>
                          </a:solidFill>
                          <a:latin typeface="Calibri"/>
                          <a:ea typeface="Calibri"/>
                          <a:cs typeface="Calibri"/>
                        </a:rPr>
                        <a:t>Decisive evidence</a:t>
                      </a:r>
                    </a:p>
                  </a:txBody>
                  <a:tcPr marL="91440" marR="91440" marT="45720" marB="45720">
                    <a:solidFill>
                      <a:srgbClr val="FFFFFF"/>
                    </a:solidFill>
                  </a:tcPr>
                </a:tc>
              </a:tr>
              <a:tr h="838200">
                <a:tc>
                  <a:txBody>
                    <a:bodyPr/>
                    <a:lstStyle/>
                    <a:p>
                      <a:r>
                        <a:rPr sz="2025" b="0">
                          <a:solidFill>
                            <a:srgbClr val="202C33"/>
                          </a:solidFill>
                          <a:latin typeface="Calibri"/>
                          <a:ea typeface="Calibri"/>
                          <a:cs typeface="Calibri"/>
                        </a:rPr>
                        <a:t>Resting-length-aware BPA model</a:t>
                      </a:r>
                    </a:p>
                  </a:txBody>
                  <a:tcPr marL="91440" marR="91440" marT="45720" marB="45720">
                    <a:solidFill>
                      <a:srgbClr val="FFFFFF"/>
                    </a:solidFill>
                  </a:tcPr>
                </a:tc>
                <a:tc>
                  <a:txBody>
                    <a:bodyPr/>
                    <a:lstStyle/>
                    <a:p>
                      <a:r>
                        <a:rPr sz="2025" b="0">
                          <a:solidFill>
                            <a:srgbClr val="202C33"/>
                          </a:solidFill>
                          <a:latin typeface="Calibri"/>
                          <a:ea typeface="Calibri"/>
                          <a:cs typeface="Calibri"/>
                        </a:rPr>
                        <a:t>Measured force across length, pressure, and contraction</a:t>
                      </a:r>
                    </a:p>
                  </a:txBody>
                  <a:tcPr marL="91440" marR="91440" marT="45720" marB="45720">
                    <a:solidFill>
                      <a:srgbClr val="FFFFFF"/>
                    </a:solidFill>
                  </a:tcPr>
                </a:tc>
              </a:tr>
              <a:tr h="838200">
                <a:tc>
                  <a:txBody>
                    <a:bodyPr/>
                    <a:lstStyle/>
                    <a:p>
                      <a:r>
                        <a:rPr sz="2025" b="0">
                          <a:solidFill>
                            <a:srgbClr val="202C33"/>
                          </a:solidFill>
                          <a:latin typeface="Calibri"/>
                          <a:ea typeface="Calibri"/>
                          <a:cs typeface="Calibri"/>
                        </a:rPr>
                        <a:t>Corrected knee model and routes</a:t>
                      </a:r>
                    </a:p>
                  </a:txBody>
                  <a:tcPr marL="91440" marR="91440" marT="45720" marB="45720">
                    <a:solidFill>
                      <a:srgbClr val="FFFFFF"/>
                    </a:solidFill>
                  </a:tcPr>
                </a:tc>
                <a:tc>
                  <a:txBody>
                    <a:bodyPr/>
                    <a:lstStyle/>
                    <a:p>
                      <a:r>
                        <a:rPr sz="2025" b="0">
                          <a:solidFill>
                            <a:srgbClr val="202C33"/>
                          </a:solidFill>
                          <a:latin typeface="Calibri"/>
                          <a:ea typeface="Calibri"/>
                          <a:cs typeface="Calibri"/>
                        </a:rPr>
                        <a:t>Lower held-out error; 24 of 24 physical targets met</a:t>
                      </a:r>
                    </a:p>
                  </a:txBody>
                  <a:tcPr marL="91440" marR="91440" marT="45720" marB="45720">
                    <a:solidFill>
                      <a:srgbClr val="FFFFFF"/>
                    </a:solidFill>
                  </a:tcPr>
                </a:tc>
              </a:tr>
              <a:tr h="838200">
                <a:tc>
                  <a:txBody>
                    <a:bodyPr/>
                    <a:lstStyle/>
                    <a:p>
                      <a:r>
                        <a:rPr sz="2025" b="0">
                          <a:solidFill>
                            <a:srgbClr val="202C33"/>
                          </a:solidFill>
                          <a:latin typeface="Calibri"/>
                          <a:ea typeface="Calibri"/>
                          <a:cs typeface="Calibri"/>
                        </a:rPr>
                        <a:t>Sensory evidence application</a:t>
                      </a:r>
                    </a:p>
                  </a:txBody>
                  <a:tcPr marL="91440" marR="91440" marT="45720" marB="45720">
                    <a:solidFill>
                      <a:srgbClr val="FFFFFF"/>
                    </a:solidFill>
                  </a:tcPr>
                </a:tc>
                <a:tc>
                  <a:txBody>
                    <a:bodyPr/>
                    <a:lstStyle/>
                    <a:p>
                      <a:r>
                        <a:rPr sz="2025" b="0">
                          <a:solidFill>
                            <a:srgbClr val="202C33"/>
                          </a:solidFill>
                          <a:latin typeface="Calibri"/>
                          <a:ea typeface="Calibri"/>
                          <a:cs typeface="Calibri"/>
                        </a:rPr>
                        <a:t>1,393 searchable, linked app records</a:t>
                      </a:r>
                    </a:p>
                  </a:txBody>
                  <a:tcPr marL="91440" marR="91440" marT="45720" marB="45720">
                    <a:solidFill>
                      <a:srgbClr val="FFFFFF"/>
                    </a:solidFill>
                  </a:tcPr>
                </a:tc>
              </a:tr>
              <a:tr h="838200">
                <a:tc>
                  <a:txBody>
                    <a:bodyPr/>
                    <a:lstStyle/>
                    <a:p>
                      <a:r>
                        <a:rPr sz="2025" b="0">
                          <a:solidFill>
                            <a:srgbClr val="202C33"/>
                          </a:solidFill>
                          <a:latin typeface="Calibri"/>
                          <a:ea typeface="Calibri"/>
                          <a:cs typeface="Calibri"/>
                        </a:rPr>
                        <a:t>Neuromechanical experiment tools</a:t>
                      </a:r>
                    </a:p>
                  </a:txBody>
                  <a:tcPr marL="91440" marR="91440" marT="45720" marB="45720">
                    <a:solidFill>
                      <a:srgbClr val="FFFFFF"/>
                    </a:solidFill>
                  </a:tcPr>
                </a:tc>
                <a:tc>
                  <a:txBody>
                    <a:bodyPr/>
                    <a:lstStyle/>
                    <a:p>
                      <a:r>
                        <a:rPr sz="2025" b="0">
                          <a:solidFill>
                            <a:srgbClr val="202C33"/>
                          </a:solidFill>
                          <a:latin typeface="Calibri"/>
                          <a:ea typeface="Calibri"/>
                          <a:cs typeface="Calibri"/>
                        </a:rPr>
                        <a:t>Matched circuits, feedback interventions, and IK overlays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848497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7C5B53-2C44-4143-ABFE-66F3E9FEBF9A}"/>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FOCUSED FUTURE WORK</a:t>
            </a:r>
          </a:p>
        </p:txBody>
      </p:sp>
      <p:sp>
        <p:nvSpPr>
          <p:cNvPr id="2" name="">
            <a:extLst xmlns:a="http://schemas.openxmlformats.org/drawingml/2006/main">
              <a:ext uri="{FF2B5EF4-FFF2-40B4-BE49-F238E27FC236}">
                <a16:creationId xmlns:a16="http://schemas.microsoft.com/office/drawing/2014/main" id="{C39F157A-0F8A-42C4-BE3A-807B3640C71F}"/>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next experiments should test transfer and control authority</a:t>
            </a:r>
          </a:p>
        </p:txBody>
      </p:sp>
      <p:sp>
        <p:nvSpPr>
          <p:cNvPr id="3" name="">
            <a:extLst xmlns:a="http://schemas.openxmlformats.org/drawingml/2006/main">
              <a:ext uri="{FF2B5EF4-FFF2-40B4-BE49-F238E27FC236}">
                <a16:creationId xmlns:a16="http://schemas.microsoft.com/office/drawing/2014/main" id="{66879D84-C569-4CC1-B121-F2F94B015907}"/>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Discussion · Session 1 architecture and support audit</a:t>
            </a:r>
          </a:p>
        </p:txBody>
      </p:sp>
      <p:sp>
        <p:nvSpPr>
          <p:cNvPr id="4" name="">
            <a:extLst xmlns:a="http://schemas.openxmlformats.org/drawingml/2006/main">
              <a:ext uri="{FF2B5EF4-FFF2-40B4-BE49-F238E27FC236}">
                <a16:creationId xmlns:a16="http://schemas.microsoft.com/office/drawing/2014/main" id="{28EDCA55-E1EA-45EC-A4CE-1B416D8EB886}"/>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25</a:t>
            </a:r>
          </a:p>
        </p:txBody>
      </p:sp>
      <p:graphicFrame>
        <p:nvGraphicFramePr>
          <p:cNvPr id="5" name="">
            <a:extLst xmlns:a="http://schemas.openxmlformats.org/drawingml/2006/main">
              <a:ext uri="{FF2B5EF4-FFF2-40B4-BE49-F238E27FC236}">
                <a16:creationId xmlns:a16="http://schemas.microsoft.com/office/drawing/2014/main" id="{36292CB6-7CE1-488A-B384-312B690912A4}"/>
              </a:ext>
            </a:extLst>
          </p:cNvPr>
          <p:cNvGraphicFramePr/>
          <p:nvPr/>
        </p:nvGraphicFramePr>
        <p:xfrm>
          <a:off xmlns:a="http://schemas.openxmlformats.org/drawingml/2006/main" x="571500" y="2095500"/>
          <a:ext xmlns:a="http://schemas.openxmlformats.org/drawingml/2006/main" cx="11049000" cy="3143250"/>
        </p:xfrm>
        <a:graphic xmlns:a="http://schemas.openxmlformats.org/drawingml/2006/main">
          <a:graphicData uri="http://schemas.openxmlformats.org/drawingml/2006/table">
            <a:tbl>
              <a:tblPr/>
              <a:tblGrid>
                <a:gridCol w="5524500"/>
                <a:gridCol w="5524500"/>
              </a:tblGrid>
              <a:tr h="785813">
                <a:tc>
                  <a:txBody>
                    <a:bodyPr/>
                    <a:lstStyle/>
                    <a:p>
                      <a:r>
                        <a:rPr sz="2100" b="1">
                          <a:solidFill>
                            <a:srgbClr val="006D77"/>
                          </a:solidFill>
                          <a:latin typeface="Calibri"/>
                          <a:ea typeface="Calibri"/>
                          <a:cs typeface="Calibri"/>
                        </a:rPr>
                        <a:t>Open question</a:t>
                      </a:r>
                    </a:p>
                  </a:txBody>
                  <a:tcPr marL="91440" marR="91440" marT="45720" marB="45720">
                    <a:solidFill>
                      <a:srgbClr val="FFFFFF"/>
                    </a:solidFill>
                  </a:tcPr>
                </a:tc>
                <a:tc>
                  <a:txBody>
                    <a:bodyPr/>
                    <a:lstStyle/>
                    <a:p>
                      <a:r>
                        <a:rPr sz="2100" b="1">
                          <a:solidFill>
                            <a:srgbClr val="006D77"/>
                          </a:solidFill>
                          <a:latin typeface="Calibri"/>
                          <a:ea typeface="Calibri"/>
                          <a:cs typeface="Calibri"/>
                        </a:rPr>
                        <a:t>Next decisive check</a:t>
                      </a:r>
                    </a:p>
                  </a:txBody>
                  <a:tcPr marL="91440" marR="91440" marT="45720" marB="45720">
                    <a:solidFill>
                      <a:srgbClr val="FFFFFF"/>
                    </a:solidFill>
                  </a:tcPr>
                </a:tc>
              </a:tr>
              <a:tr h="785813">
                <a:tc>
                  <a:txBody>
                    <a:bodyPr/>
                    <a:lstStyle/>
                    <a:p>
                      <a:r>
                        <a:rPr sz="2100" b="0">
                          <a:solidFill>
                            <a:srgbClr val="202C33"/>
                          </a:solidFill>
                          <a:latin typeface="Calibri"/>
                          <a:ea typeface="Calibri"/>
                          <a:cs typeface="Calibri"/>
                        </a:rPr>
                        <a:t>Do torque corrections transfer?</a:t>
                      </a:r>
                    </a:p>
                  </a:txBody>
                  <a:tcPr marL="91440" marR="91440" marT="45720" marB="45720">
                    <a:solidFill>
                      <a:srgbClr val="FFFFFF"/>
                    </a:solidFill>
                  </a:tcPr>
                </a:tc>
                <a:tc>
                  <a:txBody>
                    <a:bodyPr/>
                    <a:lstStyle/>
                    <a:p>
                      <a:r>
                        <a:rPr sz="2100" b="0">
                          <a:solidFill>
                            <a:srgbClr val="202C33"/>
                          </a:solidFill>
                          <a:latin typeface="Calibri"/>
                          <a:ea typeface="Calibri"/>
                          <a:cs typeface="Calibri"/>
                        </a:rPr>
                        <a:t>Matched-pressure and dynamic-load tests</a:t>
                      </a:r>
                    </a:p>
                  </a:txBody>
                  <a:tcPr marL="91440" marR="91440" marT="45720" marB="45720">
                    <a:solidFill>
                      <a:srgbClr val="FFFFFF"/>
                    </a:solidFill>
                  </a:tcPr>
                </a:tc>
              </a:tr>
              <a:tr h="785813">
                <a:tc>
                  <a:txBody>
                    <a:bodyPr/>
                    <a:lstStyle/>
                    <a:p>
                      <a:r>
                        <a:rPr sz="2100" b="0">
                          <a:solidFill>
                            <a:srgbClr val="202C33"/>
                          </a:solidFill>
                          <a:latin typeface="Calibri"/>
                          <a:ea typeface="Calibri"/>
                          <a:cs typeface="Calibri"/>
                        </a:rPr>
                        <a:t>Do neural pathways control muscle output?</a:t>
                      </a:r>
                    </a:p>
                  </a:txBody>
                  <a:tcPr marL="91440" marR="91440" marT="45720" marB="45720">
                    <a:solidFill>
                      <a:srgbClr val="FFFFFF"/>
                    </a:solidFill>
                  </a:tcPr>
                </a:tc>
                <a:tc>
                  <a:txBody>
                    <a:bodyPr/>
                    <a:lstStyle/>
                    <a:p>
                      <a:r>
                        <a:rPr sz="2100" b="0">
                          <a:solidFill>
                            <a:srgbClr val="202C33"/>
                          </a:solidFill>
                          <a:latin typeface="Calibri"/>
                          <a:ea typeface="Calibri"/>
                          <a:cs typeface="Calibri"/>
                        </a:rPr>
                        <a:t>PF/reflex authority without MN current cancellation</a:t>
                      </a:r>
                    </a:p>
                  </a:txBody>
                  <a:tcPr marL="91440" marR="91440" marT="45720" marB="45720">
                    <a:solidFill>
                      <a:srgbClr val="FFFFFF"/>
                    </a:solidFill>
                  </a:tcPr>
                </a:tc>
              </a:tr>
              <a:tr h="785813">
                <a:tc>
                  <a:txBody>
                    <a:bodyPr/>
                    <a:lstStyle/>
                    <a:p>
                      <a:r>
                        <a:rPr sz="2100" b="0">
                          <a:solidFill>
                            <a:srgbClr val="202C33"/>
                          </a:solidFill>
                          <a:latin typeface="Calibri"/>
                          <a:ea typeface="Calibri"/>
                          <a:cs typeface="Calibri"/>
                        </a:rPr>
                        <a:t>Can the CAD robot sustain accepted stepping?</a:t>
                      </a:r>
                    </a:p>
                  </a:txBody>
                  <a:tcPr marL="91440" marR="91440" marT="45720" marB="45720">
                    <a:solidFill>
                      <a:srgbClr val="FFFFFF"/>
                    </a:solidFill>
                  </a:tcPr>
                </a:tc>
                <a:tc>
                  <a:txBody>
                    <a:bodyPr/>
                    <a:lstStyle/>
                    <a:p>
                      <a:r>
                        <a:rPr sz="2100" b="0">
                          <a:solidFill>
                            <a:srgbClr val="202C33"/>
                          </a:solidFill>
                          <a:latin typeface="Calibri"/>
                          <a:ea typeface="Calibri"/>
                          <a:cs typeface="Calibri"/>
                        </a:rPr>
                        <a:t>Verified mounts, alternating swing, and measured support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4987616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E48DAE-C63A-4619-8E57-12C7ABBD1D0F}"/>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CONCLUSION</a:t>
            </a:r>
          </a:p>
        </p:txBody>
      </p:sp>
      <p:sp>
        <p:nvSpPr>
          <p:cNvPr id="2" name="">
            <a:extLst xmlns:a="http://schemas.openxmlformats.org/drawingml/2006/main">
              <a:ext uri="{FF2B5EF4-FFF2-40B4-BE49-F238E27FC236}">
                <a16:creationId xmlns:a16="http://schemas.microsoft.com/office/drawing/2014/main" id="{7FD50128-4993-4023-91A9-5792AA945789}"/>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robot’s design assumptions are now experimentally testable</a:t>
            </a:r>
          </a:p>
        </p:txBody>
      </p:sp>
      <p:sp>
        <p:nvSpPr>
          <p:cNvPr id="3" name="">
            <a:extLst xmlns:a="http://schemas.openxmlformats.org/drawingml/2006/main">
              <a:ext uri="{FF2B5EF4-FFF2-40B4-BE49-F238E27FC236}">
                <a16:creationId xmlns:a16="http://schemas.microsoft.com/office/drawing/2014/main" id="{E0EC674E-4155-464C-9A80-115DBA7A8C3F}"/>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Ben P. Bolen · Portland State University · AARL</a:t>
            </a:r>
          </a:p>
        </p:txBody>
      </p:sp>
      <p:sp>
        <p:nvSpPr>
          <p:cNvPr id="4" name="">
            <a:extLst xmlns:a="http://schemas.openxmlformats.org/drawingml/2006/main">
              <a:ext uri="{FF2B5EF4-FFF2-40B4-BE49-F238E27FC236}">
                <a16:creationId xmlns:a16="http://schemas.microsoft.com/office/drawing/2014/main" id="{C6AE2432-FEA6-4AC5-B23F-6D0165D2087A}"/>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26</a:t>
            </a:r>
          </a:p>
        </p:txBody>
      </p:sp>
      <p:sp>
        <p:nvSpPr>
          <p:cNvPr id="5" name="">
            <a:extLst xmlns:a="http://schemas.openxmlformats.org/drawingml/2006/main">
              <a:ext uri="{FF2B5EF4-FFF2-40B4-BE49-F238E27FC236}">
                <a16:creationId xmlns:a16="http://schemas.microsoft.com/office/drawing/2014/main" id="{AE825527-D5B4-4265-BE1C-3F7325FA8B3B}"/>
              </a:ext>
            </a:extLst>
          </p:cNvPr>
          <p:cNvSpPr>
            <a:spLocks xmlns:a="http://schemas.openxmlformats.org/drawingml/2006/main" noGrp="1"/>
          </p:cNvSpPr>
          <p:nvPr/>
        </p:nvSpPr>
        <p:spPr>
          <a:xfrm xmlns:a="http://schemas.openxmlformats.org/drawingml/2006/main">
            <a:off x="714375" y="2047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384A"/>
                </a:solidFill>
                <a:latin typeface="Calibri"/>
                <a:ea typeface="Calibri"/>
                <a:cs typeface="Calibri"/>
              </a:defRPr>
            </a:defPPr>
            <a:lvl1pPr>
              <a:defRPr sz="2850" b="1">
                <a:solidFill>
                  <a:srgbClr val="17384A"/>
                </a:solidFill>
                <a:latin typeface="Calibri"/>
                <a:ea typeface="Calibri"/>
                <a:cs typeface="Calibri"/>
              </a:defRPr>
            </a:lvl1pPr>
            <a:lvl2pPr>
              <a:defRPr sz="2850" b="1">
                <a:solidFill>
                  <a:srgbClr val="17384A"/>
                </a:solidFill>
                <a:latin typeface="Calibri"/>
                <a:ea typeface="Calibri"/>
                <a:cs typeface="Calibri"/>
              </a:defRPr>
            </a:lvl2pPr>
            <a:lvl3pPr>
              <a:defRPr sz="2850" b="1">
                <a:solidFill>
                  <a:srgbClr val="17384A"/>
                </a:solidFill>
                <a:latin typeface="Calibri"/>
                <a:ea typeface="Calibri"/>
                <a:cs typeface="Calibri"/>
              </a:defRPr>
            </a:lvl3pPr>
            <a:lvl4pPr>
              <a:defRPr sz="2850" b="1">
                <a:solidFill>
                  <a:srgbClr val="17384A"/>
                </a:solidFill>
                <a:latin typeface="Calibri"/>
                <a:ea typeface="Calibri"/>
                <a:cs typeface="Calibri"/>
              </a:defRPr>
            </a:lvl4pPr>
            <a:lvl5pPr>
              <a:defRPr sz="2850" b="1">
                <a:solidFill>
                  <a:srgbClr val="17384A"/>
                </a:solidFill>
                <a:latin typeface="Calibri"/>
                <a:ea typeface="Calibri"/>
                <a:cs typeface="Calibri"/>
              </a:defRPr>
            </a:lvl5pPr>
            <a:lvl6pPr>
              <a:defRPr sz="2850" b="1">
                <a:solidFill>
                  <a:srgbClr val="17384A"/>
                </a:solidFill>
                <a:latin typeface="Calibri"/>
                <a:ea typeface="Calibri"/>
                <a:cs typeface="Calibri"/>
              </a:defRPr>
            </a:lvl6pPr>
            <a:lvl7pPr>
              <a:defRPr sz="2850" b="1">
                <a:solidFill>
                  <a:srgbClr val="17384A"/>
                </a:solidFill>
                <a:latin typeface="Calibri"/>
                <a:ea typeface="Calibri"/>
                <a:cs typeface="Calibri"/>
              </a:defRPr>
            </a:lvl7pPr>
            <a:lvl8pPr>
              <a:defRPr sz="2850" b="1">
                <a:solidFill>
                  <a:srgbClr val="17384A"/>
                </a:solidFill>
                <a:latin typeface="Calibri"/>
                <a:ea typeface="Calibri"/>
                <a:cs typeface="Calibri"/>
              </a:defRPr>
            </a:lvl8pPr>
            <a:lvl9pPr>
              <a:defRPr sz="2850" b="1">
                <a:solidFill>
                  <a:srgbClr val="17384A"/>
                </a:solidFill>
                <a:latin typeface="Calibri"/>
                <a:ea typeface="Calibri"/>
                <a:cs typeface="Calibri"/>
              </a:defRPr>
            </a:lvl9pPr>
          </a:lstStyle>
          <a:p xmlns:a="http://schemas.openxmlformats.org/drawingml/2006/main">
            <a:pPr>
              <a:defRPr sz="2850" b="1">
                <a:solidFill>
                  <a:srgbClr val="17384A"/>
                </a:solidFill>
                <a:latin typeface="Calibri"/>
                <a:ea typeface="Calibri"/>
                <a:cs typeface="Calibri"/>
              </a:defRPr>
            </a:pPr>
            <a:r>
              <a:rPr sz="2850" b="1">
                <a:solidFill>
                  <a:srgbClr val="17384A"/>
                </a:solidFill>
                <a:latin typeface="Calibri"/>
                <a:ea typeface="Calibri"/>
                <a:cs typeface="Calibri"/>
              </a:rPr>
              <a:t>Force predictions grounded in measurement</a:t>
            </a:r>
          </a:p>
        </p:txBody>
      </p:sp>
      <p:sp>
        <p:nvSpPr>
          <p:cNvPr id="6" name="">
            <a:extLst xmlns:a="http://schemas.openxmlformats.org/drawingml/2006/main">
              <a:ext uri="{FF2B5EF4-FFF2-40B4-BE49-F238E27FC236}">
                <a16:creationId xmlns:a16="http://schemas.microsoft.com/office/drawing/2014/main" id="{1C80A0BD-4F38-4776-9EF3-91D66DF3C1D2}"/>
              </a:ext>
            </a:extLst>
          </p:cNvPr>
          <p:cNvSpPr>
            <a:spLocks xmlns:a="http://schemas.openxmlformats.org/drawingml/2006/main" noGrp="1"/>
          </p:cNvSpPr>
          <p:nvPr/>
        </p:nvSpPr>
        <p:spPr>
          <a:xfrm xmlns:a="http://schemas.openxmlformats.org/drawingml/2006/main">
            <a:off x="714375" y="3076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006D77"/>
                </a:solidFill>
                <a:latin typeface="Calibri"/>
                <a:ea typeface="Calibri"/>
                <a:cs typeface="Calibri"/>
              </a:defRPr>
            </a:defPPr>
            <a:lvl1pPr>
              <a:defRPr sz="3150" b="1">
                <a:solidFill>
                  <a:srgbClr val="006D77"/>
                </a:solidFill>
                <a:latin typeface="Calibri"/>
                <a:ea typeface="Calibri"/>
                <a:cs typeface="Calibri"/>
              </a:defRPr>
            </a:lvl1pPr>
            <a:lvl2pPr>
              <a:defRPr sz="3150" b="1">
                <a:solidFill>
                  <a:srgbClr val="006D77"/>
                </a:solidFill>
                <a:latin typeface="Calibri"/>
                <a:ea typeface="Calibri"/>
                <a:cs typeface="Calibri"/>
              </a:defRPr>
            </a:lvl2pPr>
            <a:lvl3pPr>
              <a:defRPr sz="3150" b="1">
                <a:solidFill>
                  <a:srgbClr val="006D77"/>
                </a:solidFill>
                <a:latin typeface="Calibri"/>
                <a:ea typeface="Calibri"/>
                <a:cs typeface="Calibri"/>
              </a:defRPr>
            </a:lvl3pPr>
            <a:lvl4pPr>
              <a:defRPr sz="3150" b="1">
                <a:solidFill>
                  <a:srgbClr val="006D77"/>
                </a:solidFill>
                <a:latin typeface="Calibri"/>
                <a:ea typeface="Calibri"/>
                <a:cs typeface="Calibri"/>
              </a:defRPr>
            </a:lvl4pPr>
            <a:lvl5pPr>
              <a:defRPr sz="3150" b="1">
                <a:solidFill>
                  <a:srgbClr val="006D77"/>
                </a:solidFill>
                <a:latin typeface="Calibri"/>
                <a:ea typeface="Calibri"/>
                <a:cs typeface="Calibri"/>
              </a:defRPr>
            </a:lvl5pPr>
            <a:lvl6pPr>
              <a:defRPr sz="3150" b="1">
                <a:solidFill>
                  <a:srgbClr val="006D77"/>
                </a:solidFill>
                <a:latin typeface="Calibri"/>
                <a:ea typeface="Calibri"/>
                <a:cs typeface="Calibri"/>
              </a:defRPr>
            </a:lvl6pPr>
            <a:lvl7pPr>
              <a:defRPr sz="3150" b="1">
                <a:solidFill>
                  <a:srgbClr val="006D77"/>
                </a:solidFill>
                <a:latin typeface="Calibri"/>
                <a:ea typeface="Calibri"/>
                <a:cs typeface="Calibri"/>
              </a:defRPr>
            </a:lvl7pPr>
            <a:lvl8pPr>
              <a:defRPr sz="3150" b="1">
                <a:solidFill>
                  <a:srgbClr val="006D77"/>
                </a:solidFill>
                <a:latin typeface="Calibri"/>
                <a:ea typeface="Calibri"/>
                <a:cs typeface="Calibri"/>
              </a:defRPr>
            </a:lvl8pPr>
            <a:lvl9pPr>
              <a:defRPr sz="3150" b="1">
                <a:solidFill>
                  <a:srgbClr val="006D77"/>
                </a:solidFill>
                <a:latin typeface="Calibri"/>
                <a:ea typeface="Calibri"/>
                <a:cs typeface="Calibri"/>
              </a:defRPr>
            </a:lvl9pPr>
          </a:lstStyle>
          <a:p xmlns:a="http://schemas.openxmlformats.org/drawingml/2006/main">
            <a:pPr>
              <a:defRPr sz="3150" b="1">
                <a:solidFill>
                  <a:srgbClr val="006D77"/>
                </a:solidFill>
                <a:latin typeface="Calibri"/>
                <a:ea typeface="Calibri"/>
                <a:cs typeface="Calibri"/>
              </a:defRPr>
            </a:pPr>
            <a:r>
              <a:rPr sz="3150" b="1">
                <a:solidFill>
                  <a:srgbClr val="006D77"/>
                </a:solidFill>
                <a:latin typeface="Calibri"/>
                <a:ea typeface="Calibri"/>
                <a:cs typeface="Calibri"/>
              </a:rPr>
              <a:t>24 of 24 physical knee targets met</a:t>
            </a:r>
          </a:p>
        </p:txBody>
      </p:sp>
      <p:sp>
        <p:nvSpPr>
          <p:cNvPr id="7" name="">
            <a:extLst xmlns:a="http://schemas.openxmlformats.org/drawingml/2006/main">
              <a:ext uri="{FF2B5EF4-FFF2-40B4-BE49-F238E27FC236}">
                <a16:creationId xmlns:a16="http://schemas.microsoft.com/office/drawing/2014/main" id="{CB80BA72-323B-4E17-A0A7-41A7CC4C0E59}"/>
              </a:ext>
            </a:extLst>
          </p:cNvPr>
          <p:cNvSpPr>
            <a:spLocks xmlns:a="http://schemas.openxmlformats.org/drawingml/2006/main" noGrp="1"/>
          </p:cNvSpPr>
          <p:nvPr/>
        </p:nvSpPr>
        <p:spPr>
          <a:xfrm xmlns:a="http://schemas.openxmlformats.org/drawingml/2006/main">
            <a:off x="714375" y="4143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7384A"/>
                </a:solidFill>
                <a:latin typeface="Calibri"/>
                <a:ea typeface="Calibri"/>
                <a:cs typeface="Calibri"/>
              </a:defRPr>
            </a:defPPr>
            <a:lvl1pPr>
              <a:defRPr sz="2700" b="1">
                <a:solidFill>
                  <a:srgbClr val="17384A"/>
                </a:solidFill>
                <a:latin typeface="Calibri"/>
                <a:ea typeface="Calibri"/>
                <a:cs typeface="Calibri"/>
              </a:defRPr>
            </a:lvl1pPr>
            <a:lvl2pPr>
              <a:defRPr sz="2700" b="1">
                <a:solidFill>
                  <a:srgbClr val="17384A"/>
                </a:solidFill>
                <a:latin typeface="Calibri"/>
                <a:ea typeface="Calibri"/>
                <a:cs typeface="Calibri"/>
              </a:defRPr>
            </a:lvl2pPr>
            <a:lvl3pPr>
              <a:defRPr sz="2700" b="1">
                <a:solidFill>
                  <a:srgbClr val="17384A"/>
                </a:solidFill>
                <a:latin typeface="Calibri"/>
                <a:ea typeface="Calibri"/>
                <a:cs typeface="Calibri"/>
              </a:defRPr>
            </a:lvl3pPr>
            <a:lvl4pPr>
              <a:defRPr sz="2700" b="1">
                <a:solidFill>
                  <a:srgbClr val="17384A"/>
                </a:solidFill>
                <a:latin typeface="Calibri"/>
                <a:ea typeface="Calibri"/>
                <a:cs typeface="Calibri"/>
              </a:defRPr>
            </a:lvl4pPr>
            <a:lvl5pPr>
              <a:defRPr sz="2700" b="1">
                <a:solidFill>
                  <a:srgbClr val="17384A"/>
                </a:solidFill>
                <a:latin typeface="Calibri"/>
                <a:ea typeface="Calibri"/>
                <a:cs typeface="Calibri"/>
              </a:defRPr>
            </a:lvl5pPr>
            <a:lvl6pPr>
              <a:defRPr sz="2700" b="1">
                <a:solidFill>
                  <a:srgbClr val="17384A"/>
                </a:solidFill>
                <a:latin typeface="Calibri"/>
                <a:ea typeface="Calibri"/>
                <a:cs typeface="Calibri"/>
              </a:defRPr>
            </a:lvl6pPr>
            <a:lvl7pPr>
              <a:defRPr sz="2700" b="1">
                <a:solidFill>
                  <a:srgbClr val="17384A"/>
                </a:solidFill>
                <a:latin typeface="Calibri"/>
                <a:ea typeface="Calibri"/>
                <a:cs typeface="Calibri"/>
              </a:defRPr>
            </a:lvl7pPr>
            <a:lvl8pPr>
              <a:defRPr sz="2700" b="1">
                <a:solidFill>
                  <a:srgbClr val="17384A"/>
                </a:solidFill>
                <a:latin typeface="Calibri"/>
                <a:ea typeface="Calibri"/>
                <a:cs typeface="Calibri"/>
              </a:defRPr>
            </a:lvl8pPr>
            <a:lvl9pPr>
              <a:defRPr sz="2700" b="1">
                <a:solidFill>
                  <a:srgbClr val="17384A"/>
                </a:solidFill>
                <a:latin typeface="Calibri"/>
                <a:ea typeface="Calibri"/>
                <a:cs typeface="Calibri"/>
              </a:defRPr>
            </a:lvl9pPr>
          </a:lstStyle>
          <a:p xmlns:a="http://schemas.openxmlformats.org/drawingml/2006/main">
            <a:pPr>
              <a:defRPr sz="2700" b="1">
                <a:solidFill>
                  <a:srgbClr val="17384A"/>
                </a:solidFill>
                <a:latin typeface="Calibri"/>
                <a:ea typeface="Calibri"/>
                <a:cs typeface="Calibri"/>
              </a:defRPr>
            </a:pPr>
            <a:r>
              <a:rPr sz="2700" b="1">
                <a:solidFill>
                  <a:srgbClr val="17384A"/>
                </a:solidFill>
                <a:latin typeface="Calibri"/>
                <a:ea typeface="Calibri"/>
                <a:cs typeface="Calibri"/>
              </a:rPr>
              <a:t>Neural and mechanical hypotheses tested separately</a:t>
            </a:r>
          </a:p>
        </p:txBody>
      </p:sp>
      <p:sp>
        <p:nvSpPr>
          <p:cNvPr id="8" name="">
            <a:extLst xmlns:a="http://schemas.openxmlformats.org/drawingml/2006/main">
              <a:ext uri="{FF2B5EF4-FFF2-40B4-BE49-F238E27FC236}">
                <a16:creationId xmlns:a16="http://schemas.microsoft.com/office/drawing/2014/main" id="{11879F5A-39E5-4575-B6C6-C44D9727E2EF}"/>
              </a:ext>
            </a:extLst>
          </p:cNvPr>
          <p:cNvSpPr>
            <a:spLocks xmlns:a="http://schemas.openxmlformats.org/drawingml/2006/main" noGrp="1"/>
          </p:cNvSpPr>
          <p:nvPr/>
        </p:nvSpPr>
        <p:spPr>
          <a:xfrm xmlns:a="http://schemas.openxmlformats.org/drawingml/2006/main">
            <a:off x="714375" y="54959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6D77"/>
                </a:solidFill>
                <a:latin typeface="Calibri"/>
                <a:ea typeface="Calibri"/>
                <a:cs typeface="Calibri"/>
              </a:defRPr>
            </a:defPPr>
            <a:lvl1pPr>
              <a:defRPr sz="2550" b="1">
                <a:solidFill>
                  <a:srgbClr val="006D77"/>
                </a:solidFill>
                <a:latin typeface="Calibri"/>
                <a:ea typeface="Calibri"/>
                <a:cs typeface="Calibri"/>
              </a:defRPr>
            </a:lvl1pPr>
            <a:lvl2pPr>
              <a:defRPr sz="2550" b="1">
                <a:solidFill>
                  <a:srgbClr val="006D77"/>
                </a:solidFill>
                <a:latin typeface="Calibri"/>
                <a:ea typeface="Calibri"/>
                <a:cs typeface="Calibri"/>
              </a:defRPr>
            </a:lvl2pPr>
            <a:lvl3pPr>
              <a:defRPr sz="2550" b="1">
                <a:solidFill>
                  <a:srgbClr val="006D77"/>
                </a:solidFill>
                <a:latin typeface="Calibri"/>
                <a:ea typeface="Calibri"/>
                <a:cs typeface="Calibri"/>
              </a:defRPr>
            </a:lvl3pPr>
            <a:lvl4pPr>
              <a:defRPr sz="2550" b="1">
                <a:solidFill>
                  <a:srgbClr val="006D77"/>
                </a:solidFill>
                <a:latin typeface="Calibri"/>
                <a:ea typeface="Calibri"/>
                <a:cs typeface="Calibri"/>
              </a:defRPr>
            </a:lvl4pPr>
            <a:lvl5pPr>
              <a:defRPr sz="2550" b="1">
                <a:solidFill>
                  <a:srgbClr val="006D77"/>
                </a:solidFill>
                <a:latin typeface="Calibri"/>
                <a:ea typeface="Calibri"/>
                <a:cs typeface="Calibri"/>
              </a:defRPr>
            </a:lvl5pPr>
            <a:lvl6pPr>
              <a:defRPr sz="2550" b="1">
                <a:solidFill>
                  <a:srgbClr val="006D77"/>
                </a:solidFill>
                <a:latin typeface="Calibri"/>
                <a:ea typeface="Calibri"/>
                <a:cs typeface="Calibri"/>
              </a:defRPr>
            </a:lvl6pPr>
            <a:lvl7pPr>
              <a:defRPr sz="2550" b="1">
                <a:solidFill>
                  <a:srgbClr val="006D77"/>
                </a:solidFill>
                <a:latin typeface="Calibri"/>
                <a:ea typeface="Calibri"/>
                <a:cs typeface="Calibri"/>
              </a:defRPr>
            </a:lvl7pPr>
            <a:lvl8pPr>
              <a:defRPr sz="2550" b="1">
                <a:solidFill>
                  <a:srgbClr val="006D77"/>
                </a:solidFill>
                <a:latin typeface="Calibri"/>
                <a:ea typeface="Calibri"/>
                <a:cs typeface="Calibri"/>
              </a:defRPr>
            </a:lvl8pPr>
            <a:lvl9pPr>
              <a:defRPr sz="2550" b="1">
                <a:solidFill>
                  <a:srgbClr val="006D77"/>
                </a:solidFill>
                <a:latin typeface="Calibri"/>
                <a:ea typeface="Calibri"/>
                <a:cs typeface="Calibri"/>
              </a:defRPr>
            </a:lvl9pPr>
          </a:lstStyle>
          <a:p xmlns:a="http://schemas.openxmlformats.org/drawingml/2006/main">
            <a:pPr>
              <a:defRPr sz="2550" b="1">
                <a:solidFill>
                  <a:srgbClr val="006D77"/>
                </a:solidFill>
                <a:latin typeface="Calibri"/>
                <a:ea typeface="Calibri"/>
                <a:cs typeface="Calibri"/>
              </a:defRPr>
            </a:pPr>
            <a:r>
              <a:rPr sz="2550" b="1">
                <a:solidFill>
                  <a:srgbClr val="006D77"/>
                </a:solidFill>
                <a:latin typeface="Calibri"/>
                <a:ea typeface="Calibri"/>
                <a:cs typeface="Calibri"/>
              </a:rPr>
              <a:t>Thank you · Questions</a:t>
            </a:r>
          </a:p>
        </p:txBody>
      </p:sp>
    </p:spTree>
    <p:extLst>
      <p:ext uri="{BB962C8B-B14F-4D97-AF65-F5344CB8AC3E}">
        <p14:creationId xmlns:p14="http://schemas.microsoft.com/office/powerpoint/2010/main" val="1923642691"/>
      </p:ext>
    </p:extLst>
  </p:cSld>
</p:sld>
</file>

<file path=ppt/slides/slide2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54A25F-803B-4800-A066-CB6F80705679}"/>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ADOPTED FOLD</a:t>
            </a:r>
          </a:p>
        </p:txBody>
      </p:sp>
      <p:sp>
        <p:nvSpPr>
          <p:cNvPr id="2" name="">
            <a:extLst xmlns:a="http://schemas.openxmlformats.org/drawingml/2006/main">
              <a:ext uri="{FF2B5EF4-FFF2-40B4-BE49-F238E27FC236}">
                <a16:creationId xmlns:a16="http://schemas.microsoft.com/office/drawing/2014/main" id="{AB2CE91D-8671-4BC0-B9EE-1D58DA5F4BA0}"/>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held-out flexor traces show the corrected torque trend</a:t>
            </a:r>
          </a:p>
        </p:txBody>
      </p:sp>
      <p:sp>
        <p:nvSpPr>
          <p:cNvPr id="3" name="">
            <a:extLst xmlns:a="http://schemas.openxmlformats.org/drawingml/2006/main">
              <a:ext uri="{FF2B5EF4-FFF2-40B4-BE49-F238E27FC236}">
                <a16:creationId xmlns:a16="http://schemas.microsoft.com/office/drawing/2014/main" id="{1546A737-3FCA-45CE-AECB-32263D96D12B}"/>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A244535E-BEFD-4533-9B6C-ECAD47AD81CD}"/>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158E184C-DA94-4E8C-8984-C463BD2D7E44}"/>
              </a:ext>
            </a:extLst>
          </p:cNvPr>
          <p:cNvPicPr>
            <a:picLocks xmlns:a="http://schemas.openxmlformats.org/drawingml/2006/main" noChangeAspect="1"/>
          </p:cNvPicPr>
          <p:nvPr/>
        </p:nvPicPr>
        <p:blipFill>
          <a:blip xmlns:r="http://schemas.openxmlformats.org/officeDocument/2006/relationships" xmlns:a="http://schemas.openxmlformats.org/drawingml/2006/main" r:embed="Ra29aad102e0844b0"/>
          <a:stretch xmlns:a="http://schemas.openxmlformats.org/drawingml/2006/main"/>
        </p:blipFill>
        <p:spPr>
          <a:xfrm xmlns:a="http://schemas.openxmlformats.org/drawingml/2006/main">
            <a:off x="1296080" y="1952625"/>
            <a:ext cx="3980089" cy="3714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03E4D32-6AF2-4FF6-A9D8-97320ECCEDD3}"/>
              </a:ext>
            </a:extLst>
          </p:cNvPr>
          <p:cNvPicPr>
            <a:picLocks xmlns:a="http://schemas.openxmlformats.org/drawingml/2006/main" noChangeAspect="1"/>
          </p:cNvPicPr>
          <p:nvPr/>
        </p:nvPicPr>
        <p:blipFill>
          <a:blip xmlns:r="http://schemas.openxmlformats.org/officeDocument/2006/relationships" xmlns:a="http://schemas.openxmlformats.org/drawingml/2006/main" r:embed="R5f3ecf5ba0fa405c"/>
          <a:stretch xmlns:a="http://schemas.openxmlformats.org/drawingml/2006/main"/>
        </p:blipFill>
        <p:spPr>
          <a:xfrm xmlns:a="http://schemas.openxmlformats.org/drawingml/2006/main">
            <a:off x="6671327" y="1952625"/>
            <a:ext cx="4278596"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42BD029-9F64-49EE-8944-F501B7A56325}"/>
              </a:ext>
            </a:extLst>
          </p:cNvPr>
          <p:cNvSpPr>
            <a:spLocks xmlns:a="http://schemas.openxmlformats.org/drawingml/2006/main" noGrp="1"/>
          </p:cNvSpPr>
          <p:nvPr/>
        </p:nvSpPr>
        <p:spPr>
          <a:xfrm xmlns:a="http://schemas.openxmlformats.org/drawingml/2006/main">
            <a:off x="571500" y="16383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xmlns:a="http://schemas.openxmlformats.org/drawingml/2006/main">
            <a:pPr>
              <a:defRPr sz="1800" b="1">
                <a:solidFill>
                  <a:srgbClr val="202C33"/>
                </a:solidFill>
                <a:latin typeface="Calibri"/>
                <a:ea typeface="Calibri"/>
                <a:cs typeface="Calibri"/>
              </a:defRPr>
            </a:pPr>
            <a:r>
              <a:rPr sz="1800" b="1">
                <a:solidFill>
                  <a:srgbClr val="202C33"/>
                </a:solidFill>
                <a:latin typeface="Calibri"/>
                <a:ea typeface="Calibri"/>
                <a:cs typeface="Calibri"/>
              </a:rPr>
              <a:t>Torque, N m</a:t>
            </a:r>
          </a:p>
        </p:txBody>
      </p:sp>
      <p:sp>
        <p:nvSpPr>
          <p:cNvPr id="8" name="">
            <a:extLst xmlns:a="http://schemas.openxmlformats.org/drawingml/2006/main">
              <a:ext uri="{FF2B5EF4-FFF2-40B4-BE49-F238E27FC236}">
                <a16:creationId xmlns:a16="http://schemas.microsoft.com/office/drawing/2014/main" id="{8E1BC039-B751-435C-B2CD-FA12D49809AF}"/>
              </a:ext>
            </a:extLst>
          </p:cNvPr>
          <p:cNvSpPr>
            <a:spLocks xmlns:a="http://schemas.openxmlformats.org/drawingml/2006/main" noGrp="1"/>
          </p:cNvSpPr>
          <p:nvPr/>
        </p:nvSpPr>
        <p:spPr>
          <a:xfrm xmlns:a="http://schemas.openxmlformats.org/drawingml/2006/main">
            <a:off x="762000" y="19526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xmlns:a="http://schemas.openxmlformats.org/drawingml/2006/main">
            <a:pPr>
              <a:defRPr sz="1800" b="1">
                <a:solidFill>
                  <a:srgbClr val="202C33"/>
                </a:solidFill>
                <a:latin typeface="Calibri"/>
                <a:ea typeface="Calibri"/>
                <a:cs typeface="Calibri"/>
              </a:defRPr>
            </a:pPr>
            <a:r>
              <a:rPr sz="1800" b="1">
                <a:solidFill>
                  <a:srgbClr val="202C33"/>
                </a:solidFill>
                <a:latin typeface="Calibri"/>
                <a:ea typeface="Calibri"/>
                <a:cs typeface="Calibri"/>
              </a:rPr>
              <a:t>(C)</a:t>
            </a:r>
          </a:p>
        </p:txBody>
      </p:sp>
      <p:sp>
        <p:nvSpPr>
          <p:cNvPr id="9" name="">
            <a:extLst xmlns:a="http://schemas.openxmlformats.org/drawingml/2006/main">
              <a:ext uri="{FF2B5EF4-FFF2-40B4-BE49-F238E27FC236}">
                <a16:creationId xmlns:a16="http://schemas.microsoft.com/office/drawing/2014/main" id="{2F8528B2-7CE3-44CB-B7AB-F720D6F4239A}"/>
              </a:ext>
            </a:extLst>
          </p:cNvPr>
          <p:cNvSpPr>
            <a:spLocks xmlns:a="http://schemas.openxmlformats.org/drawingml/2006/main" noGrp="1"/>
          </p:cNvSpPr>
          <p:nvPr/>
        </p:nvSpPr>
        <p:spPr>
          <a:xfrm xmlns:a="http://schemas.openxmlformats.org/drawingml/2006/main">
            <a:off x="6191250" y="19526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202C33"/>
                </a:solidFill>
                <a:latin typeface="Calibri"/>
                <a:ea typeface="Calibri"/>
                <a:cs typeface="Calibri"/>
              </a:defRPr>
            </a:defPPr>
            <a:lvl1pPr>
              <a:defRPr sz="1800" b="1">
                <a:solidFill>
                  <a:srgbClr val="202C33"/>
                </a:solidFill>
                <a:latin typeface="Calibri"/>
                <a:ea typeface="Calibri"/>
                <a:cs typeface="Calibri"/>
              </a:defRPr>
            </a:lvl1pPr>
            <a:lvl2pPr>
              <a:defRPr sz="1800" b="1">
                <a:solidFill>
                  <a:srgbClr val="202C33"/>
                </a:solidFill>
                <a:latin typeface="Calibri"/>
                <a:ea typeface="Calibri"/>
                <a:cs typeface="Calibri"/>
              </a:defRPr>
            </a:lvl2pPr>
            <a:lvl3pPr>
              <a:defRPr sz="1800" b="1">
                <a:solidFill>
                  <a:srgbClr val="202C33"/>
                </a:solidFill>
                <a:latin typeface="Calibri"/>
                <a:ea typeface="Calibri"/>
                <a:cs typeface="Calibri"/>
              </a:defRPr>
            </a:lvl3pPr>
            <a:lvl4pPr>
              <a:defRPr sz="1800" b="1">
                <a:solidFill>
                  <a:srgbClr val="202C33"/>
                </a:solidFill>
                <a:latin typeface="Calibri"/>
                <a:ea typeface="Calibri"/>
                <a:cs typeface="Calibri"/>
              </a:defRPr>
            </a:lvl4pPr>
            <a:lvl5pPr>
              <a:defRPr sz="1800" b="1">
                <a:solidFill>
                  <a:srgbClr val="202C33"/>
                </a:solidFill>
                <a:latin typeface="Calibri"/>
                <a:ea typeface="Calibri"/>
                <a:cs typeface="Calibri"/>
              </a:defRPr>
            </a:lvl5pPr>
            <a:lvl6pPr>
              <a:defRPr sz="1800" b="1">
                <a:solidFill>
                  <a:srgbClr val="202C33"/>
                </a:solidFill>
                <a:latin typeface="Calibri"/>
                <a:ea typeface="Calibri"/>
                <a:cs typeface="Calibri"/>
              </a:defRPr>
            </a:lvl6pPr>
            <a:lvl7pPr>
              <a:defRPr sz="1800" b="1">
                <a:solidFill>
                  <a:srgbClr val="202C33"/>
                </a:solidFill>
                <a:latin typeface="Calibri"/>
                <a:ea typeface="Calibri"/>
                <a:cs typeface="Calibri"/>
              </a:defRPr>
            </a:lvl7pPr>
            <a:lvl8pPr>
              <a:defRPr sz="1800" b="1">
                <a:solidFill>
                  <a:srgbClr val="202C33"/>
                </a:solidFill>
                <a:latin typeface="Calibri"/>
                <a:ea typeface="Calibri"/>
                <a:cs typeface="Calibri"/>
              </a:defRPr>
            </a:lvl8pPr>
            <a:lvl9pPr>
              <a:defRPr sz="1800" b="1">
                <a:solidFill>
                  <a:srgbClr val="202C33"/>
                </a:solidFill>
                <a:latin typeface="Calibri"/>
                <a:ea typeface="Calibri"/>
                <a:cs typeface="Calibri"/>
              </a:defRPr>
            </a:lvl9pPr>
          </a:lstStyle>
          <a:p xmlns:a="http://schemas.openxmlformats.org/drawingml/2006/main">
            <a:pPr>
              <a:defRPr sz="1800" b="1">
                <a:solidFill>
                  <a:srgbClr val="202C33"/>
                </a:solidFill>
                <a:latin typeface="Calibri"/>
                <a:ea typeface="Calibri"/>
                <a:cs typeface="Calibri"/>
              </a:defRPr>
            </a:pPr>
            <a:r>
              <a:rPr sz="1800" b="1">
                <a:solidFill>
                  <a:srgbClr val="202C33"/>
                </a:solidFill>
                <a:latin typeface="Calibri"/>
                <a:ea typeface="Calibri"/>
                <a:cs typeface="Calibri"/>
              </a:rPr>
              <a:t>(D)</a:t>
            </a:r>
          </a:p>
        </p:txBody>
      </p:sp>
      <p:sp>
        <p:nvSpPr>
          <p:cNvPr id="10" name="">
            <a:extLst xmlns:a="http://schemas.openxmlformats.org/drawingml/2006/main">
              <a:ext uri="{FF2B5EF4-FFF2-40B4-BE49-F238E27FC236}">
                <a16:creationId xmlns:a16="http://schemas.microsoft.com/office/drawing/2014/main" id="{FCD5EC9C-2FF6-4AA4-B7C3-7154631CAC6B}"/>
              </a:ext>
            </a:extLst>
          </p:cNvPr>
          <p:cNvSpPr>
            <a:spLocks xmlns:a="http://schemas.openxmlformats.org/drawingml/2006/main" noGrp="1"/>
          </p:cNvSpPr>
          <p:nvPr/>
        </p:nvSpPr>
        <p:spPr>
          <a:xfrm xmlns:a="http://schemas.openxmlformats.org/drawingml/2006/main">
            <a:off x="4524375" y="568642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02C33"/>
                </a:solidFill>
                <a:latin typeface="Calibri"/>
                <a:ea typeface="Calibri"/>
                <a:cs typeface="Calibri"/>
              </a:defRPr>
            </a:defPPr>
            <a:lvl1pPr>
              <a:defRPr sz="1800" b="0">
                <a:solidFill>
                  <a:srgbClr val="202C33"/>
                </a:solidFill>
                <a:latin typeface="Calibri"/>
                <a:ea typeface="Calibri"/>
                <a:cs typeface="Calibri"/>
              </a:defRPr>
            </a:lvl1pPr>
            <a:lvl2pPr>
              <a:defRPr sz="1800" b="0">
                <a:solidFill>
                  <a:srgbClr val="202C33"/>
                </a:solidFill>
                <a:latin typeface="Calibri"/>
                <a:ea typeface="Calibri"/>
                <a:cs typeface="Calibri"/>
              </a:defRPr>
            </a:lvl2pPr>
            <a:lvl3pPr>
              <a:defRPr sz="1800" b="0">
                <a:solidFill>
                  <a:srgbClr val="202C33"/>
                </a:solidFill>
                <a:latin typeface="Calibri"/>
                <a:ea typeface="Calibri"/>
                <a:cs typeface="Calibri"/>
              </a:defRPr>
            </a:lvl3pPr>
            <a:lvl4pPr>
              <a:defRPr sz="1800" b="0">
                <a:solidFill>
                  <a:srgbClr val="202C33"/>
                </a:solidFill>
                <a:latin typeface="Calibri"/>
                <a:ea typeface="Calibri"/>
                <a:cs typeface="Calibri"/>
              </a:defRPr>
            </a:lvl4pPr>
            <a:lvl5pPr>
              <a:defRPr sz="1800" b="0">
                <a:solidFill>
                  <a:srgbClr val="202C33"/>
                </a:solidFill>
                <a:latin typeface="Calibri"/>
                <a:ea typeface="Calibri"/>
                <a:cs typeface="Calibri"/>
              </a:defRPr>
            </a:lvl5pPr>
            <a:lvl6pPr>
              <a:defRPr sz="1800" b="0">
                <a:solidFill>
                  <a:srgbClr val="202C33"/>
                </a:solidFill>
                <a:latin typeface="Calibri"/>
                <a:ea typeface="Calibri"/>
                <a:cs typeface="Calibri"/>
              </a:defRPr>
            </a:lvl6pPr>
            <a:lvl7pPr>
              <a:defRPr sz="1800" b="0">
                <a:solidFill>
                  <a:srgbClr val="202C33"/>
                </a:solidFill>
                <a:latin typeface="Calibri"/>
                <a:ea typeface="Calibri"/>
                <a:cs typeface="Calibri"/>
              </a:defRPr>
            </a:lvl7pPr>
            <a:lvl8pPr>
              <a:defRPr sz="1800" b="0">
                <a:solidFill>
                  <a:srgbClr val="202C33"/>
                </a:solidFill>
                <a:latin typeface="Calibri"/>
                <a:ea typeface="Calibri"/>
                <a:cs typeface="Calibri"/>
              </a:defRPr>
            </a:lvl8pPr>
            <a:lvl9pPr>
              <a:defRPr sz="1800" b="0">
                <a:solidFill>
                  <a:srgbClr val="202C33"/>
                </a:solidFill>
                <a:latin typeface="Calibri"/>
                <a:ea typeface="Calibri"/>
                <a:cs typeface="Calibri"/>
              </a:defRPr>
            </a:lvl9pPr>
          </a:lstStyle>
          <a:p xmlns:a="http://schemas.openxmlformats.org/drawingml/2006/main">
            <a:pPr>
              <a:defRPr sz="1800" b="0">
                <a:solidFill>
                  <a:srgbClr val="202C33"/>
                </a:solidFill>
                <a:latin typeface="Calibri"/>
                <a:ea typeface="Calibri"/>
                <a:cs typeface="Calibri"/>
              </a:defRPr>
            </a:pPr>
            <a:r>
              <a:rPr sz="1800" b="0">
                <a:solidFill>
                  <a:srgbClr val="202C33"/>
                </a:solidFill>
                <a:latin typeface="Calibri"/>
                <a:ea typeface="Calibri"/>
                <a:cs typeface="Calibri"/>
              </a:rPr>
              <a:t>Knee angle, deg</a:t>
            </a:r>
          </a:p>
        </p:txBody>
      </p:sp>
      <p:sp>
        <p:nvSpPr>
          <p:cNvPr id="11" name="">
            <a:extLst xmlns:a="http://schemas.openxmlformats.org/drawingml/2006/main">
              <a:ext uri="{FF2B5EF4-FFF2-40B4-BE49-F238E27FC236}">
                <a16:creationId xmlns:a16="http://schemas.microsoft.com/office/drawing/2014/main" id="{7F65A71E-6A87-47E2-9A54-E6B1E7AAE631}"/>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Held-out mean RMSE: 7.588 to 1.490 N m</a:t>
            </a:r>
          </a:p>
        </p:txBody>
      </p:sp>
    </p:spTree>
    <p:extLst>
      <p:ext uri="{BB962C8B-B14F-4D97-AF65-F5344CB8AC3E}">
        <p14:creationId xmlns:p14="http://schemas.microsoft.com/office/powerpoint/2010/main" val="42411693"/>
      </p:ext>
    </p:extLst>
  </p:cSld>
</p:sld>
</file>

<file path=ppt/slides/slide2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D6630B-6BB8-44A4-850A-2C7DFCE55D96}"/>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IDENTIFICATION SCOPE</a:t>
            </a:r>
          </a:p>
        </p:txBody>
      </p:sp>
      <p:sp>
        <p:nvSpPr>
          <p:cNvPr id="2" name="">
            <a:extLst xmlns:a="http://schemas.openxmlformats.org/drawingml/2006/main">
              <a:ext uri="{FF2B5EF4-FFF2-40B4-BE49-F238E27FC236}">
                <a16:creationId xmlns:a16="http://schemas.microsoft.com/office/drawing/2014/main" id="{710BD1FF-88BD-4B1F-A2D9-4563A24D6168}"/>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adopted identification reserves tests in each configuration</a:t>
            </a:r>
          </a:p>
        </p:txBody>
      </p:sp>
      <p:sp>
        <p:nvSpPr>
          <p:cNvPr id="3" name="">
            <a:extLst xmlns:a="http://schemas.openxmlformats.org/drawingml/2006/main">
              <a:ext uri="{FF2B5EF4-FFF2-40B4-BE49-F238E27FC236}">
                <a16:creationId xmlns:a16="http://schemas.microsoft.com/office/drawing/2014/main" id="{2159AC94-7DE0-4F53-9FC0-C036E28FA156}"/>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4 · Current knee-torque manuscript, §§3–4</a:t>
            </a:r>
          </a:p>
        </p:txBody>
      </p:sp>
      <p:sp>
        <p:nvSpPr>
          <p:cNvPr id="4" name="">
            <a:extLst xmlns:a="http://schemas.openxmlformats.org/drawingml/2006/main">
              <a:ext uri="{FF2B5EF4-FFF2-40B4-BE49-F238E27FC236}">
                <a16:creationId xmlns:a16="http://schemas.microsoft.com/office/drawing/2014/main" id="{C723B865-9A5F-4565-BFFF-55318B6CD6D8}"/>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04F74F3C-88EA-4F0F-98C9-FE7002C86DF8}"/>
              </a:ext>
            </a:extLst>
          </p:cNvPr>
          <p:cNvGraphicFramePr/>
          <p:nvPr/>
        </p:nvGraphicFramePr>
        <p:xfrm>
          <a:off xmlns:a="http://schemas.openxmlformats.org/drawingml/2006/main" x="571500" y="2095500"/>
          <a:ext xmlns:a="http://schemas.openxmlformats.org/drawingml/2006/main" cx="11049000" cy="2381250"/>
        </p:xfrm>
        <a:graphic xmlns:a="http://schemas.openxmlformats.org/drawingml/2006/main">
          <a:graphicData uri="http://schemas.openxmlformats.org/drawingml/2006/table">
            <a:tbl>
              <a:tblPr/>
              <a:tblGrid>
                <a:gridCol w="2762250"/>
                <a:gridCol w="2762250"/>
                <a:gridCol w="2762250"/>
                <a:gridCol w="2762250"/>
              </a:tblGrid>
              <a:tr h="793750">
                <a:tc>
                  <a:txBody>
                    <a:bodyPr/>
                    <a:lstStyle/>
                    <a:p>
                      <a:r>
                        <a:rPr sz="2250" b="1">
                          <a:solidFill>
                            <a:srgbClr val="006D77"/>
                          </a:solidFill>
                          <a:latin typeface="Calibri"/>
                          <a:ea typeface="Calibri"/>
                          <a:cs typeface="Calibri"/>
                        </a:rPr>
                        <a:t>Configuration</a:t>
                      </a:r>
                    </a:p>
                  </a:txBody>
                  <a:tcPr marL="91440" marR="91440" marT="45720" marB="45720">
                    <a:solidFill>
                      <a:srgbClr val="FFFFFF"/>
                    </a:solidFill>
                  </a:tcPr>
                </a:tc>
                <a:tc>
                  <a:txBody>
                    <a:bodyPr/>
                    <a:lstStyle/>
                    <a:p>
                      <a:r>
                        <a:rPr sz="2250" b="1">
                          <a:solidFill>
                            <a:srgbClr val="006D77"/>
                          </a:solidFill>
                          <a:latin typeface="Calibri"/>
                          <a:ea typeface="Calibri"/>
                          <a:cs typeface="Calibri"/>
                        </a:rPr>
                        <a:t>Training</a:t>
                      </a:r>
                    </a:p>
                  </a:txBody>
                  <a:tcPr marL="91440" marR="91440" marT="45720" marB="45720">
                    <a:solidFill>
                      <a:srgbClr val="FFFFFF"/>
                    </a:solidFill>
                  </a:tcPr>
                </a:tc>
                <a:tc>
                  <a:txBody>
                    <a:bodyPr/>
                    <a:lstStyle/>
                    <a:p>
                      <a:r>
                        <a:rPr sz="2250" b="1">
                          <a:solidFill>
                            <a:srgbClr val="006D77"/>
                          </a:solidFill>
                          <a:latin typeface="Calibri"/>
                          <a:ea typeface="Calibri"/>
                          <a:cs typeface="Calibri"/>
                        </a:rPr>
                        <a:t>Held out</a:t>
                      </a:r>
                    </a:p>
                  </a:txBody>
                  <a:tcPr marL="91440" marR="91440" marT="45720" marB="45720">
                    <a:solidFill>
                      <a:srgbClr val="FFFFFF"/>
                    </a:solidFill>
                  </a:tcPr>
                </a:tc>
                <a:tc>
                  <a:txBody>
                    <a:bodyPr/>
                    <a:lstStyle/>
                    <a:p>
                      <a:r>
                        <a:rPr sz="2250" b="1">
                          <a:solidFill>
                            <a:srgbClr val="006D77"/>
                          </a:solidFill>
                          <a:latin typeface="Calibri"/>
                          <a:ea typeface="Calibri"/>
                          <a:cs typeface="Calibri"/>
                        </a:rPr>
                        <a:t>Not used</a:t>
                      </a:r>
                    </a:p>
                  </a:txBody>
                  <a:tcPr marL="91440" marR="91440" marT="45720" marB="45720">
                    <a:solidFill>
                      <a:srgbClr val="FFFFFF"/>
                    </a:solidFill>
                  </a:tcPr>
                </a:tc>
              </a:tr>
              <a:tr h="793750">
                <a:tc>
                  <a:txBody>
                    <a:bodyPr/>
                    <a:lstStyle/>
                    <a:p>
                      <a:r>
                        <a:rPr sz="2250" b="0">
                          <a:solidFill>
                            <a:srgbClr val="202C33"/>
                          </a:solidFill>
                          <a:latin typeface="Calibri"/>
                          <a:ea typeface="Calibri"/>
                          <a:cs typeface="Calibri"/>
                        </a:rPr>
                        <a:t>Pinned flexor</a:t>
                      </a:r>
                    </a:p>
                  </a:txBody>
                  <a:tcPr marL="91440" marR="91440" marT="45720" marB="45720">
                    <a:solidFill>
                      <a:srgbClr val="FFFFFF"/>
                    </a:solidFill>
                  </a:tcPr>
                </a:tc>
                <a:tc>
                  <a:txBody>
                    <a:bodyPr/>
                    <a:lstStyle/>
                    <a:p>
                      <a:r>
                        <a:rPr sz="2250" b="0">
                          <a:solidFill>
                            <a:srgbClr val="202C33"/>
                          </a:solidFill>
                          <a:latin typeface="Calibri"/>
                          <a:ea typeface="Calibri"/>
                          <a:cs typeface="Calibri"/>
                        </a:rPr>
                        <a:t>2</a:t>
                      </a:r>
                    </a:p>
                  </a:txBody>
                  <a:tcPr marL="91440" marR="91440" marT="45720" marB="45720">
                    <a:solidFill>
                      <a:srgbClr val="FFFFFF"/>
                    </a:solidFill>
                  </a:tcPr>
                </a:tc>
                <a:tc>
                  <a:txBody>
                    <a:bodyPr/>
                    <a:lstStyle/>
                    <a:p>
                      <a:r>
                        <a:rPr sz="2250" b="0">
                          <a:solidFill>
                            <a:srgbClr val="202C33"/>
                          </a:solidFill>
                          <a:latin typeface="Calibri"/>
                          <a:ea typeface="Calibri"/>
                          <a:cs typeface="Calibri"/>
                        </a:rPr>
                        <a:t>2</a:t>
                      </a:r>
                    </a:p>
                  </a:txBody>
                  <a:tcPr marL="91440" marR="91440" marT="45720" marB="45720">
                    <a:solidFill>
                      <a:srgbClr val="FFFFFF"/>
                    </a:solidFill>
                  </a:tcPr>
                </a:tc>
                <a:tc>
                  <a:txBody>
                    <a:bodyPr/>
                    <a:lstStyle/>
                    <a:p>
                      <a:r>
                        <a:rPr sz="2250" b="0">
                          <a:solidFill>
                            <a:srgbClr val="202C33"/>
                          </a:solidFill>
                          <a:latin typeface="Calibri"/>
                          <a:ea typeface="Calibri"/>
                          <a:cs typeface="Calibri"/>
                        </a:rPr>
                        <a:t>1</a:t>
                      </a:r>
                    </a:p>
                  </a:txBody>
                  <a:tcPr marL="91440" marR="91440" marT="45720" marB="45720">
                    <a:solidFill>
                      <a:srgbClr val="FFFFFF"/>
                    </a:solidFill>
                  </a:tcPr>
                </a:tc>
              </a:tr>
              <a:tr h="793750">
                <a:tc>
                  <a:txBody>
                    <a:bodyPr/>
                    <a:lstStyle/>
                    <a:p>
                      <a:r>
                        <a:rPr sz="2250" b="0">
                          <a:solidFill>
                            <a:srgbClr val="202C33"/>
                          </a:solidFill>
                          <a:latin typeface="Calibri"/>
                          <a:ea typeface="Calibri"/>
                          <a:cs typeface="Calibri"/>
                        </a:rPr>
                        <a:t>Pinned extensor</a:t>
                      </a:r>
                    </a:p>
                  </a:txBody>
                  <a:tcPr marL="91440" marR="91440" marT="45720" marB="45720">
                    <a:solidFill>
                      <a:srgbClr val="FFFFFF"/>
                    </a:solidFill>
                  </a:tcPr>
                </a:tc>
                <a:tc>
                  <a:txBody>
                    <a:bodyPr/>
                    <a:lstStyle/>
                    <a:p>
                      <a:r>
                        <a:rPr sz="2250" b="0">
                          <a:solidFill>
                            <a:srgbClr val="202C33"/>
                          </a:solidFill>
                          <a:latin typeface="Calibri"/>
                          <a:ea typeface="Calibri"/>
                          <a:cs typeface="Calibri"/>
                        </a:rPr>
                        <a:t>3</a:t>
                      </a:r>
                    </a:p>
                  </a:txBody>
                  <a:tcPr marL="91440" marR="91440" marT="45720" marB="45720">
                    <a:solidFill>
                      <a:srgbClr val="FFFFFF"/>
                    </a:solidFill>
                  </a:tcPr>
                </a:tc>
                <a:tc>
                  <a:txBody>
                    <a:bodyPr/>
                    <a:lstStyle/>
                    <a:p>
                      <a:r>
                        <a:rPr sz="2250" b="0">
                          <a:solidFill>
                            <a:srgbClr val="202C33"/>
                          </a:solidFill>
                          <a:latin typeface="Calibri"/>
                          <a:ea typeface="Calibri"/>
                          <a:cs typeface="Calibri"/>
                        </a:rPr>
                        <a:t>3</a:t>
                      </a:r>
                    </a:p>
                  </a:txBody>
                  <a:tcPr marL="91440" marR="91440" marT="45720" marB="45720">
                    <a:solidFill>
                      <a:srgbClr val="FFFFFF"/>
                    </a:solidFill>
                  </a:tcPr>
                </a:tc>
                <a:tc>
                  <a:txBody>
                    <a:bodyPr/>
                    <a:lstStyle/>
                    <a:p>
                      <a:r>
                        <a:rPr sz="2250" b="0">
                          <a:solidFill>
                            <a:srgbClr val="202C33"/>
                          </a:solidFill>
                          <a:latin typeface="Calibri"/>
                          <a:ea typeface="Calibri"/>
                          <a:cs typeface="Calibri"/>
                        </a:rPr>
                        <a:t>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CD5CCEF-7FDC-4602-AC65-9F52567E85AA}"/>
              </a:ext>
            </a:extLst>
          </p:cNvPr>
          <p:cNvSpPr>
            <a:spLocks xmlns:a="http://schemas.openxmlformats.org/drawingml/2006/main" noGrp="1"/>
          </p:cNvSpPr>
          <p:nvPr/>
        </p:nvSpPr>
        <p:spPr>
          <a:xfrm xmlns:a="http://schemas.openxmlformats.org/drawingml/2006/main">
            <a:off x="571500" y="50482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6D77"/>
                </a:solidFill>
                <a:latin typeface="Calibri"/>
                <a:ea typeface="Calibri"/>
                <a:cs typeface="Calibri"/>
              </a:defRPr>
            </a:defPPr>
            <a:lvl1pPr>
              <a:defRPr sz="2250" b="1">
                <a:solidFill>
                  <a:srgbClr val="006D77"/>
                </a:solidFill>
                <a:latin typeface="Calibri"/>
                <a:ea typeface="Calibri"/>
                <a:cs typeface="Calibri"/>
              </a:defRPr>
            </a:lvl1pPr>
            <a:lvl2pPr>
              <a:defRPr sz="2250" b="1">
                <a:solidFill>
                  <a:srgbClr val="006D77"/>
                </a:solidFill>
                <a:latin typeface="Calibri"/>
                <a:ea typeface="Calibri"/>
                <a:cs typeface="Calibri"/>
              </a:defRPr>
            </a:lvl2pPr>
            <a:lvl3pPr>
              <a:defRPr sz="2250" b="1">
                <a:solidFill>
                  <a:srgbClr val="006D77"/>
                </a:solidFill>
                <a:latin typeface="Calibri"/>
                <a:ea typeface="Calibri"/>
                <a:cs typeface="Calibri"/>
              </a:defRPr>
            </a:lvl3pPr>
            <a:lvl4pPr>
              <a:defRPr sz="2250" b="1">
                <a:solidFill>
                  <a:srgbClr val="006D77"/>
                </a:solidFill>
                <a:latin typeface="Calibri"/>
                <a:ea typeface="Calibri"/>
                <a:cs typeface="Calibri"/>
              </a:defRPr>
            </a:lvl4pPr>
            <a:lvl5pPr>
              <a:defRPr sz="2250" b="1">
                <a:solidFill>
                  <a:srgbClr val="006D77"/>
                </a:solidFill>
                <a:latin typeface="Calibri"/>
                <a:ea typeface="Calibri"/>
                <a:cs typeface="Calibri"/>
              </a:defRPr>
            </a:lvl5pPr>
            <a:lvl6pPr>
              <a:defRPr sz="2250" b="1">
                <a:solidFill>
                  <a:srgbClr val="006D77"/>
                </a:solidFill>
                <a:latin typeface="Calibri"/>
                <a:ea typeface="Calibri"/>
                <a:cs typeface="Calibri"/>
              </a:defRPr>
            </a:lvl6pPr>
            <a:lvl7pPr>
              <a:defRPr sz="2250" b="1">
                <a:solidFill>
                  <a:srgbClr val="006D77"/>
                </a:solidFill>
                <a:latin typeface="Calibri"/>
                <a:ea typeface="Calibri"/>
                <a:cs typeface="Calibri"/>
              </a:defRPr>
            </a:lvl7pPr>
            <a:lvl8pPr>
              <a:defRPr sz="2250" b="1">
                <a:solidFill>
                  <a:srgbClr val="006D77"/>
                </a:solidFill>
                <a:latin typeface="Calibri"/>
                <a:ea typeface="Calibri"/>
                <a:cs typeface="Calibri"/>
              </a:defRPr>
            </a:lvl8pPr>
            <a:lvl9pPr>
              <a:defRPr sz="2250" b="1">
                <a:solidFill>
                  <a:srgbClr val="006D77"/>
                </a:solidFill>
                <a:latin typeface="Calibri"/>
                <a:ea typeface="Calibri"/>
                <a:cs typeface="Calibri"/>
              </a:defRPr>
            </a:lvl9pPr>
          </a:lstStyle>
          <a:p xmlns:a="http://schemas.openxmlformats.org/drawingml/2006/main">
            <a:pPr>
              <a:defRPr sz="2250" b="1">
                <a:solidFill>
                  <a:srgbClr val="006D77"/>
                </a:solidFill>
                <a:latin typeface="Calibri"/>
                <a:ea typeface="Calibri"/>
                <a:cs typeface="Calibri"/>
              </a:defRPr>
            </a:pPr>
            <a:r>
              <a:rPr sz="2250" b="1">
                <a:solidFill>
                  <a:srgbClr val="006D77"/>
                </a:solidFill>
                <a:latin typeface="Calibri"/>
                <a:ea typeface="Calibri"/>
                <a:cs typeface="Calibri"/>
              </a:rPr>
              <a:t>Shared effective stiffness pair: χ₁ = 39.98, χ₂ = 14.73 kN/m</a:t>
            </a:r>
          </a:p>
        </p:txBody>
      </p:sp>
    </p:spTree>
    <p:extLst>
      <p:ext uri="{BB962C8B-B14F-4D97-AF65-F5344CB8AC3E}">
        <p14:creationId xmlns:p14="http://schemas.microsoft.com/office/powerpoint/2010/main" val="2009281294"/>
      </p:ext>
    </p:extLst>
  </p:cSld>
</p:sld>
</file>

<file path=ppt/slides/slide2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547020-814D-4BC3-956F-7ED62FB6E562}"/>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RECORDED ACTUATOR DIMENSIONS</a:t>
            </a:r>
          </a:p>
        </p:txBody>
      </p:sp>
      <p:sp>
        <p:nvSpPr>
          <p:cNvPr id="2" name="">
            <a:extLst xmlns:a="http://schemas.openxmlformats.org/drawingml/2006/main">
              <a:ext uri="{FF2B5EF4-FFF2-40B4-BE49-F238E27FC236}">
                <a16:creationId xmlns:a16="http://schemas.microsoft.com/office/drawing/2014/main" id="{D254F24C-08FB-497F-A839-50FC8CA3FC2B}"/>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Physical dimensions differ from prediction settings</a:t>
            </a:r>
          </a:p>
        </p:txBody>
      </p:sp>
      <p:sp>
        <p:nvSpPr>
          <p:cNvPr id="3" name="">
            <a:extLst xmlns:a="http://schemas.openxmlformats.org/drawingml/2006/main">
              <a:ext uri="{FF2B5EF4-FFF2-40B4-BE49-F238E27FC236}">
                <a16:creationId xmlns:a16="http://schemas.microsoft.com/office/drawing/2014/main" id="{F3E97755-D161-435B-A7EE-467A31671395}"/>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Torque manuscript, Physical Tests · Dissertation Appendix C dimensions</a:t>
            </a:r>
          </a:p>
        </p:txBody>
      </p:sp>
      <p:sp>
        <p:nvSpPr>
          <p:cNvPr id="4" name="">
            <a:extLst xmlns:a="http://schemas.openxmlformats.org/drawingml/2006/main">
              <a:ext uri="{FF2B5EF4-FFF2-40B4-BE49-F238E27FC236}">
                <a16:creationId xmlns:a16="http://schemas.microsoft.com/office/drawing/2014/main" id="{A824D62B-9FC4-48D9-88A2-5941980F3800}"/>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50353C72-9128-4C0C-83A0-251D788D2F94}"/>
              </a:ext>
            </a:extLst>
          </p:cNvPr>
          <p:cNvGraphicFramePr/>
          <p:nvPr/>
        </p:nvGraphicFramePr>
        <p:xfrm>
          <a:off xmlns:a="http://schemas.openxmlformats.org/drawingml/2006/main" x="571500" y="1809750"/>
          <a:ext xmlns:a="http://schemas.openxmlformats.org/drawingml/2006/main" cx="11049000" cy="3190875"/>
        </p:xfrm>
        <a:graphic xmlns:a="http://schemas.openxmlformats.org/drawingml/2006/main">
          <a:graphicData uri="http://schemas.openxmlformats.org/drawingml/2006/table">
            <a:tbl>
              <a:tblPr/>
              <a:tblGrid>
                <a:gridCol w="3683000"/>
                <a:gridCol w="3683000"/>
                <a:gridCol w="3683000"/>
              </a:tblGrid>
              <a:tr h="638175">
                <a:tc>
                  <a:txBody>
                    <a:bodyPr/>
                    <a:lstStyle/>
                    <a:p>
                      <a:r>
                        <a:rPr sz="2100" b="1">
                          <a:solidFill>
                            <a:srgbClr val="006D77"/>
                          </a:solidFill>
                          <a:latin typeface="Calibri"/>
                          <a:ea typeface="Calibri"/>
                          <a:cs typeface="Calibri"/>
                        </a:rPr>
                        <a:t>Actuator</a:t>
                      </a:r>
                    </a:p>
                  </a:txBody>
                  <a:tcPr marL="91440" marR="91440" marT="45720" marB="45720">
                    <a:solidFill>
                      <a:srgbClr val="FFFFFF"/>
                    </a:solidFill>
                  </a:tcPr>
                </a:tc>
                <a:tc>
                  <a:txBody>
                    <a:bodyPr/>
                    <a:lstStyle/>
                    <a:p>
                      <a:r>
                        <a:rPr sz="2100" b="1">
                          <a:solidFill>
                            <a:srgbClr val="006D77"/>
                          </a:solidFill>
                          <a:latin typeface="Calibri"/>
                          <a:ea typeface="Calibri"/>
                          <a:cs typeface="Calibri"/>
                        </a:rPr>
                        <a:t>Resting length, mm</a:t>
                      </a:r>
                    </a:p>
                  </a:txBody>
                  <a:tcPr marL="91440" marR="91440" marT="45720" marB="45720">
                    <a:solidFill>
                      <a:srgbClr val="FFFFFF"/>
                    </a:solidFill>
                  </a:tcPr>
                </a:tc>
                <a:tc>
                  <a:txBody>
                    <a:bodyPr/>
                    <a:lstStyle/>
                    <a:p>
                      <a:r>
                        <a:rPr sz="2100" b="1">
                          <a:solidFill>
                            <a:srgbClr val="006D77"/>
                          </a:solidFill>
                          <a:latin typeface="Calibri"/>
                          <a:ea typeface="Calibri"/>
                          <a:cs typeface="Calibri"/>
                        </a:rPr>
                        <a:t>Tendon length, mm</a:t>
                      </a:r>
                    </a:p>
                  </a:txBody>
                  <a:tcPr marL="91440" marR="91440" marT="45720" marB="45720">
                    <a:solidFill>
                      <a:srgbClr val="FFFFFF"/>
                    </a:solidFill>
                  </a:tcPr>
                </a:tc>
              </a:tr>
              <a:tr h="638175">
                <a:tc>
                  <a:txBody>
                    <a:bodyPr/>
                    <a:lstStyle/>
                    <a:p>
                      <a:r>
                        <a:rPr sz="2100" b="0">
                          <a:solidFill>
                            <a:srgbClr val="202C33"/>
                          </a:solidFill>
                          <a:latin typeface="Calibri"/>
                          <a:ea typeface="Calibri"/>
                          <a:cs typeface="Calibri"/>
                        </a:rPr>
                        <a:t>Flexor 1</a:t>
                      </a:r>
                    </a:p>
                  </a:txBody>
                  <a:tcPr marL="91440" marR="91440" marT="45720" marB="45720">
                    <a:solidFill>
                      <a:srgbClr val="FFFFFF"/>
                    </a:solidFill>
                  </a:tcPr>
                </a:tc>
                <a:tc>
                  <a:txBody>
                    <a:bodyPr/>
                    <a:lstStyle/>
                    <a:p>
                      <a:r>
                        <a:rPr sz="2100" b="0">
                          <a:solidFill>
                            <a:srgbClr val="202C33"/>
                          </a:solidFill>
                          <a:latin typeface="Calibri"/>
                          <a:ea typeface="Calibri"/>
                          <a:cs typeface="Calibri"/>
                        </a:rPr>
                        <a:t>561</a:t>
                      </a:r>
                    </a:p>
                  </a:txBody>
                  <a:tcPr marL="91440" marR="91440" marT="45720" marB="45720">
                    <a:solidFill>
                      <a:srgbClr val="FFFFFF"/>
                    </a:solidFill>
                  </a:tcPr>
                </a:tc>
                <a:tc>
                  <a:txBody>
                    <a:bodyPr/>
                    <a:lstStyle/>
                    <a:p>
                      <a:r>
                        <a:rPr sz="2100" b="0">
                          <a:solidFill>
                            <a:srgbClr val="202C33"/>
                          </a:solidFill>
                          <a:latin typeface="Calibri"/>
                          <a:ea typeface="Calibri"/>
                          <a:cs typeface="Calibri"/>
                        </a:rPr>
                        <a:t>28</a:t>
                      </a:r>
                    </a:p>
                  </a:txBody>
                  <a:tcPr marL="91440" marR="91440" marT="45720" marB="45720">
                    <a:solidFill>
                      <a:srgbClr val="FFFFFF"/>
                    </a:solidFill>
                  </a:tcPr>
                </a:tc>
              </a:tr>
              <a:tr h="638175">
                <a:tc>
                  <a:txBody>
                    <a:bodyPr/>
                    <a:lstStyle/>
                    <a:p>
                      <a:r>
                        <a:rPr sz="2100" b="0">
                          <a:solidFill>
                            <a:srgbClr val="202C33"/>
                          </a:solidFill>
                          <a:latin typeface="Calibri"/>
                          <a:ea typeface="Calibri"/>
                          <a:cs typeface="Calibri"/>
                        </a:rPr>
                        <a:t>Flexor 2</a:t>
                      </a:r>
                    </a:p>
                  </a:txBody>
                  <a:tcPr marL="91440" marR="91440" marT="45720" marB="45720">
                    <a:solidFill>
                      <a:srgbClr val="FFFFFF"/>
                    </a:solidFill>
                  </a:tcPr>
                </a:tc>
                <a:tc>
                  <a:txBody>
                    <a:bodyPr/>
                    <a:lstStyle/>
                    <a:p>
                      <a:r>
                        <a:rPr sz="2100" b="0">
                          <a:solidFill>
                            <a:srgbClr val="202C33"/>
                          </a:solidFill>
                          <a:latin typeface="Calibri"/>
                          <a:ea typeface="Calibri"/>
                          <a:cs typeface="Calibri"/>
                        </a:rPr>
                        <a:t>560</a:t>
                      </a:r>
                    </a:p>
                  </a:txBody>
                  <a:tcPr marL="91440" marR="91440" marT="45720" marB="45720">
                    <a:solidFill>
                      <a:srgbClr val="FFFFFF"/>
                    </a:solidFill>
                  </a:tcPr>
                </a:tc>
                <a:tc>
                  <a:txBody>
                    <a:bodyPr/>
                    <a:lstStyle/>
                    <a:p>
                      <a:r>
                        <a:rPr sz="2100" b="0">
                          <a:solidFill>
                            <a:srgbClr val="202C33"/>
                          </a:solidFill>
                          <a:latin typeface="Calibri"/>
                          <a:ea typeface="Calibri"/>
                          <a:cs typeface="Calibri"/>
                        </a:rPr>
                        <a:t>30</a:t>
                      </a:r>
                    </a:p>
                  </a:txBody>
                  <a:tcPr marL="91440" marR="91440" marT="45720" marB="45720">
                    <a:solidFill>
                      <a:srgbClr val="FFFFFF"/>
                    </a:solidFill>
                  </a:tcPr>
                </a:tc>
              </a:tr>
              <a:tr h="638175">
                <a:tc>
                  <a:txBody>
                    <a:bodyPr/>
                    <a:lstStyle/>
                    <a:p>
                      <a:r>
                        <a:rPr sz="2100" b="0">
                          <a:solidFill>
                            <a:srgbClr val="202C33"/>
                          </a:solidFill>
                          <a:latin typeface="Calibri"/>
                          <a:ea typeface="Calibri"/>
                          <a:cs typeface="Calibri"/>
                        </a:rPr>
                        <a:t>Extensor 1</a:t>
                      </a:r>
                    </a:p>
                  </a:txBody>
                  <a:tcPr marL="91440" marR="91440" marT="45720" marB="45720">
                    <a:solidFill>
                      <a:srgbClr val="FFFFFF"/>
                    </a:solidFill>
                  </a:tcPr>
                </a:tc>
                <a:tc>
                  <a:txBody>
                    <a:bodyPr/>
                    <a:lstStyle/>
                    <a:p>
                      <a:r>
                        <a:rPr sz="2100" b="0">
                          <a:solidFill>
                            <a:srgbClr val="202C33"/>
                          </a:solidFill>
                          <a:latin typeface="Calibri"/>
                          <a:ea typeface="Calibri"/>
                          <a:cs typeface="Calibri"/>
                        </a:rPr>
                        <a:t>828</a:t>
                      </a:r>
                    </a:p>
                  </a:txBody>
                  <a:tcPr marL="91440" marR="91440" marT="45720" marB="45720">
                    <a:solidFill>
                      <a:srgbClr val="FFFFFF"/>
                    </a:solidFill>
                  </a:tcPr>
                </a:tc>
                <a:tc>
                  <a:txBody>
                    <a:bodyPr/>
                    <a:lstStyle/>
                    <a:p>
                      <a:r>
                        <a:rPr sz="2100" b="0">
                          <a:solidFill>
                            <a:srgbClr val="202C33"/>
                          </a:solidFill>
                          <a:latin typeface="Calibri"/>
                          <a:ea typeface="Calibri"/>
                          <a:cs typeface="Calibri"/>
                        </a:rPr>
                        <a:t>92</a:t>
                      </a:r>
                    </a:p>
                  </a:txBody>
                  <a:tcPr marL="91440" marR="91440" marT="45720" marB="45720">
                    <a:solidFill>
                      <a:srgbClr val="FFFFFF"/>
                    </a:solidFill>
                  </a:tcPr>
                </a:tc>
              </a:tr>
              <a:tr h="638175">
                <a:tc>
                  <a:txBody>
                    <a:bodyPr/>
                    <a:lstStyle/>
                    <a:p>
                      <a:r>
                        <a:rPr sz="2100" b="0">
                          <a:solidFill>
                            <a:srgbClr val="202C33"/>
                          </a:solidFill>
                          <a:latin typeface="Calibri"/>
                          <a:ea typeface="Calibri"/>
                          <a:cs typeface="Calibri"/>
                        </a:rPr>
                        <a:t>Extensor 2</a:t>
                      </a:r>
                    </a:p>
                  </a:txBody>
                  <a:tcPr marL="91440" marR="91440" marT="45720" marB="45720">
                    <a:solidFill>
                      <a:srgbClr val="FFFFFF"/>
                    </a:solidFill>
                  </a:tcPr>
                </a:tc>
                <a:tc>
                  <a:txBody>
                    <a:bodyPr/>
                    <a:lstStyle/>
                    <a:p>
                      <a:r>
                        <a:rPr sz="2100" b="0">
                          <a:solidFill>
                            <a:srgbClr val="202C33"/>
                          </a:solidFill>
                          <a:latin typeface="Calibri"/>
                          <a:ea typeface="Calibri"/>
                          <a:cs typeface="Calibri"/>
                        </a:rPr>
                        <a:t>826</a:t>
                      </a:r>
                    </a:p>
                  </a:txBody>
                  <a:tcPr marL="91440" marR="91440" marT="45720" marB="45720">
                    <a:solidFill>
                      <a:srgbClr val="FFFFFF"/>
                    </a:solidFill>
                  </a:tcPr>
                </a:tc>
                <a:tc>
                  <a:txBody>
                    <a:bodyPr/>
                    <a:lstStyle/>
                    <a:p>
                      <a:r>
                        <a:rPr sz="2100" b="0">
                          <a:solidFill>
                            <a:srgbClr val="202C33"/>
                          </a:solidFill>
                          <a:latin typeface="Calibri"/>
                          <a:ea typeface="Calibri"/>
                          <a:cs typeface="Calibri"/>
                        </a:rPr>
                        <a:t>85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5376E3-A41D-4D0E-8F57-599673DAF15D}"/>
              </a:ext>
            </a:extLst>
          </p:cNvPr>
          <p:cNvSpPr>
            <a:spLocks xmlns:a="http://schemas.openxmlformats.org/drawingml/2006/main" noGrp="1"/>
          </p:cNvSpPr>
          <p:nvPr/>
        </p:nvSpPr>
        <p:spPr>
          <a:xfrm xmlns:a="http://schemas.openxmlformats.org/drawingml/2006/main">
            <a:off x="571500" y="53911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6D77"/>
                </a:solidFill>
                <a:latin typeface="Calibri"/>
                <a:ea typeface="Calibri"/>
                <a:cs typeface="Calibri"/>
              </a:defRPr>
            </a:defPPr>
            <a:lvl1pPr>
              <a:defRPr sz="2025" b="1">
                <a:solidFill>
                  <a:srgbClr val="006D77"/>
                </a:solidFill>
                <a:latin typeface="Calibri"/>
                <a:ea typeface="Calibri"/>
                <a:cs typeface="Calibri"/>
              </a:defRPr>
            </a:lvl1pPr>
            <a:lvl2pPr>
              <a:defRPr sz="2025" b="1">
                <a:solidFill>
                  <a:srgbClr val="006D77"/>
                </a:solidFill>
                <a:latin typeface="Calibri"/>
                <a:ea typeface="Calibri"/>
                <a:cs typeface="Calibri"/>
              </a:defRPr>
            </a:lvl2pPr>
            <a:lvl3pPr>
              <a:defRPr sz="2025" b="1">
                <a:solidFill>
                  <a:srgbClr val="006D77"/>
                </a:solidFill>
                <a:latin typeface="Calibri"/>
                <a:ea typeface="Calibri"/>
                <a:cs typeface="Calibri"/>
              </a:defRPr>
            </a:lvl3pPr>
            <a:lvl4pPr>
              <a:defRPr sz="2025" b="1">
                <a:solidFill>
                  <a:srgbClr val="006D77"/>
                </a:solidFill>
                <a:latin typeface="Calibri"/>
                <a:ea typeface="Calibri"/>
                <a:cs typeface="Calibri"/>
              </a:defRPr>
            </a:lvl4pPr>
            <a:lvl5pPr>
              <a:defRPr sz="2025" b="1">
                <a:solidFill>
                  <a:srgbClr val="006D77"/>
                </a:solidFill>
                <a:latin typeface="Calibri"/>
                <a:ea typeface="Calibri"/>
                <a:cs typeface="Calibri"/>
              </a:defRPr>
            </a:lvl5pPr>
            <a:lvl6pPr>
              <a:defRPr sz="2025" b="1">
                <a:solidFill>
                  <a:srgbClr val="006D77"/>
                </a:solidFill>
                <a:latin typeface="Calibri"/>
                <a:ea typeface="Calibri"/>
                <a:cs typeface="Calibri"/>
              </a:defRPr>
            </a:lvl6pPr>
            <a:lvl7pPr>
              <a:defRPr sz="2025" b="1">
                <a:solidFill>
                  <a:srgbClr val="006D77"/>
                </a:solidFill>
                <a:latin typeface="Calibri"/>
                <a:ea typeface="Calibri"/>
                <a:cs typeface="Calibri"/>
              </a:defRPr>
            </a:lvl7pPr>
            <a:lvl8pPr>
              <a:defRPr sz="2025" b="1">
                <a:solidFill>
                  <a:srgbClr val="006D77"/>
                </a:solidFill>
                <a:latin typeface="Calibri"/>
                <a:ea typeface="Calibri"/>
                <a:cs typeface="Calibri"/>
              </a:defRPr>
            </a:lvl8pPr>
            <a:lvl9pPr>
              <a:defRPr sz="2025" b="1">
                <a:solidFill>
                  <a:srgbClr val="006D77"/>
                </a:solidFill>
                <a:latin typeface="Calibri"/>
                <a:ea typeface="Calibri"/>
                <a:cs typeface="Calibri"/>
              </a:defRPr>
            </a:lvl9pPr>
          </a:lstStyle>
          <a:p xmlns:a="http://schemas.openxmlformats.org/drawingml/2006/main">
            <a:pPr>
              <a:defRPr sz="2025" b="1">
                <a:solidFill>
                  <a:srgbClr val="006D77"/>
                </a:solidFill>
                <a:latin typeface="Calibri"/>
                <a:ea typeface="Calibri"/>
                <a:cs typeface="Calibri"/>
              </a:defRPr>
            </a:pPr>
            <a:r>
              <a:rPr sz="2025" b="1">
                <a:solidFill>
                  <a:srgbClr val="006D77"/>
                </a:solidFill>
                <a:latin typeface="Calibri"/>
                <a:ea typeface="Calibri"/>
                <a:cs typeface="Calibri"/>
              </a:rPr>
              <a:t>Prediction inputs: flexor 561.49 / 5.00 mm; extensor 827.74 / ≈92.49 mm</a:t>
            </a:r>
          </a:p>
        </p:txBody>
      </p:sp>
    </p:spTree>
    <p:extLst>
      <p:ext uri="{BB962C8B-B14F-4D97-AF65-F5344CB8AC3E}">
        <p14:creationId xmlns:p14="http://schemas.microsoft.com/office/powerpoint/2010/main" val="231849457"/>
      </p:ext>
    </p:extLst>
  </p:cSld>
</p:sld>
</file>

<file path=ppt/slides/slide3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6FE9B8-10DD-423A-A812-228EA2AD54E0}"/>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STIMULUS CONTROLS</a:t>
            </a:r>
          </a:p>
        </p:txBody>
      </p:sp>
      <p:sp>
        <p:nvSpPr>
          <p:cNvPr id="2" name="">
            <a:extLst xmlns:a="http://schemas.openxmlformats.org/drawingml/2006/main">
              <a:ext uri="{FF2B5EF4-FFF2-40B4-BE49-F238E27FC236}">
                <a16:creationId xmlns:a16="http://schemas.microsoft.com/office/drawing/2014/main" id="{70C149DB-0E89-4048-A17C-8246FDE5A534}"/>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Stimulation duration changes the deletion interpretation</a:t>
            </a:r>
          </a:p>
        </p:txBody>
      </p:sp>
      <p:sp>
        <p:nvSpPr>
          <p:cNvPr id="3" name="">
            <a:extLst xmlns:a="http://schemas.openxmlformats.org/drawingml/2006/main">
              <a:ext uri="{FF2B5EF4-FFF2-40B4-BE49-F238E27FC236}">
                <a16:creationId xmlns:a16="http://schemas.microsoft.com/office/drawing/2014/main" id="{8FD9234D-7F0B-481D-976C-D603816B18A4}"/>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stimulus_results_all.csv · Current Appendix D layer-stimulus protocols</a:t>
            </a:r>
          </a:p>
        </p:txBody>
      </p:sp>
      <p:sp>
        <p:nvSpPr>
          <p:cNvPr id="4" name="">
            <a:extLst xmlns:a="http://schemas.openxmlformats.org/drawingml/2006/main">
              <a:ext uri="{FF2B5EF4-FFF2-40B4-BE49-F238E27FC236}">
                <a16:creationId xmlns:a16="http://schemas.microsoft.com/office/drawing/2014/main" id="{C280C367-472D-43F6-807E-0411E0FF6A43}"/>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30</a:t>
            </a:r>
          </a:p>
        </p:txBody>
      </p:sp>
      <p:graphicFrame>
        <p:nvGraphicFramePr>
          <p:cNvPr id="5" name="">
            <a:extLst xmlns:a="http://schemas.openxmlformats.org/drawingml/2006/main">
              <a:ext uri="{FF2B5EF4-FFF2-40B4-BE49-F238E27FC236}">
                <a16:creationId xmlns:a16="http://schemas.microsoft.com/office/drawing/2014/main" id="{8837C54A-D659-4075-9A91-E005B3F76DB0}"/>
              </a:ext>
            </a:extLst>
          </p:cNvPr>
          <p:cNvGraphicFramePr/>
          <p:nvPr/>
        </p:nvGraphicFramePr>
        <p:xfrm>
          <a:off xmlns:a="http://schemas.openxmlformats.org/drawingml/2006/main" x="571500" y="1857375"/>
          <a:ext xmlns:a="http://schemas.openxmlformats.org/drawingml/2006/main" cx="11049000" cy="3429000"/>
        </p:xfrm>
        <a:graphic xmlns:a="http://schemas.openxmlformats.org/drawingml/2006/main">
          <a:graphicData uri="http://schemas.openxmlformats.org/drawingml/2006/table">
            <a:tbl>
              <a:tblPr/>
              <a:tblGrid>
                <a:gridCol w="3683000"/>
                <a:gridCol w="3683000"/>
                <a:gridCol w="3683000"/>
              </a:tblGrid>
              <a:tr h="685800">
                <a:tc>
                  <a:txBody>
                    <a:bodyPr/>
                    <a:lstStyle/>
                    <a:p>
                      <a:r>
                        <a:rPr sz="2100" b="1">
                          <a:solidFill>
                            <a:srgbClr val="006D77"/>
                          </a:solidFill>
                          <a:latin typeface="Calibri"/>
                          <a:ea typeface="Calibri"/>
                          <a:cs typeface="Calibri"/>
                        </a:rPr>
                        <a:t>Protocol</a:t>
                      </a:r>
                    </a:p>
                  </a:txBody>
                  <a:tcPr marL="91440" marR="91440" marT="45720" marB="45720">
                    <a:solidFill>
                      <a:srgbClr val="FFFFFF"/>
                    </a:solidFill>
                  </a:tcPr>
                </a:tc>
                <a:tc>
                  <a:txBody>
                    <a:bodyPr/>
                    <a:lstStyle/>
                    <a:p>
                      <a:r>
                        <a:rPr sz="2100" b="1">
                          <a:solidFill>
                            <a:srgbClr val="006D77"/>
                          </a:solidFill>
                          <a:latin typeface="Calibri"/>
                          <a:ea typeface="Calibri"/>
                          <a:cs typeface="Calibri"/>
                        </a:rPr>
                        <a:t>RG shift, cycles</a:t>
                      </a:r>
                    </a:p>
                  </a:txBody>
                  <a:tcPr marL="91440" marR="91440" marT="45720" marB="45720">
                    <a:solidFill>
                      <a:srgbClr val="FFFFFF"/>
                    </a:solidFill>
                  </a:tcPr>
                </a:tc>
                <a:tc>
                  <a:txBody>
                    <a:bodyPr/>
                    <a:lstStyle/>
                    <a:p>
                      <a:r>
                        <a:rPr sz="2100" b="1">
                          <a:solidFill>
                            <a:srgbClr val="006D77"/>
                          </a:solidFill>
                          <a:latin typeface="Calibri"/>
                          <a:ea typeface="Calibri"/>
                          <a:cs typeface="Calibri"/>
                        </a:rPr>
                        <a:t>Motor shift, cycles</a:t>
                      </a:r>
                    </a:p>
                  </a:txBody>
                  <a:tcPr marL="91440" marR="91440" marT="45720" marB="45720">
                    <a:solidFill>
                      <a:srgbClr val="FFFFFF"/>
                    </a:solidFill>
                  </a:tcPr>
                </a:tc>
              </a:tr>
              <a:tr h="685800">
                <a:tc>
                  <a:txBody>
                    <a:bodyPr/>
                    <a:lstStyle/>
                    <a:p>
                      <a:r>
                        <a:rPr sz="2100" b="0">
                          <a:solidFill>
                            <a:srgbClr val="202C33"/>
                          </a:solidFill>
                          <a:latin typeface="Calibri"/>
                          <a:ea typeface="Calibri"/>
                          <a:cs typeface="Calibri"/>
                        </a:rPr>
                        <a:t>RG, two periods</a:t>
                      </a:r>
                    </a:p>
                  </a:txBody>
                  <a:tcPr marL="91440" marR="91440" marT="45720" marB="45720">
                    <a:solidFill>
                      <a:srgbClr val="FFFFFF"/>
                    </a:solidFill>
                  </a:tcPr>
                </a:tc>
                <a:tc>
                  <a:txBody>
                    <a:bodyPr/>
                    <a:lstStyle/>
                    <a:p>
                      <a:r>
                        <a:rPr sz="2100" b="0">
                          <a:solidFill>
                            <a:srgbClr val="202C33"/>
                          </a:solidFill>
                          <a:latin typeface="Calibri"/>
                          <a:ea typeface="Calibri"/>
                          <a:cs typeface="Calibri"/>
                        </a:rPr>
                        <a:t>0.211</a:t>
                      </a:r>
                    </a:p>
                  </a:txBody>
                  <a:tcPr marL="91440" marR="91440" marT="45720" marB="45720">
                    <a:solidFill>
                      <a:srgbClr val="FFFFFF"/>
                    </a:solidFill>
                  </a:tcPr>
                </a:tc>
                <a:tc>
                  <a:txBody>
                    <a:bodyPr/>
                    <a:lstStyle/>
                    <a:p>
                      <a:r>
                        <a:rPr sz="2100" b="0">
                          <a:solidFill>
                            <a:srgbClr val="202C33"/>
                          </a:solidFill>
                          <a:latin typeface="Calibri"/>
                          <a:ea typeface="Calibri"/>
                          <a:cs typeface="Calibri"/>
                        </a:rPr>
                        <a:t>0.211</a:t>
                      </a:r>
                    </a:p>
                  </a:txBody>
                  <a:tcPr marL="91440" marR="91440" marT="45720" marB="45720">
                    <a:solidFill>
                      <a:srgbClr val="FFFFFF"/>
                    </a:solidFill>
                  </a:tcPr>
                </a:tc>
              </a:tr>
              <a:tr h="685800">
                <a:tc>
                  <a:txBody>
                    <a:bodyPr/>
                    <a:lstStyle/>
                    <a:p>
                      <a:r>
                        <a:rPr sz="2100" b="0">
                          <a:solidFill>
                            <a:srgbClr val="202C33"/>
                          </a:solidFill>
                          <a:latin typeface="Calibri"/>
                          <a:ea typeface="Calibri"/>
                          <a:cs typeface="Calibri"/>
                        </a:rPr>
                        <a:t>PF, two periods</a:t>
                      </a:r>
                    </a:p>
                  </a:txBody>
                  <a:tcPr marL="91440" marR="91440" marT="45720" marB="45720">
                    <a:solidFill>
                      <a:srgbClr val="FFFFFF"/>
                    </a:solidFill>
                  </a:tcPr>
                </a:tc>
                <a:tc>
                  <a:txBody>
                    <a:bodyPr/>
                    <a:lstStyle/>
                    <a:p>
                      <a:r>
                        <a:rPr sz="2100" b="0">
                          <a:solidFill>
                            <a:srgbClr val="202C33"/>
                          </a:solidFill>
                          <a:latin typeface="Calibri"/>
                          <a:ea typeface="Calibri"/>
                          <a:cs typeface="Calibri"/>
                        </a:rPr>
                        <a:t>0.000</a:t>
                      </a:r>
                    </a:p>
                  </a:txBody>
                  <a:tcPr marL="91440" marR="91440" marT="45720" marB="45720">
                    <a:solidFill>
                      <a:srgbClr val="FFFFFF"/>
                    </a:solidFill>
                  </a:tcPr>
                </a:tc>
                <a:tc>
                  <a:txBody>
                    <a:bodyPr/>
                    <a:lstStyle/>
                    <a:p>
                      <a:r>
                        <a:rPr sz="2100" b="0">
                          <a:solidFill>
                            <a:srgbClr val="202C33"/>
                          </a:solidFill>
                          <a:latin typeface="Calibri"/>
                          <a:ea typeface="Calibri"/>
                          <a:cs typeface="Calibri"/>
                        </a:rPr>
                        <a:t>0.000</a:t>
                      </a:r>
                    </a:p>
                  </a:txBody>
                  <a:tcPr marL="91440" marR="91440" marT="45720" marB="45720">
                    <a:solidFill>
                      <a:srgbClr val="FFFFFF"/>
                    </a:solidFill>
                  </a:tcPr>
                </a:tc>
              </a:tr>
              <a:tr h="685800">
                <a:tc>
                  <a:txBody>
                    <a:bodyPr/>
                    <a:lstStyle/>
                    <a:p>
                      <a:r>
                        <a:rPr sz="2100" b="0">
                          <a:solidFill>
                            <a:srgbClr val="202C33"/>
                          </a:solidFill>
                          <a:latin typeface="Calibri"/>
                          <a:ea typeface="Calibri"/>
                          <a:cs typeface="Calibri"/>
                        </a:rPr>
                        <a:t>MN, two periods</a:t>
                      </a:r>
                    </a:p>
                  </a:txBody>
                  <a:tcPr marL="91440" marR="91440" marT="45720" marB="45720">
                    <a:solidFill>
                      <a:srgbClr val="FFFFFF"/>
                    </a:solidFill>
                  </a:tcPr>
                </a:tc>
                <a:tc>
                  <a:txBody>
                    <a:bodyPr/>
                    <a:lstStyle/>
                    <a:p>
                      <a:r>
                        <a:rPr sz="2100" b="0">
                          <a:solidFill>
                            <a:srgbClr val="202C33"/>
                          </a:solidFill>
                          <a:latin typeface="Calibri"/>
                          <a:ea typeface="Calibri"/>
                          <a:cs typeface="Calibri"/>
                        </a:rPr>
                        <a:t>0.000</a:t>
                      </a:r>
                    </a:p>
                  </a:txBody>
                  <a:tcPr marL="91440" marR="91440" marT="45720" marB="45720">
                    <a:solidFill>
                      <a:srgbClr val="FFFFFF"/>
                    </a:solidFill>
                  </a:tcPr>
                </a:tc>
                <a:tc>
                  <a:txBody>
                    <a:bodyPr/>
                    <a:lstStyle/>
                    <a:p>
                      <a:r>
                        <a:rPr sz="2100" b="0">
                          <a:solidFill>
                            <a:srgbClr val="202C33"/>
                          </a:solidFill>
                          <a:latin typeface="Calibri"/>
                          <a:ea typeface="Calibri"/>
                          <a:cs typeface="Calibri"/>
                        </a:rPr>
                        <a:t>0.000</a:t>
                      </a:r>
                    </a:p>
                  </a:txBody>
                  <a:tcPr marL="91440" marR="91440" marT="45720" marB="45720">
                    <a:solidFill>
                      <a:srgbClr val="FFFFFF"/>
                    </a:solidFill>
                  </a:tcPr>
                </a:tc>
              </a:tr>
              <a:tr h="685800">
                <a:tc>
                  <a:txBody>
                    <a:bodyPr/>
                    <a:lstStyle/>
                    <a:p>
                      <a:r>
                        <a:rPr sz="2100" b="0">
                          <a:solidFill>
                            <a:srgbClr val="202C33"/>
                          </a:solidFill>
                          <a:latin typeface="Calibri"/>
                          <a:ea typeface="Calibri"/>
                          <a:cs typeface="Calibri"/>
                        </a:rPr>
                        <a:t>PF, one second</a:t>
                      </a:r>
                    </a:p>
                  </a:txBody>
                  <a:tcPr marL="91440" marR="91440" marT="45720" marB="45720">
                    <a:solidFill>
                      <a:srgbClr val="FFFFFF"/>
                    </a:solidFill>
                  </a:tcPr>
                </a:tc>
                <a:tc>
                  <a:txBody>
                    <a:bodyPr/>
                    <a:lstStyle/>
                    <a:p>
                      <a:r>
                        <a:rPr sz="2100" b="0">
                          <a:solidFill>
                            <a:srgbClr val="202C33"/>
                          </a:solidFill>
                          <a:latin typeface="Calibri"/>
                          <a:ea typeface="Calibri"/>
                          <a:cs typeface="Calibri"/>
                        </a:rPr>
                        <a:t>0.000</a:t>
                      </a:r>
                    </a:p>
                  </a:txBody>
                  <a:tcPr marL="91440" marR="91440" marT="45720" marB="45720">
                    <a:solidFill>
                      <a:srgbClr val="FFFFFF"/>
                    </a:solidFill>
                  </a:tcPr>
                </a:tc>
                <a:tc>
                  <a:txBody>
                    <a:bodyPr/>
                    <a:lstStyle/>
                    <a:p>
                      <a:r>
                        <a:rPr sz="2100" b="0">
                          <a:solidFill>
                            <a:srgbClr val="202C33"/>
                          </a:solidFill>
                          <a:latin typeface="Calibri"/>
                          <a:ea typeface="Calibri"/>
                          <a:cs typeface="Calibri"/>
                        </a:rPr>
                        <a:t>0.208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43181919"/>
      </p:ext>
    </p:extLst>
  </p:cSld>
</p:sld>
</file>

<file path=ppt/slides/slide3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05E429-75C3-4931-8CE6-CC2C66B53095}"/>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MATCHED COMPARISON</a:t>
            </a:r>
          </a:p>
        </p:txBody>
      </p:sp>
      <p:sp>
        <p:nvSpPr>
          <p:cNvPr id="2" name="">
            <a:extLst xmlns:a="http://schemas.openxmlformats.org/drawingml/2006/main">
              <a:ext uri="{FF2B5EF4-FFF2-40B4-BE49-F238E27FC236}">
                <a16:creationId xmlns:a16="http://schemas.microsoft.com/office/drawing/2014/main" id="{A7980A68-6B50-4EB6-BE38-0BBC483A376B}"/>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AH001 separation control changes a matched diagnostic</a:t>
            </a:r>
          </a:p>
        </p:txBody>
      </p:sp>
      <p:sp>
        <p:nvSpPr>
          <p:cNvPr id="3" name="">
            <a:extLst xmlns:a="http://schemas.openxmlformats.org/drawingml/2006/main">
              <a:ext uri="{FF2B5EF4-FFF2-40B4-BE49-F238E27FC236}">
                <a16:creationId xmlns:a16="http://schemas.microsoft.com/office/drawing/2014/main" id="{919C0C97-C4EE-4EB5-8C74-E2BF13215EDB}"/>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AH001_20261028/PLACEMENT_RECOMMENDATION.md · asset_provenance.json</a:t>
            </a:r>
          </a:p>
        </p:txBody>
      </p:sp>
      <p:sp>
        <p:nvSpPr>
          <p:cNvPr id="4" name="">
            <a:extLst xmlns:a="http://schemas.openxmlformats.org/drawingml/2006/main">
              <a:ext uri="{FF2B5EF4-FFF2-40B4-BE49-F238E27FC236}">
                <a16:creationId xmlns:a16="http://schemas.microsoft.com/office/drawing/2014/main" id="{1438B15C-BA35-44D7-A83E-D42CDA9159FA}"/>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31</a:t>
            </a:r>
          </a:p>
        </p:txBody>
      </p:sp>
      <p:graphicFrame>
        <p:nvGraphicFramePr>
          <p:cNvPr id="5" name="">
            <a:extLst xmlns:a="http://schemas.openxmlformats.org/drawingml/2006/main">
              <a:ext uri="{FF2B5EF4-FFF2-40B4-BE49-F238E27FC236}">
                <a16:creationId xmlns:a16="http://schemas.microsoft.com/office/drawing/2014/main" id="{4BEF05F9-88C6-4C8B-A821-2FFCC506D99E}"/>
              </a:ext>
            </a:extLst>
          </p:cNvPr>
          <p:cNvGraphicFramePr/>
          <p:nvPr/>
        </p:nvGraphicFramePr>
        <p:xfrm>
          <a:off xmlns:a="http://schemas.openxmlformats.org/drawingml/2006/main" x="571500" y="1762125"/>
          <a:ext xmlns:a="http://schemas.openxmlformats.org/drawingml/2006/main" cx="11049000" cy="4000500"/>
        </p:xfrm>
        <a:graphic xmlns:a="http://schemas.openxmlformats.org/drawingml/2006/main">
          <a:graphicData uri="http://schemas.openxmlformats.org/drawingml/2006/table">
            <a:tbl>
              <a:tblPr/>
              <a:tblGrid>
                <a:gridCol w="3683000"/>
                <a:gridCol w="3683000"/>
                <a:gridCol w="3683000"/>
              </a:tblGrid>
              <a:tr h="666750">
                <a:tc>
                  <a:txBody>
                    <a:bodyPr/>
                    <a:lstStyle/>
                    <a:p>
                      <a:r>
                        <a:rPr sz="1950" b="1">
                          <a:solidFill>
                            <a:srgbClr val="006D77"/>
                          </a:solidFill>
                          <a:latin typeface="Calibri"/>
                          <a:ea typeface="Calibri"/>
                          <a:cs typeface="Calibri"/>
                        </a:rPr>
                        <a:t>15–40 s measure</a:t>
                      </a:r>
                    </a:p>
                  </a:txBody>
                  <a:tcPr marL="91440" marR="91440" marT="45720" marB="45720">
                    <a:solidFill>
                      <a:srgbClr val="FFFFFF"/>
                    </a:solidFill>
                  </a:tcPr>
                </a:tc>
                <a:tc>
                  <a:txBody>
                    <a:bodyPr/>
                    <a:lstStyle/>
                    <a:p>
                      <a:r>
                        <a:rPr sz="1950" b="1">
                          <a:solidFill>
                            <a:srgbClr val="006D77"/>
                          </a:solidFill>
                          <a:latin typeface="Calibri"/>
                          <a:ea typeface="Calibri"/>
                          <a:cs typeface="Calibri"/>
                        </a:rPr>
                        <a:t>Control off</a:t>
                      </a:r>
                    </a:p>
                  </a:txBody>
                  <a:tcPr marL="91440" marR="91440" marT="45720" marB="45720">
                    <a:solidFill>
                      <a:srgbClr val="FFFFFF"/>
                    </a:solidFill>
                  </a:tcPr>
                </a:tc>
                <a:tc>
                  <a:txBody>
                    <a:bodyPr/>
                    <a:lstStyle/>
                    <a:p>
                      <a:r>
                        <a:rPr sz="1950" b="1">
                          <a:solidFill>
                            <a:srgbClr val="006D77"/>
                          </a:solidFill>
                          <a:latin typeface="Calibri"/>
                          <a:ea typeface="Calibri"/>
                          <a:cs typeface="Calibri"/>
                        </a:rPr>
                        <a:t>Control on</a:t>
                      </a:r>
                    </a:p>
                  </a:txBody>
                  <a:tcPr marL="91440" marR="91440" marT="45720" marB="45720">
                    <a:solidFill>
                      <a:srgbClr val="FFFFFF"/>
                    </a:solidFill>
                  </a:tcPr>
                </a:tc>
              </a:tr>
              <a:tr h="666750">
                <a:tc>
                  <a:txBody>
                    <a:bodyPr/>
                    <a:lstStyle/>
                    <a:p>
                      <a:r>
                        <a:rPr sz="1950" b="0">
                          <a:solidFill>
                            <a:srgbClr val="202C33"/>
                          </a:solidFill>
                          <a:latin typeface="Calibri"/>
                          <a:ea typeface="Calibri"/>
                          <a:cs typeface="Calibri"/>
                        </a:rPr>
                        <a:t>Reversed ankle ordering</a:t>
                      </a:r>
                    </a:p>
                  </a:txBody>
                  <a:tcPr marL="91440" marR="91440" marT="45720" marB="45720">
                    <a:solidFill>
                      <a:srgbClr val="FFFFFF"/>
                    </a:solidFill>
                  </a:tcPr>
                </a:tc>
                <a:tc>
                  <a:txBody>
                    <a:bodyPr/>
                    <a:lstStyle/>
                    <a:p>
                      <a:r>
                        <a:rPr sz="1950" b="0">
                          <a:solidFill>
                            <a:srgbClr val="202C33"/>
                          </a:solidFill>
                          <a:latin typeface="Calibri"/>
                          <a:ea typeface="Calibri"/>
                          <a:cs typeface="Calibri"/>
                        </a:rPr>
                        <a:t>67%</a:t>
                      </a:r>
                    </a:p>
                  </a:txBody>
                  <a:tcPr marL="91440" marR="91440" marT="45720" marB="45720">
                    <a:solidFill>
                      <a:srgbClr val="FFFFFF"/>
                    </a:solidFill>
                  </a:tcPr>
                </a:tc>
                <a:tc>
                  <a:txBody>
                    <a:bodyPr/>
                    <a:lstStyle/>
                    <a:p>
                      <a:r>
                        <a:rPr sz="1950" b="0">
                          <a:solidFill>
                            <a:srgbClr val="202C33"/>
                          </a:solidFill>
                          <a:latin typeface="Calibri"/>
                          <a:ea typeface="Calibri"/>
                          <a:cs typeface="Calibri"/>
                        </a:rPr>
                        <a:t>0%</a:t>
                      </a:r>
                    </a:p>
                  </a:txBody>
                  <a:tcPr marL="91440" marR="91440" marT="45720" marB="45720">
                    <a:solidFill>
                      <a:srgbClr val="FFFFFF"/>
                    </a:solidFill>
                  </a:tcPr>
                </a:tc>
              </a:tr>
              <a:tr h="666750">
                <a:tc>
                  <a:txBody>
                    <a:bodyPr/>
                    <a:lstStyle/>
                    <a:p>
                      <a:r>
                        <a:rPr sz="1950" b="0">
                          <a:solidFill>
                            <a:srgbClr val="202C33"/>
                          </a:solidFill>
                          <a:latin typeface="Calibri"/>
                          <a:ea typeface="Calibri"/>
                          <a:cs typeface="Calibri"/>
                        </a:rPr>
                        <a:t>Minimum separation</a:t>
                      </a:r>
                    </a:p>
                  </a:txBody>
                  <a:tcPr marL="91440" marR="91440" marT="45720" marB="45720">
                    <a:solidFill>
                      <a:srgbClr val="FFFFFF"/>
                    </a:solidFill>
                  </a:tcPr>
                </a:tc>
                <a:tc>
                  <a:txBody>
                    <a:bodyPr/>
                    <a:lstStyle/>
                    <a:p>
                      <a:r>
                        <a:rPr sz="1950" b="0">
                          <a:solidFill>
                            <a:srgbClr val="202C33"/>
                          </a:solidFill>
                          <a:latin typeface="Calibri"/>
                          <a:ea typeface="Calibri"/>
                          <a:cs typeface="Calibri"/>
                        </a:rPr>
                        <a:t>−38.3 mm</a:t>
                      </a:r>
                    </a:p>
                  </a:txBody>
                  <a:tcPr marL="91440" marR="91440" marT="45720" marB="45720">
                    <a:solidFill>
                      <a:srgbClr val="FFFFFF"/>
                    </a:solidFill>
                  </a:tcPr>
                </a:tc>
                <a:tc>
                  <a:txBody>
                    <a:bodyPr/>
                    <a:lstStyle/>
                    <a:p>
                      <a:r>
                        <a:rPr sz="1950" b="0">
                          <a:solidFill>
                            <a:srgbClr val="202C33"/>
                          </a:solidFill>
                          <a:latin typeface="Calibri"/>
                          <a:ea typeface="Calibri"/>
                          <a:cs typeface="Calibri"/>
                        </a:rPr>
                        <a:t>142.4 mm</a:t>
                      </a:r>
                    </a:p>
                  </a:txBody>
                  <a:tcPr marL="91440" marR="91440" marT="45720" marB="45720">
                    <a:solidFill>
                      <a:srgbClr val="FFFFFF"/>
                    </a:solidFill>
                  </a:tcPr>
                </a:tc>
              </a:tr>
              <a:tr h="666750">
                <a:tc>
                  <a:txBody>
                    <a:bodyPr/>
                    <a:lstStyle/>
                    <a:p>
                      <a:r>
                        <a:rPr sz="1950" b="0">
                          <a:solidFill>
                            <a:srgbClr val="202C33"/>
                          </a:solidFill>
                          <a:latin typeface="Calibri"/>
                          <a:ea typeface="Calibri"/>
                          <a:cs typeface="Calibri"/>
                        </a:rPr>
                        <a:t>Right TFL mean activation</a:t>
                      </a:r>
                    </a:p>
                  </a:txBody>
                  <a:tcPr marL="91440" marR="91440" marT="45720" marB="45720">
                    <a:solidFill>
                      <a:srgbClr val="FFFFFF"/>
                    </a:solidFill>
                  </a:tcPr>
                </a:tc>
                <a:tc>
                  <a:txBody>
                    <a:bodyPr/>
                    <a:lstStyle/>
                    <a:p>
                      <a:r>
                        <a:rPr sz="1950" b="0">
                          <a:solidFill>
                            <a:srgbClr val="202C33"/>
                          </a:solidFill>
                          <a:latin typeface="Calibri"/>
                          <a:ea typeface="Calibri"/>
                          <a:cs typeface="Calibri"/>
                        </a:rPr>
                        <a:t>22.3%</a:t>
                      </a:r>
                    </a:p>
                  </a:txBody>
                  <a:tcPr marL="91440" marR="91440" marT="45720" marB="45720">
                    <a:solidFill>
                      <a:srgbClr val="FFFFFF"/>
                    </a:solidFill>
                  </a:tcPr>
                </a:tc>
                <a:tc>
                  <a:txBody>
                    <a:bodyPr/>
                    <a:lstStyle/>
                    <a:p>
                      <a:r>
                        <a:rPr sz="1950" b="0">
                          <a:solidFill>
                            <a:srgbClr val="202C33"/>
                          </a:solidFill>
                          <a:latin typeface="Calibri"/>
                          <a:ea typeface="Calibri"/>
                          <a:cs typeface="Calibri"/>
                        </a:rPr>
                        <a:t>81.8%</a:t>
                      </a:r>
                    </a:p>
                  </a:txBody>
                  <a:tcPr marL="91440" marR="91440" marT="45720" marB="45720">
                    <a:solidFill>
                      <a:srgbClr val="FFFFFF"/>
                    </a:solidFill>
                  </a:tcPr>
                </a:tc>
              </a:tr>
              <a:tr h="666750">
                <a:tc>
                  <a:txBody>
                    <a:bodyPr/>
                    <a:lstStyle/>
                    <a:p>
                      <a:r>
                        <a:rPr sz="1950" b="0">
                          <a:solidFill>
                            <a:srgbClr val="202C33"/>
                          </a:solidFill>
                          <a:latin typeface="Calibri"/>
                          <a:ea typeface="Calibri"/>
                          <a:cs typeface="Calibri"/>
                        </a:rPr>
                        <a:t>Vertical assistance</a:t>
                      </a:r>
                    </a:p>
                  </a:txBody>
                  <a:tcPr marL="91440" marR="91440" marT="45720" marB="45720">
                    <a:solidFill>
                      <a:srgbClr val="FFFFFF"/>
                    </a:solidFill>
                  </a:tcPr>
                </a:tc>
                <a:tc>
                  <a:txBody>
                    <a:bodyPr/>
                    <a:lstStyle/>
                    <a:p>
                      <a:r>
                        <a:rPr sz="1950" b="0">
                          <a:solidFill>
                            <a:srgbClr val="202C33"/>
                          </a:solidFill>
                          <a:latin typeface="Calibri"/>
                          <a:ea typeface="Calibri"/>
                          <a:cs typeface="Calibri"/>
                        </a:rPr>
                        <a:t>80% BW</a:t>
                      </a:r>
                    </a:p>
                  </a:txBody>
                  <a:tcPr marL="91440" marR="91440" marT="45720" marB="45720">
                    <a:solidFill>
                      <a:srgbClr val="FFFFFF"/>
                    </a:solidFill>
                  </a:tcPr>
                </a:tc>
                <a:tc>
                  <a:txBody>
                    <a:bodyPr/>
                    <a:lstStyle/>
                    <a:p>
                      <a:r>
                        <a:rPr sz="1950" b="0">
                          <a:solidFill>
                            <a:srgbClr val="202C33"/>
                          </a:solidFill>
                          <a:latin typeface="Calibri"/>
                          <a:ea typeface="Calibri"/>
                          <a:cs typeface="Calibri"/>
                        </a:rPr>
                        <a:t>80% BW</a:t>
                      </a:r>
                    </a:p>
                  </a:txBody>
                  <a:tcPr marL="91440" marR="91440" marT="45720" marB="45720">
                    <a:solidFill>
                      <a:srgbClr val="FFFFFF"/>
                    </a:solidFill>
                  </a:tcPr>
                </a:tc>
              </a:tr>
              <a:tr h="666750">
                <a:tc>
                  <a:txBody>
                    <a:bodyPr/>
                    <a:lstStyle/>
                    <a:p>
                      <a:r>
                        <a:rPr sz="1950" b="0">
                          <a:solidFill>
                            <a:srgbClr val="202C33"/>
                          </a:solidFill>
                          <a:latin typeface="Calibri"/>
                          <a:ea typeface="Calibri"/>
                          <a:cs typeface="Calibri"/>
                        </a:rPr>
                        <a:t>Sampled opposite-leg penetration</a:t>
                      </a:r>
                    </a:p>
                  </a:txBody>
                  <a:tcPr marL="91440" marR="91440" marT="45720" marB="45720">
                    <a:solidFill>
                      <a:srgbClr val="FFFFFF"/>
                    </a:solidFill>
                  </a:tcPr>
                </a:tc>
                <a:tc>
                  <a:txBody>
                    <a:bodyPr/>
                    <a:lstStyle/>
                    <a:p>
                      <a:r>
                        <a:rPr sz="1950" b="0">
                          <a:solidFill>
                            <a:srgbClr val="202C33"/>
                          </a:solidFill>
                          <a:latin typeface="Calibri"/>
                          <a:ea typeface="Calibri"/>
                          <a:cs typeface="Calibri"/>
                        </a:rPr>
                        <a:t>2.700 mm</a:t>
                      </a:r>
                    </a:p>
                  </a:txBody>
                  <a:tcPr marL="91440" marR="91440" marT="45720" marB="45720">
                    <a:solidFill>
                      <a:srgbClr val="FFFFFF"/>
                    </a:solidFill>
                  </a:tcPr>
                </a:tc>
                <a:tc>
                  <a:txBody>
                    <a:bodyPr/>
                    <a:lstStyle/>
                    <a:p>
                      <a:r>
                        <a:rPr sz="1950" b="0">
                          <a:solidFill>
                            <a:srgbClr val="202C33"/>
                          </a:solidFill>
                          <a:latin typeface="Calibri"/>
                          <a:ea typeface="Calibri"/>
                          <a:cs typeface="Calibri"/>
                        </a:rPr>
                        <a:t>0 mm</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1811456"/>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4A352E-53DD-4383-878C-AB0915A13598}"/>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SOFTWARE INTERFACES</a:t>
            </a:r>
          </a:p>
        </p:txBody>
      </p:sp>
      <p:sp>
        <p:nvSpPr>
          <p:cNvPr id="2" name="">
            <a:extLst xmlns:a="http://schemas.openxmlformats.org/drawingml/2006/main">
              <a:ext uri="{FF2B5EF4-FFF2-40B4-BE49-F238E27FC236}">
                <a16:creationId xmlns:a16="http://schemas.microsoft.com/office/drawing/2014/main" id="{A7ACA4F0-B0FE-4A45-9EC7-58C81ABB469E}"/>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model workflow supports distinct mechanical implementations</a:t>
            </a:r>
          </a:p>
        </p:txBody>
      </p:sp>
      <p:sp>
        <p:nvSpPr>
          <p:cNvPr id="3" name="">
            <a:extLst xmlns:a="http://schemas.openxmlformats.org/drawingml/2006/main">
              <a:ext uri="{FF2B5EF4-FFF2-40B4-BE49-F238E27FC236}">
                <a16:creationId xmlns:a16="http://schemas.microsoft.com/office/drawing/2014/main" id="{59FD6D11-2BE0-4F3B-858E-E3ACBC167908}"/>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Model construction and neural-controller interfaces</a:t>
            </a:r>
          </a:p>
        </p:txBody>
      </p:sp>
      <p:sp>
        <p:nvSpPr>
          <p:cNvPr id="4" name="">
            <a:extLst xmlns:a="http://schemas.openxmlformats.org/drawingml/2006/main">
              <a:ext uri="{FF2B5EF4-FFF2-40B4-BE49-F238E27FC236}">
                <a16:creationId xmlns:a16="http://schemas.microsoft.com/office/drawing/2014/main" id="{4639FFA7-46AD-4CBB-B1CE-1F8F1F03A812}"/>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45205517-0554-4CA3-8C76-B692E8863CA3}"/>
              </a:ext>
            </a:extLst>
          </p:cNvPr>
          <p:cNvPicPr>
            <a:picLocks xmlns:a="http://schemas.openxmlformats.org/drawingml/2006/main" noChangeAspect="1"/>
          </p:cNvPicPr>
          <p:nvPr/>
        </p:nvPicPr>
        <p:blipFill>
          <a:blip xmlns:r="http://schemas.openxmlformats.org/officeDocument/2006/relationships" xmlns:a="http://schemas.openxmlformats.org/drawingml/2006/main" r:embed="R286908d6482941b3"/>
          <a:stretch xmlns:a="http://schemas.openxmlformats.org/drawingml/2006/main"/>
        </p:blipFill>
        <p:spPr>
          <a:xfrm xmlns:a="http://schemas.openxmlformats.org/drawingml/2006/main">
            <a:off x="3915115" y="1638300"/>
            <a:ext cx="4361771"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3CF774-DFC2-4A38-B2C6-F5187D49E176}"/>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Command exchange, circuit agreement, and motion each require their own check</a:t>
            </a:r>
          </a:p>
        </p:txBody>
      </p:sp>
    </p:spTree>
    <p:extLst>
      <p:ext uri="{BB962C8B-B14F-4D97-AF65-F5344CB8AC3E}">
        <p14:creationId xmlns:p14="http://schemas.microsoft.com/office/powerpoint/2010/main" val="1697018192"/>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EC1EFE-4BB4-449B-BB6C-2466DBE7F577}"/>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PUBLISHED FORCE COMPARISON</a:t>
            </a:r>
          </a:p>
        </p:txBody>
      </p:sp>
      <p:sp>
        <p:nvSpPr>
          <p:cNvPr id="2" name="">
            <a:extLst xmlns:a="http://schemas.openxmlformats.org/drawingml/2006/main">
              <a:ext uri="{FF2B5EF4-FFF2-40B4-BE49-F238E27FC236}">
                <a16:creationId xmlns:a16="http://schemas.microsoft.com/office/drawing/2014/main" id="{F734BD04-EB91-4430-B3F9-10680AFF05CB}"/>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Reported force comparisons favor the model in the shown cases</a:t>
            </a:r>
          </a:p>
        </p:txBody>
      </p:sp>
      <p:sp>
        <p:nvSpPr>
          <p:cNvPr id="3" name="">
            <a:extLst xmlns:a="http://schemas.openxmlformats.org/drawingml/2006/main">
              <a:ext uri="{FF2B5EF4-FFF2-40B4-BE49-F238E27FC236}">
                <a16:creationId xmlns:a16="http://schemas.microsoft.com/office/drawing/2014/main" id="{C8D7B0C5-97B8-4AF8-BCFD-A128C02B09F4}"/>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Bolen et al. (2026), Actuators 15(5):230 · Dissertation Ch. 3</a:t>
            </a:r>
          </a:p>
        </p:txBody>
      </p:sp>
      <p:sp>
        <p:nvSpPr>
          <p:cNvPr id="4" name="">
            <a:extLst xmlns:a="http://schemas.openxmlformats.org/drawingml/2006/main">
              <a:ext uri="{FF2B5EF4-FFF2-40B4-BE49-F238E27FC236}">
                <a16:creationId xmlns:a16="http://schemas.microsoft.com/office/drawing/2014/main" id="{AF72649A-0742-4499-AF53-873710212C11}"/>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6BEFC66E-8DCD-46BD-8C1D-BB46A46FBDC9}"/>
              </a:ext>
            </a:extLst>
          </p:cNvPr>
          <p:cNvPicPr>
            <a:picLocks xmlns:a="http://schemas.openxmlformats.org/drawingml/2006/main" noChangeAspect="1"/>
          </p:cNvPicPr>
          <p:nvPr/>
        </p:nvPicPr>
        <p:blipFill>
          <a:blip xmlns:r="http://schemas.openxmlformats.org/officeDocument/2006/relationships" xmlns:a="http://schemas.openxmlformats.org/drawingml/2006/main" r:embed="R036b52ef3cd845e2"/>
          <a:stretch xmlns:a="http://schemas.openxmlformats.org/drawingml/2006/main"/>
        </p:blipFill>
        <p:spPr>
          <a:xfrm xmlns:a="http://schemas.openxmlformats.org/drawingml/2006/main">
            <a:off x="1189642" y="1638300"/>
            <a:ext cx="9812716"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24BEAE-4C5D-4A8B-89B3-9F35A211F045}"/>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Measured-versus-predicted force at the two displayed actuator lengths</a:t>
            </a:r>
          </a:p>
        </p:txBody>
      </p:sp>
    </p:spTree>
    <p:extLst>
      <p:ext uri="{BB962C8B-B14F-4D97-AF65-F5344CB8AC3E}">
        <p14:creationId xmlns:p14="http://schemas.microsoft.com/office/powerpoint/2010/main" val="869237409"/>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93276F-2B79-4425-B27A-E2E37877181A}"/>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COMPLETE MOVEMENT COMPARISON</a:t>
            </a:r>
          </a:p>
        </p:txBody>
      </p:sp>
      <p:sp>
        <p:nvSpPr>
          <p:cNvPr id="2" name="">
            <a:extLst xmlns:a="http://schemas.openxmlformats.org/drawingml/2006/main">
              <a:ext uri="{FF2B5EF4-FFF2-40B4-BE49-F238E27FC236}">
                <a16:creationId xmlns:a16="http://schemas.microsoft.com/office/drawing/2014/main" id="{963AC05B-2CDC-4659-A511-C92BA33DF92D}"/>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complete IK overlay also exposes contact differences</a:t>
            </a:r>
          </a:p>
        </p:txBody>
      </p:sp>
      <p:sp>
        <p:nvSpPr>
          <p:cNvPr id="3" name="">
            <a:extLst xmlns:a="http://schemas.openxmlformats.org/drawingml/2006/main">
              <a:ext uri="{FF2B5EF4-FFF2-40B4-BE49-F238E27FC236}">
                <a16:creationId xmlns:a16="http://schemas.microsoft.com/office/drawing/2014/main" id="{0879C9C4-8ECA-4B90-B29E-9C0982944F92}"/>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Dissertation Ch. 6 and Appendix D · Current saved verification records</a:t>
            </a:r>
          </a:p>
        </p:txBody>
      </p:sp>
      <p:sp>
        <p:nvSpPr>
          <p:cNvPr id="4" name="">
            <a:extLst xmlns:a="http://schemas.openxmlformats.org/drawingml/2006/main">
              <a:ext uri="{FF2B5EF4-FFF2-40B4-BE49-F238E27FC236}">
                <a16:creationId xmlns:a16="http://schemas.microsoft.com/office/drawing/2014/main" id="{34DB5515-A066-45A9-A3B0-296ACD260412}"/>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BFAB8158-EE21-4FDC-B8E3-A31C04825250}"/>
              </a:ext>
            </a:extLst>
          </p:cNvPr>
          <p:cNvPicPr>
            <a:picLocks xmlns:a="http://schemas.openxmlformats.org/drawingml/2006/main" noChangeAspect="1"/>
          </p:cNvPicPr>
          <p:nvPr/>
        </p:nvPicPr>
        <p:blipFill>
          <a:blip xmlns:r="http://schemas.openxmlformats.org/officeDocument/2006/relationships" xmlns:a="http://schemas.openxmlformats.org/drawingml/2006/main" r:embed="Ref0d238839444f73"/>
          <a:stretch xmlns:a="http://schemas.openxmlformats.org/drawingml/2006/main"/>
        </p:blipFill>
        <p:spPr>
          <a:xfrm xmlns:a="http://schemas.openxmlformats.org/drawingml/2006/main">
            <a:off x="4238720" y="1638300"/>
            <a:ext cx="3714559"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58B5823-A2E8-4B2D-AB68-A7A3B3F32E3A}"/>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Model mean and standard deviation · OpenSim IK reference</a:t>
            </a:r>
          </a:p>
        </p:txBody>
      </p:sp>
    </p:spTree>
    <p:extLst>
      <p:ext uri="{BB962C8B-B14F-4D97-AF65-F5344CB8AC3E}">
        <p14:creationId xmlns:p14="http://schemas.microsoft.com/office/powerpoint/2010/main" val="1844972661"/>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208692-288A-4FCD-B262-46EB281EC173}"/>
              </a:ext>
            </a:extLst>
          </p:cNvPr>
          <p:cNvSpPr>
            <a:spLocks xmlns:a="http://schemas.openxmlformats.org/drawingml/2006/main" noGrp="1"/>
          </p:cNvSpPr>
          <p:nvPr/>
        </p:nvSpPr>
        <p:spPr>
          <a:xfrm xmlns:a="http://schemas.openxmlformats.org/drawingml/2006/main">
            <a:off x="400050" y="1905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006D77"/>
                </a:solidFill>
                <a:latin typeface="Calibri"/>
                <a:ea typeface="Calibri"/>
                <a:cs typeface="Calibri"/>
              </a:defRPr>
            </a:defPPr>
            <a:lvl1pPr>
              <a:defRPr sz="1275" b="1">
                <a:solidFill>
                  <a:srgbClr val="006D77"/>
                </a:solidFill>
                <a:latin typeface="Calibri"/>
                <a:ea typeface="Calibri"/>
                <a:cs typeface="Calibri"/>
              </a:defRPr>
            </a:lvl1pPr>
            <a:lvl2pPr>
              <a:defRPr sz="1275" b="1">
                <a:solidFill>
                  <a:srgbClr val="006D77"/>
                </a:solidFill>
                <a:latin typeface="Calibri"/>
                <a:ea typeface="Calibri"/>
                <a:cs typeface="Calibri"/>
              </a:defRPr>
            </a:lvl2pPr>
            <a:lvl3pPr>
              <a:defRPr sz="1275" b="1">
                <a:solidFill>
                  <a:srgbClr val="006D77"/>
                </a:solidFill>
                <a:latin typeface="Calibri"/>
                <a:ea typeface="Calibri"/>
                <a:cs typeface="Calibri"/>
              </a:defRPr>
            </a:lvl3pPr>
            <a:lvl4pPr>
              <a:defRPr sz="1275" b="1">
                <a:solidFill>
                  <a:srgbClr val="006D77"/>
                </a:solidFill>
                <a:latin typeface="Calibri"/>
                <a:ea typeface="Calibri"/>
                <a:cs typeface="Calibri"/>
              </a:defRPr>
            </a:lvl4pPr>
            <a:lvl5pPr>
              <a:defRPr sz="1275" b="1">
                <a:solidFill>
                  <a:srgbClr val="006D77"/>
                </a:solidFill>
                <a:latin typeface="Calibri"/>
                <a:ea typeface="Calibri"/>
                <a:cs typeface="Calibri"/>
              </a:defRPr>
            </a:lvl5pPr>
            <a:lvl6pPr>
              <a:defRPr sz="1275" b="1">
                <a:solidFill>
                  <a:srgbClr val="006D77"/>
                </a:solidFill>
                <a:latin typeface="Calibri"/>
                <a:ea typeface="Calibri"/>
                <a:cs typeface="Calibri"/>
              </a:defRPr>
            </a:lvl6pPr>
            <a:lvl7pPr>
              <a:defRPr sz="1275" b="1">
                <a:solidFill>
                  <a:srgbClr val="006D77"/>
                </a:solidFill>
                <a:latin typeface="Calibri"/>
                <a:ea typeface="Calibri"/>
                <a:cs typeface="Calibri"/>
              </a:defRPr>
            </a:lvl7pPr>
            <a:lvl8pPr>
              <a:defRPr sz="1275" b="1">
                <a:solidFill>
                  <a:srgbClr val="006D77"/>
                </a:solidFill>
                <a:latin typeface="Calibri"/>
                <a:ea typeface="Calibri"/>
                <a:cs typeface="Calibri"/>
              </a:defRPr>
            </a:lvl8pPr>
            <a:lvl9pPr>
              <a:defRPr sz="1275" b="1">
                <a:solidFill>
                  <a:srgbClr val="006D77"/>
                </a:solidFill>
                <a:latin typeface="Calibri"/>
                <a:ea typeface="Calibri"/>
                <a:cs typeface="Calibri"/>
              </a:defRPr>
            </a:lvl9pPr>
          </a:lstStyle>
          <a:p xmlns:a="http://schemas.openxmlformats.org/drawingml/2006/main">
            <a:pPr>
              <a:defRPr sz="1275" b="1">
                <a:solidFill>
                  <a:srgbClr val="006D77"/>
                </a:solidFill>
                <a:latin typeface="Calibri"/>
                <a:ea typeface="Calibri"/>
                <a:cs typeface="Calibri"/>
              </a:defRPr>
            </a:pPr>
            <a:r>
              <a:rPr sz="1275" b="1">
                <a:solidFill>
                  <a:srgbClr val="006D77"/>
                </a:solidFill>
                <a:latin typeface="Calibri"/>
                <a:ea typeface="Calibri"/>
                <a:cs typeface="Calibri"/>
              </a:rPr>
              <a:t>BACKUP · OPTIONAL ANIMATION</a:t>
            </a:r>
          </a:p>
        </p:txBody>
      </p:sp>
      <p:sp>
        <p:nvSpPr>
          <p:cNvPr id="2" name="">
            <a:extLst xmlns:a="http://schemas.openxmlformats.org/drawingml/2006/main">
              <a:ext uri="{FF2B5EF4-FFF2-40B4-BE49-F238E27FC236}">
                <a16:creationId xmlns:a16="http://schemas.microsoft.com/office/drawing/2014/main" id="{F61010AF-C4B8-490B-8898-B436013513DD}"/>
              </a:ext>
            </a:extLst>
          </p:cNvPr>
          <p:cNvSpPr>
            <a:spLocks xmlns:a="http://schemas.openxmlformats.org/drawingml/2006/main" noGrp="1"/>
          </p:cNvSpPr>
          <p:nvPr/>
        </p:nvSpPr>
        <p:spPr>
          <a:xfrm xmlns:a="http://schemas.openxmlformats.org/drawingml/2006/main">
            <a:off x="400050" y="542925"/>
            <a:ext cx="11353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84A"/>
                </a:solidFill>
                <a:latin typeface="Calibri"/>
                <a:ea typeface="Calibri"/>
                <a:cs typeface="Calibri"/>
              </a:defRPr>
            </a:defPPr>
            <a:lvl1pPr>
              <a:defRPr sz="3300" b="1">
                <a:solidFill>
                  <a:srgbClr val="17384A"/>
                </a:solidFill>
                <a:latin typeface="Calibri"/>
                <a:ea typeface="Calibri"/>
                <a:cs typeface="Calibri"/>
              </a:defRPr>
            </a:lvl1pPr>
            <a:lvl2pPr>
              <a:defRPr sz="3300" b="1">
                <a:solidFill>
                  <a:srgbClr val="17384A"/>
                </a:solidFill>
                <a:latin typeface="Calibri"/>
                <a:ea typeface="Calibri"/>
                <a:cs typeface="Calibri"/>
              </a:defRPr>
            </a:lvl2pPr>
            <a:lvl3pPr>
              <a:defRPr sz="3300" b="1">
                <a:solidFill>
                  <a:srgbClr val="17384A"/>
                </a:solidFill>
                <a:latin typeface="Calibri"/>
                <a:ea typeface="Calibri"/>
                <a:cs typeface="Calibri"/>
              </a:defRPr>
            </a:lvl3pPr>
            <a:lvl4pPr>
              <a:defRPr sz="3300" b="1">
                <a:solidFill>
                  <a:srgbClr val="17384A"/>
                </a:solidFill>
                <a:latin typeface="Calibri"/>
                <a:ea typeface="Calibri"/>
                <a:cs typeface="Calibri"/>
              </a:defRPr>
            </a:lvl4pPr>
            <a:lvl5pPr>
              <a:defRPr sz="3300" b="1">
                <a:solidFill>
                  <a:srgbClr val="17384A"/>
                </a:solidFill>
                <a:latin typeface="Calibri"/>
                <a:ea typeface="Calibri"/>
                <a:cs typeface="Calibri"/>
              </a:defRPr>
            </a:lvl5pPr>
            <a:lvl6pPr>
              <a:defRPr sz="3300" b="1">
                <a:solidFill>
                  <a:srgbClr val="17384A"/>
                </a:solidFill>
                <a:latin typeface="Calibri"/>
                <a:ea typeface="Calibri"/>
                <a:cs typeface="Calibri"/>
              </a:defRPr>
            </a:lvl6pPr>
            <a:lvl7pPr>
              <a:defRPr sz="3300" b="1">
                <a:solidFill>
                  <a:srgbClr val="17384A"/>
                </a:solidFill>
                <a:latin typeface="Calibri"/>
                <a:ea typeface="Calibri"/>
                <a:cs typeface="Calibri"/>
              </a:defRPr>
            </a:lvl7pPr>
            <a:lvl8pPr>
              <a:defRPr sz="3300" b="1">
                <a:solidFill>
                  <a:srgbClr val="17384A"/>
                </a:solidFill>
                <a:latin typeface="Calibri"/>
                <a:ea typeface="Calibri"/>
                <a:cs typeface="Calibri"/>
              </a:defRPr>
            </a:lvl8pPr>
            <a:lvl9pPr>
              <a:defRPr sz="3300" b="1">
                <a:solidFill>
                  <a:srgbClr val="17384A"/>
                </a:solidFill>
                <a:latin typeface="Calibri"/>
                <a:ea typeface="Calibri"/>
                <a:cs typeface="Calibri"/>
              </a:defRPr>
            </a:lvl9pPr>
          </a:lstStyle>
          <a:p xmlns:a="http://schemas.openxmlformats.org/drawingml/2006/main">
            <a:pPr>
              <a:defRPr sz="3300" b="1">
                <a:solidFill>
                  <a:srgbClr val="17384A"/>
                </a:solidFill>
                <a:latin typeface="Calibri"/>
                <a:ea typeface="Calibri"/>
                <a:cs typeface="Calibri"/>
              </a:defRPr>
            </a:pPr>
            <a:r>
              <a:rPr sz="3300" b="1">
                <a:solidFill>
                  <a:srgbClr val="17384A"/>
                </a:solidFill>
                <a:latin typeface="Calibri"/>
                <a:ea typeface="Calibri"/>
                <a:cs typeface="Calibri"/>
              </a:rPr>
              <a:t>The saved AH001 replay shows supported hybrid motion</a:t>
            </a:r>
          </a:p>
        </p:txBody>
      </p:sp>
      <p:sp>
        <p:nvSpPr>
          <p:cNvPr id="3" name="">
            <a:extLst xmlns:a="http://schemas.openxmlformats.org/drawingml/2006/main">
              <a:ext uri="{FF2B5EF4-FFF2-40B4-BE49-F238E27FC236}">
                <a16:creationId xmlns:a16="http://schemas.microsoft.com/office/drawing/2014/main" id="{22E1D4CB-9790-4356-8A3F-7EC9A4AA6359}"/>
              </a:ext>
            </a:extLst>
          </p:cNvPr>
          <p:cNvSpPr>
            <a:spLocks xmlns:a="http://schemas.openxmlformats.org/drawingml/2006/main" noGrp="1"/>
          </p:cNvSpPr>
          <p:nvPr/>
        </p:nvSpPr>
        <p:spPr>
          <a:xfrm xmlns:a="http://schemas.openxmlformats.org/drawingml/2006/main">
            <a:off x="419100" y="6486525"/>
            <a:ext cx="10839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16A"/>
                </a:solidFill>
                <a:latin typeface="Calibri"/>
                <a:ea typeface="Calibri"/>
                <a:cs typeface="Calibri"/>
              </a:defRPr>
            </a:defPPr>
            <a:lvl1pPr>
              <a:defRPr sz="1200" b="0">
                <a:solidFill>
                  <a:srgbClr val="53616A"/>
                </a:solidFill>
                <a:latin typeface="Calibri"/>
                <a:ea typeface="Calibri"/>
                <a:cs typeface="Calibri"/>
              </a:defRPr>
            </a:lvl1pPr>
            <a:lvl2pPr>
              <a:defRPr sz="1200" b="0">
                <a:solidFill>
                  <a:srgbClr val="53616A"/>
                </a:solidFill>
                <a:latin typeface="Calibri"/>
                <a:ea typeface="Calibri"/>
                <a:cs typeface="Calibri"/>
              </a:defRPr>
            </a:lvl2pPr>
            <a:lvl3pPr>
              <a:defRPr sz="1200" b="0">
                <a:solidFill>
                  <a:srgbClr val="53616A"/>
                </a:solidFill>
                <a:latin typeface="Calibri"/>
                <a:ea typeface="Calibri"/>
                <a:cs typeface="Calibri"/>
              </a:defRPr>
            </a:lvl3pPr>
            <a:lvl4pPr>
              <a:defRPr sz="1200" b="0">
                <a:solidFill>
                  <a:srgbClr val="53616A"/>
                </a:solidFill>
                <a:latin typeface="Calibri"/>
                <a:ea typeface="Calibri"/>
                <a:cs typeface="Calibri"/>
              </a:defRPr>
            </a:lvl4pPr>
            <a:lvl5pPr>
              <a:defRPr sz="1200" b="0">
                <a:solidFill>
                  <a:srgbClr val="53616A"/>
                </a:solidFill>
                <a:latin typeface="Calibri"/>
                <a:ea typeface="Calibri"/>
                <a:cs typeface="Calibri"/>
              </a:defRPr>
            </a:lvl5pPr>
            <a:lvl6pPr>
              <a:defRPr sz="1200" b="0">
                <a:solidFill>
                  <a:srgbClr val="53616A"/>
                </a:solidFill>
                <a:latin typeface="Calibri"/>
                <a:ea typeface="Calibri"/>
                <a:cs typeface="Calibri"/>
              </a:defRPr>
            </a:lvl6pPr>
            <a:lvl7pPr>
              <a:defRPr sz="1200" b="0">
                <a:solidFill>
                  <a:srgbClr val="53616A"/>
                </a:solidFill>
                <a:latin typeface="Calibri"/>
                <a:ea typeface="Calibri"/>
                <a:cs typeface="Calibri"/>
              </a:defRPr>
            </a:lvl7pPr>
            <a:lvl8pPr>
              <a:defRPr sz="1200" b="0">
                <a:solidFill>
                  <a:srgbClr val="53616A"/>
                </a:solidFill>
                <a:latin typeface="Calibri"/>
                <a:ea typeface="Calibri"/>
                <a:cs typeface="Calibri"/>
              </a:defRPr>
            </a:lvl8pPr>
            <a:lvl9pPr>
              <a:defRPr sz="1200" b="0">
                <a:solidFill>
                  <a:srgbClr val="53616A"/>
                </a:solidFill>
                <a:latin typeface="Calibri"/>
                <a:ea typeface="Calibri"/>
                <a:cs typeface="Calibri"/>
              </a:defRPr>
            </a:lvl9pPr>
          </a:lstStyle>
          <a:p xmlns:a="http://schemas.openxmlformats.org/drawingml/2006/main">
            <a:pPr>
              <a:defRPr sz="1200" b="0">
                <a:solidFill>
                  <a:srgbClr val="53616A"/>
                </a:solidFill>
                <a:latin typeface="Calibri"/>
                <a:ea typeface="Calibri"/>
                <a:cs typeface="Calibri"/>
              </a:defRPr>
            </a:pPr>
            <a:r>
              <a:rPr sz="1200" b="0">
                <a:solidFill>
                  <a:srgbClr val="53616A"/>
                </a:solidFill>
                <a:latin typeface="Calibri"/>
                <a:ea typeface="Calibri"/>
                <a:cs typeface="Calibri"/>
              </a:rPr>
              <a:t>AH001_20261028/asset_provenance.json · saved 20–32 s interval</a:t>
            </a:r>
          </a:p>
        </p:txBody>
      </p:sp>
      <p:sp>
        <p:nvSpPr>
          <p:cNvPr id="4" name="">
            <a:extLst xmlns:a="http://schemas.openxmlformats.org/drawingml/2006/main">
              <a:ext uri="{FF2B5EF4-FFF2-40B4-BE49-F238E27FC236}">
                <a16:creationId xmlns:a16="http://schemas.microsoft.com/office/drawing/2014/main" id="{66719BAE-EF11-467C-9D54-866D33F33C4B}"/>
              </a:ext>
            </a:extLst>
          </p:cNvPr>
          <p:cNvSpPr>
            <a:spLocks xmlns:a="http://schemas.openxmlformats.org/drawingml/2006/main" noGrp="1"/>
          </p:cNvSpPr>
          <p:nvPr/>
        </p:nvSpPr>
        <p:spPr>
          <a:xfrm xmlns:a="http://schemas.openxmlformats.org/drawingml/2006/main">
            <a:off x="11430000" y="64674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3616A"/>
                </a:solidFill>
                <a:latin typeface="Calibri"/>
                <a:ea typeface="Calibri"/>
                <a:cs typeface="Calibri"/>
              </a:defRPr>
            </a:defPPr>
            <a:lvl1pPr>
              <a:defRPr sz="1275" b="0">
                <a:solidFill>
                  <a:srgbClr val="53616A"/>
                </a:solidFill>
                <a:latin typeface="Calibri"/>
                <a:ea typeface="Calibri"/>
                <a:cs typeface="Calibri"/>
              </a:defRPr>
            </a:lvl1pPr>
            <a:lvl2pPr>
              <a:defRPr sz="1275" b="0">
                <a:solidFill>
                  <a:srgbClr val="53616A"/>
                </a:solidFill>
                <a:latin typeface="Calibri"/>
                <a:ea typeface="Calibri"/>
                <a:cs typeface="Calibri"/>
              </a:defRPr>
            </a:lvl2pPr>
            <a:lvl3pPr>
              <a:defRPr sz="1275" b="0">
                <a:solidFill>
                  <a:srgbClr val="53616A"/>
                </a:solidFill>
                <a:latin typeface="Calibri"/>
                <a:ea typeface="Calibri"/>
                <a:cs typeface="Calibri"/>
              </a:defRPr>
            </a:lvl3pPr>
            <a:lvl4pPr>
              <a:defRPr sz="1275" b="0">
                <a:solidFill>
                  <a:srgbClr val="53616A"/>
                </a:solidFill>
                <a:latin typeface="Calibri"/>
                <a:ea typeface="Calibri"/>
                <a:cs typeface="Calibri"/>
              </a:defRPr>
            </a:lvl4pPr>
            <a:lvl5pPr>
              <a:defRPr sz="1275" b="0">
                <a:solidFill>
                  <a:srgbClr val="53616A"/>
                </a:solidFill>
                <a:latin typeface="Calibri"/>
                <a:ea typeface="Calibri"/>
                <a:cs typeface="Calibri"/>
              </a:defRPr>
            </a:lvl5pPr>
            <a:lvl6pPr>
              <a:defRPr sz="1275" b="0">
                <a:solidFill>
                  <a:srgbClr val="53616A"/>
                </a:solidFill>
                <a:latin typeface="Calibri"/>
                <a:ea typeface="Calibri"/>
                <a:cs typeface="Calibri"/>
              </a:defRPr>
            </a:lvl6pPr>
            <a:lvl7pPr>
              <a:defRPr sz="1275" b="0">
                <a:solidFill>
                  <a:srgbClr val="53616A"/>
                </a:solidFill>
                <a:latin typeface="Calibri"/>
                <a:ea typeface="Calibri"/>
                <a:cs typeface="Calibri"/>
              </a:defRPr>
            </a:lvl7pPr>
            <a:lvl8pPr>
              <a:defRPr sz="1275" b="0">
                <a:solidFill>
                  <a:srgbClr val="53616A"/>
                </a:solidFill>
                <a:latin typeface="Calibri"/>
                <a:ea typeface="Calibri"/>
                <a:cs typeface="Calibri"/>
              </a:defRPr>
            </a:lvl8pPr>
            <a:lvl9pPr>
              <a:defRPr sz="1275" b="0">
                <a:solidFill>
                  <a:srgbClr val="53616A"/>
                </a:solidFill>
                <a:latin typeface="Calibri"/>
                <a:ea typeface="Calibri"/>
                <a:cs typeface="Calibri"/>
              </a:defRPr>
            </a:lvl9pPr>
          </a:lstStyle>
          <a:p xmlns:a="http://schemas.openxmlformats.org/drawingml/2006/main">
            <a:pPr>
              <a:defRPr sz="1275" b="0">
                <a:solidFill>
                  <a:srgbClr val="53616A"/>
                </a:solidFill>
                <a:latin typeface="Calibri"/>
                <a:ea typeface="Calibri"/>
                <a:cs typeface="Calibri"/>
              </a:defRPr>
            </a:pPr>
            <a:r>
              <a:rPr sz="1275" b="0">
                <a:solidFill>
                  <a:srgbClr val="53616A"/>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A08CDBDA-B9A5-4C41-BFE0-78D062F26F04}"/>
              </a:ext>
            </a:extLst>
          </p:cNvPr>
          <p:cNvPicPr>
            <a:picLocks xmlns:a="http://schemas.openxmlformats.org/drawingml/2006/main" noChangeAspect="1"/>
          </p:cNvPicPr>
          <p:nvPr/>
        </p:nvPicPr>
        <p:blipFill>
          <a:blip xmlns:r="http://schemas.openxmlformats.org/officeDocument/2006/relationships" xmlns:a="http://schemas.openxmlformats.org/drawingml/2006/main" r:embed="R6c45bb5c947c4087"/>
          <a:stretch xmlns:a="http://schemas.openxmlformats.org/drawingml/2006/main"/>
        </p:blipFill>
        <p:spPr>
          <a:xfrm xmlns:a="http://schemas.openxmlformats.org/drawingml/2006/main">
            <a:off x="2952750" y="1666875"/>
            <a:ext cx="628650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FBD977-48EB-43BD-BE01-A2D2193F22CA}"/>
              </a:ext>
            </a:extLst>
          </p:cNvPr>
          <p:cNvSpPr>
            <a:spLocks xmlns:a="http://schemas.openxmlformats.org/drawingml/2006/main" noGrp="1"/>
          </p:cNvSpPr>
          <p:nvPr/>
        </p:nvSpPr>
        <p:spPr>
          <a:xfrm xmlns:a="http://schemas.openxmlformats.org/drawingml/2006/main">
            <a:off x="571500" y="60198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6D77"/>
                </a:solidFill>
                <a:latin typeface="Calibri"/>
                <a:ea typeface="Calibri"/>
                <a:cs typeface="Calibri"/>
              </a:defRPr>
            </a:defPPr>
            <a:lvl1pPr>
              <a:defRPr sz="2100" b="1">
                <a:solidFill>
                  <a:srgbClr val="006D77"/>
                </a:solidFill>
                <a:latin typeface="Calibri"/>
                <a:ea typeface="Calibri"/>
                <a:cs typeface="Calibri"/>
              </a:defRPr>
            </a:lvl1pPr>
            <a:lvl2pPr>
              <a:defRPr sz="2100" b="1">
                <a:solidFill>
                  <a:srgbClr val="006D77"/>
                </a:solidFill>
                <a:latin typeface="Calibri"/>
                <a:ea typeface="Calibri"/>
                <a:cs typeface="Calibri"/>
              </a:defRPr>
            </a:lvl2pPr>
            <a:lvl3pPr>
              <a:defRPr sz="2100" b="1">
                <a:solidFill>
                  <a:srgbClr val="006D77"/>
                </a:solidFill>
                <a:latin typeface="Calibri"/>
                <a:ea typeface="Calibri"/>
                <a:cs typeface="Calibri"/>
              </a:defRPr>
            </a:lvl3pPr>
            <a:lvl4pPr>
              <a:defRPr sz="2100" b="1">
                <a:solidFill>
                  <a:srgbClr val="006D77"/>
                </a:solidFill>
                <a:latin typeface="Calibri"/>
                <a:ea typeface="Calibri"/>
                <a:cs typeface="Calibri"/>
              </a:defRPr>
            </a:lvl4pPr>
            <a:lvl5pPr>
              <a:defRPr sz="2100" b="1">
                <a:solidFill>
                  <a:srgbClr val="006D77"/>
                </a:solidFill>
                <a:latin typeface="Calibri"/>
                <a:ea typeface="Calibri"/>
                <a:cs typeface="Calibri"/>
              </a:defRPr>
            </a:lvl5pPr>
            <a:lvl6pPr>
              <a:defRPr sz="2100" b="1">
                <a:solidFill>
                  <a:srgbClr val="006D77"/>
                </a:solidFill>
                <a:latin typeface="Calibri"/>
                <a:ea typeface="Calibri"/>
                <a:cs typeface="Calibri"/>
              </a:defRPr>
            </a:lvl6pPr>
            <a:lvl7pPr>
              <a:defRPr sz="2100" b="1">
                <a:solidFill>
                  <a:srgbClr val="006D77"/>
                </a:solidFill>
                <a:latin typeface="Calibri"/>
                <a:ea typeface="Calibri"/>
                <a:cs typeface="Calibri"/>
              </a:defRPr>
            </a:lvl7pPr>
            <a:lvl8pPr>
              <a:defRPr sz="2100" b="1">
                <a:solidFill>
                  <a:srgbClr val="006D77"/>
                </a:solidFill>
                <a:latin typeface="Calibri"/>
                <a:ea typeface="Calibri"/>
                <a:cs typeface="Calibri"/>
              </a:defRPr>
            </a:lvl8pPr>
            <a:lvl9pPr>
              <a:defRPr sz="2100" b="1">
                <a:solidFill>
                  <a:srgbClr val="006D77"/>
                </a:solidFill>
                <a:latin typeface="Calibri"/>
                <a:ea typeface="Calibri"/>
                <a:cs typeface="Calibri"/>
              </a:defRPr>
            </a:lvl9pPr>
          </a:lstStyle>
          <a:p xmlns:a="http://schemas.openxmlformats.org/drawingml/2006/main">
            <a:pPr>
              <a:defRPr sz="2100" b="1">
                <a:solidFill>
                  <a:srgbClr val="006D77"/>
                </a:solidFill>
                <a:latin typeface="Calibri"/>
                <a:ea typeface="Calibri"/>
                <a:cs typeface="Calibri"/>
              </a:defRPr>
            </a:pPr>
            <a:r>
              <a:rPr sz="2100" b="1">
                <a:solidFill>
                  <a:srgbClr val="006D77"/>
                </a:solidFill>
                <a:latin typeface="Calibri"/>
                <a:ea typeface="Calibri"/>
                <a:cs typeface="Calibri"/>
              </a:rPr>
              <a:t>Optional 12-second replay · same supported-control diagnostic</a:t>
            </a:r>
          </a:p>
        </p:txBody>
      </p:sp>
    </p:spTree>
    <p:extLst>
      <p:ext uri="{BB962C8B-B14F-4D97-AF65-F5344CB8AC3E}">
        <p14:creationId xmlns:p14="http://schemas.microsoft.com/office/powerpoint/2010/main" val="448818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2026-10-28T23:39:00.4900000Z</dcterms:created>
  <dcterms:modified xsi:type="dcterms:W3CDTF">2026-10-28T23:39:00.4900000Z</dcterms:modified>
</coreProperties>
</file>