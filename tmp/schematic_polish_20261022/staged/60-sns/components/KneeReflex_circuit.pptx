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943600" cy="4368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400" y="88900"/>
            <a:ext cx="56388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43343"/>
                </a:solidFill>
                <a:latin typeface="Arial"/>
              </a:rPr>
              <a:t>Antagonist knee-reflex circuit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4000" y="546100"/>
            <a:ext cx="13335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43343"/>
                </a:solidFill>
                <a:latin typeface="Arial"/>
              </a:rPr>
              <a:t>Extensor sensors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0200" y="1841500"/>
            <a:ext cx="13335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43343"/>
                </a:solidFill>
                <a:latin typeface="Arial"/>
              </a:rPr>
              <a:t>Flexor sensors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06600" y="393700"/>
            <a:ext cx="15494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3343"/>
                </a:solidFill>
                <a:latin typeface="Arial"/>
              </a:rPr>
              <a:t>Motor pools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8100" y="393700"/>
            <a:ext cx="184150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3343"/>
                </a:solidFill>
                <a:latin typeface="Arial"/>
              </a:rPr>
              <a:t>Actuation and joint</a:t>
            </a:r>
          </a:p>
        </p:txBody>
      </p:sp>
      <p:sp>
        <p:nvSpPr>
          <p:cNvPr id="7" name="Oval 6"/>
          <p:cNvSpPr/>
          <p:nvPr/>
        </p:nvSpPr>
        <p:spPr>
          <a:xfrm>
            <a:off x="419100" y="812800"/>
            <a:ext cx="368300" cy="368300"/>
          </a:xfrm>
          <a:prstGeom prst="ellipse">
            <a:avLst/>
          </a:prstGeom>
          <a:solidFill>
            <a:srgbClr val="E5F1F8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9100" y="901700"/>
            <a:ext cx="3683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3343"/>
                </a:solidFill>
                <a:latin typeface="Arial"/>
              </a:rPr>
              <a:t>Ia</a:t>
            </a:r>
          </a:p>
        </p:txBody>
      </p:sp>
      <p:sp>
        <p:nvSpPr>
          <p:cNvPr id="9" name="Oval 8"/>
          <p:cNvSpPr/>
          <p:nvPr/>
        </p:nvSpPr>
        <p:spPr>
          <a:xfrm>
            <a:off x="419100" y="1358900"/>
            <a:ext cx="368300" cy="368300"/>
          </a:xfrm>
          <a:prstGeom prst="ellipse">
            <a:avLst/>
          </a:prstGeom>
          <a:solidFill>
            <a:srgbClr val="E5F1F8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9100" y="1447800"/>
            <a:ext cx="3683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3343"/>
                </a:solidFill>
                <a:latin typeface="Arial"/>
              </a:rPr>
              <a:t>Ib</a:t>
            </a:r>
          </a:p>
        </p:txBody>
      </p:sp>
      <p:sp>
        <p:nvSpPr>
          <p:cNvPr id="11" name="Oval 10"/>
          <p:cNvSpPr/>
          <p:nvPr/>
        </p:nvSpPr>
        <p:spPr>
          <a:xfrm>
            <a:off x="419100" y="2070100"/>
            <a:ext cx="368300" cy="368300"/>
          </a:xfrm>
          <a:prstGeom prst="ellipse">
            <a:avLst/>
          </a:prstGeom>
          <a:solidFill>
            <a:srgbClr val="E5F1F8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9100" y="2159000"/>
            <a:ext cx="3683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3343"/>
                </a:solidFill>
                <a:latin typeface="Arial"/>
              </a:rPr>
              <a:t>Ia</a:t>
            </a:r>
          </a:p>
        </p:txBody>
      </p:sp>
      <p:sp>
        <p:nvSpPr>
          <p:cNvPr id="13" name="Oval 12"/>
          <p:cNvSpPr/>
          <p:nvPr/>
        </p:nvSpPr>
        <p:spPr>
          <a:xfrm>
            <a:off x="419100" y="2616200"/>
            <a:ext cx="368300" cy="368300"/>
          </a:xfrm>
          <a:prstGeom prst="ellipse">
            <a:avLst/>
          </a:prstGeom>
          <a:solidFill>
            <a:srgbClr val="E5F1F8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9100" y="2705100"/>
            <a:ext cx="3683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3343"/>
                </a:solidFill>
                <a:latin typeface="Arial"/>
              </a:rPr>
              <a:t>Ib</a:t>
            </a:r>
          </a:p>
        </p:txBody>
      </p:sp>
      <p:sp>
        <p:nvSpPr>
          <p:cNvPr id="15" name="Oval 14"/>
          <p:cNvSpPr/>
          <p:nvPr/>
        </p:nvSpPr>
        <p:spPr>
          <a:xfrm>
            <a:off x="2324100" y="990600"/>
            <a:ext cx="368300" cy="368300"/>
          </a:xfrm>
          <a:prstGeom prst="ellipse">
            <a:avLst/>
          </a:prstGeom>
          <a:solidFill>
            <a:srgbClr val="E5F1F8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24100" y="1079500"/>
            <a:ext cx="3683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3343"/>
                </a:solidFill>
                <a:latin typeface="Arial"/>
              </a:rPr>
              <a:t>MN</a:t>
            </a:r>
          </a:p>
        </p:txBody>
      </p:sp>
      <p:sp>
        <p:nvSpPr>
          <p:cNvPr id="17" name="Oval 16"/>
          <p:cNvSpPr/>
          <p:nvPr/>
        </p:nvSpPr>
        <p:spPr>
          <a:xfrm>
            <a:off x="2324100" y="2413000"/>
            <a:ext cx="368300" cy="368300"/>
          </a:xfrm>
          <a:prstGeom prst="ellipse">
            <a:avLst/>
          </a:prstGeom>
          <a:solidFill>
            <a:srgbClr val="E5F1F8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24100" y="2501900"/>
            <a:ext cx="3683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3343"/>
                </a:solidFill>
                <a:latin typeface="Arial"/>
              </a:rPr>
              <a:t>MN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82800" y="1422400"/>
            <a:ext cx="8636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extensor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82800" y="2857500"/>
            <a:ext cx="8636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flexor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7400" y="990600"/>
            <a:ext cx="1409700" cy="101600"/>
          </a:xfrm>
          <a:prstGeom prst="line">
            <a:avLst/>
          </a:prstGeom>
          <a:ln w="1270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2133600" y="1041400"/>
            <a:ext cx="88900" cy="10160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787400" y="1270000"/>
            <a:ext cx="1409700" cy="266700"/>
          </a:xfrm>
          <a:prstGeom prst="line">
            <a:avLst/>
          </a:prstGeom>
          <a:ln w="1270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2159000" y="1231900"/>
            <a:ext cx="76200" cy="76200"/>
          </a:xfrm>
          <a:prstGeom prst="ellipse">
            <a:avLst/>
          </a:prstGeom>
          <a:solidFill>
            <a:srgbClr val="243343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787400" y="2247900"/>
            <a:ext cx="1409700" cy="266700"/>
          </a:xfrm>
          <a:prstGeom prst="line">
            <a:avLst/>
          </a:prstGeom>
          <a:ln w="1270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2133600" y="2463800"/>
            <a:ext cx="88900" cy="10160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V="1">
            <a:off x="787400" y="2692400"/>
            <a:ext cx="1409700" cy="101600"/>
          </a:xfrm>
          <a:prstGeom prst="line">
            <a:avLst/>
          </a:prstGeom>
          <a:ln w="1270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2159000" y="2654300"/>
            <a:ext cx="76200" cy="76200"/>
          </a:xfrm>
          <a:prstGeom prst="ellipse">
            <a:avLst/>
          </a:prstGeom>
          <a:solidFill>
            <a:srgbClr val="243343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787400" y="990600"/>
            <a:ext cx="431800" cy="0"/>
          </a:xfrm>
          <a:prstGeom prst="line">
            <a:avLst/>
          </a:prstGeom>
          <a:ln w="1270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219200" y="990600"/>
            <a:ext cx="584200" cy="1346200"/>
          </a:xfrm>
          <a:prstGeom prst="line">
            <a:avLst/>
          </a:prstGeom>
          <a:ln w="1270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03400" y="2336800"/>
            <a:ext cx="393700" cy="266700"/>
          </a:xfrm>
          <a:prstGeom prst="line">
            <a:avLst/>
          </a:prstGeom>
          <a:ln w="1270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2159000" y="2565400"/>
            <a:ext cx="76200" cy="76200"/>
          </a:xfrm>
          <a:prstGeom prst="ellipse">
            <a:avLst/>
          </a:prstGeom>
          <a:solidFill>
            <a:srgbClr val="243343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787400" y="2247900"/>
            <a:ext cx="609600" cy="0"/>
          </a:xfrm>
          <a:prstGeom prst="line">
            <a:avLst/>
          </a:prstGeom>
          <a:ln w="1270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397000" y="800100"/>
            <a:ext cx="406400" cy="1447800"/>
          </a:xfrm>
          <a:prstGeom prst="line">
            <a:avLst/>
          </a:prstGeom>
          <a:ln w="1270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803400" y="800100"/>
            <a:ext cx="393700" cy="381000"/>
          </a:xfrm>
          <a:prstGeom prst="line">
            <a:avLst/>
          </a:prstGeom>
          <a:ln w="1270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2159000" y="1143000"/>
            <a:ext cx="76200" cy="76200"/>
          </a:xfrm>
          <a:prstGeom prst="ellipse">
            <a:avLst/>
          </a:prstGeom>
          <a:solidFill>
            <a:srgbClr val="243343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02000" y="723900"/>
            <a:ext cx="1460500" cy="203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Descending drive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3073400" y="825500"/>
            <a:ext cx="114300" cy="0"/>
          </a:xfrm>
          <a:prstGeom prst="line">
            <a:avLst/>
          </a:prstGeom>
          <a:ln w="1270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073400" y="825500"/>
            <a:ext cx="0" cy="152400"/>
          </a:xfrm>
          <a:prstGeom prst="line">
            <a:avLst/>
          </a:prstGeom>
          <a:ln w="1270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2743200" y="977900"/>
            <a:ext cx="330200" cy="0"/>
          </a:xfrm>
          <a:prstGeom prst="line">
            <a:avLst/>
          </a:prstGeom>
          <a:ln w="12700">
            <a:solidFill>
              <a:srgbClr val="24334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073400" y="977900"/>
            <a:ext cx="0" cy="215900"/>
          </a:xfrm>
          <a:prstGeom prst="line">
            <a:avLst/>
          </a:prstGeom>
          <a:ln w="1270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073400" y="1358900"/>
            <a:ext cx="0" cy="1003300"/>
          </a:xfrm>
          <a:prstGeom prst="line">
            <a:avLst/>
          </a:prstGeom>
          <a:ln w="1270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2743200" y="2362200"/>
            <a:ext cx="330200" cy="0"/>
          </a:xfrm>
          <a:prstGeom prst="line">
            <a:avLst/>
          </a:prstGeom>
          <a:ln w="12700">
            <a:solidFill>
              <a:srgbClr val="24334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3556000" y="1155700"/>
            <a:ext cx="1041400" cy="508000"/>
          </a:xfrm>
          <a:prstGeom prst="rect">
            <a:avLst/>
          </a:prstGeom>
          <a:solidFill>
            <a:srgbClr val="F1F5F8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44900" y="1258824"/>
            <a:ext cx="863600" cy="406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Activation</a:t>
            </a:r>
          </a:p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and BPA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556000" y="2552700"/>
            <a:ext cx="1041400" cy="508000"/>
          </a:xfrm>
          <a:prstGeom prst="rect">
            <a:avLst/>
          </a:prstGeom>
          <a:solidFill>
            <a:srgbClr val="F1F5F8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44900" y="2655824"/>
            <a:ext cx="863600" cy="406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Activation</a:t>
            </a:r>
          </a:p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and BPA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2692400" y="1181100"/>
            <a:ext cx="863600" cy="228600"/>
          </a:xfrm>
          <a:prstGeom prst="line">
            <a:avLst/>
          </a:prstGeom>
          <a:ln w="12700">
            <a:solidFill>
              <a:srgbClr val="24334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692400" y="2603500"/>
            <a:ext cx="863600" cy="203200"/>
          </a:xfrm>
          <a:prstGeom prst="line">
            <a:avLst/>
          </a:prstGeom>
          <a:ln w="12700">
            <a:solidFill>
              <a:srgbClr val="24334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5029200" y="1752600"/>
            <a:ext cx="762000" cy="622300"/>
          </a:xfrm>
          <a:prstGeom prst="rect">
            <a:avLst/>
          </a:prstGeom>
          <a:solidFill>
            <a:srgbClr val="F1F5F8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18100" y="1887474"/>
            <a:ext cx="584200" cy="15773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43343"/>
                </a:solidFill>
                <a:latin typeface="Arial"/>
              </a:rPr>
              <a:t>Knee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18100" y="2101850"/>
            <a:ext cx="584200" cy="15910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1 DoF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597400" y="1409700"/>
            <a:ext cx="203200" cy="0"/>
          </a:xfrm>
          <a:prstGeom prst="line">
            <a:avLst/>
          </a:prstGeom>
          <a:ln w="1270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800600" y="1409700"/>
            <a:ext cx="0" cy="495300"/>
          </a:xfrm>
          <a:prstGeom prst="line">
            <a:avLst/>
          </a:prstGeom>
          <a:ln w="1270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800600" y="1905000"/>
            <a:ext cx="228600" cy="0"/>
          </a:xfrm>
          <a:prstGeom prst="line">
            <a:avLst/>
          </a:prstGeom>
          <a:ln w="12700">
            <a:solidFill>
              <a:srgbClr val="24334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597400" y="2806700"/>
            <a:ext cx="203200" cy="0"/>
          </a:xfrm>
          <a:prstGeom prst="line">
            <a:avLst/>
          </a:prstGeom>
          <a:ln w="1270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4800600" y="2222500"/>
            <a:ext cx="0" cy="584200"/>
          </a:xfrm>
          <a:prstGeom prst="line">
            <a:avLst/>
          </a:prstGeom>
          <a:ln w="1270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800600" y="2222500"/>
            <a:ext cx="228600" cy="0"/>
          </a:xfrm>
          <a:prstGeom prst="line">
            <a:avLst/>
          </a:prstGeom>
          <a:ln w="12700">
            <a:solidFill>
              <a:srgbClr val="24334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4635500" y="1155700"/>
            <a:ext cx="11938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extensor torque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56000" y="3149600"/>
            <a:ext cx="12700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flexor torque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410200" y="2374900"/>
            <a:ext cx="0" cy="1206500"/>
          </a:xfrm>
          <a:prstGeom prst="line">
            <a:avLst/>
          </a:prstGeom>
          <a:ln w="12700">
            <a:solidFill>
              <a:srgbClr val="6C76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228600" y="3581400"/>
            <a:ext cx="5181600" cy="0"/>
          </a:xfrm>
          <a:prstGeom prst="line">
            <a:avLst/>
          </a:prstGeom>
          <a:ln w="12700">
            <a:solidFill>
              <a:srgbClr val="6C76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228600" y="990600"/>
            <a:ext cx="0" cy="2590800"/>
          </a:xfrm>
          <a:prstGeom prst="line">
            <a:avLst/>
          </a:prstGeom>
          <a:ln w="12700">
            <a:solidFill>
              <a:srgbClr val="6C76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228600" y="990600"/>
            <a:ext cx="190500" cy="0"/>
          </a:xfrm>
          <a:prstGeom prst="line">
            <a:avLst/>
          </a:prstGeom>
          <a:ln w="12700">
            <a:solidFill>
              <a:srgbClr val="6C768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28600" y="1536700"/>
            <a:ext cx="190500" cy="0"/>
          </a:xfrm>
          <a:prstGeom prst="line">
            <a:avLst/>
          </a:prstGeom>
          <a:ln w="12700">
            <a:solidFill>
              <a:srgbClr val="6C768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28600" y="2247900"/>
            <a:ext cx="190500" cy="0"/>
          </a:xfrm>
          <a:prstGeom prst="line">
            <a:avLst/>
          </a:prstGeom>
          <a:ln w="12700">
            <a:solidFill>
              <a:srgbClr val="6C768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28600" y="2794000"/>
            <a:ext cx="190500" cy="0"/>
          </a:xfrm>
          <a:prstGeom prst="line">
            <a:avLst/>
          </a:prstGeom>
          <a:ln w="12700">
            <a:solidFill>
              <a:srgbClr val="6C768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1409700" y="3683000"/>
            <a:ext cx="419100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Mechanical feedback: length, velocity, and force</a:t>
            </a:r>
          </a:p>
        </p:txBody>
      </p:sp>
      <p:sp>
        <p:nvSpPr>
          <p:cNvPr id="69" name="Isosceles Triangle 68"/>
          <p:cNvSpPr/>
          <p:nvPr/>
        </p:nvSpPr>
        <p:spPr>
          <a:xfrm rot="5400000">
            <a:off x="279400" y="4051300"/>
            <a:ext cx="101600" cy="10160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0" y="4025900"/>
            <a:ext cx="1270000" cy="215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Excitation</a:t>
            </a:r>
          </a:p>
        </p:txBody>
      </p:sp>
      <p:sp>
        <p:nvSpPr>
          <p:cNvPr id="71" name="Oval 70"/>
          <p:cNvSpPr/>
          <p:nvPr/>
        </p:nvSpPr>
        <p:spPr>
          <a:xfrm>
            <a:off x="1917700" y="4064000"/>
            <a:ext cx="76200" cy="76200"/>
          </a:xfrm>
          <a:prstGeom prst="ellipse">
            <a:avLst/>
          </a:prstGeom>
          <a:solidFill>
            <a:srgbClr val="243343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095500" y="4025900"/>
            <a:ext cx="1270000" cy="215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Inhibition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3556000" y="4102100"/>
            <a:ext cx="292100" cy="0"/>
          </a:xfrm>
          <a:prstGeom prst="line">
            <a:avLst/>
          </a:prstGeom>
          <a:ln w="12700">
            <a:solidFill>
              <a:srgbClr val="6C76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3949700" y="4025900"/>
            <a:ext cx="1778000" cy="215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Sensory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