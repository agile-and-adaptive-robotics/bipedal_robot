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943600" cy="44069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2400" y="76200"/>
            <a:ext cx="5638800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43343"/>
                </a:solidFill>
                <a:latin typeface="Arial"/>
              </a:rPr>
              <a:t>Proposed supraspinal additions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152400" y="431800"/>
            <a:ext cx="1625600" cy="736600"/>
          </a:xfrm>
          <a:prstGeom prst="rect">
            <a:avLst/>
          </a:prstGeom>
          <a:solidFill>
            <a:srgbClr val="F1F5F8"/>
          </a:solidFill>
          <a:ln w="12700">
            <a:solidFill>
              <a:srgbClr val="243343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41300" y="544194"/>
            <a:ext cx="1447800" cy="16065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21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43343"/>
                </a:solidFill>
                <a:latin typeface="Arial"/>
              </a:rPr>
              <a:t>Basal ganglia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1300" y="761365"/>
            <a:ext cx="1447800" cy="32410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21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43343"/>
                </a:solidFill>
                <a:latin typeface="Arial"/>
              </a:rPr>
              <a:t>Action and mode</a:t>
            </a:r>
          </a:p>
          <a:p>
            <a:pPr algn="ctr">
              <a:lnSpc>
                <a:spcPts val="121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43343"/>
                </a:solidFill>
                <a:latin typeface="Arial"/>
              </a:rPr>
              <a:t>selection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159000" y="431800"/>
            <a:ext cx="1625600" cy="736600"/>
          </a:xfrm>
          <a:prstGeom prst="rect">
            <a:avLst/>
          </a:prstGeom>
          <a:solidFill>
            <a:srgbClr val="F1F5F8"/>
          </a:solidFill>
          <a:ln w="12700">
            <a:solidFill>
              <a:srgbClr val="243343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47900" y="544194"/>
            <a:ext cx="1447800" cy="16065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21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43343"/>
                </a:solidFill>
                <a:latin typeface="Arial"/>
              </a:rPr>
              <a:t>Cerebellum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7900" y="761365"/>
            <a:ext cx="1447800" cy="32410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21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43343"/>
                </a:solidFill>
                <a:latin typeface="Arial"/>
              </a:rPr>
              <a:t>Adaptive gait gating</a:t>
            </a:r>
          </a:p>
          <a:p>
            <a:pPr algn="ctr">
              <a:lnSpc>
                <a:spcPts val="121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43343"/>
                </a:solidFill>
                <a:latin typeface="Arial"/>
              </a:rPr>
              <a:t>and phase tuning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4165600" y="431800"/>
            <a:ext cx="1625600" cy="736600"/>
          </a:xfrm>
          <a:prstGeom prst="rect">
            <a:avLst/>
          </a:prstGeom>
          <a:solidFill>
            <a:srgbClr val="F1F5F8"/>
          </a:solidFill>
          <a:ln w="12700">
            <a:solidFill>
              <a:srgbClr val="243343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54500" y="544194"/>
            <a:ext cx="1447800" cy="16065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21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43343"/>
                </a:solidFill>
                <a:latin typeface="Arial"/>
              </a:rPr>
              <a:t>Vestibular / ocular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54500" y="761365"/>
            <a:ext cx="1447800" cy="32410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21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43343"/>
                </a:solidFill>
                <a:latin typeface="Arial"/>
              </a:rPr>
              <a:t>Orientation sensing</a:t>
            </a:r>
          </a:p>
          <a:p>
            <a:pPr algn="ctr">
              <a:lnSpc>
                <a:spcPts val="121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43343"/>
                </a:solidFill>
                <a:latin typeface="Arial"/>
              </a:rPr>
              <a:t>and visual correction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400" y="1612900"/>
            <a:ext cx="5207000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43343"/>
                </a:solidFill>
                <a:latin typeface="Arial"/>
              </a:rPr>
              <a:t>Spinal network (Ch. 6)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52400" y="1943100"/>
            <a:ext cx="2209800" cy="635000"/>
          </a:xfrm>
          <a:prstGeom prst="rect">
            <a:avLst/>
          </a:prstGeom>
          <a:solidFill>
            <a:srgbClr val="F1F5F8"/>
          </a:solidFill>
          <a:ln w="12700">
            <a:solidFill>
              <a:srgbClr val="243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1300" y="2081530"/>
            <a:ext cx="2032000" cy="16065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21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43343"/>
                </a:solidFill>
                <a:latin typeface="Arial"/>
              </a:rPr>
              <a:t>Two-level CPG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1300" y="2298700"/>
            <a:ext cx="2032000" cy="16205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21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43343"/>
                </a:solidFill>
                <a:latin typeface="Arial"/>
              </a:rPr>
              <a:t>Rhythm and pattern formation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09900" y="1943100"/>
            <a:ext cx="2209800" cy="635000"/>
          </a:xfrm>
          <a:prstGeom prst="rect">
            <a:avLst/>
          </a:prstGeom>
          <a:solidFill>
            <a:srgbClr val="F1F5F8"/>
          </a:solidFill>
          <a:ln w="12700">
            <a:solidFill>
              <a:srgbClr val="243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98800" y="2004695"/>
            <a:ext cx="2032000" cy="16065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21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43343"/>
                </a:solidFill>
                <a:latin typeface="Arial"/>
              </a:rPr>
              <a:t>Sensorimotor layer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98800" y="2221865"/>
            <a:ext cx="2032000" cy="32410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21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43343"/>
                </a:solidFill>
                <a:latin typeface="Arial"/>
              </a:rPr>
              <a:t>Motor pools; Ia, Ib, II;</a:t>
            </a:r>
          </a:p>
          <a:p>
            <a:pPr algn="ctr">
              <a:lnSpc>
                <a:spcPts val="121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43343"/>
                </a:solidFill>
                <a:latin typeface="Arial"/>
              </a:rPr>
              <a:t>heel and toe contact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362200" y="2260600"/>
            <a:ext cx="647700" cy="0"/>
          </a:xfrm>
          <a:prstGeom prst="line">
            <a:avLst/>
          </a:prstGeom>
          <a:ln w="12700">
            <a:solidFill>
              <a:srgbClr val="24334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2768600" y="2438400"/>
            <a:ext cx="241300" cy="0"/>
          </a:xfrm>
          <a:prstGeom prst="line">
            <a:avLst/>
          </a:prstGeom>
          <a:ln w="12700">
            <a:solidFill>
              <a:srgbClr val="2433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2768600" y="2438400"/>
            <a:ext cx="0" cy="546100"/>
          </a:xfrm>
          <a:prstGeom prst="line">
            <a:avLst/>
          </a:prstGeom>
          <a:ln w="12700">
            <a:solidFill>
              <a:srgbClr val="2433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1257300" y="2984500"/>
            <a:ext cx="1511300" cy="0"/>
          </a:xfrm>
          <a:prstGeom prst="line">
            <a:avLst/>
          </a:prstGeom>
          <a:ln w="12700">
            <a:solidFill>
              <a:srgbClr val="2433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1257300" y="2578100"/>
            <a:ext cx="0" cy="406400"/>
          </a:xfrm>
          <a:prstGeom prst="line">
            <a:avLst/>
          </a:prstGeom>
          <a:ln w="12700">
            <a:solidFill>
              <a:srgbClr val="24334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358900" y="2717800"/>
            <a:ext cx="1333500" cy="2159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88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243343"/>
                </a:solidFill>
                <a:latin typeface="Arial"/>
              </a:rPr>
              <a:t>Sensory feedback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65200" y="1168400"/>
            <a:ext cx="0" cy="177800"/>
          </a:xfrm>
          <a:prstGeom prst="line">
            <a:avLst/>
          </a:prstGeom>
          <a:ln w="12700">
            <a:solidFill>
              <a:srgbClr val="24334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65200" y="1346200"/>
            <a:ext cx="1244600" cy="0"/>
          </a:xfrm>
          <a:prstGeom prst="line">
            <a:avLst/>
          </a:prstGeom>
          <a:ln w="12700">
            <a:solidFill>
              <a:srgbClr val="24334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209800" y="1346200"/>
            <a:ext cx="0" cy="596900"/>
          </a:xfrm>
          <a:prstGeom prst="line">
            <a:avLst/>
          </a:prstGeom>
          <a:ln w="12700">
            <a:solidFill>
              <a:srgbClr val="243343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971800" y="1168400"/>
            <a:ext cx="0" cy="317500"/>
          </a:xfrm>
          <a:prstGeom prst="line">
            <a:avLst/>
          </a:prstGeom>
          <a:ln w="12700">
            <a:solidFill>
              <a:srgbClr val="24334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>
            <a:off x="2794000" y="1485900"/>
            <a:ext cx="177800" cy="0"/>
          </a:xfrm>
          <a:prstGeom prst="line">
            <a:avLst/>
          </a:prstGeom>
          <a:ln w="12700">
            <a:solidFill>
              <a:srgbClr val="24334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794000" y="1485900"/>
            <a:ext cx="0" cy="355600"/>
          </a:xfrm>
          <a:prstGeom prst="line">
            <a:avLst/>
          </a:prstGeom>
          <a:ln w="12700">
            <a:solidFill>
              <a:srgbClr val="24334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>
            <a:off x="2209800" y="1841500"/>
            <a:ext cx="584200" cy="0"/>
          </a:xfrm>
          <a:prstGeom prst="line">
            <a:avLst/>
          </a:prstGeom>
          <a:ln w="12700">
            <a:solidFill>
              <a:srgbClr val="24334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2209800" y="1841500"/>
            <a:ext cx="0" cy="101600"/>
          </a:xfrm>
          <a:prstGeom prst="line">
            <a:avLst/>
          </a:prstGeom>
          <a:ln w="12700">
            <a:solidFill>
              <a:srgbClr val="243343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4978400" y="1168400"/>
            <a:ext cx="0" cy="304800"/>
          </a:xfrm>
          <a:prstGeom prst="line">
            <a:avLst/>
          </a:prstGeom>
          <a:ln w="12700">
            <a:solidFill>
              <a:srgbClr val="24334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>
            <a:off x="4660900" y="1473200"/>
            <a:ext cx="317500" cy="0"/>
          </a:xfrm>
          <a:prstGeom prst="line">
            <a:avLst/>
          </a:prstGeom>
          <a:ln w="12700">
            <a:solidFill>
              <a:srgbClr val="24334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4660900" y="1473200"/>
            <a:ext cx="0" cy="469900"/>
          </a:xfrm>
          <a:prstGeom prst="line">
            <a:avLst/>
          </a:prstGeom>
          <a:ln w="12700">
            <a:solidFill>
              <a:srgbClr val="243343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3225800" y="1282700"/>
            <a:ext cx="1270000" cy="3683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88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243343"/>
                </a:solidFill>
                <a:latin typeface="Arial"/>
              </a:rPr>
              <a:t>Descending</a:t>
            </a:r>
          </a:p>
          <a:p>
            <a:pPr algn="l">
              <a:lnSpc>
                <a:spcPts val="1188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243343"/>
                </a:solidFill>
                <a:latin typeface="Arial"/>
              </a:rPr>
              <a:t>commands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2400" y="3162300"/>
            <a:ext cx="2413000" cy="2159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43343"/>
                </a:solidFill>
                <a:latin typeface="Arial"/>
              </a:rPr>
              <a:t>Simulated mechanical model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52400" y="3479800"/>
            <a:ext cx="5067300" cy="406400"/>
          </a:xfrm>
          <a:prstGeom prst="rect">
            <a:avLst/>
          </a:prstGeom>
          <a:solidFill>
            <a:srgbClr val="F1F5F8"/>
          </a:solidFill>
          <a:ln w="12700">
            <a:solidFill>
              <a:srgbClr val="243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41300" y="3606165"/>
            <a:ext cx="4889500" cy="3048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21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43343"/>
                </a:solidFill>
                <a:latin typeface="Arial"/>
              </a:rPr>
              <a:t>BPA actuators and robot model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3632200" y="2578100"/>
            <a:ext cx="0" cy="901700"/>
          </a:xfrm>
          <a:prstGeom prst="line">
            <a:avLst/>
          </a:prstGeom>
          <a:ln w="12700">
            <a:solidFill>
              <a:srgbClr val="24334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4457700" y="2578100"/>
            <a:ext cx="0" cy="901700"/>
          </a:xfrm>
          <a:prstGeom prst="line">
            <a:avLst/>
          </a:prstGeom>
          <a:ln w="12700">
            <a:solidFill>
              <a:srgbClr val="24334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2679700" y="2743200"/>
            <a:ext cx="863600" cy="203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ts val="1188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243343"/>
                </a:solidFill>
                <a:latin typeface="Arial"/>
              </a:rPr>
              <a:t>activation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46600" y="2717800"/>
            <a:ext cx="1257300" cy="3683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88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243343"/>
                </a:solidFill>
                <a:latin typeface="Arial"/>
              </a:rPr>
              <a:t>Proprioceptive</a:t>
            </a:r>
          </a:p>
          <a:p>
            <a:pPr algn="l">
              <a:lnSpc>
                <a:spcPts val="1188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243343"/>
                </a:solidFill>
                <a:latin typeface="Arial"/>
              </a:rPr>
              <a:t>and contact input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5219700" y="3683000"/>
            <a:ext cx="469900" cy="0"/>
          </a:xfrm>
          <a:prstGeom prst="line">
            <a:avLst/>
          </a:prstGeom>
          <a:ln w="12700">
            <a:solidFill>
              <a:srgbClr val="6C76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5689600" y="800100"/>
            <a:ext cx="0" cy="2882900"/>
          </a:xfrm>
          <a:prstGeom prst="line">
            <a:avLst/>
          </a:prstGeom>
          <a:ln w="12700">
            <a:solidFill>
              <a:srgbClr val="6C76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5689600" y="800100"/>
            <a:ext cx="101600" cy="0"/>
          </a:xfrm>
          <a:prstGeom prst="line">
            <a:avLst/>
          </a:prstGeom>
          <a:ln w="12700">
            <a:solidFill>
              <a:srgbClr val="6C7680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165100" y="4089400"/>
            <a:ext cx="5461000" cy="203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88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6C7680"/>
                </a:solidFill>
                <a:latin typeface="Arial"/>
              </a:rPr>
              <a:t>Balance-platform hardware is a precursor to orientation feedback.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