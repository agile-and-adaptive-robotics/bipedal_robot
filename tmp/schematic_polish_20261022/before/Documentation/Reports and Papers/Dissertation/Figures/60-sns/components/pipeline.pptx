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92000" cy="273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" y="486000"/>
            <a:ext cx="1458000" cy="2106000"/>
          </a:xfrm>
          <a:prstGeom prst="round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" y="223200"/>
            <a:ext cx="145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Model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10000" y="486000"/>
            <a:ext cx="2178000" cy="2106000"/>
          </a:xfrm>
          <a:prstGeom prst="round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10000" y="223200"/>
            <a:ext cx="217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Closed-loop 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6000" y="486000"/>
            <a:ext cx="2052000" cy="2106000"/>
          </a:xfrm>
          <a:prstGeom prst="round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86000" y="223200"/>
            <a:ext cx="205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Hardware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000" y="594000"/>
            <a:ext cx="1242000" cy="413999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OpenSim robot-body model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(.osim, Gait2392 routing)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000" y="1170000"/>
            <a:ext cx="1242000" cy="306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MyoConverter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2000" y="1782000"/>
            <a:ext cx="1242000" cy="413999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MuJoCo MJCF model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(activation-state actuators)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200" y="1007999"/>
            <a:ext cx="0" cy="144001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1200" y="1475999"/>
            <a:ext cx="0" cy="288001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18000" y="648000"/>
            <a:ext cx="917999" cy="486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MuJoCo physics with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BPA force model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(Ch.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18000" y="1818000"/>
            <a:ext cx="917999" cy="413999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SNS-Toolbox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network (Python)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98000" y="1152000"/>
            <a:ext cx="0" cy="648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78000" y="1339200"/>
            <a:ext cx="702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per-muscle</a:t>
            </a:r>
          </a:p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activation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28000" y="1152000"/>
            <a:ext cx="0" cy="648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64000" y="1339200"/>
            <a:ext cx="118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Ia, Ib, and II afferents;</a:t>
            </a:r>
          </a:p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heel and toe contact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94000" y="594000"/>
            <a:ext cx="1494000" cy="378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Jetson Orin: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network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00" y="1278000"/>
            <a:ext cx="1494000" cy="52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Teensy-class MCUs: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valve, pressure, and</a:t>
            </a:r>
          </a:p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contact loops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4000" y="2106000"/>
            <a:ext cx="1494000" cy="3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>
                <a:solidFill>
                  <a:srgbClr val="1F1F1F"/>
                </a:solidFill>
                <a:latin typeface="Arial"/>
              </a:rPr>
              <a:t>Treadmill biped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32000" y="972000"/>
            <a:ext cx="0" cy="288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86000" y="1026000"/>
            <a:ext cx="118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commands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32000" y="1800000"/>
            <a:ext cx="0" cy="28800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86000" y="1854000"/>
            <a:ext cx="1188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l"/>
            <a:r>
              <a:rPr sz="1000" b="0">
                <a:solidFill>
                  <a:srgbClr val="1F1F1F"/>
                </a:solidFill>
                <a:latin typeface="Arial"/>
              </a:rPr>
              <a:t>valve drive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374000" y="1807199"/>
            <a:ext cx="0" cy="280801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31999" y="1854000"/>
            <a:ext cx="827999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r"/>
            <a:r>
              <a:rPr sz="1000" b="0">
                <a:solidFill>
                  <a:srgbClr val="1F1F1F"/>
                </a:solidFill>
                <a:latin typeface="Arial"/>
              </a:rPr>
              <a:t>sensors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404000" y="1987199"/>
            <a:ext cx="198000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602000" y="892800"/>
            <a:ext cx="0" cy="1094399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602000" y="892800"/>
            <a:ext cx="198000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36000" y="2023200"/>
            <a:ext cx="1205999" cy="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941999" y="784800"/>
            <a:ext cx="0" cy="1238400"/>
          </a:xfrm>
          <a:prstGeom prst="line">
            <a:avLst/>
          </a:prstGeom>
          <a:ln w="12700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941999" y="784800"/>
            <a:ext cx="234001" cy="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8000" y="2628000"/>
            <a:ext cx="5976000" cy="270000"/>
          </a:xfrm>
          <a:prstGeom prst="rect">
            <a:avLst/>
          </a:prstGeom>
          <a:noFill/>
        </p:spPr>
        <p:txBody>
          <a:bodyPr wrap="square" lIns="10800" rIns="10800" tIns="3600" bIns="3600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Computer-in-the-loop: the embedded stack first executes against</a:t>
            </a:r>
          </a:p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the simulated body, then against the physical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